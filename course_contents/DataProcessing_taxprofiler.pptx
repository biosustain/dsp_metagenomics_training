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305" r:id="rId2"/>
    <p:sldId id="303" r:id="rId3"/>
    <p:sldId id="304" r:id="rId4"/>
    <p:sldId id="263" r:id="rId5"/>
    <p:sldId id="291" r:id="rId6"/>
    <p:sldId id="298" r:id="rId7"/>
    <p:sldId id="299" r:id="rId8"/>
    <p:sldId id="300" r:id="rId9"/>
    <p:sldId id="306" r:id="rId10"/>
    <p:sldId id="307" r:id="rId11"/>
    <p:sldId id="308" r:id="rId12"/>
    <p:sldId id="309" r:id="rId13"/>
    <p:sldId id="301" r:id="rId14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1"/>
    <p:restoredTop sz="84315"/>
  </p:normalViewPr>
  <p:slideViewPr>
    <p:cSldViewPr snapToGrid="0">
      <p:cViewPr varScale="1">
        <p:scale>
          <a:sx n="96" d="100"/>
          <a:sy n="96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CC1788-926F-4CEF-9B13-12039B1A819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A5F198D-9978-458A-A9E1-CCBAD8884863}">
      <dgm:prSet custT="1"/>
      <dgm:spPr/>
      <dgm:t>
        <a:bodyPr/>
        <a:lstStyle/>
        <a:p>
          <a:r>
            <a:rPr lang="en-US" sz="1400"/>
            <a:t>A00180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instrument name</a:t>
          </a:r>
        </a:p>
      </dgm:t>
    </dgm:pt>
    <dgm:pt modelId="{4E662826-DB94-44F8-B542-6C30C0CE25B7}" type="parTrans" cxnId="{BD7A06C8-BE87-4AFB-9C8C-1F759BAF5993}">
      <dgm:prSet/>
      <dgm:spPr/>
      <dgm:t>
        <a:bodyPr/>
        <a:lstStyle/>
        <a:p>
          <a:endParaRPr lang="en-US" sz="1400"/>
        </a:p>
      </dgm:t>
    </dgm:pt>
    <dgm:pt modelId="{1B09A718-9568-4086-8A76-621E08B4AD03}" type="sibTrans" cxnId="{BD7A06C8-BE87-4AFB-9C8C-1F759BAF5993}">
      <dgm:prSet/>
      <dgm:spPr/>
      <dgm:t>
        <a:bodyPr/>
        <a:lstStyle/>
        <a:p>
          <a:endParaRPr lang="en-US" sz="1400"/>
        </a:p>
      </dgm:t>
    </dgm:pt>
    <dgm:pt modelId="{015A53FB-CCF0-4C93-9A55-EE456949C716}">
      <dgm:prSet custT="1"/>
      <dgm:spPr/>
      <dgm:t>
        <a:bodyPr/>
        <a:lstStyle/>
        <a:p>
          <a:r>
            <a:rPr lang="en-US" sz="1400"/>
            <a:t>10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run id</a:t>
          </a:r>
        </a:p>
      </dgm:t>
    </dgm:pt>
    <dgm:pt modelId="{A5820750-6052-410D-BFB6-EA0E65480C06}" type="parTrans" cxnId="{CCE9A859-19B2-410A-9FEB-9AB462CF1E2F}">
      <dgm:prSet/>
      <dgm:spPr/>
      <dgm:t>
        <a:bodyPr/>
        <a:lstStyle/>
        <a:p>
          <a:endParaRPr lang="en-US" sz="1400"/>
        </a:p>
      </dgm:t>
    </dgm:pt>
    <dgm:pt modelId="{3F09AAD2-4B4D-4E59-AF90-0E8A9B5E8F9E}" type="sibTrans" cxnId="{CCE9A859-19B2-410A-9FEB-9AB462CF1E2F}">
      <dgm:prSet/>
      <dgm:spPr/>
      <dgm:t>
        <a:bodyPr/>
        <a:lstStyle/>
        <a:p>
          <a:endParaRPr lang="en-US" sz="1400"/>
        </a:p>
      </dgm:t>
    </dgm:pt>
    <dgm:pt modelId="{180C49A0-9F0A-4F04-8418-C813A2DD7257}">
      <dgm:prSet custT="1"/>
      <dgm:spPr/>
      <dgm:t>
        <a:bodyPr/>
        <a:lstStyle/>
        <a:p>
          <a:r>
            <a:rPr lang="en-US" sz="1400"/>
            <a:t>H7NK5DMXX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flowcell id</a:t>
          </a:r>
        </a:p>
      </dgm:t>
    </dgm:pt>
    <dgm:pt modelId="{A9D3E9C0-E8C3-46E9-8B7D-8D963FACD374}" type="parTrans" cxnId="{207ABCD6-1487-4FE3-A1C7-1613AA27B799}">
      <dgm:prSet/>
      <dgm:spPr/>
      <dgm:t>
        <a:bodyPr/>
        <a:lstStyle/>
        <a:p>
          <a:endParaRPr lang="en-US" sz="1400"/>
        </a:p>
      </dgm:t>
    </dgm:pt>
    <dgm:pt modelId="{5B76634F-DBE6-41E4-BC63-A5876178F955}" type="sibTrans" cxnId="{207ABCD6-1487-4FE3-A1C7-1613AA27B799}">
      <dgm:prSet/>
      <dgm:spPr/>
      <dgm:t>
        <a:bodyPr/>
        <a:lstStyle/>
        <a:p>
          <a:endParaRPr lang="en-US" sz="1400"/>
        </a:p>
      </dgm:t>
    </dgm:pt>
    <dgm:pt modelId="{32B829FD-971D-4262-98EC-C0646B227C3C}">
      <dgm:prSet custT="1"/>
      <dgm:spPr/>
      <dgm:t>
        <a:bodyPr/>
        <a:lstStyle/>
        <a:p>
          <a:r>
            <a:rPr lang="en-US" sz="1400"/>
            <a:t>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flowcell lane</a:t>
          </a:r>
        </a:p>
      </dgm:t>
    </dgm:pt>
    <dgm:pt modelId="{6648C6A1-D852-469E-99A3-25213798ADE7}" type="parTrans" cxnId="{614A0CC8-CF3C-4FC2-A05B-8B8D6F3F966C}">
      <dgm:prSet/>
      <dgm:spPr/>
      <dgm:t>
        <a:bodyPr/>
        <a:lstStyle/>
        <a:p>
          <a:endParaRPr lang="en-US" sz="1400"/>
        </a:p>
      </dgm:t>
    </dgm:pt>
    <dgm:pt modelId="{33477252-416F-4AEE-AC95-E0C2A69E72E0}" type="sibTrans" cxnId="{614A0CC8-CF3C-4FC2-A05B-8B8D6F3F966C}">
      <dgm:prSet/>
      <dgm:spPr/>
      <dgm:t>
        <a:bodyPr/>
        <a:lstStyle/>
        <a:p>
          <a:endParaRPr lang="en-US" sz="1400"/>
        </a:p>
      </dgm:t>
    </dgm:pt>
    <dgm:pt modelId="{8A5CCF48-010F-4BE5-B073-A8F7CA83A527}">
      <dgm:prSet custT="1"/>
      <dgm:spPr/>
      <dgm:t>
        <a:bodyPr/>
        <a:lstStyle/>
        <a:p>
          <a:r>
            <a:rPr lang="en-US" sz="1400"/>
            <a:t>1101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tile number within the flow cell line</a:t>
          </a:r>
        </a:p>
      </dgm:t>
    </dgm:pt>
    <dgm:pt modelId="{CC8B6645-FE36-47B3-9686-EF432AB955D1}" type="parTrans" cxnId="{355BAB7F-5D07-4A49-9174-74C29BF4E96A}">
      <dgm:prSet/>
      <dgm:spPr/>
      <dgm:t>
        <a:bodyPr/>
        <a:lstStyle/>
        <a:p>
          <a:endParaRPr lang="en-US" sz="1400"/>
        </a:p>
      </dgm:t>
    </dgm:pt>
    <dgm:pt modelId="{A581F270-F864-4981-8F6D-7CC463F7082E}" type="sibTrans" cxnId="{355BAB7F-5D07-4A49-9174-74C29BF4E96A}">
      <dgm:prSet/>
      <dgm:spPr/>
      <dgm:t>
        <a:bodyPr/>
        <a:lstStyle/>
        <a:p>
          <a:endParaRPr lang="en-US" sz="1400"/>
        </a:p>
      </dgm:t>
    </dgm:pt>
    <dgm:pt modelId="{8D1D1C8F-4FE9-42CF-B542-74A190C966F4}">
      <dgm:prSet custT="1"/>
      <dgm:spPr/>
      <dgm:t>
        <a:bodyPr/>
        <a:lstStyle/>
        <a:p>
          <a:r>
            <a:rPr lang="en-US" sz="1400"/>
            <a:t>16821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x-coordinate of the cluster within the tile</a:t>
          </a:r>
        </a:p>
      </dgm:t>
    </dgm:pt>
    <dgm:pt modelId="{314D868F-9B27-4216-96AE-93CFDCD56455}" type="parTrans" cxnId="{5CCC12B3-EEF9-4F4E-9442-FE572C8FA5C9}">
      <dgm:prSet/>
      <dgm:spPr/>
      <dgm:t>
        <a:bodyPr/>
        <a:lstStyle/>
        <a:p>
          <a:endParaRPr lang="en-US" sz="1400"/>
        </a:p>
      </dgm:t>
    </dgm:pt>
    <dgm:pt modelId="{8EBAEB7B-9993-465D-9466-CC0F3248263A}" type="sibTrans" cxnId="{5CCC12B3-EEF9-4F4E-9442-FE572C8FA5C9}">
      <dgm:prSet/>
      <dgm:spPr/>
      <dgm:t>
        <a:bodyPr/>
        <a:lstStyle/>
        <a:p>
          <a:endParaRPr lang="en-US" sz="1400"/>
        </a:p>
      </dgm:t>
    </dgm:pt>
    <dgm:pt modelId="{C4E0FA76-9F5F-4381-9EC5-7538B4B9DA02}">
      <dgm:prSet custT="1"/>
      <dgm:spPr/>
      <dgm:t>
        <a:bodyPr/>
        <a:lstStyle/>
        <a:p>
          <a:r>
            <a:rPr lang="en-US" sz="1400"/>
            <a:t>1000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y-coordinate of the cluster within the tile</a:t>
          </a:r>
        </a:p>
      </dgm:t>
    </dgm:pt>
    <dgm:pt modelId="{538425C6-6F18-4C80-8E98-96ABE0D12872}" type="parTrans" cxnId="{2D7AF71B-0875-4920-A5AE-BAC43019756D}">
      <dgm:prSet/>
      <dgm:spPr/>
      <dgm:t>
        <a:bodyPr/>
        <a:lstStyle/>
        <a:p>
          <a:endParaRPr lang="en-US" sz="1400"/>
        </a:p>
      </dgm:t>
    </dgm:pt>
    <dgm:pt modelId="{C7F7AD3A-B315-4149-8CD5-05C93466C75C}" type="sibTrans" cxnId="{2D7AF71B-0875-4920-A5AE-BAC43019756D}">
      <dgm:prSet/>
      <dgm:spPr/>
      <dgm:t>
        <a:bodyPr/>
        <a:lstStyle/>
        <a:p>
          <a:endParaRPr lang="en-US" sz="1400"/>
        </a:p>
      </dgm:t>
    </dgm:pt>
    <dgm:pt modelId="{03AA6C58-671A-426F-904C-E5C82C3C8200}">
      <dgm:prSet custT="1"/>
      <dgm:spPr/>
      <dgm:t>
        <a:bodyPr/>
        <a:lstStyle/>
        <a:p>
          <a:r>
            <a:rPr lang="en-US" sz="1400"/>
            <a:t>SPACE</a:t>
          </a:r>
        </a:p>
      </dgm:t>
    </dgm:pt>
    <dgm:pt modelId="{84CF28EF-0228-41C3-B7AD-DED8AA01D703}" type="parTrans" cxnId="{C8E1DEBE-8438-4A5E-9C5B-37F75F377D8F}">
      <dgm:prSet/>
      <dgm:spPr/>
      <dgm:t>
        <a:bodyPr/>
        <a:lstStyle/>
        <a:p>
          <a:endParaRPr lang="en-US" sz="1400"/>
        </a:p>
      </dgm:t>
    </dgm:pt>
    <dgm:pt modelId="{6AE998F1-6797-4E7F-B5E0-36E13CB7DC8D}" type="sibTrans" cxnId="{C8E1DEBE-8438-4A5E-9C5B-37F75F377D8F}">
      <dgm:prSet/>
      <dgm:spPr/>
      <dgm:t>
        <a:bodyPr/>
        <a:lstStyle/>
        <a:p>
          <a:endParaRPr lang="en-US" sz="1400"/>
        </a:p>
      </dgm:t>
    </dgm:pt>
    <dgm:pt modelId="{ED027D8D-4BE4-41B8-8884-AC20E64F51F6}">
      <dgm:prSet custT="1"/>
      <dgm:spPr/>
      <dgm:t>
        <a:bodyPr/>
        <a:lstStyle/>
        <a:p>
          <a:r>
            <a:rPr lang="en-US" sz="1400"/>
            <a:t>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member of the pair (if paired-end)</a:t>
          </a:r>
        </a:p>
      </dgm:t>
    </dgm:pt>
    <dgm:pt modelId="{90D478A6-98B4-4361-B2B3-D5E6EE1DE4C7}" type="parTrans" cxnId="{58C0780E-5E42-43E1-BAD9-E7ADB7ED2C2A}">
      <dgm:prSet/>
      <dgm:spPr/>
      <dgm:t>
        <a:bodyPr/>
        <a:lstStyle/>
        <a:p>
          <a:endParaRPr lang="en-US" sz="1400"/>
        </a:p>
      </dgm:t>
    </dgm:pt>
    <dgm:pt modelId="{96B0C818-5132-4E75-87E4-C077F2FF87C4}" type="sibTrans" cxnId="{58C0780E-5E42-43E1-BAD9-E7ADB7ED2C2A}">
      <dgm:prSet/>
      <dgm:spPr/>
      <dgm:t>
        <a:bodyPr/>
        <a:lstStyle/>
        <a:p>
          <a:endParaRPr lang="en-US" sz="1400"/>
        </a:p>
      </dgm:t>
    </dgm:pt>
    <dgm:pt modelId="{BF3394C2-F7B5-4AE2-AA92-98867F9DAA74}">
      <dgm:prSet custT="1"/>
      <dgm:spPr/>
      <dgm:t>
        <a:bodyPr/>
        <a:lstStyle/>
        <a:p>
          <a:r>
            <a:rPr lang="en-US" sz="1400"/>
            <a:t>N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N if read is not filtered, Y if it is filtered</a:t>
          </a:r>
        </a:p>
      </dgm:t>
    </dgm:pt>
    <dgm:pt modelId="{79213BEA-8A95-4288-93A2-B726E212EFE1}" type="parTrans" cxnId="{BFD6F639-DA7E-4C99-909F-493F174F2F73}">
      <dgm:prSet/>
      <dgm:spPr/>
      <dgm:t>
        <a:bodyPr/>
        <a:lstStyle/>
        <a:p>
          <a:endParaRPr lang="en-US" sz="1400"/>
        </a:p>
      </dgm:t>
    </dgm:pt>
    <dgm:pt modelId="{7A3F28E8-23A7-4808-8F90-C6D6C9D041B1}" type="sibTrans" cxnId="{BFD6F639-DA7E-4C99-909F-493F174F2F73}">
      <dgm:prSet/>
      <dgm:spPr/>
      <dgm:t>
        <a:bodyPr/>
        <a:lstStyle/>
        <a:p>
          <a:endParaRPr lang="en-US" sz="1400"/>
        </a:p>
      </dgm:t>
    </dgm:pt>
    <dgm:pt modelId="{896C95B6-E4C3-4747-B256-E19BC2590894}">
      <dgm:prSet custT="1"/>
      <dgm:spPr/>
      <dgm:t>
        <a:bodyPr/>
        <a:lstStyle/>
        <a:p>
          <a:r>
            <a:rPr lang="en-US" sz="1400" dirty="0"/>
            <a:t>0 </a:t>
          </a:r>
          <a:r>
            <a:rPr lang="en-US" sz="1400" dirty="0">
              <a:sym typeface="Wingdings" panose="05000000000000000000" pitchFamily="2" charset="2"/>
            </a:rPr>
            <a:t></a:t>
          </a:r>
          <a:r>
            <a:rPr lang="en-US" sz="1400" dirty="0"/>
            <a:t>  when none of the control bit are on</a:t>
          </a:r>
        </a:p>
      </dgm:t>
    </dgm:pt>
    <dgm:pt modelId="{92AE7944-D317-49D0-B4F3-DE1267808C60}" type="parTrans" cxnId="{4A87F6A0-D7AF-468C-AB3F-A0FBF8AA0CF3}">
      <dgm:prSet/>
      <dgm:spPr/>
      <dgm:t>
        <a:bodyPr/>
        <a:lstStyle/>
        <a:p>
          <a:endParaRPr lang="en-US" sz="1400"/>
        </a:p>
      </dgm:t>
    </dgm:pt>
    <dgm:pt modelId="{E4CC77F8-5C32-4CE4-8933-E632438E904F}" type="sibTrans" cxnId="{4A87F6A0-D7AF-468C-AB3F-A0FBF8AA0CF3}">
      <dgm:prSet/>
      <dgm:spPr/>
      <dgm:t>
        <a:bodyPr/>
        <a:lstStyle/>
        <a:p>
          <a:endParaRPr lang="en-US" sz="1400"/>
        </a:p>
      </dgm:t>
    </dgm:pt>
    <dgm:pt modelId="{E7E197BA-E8AA-4C96-80C1-DBBA2F76A5FF}">
      <dgm:prSet custT="1"/>
      <dgm:spPr/>
      <dgm:t>
        <a:bodyPr/>
        <a:lstStyle/>
        <a:p>
          <a:r>
            <a:rPr lang="en-US" sz="1400" dirty="0"/>
            <a:t>GGACTT, GTCGTTCG </a:t>
          </a:r>
          <a:r>
            <a:rPr lang="en-US" sz="1400" dirty="0">
              <a:sym typeface="Wingdings" panose="05000000000000000000" pitchFamily="2" charset="2"/>
            </a:rPr>
            <a:t>  barcodes are used for demultiplexing </a:t>
          </a:r>
        </a:p>
        <a:p>
          <a:r>
            <a:rPr lang="en-US" sz="1400" dirty="0">
              <a:sym typeface="Wingdings" panose="05000000000000000000" pitchFamily="2" charset="2"/>
            </a:rPr>
            <a:t>and assign reads to the correct sample </a:t>
          </a:r>
          <a:endParaRPr lang="en-US" sz="1400" dirty="0"/>
        </a:p>
      </dgm:t>
    </dgm:pt>
    <dgm:pt modelId="{CC15924E-C5C3-4382-B7B4-5F2C93018859}" type="parTrans" cxnId="{AAAC78B6-5FA4-4254-94CE-E689E07692F5}">
      <dgm:prSet/>
      <dgm:spPr/>
      <dgm:t>
        <a:bodyPr/>
        <a:lstStyle/>
        <a:p>
          <a:endParaRPr lang="en-US" sz="1400"/>
        </a:p>
      </dgm:t>
    </dgm:pt>
    <dgm:pt modelId="{B12D78C8-57AB-401D-9C9F-306ED7719749}" type="sibTrans" cxnId="{AAAC78B6-5FA4-4254-94CE-E689E07692F5}">
      <dgm:prSet/>
      <dgm:spPr/>
      <dgm:t>
        <a:bodyPr/>
        <a:lstStyle/>
        <a:p>
          <a:endParaRPr lang="en-US" sz="1400"/>
        </a:p>
      </dgm:t>
    </dgm:pt>
    <dgm:pt modelId="{C6A9373B-A8F0-4D4E-9B6D-E80A58DCAA57}" type="pres">
      <dgm:prSet presAssocID="{92CC1788-926F-4CEF-9B13-12039B1A819E}" presName="linear" presStyleCnt="0">
        <dgm:presLayoutVars>
          <dgm:animLvl val="lvl"/>
          <dgm:resizeHandles val="exact"/>
        </dgm:presLayoutVars>
      </dgm:prSet>
      <dgm:spPr/>
    </dgm:pt>
    <dgm:pt modelId="{CA6640ED-B35D-6C44-B7AD-32ED8E78137E}" type="pres">
      <dgm:prSet presAssocID="{BA5F198D-9978-458A-A9E1-CCBAD8884863}" presName="parentText" presStyleLbl="node1" presStyleIdx="0" presStyleCnt="12">
        <dgm:presLayoutVars>
          <dgm:chMax val="0"/>
          <dgm:bulletEnabled val="1"/>
        </dgm:presLayoutVars>
      </dgm:prSet>
      <dgm:spPr/>
    </dgm:pt>
    <dgm:pt modelId="{4BD00C96-BE83-4440-8372-3D80D2929D9D}" type="pres">
      <dgm:prSet presAssocID="{1B09A718-9568-4086-8A76-621E08B4AD03}" presName="spacer" presStyleCnt="0"/>
      <dgm:spPr/>
    </dgm:pt>
    <dgm:pt modelId="{14E41F94-71A4-9A4A-B95C-E7398929A649}" type="pres">
      <dgm:prSet presAssocID="{015A53FB-CCF0-4C93-9A55-EE456949C716}" presName="parentText" presStyleLbl="node1" presStyleIdx="1" presStyleCnt="12">
        <dgm:presLayoutVars>
          <dgm:chMax val="0"/>
          <dgm:bulletEnabled val="1"/>
        </dgm:presLayoutVars>
      </dgm:prSet>
      <dgm:spPr/>
    </dgm:pt>
    <dgm:pt modelId="{1A36DD83-9D96-1949-8CF7-FF9159EFFE4D}" type="pres">
      <dgm:prSet presAssocID="{3F09AAD2-4B4D-4E59-AF90-0E8A9B5E8F9E}" presName="spacer" presStyleCnt="0"/>
      <dgm:spPr/>
    </dgm:pt>
    <dgm:pt modelId="{E0B25114-5251-7B47-9874-01ABC9F3CE92}" type="pres">
      <dgm:prSet presAssocID="{180C49A0-9F0A-4F04-8418-C813A2DD7257}" presName="parentText" presStyleLbl="node1" presStyleIdx="2" presStyleCnt="12">
        <dgm:presLayoutVars>
          <dgm:chMax val="0"/>
          <dgm:bulletEnabled val="1"/>
        </dgm:presLayoutVars>
      </dgm:prSet>
      <dgm:spPr/>
    </dgm:pt>
    <dgm:pt modelId="{98920EDE-C6A6-554F-A62E-5CE5CB03994D}" type="pres">
      <dgm:prSet presAssocID="{5B76634F-DBE6-41E4-BC63-A5876178F955}" presName="spacer" presStyleCnt="0"/>
      <dgm:spPr/>
    </dgm:pt>
    <dgm:pt modelId="{F3174BD2-33D8-FF4F-B869-42BD3B9C636A}" type="pres">
      <dgm:prSet presAssocID="{32B829FD-971D-4262-98EC-C0646B227C3C}" presName="parentText" presStyleLbl="node1" presStyleIdx="3" presStyleCnt="12">
        <dgm:presLayoutVars>
          <dgm:chMax val="0"/>
          <dgm:bulletEnabled val="1"/>
        </dgm:presLayoutVars>
      </dgm:prSet>
      <dgm:spPr/>
    </dgm:pt>
    <dgm:pt modelId="{B5621820-F1CF-E343-ABC0-E522BD2C919F}" type="pres">
      <dgm:prSet presAssocID="{33477252-416F-4AEE-AC95-E0C2A69E72E0}" presName="spacer" presStyleCnt="0"/>
      <dgm:spPr/>
    </dgm:pt>
    <dgm:pt modelId="{7CD1A030-16F8-5A49-A5B7-AF8B556FD253}" type="pres">
      <dgm:prSet presAssocID="{8A5CCF48-010F-4BE5-B073-A8F7CA83A527}" presName="parentText" presStyleLbl="node1" presStyleIdx="4" presStyleCnt="12">
        <dgm:presLayoutVars>
          <dgm:chMax val="0"/>
          <dgm:bulletEnabled val="1"/>
        </dgm:presLayoutVars>
      </dgm:prSet>
      <dgm:spPr/>
    </dgm:pt>
    <dgm:pt modelId="{7727F17A-FD45-8747-B99E-87F491E99DF4}" type="pres">
      <dgm:prSet presAssocID="{A581F270-F864-4981-8F6D-7CC463F7082E}" presName="spacer" presStyleCnt="0"/>
      <dgm:spPr/>
    </dgm:pt>
    <dgm:pt modelId="{E26D5A3E-3B9B-EF40-8473-8AD0BD77525A}" type="pres">
      <dgm:prSet presAssocID="{8D1D1C8F-4FE9-42CF-B542-74A190C966F4}" presName="parentText" presStyleLbl="node1" presStyleIdx="5" presStyleCnt="12">
        <dgm:presLayoutVars>
          <dgm:chMax val="0"/>
          <dgm:bulletEnabled val="1"/>
        </dgm:presLayoutVars>
      </dgm:prSet>
      <dgm:spPr/>
    </dgm:pt>
    <dgm:pt modelId="{07687E00-09A5-4647-A627-499E5FD9D497}" type="pres">
      <dgm:prSet presAssocID="{8EBAEB7B-9993-465D-9466-CC0F3248263A}" presName="spacer" presStyleCnt="0"/>
      <dgm:spPr/>
    </dgm:pt>
    <dgm:pt modelId="{D60FAB1B-B8BA-8340-B034-313829191E0D}" type="pres">
      <dgm:prSet presAssocID="{C4E0FA76-9F5F-4381-9EC5-7538B4B9DA02}" presName="parentText" presStyleLbl="node1" presStyleIdx="6" presStyleCnt="12">
        <dgm:presLayoutVars>
          <dgm:chMax val="0"/>
          <dgm:bulletEnabled val="1"/>
        </dgm:presLayoutVars>
      </dgm:prSet>
      <dgm:spPr/>
    </dgm:pt>
    <dgm:pt modelId="{64D64E1B-614C-B340-ACE9-6E4F6B5F9C62}" type="pres">
      <dgm:prSet presAssocID="{C7F7AD3A-B315-4149-8CD5-05C93466C75C}" presName="spacer" presStyleCnt="0"/>
      <dgm:spPr/>
    </dgm:pt>
    <dgm:pt modelId="{1890BD38-C372-0C41-A32B-B34F66B705C1}" type="pres">
      <dgm:prSet presAssocID="{03AA6C58-671A-426F-904C-E5C82C3C8200}" presName="parentText" presStyleLbl="node1" presStyleIdx="7" presStyleCnt="12">
        <dgm:presLayoutVars>
          <dgm:chMax val="0"/>
          <dgm:bulletEnabled val="1"/>
        </dgm:presLayoutVars>
      </dgm:prSet>
      <dgm:spPr/>
    </dgm:pt>
    <dgm:pt modelId="{49C29362-A286-6A4B-ABD4-9259696E79AA}" type="pres">
      <dgm:prSet presAssocID="{6AE998F1-6797-4E7F-B5E0-36E13CB7DC8D}" presName="spacer" presStyleCnt="0"/>
      <dgm:spPr/>
    </dgm:pt>
    <dgm:pt modelId="{BA9A6F16-F730-F44B-B6D1-D9333125AEBA}" type="pres">
      <dgm:prSet presAssocID="{ED027D8D-4BE4-41B8-8884-AC20E64F51F6}" presName="parentText" presStyleLbl="node1" presStyleIdx="8" presStyleCnt="12">
        <dgm:presLayoutVars>
          <dgm:chMax val="0"/>
          <dgm:bulletEnabled val="1"/>
        </dgm:presLayoutVars>
      </dgm:prSet>
      <dgm:spPr/>
    </dgm:pt>
    <dgm:pt modelId="{2695E7F0-B2A8-5C4C-8E60-749873F4625E}" type="pres">
      <dgm:prSet presAssocID="{96B0C818-5132-4E75-87E4-C077F2FF87C4}" presName="spacer" presStyleCnt="0"/>
      <dgm:spPr/>
    </dgm:pt>
    <dgm:pt modelId="{B7009EDE-EBE0-DD4C-956A-90A646BB4EF8}" type="pres">
      <dgm:prSet presAssocID="{BF3394C2-F7B5-4AE2-AA92-98867F9DAA74}" presName="parentText" presStyleLbl="node1" presStyleIdx="9" presStyleCnt="12">
        <dgm:presLayoutVars>
          <dgm:chMax val="0"/>
          <dgm:bulletEnabled val="1"/>
        </dgm:presLayoutVars>
      </dgm:prSet>
      <dgm:spPr/>
    </dgm:pt>
    <dgm:pt modelId="{189B703C-CA48-ED46-894E-38BF37DDB724}" type="pres">
      <dgm:prSet presAssocID="{7A3F28E8-23A7-4808-8F90-C6D6C9D041B1}" presName="spacer" presStyleCnt="0"/>
      <dgm:spPr/>
    </dgm:pt>
    <dgm:pt modelId="{96E8642B-3E81-934F-A5FC-D06D3A9B2690}" type="pres">
      <dgm:prSet presAssocID="{896C95B6-E4C3-4747-B256-E19BC2590894}" presName="parentText" presStyleLbl="node1" presStyleIdx="10" presStyleCnt="12">
        <dgm:presLayoutVars>
          <dgm:chMax val="0"/>
          <dgm:bulletEnabled val="1"/>
        </dgm:presLayoutVars>
      </dgm:prSet>
      <dgm:spPr/>
    </dgm:pt>
    <dgm:pt modelId="{618154D0-125F-4948-8DDB-A9D26E1174AE}" type="pres">
      <dgm:prSet presAssocID="{E4CC77F8-5C32-4CE4-8933-E632438E904F}" presName="spacer" presStyleCnt="0"/>
      <dgm:spPr/>
    </dgm:pt>
    <dgm:pt modelId="{9205EBFE-3831-BA48-9463-93B9D755345D}" type="pres">
      <dgm:prSet presAssocID="{E7E197BA-E8AA-4C96-80C1-DBBA2F76A5FF}" presName="parentText" presStyleLbl="node1" presStyleIdx="11" presStyleCnt="12" custScaleY="211576">
        <dgm:presLayoutVars>
          <dgm:chMax val="0"/>
          <dgm:bulletEnabled val="1"/>
        </dgm:presLayoutVars>
      </dgm:prSet>
      <dgm:spPr/>
    </dgm:pt>
  </dgm:ptLst>
  <dgm:cxnLst>
    <dgm:cxn modelId="{58C0780E-5E42-43E1-BAD9-E7ADB7ED2C2A}" srcId="{92CC1788-926F-4CEF-9B13-12039B1A819E}" destId="{ED027D8D-4BE4-41B8-8884-AC20E64F51F6}" srcOrd="8" destOrd="0" parTransId="{90D478A6-98B4-4361-B2B3-D5E6EE1DE4C7}" sibTransId="{96B0C818-5132-4E75-87E4-C077F2FF87C4}"/>
    <dgm:cxn modelId="{2D7AF71B-0875-4920-A5AE-BAC43019756D}" srcId="{92CC1788-926F-4CEF-9B13-12039B1A819E}" destId="{C4E0FA76-9F5F-4381-9EC5-7538B4B9DA02}" srcOrd="6" destOrd="0" parTransId="{538425C6-6F18-4C80-8E98-96ABE0D12872}" sibTransId="{C7F7AD3A-B315-4149-8CD5-05C93466C75C}"/>
    <dgm:cxn modelId="{E1BDA32B-41F4-7E45-B835-DC62DE17B63D}" type="presOf" srcId="{8A5CCF48-010F-4BE5-B073-A8F7CA83A527}" destId="{7CD1A030-16F8-5A49-A5B7-AF8B556FD253}" srcOrd="0" destOrd="0" presId="urn:microsoft.com/office/officeart/2005/8/layout/vList2"/>
    <dgm:cxn modelId="{BFD6F639-DA7E-4C99-909F-493F174F2F73}" srcId="{92CC1788-926F-4CEF-9B13-12039B1A819E}" destId="{BF3394C2-F7B5-4AE2-AA92-98867F9DAA74}" srcOrd="9" destOrd="0" parTransId="{79213BEA-8A95-4288-93A2-B726E212EFE1}" sibTransId="{7A3F28E8-23A7-4808-8F90-C6D6C9D041B1}"/>
    <dgm:cxn modelId="{AAE7D147-9278-8A42-A22E-2A9913D2A7ED}" type="presOf" srcId="{03AA6C58-671A-426F-904C-E5C82C3C8200}" destId="{1890BD38-C372-0C41-A32B-B34F66B705C1}" srcOrd="0" destOrd="0" presId="urn:microsoft.com/office/officeart/2005/8/layout/vList2"/>
    <dgm:cxn modelId="{D15F0049-E2C1-5346-A4A9-C948147DD5F3}" type="presOf" srcId="{8D1D1C8F-4FE9-42CF-B542-74A190C966F4}" destId="{E26D5A3E-3B9B-EF40-8473-8AD0BD77525A}" srcOrd="0" destOrd="0" presId="urn:microsoft.com/office/officeart/2005/8/layout/vList2"/>
    <dgm:cxn modelId="{FE10C44E-0C09-0A42-BC15-15FF678927E6}" type="presOf" srcId="{C4E0FA76-9F5F-4381-9EC5-7538B4B9DA02}" destId="{D60FAB1B-B8BA-8340-B034-313829191E0D}" srcOrd="0" destOrd="0" presId="urn:microsoft.com/office/officeart/2005/8/layout/vList2"/>
    <dgm:cxn modelId="{CCE9A859-19B2-410A-9FEB-9AB462CF1E2F}" srcId="{92CC1788-926F-4CEF-9B13-12039B1A819E}" destId="{015A53FB-CCF0-4C93-9A55-EE456949C716}" srcOrd="1" destOrd="0" parTransId="{A5820750-6052-410D-BFB6-EA0E65480C06}" sibTransId="{3F09AAD2-4B4D-4E59-AF90-0E8A9B5E8F9E}"/>
    <dgm:cxn modelId="{355BAB7F-5D07-4A49-9174-74C29BF4E96A}" srcId="{92CC1788-926F-4CEF-9B13-12039B1A819E}" destId="{8A5CCF48-010F-4BE5-B073-A8F7CA83A527}" srcOrd="4" destOrd="0" parTransId="{CC8B6645-FE36-47B3-9686-EF432AB955D1}" sibTransId="{A581F270-F864-4981-8F6D-7CC463F7082E}"/>
    <dgm:cxn modelId="{61143783-2C6A-4F4A-B3B7-6444C702ADA6}" type="presOf" srcId="{32B829FD-971D-4262-98EC-C0646B227C3C}" destId="{F3174BD2-33D8-FF4F-B869-42BD3B9C636A}" srcOrd="0" destOrd="0" presId="urn:microsoft.com/office/officeart/2005/8/layout/vList2"/>
    <dgm:cxn modelId="{97447284-B538-6D40-887E-205ECAD1E997}" type="presOf" srcId="{896C95B6-E4C3-4747-B256-E19BC2590894}" destId="{96E8642B-3E81-934F-A5FC-D06D3A9B2690}" srcOrd="0" destOrd="0" presId="urn:microsoft.com/office/officeart/2005/8/layout/vList2"/>
    <dgm:cxn modelId="{4A87F6A0-D7AF-468C-AB3F-A0FBF8AA0CF3}" srcId="{92CC1788-926F-4CEF-9B13-12039B1A819E}" destId="{896C95B6-E4C3-4747-B256-E19BC2590894}" srcOrd="10" destOrd="0" parTransId="{92AE7944-D317-49D0-B4F3-DE1267808C60}" sibTransId="{E4CC77F8-5C32-4CE4-8933-E632438E904F}"/>
    <dgm:cxn modelId="{AF92D6A5-9A55-9541-81E2-75FB872D19DC}" type="presOf" srcId="{ED027D8D-4BE4-41B8-8884-AC20E64F51F6}" destId="{BA9A6F16-F730-F44B-B6D1-D9333125AEBA}" srcOrd="0" destOrd="0" presId="urn:microsoft.com/office/officeart/2005/8/layout/vList2"/>
    <dgm:cxn modelId="{641A6AAB-9A24-0A41-B500-CCFBD87F5DA6}" type="presOf" srcId="{180C49A0-9F0A-4F04-8418-C813A2DD7257}" destId="{E0B25114-5251-7B47-9874-01ABC9F3CE92}" srcOrd="0" destOrd="0" presId="urn:microsoft.com/office/officeart/2005/8/layout/vList2"/>
    <dgm:cxn modelId="{5CCC12B3-EEF9-4F4E-9442-FE572C8FA5C9}" srcId="{92CC1788-926F-4CEF-9B13-12039B1A819E}" destId="{8D1D1C8F-4FE9-42CF-B542-74A190C966F4}" srcOrd="5" destOrd="0" parTransId="{314D868F-9B27-4216-96AE-93CFDCD56455}" sibTransId="{8EBAEB7B-9993-465D-9466-CC0F3248263A}"/>
    <dgm:cxn modelId="{AAAC78B6-5FA4-4254-94CE-E689E07692F5}" srcId="{92CC1788-926F-4CEF-9B13-12039B1A819E}" destId="{E7E197BA-E8AA-4C96-80C1-DBBA2F76A5FF}" srcOrd="11" destOrd="0" parTransId="{CC15924E-C5C3-4382-B7B4-5F2C93018859}" sibTransId="{B12D78C8-57AB-401D-9C9F-306ED7719749}"/>
    <dgm:cxn modelId="{C8E1DEBE-8438-4A5E-9C5B-37F75F377D8F}" srcId="{92CC1788-926F-4CEF-9B13-12039B1A819E}" destId="{03AA6C58-671A-426F-904C-E5C82C3C8200}" srcOrd="7" destOrd="0" parTransId="{84CF28EF-0228-41C3-B7AD-DED8AA01D703}" sibTransId="{6AE998F1-6797-4E7F-B5E0-36E13CB7DC8D}"/>
    <dgm:cxn modelId="{BD7A06C8-BE87-4AFB-9C8C-1F759BAF5993}" srcId="{92CC1788-926F-4CEF-9B13-12039B1A819E}" destId="{BA5F198D-9978-458A-A9E1-CCBAD8884863}" srcOrd="0" destOrd="0" parTransId="{4E662826-DB94-44F8-B542-6C30C0CE25B7}" sibTransId="{1B09A718-9568-4086-8A76-621E08B4AD03}"/>
    <dgm:cxn modelId="{614A0CC8-CF3C-4FC2-A05B-8B8D6F3F966C}" srcId="{92CC1788-926F-4CEF-9B13-12039B1A819E}" destId="{32B829FD-971D-4262-98EC-C0646B227C3C}" srcOrd="3" destOrd="0" parTransId="{6648C6A1-D852-469E-99A3-25213798ADE7}" sibTransId="{33477252-416F-4AEE-AC95-E0C2A69E72E0}"/>
    <dgm:cxn modelId="{981E46CB-8D03-8B45-A056-CB3214F8DA7A}" type="presOf" srcId="{BF3394C2-F7B5-4AE2-AA92-98867F9DAA74}" destId="{B7009EDE-EBE0-DD4C-956A-90A646BB4EF8}" srcOrd="0" destOrd="0" presId="urn:microsoft.com/office/officeart/2005/8/layout/vList2"/>
    <dgm:cxn modelId="{207ABCD6-1487-4FE3-A1C7-1613AA27B799}" srcId="{92CC1788-926F-4CEF-9B13-12039B1A819E}" destId="{180C49A0-9F0A-4F04-8418-C813A2DD7257}" srcOrd="2" destOrd="0" parTransId="{A9D3E9C0-E8C3-46E9-8B7D-8D963FACD374}" sibTransId="{5B76634F-DBE6-41E4-BC63-A5876178F955}"/>
    <dgm:cxn modelId="{9320CEF3-8AA3-7C41-A26E-F6C5CD8B8D43}" type="presOf" srcId="{BA5F198D-9978-458A-A9E1-CCBAD8884863}" destId="{CA6640ED-B35D-6C44-B7AD-32ED8E78137E}" srcOrd="0" destOrd="0" presId="urn:microsoft.com/office/officeart/2005/8/layout/vList2"/>
    <dgm:cxn modelId="{E30F17F4-B41C-2145-AF40-907A44CB26CF}" type="presOf" srcId="{E7E197BA-E8AA-4C96-80C1-DBBA2F76A5FF}" destId="{9205EBFE-3831-BA48-9463-93B9D755345D}" srcOrd="0" destOrd="0" presId="urn:microsoft.com/office/officeart/2005/8/layout/vList2"/>
    <dgm:cxn modelId="{488194FC-0F7F-804A-B71B-AFB4772D551C}" type="presOf" srcId="{92CC1788-926F-4CEF-9B13-12039B1A819E}" destId="{C6A9373B-A8F0-4D4E-9B6D-E80A58DCAA57}" srcOrd="0" destOrd="0" presId="urn:microsoft.com/office/officeart/2005/8/layout/vList2"/>
    <dgm:cxn modelId="{78D14EFF-3A41-C54F-9B09-BFBDA2BF0910}" type="presOf" srcId="{015A53FB-CCF0-4C93-9A55-EE456949C716}" destId="{14E41F94-71A4-9A4A-B95C-E7398929A649}" srcOrd="0" destOrd="0" presId="urn:microsoft.com/office/officeart/2005/8/layout/vList2"/>
    <dgm:cxn modelId="{F6CE30FB-9B71-A445-8C06-B295C88EE638}" type="presParOf" srcId="{C6A9373B-A8F0-4D4E-9B6D-E80A58DCAA57}" destId="{CA6640ED-B35D-6C44-B7AD-32ED8E78137E}" srcOrd="0" destOrd="0" presId="urn:microsoft.com/office/officeart/2005/8/layout/vList2"/>
    <dgm:cxn modelId="{2C8AD749-E5DA-9C40-9A9B-10C4E7221380}" type="presParOf" srcId="{C6A9373B-A8F0-4D4E-9B6D-E80A58DCAA57}" destId="{4BD00C96-BE83-4440-8372-3D80D2929D9D}" srcOrd="1" destOrd="0" presId="urn:microsoft.com/office/officeart/2005/8/layout/vList2"/>
    <dgm:cxn modelId="{4DBC7996-D938-114F-B065-0257DDCABD98}" type="presParOf" srcId="{C6A9373B-A8F0-4D4E-9B6D-E80A58DCAA57}" destId="{14E41F94-71A4-9A4A-B95C-E7398929A649}" srcOrd="2" destOrd="0" presId="urn:microsoft.com/office/officeart/2005/8/layout/vList2"/>
    <dgm:cxn modelId="{1488D114-3F3A-1E48-B7B6-AFDF1AEFE9C1}" type="presParOf" srcId="{C6A9373B-A8F0-4D4E-9B6D-E80A58DCAA57}" destId="{1A36DD83-9D96-1949-8CF7-FF9159EFFE4D}" srcOrd="3" destOrd="0" presId="urn:microsoft.com/office/officeart/2005/8/layout/vList2"/>
    <dgm:cxn modelId="{2F905D31-CE10-3E4A-B59C-92BA53C0D3D8}" type="presParOf" srcId="{C6A9373B-A8F0-4D4E-9B6D-E80A58DCAA57}" destId="{E0B25114-5251-7B47-9874-01ABC9F3CE92}" srcOrd="4" destOrd="0" presId="urn:microsoft.com/office/officeart/2005/8/layout/vList2"/>
    <dgm:cxn modelId="{E614E87F-96E4-7243-99D0-BD7AB41B19E4}" type="presParOf" srcId="{C6A9373B-A8F0-4D4E-9B6D-E80A58DCAA57}" destId="{98920EDE-C6A6-554F-A62E-5CE5CB03994D}" srcOrd="5" destOrd="0" presId="urn:microsoft.com/office/officeart/2005/8/layout/vList2"/>
    <dgm:cxn modelId="{316E2761-700B-3443-AF30-0E6B2F6D42FF}" type="presParOf" srcId="{C6A9373B-A8F0-4D4E-9B6D-E80A58DCAA57}" destId="{F3174BD2-33D8-FF4F-B869-42BD3B9C636A}" srcOrd="6" destOrd="0" presId="urn:microsoft.com/office/officeart/2005/8/layout/vList2"/>
    <dgm:cxn modelId="{B857F119-3878-7D47-831F-CE0BACDEC027}" type="presParOf" srcId="{C6A9373B-A8F0-4D4E-9B6D-E80A58DCAA57}" destId="{B5621820-F1CF-E343-ABC0-E522BD2C919F}" srcOrd="7" destOrd="0" presId="urn:microsoft.com/office/officeart/2005/8/layout/vList2"/>
    <dgm:cxn modelId="{ECFD0D62-2D0A-F14A-97E9-1F57E8ECB534}" type="presParOf" srcId="{C6A9373B-A8F0-4D4E-9B6D-E80A58DCAA57}" destId="{7CD1A030-16F8-5A49-A5B7-AF8B556FD253}" srcOrd="8" destOrd="0" presId="urn:microsoft.com/office/officeart/2005/8/layout/vList2"/>
    <dgm:cxn modelId="{AA382F13-504E-D34C-B097-ABAD565BD548}" type="presParOf" srcId="{C6A9373B-A8F0-4D4E-9B6D-E80A58DCAA57}" destId="{7727F17A-FD45-8747-B99E-87F491E99DF4}" srcOrd="9" destOrd="0" presId="urn:microsoft.com/office/officeart/2005/8/layout/vList2"/>
    <dgm:cxn modelId="{08BBCAB6-9001-7B4D-B0A6-9B88E21A5367}" type="presParOf" srcId="{C6A9373B-A8F0-4D4E-9B6D-E80A58DCAA57}" destId="{E26D5A3E-3B9B-EF40-8473-8AD0BD77525A}" srcOrd="10" destOrd="0" presId="urn:microsoft.com/office/officeart/2005/8/layout/vList2"/>
    <dgm:cxn modelId="{8E1054DF-6A06-F944-BAA0-0851ED42968F}" type="presParOf" srcId="{C6A9373B-A8F0-4D4E-9B6D-E80A58DCAA57}" destId="{07687E00-09A5-4647-A627-499E5FD9D497}" srcOrd="11" destOrd="0" presId="urn:microsoft.com/office/officeart/2005/8/layout/vList2"/>
    <dgm:cxn modelId="{5F9017CB-F8E0-904C-A8D7-3EC7C884F136}" type="presParOf" srcId="{C6A9373B-A8F0-4D4E-9B6D-E80A58DCAA57}" destId="{D60FAB1B-B8BA-8340-B034-313829191E0D}" srcOrd="12" destOrd="0" presId="urn:microsoft.com/office/officeart/2005/8/layout/vList2"/>
    <dgm:cxn modelId="{C5136328-6ACE-0247-8785-D69801FA75ED}" type="presParOf" srcId="{C6A9373B-A8F0-4D4E-9B6D-E80A58DCAA57}" destId="{64D64E1B-614C-B340-ACE9-6E4F6B5F9C62}" srcOrd="13" destOrd="0" presId="urn:microsoft.com/office/officeart/2005/8/layout/vList2"/>
    <dgm:cxn modelId="{AC0438FE-249B-6542-8171-71F61A52494C}" type="presParOf" srcId="{C6A9373B-A8F0-4D4E-9B6D-E80A58DCAA57}" destId="{1890BD38-C372-0C41-A32B-B34F66B705C1}" srcOrd="14" destOrd="0" presId="urn:microsoft.com/office/officeart/2005/8/layout/vList2"/>
    <dgm:cxn modelId="{DA6E5F2A-DFB4-4345-865E-59B49613404A}" type="presParOf" srcId="{C6A9373B-A8F0-4D4E-9B6D-E80A58DCAA57}" destId="{49C29362-A286-6A4B-ABD4-9259696E79AA}" srcOrd="15" destOrd="0" presId="urn:microsoft.com/office/officeart/2005/8/layout/vList2"/>
    <dgm:cxn modelId="{3C4D2312-9307-4F48-9C1F-BE69FCCA310E}" type="presParOf" srcId="{C6A9373B-A8F0-4D4E-9B6D-E80A58DCAA57}" destId="{BA9A6F16-F730-F44B-B6D1-D9333125AEBA}" srcOrd="16" destOrd="0" presId="urn:microsoft.com/office/officeart/2005/8/layout/vList2"/>
    <dgm:cxn modelId="{B6E09B1A-CBAF-974C-8BA4-17A51ADB39D9}" type="presParOf" srcId="{C6A9373B-A8F0-4D4E-9B6D-E80A58DCAA57}" destId="{2695E7F0-B2A8-5C4C-8E60-749873F4625E}" srcOrd="17" destOrd="0" presId="urn:microsoft.com/office/officeart/2005/8/layout/vList2"/>
    <dgm:cxn modelId="{E666F610-2C9D-D045-A251-13C8813BE427}" type="presParOf" srcId="{C6A9373B-A8F0-4D4E-9B6D-E80A58DCAA57}" destId="{B7009EDE-EBE0-DD4C-956A-90A646BB4EF8}" srcOrd="18" destOrd="0" presId="urn:microsoft.com/office/officeart/2005/8/layout/vList2"/>
    <dgm:cxn modelId="{F2141690-875B-C14F-80B9-CBE770A6EA67}" type="presParOf" srcId="{C6A9373B-A8F0-4D4E-9B6D-E80A58DCAA57}" destId="{189B703C-CA48-ED46-894E-38BF37DDB724}" srcOrd="19" destOrd="0" presId="urn:microsoft.com/office/officeart/2005/8/layout/vList2"/>
    <dgm:cxn modelId="{50A1966B-6F78-F345-A13E-48581A3C8BC1}" type="presParOf" srcId="{C6A9373B-A8F0-4D4E-9B6D-E80A58DCAA57}" destId="{96E8642B-3E81-934F-A5FC-D06D3A9B2690}" srcOrd="20" destOrd="0" presId="urn:microsoft.com/office/officeart/2005/8/layout/vList2"/>
    <dgm:cxn modelId="{CB8BD3B5-3AD6-6749-808D-C70FFC1CB038}" type="presParOf" srcId="{C6A9373B-A8F0-4D4E-9B6D-E80A58DCAA57}" destId="{618154D0-125F-4948-8DDB-A9D26E1174AE}" srcOrd="21" destOrd="0" presId="urn:microsoft.com/office/officeart/2005/8/layout/vList2"/>
    <dgm:cxn modelId="{290273F5-BFD1-774B-8215-FBAE7A2806A6}" type="presParOf" srcId="{C6A9373B-A8F0-4D4E-9B6D-E80A58DCAA57}" destId="{9205EBFE-3831-BA48-9463-93B9D755345D}" srcOrd="2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6640ED-B35D-6C44-B7AD-32ED8E78137E}">
      <dsp:nvSpPr>
        <dsp:cNvPr id="0" name=""/>
        <dsp:cNvSpPr/>
      </dsp:nvSpPr>
      <dsp:spPr>
        <a:xfrm>
          <a:off x="0" y="321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A00180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instrument name</a:t>
          </a:r>
        </a:p>
      </dsp:txBody>
      <dsp:txXfrm>
        <a:off x="16563" y="48743"/>
        <a:ext cx="5319726" cy="306174"/>
      </dsp:txXfrm>
    </dsp:sp>
    <dsp:sp modelId="{14E41F94-71A4-9A4A-B95C-E7398929A649}">
      <dsp:nvSpPr>
        <dsp:cNvPr id="0" name=""/>
        <dsp:cNvSpPr/>
      </dsp:nvSpPr>
      <dsp:spPr>
        <a:xfrm>
          <a:off x="0" y="3858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run id</a:t>
          </a:r>
        </a:p>
      </dsp:txBody>
      <dsp:txXfrm>
        <a:off x="16563" y="402443"/>
        <a:ext cx="5319726" cy="306174"/>
      </dsp:txXfrm>
    </dsp:sp>
    <dsp:sp modelId="{E0B25114-5251-7B47-9874-01ABC9F3CE92}">
      <dsp:nvSpPr>
        <dsp:cNvPr id="0" name=""/>
        <dsp:cNvSpPr/>
      </dsp:nvSpPr>
      <dsp:spPr>
        <a:xfrm>
          <a:off x="0" y="7395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H7NK5DMXX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flowcell id</a:t>
          </a:r>
        </a:p>
      </dsp:txBody>
      <dsp:txXfrm>
        <a:off x="16563" y="756143"/>
        <a:ext cx="5319726" cy="306174"/>
      </dsp:txXfrm>
    </dsp:sp>
    <dsp:sp modelId="{F3174BD2-33D8-FF4F-B869-42BD3B9C636A}">
      <dsp:nvSpPr>
        <dsp:cNvPr id="0" name=""/>
        <dsp:cNvSpPr/>
      </dsp:nvSpPr>
      <dsp:spPr>
        <a:xfrm>
          <a:off x="0" y="10932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flowcell lane</a:t>
          </a:r>
        </a:p>
      </dsp:txBody>
      <dsp:txXfrm>
        <a:off x="16563" y="1109843"/>
        <a:ext cx="5319726" cy="306174"/>
      </dsp:txXfrm>
    </dsp:sp>
    <dsp:sp modelId="{7CD1A030-16F8-5A49-A5B7-AF8B556FD253}">
      <dsp:nvSpPr>
        <dsp:cNvPr id="0" name=""/>
        <dsp:cNvSpPr/>
      </dsp:nvSpPr>
      <dsp:spPr>
        <a:xfrm>
          <a:off x="0" y="14469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1101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tile number within the flow cell line</a:t>
          </a:r>
        </a:p>
      </dsp:txBody>
      <dsp:txXfrm>
        <a:off x="16563" y="1463543"/>
        <a:ext cx="5319726" cy="306174"/>
      </dsp:txXfrm>
    </dsp:sp>
    <dsp:sp modelId="{E26D5A3E-3B9B-EF40-8473-8AD0BD77525A}">
      <dsp:nvSpPr>
        <dsp:cNvPr id="0" name=""/>
        <dsp:cNvSpPr/>
      </dsp:nvSpPr>
      <dsp:spPr>
        <a:xfrm>
          <a:off x="0" y="18006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16821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x-coordinate of the cluster within the tile</a:t>
          </a:r>
        </a:p>
      </dsp:txBody>
      <dsp:txXfrm>
        <a:off x="16563" y="1817243"/>
        <a:ext cx="5319726" cy="306174"/>
      </dsp:txXfrm>
    </dsp:sp>
    <dsp:sp modelId="{D60FAB1B-B8BA-8340-B034-313829191E0D}">
      <dsp:nvSpPr>
        <dsp:cNvPr id="0" name=""/>
        <dsp:cNvSpPr/>
      </dsp:nvSpPr>
      <dsp:spPr>
        <a:xfrm>
          <a:off x="0" y="21543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1000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y-coordinate of the cluster within the tile</a:t>
          </a:r>
        </a:p>
      </dsp:txBody>
      <dsp:txXfrm>
        <a:off x="16563" y="2170943"/>
        <a:ext cx="5319726" cy="306174"/>
      </dsp:txXfrm>
    </dsp:sp>
    <dsp:sp modelId="{1890BD38-C372-0C41-A32B-B34F66B705C1}">
      <dsp:nvSpPr>
        <dsp:cNvPr id="0" name=""/>
        <dsp:cNvSpPr/>
      </dsp:nvSpPr>
      <dsp:spPr>
        <a:xfrm>
          <a:off x="0" y="25080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SPACE</a:t>
          </a:r>
        </a:p>
      </dsp:txBody>
      <dsp:txXfrm>
        <a:off x="16563" y="2524643"/>
        <a:ext cx="5319726" cy="306174"/>
      </dsp:txXfrm>
    </dsp:sp>
    <dsp:sp modelId="{BA9A6F16-F730-F44B-B6D1-D9333125AEBA}">
      <dsp:nvSpPr>
        <dsp:cNvPr id="0" name=""/>
        <dsp:cNvSpPr/>
      </dsp:nvSpPr>
      <dsp:spPr>
        <a:xfrm>
          <a:off x="0" y="28617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member of the pair (if paired-end)</a:t>
          </a:r>
        </a:p>
      </dsp:txBody>
      <dsp:txXfrm>
        <a:off x="16563" y="2878343"/>
        <a:ext cx="5319726" cy="306174"/>
      </dsp:txXfrm>
    </dsp:sp>
    <dsp:sp modelId="{B7009EDE-EBE0-DD4C-956A-90A646BB4EF8}">
      <dsp:nvSpPr>
        <dsp:cNvPr id="0" name=""/>
        <dsp:cNvSpPr/>
      </dsp:nvSpPr>
      <dsp:spPr>
        <a:xfrm>
          <a:off x="0" y="32154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N if read is not filtered, Y if it is filtered</a:t>
          </a:r>
        </a:p>
      </dsp:txBody>
      <dsp:txXfrm>
        <a:off x="16563" y="3232043"/>
        <a:ext cx="5319726" cy="306174"/>
      </dsp:txXfrm>
    </dsp:sp>
    <dsp:sp modelId="{96E8642B-3E81-934F-A5FC-D06D3A9B2690}">
      <dsp:nvSpPr>
        <dsp:cNvPr id="0" name=""/>
        <dsp:cNvSpPr/>
      </dsp:nvSpPr>
      <dsp:spPr>
        <a:xfrm>
          <a:off x="0" y="3569180"/>
          <a:ext cx="5352852" cy="3393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0 </a:t>
          </a:r>
          <a:r>
            <a:rPr lang="en-US" sz="1400" kern="1200" dirty="0">
              <a:sym typeface="Wingdings" panose="05000000000000000000" pitchFamily="2" charset="2"/>
            </a:rPr>
            <a:t></a:t>
          </a:r>
          <a:r>
            <a:rPr lang="en-US" sz="1400" kern="1200" dirty="0"/>
            <a:t>  when none of the control bit are on</a:t>
          </a:r>
        </a:p>
      </dsp:txBody>
      <dsp:txXfrm>
        <a:off x="16563" y="3585743"/>
        <a:ext cx="5319726" cy="306174"/>
      </dsp:txXfrm>
    </dsp:sp>
    <dsp:sp modelId="{9205EBFE-3831-BA48-9463-93B9D755345D}">
      <dsp:nvSpPr>
        <dsp:cNvPr id="0" name=""/>
        <dsp:cNvSpPr/>
      </dsp:nvSpPr>
      <dsp:spPr>
        <a:xfrm>
          <a:off x="0" y="3922880"/>
          <a:ext cx="5352852" cy="71787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GGACTT, GTCGTTCG </a:t>
          </a:r>
          <a:r>
            <a:rPr lang="en-US" sz="1400" kern="1200" dirty="0">
              <a:sym typeface="Wingdings" panose="05000000000000000000" pitchFamily="2" charset="2"/>
            </a:rPr>
            <a:t>  barcodes are used for demultiplexing 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ym typeface="Wingdings" panose="05000000000000000000" pitchFamily="2" charset="2"/>
            </a:rPr>
            <a:t>and assign reads to the correct sample </a:t>
          </a:r>
          <a:endParaRPr lang="en-US" sz="1400" kern="1200" dirty="0"/>
        </a:p>
      </dsp:txBody>
      <dsp:txXfrm>
        <a:off x="35044" y="3957924"/>
        <a:ext cx="5282764" cy="6477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A082ED-BCD1-E943-B526-61E3336E9629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55A90-97E4-BA4D-B9CC-DBC2636CA52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81412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A28B0-211A-B640-96C3-6E3EBE2D2300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10362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30348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7274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955A90-97E4-BA4D-B9CC-DBC2636CA522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58771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EA06-B275-53A1-47AD-7C1F9BE3F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568689-14B2-8A90-E240-F84AE92F1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523B0-109E-5D46-E931-67EE70E7E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1729B-24AF-F2B6-698A-45B2D9452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2993A-AC0F-0F3E-F574-509F8EF5E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24475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55A8-DE4C-372B-BC40-D00999466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9C46B-803C-FD6C-04EF-8DB92CB48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8D4A7-26BB-B31F-2AEE-07F1740FF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E47CD-98F8-125E-59DB-9C580F5E1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9A4B8-AA1A-4000-A3AE-C97BCCED2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24453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A6E47-6CD2-A3C6-CDC5-78931E4C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AB8A9-5624-849E-4B65-C75D531D1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B584C-F69E-84EC-E156-22D12D2C9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C04E5-2B15-AE5F-B360-F288799FA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F38C7-D5B2-F1E8-3AE6-77220DC7C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52062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B6A0-BA98-3765-D153-507A72CC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E60C5-5BAF-DDD7-BDA9-DDE6C3D6AD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81A61B-BA2E-165D-6B19-9A68BB2D2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7241A-5E44-BF3A-CFEA-E996D402B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48D97-560D-F9AD-DF97-5C386801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56C8-7CBF-EA5C-406F-8E01E5733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45282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5EC0-0100-FC61-5667-CB171C314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26182-5304-2965-82D5-3913BBC1F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6C5F27-DECA-9E6A-CA52-16DDFA246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C9ED25-5BCB-95C9-AFC5-67974615F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E6303B-D9B3-FE07-99EC-7CB6DD28F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AD143B-BD8C-6775-9207-FCA16596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1C5E77-7658-0B4D-1887-2091AA7A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18FBA-4F7B-8FD7-BA09-4F9243AEA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8100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A124D-EF23-B771-723B-01DB00D78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C24F68-4C07-1E79-1682-E5F9D4EB9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D11C2D-42C1-0DCA-D5BC-B06B53158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7FE69B-D32A-8EFC-56C2-479A4218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61438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FB09D9-BDEB-1C83-C157-D66BE6012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95CD0C-8EA8-66B9-E5D3-9B6A14844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2452E-9630-61C6-9092-F325A8015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39619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CB973-DCCE-850C-694E-D54D3976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E223-2E5B-C441-5DFF-3D60E0D48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40BAE3-5CC6-9676-8113-B4B7F85F7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64055-CAAE-6A62-73F4-163061B84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EA82F-21A6-5ED2-D061-11D2A76F3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17FE-0F34-5207-E052-9F7751D77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54862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E7B4-5A52-26EC-D5B2-2588200AE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987E-6869-65B3-8D6A-E1395E66A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74A638-E8BF-1C3D-407E-EB639179A9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73B0F1-49F3-B141-50B3-4EC667278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21B844-BFC3-4D98-02C7-F210E8DAC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CD4AC-38FE-FDC0-A9E1-B287FB0D5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67288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3B2D2-890D-A0C9-031E-1BB9AE6A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C24E3-8AF3-0111-89B5-91C1DD28C7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E2D8D-C89A-A4A2-C159-9177094A0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42BFE-D179-508C-AA76-459983C76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1E3DC-3A30-1D7A-3AED-700664FF2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70838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274E8-D726-9C8B-C84B-DD8434AAF6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B1623-9E89-962F-4E2E-50EEB80B50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DDAD5-CAA4-DF1A-2F86-E1929A264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833D-D03B-C7B2-E0FE-48D35BDE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E197C-2143-0091-FBF7-66BBA8A4F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75818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DF6A4-2622-CF2B-994A-99396979D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7C652-CEDF-5B87-7F1B-CF9D938E6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606C5-3FE5-C966-32F3-43FEA9820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057AE-DF5E-72C5-F078-F03FD1B1C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43099-4E30-A895-EEA5-BDFCB38C35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08643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s://nf-co.re/" TargetMode="External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www.nature.com/articles/s41587-020-0439-x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ioinformatics.babraham.ac.uk/projects/fastqc/" TargetMode="External"/><Relationship Id="rId2" Type="http://schemas.openxmlformats.org/officeDocument/2006/relationships/hyperlink" Target="https://www.bioinformatics.babraham.ac.uk/projects/fastqc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f-co.re/taxprofiler/1.1.5/docs/output/#fast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OpenGene/fastp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obakery/metaphlan" TargetMode="External"/><Relationship Id="rId2" Type="http://schemas.openxmlformats.org/officeDocument/2006/relationships/hyperlink" Target="https://nf-co.re/taxprofiler/1.1.5/docs/output/#metaphlan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multiqc.info/" TargetMode="External"/><Relationship Id="rId2" Type="http://schemas.openxmlformats.org/officeDocument/2006/relationships/hyperlink" Target="https://nf-co.re/taxprofiler/1.1.5/docs/output/#multiqc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75B19E4-0108-41C4-8DB1-11BAE0B49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C237F5-AF80-1180-65FB-F0665383A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54746" y="552449"/>
            <a:ext cx="4635609" cy="132556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DK" sz="4000" dirty="0">
                <a:solidFill>
                  <a:schemeClr val="bg1"/>
                </a:solidFill>
              </a:rPr>
              <a:t>Processing of shotgun metagenomics samples</a:t>
            </a:r>
            <a:endParaRPr lang="en-US" sz="3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A14AE1-71AB-4B18-826E-F563FF428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2916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17920" y="2026340"/>
            <a:ext cx="5974081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CCB7DCFE-F312-235E-9685-7FF3058B7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0366" y="2430461"/>
            <a:ext cx="4172990" cy="344169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nf</a:t>
            </a:r>
            <a:r>
              <a:rPr lang="en-US" sz="2000" dirty="0">
                <a:solidFill>
                  <a:schemeClr val="bg1"/>
                </a:solidFill>
              </a:rPr>
              <a:t>-core/</a:t>
            </a:r>
            <a:r>
              <a:rPr lang="en-US" sz="2000" dirty="0" err="1">
                <a:solidFill>
                  <a:schemeClr val="bg1"/>
                </a:solidFill>
              </a:rPr>
              <a:t>taxprofiler</a:t>
            </a:r>
            <a:r>
              <a:rPr lang="en-US" sz="2000" dirty="0">
                <a:solidFill>
                  <a:schemeClr val="bg1"/>
                </a:solidFill>
              </a:rPr>
              <a:t> together with Metaphlan v4 database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Genome-level marker gene based taxonomic classifier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Data Science platform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DTU – </a:t>
            </a:r>
            <a:r>
              <a:rPr lang="en-US" sz="2000" dirty="0" err="1">
                <a:solidFill>
                  <a:schemeClr val="bg1"/>
                </a:solidFill>
              </a:rPr>
              <a:t>Biosustain</a:t>
            </a:r>
            <a:endParaRPr lang="en-US" sz="2000" dirty="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Spring Data-type Courses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11th June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84EBE8-B8CF-A9B8-D609-C4264B84AF8C}"/>
              </a:ext>
            </a:extLst>
          </p:cNvPr>
          <p:cNvGrpSpPr/>
          <p:nvPr/>
        </p:nvGrpSpPr>
        <p:grpSpPr>
          <a:xfrm>
            <a:off x="0" y="552449"/>
            <a:ext cx="5753102" cy="5753102"/>
            <a:chOff x="3103417" y="1184563"/>
            <a:chExt cx="5507182" cy="5507182"/>
          </a:xfrm>
        </p:grpSpPr>
        <p:pic>
          <p:nvPicPr>
            <p:cNvPr id="6" name="Picture 2" descr="1,500+ Microbiome Stock Illustrations, Royalty-Free Vector Graphics &amp; Clip  Art - iStock | Gut microbiome, Skin microbiome, Microbiome woman">
              <a:extLst>
                <a:ext uri="{FF2B5EF4-FFF2-40B4-BE49-F238E27FC236}">
                  <a16:creationId xmlns:a16="http://schemas.microsoft.com/office/drawing/2014/main" id="{2F7DF042-900E-9788-5287-AC4E012A7C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3417" y="1184563"/>
              <a:ext cx="5507182" cy="55071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Virus">
              <a:extLst>
                <a:ext uri="{FF2B5EF4-FFF2-40B4-BE49-F238E27FC236}">
                  <a16:creationId xmlns:a16="http://schemas.microsoft.com/office/drawing/2014/main" id="{3B1274F2-AD95-A53C-D8A1-7F5E0266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13359" y="3092935"/>
              <a:ext cx="369332" cy="369332"/>
            </a:xfrm>
            <a:prstGeom prst="rect">
              <a:avLst/>
            </a:prstGeom>
          </p:spPr>
        </p:pic>
        <p:pic>
          <p:nvPicPr>
            <p:cNvPr id="8" name="Picture 7" descr="Virus">
              <a:extLst>
                <a:ext uri="{FF2B5EF4-FFF2-40B4-BE49-F238E27FC236}">
                  <a16:creationId xmlns:a16="http://schemas.microsoft.com/office/drawing/2014/main" id="{C313216F-15E2-E91B-B3B1-3344D3BD3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99448" y="2037278"/>
              <a:ext cx="369332" cy="369332"/>
            </a:xfrm>
            <a:prstGeom prst="rect">
              <a:avLst/>
            </a:prstGeom>
          </p:spPr>
        </p:pic>
        <p:pic>
          <p:nvPicPr>
            <p:cNvPr id="10" name="Picture 9" descr="Virus">
              <a:extLst>
                <a:ext uri="{FF2B5EF4-FFF2-40B4-BE49-F238E27FC236}">
                  <a16:creationId xmlns:a16="http://schemas.microsoft.com/office/drawing/2014/main" id="{2764AD2C-7D4B-853A-123C-F43332EB0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9207075">
              <a:off x="4036414" y="3582188"/>
              <a:ext cx="369332" cy="3693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1468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15719BB-48A7-4AF4-BB91-DC82E0DF7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57" name="Freeform: Shape 2056">
            <a:extLst>
              <a:ext uri="{FF2B5EF4-FFF2-40B4-BE49-F238E27FC236}">
                <a16:creationId xmlns:a16="http://schemas.microsoft.com/office/drawing/2014/main" id="{10973A55-5440-4A99-B526-B5812E462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096002" cy="6858000"/>
          </a:xfrm>
          <a:custGeom>
            <a:avLst/>
            <a:gdLst>
              <a:gd name="connsiteX0" fmla="*/ 0 w 6096002"/>
              <a:gd name="connsiteY0" fmla="*/ 0 h 6858000"/>
              <a:gd name="connsiteX1" fmla="*/ 4885967 w 6096002"/>
              <a:gd name="connsiteY1" fmla="*/ 0 h 6858000"/>
              <a:gd name="connsiteX2" fmla="*/ 4946007 w 6096002"/>
              <a:gd name="connsiteY2" fmla="*/ 69271 h 6858000"/>
              <a:gd name="connsiteX3" fmla="*/ 6096002 w 6096002"/>
              <a:gd name="connsiteY3" fmla="*/ 3429000 h 6858000"/>
              <a:gd name="connsiteX4" fmla="*/ 4946007 w 6096002"/>
              <a:gd name="connsiteY4" fmla="*/ 6788730 h 6858000"/>
              <a:gd name="connsiteX5" fmla="*/ 4885967 w 6096002"/>
              <a:gd name="connsiteY5" fmla="*/ 6858000 h 6858000"/>
              <a:gd name="connsiteX6" fmla="*/ 0 w 609600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2" h="6858000">
                <a:moveTo>
                  <a:pt x="0" y="0"/>
                </a:moveTo>
                <a:lnTo>
                  <a:pt x="4885967" y="0"/>
                </a:lnTo>
                <a:lnTo>
                  <a:pt x="4946007" y="69271"/>
                </a:lnTo>
                <a:cubicBezTo>
                  <a:pt x="5656533" y="929100"/>
                  <a:pt x="6096002" y="2116944"/>
                  <a:pt x="6096002" y="3429000"/>
                </a:cubicBezTo>
                <a:cubicBezTo>
                  <a:pt x="6096002" y="4741056"/>
                  <a:pt x="5656533" y="5928900"/>
                  <a:pt x="4946007" y="6788730"/>
                </a:cubicBezTo>
                <a:lnTo>
                  <a:pt x="4885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59" name="Freeform: Shape 2058">
            <a:extLst>
              <a:ext uri="{FF2B5EF4-FFF2-40B4-BE49-F238E27FC236}">
                <a16:creationId xmlns:a16="http://schemas.microsoft.com/office/drawing/2014/main" id="{A9682493-588A-4D52-98F6-FBBD80C07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5370" cy="6858000"/>
          </a:xfrm>
          <a:custGeom>
            <a:avLst/>
            <a:gdLst>
              <a:gd name="connsiteX0" fmla="*/ 0 w 6085370"/>
              <a:gd name="connsiteY0" fmla="*/ 0 h 6858000"/>
              <a:gd name="connsiteX1" fmla="*/ 4875335 w 6085370"/>
              <a:gd name="connsiteY1" fmla="*/ 0 h 6858000"/>
              <a:gd name="connsiteX2" fmla="*/ 4935375 w 6085370"/>
              <a:gd name="connsiteY2" fmla="*/ 69271 h 6858000"/>
              <a:gd name="connsiteX3" fmla="*/ 6085370 w 6085370"/>
              <a:gd name="connsiteY3" fmla="*/ 3429000 h 6858000"/>
              <a:gd name="connsiteX4" fmla="*/ 4935375 w 6085370"/>
              <a:gd name="connsiteY4" fmla="*/ 6788730 h 6858000"/>
              <a:gd name="connsiteX5" fmla="*/ 4875335 w 6085370"/>
              <a:gd name="connsiteY5" fmla="*/ 6858000 h 6858000"/>
              <a:gd name="connsiteX6" fmla="*/ 0 w 60853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5370" h="6858000">
                <a:moveTo>
                  <a:pt x="0" y="0"/>
                </a:moveTo>
                <a:lnTo>
                  <a:pt x="4875335" y="0"/>
                </a:lnTo>
                <a:lnTo>
                  <a:pt x="4935375" y="69271"/>
                </a:lnTo>
                <a:cubicBezTo>
                  <a:pt x="5645901" y="929100"/>
                  <a:pt x="6085370" y="2116944"/>
                  <a:pt x="6085370" y="3429000"/>
                </a:cubicBezTo>
                <a:cubicBezTo>
                  <a:pt x="6085370" y="4741056"/>
                  <a:pt x="5645901" y="5928900"/>
                  <a:pt x="4935375" y="6788730"/>
                </a:cubicBezTo>
                <a:lnTo>
                  <a:pt x="487533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C8DCC-DF1F-8A92-4B33-ADDE6B52B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620" y="674285"/>
            <a:ext cx="4832802" cy="11704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dirty="0"/>
              <a:t>Processing metagenomics data – a </a:t>
            </a:r>
            <a:r>
              <a:rPr lang="en-US" sz="3400" dirty="0" err="1"/>
              <a:t>fastq</a:t>
            </a:r>
            <a:r>
              <a:rPr lang="en-US" sz="3400" dirty="0"/>
              <a:t> file</a:t>
            </a:r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FBEC5A7A-ADE4-48D9-B89C-2BA1C9110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3236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92" y="2185062"/>
            <a:ext cx="49377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39E10-F5C4-4568-2E01-90C76700E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823" y="244055"/>
            <a:ext cx="2666119" cy="210623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50A9F06-6519-16C1-D3DE-538A66F3E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25151" y="4174410"/>
            <a:ext cx="6161698" cy="2064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475108-D4AE-5CAE-B96A-45DF559F8021}"/>
              </a:ext>
            </a:extLst>
          </p:cNvPr>
          <p:cNvSpPr txBox="1"/>
          <p:nvPr/>
        </p:nvSpPr>
        <p:spPr>
          <a:xfrm>
            <a:off x="6330221" y="2494323"/>
            <a:ext cx="55224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Four lines for each read: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 identifier (starting with @)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Read sequence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a line starting with + (som</a:t>
            </a:r>
            <a:r>
              <a:rPr lang="en-GB" dirty="0"/>
              <a:t>e</a:t>
            </a:r>
            <a:r>
              <a:rPr lang="en-DK" dirty="0"/>
              <a:t>times id gets repeated)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quality scores per nucleotide (Phred score)</a:t>
            </a:r>
          </a:p>
        </p:txBody>
      </p:sp>
      <p:graphicFrame>
        <p:nvGraphicFramePr>
          <p:cNvPr id="2065" name="TextBox 9">
            <a:extLst>
              <a:ext uri="{FF2B5EF4-FFF2-40B4-BE49-F238E27FC236}">
                <a16:creationId xmlns:a16="http://schemas.microsoft.com/office/drawing/2014/main" id="{014D0287-D459-7769-515C-849E5549B3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7763866"/>
              </p:ext>
            </p:extLst>
          </p:nvPr>
        </p:nvGraphicFramePr>
        <p:xfrm>
          <a:off x="286150" y="2107515"/>
          <a:ext cx="5352852" cy="4672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995239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A16C-5D3D-DBB2-CDFF-E6B83CBA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Repeating steps too many times? – find yourself a pipeline!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5E49E-A4E2-0A19-B8CD-19327E20B0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837" r="-139"/>
          <a:stretch/>
        </p:blipFill>
        <p:spPr>
          <a:xfrm>
            <a:off x="8891545" y="2061216"/>
            <a:ext cx="2927130" cy="1571150"/>
          </a:xfrm>
          <a:prstGeom prst="rect">
            <a:avLst/>
          </a:prstGeom>
        </p:spPr>
      </p:pic>
      <p:sp>
        <p:nvSpPr>
          <p:cNvPr id="5" name="Down Arrow 4">
            <a:extLst>
              <a:ext uri="{FF2B5EF4-FFF2-40B4-BE49-F238E27FC236}">
                <a16:creationId xmlns:a16="http://schemas.microsoft.com/office/drawing/2014/main" id="{ED67E2F8-B073-50C5-9707-11810E8D453C}"/>
              </a:ext>
            </a:extLst>
          </p:cNvPr>
          <p:cNvSpPr/>
          <p:nvPr/>
        </p:nvSpPr>
        <p:spPr>
          <a:xfrm rot="16200000">
            <a:off x="6313896" y="2528743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9A646-1605-1721-968E-1CC8705AB449}"/>
              </a:ext>
            </a:extLst>
          </p:cNvPr>
          <p:cNvSpPr txBox="1"/>
          <p:nvPr/>
        </p:nvSpPr>
        <p:spPr>
          <a:xfrm>
            <a:off x="1204068" y="4578998"/>
            <a:ext cx="39251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Different steps to run manually in an order (QC, host removal, mapping to a database, etc…)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Workflow that contains all the processes needed and have them chained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996355-A2BC-D4E2-262F-4C6D81DEEAE7}"/>
              </a:ext>
            </a:extLst>
          </p:cNvPr>
          <p:cNvSpPr txBox="1"/>
          <p:nvPr/>
        </p:nvSpPr>
        <p:spPr>
          <a:xfrm>
            <a:off x="9035767" y="4106931"/>
            <a:ext cx="2927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b="0" i="0" dirty="0" err="1">
                <a:effectLst/>
                <a:latin typeface="Inter"/>
              </a:rPr>
              <a:t>Nextflow</a:t>
            </a:r>
            <a:r>
              <a:rPr lang="en-GB" sz="2000" b="0" i="0" dirty="0">
                <a:effectLst/>
                <a:latin typeface="Inter"/>
              </a:rPr>
              <a:t> is a </a:t>
            </a:r>
            <a:r>
              <a:rPr lang="en-GB" sz="2000" dirty="0">
                <a:latin typeface="Inter"/>
              </a:rPr>
              <a:t>language to build workflows and a software to orchestrate workflows execution.</a:t>
            </a:r>
            <a:endParaRPr lang="en-GB" sz="2000" b="0" i="0" dirty="0">
              <a:effectLst/>
              <a:latin typeface="Inter"/>
            </a:endParaRPr>
          </a:p>
        </p:txBody>
      </p:sp>
      <p:pic>
        <p:nvPicPr>
          <p:cNvPr id="8" name="Picture 2" descr="GitHub - nextflow-io/nextflow: A DSL for data-driven computational pipelines">
            <a:extLst>
              <a:ext uri="{FF2B5EF4-FFF2-40B4-BE49-F238E27FC236}">
                <a16:creationId xmlns:a16="http://schemas.microsoft.com/office/drawing/2014/main" id="{9DF5E776-6077-5C4D-D9E6-9FAECCDE0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855" y="4211001"/>
            <a:ext cx="2230599" cy="111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0ABA058-B4CC-6FB6-0CDF-54E5C50E3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8735" y="1918031"/>
            <a:ext cx="5544859" cy="1857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Down Arrow 9">
            <a:extLst>
              <a:ext uri="{FF2B5EF4-FFF2-40B4-BE49-F238E27FC236}">
                <a16:creationId xmlns:a16="http://schemas.microsoft.com/office/drawing/2014/main" id="{A6E6B478-17DF-12FF-8E1A-7DF9C29724FF}"/>
              </a:ext>
            </a:extLst>
          </p:cNvPr>
          <p:cNvSpPr/>
          <p:nvPr/>
        </p:nvSpPr>
        <p:spPr>
          <a:xfrm rot="16200000">
            <a:off x="6950000" y="2528742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42B1C9F-28FB-4C87-D789-D9969E8CF49B}"/>
              </a:ext>
            </a:extLst>
          </p:cNvPr>
          <p:cNvSpPr/>
          <p:nvPr/>
        </p:nvSpPr>
        <p:spPr>
          <a:xfrm rot="16200000">
            <a:off x="7551069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62D09C8-DECC-CE47-E947-589C5A7E5FE9}"/>
              </a:ext>
            </a:extLst>
          </p:cNvPr>
          <p:cNvSpPr/>
          <p:nvPr/>
        </p:nvSpPr>
        <p:spPr>
          <a:xfrm rot="16200000">
            <a:off x="8152138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E819FD-BB10-A7D5-ED12-EF29ACE4A46B}"/>
              </a:ext>
            </a:extLst>
          </p:cNvPr>
          <p:cNvSpPr txBox="1"/>
          <p:nvPr/>
        </p:nvSpPr>
        <p:spPr>
          <a:xfrm>
            <a:off x="6393733" y="1839555"/>
            <a:ext cx="2052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K" dirty="0"/>
              <a:t>Series of steps in an specific order</a:t>
            </a:r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A3151248-34F6-D4A4-CD78-3B67DCF1CEAD}"/>
              </a:ext>
            </a:extLst>
          </p:cNvPr>
          <p:cNvSpPr/>
          <p:nvPr/>
        </p:nvSpPr>
        <p:spPr>
          <a:xfrm rot="16200000">
            <a:off x="5776742" y="500825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F65631-14FF-FC62-55FD-D7CC2E0A31FB}"/>
              </a:ext>
            </a:extLst>
          </p:cNvPr>
          <p:cNvSpPr txBox="1"/>
          <p:nvPr/>
        </p:nvSpPr>
        <p:spPr>
          <a:xfrm>
            <a:off x="6719292" y="5538337"/>
            <a:ext cx="4974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Strong community behind with various bioinformaticians joining forces to build each of the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Support for other technologies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28174C-1182-4496-8E73-7A67D13BBFD9}"/>
              </a:ext>
            </a:extLst>
          </p:cNvPr>
          <p:cNvSpPr txBox="1"/>
          <p:nvPr/>
        </p:nvSpPr>
        <p:spPr>
          <a:xfrm>
            <a:off x="9171779" y="1420230"/>
            <a:ext cx="26582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Abundance table for downstream analysis</a:t>
            </a:r>
          </a:p>
        </p:txBody>
      </p:sp>
    </p:spTree>
    <p:extLst>
      <p:ext uri="{BB962C8B-B14F-4D97-AF65-F5344CB8AC3E}">
        <p14:creationId xmlns:p14="http://schemas.microsoft.com/office/powerpoint/2010/main" val="1041897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D47F22ED-3A55-4EDE-A5A8-163D82B09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5184EE59-3061-456B-9FB5-98A8E0E74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F7E07B5E-9FB5-4C91-8BE4-6167EB58D0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3"/>
            <a:ext cx="6858000" cy="403783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37524947-EB09-4DD9-973B-9F75BBCD7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26611" y="3576013"/>
            <a:ext cx="2526132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D30C8E25-2DD1-45C6-9F04-0F0CBF666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3" y="1396067"/>
            <a:ext cx="6858000" cy="40378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BC57EA3C-C239-4132-A618-5CBE9F896B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8268" y="982780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8BE82E-96BE-9CBF-D23F-B00031FC5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82" y="456345"/>
            <a:ext cx="3111690" cy="35560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b="0" i="0">
                <a:solidFill>
                  <a:srgbClr val="FFFFFF"/>
                </a:solidFill>
                <a:effectLst/>
              </a:rPr>
              <a:t>Nextflow’s core features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55577D-7CB0-62BC-7E9E-DD741C1C7965}"/>
              </a:ext>
            </a:extLst>
          </p:cNvPr>
          <p:cNvSpPr txBox="1"/>
          <p:nvPr/>
        </p:nvSpPr>
        <p:spPr>
          <a:xfrm>
            <a:off x="4244454" y="670877"/>
            <a:ext cx="4907663" cy="584846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Reproducible </a:t>
            </a:r>
            <a:r>
              <a:rPr lang="en-US" i="0">
                <a:effectLst/>
              </a:rPr>
              <a:t>between runs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integration with code management tools 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all packages downloaded, organized in containers, and control over computing environment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/>
              <a:t>Portable</a:t>
            </a:r>
            <a:r>
              <a:rPr lang="en-US"/>
              <a:t> between systems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you can write the code in your laptop and can run everywhere (HPC, cloud)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works with most of computing environments</a:t>
            </a:r>
            <a:endParaRPr lang="en-US" b="0" i="0">
              <a:effectLst/>
            </a:endParaRP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Scalable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it can run for 10 samples on your laptop or thousands in the cloud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Integration</a:t>
            </a:r>
            <a:r>
              <a:rPr lang="en-US" b="0" i="0">
                <a:effectLst/>
              </a:rPr>
              <a:t> of existing tools, systems, and industry standards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Graphic 4" descr="Recycle with solid fill">
            <a:extLst>
              <a:ext uri="{FF2B5EF4-FFF2-40B4-BE49-F238E27FC236}">
                <a16:creationId xmlns:a16="http://schemas.microsoft.com/office/drawing/2014/main" id="{59EA208E-C2B6-936B-0673-B882C36EF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6113" y="896238"/>
            <a:ext cx="1486670" cy="1486670"/>
          </a:xfrm>
          <a:prstGeom prst="rect">
            <a:avLst/>
          </a:prstGeom>
        </p:spPr>
      </p:pic>
      <p:pic>
        <p:nvPicPr>
          <p:cNvPr id="7" name="Graphic 6" descr="Box with solid fill">
            <a:extLst>
              <a:ext uri="{FF2B5EF4-FFF2-40B4-BE49-F238E27FC236}">
                <a16:creationId xmlns:a16="http://schemas.microsoft.com/office/drawing/2014/main" id="{5F19D61B-C73F-2EA6-59A3-BB1BBCCEC8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95509" y="2685061"/>
            <a:ext cx="1487878" cy="1487878"/>
          </a:xfrm>
          <a:prstGeom prst="rect">
            <a:avLst/>
          </a:prstGeom>
        </p:spPr>
      </p:pic>
      <p:pic>
        <p:nvPicPr>
          <p:cNvPr id="1026" name="Picture 2" descr="Scalable Icon Billeder – Gennemse 65,304 stockfotos ...">
            <a:extLst>
              <a:ext uri="{FF2B5EF4-FFF2-40B4-BE49-F238E27FC236}">
                <a16:creationId xmlns:a16="http://schemas.microsoft.com/office/drawing/2014/main" id="{E7F8B9F6-426A-8F69-76A0-25A3BC8B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304080" y="4514362"/>
            <a:ext cx="1470736" cy="147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5848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5E68A8-6496-8332-1E29-6AFA91182DD9}"/>
              </a:ext>
            </a:extLst>
          </p:cNvPr>
          <p:cNvSpPr txBox="1"/>
          <p:nvPr/>
        </p:nvSpPr>
        <p:spPr>
          <a:xfrm>
            <a:off x="838200" y="1722653"/>
            <a:ext cx="1103860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0" i="0" dirty="0">
                <a:effectLst/>
                <a:latin typeface="Inter Variable"/>
              </a:rPr>
              <a:t>A global community effort to collect a curated set of open‑source analysis pipelines built using </a:t>
            </a:r>
            <a:r>
              <a:rPr lang="en-GB" sz="2000" b="0" i="0" dirty="0" err="1">
                <a:effectLst/>
                <a:latin typeface="Inter Variable"/>
              </a:rPr>
              <a:t>Nextflow</a:t>
            </a:r>
            <a:r>
              <a:rPr lang="en-GB" sz="2000" b="0" i="0" dirty="0">
                <a:effectLst/>
                <a:latin typeface="Inter Variable"/>
              </a:rPr>
              <a:t>.</a:t>
            </a:r>
            <a:br>
              <a:rPr lang="en-GB" sz="2000" b="0" i="0" dirty="0">
                <a:effectLst/>
                <a:latin typeface="Inter Variable"/>
              </a:rPr>
            </a:br>
            <a:r>
              <a:rPr lang="en-GB" sz="2000" b="0" i="0" dirty="0">
                <a:effectLst/>
                <a:latin typeface="Inter Variable"/>
                <a:hlinkClick r:id="rId3"/>
              </a:rPr>
              <a:t>https://nf-co.re/</a:t>
            </a:r>
            <a:endParaRPr lang="en-GB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  <a:p>
            <a:r>
              <a:rPr lang="en-GB" sz="1400" b="0" i="0" dirty="0">
                <a:effectLst/>
                <a:latin typeface="Inter Variable"/>
                <a:hlinkClick r:id="rId4"/>
              </a:rPr>
              <a:t>https://www.nature.com/articles/s41587-020-0439-x</a:t>
            </a:r>
            <a:endParaRPr lang="en-GB" sz="1400" b="0" i="0" dirty="0">
              <a:effectLst/>
              <a:latin typeface="Inter Variable"/>
            </a:endParaRPr>
          </a:p>
          <a:p>
            <a:endParaRPr lang="en-DK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</p:txBody>
      </p:sp>
      <p:pic>
        <p:nvPicPr>
          <p:cNvPr id="1026" name="Picture 2" descr="What is nf-core? - training.nextflow.io">
            <a:extLst>
              <a:ext uri="{FF2B5EF4-FFF2-40B4-BE49-F238E27FC236}">
                <a16:creationId xmlns:a16="http://schemas.microsoft.com/office/drawing/2014/main" id="{8FD22934-8E0D-0C9C-1CF1-C13B0FD9E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42888"/>
            <a:ext cx="55880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832764-D67F-39F7-75BB-257A2E3A37C1}"/>
              </a:ext>
            </a:extLst>
          </p:cNvPr>
          <p:cNvSpPr txBox="1"/>
          <p:nvPr/>
        </p:nvSpPr>
        <p:spPr>
          <a:xfrm>
            <a:off x="1179008" y="4647569"/>
            <a:ext cx="30065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120 </a:t>
            </a:r>
            <a:r>
              <a:rPr lang="en-DK" sz="2000" b="1" dirty="0"/>
              <a:t>pipelines</a:t>
            </a:r>
            <a:r>
              <a:rPr lang="en-DK" sz="2000" dirty="0"/>
              <a:t> available (8th June 2025)</a:t>
            </a:r>
          </a:p>
          <a:p>
            <a:r>
              <a:rPr lang="en-DK" sz="2000" dirty="0"/>
              <a:t>to process and analyse many different data types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219D86-03C1-EA4F-8BB9-994CDFC803C8}"/>
              </a:ext>
            </a:extLst>
          </p:cNvPr>
          <p:cNvSpPr txBox="1"/>
          <p:nvPr/>
        </p:nvSpPr>
        <p:spPr>
          <a:xfrm>
            <a:off x="5375707" y="4625371"/>
            <a:ext cx="230830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Modules</a:t>
            </a:r>
            <a:r>
              <a:rPr lang="en-GB" sz="2000" dirty="0"/>
              <a:t>: 1,527 reusable components that can be integrated into pipelines</a:t>
            </a:r>
            <a:endParaRPr lang="en-DK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79BD33-4438-2A43-5F84-21BE385F07E8}"/>
              </a:ext>
            </a:extLst>
          </p:cNvPr>
          <p:cNvSpPr txBox="1"/>
          <p:nvPr/>
        </p:nvSpPr>
        <p:spPr>
          <a:xfrm>
            <a:off x="8276300" y="4625371"/>
            <a:ext cx="28736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 err="1"/>
              <a:t>Subworkflows</a:t>
            </a:r>
            <a:r>
              <a:rPr lang="en-GB" sz="2000" dirty="0"/>
              <a:t>: 83 pre-assembled combinations of modules aimed at streamlining commonly used workflows</a:t>
            </a:r>
            <a:endParaRPr lang="en-DK" sz="2000" dirty="0"/>
          </a:p>
        </p:txBody>
      </p:sp>
      <p:pic>
        <p:nvPicPr>
          <p:cNvPr id="14" name="Graphic 13" descr="Puzzle pieces outline">
            <a:extLst>
              <a:ext uri="{FF2B5EF4-FFF2-40B4-BE49-F238E27FC236}">
                <a16:creationId xmlns:a16="http://schemas.microsoft.com/office/drawing/2014/main" id="{FEED8ED9-E5D2-33A3-DB30-1478EA71E5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6643" y="2650302"/>
            <a:ext cx="1682088" cy="1682088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A14F8C-56E7-5EE3-4B5A-6CA4A2F4E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33310" y="3046467"/>
            <a:ext cx="3097937" cy="130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5499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104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F7122C-FAA7-DEF4-650A-31894F10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nf-core/taxprofiler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6248540-05BA-BF9A-4B95-2B03C287C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8606" y="1489353"/>
            <a:ext cx="11914787" cy="500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3DDE58-A896-E50D-CC91-A05611DB328C}"/>
              </a:ext>
            </a:extLst>
          </p:cNvPr>
          <p:cNvSpPr txBox="1"/>
          <p:nvPr/>
        </p:nvSpPr>
        <p:spPr>
          <a:xfrm>
            <a:off x="278296" y="1603514"/>
            <a:ext cx="4134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Reference-based taxonomical profiling</a:t>
            </a:r>
          </a:p>
        </p:txBody>
      </p:sp>
    </p:spTree>
    <p:extLst>
      <p:ext uri="{BB962C8B-B14F-4D97-AF65-F5344CB8AC3E}">
        <p14:creationId xmlns:p14="http://schemas.microsoft.com/office/powerpoint/2010/main" val="2268496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90ACE-1D13-D359-9A0F-A71A1C6F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samplesheet.csv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6A4BA-1634-484A-F6BD-8AE8D00A8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sample,run_accession,instrument_platform,fastq_1,fastq_2,fasta</a:t>
            </a:r>
          </a:p>
          <a:p>
            <a:pPr marL="0" indent="0">
              <a:buNone/>
            </a:pPr>
            <a:r>
              <a:rPr lang="en-GB" dirty="0"/>
              <a:t>2612,run1,ILLUMINA,2612_run1_R1.fq.gz,,</a:t>
            </a:r>
          </a:p>
          <a:p>
            <a:pPr marL="0" indent="0">
              <a:buNone/>
            </a:pPr>
            <a:r>
              <a:rPr lang="en-GB" dirty="0"/>
              <a:t>2612,run2,ILLUMINA,2612_run2_R1.fq.gz,,</a:t>
            </a:r>
          </a:p>
          <a:p>
            <a:pPr marL="0" indent="0">
              <a:buNone/>
            </a:pPr>
            <a:r>
              <a:rPr lang="en-GB" dirty="0"/>
              <a:t>2612,run3,ILLUMINA,2612_run3_R1.fq.gz,2612_run3_R2.fq.gz,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9193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277FA-4B75-0A5F-F893-E55A6301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databases.csv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9A526-F575-2C2F-B2DD-1BFAC188D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tool,db_name,db_params,db_pathkraken2,db2,--quick,/&lt;path&gt;/&lt;to&gt;/kraken2/testdb-kraken2.tar.gzmetaphlan,db1,,/&lt;path&gt;/&lt;to&gt;/</a:t>
            </a:r>
            <a:r>
              <a:rPr lang="en-GB" dirty="0" err="1"/>
              <a:t>metaphlan</a:t>
            </a:r>
            <a:r>
              <a:rPr lang="en-GB" dirty="0"/>
              <a:t>/</a:t>
            </a:r>
            <a:r>
              <a:rPr lang="en-GB" dirty="0" err="1"/>
              <a:t>metaphlan_database</a:t>
            </a:r>
            <a:r>
              <a:rPr lang="en-GB" dirty="0"/>
              <a:t>/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93693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3C36-43C5-0E51-3F74-BE49FBF3F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/>
              <a:t>Read QC (</a:t>
            </a:r>
            <a:r>
              <a:rPr lang="en-GB" u="sng" dirty="0">
                <a:hlinkClick r:id="rId2"/>
              </a:rPr>
              <a:t>FastQC</a:t>
            </a:r>
            <a:r>
              <a:rPr lang="en-GB" u="sng" dirty="0"/>
              <a:t>)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4FA3E5-D31E-A01E-1C15-DA7F37B09912}"/>
              </a:ext>
            </a:extLst>
          </p:cNvPr>
          <p:cNvSpPr txBox="1"/>
          <p:nvPr/>
        </p:nvSpPr>
        <p:spPr>
          <a:xfrm>
            <a:off x="3693694" y="2428443"/>
            <a:ext cx="5444836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400" dirty="0"/>
          </a:p>
          <a:p>
            <a:r>
              <a:rPr lang="en-GB" sz="1400" dirty="0"/>
              <a:t>[ ! -f  SRR28149497_SRR_1.fastq.gz ] &amp;&amp; ln -sf SRR28149497_1.fastq.gz SRR28149497_SRR_1.fastq.gz</a:t>
            </a:r>
          </a:p>
          <a:p>
            <a:r>
              <a:rPr lang="en-GB" sz="1400" dirty="0"/>
              <a:t>[ ! -f  SRR28149497_SRR_2.fastq.gz ] &amp;&amp; ln -sf SRR28149497_2.fastq.gz SRR28149497_SRR_2.fastq.gz</a:t>
            </a:r>
          </a:p>
          <a:p>
            <a:r>
              <a:rPr lang="en-GB" sz="1400" dirty="0" err="1"/>
              <a:t>fastp</a:t>
            </a:r>
            <a:r>
              <a:rPr lang="en-GB" sz="1400" dirty="0"/>
              <a:t> \</a:t>
            </a:r>
          </a:p>
          <a:p>
            <a:r>
              <a:rPr lang="en-GB" sz="1400" dirty="0"/>
              <a:t>    --in1 SRR28149497_SRR_1.fastq.gz \</a:t>
            </a:r>
          </a:p>
          <a:p>
            <a:r>
              <a:rPr lang="en-GB" sz="1400" dirty="0"/>
              <a:t>    --in2 SRR28149497_SRR_2.fastq.gz \</a:t>
            </a:r>
          </a:p>
          <a:p>
            <a:r>
              <a:rPr lang="en-GB" sz="1400" dirty="0"/>
              <a:t>    --out1 SRR28149497_SRR_1.fastp.fastq.gz \</a:t>
            </a:r>
          </a:p>
          <a:p>
            <a:r>
              <a:rPr lang="en-GB" sz="1400" dirty="0"/>
              <a:t>    --out2 SRR28149497_SRR_2.fastp.fastq.gz \</a:t>
            </a:r>
          </a:p>
          <a:p>
            <a:r>
              <a:rPr lang="en-GB" sz="1400" dirty="0"/>
              <a:t>    --</a:t>
            </a:r>
            <a:r>
              <a:rPr lang="en-GB" sz="1400" dirty="0" err="1"/>
              <a:t>json</a:t>
            </a:r>
            <a:r>
              <a:rPr lang="en-GB" sz="1400" dirty="0"/>
              <a:t> SRR28149497_SRR.fastp.json \</a:t>
            </a:r>
          </a:p>
          <a:p>
            <a:r>
              <a:rPr lang="en-GB" sz="1400" dirty="0"/>
              <a:t>    --html SRR28149497_SRR.fastp.html \</a:t>
            </a:r>
          </a:p>
          <a:p>
            <a:r>
              <a:rPr lang="en-GB" sz="1400" dirty="0"/>
              <a:t>     \</a:t>
            </a:r>
          </a:p>
          <a:p>
            <a:r>
              <a:rPr lang="en-GB" sz="1400" dirty="0"/>
              <a:t>     \</a:t>
            </a:r>
          </a:p>
          <a:p>
            <a:r>
              <a:rPr lang="en-GB" sz="1400" dirty="0"/>
              <a:t>     \</a:t>
            </a:r>
          </a:p>
          <a:p>
            <a:r>
              <a:rPr lang="en-GB" sz="1400" dirty="0"/>
              <a:t>    --thread 6 \</a:t>
            </a:r>
          </a:p>
          <a:p>
            <a:r>
              <a:rPr lang="en-GB" sz="1400" dirty="0"/>
              <a:t>    --</a:t>
            </a:r>
            <a:r>
              <a:rPr lang="en-GB" sz="1400" dirty="0" err="1"/>
              <a:t>detect_adapter_for_pe</a:t>
            </a:r>
            <a:r>
              <a:rPr lang="en-GB" sz="1400" dirty="0"/>
              <a:t> \</a:t>
            </a:r>
          </a:p>
          <a:p>
            <a:r>
              <a:rPr lang="en-GB" sz="1400" dirty="0"/>
              <a:t>    --</a:t>
            </a:r>
            <a:r>
              <a:rPr lang="en-GB" sz="1400" dirty="0" err="1"/>
              <a:t>detect_adapter_for_pe</a:t>
            </a:r>
            <a:r>
              <a:rPr lang="en-GB" sz="1400" dirty="0"/>
              <a:t> --</a:t>
            </a:r>
            <a:r>
              <a:rPr lang="en-GB" sz="1400" dirty="0" err="1"/>
              <a:t>length_required</a:t>
            </a:r>
            <a:r>
              <a:rPr lang="en-GB" sz="1400" dirty="0"/>
              <a:t> 15 \</a:t>
            </a:r>
          </a:p>
          <a:p>
            <a:r>
              <a:rPr lang="en-GB" sz="1400" dirty="0"/>
              <a:t>    2&gt; &gt;(tee SRR28149497_SRR.fastp.log &gt;&amp;2)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77151-9985-3667-87C7-54C5272CA0F8}"/>
              </a:ext>
            </a:extLst>
          </p:cNvPr>
          <p:cNvSpPr txBox="1"/>
          <p:nvPr/>
        </p:nvSpPr>
        <p:spPr>
          <a:xfrm>
            <a:off x="1215736" y="1048564"/>
            <a:ext cx="9414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u="sng" dirty="0">
                <a:hlinkClick r:id="rId3"/>
              </a:rPr>
              <a:t>FastQC</a:t>
            </a:r>
            <a:r>
              <a:rPr lang="en-GB" dirty="0"/>
              <a:t> gives general quality metrics about the sequenced reads.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It provides information about the quality score distribution across your reads, per base sequence content, adapter contamination and overrepresented sequences.</a:t>
            </a:r>
            <a:endParaRPr lang="en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C99CD9-D12C-5809-6A7C-90C1C29A88CE}"/>
              </a:ext>
            </a:extLst>
          </p:cNvPr>
          <p:cNvSpPr txBox="1"/>
          <p:nvPr/>
        </p:nvSpPr>
        <p:spPr>
          <a:xfrm>
            <a:off x="3346054" y="2075049"/>
            <a:ext cx="5153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in work/&lt;hexadecimal code&gt;/.command.sh</a:t>
            </a:r>
          </a:p>
        </p:txBody>
      </p:sp>
    </p:spTree>
    <p:extLst>
      <p:ext uri="{BB962C8B-B14F-4D97-AF65-F5344CB8AC3E}">
        <p14:creationId xmlns:p14="http://schemas.microsoft.com/office/powerpoint/2010/main" val="2520799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C670F-9374-73C0-2CC6-07C0E34E7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3281" y="313170"/>
            <a:ext cx="9874827" cy="1325563"/>
          </a:xfrm>
        </p:spPr>
        <p:txBody>
          <a:bodyPr/>
          <a:lstStyle/>
          <a:p>
            <a:r>
              <a:rPr lang="en-GB" dirty="0"/>
              <a:t>Adapter trimming for Illumina data (</a:t>
            </a:r>
            <a:r>
              <a:rPr lang="en-GB" u="sng" dirty="0">
                <a:hlinkClick r:id="rId3"/>
              </a:rPr>
              <a:t>fastp</a:t>
            </a:r>
            <a:r>
              <a:rPr lang="en-GB" u="sng" dirty="0"/>
              <a:t>)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38F23D-F2A9-1CBE-E86A-A1B870368743}"/>
              </a:ext>
            </a:extLst>
          </p:cNvPr>
          <p:cNvSpPr txBox="1"/>
          <p:nvPr/>
        </p:nvSpPr>
        <p:spPr>
          <a:xfrm>
            <a:off x="973282" y="1475509"/>
            <a:ext cx="9531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>
                <a:hlinkClick r:id="rId4"/>
              </a:rPr>
              <a:t>fastp</a:t>
            </a:r>
            <a:r>
              <a:rPr lang="en-GB" dirty="0"/>
              <a:t> is a FASTQ pre-processing tool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quality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trimmming</a:t>
            </a:r>
            <a:r>
              <a:rPr lang="en-GB" dirty="0"/>
              <a:t> of adapters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quality filtering</a:t>
            </a:r>
            <a:endParaRPr lang="en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C42B8-48FD-0485-6322-F2971BEDC221}"/>
              </a:ext>
            </a:extLst>
          </p:cNvPr>
          <p:cNvSpPr txBox="1"/>
          <p:nvPr/>
        </p:nvSpPr>
        <p:spPr>
          <a:xfrm>
            <a:off x="2119746" y="2801072"/>
            <a:ext cx="815686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[ ! -f SRR28149497_SRR_1.fastq.gz ] &amp;&amp; </a:t>
            </a:r>
            <a:r>
              <a:rPr lang="en-GB" sz="1400" dirty="0">
                <a:solidFill>
                  <a:srgbClr val="E36209"/>
                </a:solidFill>
                <a:effectLst/>
              </a:rPr>
              <a:t>ln</a:t>
            </a:r>
            <a:r>
              <a:rPr lang="en-GB" sz="1400" dirty="0"/>
              <a:t> -sf SRR28149497_1.fastq.gz SRR28149497_SRR_1.fastq.gz </a:t>
            </a:r>
          </a:p>
          <a:p>
            <a:r>
              <a:rPr lang="en-GB" sz="1400" dirty="0"/>
              <a:t>[ ! -f SRR28149497_SRR_2.fastq.gz ] &amp;&amp; </a:t>
            </a:r>
            <a:r>
              <a:rPr lang="en-GB" sz="1400" dirty="0">
                <a:solidFill>
                  <a:srgbClr val="E36209"/>
                </a:solidFill>
                <a:effectLst/>
              </a:rPr>
              <a:t>ln</a:t>
            </a:r>
            <a:r>
              <a:rPr lang="en-GB" sz="1400" dirty="0"/>
              <a:t> -sf SRR28149497_2.fastq.gz SRR28149497_SRR_2.fastq.gz</a:t>
            </a:r>
          </a:p>
          <a:p>
            <a:endParaRPr lang="en-GB" sz="1400" dirty="0"/>
          </a:p>
          <a:p>
            <a:r>
              <a:rPr lang="en-GB" sz="1400" dirty="0" err="1"/>
              <a:t>fastp</a:t>
            </a:r>
            <a:r>
              <a:rPr lang="en-GB" sz="1400" dirty="0"/>
              <a:t> \ </a:t>
            </a:r>
          </a:p>
          <a:p>
            <a:r>
              <a:rPr lang="en-GB" sz="1400" dirty="0"/>
              <a:t>	--in1 SRR28149497_SRR_1.fastq.gz \</a:t>
            </a:r>
          </a:p>
          <a:p>
            <a:r>
              <a:rPr lang="en-GB" sz="1400" dirty="0"/>
              <a:t>	--in2 SRR28149497_SRR_2.fastq.gz \</a:t>
            </a:r>
          </a:p>
          <a:p>
            <a:r>
              <a:rPr lang="en-GB" sz="1400" dirty="0"/>
              <a:t>	--out1 SRR28149497_SRR_1.fastp.fastq.gz \</a:t>
            </a:r>
          </a:p>
          <a:p>
            <a:r>
              <a:rPr lang="en-GB" sz="1400" dirty="0"/>
              <a:t>	--out2 SRR28149497_SRR_2.fastp.fastq.gz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json</a:t>
            </a:r>
            <a:r>
              <a:rPr lang="en-GB" sz="1400" dirty="0"/>
              <a:t> SRR28149497_SRR.fastp.json \</a:t>
            </a:r>
          </a:p>
          <a:p>
            <a:r>
              <a:rPr lang="en-GB" sz="1400" dirty="0"/>
              <a:t>	--html SRR28149497_SRR.fastp.html \</a:t>
            </a:r>
          </a:p>
          <a:p>
            <a:r>
              <a:rPr lang="en-GB" sz="1400" dirty="0"/>
              <a:t>	\</a:t>
            </a:r>
          </a:p>
          <a:p>
            <a:r>
              <a:rPr lang="en-GB" sz="1400" dirty="0"/>
              <a:t>	\</a:t>
            </a:r>
          </a:p>
          <a:p>
            <a:r>
              <a:rPr lang="en-GB" sz="1400" dirty="0"/>
              <a:t>	\ </a:t>
            </a:r>
          </a:p>
          <a:p>
            <a:r>
              <a:rPr lang="en-GB" sz="1400" dirty="0"/>
              <a:t>	--thread 6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detect_adapter_for_pe</a:t>
            </a:r>
            <a:r>
              <a:rPr lang="en-GB" sz="1400" dirty="0"/>
              <a:t>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detect_adapter_for_pe</a:t>
            </a:r>
            <a:r>
              <a:rPr lang="en-GB" sz="1400" dirty="0"/>
              <a:t> --</a:t>
            </a:r>
            <a:r>
              <a:rPr lang="en-GB" sz="1400" dirty="0" err="1"/>
              <a:t>length_required</a:t>
            </a:r>
            <a:r>
              <a:rPr lang="en-GB" sz="1400" dirty="0"/>
              <a:t> 15 \</a:t>
            </a:r>
          </a:p>
          <a:p>
            <a:r>
              <a:rPr lang="en-GB" sz="1400" dirty="0"/>
              <a:t>	2&gt; &gt;(</a:t>
            </a:r>
            <a:r>
              <a:rPr lang="en-GB" sz="1400" dirty="0">
                <a:solidFill>
                  <a:srgbClr val="E36209"/>
                </a:solidFill>
                <a:effectLst/>
              </a:rPr>
              <a:t>tee</a:t>
            </a:r>
            <a:r>
              <a:rPr lang="en-GB" sz="1400" dirty="0"/>
              <a:t> SRR28149497_SRR.fastp.log &gt;&amp;2)</a:t>
            </a:r>
            <a:endParaRPr lang="en-DK" sz="1400" dirty="0"/>
          </a:p>
        </p:txBody>
      </p:sp>
    </p:spTree>
    <p:extLst>
      <p:ext uri="{BB962C8B-B14F-4D97-AF65-F5344CB8AC3E}">
        <p14:creationId xmlns:p14="http://schemas.microsoft.com/office/powerpoint/2010/main" val="1675758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2AA-8E91-C125-522A-EFACF14EC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528273"/>
            <a:ext cx="8991600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Genome-level marker gene based taxonomic classifier (</a:t>
            </a:r>
            <a:r>
              <a:rPr lang="en-GB" u="sng" dirty="0">
                <a:hlinkClick r:id="rId2"/>
              </a:rPr>
              <a:t>MetaPhlAn</a:t>
            </a:r>
            <a:r>
              <a:rPr lang="en-GB" u="sng" dirty="0"/>
              <a:t>)</a:t>
            </a:r>
            <a:br>
              <a:rPr lang="en-GB" dirty="0"/>
            </a:b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F3DB8-F62D-5D9E-FF5F-E3AB5BB5B01A}"/>
              </a:ext>
            </a:extLst>
          </p:cNvPr>
          <p:cNvSpPr txBox="1"/>
          <p:nvPr/>
        </p:nvSpPr>
        <p:spPr>
          <a:xfrm>
            <a:off x="2448790" y="2956489"/>
            <a:ext cx="729441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400" dirty="0"/>
          </a:p>
          <a:p>
            <a:r>
              <a:rPr lang="en-GB" sz="1400" dirty="0"/>
              <a:t>BT2_DB=`find -L "</a:t>
            </a:r>
            <a:r>
              <a:rPr lang="en-GB" sz="1400" dirty="0" err="1"/>
              <a:t>metaphlan_db</a:t>
            </a:r>
            <a:r>
              <a:rPr lang="en-GB" sz="1400" dirty="0"/>
              <a:t>" -name "*rev.1.bt2*" -exec </a:t>
            </a:r>
            <a:r>
              <a:rPr lang="en-GB" sz="1400" dirty="0" err="1"/>
              <a:t>dirname</a:t>
            </a:r>
            <a:r>
              <a:rPr lang="en-GB" sz="1400" dirty="0"/>
              <a:t> {} \;`</a:t>
            </a:r>
          </a:p>
          <a:p>
            <a:r>
              <a:rPr lang="en-GB" sz="1400" dirty="0"/>
              <a:t>BT2_DB_INDEX=`find -L </a:t>
            </a:r>
            <a:r>
              <a:rPr lang="en-GB" sz="1400" dirty="0" err="1"/>
              <a:t>metaphlan_db</a:t>
            </a:r>
            <a:r>
              <a:rPr lang="en-GB" sz="1400" dirty="0"/>
              <a:t> -name "*.rev.1.bt2*" | </a:t>
            </a:r>
            <a:r>
              <a:rPr lang="en-GB" sz="1400" dirty="0" err="1"/>
              <a:t>sed</a:t>
            </a:r>
            <a:r>
              <a:rPr lang="en-GB" sz="1400" dirty="0"/>
              <a:t> 's/\.rev.1.bt2.*$//' | </a:t>
            </a:r>
            <a:r>
              <a:rPr lang="en-GB" sz="1400" dirty="0" err="1"/>
              <a:t>sed</a:t>
            </a:r>
            <a:r>
              <a:rPr lang="en-GB" sz="1400" dirty="0"/>
              <a:t> 's/.*\///'`</a:t>
            </a:r>
          </a:p>
          <a:p>
            <a:endParaRPr lang="en-GB" sz="1400" dirty="0"/>
          </a:p>
          <a:p>
            <a:r>
              <a:rPr lang="en-GB" sz="1400" dirty="0" err="1"/>
              <a:t>metaphlan</a:t>
            </a:r>
            <a:r>
              <a:rPr lang="en-GB" sz="1400" dirty="0"/>
              <a:t>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nproc</a:t>
            </a:r>
            <a:r>
              <a:rPr lang="en-GB" sz="1400" dirty="0"/>
              <a:t> 6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input_type</a:t>
            </a:r>
            <a:r>
              <a:rPr lang="en-GB" sz="1400" dirty="0"/>
              <a:t> </a:t>
            </a:r>
            <a:r>
              <a:rPr lang="en-GB" sz="1400" dirty="0" err="1"/>
              <a:t>fastq</a:t>
            </a:r>
            <a:r>
              <a:rPr lang="en-GB" sz="1400" dirty="0"/>
              <a:t> \</a:t>
            </a:r>
          </a:p>
          <a:p>
            <a:r>
              <a:rPr lang="en-GB" sz="1400" dirty="0"/>
              <a:t>	SRR28149499_SRR_1.fastp.fastq.gz,SRR28149499_SRR_2.fastp.fastq.gz \</a:t>
            </a:r>
          </a:p>
          <a:p>
            <a:r>
              <a:rPr lang="en-GB" sz="1400" dirty="0"/>
              <a:t>     	\</a:t>
            </a:r>
          </a:p>
          <a:p>
            <a:r>
              <a:rPr lang="en-GB" sz="1400" dirty="0"/>
              <a:t>    	--bowtie2out SRR28149499_SRR_db1.metaphlan.bowtie2out.txt \</a:t>
            </a:r>
          </a:p>
          <a:p>
            <a:r>
              <a:rPr lang="en-GB" sz="1400" dirty="0"/>
              <a:t>    	--bowtie2db $BT2_DB \</a:t>
            </a:r>
          </a:p>
          <a:p>
            <a:r>
              <a:rPr lang="en-GB" sz="1400" dirty="0"/>
              <a:t>    	--index $BT2_DB_INDEX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output_file</a:t>
            </a:r>
            <a:r>
              <a:rPr lang="en-GB" sz="1400" dirty="0"/>
              <a:t> SRR28149499_SRR_db1.metaphlan_profile.txt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4C1BD-5E91-34C2-7F64-82D9FD7EEDD3}"/>
              </a:ext>
            </a:extLst>
          </p:cNvPr>
          <p:cNvSpPr txBox="1"/>
          <p:nvPr/>
        </p:nvSpPr>
        <p:spPr>
          <a:xfrm>
            <a:off x="1253836" y="1853836"/>
            <a:ext cx="96843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>
                <a:hlinkClick r:id="rId3"/>
              </a:rPr>
              <a:t>MetaPhlAn</a:t>
            </a:r>
            <a:r>
              <a:rPr lang="en-GB" dirty="0"/>
              <a:t> is a computational tool for profiling the composition of microbial communities (Bacteria, Archaea and Eukaryotes) from metagenomic shotgun sequencing data (i.e. not 16S) with species-level resolution via marker genes.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3541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5CEB-35E0-19B8-FA2E-28E85D3E0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Aggregate report describing results and QC from the whole pipeline (</a:t>
            </a:r>
            <a:r>
              <a:rPr lang="en-GB" u="sng" dirty="0">
                <a:hlinkClick r:id="rId2"/>
              </a:rPr>
              <a:t>MultiQC</a:t>
            </a:r>
            <a:r>
              <a:rPr lang="en-GB" dirty="0"/>
              <a:t>)</a:t>
            </a:r>
            <a:br>
              <a:rPr lang="en-GB" dirty="0"/>
            </a:b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34B932-6EB6-DB42-D0FC-A61A2BD7BCCE}"/>
              </a:ext>
            </a:extLst>
          </p:cNvPr>
          <p:cNvSpPr txBox="1"/>
          <p:nvPr/>
        </p:nvSpPr>
        <p:spPr>
          <a:xfrm>
            <a:off x="1623579" y="1534825"/>
            <a:ext cx="94219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i="0" u="sng" dirty="0">
                <a:solidFill>
                  <a:srgbClr val="212529"/>
                </a:solidFill>
                <a:effectLst/>
                <a:latin typeface="Inter-509e2b3c59a4c65f"/>
                <a:hlinkClick r:id="rId3"/>
              </a:rPr>
              <a:t>MultiQC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 is a visualization tool that generates an HTML report summarising all samples in your project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Most of the pipeline QC results are visualised in the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212529"/>
                </a:solidFill>
                <a:latin typeface="Inter-509e2b3c59a4c65f"/>
              </a:rPr>
              <a:t>F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urther statistics from all software that can be reported in </a:t>
            </a:r>
            <a:r>
              <a:rPr lang="en-GB" b="0" i="0" dirty="0" err="1">
                <a:solidFill>
                  <a:srgbClr val="212529"/>
                </a:solidFill>
                <a:effectLst/>
                <a:latin typeface="Inter-509e2b3c59a4c65f"/>
              </a:rPr>
              <a:t>multiQC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 are available in the report</a:t>
            </a:r>
            <a:endParaRPr lang="en-D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4C27A-DCEB-2885-2A95-E85878B2BD46}"/>
              </a:ext>
            </a:extLst>
          </p:cNvPr>
          <p:cNvSpPr txBox="1"/>
          <p:nvPr/>
        </p:nvSpPr>
        <p:spPr>
          <a:xfrm>
            <a:off x="3649806" y="3429000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DK" dirty="0"/>
          </a:p>
          <a:p>
            <a:r>
              <a:rPr lang="en-DK" dirty="0"/>
              <a:t>multiqc \</a:t>
            </a:r>
          </a:p>
          <a:p>
            <a:r>
              <a:rPr lang="en-DK" dirty="0"/>
              <a:t>    	--force \</a:t>
            </a:r>
          </a:p>
          <a:p>
            <a:r>
              <a:rPr lang="en-DK" dirty="0"/>
              <a:t>    	--config multiqc_config.yml \</a:t>
            </a:r>
          </a:p>
          <a:p>
            <a:r>
              <a:rPr lang="en-DK" dirty="0"/>
              <a:t>	--cl-config 'custom_logo: "nf-core-	taxprofiler_logo_custom_light.png”’ \</a:t>
            </a:r>
          </a:p>
          <a:p>
            <a:r>
              <a:rPr lang="en-DK" dirty="0"/>
              <a:t>	.</a:t>
            </a:r>
          </a:p>
        </p:txBody>
      </p:sp>
    </p:spTree>
    <p:extLst>
      <p:ext uri="{BB962C8B-B14F-4D97-AF65-F5344CB8AC3E}">
        <p14:creationId xmlns:p14="http://schemas.microsoft.com/office/powerpoint/2010/main" val="3435868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A8EB5-0351-2073-C218-6950C270E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Command line to run the pipeline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C94DE8-89FB-AF6F-1957-0F4D3C54999E}"/>
              </a:ext>
            </a:extLst>
          </p:cNvPr>
          <p:cNvSpPr txBox="1"/>
          <p:nvPr/>
        </p:nvSpPr>
        <p:spPr>
          <a:xfrm>
            <a:off x="1579418" y="3059668"/>
            <a:ext cx="847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nextflow</a:t>
            </a:r>
            <a:r>
              <a:rPr lang="en-GB" dirty="0"/>
              <a:t> run </a:t>
            </a:r>
            <a:r>
              <a:rPr lang="en-GB" dirty="0" err="1"/>
              <a:t>nf</a:t>
            </a:r>
            <a:r>
              <a:rPr lang="en-GB" dirty="0"/>
              <a:t>-core/</a:t>
            </a:r>
            <a:r>
              <a:rPr lang="en-GB" dirty="0" err="1"/>
              <a:t>taxprofiler</a:t>
            </a:r>
            <a:r>
              <a:rPr lang="en-GB" dirty="0"/>
              <a:t> -r 1.2.3 -profile </a:t>
            </a:r>
            <a:r>
              <a:rPr lang="en-GB" dirty="0" err="1"/>
              <a:t>test,docker</a:t>
            </a:r>
            <a:r>
              <a:rPr lang="en-GB" dirty="0"/>
              <a:t>  --</a:t>
            </a:r>
            <a:r>
              <a:rPr lang="en-GB" dirty="0" err="1"/>
              <a:t>outdir</a:t>
            </a:r>
            <a:r>
              <a:rPr lang="en-GB" dirty="0"/>
              <a:t> </a:t>
            </a:r>
            <a:r>
              <a:rPr lang="en-GB" dirty="0" err="1"/>
              <a:t>processed_data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42021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25377</TotalTime>
  <Words>1332</Words>
  <Application>Microsoft Macintosh PowerPoint</Application>
  <PresentationFormat>Widescreen</PresentationFormat>
  <Paragraphs>136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Inter</vt:lpstr>
      <vt:lpstr>Inter Variable</vt:lpstr>
      <vt:lpstr>Inter-509e2b3c59a4c65f</vt:lpstr>
      <vt:lpstr>Wingdings</vt:lpstr>
      <vt:lpstr>Office Theme</vt:lpstr>
      <vt:lpstr>Processing of shotgun metagenomics samples</vt:lpstr>
      <vt:lpstr>Processing metagenomics data – a fastq file</vt:lpstr>
      <vt:lpstr>Repeating steps too many times? – find yourself a pipeline!</vt:lpstr>
      <vt:lpstr>Nextflow’s core features</vt:lpstr>
      <vt:lpstr>PowerPoint Presentation</vt:lpstr>
      <vt:lpstr>nf-core/taxprofiler</vt:lpstr>
      <vt:lpstr>samplesheet.csv</vt:lpstr>
      <vt:lpstr>databases.csv</vt:lpstr>
      <vt:lpstr>Read QC (FastQC)</vt:lpstr>
      <vt:lpstr>Adapter trimming for Illumina data (fastp)</vt:lpstr>
      <vt:lpstr>Genome-level marker gene based taxonomic classifier (MetaPhlAn) </vt:lpstr>
      <vt:lpstr>Aggregate report describing results and QC from the whole pipeline (MultiQC) </vt:lpstr>
      <vt:lpstr>Command line to run the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Alberto Pallejà Caro</dc:creator>
  <cp:lastModifiedBy>Alberto Pallejà Caro</cp:lastModifiedBy>
  <cp:revision>9</cp:revision>
  <dcterms:created xsi:type="dcterms:W3CDTF">2025-05-22T17:23:32Z</dcterms:created>
  <dcterms:modified xsi:type="dcterms:W3CDTF">2025-06-09T08:20:59Z</dcterms:modified>
</cp:coreProperties>
</file>