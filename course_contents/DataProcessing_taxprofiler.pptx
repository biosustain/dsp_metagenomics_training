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05" r:id="rId2"/>
    <p:sldId id="256" r:id="rId3"/>
    <p:sldId id="257" r:id="rId4"/>
    <p:sldId id="258" r:id="rId5"/>
    <p:sldId id="303" r:id="rId6"/>
    <p:sldId id="304" r:id="rId7"/>
    <p:sldId id="263" r:id="rId8"/>
    <p:sldId id="291" r:id="rId9"/>
    <p:sldId id="298" r:id="rId10"/>
    <p:sldId id="301" r:id="rId11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96"/>
    <p:restoredTop sz="95616"/>
  </p:normalViewPr>
  <p:slideViewPr>
    <p:cSldViewPr snapToGrid="0">
      <p:cViewPr varScale="1">
        <p:scale>
          <a:sx n="121" d="100"/>
          <a:sy n="121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CC1788-926F-4CEF-9B13-12039B1A819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5F198D-9978-458A-A9E1-CCBAD8884863}">
      <dgm:prSet custT="1"/>
      <dgm:spPr/>
      <dgm:t>
        <a:bodyPr/>
        <a:lstStyle/>
        <a:p>
          <a:r>
            <a:rPr lang="en-US" sz="1400"/>
            <a:t>A00180 </a:t>
          </a:r>
          <a:r>
            <a:rPr lang="en-US" sz="1400">
              <a:sym typeface="Wingdings" panose="05000000000000000000" pitchFamily="2" charset="2"/>
            </a:rPr>
            <a:t></a:t>
          </a:r>
          <a:r>
            <a:rPr lang="en-US" sz="1400"/>
            <a:t> instrument name</a:t>
          </a:r>
        </a:p>
      </dgm:t>
    </dgm:pt>
    <dgm:pt modelId="{4E662826-DB94-44F8-B542-6C30C0CE25B7}" type="parTrans" cxnId="{BD7A06C8-BE87-4AFB-9C8C-1F759BAF5993}">
      <dgm:prSet/>
      <dgm:spPr/>
      <dgm:t>
        <a:bodyPr/>
        <a:lstStyle/>
        <a:p>
          <a:endParaRPr lang="en-US" sz="1400"/>
        </a:p>
      </dgm:t>
    </dgm:pt>
    <dgm:pt modelId="{1B09A718-9568-4086-8A76-621E08B4AD03}" type="sibTrans" cxnId="{BD7A06C8-BE87-4AFB-9C8C-1F759BAF5993}">
      <dgm:prSet/>
      <dgm:spPr/>
      <dgm:t>
        <a:bodyPr/>
        <a:lstStyle/>
        <a:p>
          <a:endParaRPr lang="en-US" sz="1400"/>
        </a:p>
      </dgm:t>
    </dgm:pt>
    <dgm:pt modelId="{015A53FB-CCF0-4C93-9A55-EE456949C716}">
      <dgm:prSet custT="1"/>
      <dgm:spPr/>
      <dgm:t>
        <a:bodyPr/>
        <a:lstStyle/>
        <a:p>
          <a:r>
            <a:rPr lang="en-US" sz="1400"/>
            <a:t>10 </a:t>
          </a:r>
          <a:r>
            <a:rPr lang="en-US" sz="1400">
              <a:sym typeface="Wingdings" panose="05000000000000000000" pitchFamily="2" charset="2"/>
            </a:rPr>
            <a:t></a:t>
          </a:r>
          <a:r>
            <a:rPr lang="en-US" sz="1400"/>
            <a:t> run id</a:t>
          </a:r>
        </a:p>
      </dgm:t>
    </dgm:pt>
    <dgm:pt modelId="{A5820750-6052-410D-BFB6-EA0E65480C06}" type="parTrans" cxnId="{CCE9A859-19B2-410A-9FEB-9AB462CF1E2F}">
      <dgm:prSet/>
      <dgm:spPr/>
      <dgm:t>
        <a:bodyPr/>
        <a:lstStyle/>
        <a:p>
          <a:endParaRPr lang="en-US" sz="1400"/>
        </a:p>
      </dgm:t>
    </dgm:pt>
    <dgm:pt modelId="{3F09AAD2-4B4D-4E59-AF90-0E8A9B5E8F9E}" type="sibTrans" cxnId="{CCE9A859-19B2-410A-9FEB-9AB462CF1E2F}">
      <dgm:prSet/>
      <dgm:spPr/>
      <dgm:t>
        <a:bodyPr/>
        <a:lstStyle/>
        <a:p>
          <a:endParaRPr lang="en-US" sz="1400"/>
        </a:p>
      </dgm:t>
    </dgm:pt>
    <dgm:pt modelId="{180C49A0-9F0A-4F04-8418-C813A2DD7257}">
      <dgm:prSet custT="1"/>
      <dgm:spPr/>
      <dgm:t>
        <a:bodyPr/>
        <a:lstStyle/>
        <a:p>
          <a:r>
            <a:rPr lang="en-US" sz="1400"/>
            <a:t>H7NK5DMXX </a:t>
          </a:r>
          <a:r>
            <a:rPr lang="en-US" sz="1400">
              <a:sym typeface="Wingdings" panose="05000000000000000000" pitchFamily="2" charset="2"/>
            </a:rPr>
            <a:t></a:t>
          </a:r>
          <a:r>
            <a:rPr lang="en-US" sz="1400"/>
            <a:t> flowcell id</a:t>
          </a:r>
        </a:p>
      </dgm:t>
    </dgm:pt>
    <dgm:pt modelId="{A9D3E9C0-E8C3-46E9-8B7D-8D963FACD374}" type="parTrans" cxnId="{207ABCD6-1487-4FE3-A1C7-1613AA27B799}">
      <dgm:prSet/>
      <dgm:spPr/>
      <dgm:t>
        <a:bodyPr/>
        <a:lstStyle/>
        <a:p>
          <a:endParaRPr lang="en-US" sz="1400"/>
        </a:p>
      </dgm:t>
    </dgm:pt>
    <dgm:pt modelId="{5B76634F-DBE6-41E4-BC63-A5876178F955}" type="sibTrans" cxnId="{207ABCD6-1487-4FE3-A1C7-1613AA27B799}">
      <dgm:prSet/>
      <dgm:spPr/>
      <dgm:t>
        <a:bodyPr/>
        <a:lstStyle/>
        <a:p>
          <a:endParaRPr lang="en-US" sz="1400"/>
        </a:p>
      </dgm:t>
    </dgm:pt>
    <dgm:pt modelId="{32B829FD-971D-4262-98EC-C0646B227C3C}">
      <dgm:prSet custT="1"/>
      <dgm:spPr/>
      <dgm:t>
        <a:bodyPr/>
        <a:lstStyle/>
        <a:p>
          <a:r>
            <a:rPr lang="en-US" sz="1400"/>
            <a:t>1 </a:t>
          </a:r>
          <a:r>
            <a:rPr lang="en-US" sz="1400">
              <a:sym typeface="Wingdings" panose="05000000000000000000" pitchFamily="2" charset="2"/>
            </a:rPr>
            <a:t></a:t>
          </a:r>
          <a:r>
            <a:rPr lang="en-US" sz="1400"/>
            <a:t> flowcell lane</a:t>
          </a:r>
        </a:p>
      </dgm:t>
    </dgm:pt>
    <dgm:pt modelId="{6648C6A1-D852-469E-99A3-25213798ADE7}" type="parTrans" cxnId="{614A0CC8-CF3C-4FC2-A05B-8B8D6F3F966C}">
      <dgm:prSet/>
      <dgm:spPr/>
      <dgm:t>
        <a:bodyPr/>
        <a:lstStyle/>
        <a:p>
          <a:endParaRPr lang="en-US" sz="1400"/>
        </a:p>
      </dgm:t>
    </dgm:pt>
    <dgm:pt modelId="{33477252-416F-4AEE-AC95-E0C2A69E72E0}" type="sibTrans" cxnId="{614A0CC8-CF3C-4FC2-A05B-8B8D6F3F966C}">
      <dgm:prSet/>
      <dgm:spPr/>
      <dgm:t>
        <a:bodyPr/>
        <a:lstStyle/>
        <a:p>
          <a:endParaRPr lang="en-US" sz="1400"/>
        </a:p>
      </dgm:t>
    </dgm:pt>
    <dgm:pt modelId="{8A5CCF48-010F-4BE5-B073-A8F7CA83A527}">
      <dgm:prSet custT="1"/>
      <dgm:spPr/>
      <dgm:t>
        <a:bodyPr/>
        <a:lstStyle/>
        <a:p>
          <a:r>
            <a:rPr lang="en-US" sz="1400"/>
            <a:t>1101 </a:t>
          </a:r>
          <a:r>
            <a:rPr lang="en-US" sz="1400">
              <a:sym typeface="Wingdings" panose="05000000000000000000" pitchFamily="2" charset="2"/>
            </a:rPr>
            <a:t></a:t>
          </a:r>
          <a:r>
            <a:rPr lang="en-US" sz="1400"/>
            <a:t> tile number within the flow cell line</a:t>
          </a:r>
        </a:p>
      </dgm:t>
    </dgm:pt>
    <dgm:pt modelId="{CC8B6645-FE36-47B3-9686-EF432AB955D1}" type="parTrans" cxnId="{355BAB7F-5D07-4A49-9174-74C29BF4E96A}">
      <dgm:prSet/>
      <dgm:spPr/>
      <dgm:t>
        <a:bodyPr/>
        <a:lstStyle/>
        <a:p>
          <a:endParaRPr lang="en-US" sz="1400"/>
        </a:p>
      </dgm:t>
    </dgm:pt>
    <dgm:pt modelId="{A581F270-F864-4981-8F6D-7CC463F7082E}" type="sibTrans" cxnId="{355BAB7F-5D07-4A49-9174-74C29BF4E96A}">
      <dgm:prSet/>
      <dgm:spPr/>
      <dgm:t>
        <a:bodyPr/>
        <a:lstStyle/>
        <a:p>
          <a:endParaRPr lang="en-US" sz="1400"/>
        </a:p>
      </dgm:t>
    </dgm:pt>
    <dgm:pt modelId="{8D1D1C8F-4FE9-42CF-B542-74A190C966F4}">
      <dgm:prSet custT="1"/>
      <dgm:spPr/>
      <dgm:t>
        <a:bodyPr/>
        <a:lstStyle/>
        <a:p>
          <a:r>
            <a:rPr lang="en-US" sz="1400"/>
            <a:t>16821 </a:t>
          </a:r>
          <a:r>
            <a:rPr lang="en-US" sz="1400">
              <a:sym typeface="Wingdings" panose="05000000000000000000" pitchFamily="2" charset="2"/>
            </a:rPr>
            <a:t></a:t>
          </a:r>
          <a:r>
            <a:rPr lang="en-US" sz="1400"/>
            <a:t> x-coordinate of the cluster within the tile</a:t>
          </a:r>
        </a:p>
      </dgm:t>
    </dgm:pt>
    <dgm:pt modelId="{314D868F-9B27-4216-96AE-93CFDCD56455}" type="parTrans" cxnId="{5CCC12B3-EEF9-4F4E-9442-FE572C8FA5C9}">
      <dgm:prSet/>
      <dgm:spPr/>
      <dgm:t>
        <a:bodyPr/>
        <a:lstStyle/>
        <a:p>
          <a:endParaRPr lang="en-US" sz="1400"/>
        </a:p>
      </dgm:t>
    </dgm:pt>
    <dgm:pt modelId="{8EBAEB7B-9993-465D-9466-CC0F3248263A}" type="sibTrans" cxnId="{5CCC12B3-EEF9-4F4E-9442-FE572C8FA5C9}">
      <dgm:prSet/>
      <dgm:spPr/>
      <dgm:t>
        <a:bodyPr/>
        <a:lstStyle/>
        <a:p>
          <a:endParaRPr lang="en-US" sz="1400"/>
        </a:p>
      </dgm:t>
    </dgm:pt>
    <dgm:pt modelId="{C4E0FA76-9F5F-4381-9EC5-7538B4B9DA02}">
      <dgm:prSet custT="1"/>
      <dgm:spPr/>
      <dgm:t>
        <a:bodyPr/>
        <a:lstStyle/>
        <a:p>
          <a:r>
            <a:rPr lang="en-US" sz="1400"/>
            <a:t>1000 </a:t>
          </a:r>
          <a:r>
            <a:rPr lang="en-US" sz="1400">
              <a:sym typeface="Wingdings" panose="05000000000000000000" pitchFamily="2" charset="2"/>
            </a:rPr>
            <a:t></a:t>
          </a:r>
          <a:r>
            <a:rPr lang="en-US" sz="1400"/>
            <a:t> y-coordinate of the cluster within the tile</a:t>
          </a:r>
        </a:p>
      </dgm:t>
    </dgm:pt>
    <dgm:pt modelId="{538425C6-6F18-4C80-8E98-96ABE0D12872}" type="parTrans" cxnId="{2D7AF71B-0875-4920-A5AE-BAC43019756D}">
      <dgm:prSet/>
      <dgm:spPr/>
      <dgm:t>
        <a:bodyPr/>
        <a:lstStyle/>
        <a:p>
          <a:endParaRPr lang="en-US" sz="1400"/>
        </a:p>
      </dgm:t>
    </dgm:pt>
    <dgm:pt modelId="{C7F7AD3A-B315-4149-8CD5-05C93466C75C}" type="sibTrans" cxnId="{2D7AF71B-0875-4920-A5AE-BAC43019756D}">
      <dgm:prSet/>
      <dgm:spPr/>
      <dgm:t>
        <a:bodyPr/>
        <a:lstStyle/>
        <a:p>
          <a:endParaRPr lang="en-US" sz="1400"/>
        </a:p>
      </dgm:t>
    </dgm:pt>
    <dgm:pt modelId="{03AA6C58-671A-426F-904C-E5C82C3C8200}">
      <dgm:prSet custT="1"/>
      <dgm:spPr/>
      <dgm:t>
        <a:bodyPr/>
        <a:lstStyle/>
        <a:p>
          <a:r>
            <a:rPr lang="en-US" sz="1400"/>
            <a:t>SPACE</a:t>
          </a:r>
        </a:p>
      </dgm:t>
    </dgm:pt>
    <dgm:pt modelId="{84CF28EF-0228-41C3-B7AD-DED8AA01D703}" type="parTrans" cxnId="{C8E1DEBE-8438-4A5E-9C5B-37F75F377D8F}">
      <dgm:prSet/>
      <dgm:spPr/>
      <dgm:t>
        <a:bodyPr/>
        <a:lstStyle/>
        <a:p>
          <a:endParaRPr lang="en-US" sz="1400"/>
        </a:p>
      </dgm:t>
    </dgm:pt>
    <dgm:pt modelId="{6AE998F1-6797-4E7F-B5E0-36E13CB7DC8D}" type="sibTrans" cxnId="{C8E1DEBE-8438-4A5E-9C5B-37F75F377D8F}">
      <dgm:prSet/>
      <dgm:spPr/>
      <dgm:t>
        <a:bodyPr/>
        <a:lstStyle/>
        <a:p>
          <a:endParaRPr lang="en-US" sz="1400"/>
        </a:p>
      </dgm:t>
    </dgm:pt>
    <dgm:pt modelId="{ED027D8D-4BE4-41B8-8884-AC20E64F51F6}">
      <dgm:prSet custT="1"/>
      <dgm:spPr/>
      <dgm:t>
        <a:bodyPr/>
        <a:lstStyle/>
        <a:p>
          <a:r>
            <a:rPr lang="en-US" sz="1400"/>
            <a:t>1 </a:t>
          </a:r>
          <a:r>
            <a:rPr lang="en-US" sz="1400">
              <a:sym typeface="Wingdings" panose="05000000000000000000" pitchFamily="2" charset="2"/>
            </a:rPr>
            <a:t></a:t>
          </a:r>
          <a:r>
            <a:rPr lang="en-US" sz="1400"/>
            <a:t> member of the pair (if paired-end)</a:t>
          </a:r>
        </a:p>
      </dgm:t>
    </dgm:pt>
    <dgm:pt modelId="{90D478A6-98B4-4361-B2B3-D5E6EE1DE4C7}" type="parTrans" cxnId="{58C0780E-5E42-43E1-BAD9-E7ADB7ED2C2A}">
      <dgm:prSet/>
      <dgm:spPr/>
      <dgm:t>
        <a:bodyPr/>
        <a:lstStyle/>
        <a:p>
          <a:endParaRPr lang="en-US" sz="1400"/>
        </a:p>
      </dgm:t>
    </dgm:pt>
    <dgm:pt modelId="{96B0C818-5132-4E75-87E4-C077F2FF87C4}" type="sibTrans" cxnId="{58C0780E-5E42-43E1-BAD9-E7ADB7ED2C2A}">
      <dgm:prSet/>
      <dgm:spPr/>
      <dgm:t>
        <a:bodyPr/>
        <a:lstStyle/>
        <a:p>
          <a:endParaRPr lang="en-US" sz="1400"/>
        </a:p>
      </dgm:t>
    </dgm:pt>
    <dgm:pt modelId="{BF3394C2-F7B5-4AE2-AA92-98867F9DAA74}">
      <dgm:prSet custT="1"/>
      <dgm:spPr/>
      <dgm:t>
        <a:bodyPr/>
        <a:lstStyle/>
        <a:p>
          <a:r>
            <a:rPr lang="en-US" sz="1400"/>
            <a:t>N </a:t>
          </a:r>
          <a:r>
            <a:rPr lang="en-US" sz="1400">
              <a:sym typeface="Wingdings" panose="05000000000000000000" pitchFamily="2" charset="2"/>
            </a:rPr>
            <a:t></a:t>
          </a:r>
          <a:r>
            <a:rPr lang="en-US" sz="1400"/>
            <a:t> N if read is not filtered, Y if it is filtered</a:t>
          </a:r>
        </a:p>
      </dgm:t>
    </dgm:pt>
    <dgm:pt modelId="{79213BEA-8A95-4288-93A2-B726E212EFE1}" type="parTrans" cxnId="{BFD6F639-DA7E-4C99-909F-493F174F2F73}">
      <dgm:prSet/>
      <dgm:spPr/>
      <dgm:t>
        <a:bodyPr/>
        <a:lstStyle/>
        <a:p>
          <a:endParaRPr lang="en-US" sz="1400"/>
        </a:p>
      </dgm:t>
    </dgm:pt>
    <dgm:pt modelId="{7A3F28E8-23A7-4808-8F90-C6D6C9D041B1}" type="sibTrans" cxnId="{BFD6F639-DA7E-4C99-909F-493F174F2F73}">
      <dgm:prSet/>
      <dgm:spPr/>
      <dgm:t>
        <a:bodyPr/>
        <a:lstStyle/>
        <a:p>
          <a:endParaRPr lang="en-US" sz="1400"/>
        </a:p>
      </dgm:t>
    </dgm:pt>
    <dgm:pt modelId="{896C95B6-E4C3-4747-B256-E19BC2590894}">
      <dgm:prSet custT="1"/>
      <dgm:spPr/>
      <dgm:t>
        <a:bodyPr/>
        <a:lstStyle/>
        <a:p>
          <a:r>
            <a:rPr lang="en-US" sz="1400" dirty="0"/>
            <a:t>0 </a:t>
          </a:r>
          <a:r>
            <a:rPr lang="en-US" sz="1400" dirty="0">
              <a:sym typeface="Wingdings" panose="05000000000000000000" pitchFamily="2" charset="2"/>
            </a:rPr>
            <a:t></a:t>
          </a:r>
          <a:r>
            <a:rPr lang="en-US" sz="1400" dirty="0"/>
            <a:t>  when none of the control bit are on</a:t>
          </a:r>
        </a:p>
      </dgm:t>
    </dgm:pt>
    <dgm:pt modelId="{92AE7944-D317-49D0-B4F3-DE1267808C60}" type="parTrans" cxnId="{4A87F6A0-D7AF-468C-AB3F-A0FBF8AA0CF3}">
      <dgm:prSet/>
      <dgm:spPr/>
      <dgm:t>
        <a:bodyPr/>
        <a:lstStyle/>
        <a:p>
          <a:endParaRPr lang="en-US" sz="1400"/>
        </a:p>
      </dgm:t>
    </dgm:pt>
    <dgm:pt modelId="{E4CC77F8-5C32-4CE4-8933-E632438E904F}" type="sibTrans" cxnId="{4A87F6A0-D7AF-468C-AB3F-A0FBF8AA0CF3}">
      <dgm:prSet/>
      <dgm:spPr/>
      <dgm:t>
        <a:bodyPr/>
        <a:lstStyle/>
        <a:p>
          <a:endParaRPr lang="en-US" sz="1400"/>
        </a:p>
      </dgm:t>
    </dgm:pt>
    <dgm:pt modelId="{E7E197BA-E8AA-4C96-80C1-DBBA2F76A5FF}">
      <dgm:prSet custT="1"/>
      <dgm:spPr/>
      <dgm:t>
        <a:bodyPr/>
        <a:lstStyle/>
        <a:p>
          <a:r>
            <a:rPr lang="en-US" sz="1400" dirty="0"/>
            <a:t>GGACTT, GTCGTTCG </a:t>
          </a:r>
          <a:r>
            <a:rPr lang="en-US" sz="1400" dirty="0">
              <a:sym typeface="Wingdings" panose="05000000000000000000" pitchFamily="2" charset="2"/>
            </a:rPr>
            <a:t>  barcodes are used for demultiplexing </a:t>
          </a:r>
        </a:p>
        <a:p>
          <a:r>
            <a:rPr lang="en-US" sz="1400" dirty="0">
              <a:sym typeface="Wingdings" panose="05000000000000000000" pitchFamily="2" charset="2"/>
            </a:rPr>
            <a:t>and assign reads to the correct sample </a:t>
          </a:r>
          <a:endParaRPr lang="en-US" sz="1400" dirty="0"/>
        </a:p>
      </dgm:t>
    </dgm:pt>
    <dgm:pt modelId="{CC15924E-C5C3-4382-B7B4-5F2C93018859}" type="parTrans" cxnId="{AAAC78B6-5FA4-4254-94CE-E689E07692F5}">
      <dgm:prSet/>
      <dgm:spPr/>
      <dgm:t>
        <a:bodyPr/>
        <a:lstStyle/>
        <a:p>
          <a:endParaRPr lang="en-US" sz="1400"/>
        </a:p>
      </dgm:t>
    </dgm:pt>
    <dgm:pt modelId="{B12D78C8-57AB-401D-9C9F-306ED7719749}" type="sibTrans" cxnId="{AAAC78B6-5FA4-4254-94CE-E689E07692F5}">
      <dgm:prSet/>
      <dgm:spPr/>
      <dgm:t>
        <a:bodyPr/>
        <a:lstStyle/>
        <a:p>
          <a:endParaRPr lang="en-US" sz="1400"/>
        </a:p>
      </dgm:t>
    </dgm:pt>
    <dgm:pt modelId="{9181687C-E7FC-B044-B2B4-529A1C2EA1A6}" type="pres">
      <dgm:prSet presAssocID="{92CC1788-926F-4CEF-9B13-12039B1A819E}" presName="vert0" presStyleCnt="0">
        <dgm:presLayoutVars>
          <dgm:dir/>
          <dgm:animOne val="branch"/>
          <dgm:animLvl val="lvl"/>
        </dgm:presLayoutVars>
      </dgm:prSet>
      <dgm:spPr/>
    </dgm:pt>
    <dgm:pt modelId="{ED361E5E-DCDE-FC4C-A00E-80FFEF730413}" type="pres">
      <dgm:prSet presAssocID="{BA5F198D-9978-458A-A9E1-CCBAD8884863}" presName="thickLine" presStyleLbl="alignNode1" presStyleIdx="0" presStyleCnt="12"/>
      <dgm:spPr/>
    </dgm:pt>
    <dgm:pt modelId="{DF139160-7DAE-094D-9279-9EE0CD70592E}" type="pres">
      <dgm:prSet presAssocID="{BA5F198D-9978-458A-A9E1-CCBAD8884863}" presName="horz1" presStyleCnt="0"/>
      <dgm:spPr/>
    </dgm:pt>
    <dgm:pt modelId="{A84AEA0E-A138-8F4A-916F-F522DCE2EE5E}" type="pres">
      <dgm:prSet presAssocID="{BA5F198D-9978-458A-A9E1-CCBAD8884863}" presName="tx1" presStyleLbl="revTx" presStyleIdx="0" presStyleCnt="12"/>
      <dgm:spPr/>
    </dgm:pt>
    <dgm:pt modelId="{09F80845-4F5D-1D45-9340-81A9DBA57EC7}" type="pres">
      <dgm:prSet presAssocID="{BA5F198D-9978-458A-A9E1-CCBAD8884863}" presName="vert1" presStyleCnt="0"/>
      <dgm:spPr/>
    </dgm:pt>
    <dgm:pt modelId="{2EABD626-96A6-B74B-BA41-7A585324B7C3}" type="pres">
      <dgm:prSet presAssocID="{015A53FB-CCF0-4C93-9A55-EE456949C716}" presName="thickLine" presStyleLbl="alignNode1" presStyleIdx="1" presStyleCnt="12"/>
      <dgm:spPr/>
    </dgm:pt>
    <dgm:pt modelId="{CA171063-7F10-8E4C-90FF-601A5389A7B0}" type="pres">
      <dgm:prSet presAssocID="{015A53FB-CCF0-4C93-9A55-EE456949C716}" presName="horz1" presStyleCnt="0"/>
      <dgm:spPr/>
    </dgm:pt>
    <dgm:pt modelId="{A6492554-8D16-004E-ACE5-9C3CA10B3112}" type="pres">
      <dgm:prSet presAssocID="{015A53FB-CCF0-4C93-9A55-EE456949C716}" presName="tx1" presStyleLbl="revTx" presStyleIdx="1" presStyleCnt="12"/>
      <dgm:spPr/>
    </dgm:pt>
    <dgm:pt modelId="{B6FFEC1A-66D4-BC4F-B3AE-F12E0DAB24F8}" type="pres">
      <dgm:prSet presAssocID="{015A53FB-CCF0-4C93-9A55-EE456949C716}" presName="vert1" presStyleCnt="0"/>
      <dgm:spPr/>
    </dgm:pt>
    <dgm:pt modelId="{5FD33979-D2D0-5940-9967-F9047804E175}" type="pres">
      <dgm:prSet presAssocID="{180C49A0-9F0A-4F04-8418-C813A2DD7257}" presName="thickLine" presStyleLbl="alignNode1" presStyleIdx="2" presStyleCnt="12"/>
      <dgm:spPr/>
    </dgm:pt>
    <dgm:pt modelId="{CEE779A1-B68F-224D-ADF0-B76ACCD2C56C}" type="pres">
      <dgm:prSet presAssocID="{180C49A0-9F0A-4F04-8418-C813A2DD7257}" presName="horz1" presStyleCnt="0"/>
      <dgm:spPr/>
    </dgm:pt>
    <dgm:pt modelId="{60D9B804-9618-2642-BC54-B039CFD31099}" type="pres">
      <dgm:prSet presAssocID="{180C49A0-9F0A-4F04-8418-C813A2DD7257}" presName="tx1" presStyleLbl="revTx" presStyleIdx="2" presStyleCnt="12"/>
      <dgm:spPr/>
    </dgm:pt>
    <dgm:pt modelId="{0450A828-2FF0-224E-ACC3-D05C198BB8B0}" type="pres">
      <dgm:prSet presAssocID="{180C49A0-9F0A-4F04-8418-C813A2DD7257}" presName="vert1" presStyleCnt="0"/>
      <dgm:spPr/>
    </dgm:pt>
    <dgm:pt modelId="{4AF19FAB-049F-1A41-91E0-C63F82B10602}" type="pres">
      <dgm:prSet presAssocID="{32B829FD-971D-4262-98EC-C0646B227C3C}" presName="thickLine" presStyleLbl="alignNode1" presStyleIdx="3" presStyleCnt="12"/>
      <dgm:spPr/>
    </dgm:pt>
    <dgm:pt modelId="{11C07376-0EF2-3C4E-82A3-2CA4CDD040CE}" type="pres">
      <dgm:prSet presAssocID="{32B829FD-971D-4262-98EC-C0646B227C3C}" presName="horz1" presStyleCnt="0"/>
      <dgm:spPr/>
    </dgm:pt>
    <dgm:pt modelId="{0F0856FC-D377-714D-BE6F-70A952E65D68}" type="pres">
      <dgm:prSet presAssocID="{32B829FD-971D-4262-98EC-C0646B227C3C}" presName="tx1" presStyleLbl="revTx" presStyleIdx="3" presStyleCnt="12"/>
      <dgm:spPr/>
    </dgm:pt>
    <dgm:pt modelId="{C4240E40-F1C1-9F48-8B8E-4BF95FBBD1F5}" type="pres">
      <dgm:prSet presAssocID="{32B829FD-971D-4262-98EC-C0646B227C3C}" presName="vert1" presStyleCnt="0"/>
      <dgm:spPr/>
    </dgm:pt>
    <dgm:pt modelId="{54B0AFB2-17CF-3344-B05C-9CE361EBABDF}" type="pres">
      <dgm:prSet presAssocID="{8A5CCF48-010F-4BE5-B073-A8F7CA83A527}" presName="thickLine" presStyleLbl="alignNode1" presStyleIdx="4" presStyleCnt="12"/>
      <dgm:spPr/>
    </dgm:pt>
    <dgm:pt modelId="{F22EDF04-DF6B-D84F-8486-F5F89731E538}" type="pres">
      <dgm:prSet presAssocID="{8A5CCF48-010F-4BE5-B073-A8F7CA83A527}" presName="horz1" presStyleCnt="0"/>
      <dgm:spPr/>
    </dgm:pt>
    <dgm:pt modelId="{391E9F2C-AE60-C446-828B-07B6FF7B4B7C}" type="pres">
      <dgm:prSet presAssocID="{8A5CCF48-010F-4BE5-B073-A8F7CA83A527}" presName="tx1" presStyleLbl="revTx" presStyleIdx="4" presStyleCnt="12"/>
      <dgm:spPr/>
    </dgm:pt>
    <dgm:pt modelId="{B69F8F81-E7B9-A842-8E5B-E640C3182D72}" type="pres">
      <dgm:prSet presAssocID="{8A5CCF48-010F-4BE5-B073-A8F7CA83A527}" presName="vert1" presStyleCnt="0"/>
      <dgm:spPr/>
    </dgm:pt>
    <dgm:pt modelId="{70325AA2-85E3-5949-B6C0-B9DCE953965D}" type="pres">
      <dgm:prSet presAssocID="{8D1D1C8F-4FE9-42CF-B542-74A190C966F4}" presName="thickLine" presStyleLbl="alignNode1" presStyleIdx="5" presStyleCnt="12"/>
      <dgm:spPr/>
    </dgm:pt>
    <dgm:pt modelId="{883002CC-CE01-444D-8736-F8917180F8D0}" type="pres">
      <dgm:prSet presAssocID="{8D1D1C8F-4FE9-42CF-B542-74A190C966F4}" presName="horz1" presStyleCnt="0"/>
      <dgm:spPr/>
    </dgm:pt>
    <dgm:pt modelId="{BAA68FAB-0596-A847-BA5A-BD08401641E2}" type="pres">
      <dgm:prSet presAssocID="{8D1D1C8F-4FE9-42CF-B542-74A190C966F4}" presName="tx1" presStyleLbl="revTx" presStyleIdx="5" presStyleCnt="12"/>
      <dgm:spPr/>
    </dgm:pt>
    <dgm:pt modelId="{1C7A0E76-E8C8-6044-A937-1F2DA9B7D172}" type="pres">
      <dgm:prSet presAssocID="{8D1D1C8F-4FE9-42CF-B542-74A190C966F4}" presName="vert1" presStyleCnt="0"/>
      <dgm:spPr/>
    </dgm:pt>
    <dgm:pt modelId="{4451871A-1EB0-BE4A-A01F-5FB761A75B43}" type="pres">
      <dgm:prSet presAssocID="{C4E0FA76-9F5F-4381-9EC5-7538B4B9DA02}" presName="thickLine" presStyleLbl="alignNode1" presStyleIdx="6" presStyleCnt="12"/>
      <dgm:spPr/>
    </dgm:pt>
    <dgm:pt modelId="{5B4EEB5B-17D0-3244-AA5A-98700B3CE95B}" type="pres">
      <dgm:prSet presAssocID="{C4E0FA76-9F5F-4381-9EC5-7538B4B9DA02}" presName="horz1" presStyleCnt="0"/>
      <dgm:spPr/>
    </dgm:pt>
    <dgm:pt modelId="{E5F16F1D-CF6C-5544-A5CB-695ED08E5FA0}" type="pres">
      <dgm:prSet presAssocID="{C4E0FA76-9F5F-4381-9EC5-7538B4B9DA02}" presName="tx1" presStyleLbl="revTx" presStyleIdx="6" presStyleCnt="12"/>
      <dgm:spPr/>
    </dgm:pt>
    <dgm:pt modelId="{16DA0C2B-7671-0C4F-A96F-FA26ECC85468}" type="pres">
      <dgm:prSet presAssocID="{C4E0FA76-9F5F-4381-9EC5-7538B4B9DA02}" presName="vert1" presStyleCnt="0"/>
      <dgm:spPr/>
    </dgm:pt>
    <dgm:pt modelId="{C963BECD-5124-7243-858F-0935638C1F9E}" type="pres">
      <dgm:prSet presAssocID="{03AA6C58-671A-426F-904C-E5C82C3C8200}" presName="thickLine" presStyleLbl="alignNode1" presStyleIdx="7" presStyleCnt="12"/>
      <dgm:spPr/>
    </dgm:pt>
    <dgm:pt modelId="{5787AB73-95F7-934D-AD3C-50C6CD97A9E9}" type="pres">
      <dgm:prSet presAssocID="{03AA6C58-671A-426F-904C-E5C82C3C8200}" presName="horz1" presStyleCnt="0"/>
      <dgm:spPr/>
    </dgm:pt>
    <dgm:pt modelId="{E1E8F580-E9B7-5F46-B09C-B0BF61E957A4}" type="pres">
      <dgm:prSet presAssocID="{03AA6C58-671A-426F-904C-E5C82C3C8200}" presName="tx1" presStyleLbl="revTx" presStyleIdx="7" presStyleCnt="12"/>
      <dgm:spPr/>
    </dgm:pt>
    <dgm:pt modelId="{4E365A5B-1662-D848-9ECC-E71B815562E5}" type="pres">
      <dgm:prSet presAssocID="{03AA6C58-671A-426F-904C-E5C82C3C8200}" presName="vert1" presStyleCnt="0"/>
      <dgm:spPr/>
    </dgm:pt>
    <dgm:pt modelId="{70229DD1-516E-F54F-8651-441F296FFE1B}" type="pres">
      <dgm:prSet presAssocID="{ED027D8D-4BE4-41B8-8884-AC20E64F51F6}" presName="thickLine" presStyleLbl="alignNode1" presStyleIdx="8" presStyleCnt="12"/>
      <dgm:spPr/>
    </dgm:pt>
    <dgm:pt modelId="{2EA04436-884E-A740-9F6E-BAA1252CE2C0}" type="pres">
      <dgm:prSet presAssocID="{ED027D8D-4BE4-41B8-8884-AC20E64F51F6}" presName="horz1" presStyleCnt="0"/>
      <dgm:spPr/>
    </dgm:pt>
    <dgm:pt modelId="{BFC65480-B83A-5E4E-A4D0-680D99987AAC}" type="pres">
      <dgm:prSet presAssocID="{ED027D8D-4BE4-41B8-8884-AC20E64F51F6}" presName="tx1" presStyleLbl="revTx" presStyleIdx="8" presStyleCnt="12"/>
      <dgm:spPr/>
    </dgm:pt>
    <dgm:pt modelId="{AE5EF156-8BFB-7148-99C4-9F1A35E85068}" type="pres">
      <dgm:prSet presAssocID="{ED027D8D-4BE4-41B8-8884-AC20E64F51F6}" presName="vert1" presStyleCnt="0"/>
      <dgm:spPr/>
    </dgm:pt>
    <dgm:pt modelId="{4AFE4C6D-DE0B-7445-8A06-085165C49DCB}" type="pres">
      <dgm:prSet presAssocID="{BF3394C2-F7B5-4AE2-AA92-98867F9DAA74}" presName="thickLine" presStyleLbl="alignNode1" presStyleIdx="9" presStyleCnt="12"/>
      <dgm:spPr/>
    </dgm:pt>
    <dgm:pt modelId="{DA35DF0D-D2F0-2C4A-85C5-789F47CEC9A2}" type="pres">
      <dgm:prSet presAssocID="{BF3394C2-F7B5-4AE2-AA92-98867F9DAA74}" presName="horz1" presStyleCnt="0"/>
      <dgm:spPr/>
    </dgm:pt>
    <dgm:pt modelId="{E9380ECB-3514-8A43-9881-1F4181815248}" type="pres">
      <dgm:prSet presAssocID="{BF3394C2-F7B5-4AE2-AA92-98867F9DAA74}" presName="tx1" presStyleLbl="revTx" presStyleIdx="9" presStyleCnt="12"/>
      <dgm:spPr/>
    </dgm:pt>
    <dgm:pt modelId="{2C8437D3-6991-5D4B-BD2F-BAA492B91A8B}" type="pres">
      <dgm:prSet presAssocID="{BF3394C2-F7B5-4AE2-AA92-98867F9DAA74}" presName="vert1" presStyleCnt="0"/>
      <dgm:spPr/>
    </dgm:pt>
    <dgm:pt modelId="{1FB872CC-3FB6-964C-AECC-20EAC39FD733}" type="pres">
      <dgm:prSet presAssocID="{896C95B6-E4C3-4747-B256-E19BC2590894}" presName="thickLine" presStyleLbl="alignNode1" presStyleIdx="10" presStyleCnt="12"/>
      <dgm:spPr/>
    </dgm:pt>
    <dgm:pt modelId="{51FB6211-799B-F84F-95C7-9E5D28E9D9BD}" type="pres">
      <dgm:prSet presAssocID="{896C95B6-E4C3-4747-B256-E19BC2590894}" presName="horz1" presStyleCnt="0"/>
      <dgm:spPr/>
    </dgm:pt>
    <dgm:pt modelId="{BF329225-5EDE-9749-9036-FD5A9DE38131}" type="pres">
      <dgm:prSet presAssocID="{896C95B6-E4C3-4747-B256-E19BC2590894}" presName="tx1" presStyleLbl="revTx" presStyleIdx="10" presStyleCnt="12"/>
      <dgm:spPr/>
    </dgm:pt>
    <dgm:pt modelId="{E9D29841-F777-364F-A819-F1F33F3FFF17}" type="pres">
      <dgm:prSet presAssocID="{896C95B6-E4C3-4747-B256-E19BC2590894}" presName="vert1" presStyleCnt="0"/>
      <dgm:spPr/>
    </dgm:pt>
    <dgm:pt modelId="{25DE5207-3CB5-C246-973B-72635E5D0D96}" type="pres">
      <dgm:prSet presAssocID="{E7E197BA-E8AA-4C96-80C1-DBBA2F76A5FF}" presName="thickLine" presStyleLbl="alignNode1" presStyleIdx="11" presStyleCnt="12"/>
      <dgm:spPr/>
    </dgm:pt>
    <dgm:pt modelId="{77D57FB7-DC19-7048-ABAF-0B4B52CD09FE}" type="pres">
      <dgm:prSet presAssocID="{E7E197BA-E8AA-4C96-80C1-DBBA2F76A5FF}" presName="horz1" presStyleCnt="0"/>
      <dgm:spPr/>
    </dgm:pt>
    <dgm:pt modelId="{F52337CB-266C-BE43-8294-24BB1EF737A0}" type="pres">
      <dgm:prSet presAssocID="{E7E197BA-E8AA-4C96-80C1-DBBA2F76A5FF}" presName="tx1" presStyleLbl="revTx" presStyleIdx="11" presStyleCnt="12"/>
      <dgm:spPr/>
    </dgm:pt>
    <dgm:pt modelId="{2F589A5D-D073-064C-976A-F81D5C5A43EC}" type="pres">
      <dgm:prSet presAssocID="{E7E197BA-E8AA-4C96-80C1-DBBA2F76A5FF}" presName="vert1" presStyleCnt="0"/>
      <dgm:spPr/>
    </dgm:pt>
  </dgm:ptLst>
  <dgm:cxnLst>
    <dgm:cxn modelId="{DB6B4A08-5B96-024B-8659-E52102CFCEF1}" type="presOf" srcId="{BA5F198D-9978-458A-A9E1-CCBAD8884863}" destId="{A84AEA0E-A138-8F4A-916F-F522DCE2EE5E}" srcOrd="0" destOrd="0" presId="urn:microsoft.com/office/officeart/2008/layout/LinedList"/>
    <dgm:cxn modelId="{96E84509-0889-4E45-B1D6-7E2716AB5E0B}" type="presOf" srcId="{BF3394C2-F7B5-4AE2-AA92-98867F9DAA74}" destId="{E9380ECB-3514-8A43-9881-1F4181815248}" srcOrd="0" destOrd="0" presId="urn:microsoft.com/office/officeart/2008/layout/LinedList"/>
    <dgm:cxn modelId="{58C0780E-5E42-43E1-BAD9-E7ADB7ED2C2A}" srcId="{92CC1788-926F-4CEF-9B13-12039B1A819E}" destId="{ED027D8D-4BE4-41B8-8884-AC20E64F51F6}" srcOrd="8" destOrd="0" parTransId="{90D478A6-98B4-4361-B2B3-D5E6EE1DE4C7}" sibTransId="{96B0C818-5132-4E75-87E4-C077F2FF87C4}"/>
    <dgm:cxn modelId="{2D7AF71B-0875-4920-A5AE-BAC43019756D}" srcId="{92CC1788-926F-4CEF-9B13-12039B1A819E}" destId="{C4E0FA76-9F5F-4381-9EC5-7538B4B9DA02}" srcOrd="6" destOrd="0" parTransId="{538425C6-6F18-4C80-8E98-96ABE0D12872}" sibTransId="{C7F7AD3A-B315-4149-8CD5-05C93466C75C}"/>
    <dgm:cxn modelId="{F2D55C1E-5FE0-8D47-AFA5-1AC4156D1337}" type="presOf" srcId="{C4E0FA76-9F5F-4381-9EC5-7538B4B9DA02}" destId="{E5F16F1D-CF6C-5544-A5CB-695ED08E5FA0}" srcOrd="0" destOrd="0" presId="urn:microsoft.com/office/officeart/2008/layout/LinedList"/>
    <dgm:cxn modelId="{DABF3021-E2C6-494C-8AA8-46B39B38099D}" type="presOf" srcId="{015A53FB-CCF0-4C93-9A55-EE456949C716}" destId="{A6492554-8D16-004E-ACE5-9C3CA10B3112}" srcOrd="0" destOrd="0" presId="urn:microsoft.com/office/officeart/2008/layout/LinedList"/>
    <dgm:cxn modelId="{BFD6F639-DA7E-4C99-909F-493F174F2F73}" srcId="{92CC1788-926F-4CEF-9B13-12039B1A819E}" destId="{BF3394C2-F7B5-4AE2-AA92-98867F9DAA74}" srcOrd="9" destOrd="0" parTransId="{79213BEA-8A95-4288-93A2-B726E212EFE1}" sibTransId="{7A3F28E8-23A7-4808-8F90-C6D6C9D041B1}"/>
    <dgm:cxn modelId="{CCE9A859-19B2-410A-9FEB-9AB462CF1E2F}" srcId="{92CC1788-926F-4CEF-9B13-12039B1A819E}" destId="{015A53FB-CCF0-4C93-9A55-EE456949C716}" srcOrd="1" destOrd="0" parTransId="{A5820750-6052-410D-BFB6-EA0E65480C06}" sibTransId="{3F09AAD2-4B4D-4E59-AF90-0E8A9B5E8F9E}"/>
    <dgm:cxn modelId="{E897BF69-B786-8E45-AAE3-CE0826C109C1}" type="presOf" srcId="{8A5CCF48-010F-4BE5-B073-A8F7CA83A527}" destId="{391E9F2C-AE60-C446-828B-07B6FF7B4B7C}" srcOrd="0" destOrd="0" presId="urn:microsoft.com/office/officeart/2008/layout/LinedList"/>
    <dgm:cxn modelId="{355BAB7F-5D07-4A49-9174-74C29BF4E96A}" srcId="{92CC1788-926F-4CEF-9B13-12039B1A819E}" destId="{8A5CCF48-010F-4BE5-B073-A8F7CA83A527}" srcOrd="4" destOrd="0" parTransId="{CC8B6645-FE36-47B3-9686-EF432AB955D1}" sibTransId="{A581F270-F864-4981-8F6D-7CC463F7082E}"/>
    <dgm:cxn modelId="{16B8D486-A17D-5948-B135-D9B1CACBAD12}" type="presOf" srcId="{E7E197BA-E8AA-4C96-80C1-DBBA2F76A5FF}" destId="{F52337CB-266C-BE43-8294-24BB1EF737A0}" srcOrd="0" destOrd="0" presId="urn:microsoft.com/office/officeart/2008/layout/LinedList"/>
    <dgm:cxn modelId="{C842958E-1FC2-1646-BBFD-889253C8D373}" type="presOf" srcId="{03AA6C58-671A-426F-904C-E5C82C3C8200}" destId="{E1E8F580-E9B7-5F46-B09C-B0BF61E957A4}" srcOrd="0" destOrd="0" presId="urn:microsoft.com/office/officeart/2008/layout/LinedList"/>
    <dgm:cxn modelId="{4A87F6A0-D7AF-468C-AB3F-A0FBF8AA0CF3}" srcId="{92CC1788-926F-4CEF-9B13-12039B1A819E}" destId="{896C95B6-E4C3-4747-B256-E19BC2590894}" srcOrd="10" destOrd="0" parTransId="{92AE7944-D317-49D0-B4F3-DE1267808C60}" sibTransId="{E4CC77F8-5C32-4CE4-8933-E632438E904F}"/>
    <dgm:cxn modelId="{5CCC12B3-EEF9-4F4E-9442-FE572C8FA5C9}" srcId="{92CC1788-926F-4CEF-9B13-12039B1A819E}" destId="{8D1D1C8F-4FE9-42CF-B542-74A190C966F4}" srcOrd="5" destOrd="0" parTransId="{314D868F-9B27-4216-96AE-93CFDCD56455}" sibTransId="{8EBAEB7B-9993-465D-9466-CC0F3248263A}"/>
    <dgm:cxn modelId="{A7F660B5-8460-7D48-9ADC-47BF87010ED8}" type="presOf" srcId="{92CC1788-926F-4CEF-9B13-12039B1A819E}" destId="{9181687C-E7FC-B044-B2B4-529A1C2EA1A6}" srcOrd="0" destOrd="0" presId="urn:microsoft.com/office/officeart/2008/layout/LinedList"/>
    <dgm:cxn modelId="{AAAC78B6-5FA4-4254-94CE-E689E07692F5}" srcId="{92CC1788-926F-4CEF-9B13-12039B1A819E}" destId="{E7E197BA-E8AA-4C96-80C1-DBBA2F76A5FF}" srcOrd="11" destOrd="0" parTransId="{CC15924E-C5C3-4382-B7B4-5F2C93018859}" sibTransId="{B12D78C8-57AB-401D-9C9F-306ED7719749}"/>
    <dgm:cxn modelId="{C8E1DEBE-8438-4A5E-9C5B-37F75F377D8F}" srcId="{92CC1788-926F-4CEF-9B13-12039B1A819E}" destId="{03AA6C58-671A-426F-904C-E5C82C3C8200}" srcOrd="7" destOrd="0" parTransId="{84CF28EF-0228-41C3-B7AD-DED8AA01D703}" sibTransId="{6AE998F1-6797-4E7F-B5E0-36E13CB7DC8D}"/>
    <dgm:cxn modelId="{5B0361C5-B527-E442-8DA4-B6C22A410196}" type="presOf" srcId="{896C95B6-E4C3-4747-B256-E19BC2590894}" destId="{BF329225-5EDE-9749-9036-FD5A9DE38131}" srcOrd="0" destOrd="0" presId="urn:microsoft.com/office/officeart/2008/layout/LinedList"/>
    <dgm:cxn modelId="{BD7A06C8-BE87-4AFB-9C8C-1F759BAF5993}" srcId="{92CC1788-926F-4CEF-9B13-12039B1A819E}" destId="{BA5F198D-9978-458A-A9E1-CCBAD8884863}" srcOrd="0" destOrd="0" parTransId="{4E662826-DB94-44F8-B542-6C30C0CE25B7}" sibTransId="{1B09A718-9568-4086-8A76-621E08B4AD03}"/>
    <dgm:cxn modelId="{614A0CC8-CF3C-4FC2-A05B-8B8D6F3F966C}" srcId="{92CC1788-926F-4CEF-9B13-12039B1A819E}" destId="{32B829FD-971D-4262-98EC-C0646B227C3C}" srcOrd="3" destOrd="0" parTransId="{6648C6A1-D852-469E-99A3-25213798ADE7}" sibTransId="{33477252-416F-4AEE-AC95-E0C2A69E72E0}"/>
    <dgm:cxn modelId="{207ABCD6-1487-4FE3-A1C7-1613AA27B799}" srcId="{92CC1788-926F-4CEF-9B13-12039B1A819E}" destId="{180C49A0-9F0A-4F04-8418-C813A2DD7257}" srcOrd="2" destOrd="0" parTransId="{A9D3E9C0-E8C3-46E9-8B7D-8D963FACD374}" sibTransId="{5B76634F-DBE6-41E4-BC63-A5876178F955}"/>
    <dgm:cxn modelId="{3EA147DA-FC1F-294E-B0A7-8B919046F497}" type="presOf" srcId="{180C49A0-9F0A-4F04-8418-C813A2DD7257}" destId="{60D9B804-9618-2642-BC54-B039CFD31099}" srcOrd="0" destOrd="0" presId="urn:microsoft.com/office/officeart/2008/layout/LinedList"/>
    <dgm:cxn modelId="{AEC90EDE-AFE8-9E43-BB51-BCA4977CCEEC}" type="presOf" srcId="{32B829FD-971D-4262-98EC-C0646B227C3C}" destId="{0F0856FC-D377-714D-BE6F-70A952E65D68}" srcOrd="0" destOrd="0" presId="urn:microsoft.com/office/officeart/2008/layout/LinedList"/>
    <dgm:cxn modelId="{DE7E04DF-A2CA-7148-B2AE-CD31751A9E70}" type="presOf" srcId="{ED027D8D-4BE4-41B8-8884-AC20E64F51F6}" destId="{BFC65480-B83A-5E4E-A4D0-680D99987AAC}" srcOrd="0" destOrd="0" presId="urn:microsoft.com/office/officeart/2008/layout/LinedList"/>
    <dgm:cxn modelId="{6C5FDBEF-D83A-9445-905A-74351E1421E8}" type="presOf" srcId="{8D1D1C8F-4FE9-42CF-B542-74A190C966F4}" destId="{BAA68FAB-0596-A847-BA5A-BD08401641E2}" srcOrd="0" destOrd="0" presId="urn:microsoft.com/office/officeart/2008/layout/LinedList"/>
    <dgm:cxn modelId="{50A574B1-98CB-F348-9CF1-2216481B3D2C}" type="presParOf" srcId="{9181687C-E7FC-B044-B2B4-529A1C2EA1A6}" destId="{ED361E5E-DCDE-FC4C-A00E-80FFEF730413}" srcOrd="0" destOrd="0" presId="urn:microsoft.com/office/officeart/2008/layout/LinedList"/>
    <dgm:cxn modelId="{9A7AB9BE-6E2A-9F4C-A7EB-366CCCC35B91}" type="presParOf" srcId="{9181687C-E7FC-B044-B2B4-529A1C2EA1A6}" destId="{DF139160-7DAE-094D-9279-9EE0CD70592E}" srcOrd="1" destOrd="0" presId="urn:microsoft.com/office/officeart/2008/layout/LinedList"/>
    <dgm:cxn modelId="{269933A1-8641-6E4D-8358-11EB18A44393}" type="presParOf" srcId="{DF139160-7DAE-094D-9279-9EE0CD70592E}" destId="{A84AEA0E-A138-8F4A-916F-F522DCE2EE5E}" srcOrd="0" destOrd="0" presId="urn:microsoft.com/office/officeart/2008/layout/LinedList"/>
    <dgm:cxn modelId="{37FB963A-D717-884A-99C8-C75EA3250DD8}" type="presParOf" srcId="{DF139160-7DAE-094D-9279-9EE0CD70592E}" destId="{09F80845-4F5D-1D45-9340-81A9DBA57EC7}" srcOrd="1" destOrd="0" presId="urn:microsoft.com/office/officeart/2008/layout/LinedList"/>
    <dgm:cxn modelId="{8C4D51A6-A8BC-0A45-A9DA-667D56B8254E}" type="presParOf" srcId="{9181687C-E7FC-B044-B2B4-529A1C2EA1A6}" destId="{2EABD626-96A6-B74B-BA41-7A585324B7C3}" srcOrd="2" destOrd="0" presId="urn:microsoft.com/office/officeart/2008/layout/LinedList"/>
    <dgm:cxn modelId="{00790A79-D475-4241-A90E-16964408EA85}" type="presParOf" srcId="{9181687C-E7FC-B044-B2B4-529A1C2EA1A6}" destId="{CA171063-7F10-8E4C-90FF-601A5389A7B0}" srcOrd="3" destOrd="0" presId="urn:microsoft.com/office/officeart/2008/layout/LinedList"/>
    <dgm:cxn modelId="{D0D60166-4A7C-F34B-A629-E539F8825169}" type="presParOf" srcId="{CA171063-7F10-8E4C-90FF-601A5389A7B0}" destId="{A6492554-8D16-004E-ACE5-9C3CA10B3112}" srcOrd="0" destOrd="0" presId="urn:microsoft.com/office/officeart/2008/layout/LinedList"/>
    <dgm:cxn modelId="{0FC9256D-14B2-B746-B3DD-23983A40BE0A}" type="presParOf" srcId="{CA171063-7F10-8E4C-90FF-601A5389A7B0}" destId="{B6FFEC1A-66D4-BC4F-B3AE-F12E0DAB24F8}" srcOrd="1" destOrd="0" presId="urn:microsoft.com/office/officeart/2008/layout/LinedList"/>
    <dgm:cxn modelId="{4579DB9B-2D74-A548-B85D-5E785837B6BA}" type="presParOf" srcId="{9181687C-E7FC-B044-B2B4-529A1C2EA1A6}" destId="{5FD33979-D2D0-5940-9967-F9047804E175}" srcOrd="4" destOrd="0" presId="urn:microsoft.com/office/officeart/2008/layout/LinedList"/>
    <dgm:cxn modelId="{00E45A97-520D-3942-9C36-1531ABE18297}" type="presParOf" srcId="{9181687C-E7FC-B044-B2B4-529A1C2EA1A6}" destId="{CEE779A1-B68F-224D-ADF0-B76ACCD2C56C}" srcOrd="5" destOrd="0" presId="urn:microsoft.com/office/officeart/2008/layout/LinedList"/>
    <dgm:cxn modelId="{841D43CB-E5AE-FF4B-942B-46E8582A0AF0}" type="presParOf" srcId="{CEE779A1-B68F-224D-ADF0-B76ACCD2C56C}" destId="{60D9B804-9618-2642-BC54-B039CFD31099}" srcOrd="0" destOrd="0" presId="urn:microsoft.com/office/officeart/2008/layout/LinedList"/>
    <dgm:cxn modelId="{98599D5B-09FB-FD4E-9535-C32B20DEE35D}" type="presParOf" srcId="{CEE779A1-B68F-224D-ADF0-B76ACCD2C56C}" destId="{0450A828-2FF0-224E-ACC3-D05C198BB8B0}" srcOrd="1" destOrd="0" presId="urn:microsoft.com/office/officeart/2008/layout/LinedList"/>
    <dgm:cxn modelId="{938DCF5D-71A8-554A-B9FA-D3CC13C89FB9}" type="presParOf" srcId="{9181687C-E7FC-B044-B2B4-529A1C2EA1A6}" destId="{4AF19FAB-049F-1A41-91E0-C63F82B10602}" srcOrd="6" destOrd="0" presId="urn:microsoft.com/office/officeart/2008/layout/LinedList"/>
    <dgm:cxn modelId="{0290253B-F3D4-2A45-86E9-19CED17112A1}" type="presParOf" srcId="{9181687C-E7FC-B044-B2B4-529A1C2EA1A6}" destId="{11C07376-0EF2-3C4E-82A3-2CA4CDD040CE}" srcOrd="7" destOrd="0" presId="urn:microsoft.com/office/officeart/2008/layout/LinedList"/>
    <dgm:cxn modelId="{748E0B9C-CFC2-3149-BCBB-5D48F63F18AD}" type="presParOf" srcId="{11C07376-0EF2-3C4E-82A3-2CA4CDD040CE}" destId="{0F0856FC-D377-714D-BE6F-70A952E65D68}" srcOrd="0" destOrd="0" presId="urn:microsoft.com/office/officeart/2008/layout/LinedList"/>
    <dgm:cxn modelId="{2A796B2E-8C25-D84D-9871-7852B10E03F4}" type="presParOf" srcId="{11C07376-0EF2-3C4E-82A3-2CA4CDD040CE}" destId="{C4240E40-F1C1-9F48-8B8E-4BF95FBBD1F5}" srcOrd="1" destOrd="0" presId="urn:microsoft.com/office/officeart/2008/layout/LinedList"/>
    <dgm:cxn modelId="{C24A5B5F-FE26-6342-BADE-C27C17288F9E}" type="presParOf" srcId="{9181687C-E7FC-B044-B2B4-529A1C2EA1A6}" destId="{54B0AFB2-17CF-3344-B05C-9CE361EBABDF}" srcOrd="8" destOrd="0" presId="urn:microsoft.com/office/officeart/2008/layout/LinedList"/>
    <dgm:cxn modelId="{913FF7D8-9B86-1C4A-A84B-51CB9B0EEBE3}" type="presParOf" srcId="{9181687C-E7FC-B044-B2B4-529A1C2EA1A6}" destId="{F22EDF04-DF6B-D84F-8486-F5F89731E538}" srcOrd="9" destOrd="0" presId="urn:microsoft.com/office/officeart/2008/layout/LinedList"/>
    <dgm:cxn modelId="{DB860EB2-027A-814D-9DDF-A4BFB413BDA1}" type="presParOf" srcId="{F22EDF04-DF6B-D84F-8486-F5F89731E538}" destId="{391E9F2C-AE60-C446-828B-07B6FF7B4B7C}" srcOrd="0" destOrd="0" presId="urn:microsoft.com/office/officeart/2008/layout/LinedList"/>
    <dgm:cxn modelId="{9161335A-C303-B247-AD71-F091A2474983}" type="presParOf" srcId="{F22EDF04-DF6B-D84F-8486-F5F89731E538}" destId="{B69F8F81-E7B9-A842-8E5B-E640C3182D72}" srcOrd="1" destOrd="0" presId="urn:microsoft.com/office/officeart/2008/layout/LinedList"/>
    <dgm:cxn modelId="{28014A3A-D0D9-D641-BE25-5E03022CEE0C}" type="presParOf" srcId="{9181687C-E7FC-B044-B2B4-529A1C2EA1A6}" destId="{70325AA2-85E3-5949-B6C0-B9DCE953965D}" srcOrd="10" destOrd="0" presId="urn:microsoft.com/office/officeart/2008/layout/LinedList"/>
    <dgm:cxn modelId="{EE8C98B9-545B-1D4A-85A4-D4623A1EA11C}" type="presParOf" srcId="{9181687C-E7FC-B044-B2B4-529A1C2EA1A6}" destId="{883002CC-CE01-444D-8736-F8917180F8D0}" srcOrd="11" destOrd="0" presId="urn:microsoft.com/office/officeart/2008/layout/LinedList"/>
    <dgm:cxn modelId="{92D7CBB1-841A-9741-929F-EAA5E167FECF}" type="presParOf" srcId="{883002CC-CE01-444D-8736-F8917180F8D0}" destId="{BAA68FAB-0596-A847-BA5A-BD08401641E2}" srcOrd="0" destOrd="0" presId="urn:microsoft.com/office/officeart/2008/layout/LinedList"/>
    <dgm:cxn modelId="{F736115F-1F53-4549-A121-A8341F79E410}" type="presParOf" srcId="{883002CC-CE01-444D-8736-F8917180F8D0}" destId="{1C7A0E76-E8C8-6044-A937-1F2DA9B7D172}" srcOrd="1" destOrd="0" presId="urn:microsoft.com/office/officeart/2008/layout/LinedList"/>
    <dgm:cxn modelId="{2AB6E71B-8021-984D-AD96-EF6CD13A1BA3}" type="presParOf" srcId="{9181687C-E7FC-B044-B2B4-529A1C2EA1A6}" destId="{4451871A-1EB0-BE4A-A01F-5FB761A75B43}" srcOrd="12" destOrd="0" presId="urn:microsoft.com/office/officeart/2008/layout/LinedList"/>
    <dgm:cxn modelId="{7817B175-1DF6-4C44-9EB4-91491CE227F1}" type="presParOf" srcId="{9181687C-E7FC-B044-B2B4-529A1C2EA1A6}" destId="{5B4EEB5B-17D0-3244-AA5A-98700B3CE95B}" srcOrd="13" destOrd="0" presId="urn:microsoft.com/office/officeart/2008/layout/LinedList"/>
    <dgm:cxn modelId="{47A91159-201A-564F-A81E-6F374DD16280}" type="presParOf" srcId="{5B4EEB5B-17D0-3244-AA5A-98700B3CE95B}" destId="{E5F16F1D-CF6C-5544-A5CB-695ED08E5FA0}" srcOrd="0" destOrd="0" presId="urn:microsoft.com/office/officeart/2008/layout/LinedList"/>
    <dgm:cxn modelId="{056333FE-79F3-C24B-8AA8-1AB87097A58C}" type="presParOf" srcId="{5B4EEB5B-17D0-3244-AA5A-98700B3CE95B}" destId="{16DA0C2B-7671-0C4F-A96F-FA26ECC85468}" srcOrd="1" destOrd="0" presId="urn:microsoft.com/office/officeart/2008/layout/LinedList"/>
    <dgm:cxn modelId="{B1A9AAD2-724D-0C49-9B22-970809CB62F8}" type="presParOf" srcId="{9181687C-E7FC-B044-B2B4-529A1C2EA1A6}" destId="{C963BECD-5124-7243-858F-0935638C1F9E}" srcOrd="14" destOrd="0" presId="urn:microsoft.com/office/officeart/2008/layout/LinedList"/>
    <dgm:cxn modelId="{0433E638-E701-5D4D-9D0C-A2E4012D6AFD}" type="presParOf" srcId="{9181687C-E7FC-B044-B2B4-529A1C2EA1A6}" destId="{5787AB73-95F7-934D-AD3C-50C6CD97A9E9}" srcOrd="15" destOrd="0" presId="urn:microsoft.com/office/officeart/2008/layout/LinedList"/>
    <dgm:cxn modelId="{6A652776-25F8-7C46-BD45-D1C4D8DBA910}" type="presParOf" srcId="{5787AB73-95F7-934D-AD3C-50C6CD97A9E9}" destId="{E1E8F580-E9B7-5F46-B09C-B0BF61E957A4}" srcOrd="0" destOrd="0" presId="urn:microsoft.com/office/officeart/2008/layout/LinedList"/>
    <dgm:cxn modelId="{E145D65E-21BF-434E-B70D-4711A2666030}" type="presParOf" srcId="{5787AB73-95F7-934D-AD3C-50C6CD97A9E9}" destId="{4E365A5B-1662-D848-9ECC-E71B815562E5}" srcOrd="1" destOrd="0" presId="urn:microsoft.com/office/officeart/2008/layout/LinedList"/>
    <dgm:cxn modelId="{CAEE174E-BC63-FC4E-8118-FAF9F5B98743}" type="presParOf" srcId="{9181687C-E7FC-B044-B2B4-529A1C2EA1A6}" destId="{70229DD1-516E-F54F-8651-441F296FFE1B}" srcOrd="16" destOrd="0" presId="urn:microsoft.com/office/officeart/2008/layout/LinedList"/>
    <dgm:cxn modelId="{085D437E-BBD1-A144-8FCC-2B9BF132E135}" type="presParOf" srcId="{9181687C-E7FC-B044-B2B4-529A1C2EA1A6}" destId="{2EA04436-884E-A740-9F6E-BAA1252CE2C0}" srcOrd="17" destOrd="0" presId="urn:microsoft.com/office/officeart/2008/layout/LinedList"/>
    <dgm:cxn modelId="{19144204-C48B-DE48-A9EA-289E50FCF4A7}" type="presParOf" srcId="{2EA04436-884E-A740-9F6E-BAA1252CE2C0}" destId="{BFC65480-B83A-5E4E-A4D0-680D99987AAC}" srcOrd="0" destOrd="0" presId="urn:microsoft.com/office/officeart/2008/layout/LinedList"/>
    <dgm:cxn modelId="{448045F1-77EC-7A47-8DCD-8C3FB1D8B545}" type="presParOf" srcId="{2EA04436-884E-A740-9F6E-BAA1252CE2C0}" destId="{AE5EF156-8BFB-7148-99C4-9F1A35E85068}" srcOrd="1" destOrd="0" presId="urn:microsoft.com/office/officeart/2008/layout/LinedList"/>
    <dgm:cxn modelId="{D30534EA-AC59-5547-B7B8-FA8F4A7118B6}" type="presParOf" srcId="{9181687C-E7FC-B044-B2B4-529A1C2EA1A6}" destId="{4AFE4C6D-DE0B-7445-8A06-085165C49DCB}" srcOrd="18" destOrd="0" presId="urn:microsoft.com/office/officeart/2008/layout/LinedList"/>
    <dgm:cxn modelId="{2B3AC595-A8D6-CD4A-AEFD-39126B394786}" type="presParOf" srcId="{9181687C-E7FC-B044-B2B4-529A1C2EA1A6}" destId="{DA35DF0D-D2F0-2C4A-85C5-789F47CEC9A2}" srcOrd="19" destOrd="0" presId="urn:microsoft.com/office/officeart/2008/layout/LinedList"/>
    <dgm:cxn modelId="{897D360C-9068-CE4E-AFA1-E8048847ED8F}" type="presParOf" srcId="{DA35DF0D-D2F0-2C4A-85C5-789F47CEC9A2}" destId="{E9380ECB-3514-8A43-9881-1F4181815248}" srcOrd="0" destOrd="0" presId="urn:microsoft.com/office/officeart/2008/layout/LinedList"/>
    <dgm:cxn modelId="{BFD4CEEC-A000-CE47-91F6-6C9E0F796372}" type="presParOf" srcId="{DA35DF0D-D2F0-2C4A-85C5-789F47CEC9A2}" destId="{2C8437D3-6991-5D4B-BD2F-BAA492B91A8B}" srcOrd="1" destOrd="0" presId="urn:microsoft.com/office/officeart/2008/layout/LinedList"/>
    <dgm:cxn modelId="{01B1E419-4944-1B4E-BB94-930F2B0F837F}" type="presParOf" srcId="{9181687C-E7FC-B044-B2B4-529A1C2EA1A6}" destId="{1FB872CC-3FB6-964C-AECC-20EAC39FD733}" srcOrd="20" destOrd="0" presId="urn:microsoft.com/office/officeart/2008/layout/LinedList"/>
    <dgm:cxn modelId="{D1193060-7B75-9545-9F8D-B62F4FA2A066}" type="presParOf" srcId="{9181687C-E7FC-B044-B2B4-529A1C2EA1A6}" destId="{51FB6211-799B-F84F-95C7-9E5D28E9D9BD}" srcOrd="21" destOrd="0" presId="urn:microsoft.com/office/officeart/2008/layout/LinedList"/>
    <dgm:cxn modelId="{F01B2674-5DB4-4342-BFF5-1FA498583840}" type="presParOf" srcId="{51FB6211-799B-F84F-95C7-9E5D28E9D9BD}" destId="{BF329225-5EDE-9749-9036-FD5A9DE38131}" srcOrd="0" destOrd="0" presId="urn:microsoft.com/office/officeart/2008/layout/LinedList"/>
    <dgm:cxn modelId="{A3A657FF-DF26-F646-91C7-D5FB5CC243B6}" type="presParOf" srcId="{51FB6211-799B-F84F-95C7-9E5D28E9D9BD}" destId="{E9D29841-F777-364F-A819-F1F33F3FFF17}" srcOrd="1" destOrd="0" presId="urn:microsoft.com/office/officeart/2008/layout/LinedList"/>
    <dgm:cxn modelId="{C6ADE058-6D7B-C249-9790-568DD191ADC6}" type="presParOf" srcId="{9181687C-E7FC-B044-B2B4-529A1C2EA1A6}" destId="{25DE5207-3CB5-C246-973B-72635E5D0D96}" srcOrd="22" destOrd="0" presId="urn:microsoft.com/office/officeart/2008/layout/LinedList"/>
    <dgm:cxn modelId="{BDD8FE2C-C97A-EC4D-B1DF-703E639577DE}" type="presParOf" srcId="{9181687C-E7FC-B044-B2B4-529A1C2EA1A6}" destId="{77D57FB7-DC19-7048-ABAF-0B4B52CD09FE}" srcOrd="23" destOrd="0" presId="urn:microsoft.com/office/officeart/2008/layout/LinedList"/>
    <dgm:cxn modelId="{632270D7-DD97-454A-839A-92821B726353}" type="presParOf" srcId="{77D57FB7-DC19-7048-ABAF-0B4B52CD09FE}" destId="{F52337CB-266C-BE43-8294-24BB1EF737A0}" srcOrd="0" destOrd="0" presId="urn:microsoft.com/office/officeart/2008/layout/LinedList"/>
    <dgm:cxn modelId="{B9D6DF0A-FACF-0141-9B88-7334C6CCB439}" type="presParOf" srcId="{77D57FB7-DC19-7048-ABAF-0B4B52CD09FE}" destId="{2F589A5D-D073-064C-976A-F81D5C5A43E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361E5E-DCDE-FC4C-A00E-80FFEF730413}">
      <dsp:nvSpPr>
        <dsp:cNvPr id="0" name=""/>
        <dsp:cNvSpPr/>
      </dsp:nvSpPr>
      <dsp:spPr>
        <a:xfrm>
          <a:off x="0" y="2281"/>
          <a:ext cx="53528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AEA0E-A138-8F4A-916F-F522DCE2EE5E}">
      <dsp:nvSpPr>
        <dsp:cNvPr id="0" name=""/>
        <dsp:cNvSpPr/>
      </dsp:nvSpPr>
      <dsp:spPr>
        <a:xfrm>
          <a:off x="0" y="2281"/>
          <a:ext cx="5352852" cy="389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A00180 </a:t>
          </a:r>
          <a:r>
            <a:rPr lang="en-US" sz="1400" kern="1200">
              <a:sym typeface="Wingdings" panose="05000000000000000000" pitchFamily="2" charset="2"/>
            </a:rPr>
            <a:t></a:t>
          </a:r>
          <a:r>
            <a:rPr lang="en-US" sz="1400" kern="1200"/>
            <a:t> instrument name</a:t>
          </a:r>
        </a:p>
      </dsp:txBody>
      <dsp:txXfrm>
        <a:off x="0" y="2281"/>
        <a:ext cx="5352852" cy="389031"/>
      </dsp:txXfrm>
    </dsp:sp>
    <dsp:sp modelId="{2EABD626-96A6-B74B-BA41-7A585324B7C3}">
      <dsp:nvSpPr>
        <dsp:cNvPr id="0" name=""/>
        <dsp:cNvSpPr/>
      </dsp:nvSpPr>
      <dsp:spPr>
        <a:xfrm>
          <a:off x="0" y="391312"/>
          <a:ext cx="53528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492554-8D16-004E-ACE5-9C3CA10B3112}">
      <dsp:nvSpPr>
        <dsp:cNvPr id="0" name=""/>
        <dsp:cNvSpPr/>
      </dsp:nvSpPr>
      <dsp:spPr>
        <a:xfrm>
          <a:off x="0" y="391312"/>
          <a:ext cx="5352852" cy="389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10 </a:t>
          </a:r>
          <a:r>
            <a:rPr lang="en-US" sz="1400" kern="1200">
              <a:sym typeface="Wingdings" panose="05000000000000000000" pitchFamily="2" charset="2"/>
            </a:rPr>
            <a:t></a:t>
          </a:r>
          <a:r>
            <a:rPr lang="en-US" sz="1400" kern="1200"/>
            <a:t> run id</a:t>
          </a:r>
        </a:p>
      </dsp:txBody>
      <dsp:txXfrm>
        <a:off x="0" y="391312"/>
        <a:ext cx="5352852" cy="389031"/>
      </dsp:txXfrm>
    </dsp:sp>
    <dsp:sp modelId="{5FD33979-D2D0-5940-9967-F9047804E175}">
      <dsp:nvSpPr>
        <dsp:cNvPr id="0" name=""/>
        <dsp:cNvSpPr/>
      </dsp:nvSpPr>
      <dsp:spPr>
        <a:xfrm>
          <a:off x="0" y="780344"/>
          <a:ext cx="53528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9B804-9618-2642-BC54-B039CFD31099}">
      <dsp:nvSpPr>
        <dsp:cNvPr id="0" name=""/>
        <dsp:cNvSpPr/>
      </dsp:nvSpPr>
      <dsp:spPr>
        <a:xfrm>
          <a:off x="0" y="780344"/>
          <a:ext cx="5352852" cy="389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H7NK5DMXX </a:t>
          </a:r>
          <a:r>
            <a:rPr lang="en-US" sz="1400" kern="1200">
              <a:sym typeface="Wingdings" panose="05000000000000000000" pitchFamily="2" charset="2"/>
            </a:rPr>
            <a:t></a:t>
          </a:r>
          <a:r>
            <a:rPr lang="en-US" sz="1400" kern="1200"/>
            <a:t> flowcell id</a:t>
          </a:r>
        </a:p>
      </dsp:txBody>
      <dsp:txXfrm>
        <a:off x="0" y="780344"/>
        <a:ext cx="5352852" cy="389031"/>
      </dsp:txXfrm>
    </dsp:sp>
    <dsp:sp modelId="{4AF19FAB-049F-1A41-91E0-C63F82B10602}">
      <dsp:nvSpPr>
        <dsp:cNvPr id="0" name=""/>
        <dsp:cNvSpPr/>
      </dsp:nvSpPr>
      <dsp:spPr>
        <a:xfrm>
          <a:off x="0" y="1169375"/>
          <a:ext cx="53528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0856FC-D377-714D-BE6F-70A952E65D68}">
      <dsp:nvSpPr>
        <dsp:cNvPr id="0" name=""/>
        <dsp:cNvSpPr/>
      </dsp:nvSpPr>
      <dsp:spPr>
        <a:xfrm>
          <a:off x="0" y="1169375"/>
          <a:ext cx="5352852" cy="389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 </a:t>
          </a:r>
          <a:r>
            <a:rPr lang="en-US" sz="1400" kern="1200">
              <a:sym typeface="Wingdings" panose="05000000000000000000" pitchFamily="2" charset="2"/>
            </a:rPr>
            <a:t></a:t>
          </a:r>
          <a:r>
            <a:rPr lang="en-US" sz="1400" kern="1200"/>
            <a:t> flowcell lane</a:t>
          </a:r>
        </a:p>
      </dsp:txBody>
      <dsp:txXfrm>
        <a:off x="0" y="1169375"/>
        <a:ext cx="5352852" cy="389031"/>
      </dsp:txXfrm>
    </dsp:sp>
    <dsp:sp modelId="{54B0AFB2-17CF-3344-B05C-9CE361EBABDF}">
      <dsp:nvSpPr>
        <dsp:cNvPr id="0" name=""/>
        <dsp:cNvSpPr/>
      </dsp:nvSpPr>
      <dsp:spPr>
        <a:xfrm>
          <a:off x="0" y="1558406"/>
          <a:ext cx="53528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E9F2C-AE60-C446-828B-07B6FF7B4B7C}">
      <dsp:nvSpPr>
        <dsp:cNvPr id="0" name=""/>
        <dsp:cNvSpPr/>
      </dsp:nvSpPr>
      <dsp:spPr>
        <a:xfrm>
          <a:off x="0" y="1558406"/>
          <a:ext cx="5352852" cy="389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1101 </a:t>
          </a:r>
          <a:r>
            <a:rPr lang="en-US" sz="1400" kern="1200">
              <a:sym typeface="Wingdings" panose="05000000000000000000" pitchFamily="2" charset="2"/>
            </a:rPr>
            <a:t></a:t>
          </a:r>
          <a:r>
            <a:rPr lang="en-US" sz="1400" kern="1200"/>
            <a:t> tile number within the flow cell line</a:t>
          </a:r>
        </a:p>
      </dsp:txBody>
      <dsp:txXfrm>
        <a:off x="0" y="1558406"/>
        <a:ext cx="5352852" cy="389031"/>
      </dsp:txXfrm>
    </dsp:sp>
    <dsp:sp modelId="{70325AA2-85E3-5949-B6C0-B9DCE953965D}">
      <dsp:nvSpPr>
        <dsp:cNvPr id="0" name=""/>
        <dsp:cNvSpPr/>
      </dsp:nvSpPr>
      <dsp:spPr>
        <a:xfrm>
          <a:off x="0" y="1947437"/>
          <a:ext cx="53528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A68FAB-0596-A847-BA5A-BD08401641E2}">
      <dsp:nvSpPr>
        <dsp:cNvPr id="0" name=""/>
        <dsp:cNvSpPr/>
      </dsp:nvSpPr>
      <dsp:spPr>
        <a:xfrm>
          <a:off x="0" y="1947437"/>
          <a:ext cx="5352852" cy="389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16821 </a:t>
          </a:r>
          <a:r>
            <a:rPr lang="en-US" sz="1400" kern="1200">
              <a:sym typeface="Wingdings" panose="05000000000000000000" pitchFamily="2" charset="2"/>
            </a:rPr>
            <a:t></a:t>
          </a:r>
          <a:r>
            <a:rPr lang="en-US" sz="1400" kern="1200"/>
            <a:t> x-coordinate of the cluster within the tile</a:t>
          </a:r>
        </a:p>
      </dsp:txBody>
      <dsp:txXfrm>
        <a:off x="0" y="1947437"/>
        <a:ext cx="5352852" cy="389031"/>
      </dsp:txXfrm>
    </dsp:sp>
    <dsp:sp modelId="{4451871A-1EB0-BE4A-A01F-5FB761A75B43}">
      <dsp:nvSpPr>
        <dsp:cNvPr id="0" name=""/>
        <dsp:cNvSpPr/>
      </dsp:nvSpPr>
      <dsp:spPr>
        <a:xfrm>
          <a:off x="0" y="2336469"/>
          <a:ext cx="53528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16F1D-CF6C-5544-A5CB-695ED08E5FA0}">
      <dsp:nvSpPr>
        <dsp:cNvPr id="0" name=""/>
        <dsp:cNvSpPr/>
      </dsp:nvSpPr>
      <dsp:spPr>
        <a:xfrm>
          <a:off x="0" y="2336469"/>
          <a:ext cx="5352852" cy="389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1000 </a:t>
          </a:r>
          <a:r>
            <a:rPr lang="en-US" sz="1400" kern="1200">
              <a:sym typeface="Wingdings" panose="05000000000000000000" pitchFamily="2" charset="2"/>
            </a:rPr>
            <a:t></a:t>
          </a:r>
          <a:r>
            <a:rPr lang="en-US" sz="1400" kern="1200"/>
            <a:t> y-coordinate of the cluster within the tile</a:t>
          </a:r>
        </a:p>
      </dsp:txBody>
      <dsp:txXfrm>
        <a:off x="0" y="2336469"/>
        <a:ext cx="5352852" cy="389031"/>
      </dsp:txXfrm>
    </dsp:sp>
    <dsp:sp modelId="{C963BECD-5124-7243-858F-0935638C1F9E}">
      <dsp:nvSpPr>
        <dsp:cNvPr id="0" name=""/>
        <dsp:cNvSpPr/>
      </dsp:nvSpPr>
      <dsp:spPr>
        <a:xfrm>
          <a:off x="0" y="2725500"/>
          <a:ext cx="53528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8F580-E9B7-5F46-B09C-B0BF61E957A4}">
      <dsp:nvSpPr>
        <dsp:cNvPr id="0" name=""/>
        <dsp:cNvSpPr/>
      </dsp:nvSpPr>
      <dsp:spPr>
        <a:xfrm>
          <a:off x="0" y="2725500"/>
          <a:ext cx="5352852" cy="389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SPACE</a:t>
          </a:r>
        </a:p>
      </dsp:txBody>
      <dsp:txXfrm>
        <a:off x="0" y="2725500"/>
        <a:ext cx="5352852" cy="389031"/>
      </dsp:txXfrm>
    </dsp:sp>
    <dsp:sp modelId="{70229DD1-516E-F54F-8651-441F296FFE1B}">
      <dsp:nvSpPr>
        <dsp:cNvPr id="0" name=""/>
        <dsp:cNvSpPr/>
      </dsp:nvSpPr>
      <dsp:spPr>
        <a:xfrm>
          <a:off x="0" y="3114531"/>
          <a:ext cx="53528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65480-B83A-5E4E-A4D0-680D99987AAC}">
      <dsp:nvSpPr>
        <dsp:cNvPr id="0" name=""/>
        <dsp:cNvSpPr/>
      </dsp:nvSpPr>
      <dsp:spPr>
        <a:xfrm>
          <a:off x="0" y="3114531"/>
          <a:ext cx="5352852" cy="389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 </a:t>
          </a:r>
          <a:r>
            <a:rPr lang="en-US" sz="1400" kern="1200">
              <a:sym typeface="Wingdings" panose="05000000000000000000" pitchFamily="2" charset="2"/>
            </a:rPr>
            <a:t></a:t>
          </a:r>
          <a:r>
            <a:rPr lang="en-US" sz="1400" kern="1200"/>
            <a:t> member of the pair (if paired-end)</a:t>
          </a:r>
        </a:p>
      </dsp:txBody>
      <dsp:txXfrm>
        <a:off x="0" y="3114531"/>
        <a:ext cx="5352852" cy="389031"/>
      </dsp:txXfrm>
    </dsp:sp>
    <dsp:sp modelId="{4AFE4C6D-DE0B-7445-8A06-085165C49DCB}">
      <dsp:nvSpPr>
        <dsp:cNvPr id="0" name=""/>
        <dsp:cNvSpPr/>
      </dsp:nvSpPr>
      <dsp:spPr>
        <a:xfrm>
          <a:off x="0" y="3503562"/>
          <a:ext cx="53528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80ECB-3514-8A43-9881-1F4181815248}">
      <dsp:nvSpPr>
        <dsp:cNvPr id="0" name=""/>
        <dsp:cNvSpPr/>
      </dsp:nvSpPr>
      <dsp:spPr>
        <a:xfrm>
          <a:off x="0" y="3503562"/>
          <a:ext cx="5352852" cy="389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 </a:t>
          </a:r>
          <a:r>
            <a:rPr lang="en-US" sz="1400" kern="1200">
              <a:sym typeface="Wingdings" panose="05000000000000000000" pitchFamily="2" charset="2"/>
            </a:rPr>
            <a:t></a:t>
          </a:r>
          <a:r>
            <a:rPr lang="en-US" sz="1400" kern="1200"/>
            <a:t> N if read is not filtered, Y if it is filtered</a:t>
          </a:r>
        </a:p>
      </dsp:txBody>
      <dsp:txXfrm>
        <a:off x="0" y="3503562"/>
        <a:ext cx="5352852" cy="389031"/>
      </dsp:txXfrm>
    </dsp:sp>
    <dsp:sp modelId="{1FB872CC-3FB6-964C-AECC-20EAC39FD733}">
      <dsp:nvSpPr>
        <dsp:cNvPr id="0" name=""/>
        <dsp:cNvSpPr/>
      </dsp:nvSpPr>
      <dsp:spPr>
        <a:xfrm>
          <a:off x="0" y="3892593"/>
          <a:ext cx="53528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29225-5EDE-9749-9036-FD5A9DE38131}">
      <dsp:nvSpPr>
        <dsp:cNvPr id="0" name=""/>
        <dsp:cNvSpPr/>
      </dsp:nvSpPr>
      <dsp:spPr>
        <a:xfrm>
          <a:off x="0" y="3892593"/>
          <a:ext cx="5352852" cy="389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 </a:t>
          </a:r>
          <a:r>
            <a:rPr lang="en-US" sz="1400" kern="1200" dirty="0">
              <a:sym typeface="Wingdings" panose="05000000000000000000" pitchFamily="2" charset="2"/>
            </a:rPr>
            <a:t></a:t>
          </a:r>
          <a:r>
            <a:rPr lang="en-US" sz="1400" kern="1200" dirty="0"/>
            <a:t>  when none of the control bit are on</a:t>
          </a:r>
        </a:p>
      </dsp:txBody>
      <dsp:txXfrm>
        <a:off x="0" y="3892593"/>
        <a:ext cx="5352852" cy="389031"/>
      </dsp:txXfrm>
    </dsp:sp>
    <dsp:sp modelId="{25DE5207-3CB5-C246-973B-72635E5D0D96}">
      <dsp:nvSpPr>
        <dsp:cNvPr id="0" name=""/>
        <dsp:cNvSpPr/>
      </dsp:nvSpPr>
      <dsp:spPr>
        <a:xfrm>
          <a:off x="0" y="4281625"/>
          <a:ext cx="53528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337CB-266C-BE43-8294-24BB1EF737A0}">
      <dsp:nvSpPr>
        <dsp:cNvPr id="0" name=""/>
        <dsp:cNvSpPr/>
      </dsp:nvSpPr>
      <dsp:spPr>
        <a:xfrm>
          <a:off x="0" y="4281625"/>
          <a:ext cx="5352852" cy="389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GGACTT, GTCGTTCG </a:t>
          </a:r>
          <a:r>
            <a:rPr lang="en-US" sz="1400" kern="1200" dirty="0">
              <a:sym typeface="Wingdings" panose="05000000000000000000" pitchFamily="2" charset="2"/>
            </a:rPr>
            <a:t>  barcodes are used for demultiplexing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ym typeface="Wingdings" panose="05000000000000000000" pitchFamily="2" charset="2"/>
            </a:rPr>
            <a:t>and assign reads to the correct sample </a:t>
          </a:r>
          <a:endParaRPr lang="en-US" sz="1400" kern="1200" dirty="0"/>
        </a:p>
      </dsp:txBody>
      <dsp:txXfrm>
        <a:off x="0" y="4281625"/>
        <a:ext cx="5352852" cy="3890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A082ED-BCD1-E943-B526-61E3336E9629}" type="datetimeFigureOut">
              <a:rPr lang="en-DK" smtClean="0"/>
              <a:t>02/05/2026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55A90-97E4-BA4D-B9CC-DBC2636CA52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81412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A28B0-211A-B640-96C3-6E3EBE2D2300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10362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For our hands on part we are going to use the dataset presented in the following metagenomics study: Metagenomic insights into the prokaryotic communities of heavy metal-contaminated hypersaline soils.</a:t>
            </a:r>
          </a:p>
          <a:p>
            <a:endParaRPr lang="en-DK" dirty="0"/>
          </a:p>
          <a:p>
            <a:r>
              <a:rPr lang="en-US" dirty="0"/>
              <a:t>Saline soils and their microbial communities have recently been studied in response to ongoing desertification of agricultural soils caused by anthropogenic impacts and climate change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 they describe the prokaryotic microbiota of hypersaline soils in the Odiel Saltmarshes Natural Area of Southwest Spain. </a:t>
            </a:r>
          </a:p>
          <a:p>
            <a:endParaRPr lang="en-D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region has been strongly affected by mining and industrial activity and feature high levels of certain heavy metals. 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955A90-97E4-BA4D-B9CC-DBC2636CA522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85723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28AFF-B84D-8F49-BA9B-C42DFE722FCF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30348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28AFF-B84D-8F49-BA9B-C42DFE722FCF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77274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EA06-B275-53A1-47AD-7C1F9BE3F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68689-14B2-8A90-E240-F84AE92F1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523B0-109E-5D46-E931-67EE70E7E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4976C-A02C-9C4B-952E-DB54C941186B}" type="datetimeFigureOut">
              <a:rPr lang="en-DK" smtClean="0"/>
              <a:t>02/05/2026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1729B-24AF-F2B6-698A-45B2D945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2993A-AC0F-0F3E-F574-509F8EF5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6F54-BA1C-5C45-BEB6-68EEE5CD1A3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24475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55A8-DE4C-372B-BC40-D00999466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9C46B-803C-FD6C-04EF-8DB92CB48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8D4A7-26BB-B31F-2AEE-07F1740FF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4976C-A02C-9C4B-952E-DB54C941186B}" type="datetimeFigureOut">
              <a:rPr lang="en-DK" smtClean="0"/>
              <a:t>02/05/2026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E47CD-98F8-125E-59DB-9C580F5E1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A4B8-AA1A-4000-A3AE-C97BCCED2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6F54-BA1C-5C45-BEB6-68EEE5CD1A3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2445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A6E47-6CD2-A3C6-CDC5-78931E4C3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AB8A9-5624-849E-4B65-C75D531D1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584C-F69E-84EC-E156-22D12D2C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4976C-A02C-9C4B-952E-DB54C941186B}" type="datetimeFigureOut">
              <a:rPr lang="en-DK" smtClean="0"/>
              <a:t>02/05/2026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C04E5-2B15-AE5F-B360-F288799FA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F38C7-D5B2-F1E8-3AE6-77220DC7C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6F54-BA1C-5C45-BEB6-68EEE5CD1A3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52062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B6A0-BA98-3765-D153-507A72CC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60C5-5BAF-DDD7-BDA9-DDE6C3D6AD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1A61B-BA2E-165D-6B19-9A68BB2D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7241A-5E44-BF3A-CFEA-E996D402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4976C-A02C-9C4B-952E-DB54C941186B}" type="datetimeFigureOut">
              <a:rPr lang="en-DK" smtClean="0"/>
              <a:t>02/05/2026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48D97-560D-F9AD-DF97-5C386801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756C8-7CBF-EA5C-406F-8E01E5733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6F54-BA1C-5C45-BEB6-68EEE5CD1A3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5282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C5EC0-0100-FC61-5667-CB171C314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26182-5304-2965-82D5-3913BBC1F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C5F27-DECA-9E6A-CA52-16DDFA246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9ED25-5BCB-95C9-AFC5-67974615F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E6303B-D9B3-FE07-99EC-7CB6DD28F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AD143B-BD8C-6775-9207-FCA165962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4976C-A02C-9C4B-952E-DB54C941186B}" type="datetimeFigureOut">
              <a:rPr lang="en-DK" smtClean="0"/>
              <a:t>02/05/2026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1C5E77-7658-0B4D-1887-2091AA7A7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18FBA-4F7B-8FD7-BA09-4F9243AEA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6F54-BA1C-5C45-BEB6-68EEE5CD1A3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8100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A124D-EF23-B771-723B-01DB00D78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C24F68-4C07-1E79-1682-E5F9D4EB9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4976C-A02C-9C4B-952E-DB54C941186B}" type="datetimeFigureOut">
              <a:rPr lang="en-DK" smtClean="0"/>
              <a:t>02/05/2026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11C2D-42C1-0DCA-D5BC-B06B53158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7FE69B-D32A-8EFC-56C2-479A4218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6F54-BA1C-5C45-BEB6-68EEE5CD1A3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61438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B09D9-BDEB-1C83-C157-D66BE6012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4976C-A02C-9C4B-952E-DB54C941186B}" type="datetimeFigureOut">
              <a:rPr lang="en-DK" smtClean="0"/>
              <a:t>02/05/2026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95CD0C-8EA8-66B9-E5D3-9B6A14844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2452E-9630-61C6-9092-F325A8015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6F54-BA1C-5C45-BEB6-68EEE5CD1A3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39619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B973-DCCE-850C-694E-D54D39769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5E223-2E5B-C441-5DFF-3D60E0D48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0BAE3-5CC6-9676-8113-B4B7F85F7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64055-CAAE-6A62-73F4-163061B84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4976C-A02C-9C4B-952E-DB54C941186B}" type="datetimeFigureOut">
              <a:rPr lang="en-DK" smtClean="0"/>
              <a:t>02/05/2026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EA82F-21A6-5ED2-D061-11D2A76F3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217FE-0F34-5207-E052-9F7751D7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6F54-BA1C-5C45-BEB6-68EEE5CD1A3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5486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E7B4-5A52-26EC-D5B2-2588200AE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987E-6869-65B3-8D6A-E1395E66A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4A638-E8BF-1C3D-407E-EB639179A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3B0F1-49F3-B141-50B3-4EC667278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4976C-A02C-9C4B-952E-DB54C941186B}" type="datetimeFigureOut">
              <a:rPr lang="en-DK" smtClean="0"/>
              <a:t>02/05/2026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1B844-BFC3-4D98-02C7-F210E8DAC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CD4AC-38FE-FDC0-A9E1-B287FB0D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6F54-BA1C-5C45-BEB6-68EEE5CD1A3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67288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3B2D2-890D-A0C9-031E-1BB9AE6AF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C24E3-8AF3-0111-89B5-91C1DD28C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2D8D-C89A-A4A2-C159-9177094A0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4976C-A02C-9C4B-952E-DB54C941186B}" type="datetimeFigureOut">
              <a:rPr lang="en-DK" smtClean="0"/>
              <a:t>02/05/2026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42BFE-D179-508C-AA76-459983C76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1E3DC-3A30-1D7A-3AED-700664FF2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6F54-BA1C-5C45-BEB6-68EEE5CD1A3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70838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274E8-D726-9C8B-C84B-DD8434AAF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B1623-9E89-962F-4E2E-50EEB80B5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DDAD5-CAA4-DF1A-2F86-E1929A264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4976C-A02C-9C4B-952E-DB54C941186B}" type="datetimeFigureOut">
              <a:rPr lang="en-DK" smtClean="0"/>
              <a:t>02/05/2026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D833D-D03B-C7B2-E0FE-48D35BDE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E197C-2143-0091-FBF7-66BBA8A4F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6F54-BA1C-5C45-BEB6-68EEE5CD1A3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7581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9DF6A4-2622-CF2B-994A-99396979D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7C652-CEDF-5B87-7F1B-CF9D938E6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606C5-3FE5-C966-32F3-43FEA9820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4976C-A02C-9C4B-952E-DB54C941186B}" type="datetimeFigureOut">
              <a:rPr lang="en-DK" smtClean="0"/>
              <a:t>02/05/2026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057AE-DF5E-72C5-F078-F03FD1B1C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3099-4E30-A895-EEA5-BDFCB38C3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D6F54-BA1C-5C45-BEB6-68EEE5CD1A3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0864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ciencedirect.com/science/article/pii/S004896972405647X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f-co.re/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hyperlink" Target="https://www.nature.com/articles/s41587-020-0439-x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f-core/taxprofiler/tree/2.0.0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iosustain.github.io/dsp_nextflow_train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75B19E4-0108-41C4-8DB1-11BAE0B4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C237F5-AF80-1180-65FB-F0665383A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4746" y="552449"/>
            <a:ext cx="4635609" cy="132556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DK" sz="4000" dirty="0">
                <a:solidFill>
                  <a:schemeClr val="bg1"/>
                </a:solidFill>
              </a:rPr>
              <a:t>Processing of shotgun metagenomics samples</a:t>
            </a:r>
            <a:endParaRPr lang="en-US" sz="3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A14AE1-71AB-4B18-826E-F563FF428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2916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17920" y="2026340"/>
            <a:ext cx="5974081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CCB7DCFE-F312-235E-9685-7FF3058B7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0366" y="2430461"/>
            <a:ext cx="4172990" cy="344169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nf</a:t>
            </a:r>
            <a:r>
              <a:rPr lang="en-US" sz="2000" dirty="0">
                <a:solidFill>
                  <a:schemeClr val="bg1"/>
                </a:solidFill>
              </a:rPr>
              <a:t>-core/</a:t>
            </a:r>
            <a:r>
              <a:rPr lang="en-US" sz="2000" dirty="0" err="1">
                <a:solidFill>
                  <a:schemeClr val="bg1"/>
                </a:solidFill>
              </a:rPr>
              <a:t>taxprofiler</a:t>
            </a:r>
            <a:r>
              <a:rPr lang="en-US" sz="2000" dirty="0">
                <a:solidFill>
                  <a:schemeClr val="bg1"/>
                </a:solidFill>
              </a:rPr>
              <a:t> together with Metaphlan v4 database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Genome-level marker gene based taxonomic classifier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 Science platform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BRIGHT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Spring Data-type Courses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6</a:t>
            </a:r>
            <a:r>
              <a:rPr lang="en-US" sz="2000" baseline="30000" dirty="0">
                <a:solidFill>
                  <a:schemeClr val="bg1"/>
                </a:solidFill>
              </a:rPr>
              <a:t>th</a:t>
            </a:r>
            <a:r>
              <a:rPr lang="en-US" sz="2000" dirty="0">
                <a:solidFill>
                  <a:schemeClr val="bg1"/>
                </a:solidFill>
              </a:rPr>
              <a:t> May 2026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84EBE8-B8CF-A9B8-D609-C4264B84AF8C}"/>
              </a:ext>
            </a:extLst>
          </p:cNvPr>
          <p:cNvGrpSpPr/>
          <p:nvPr/>
        </p:nvGrpSpPr>
        <p:grpSpPr>
          <a:xfrm>
            <a:off x="0" y="552449"/>
            <a:ext cx="5753102" cy="5753102"/>
            <a:chOff x="3103417" y="1184563"/>
            <a:chExt cx="5507182" cy="5507182"/>
          </a:xfrm>
        </p:grpSpPr>
        <p:pic>
          <p:nvPicPr>
            <p:cNvPr id="6" name="Picture 2" descr="1,500+ Microbiome Stock Illustrations, Royalty-Free Vector Graphics &amp; Clip  Art - iStock | Gut microbiome, Skin microbiome, Microbiome woman">
              <a:extLst>
                <a:ext uri="{FF2B5EF4-FFF2-40B4-BE49-F238E27FC236}">
                  <a16:creationId xmlns:a16="http://schemas.microsoft.com/office/drawing/2014/main" id="{2F7DF042-900E-9788-5287-AC4E012A7C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3417" y="1184563"/>
              <a:ext cx="5507182" cy="5507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Virus">
              <a:extLst>
                <a:ext uri="{FF2B5EF4-FFF2-40B4-BE49-F238E27FC236}">
                  <a16:creationId xmlns:a16="http://schemas.microsoft.com/office/drawing/2014/main" id="{3B1274F2-AD95-A53C-D8A1-7F5E0266D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13359" y="3092935"/>
              <a:ext cx="369332" cy="369332"/>
            </a:xfrm>
            <a:prstGeom prst="rect">
              <a:avLst/>
            </a:prstGeom>
          </p:spPr>
        </p:pic>
        <p:pic>
          <p:nvPicPr>
            <p:cNvPr id="8" name="Picture 7" descr="Virus">
              <a:extLst>
                <a:ext uri="{FF2B5EF4-FFF2-40B4-BE49-F238E27FC236}">
                  <a16:creationId xmlns:a16="http://schemas.microsoft.com/office/drawing/2014/main" id="{C313216F-15E2-E91B-B3B1-3344D3BD3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9448" y="2037278"/>
              <a:ext cx="369332" cy="369332"/>
            </a:xfrm>
            <a:prstGeom prst="rect">
              <a:avLst/>
            </a:prstGeom>
          </p:spPr>
        </p:pic>
        <p:pic>
          <p:nvPicPr>
            <p:cNvPr id="10" name="Picture 9" descr="Virus">
              <a:extLst>
                <a:ext uri="{FF2B5EF4-FFF2-40B4-BE49-F238E27FC236}">
                  <a16:creationId xmlns:a16="http://schemas.microsoft.com/office/drawing/2014/main" id="{2764AD2C-7D4B-853A-123C-F43332EB0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9207075">
              <a:off x="4036414" y="3582188"/>
              <a:ext cx="369332" cy="3693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1468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355FF0-5E78-8B41-AF03-FE63F6E2D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165" y="216568"/>
            <a:ext cx="9232661" cy="31314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36A83D-DE00-9C66-EC83-66D13186DBEE}"/>
              </a:ext>
            </a:extLst>
          </p:cNvPr>
          <p:cNvSpPr txBox="1"/>
          <p:nvPr/>
        </p:nvSpPr>
        <p:spPr>
          <a:xfrm>
            <a:off x="1479669" y="3411124"/>
            <a:ext cx="92326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Saline soils and their microbial communities have recently been studied in response to ongoing desertification of agricultural soils caused by anthropogenic impacts and climate change.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they describe the prokaryotic microbiota of hypersaline soils in the Odiel Saltmarshes Natural Area of Southwest Spain.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region has been strongly affected by mining and industrial activity and feature high levels of certain heavy metals.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18 shotgun metagenomes sequenced through Illumina </a:t>
            </a:r>
            <a:r>
              <a:rPr lang="en-US" dirty="0" err="1"/>
              <a:t>NovaSeq</a:t>
            </a:r>
            <a:r>
              <a:rPr lang="en-US" dirty="0"/>
              <a:t> from three different areas in 2020 and 2021.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9E8F2F-B073-DCC3-931C-2C2DC5ABC11A}"/>
              </a:ext>
            </a:extLst>
          </p:cNvPr>
          <p:cNvSpPr txBox="1"/>
          <p:nvPr/>
        </p:nvSpPr>
        <p:spPr>
          <a:xfrm>
            <a:off x="5017169" y="2406316"/>
            <a:ext cx="5776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hlinkClick r:id="rId4"/>
              </a:rPr>
              <a:t>https://www.sciencedirect.com/science/article/pii/S004896972405647X</a:t>
            </a:r>
            <a:endParaRPr lang="en-GB" sz="1400" dirty="0"/>
          </a:p>
          <a:p>
            <a:endParaRPr lang="en-DK" sz="1400" dirty="0"/>
          </a:p>
        </p:txBody>
      </p:sp>
    </p:spTree>
    <p:extLst>
      <p:ext uri="{BB962C8B-B14F-4D97-AF65-F5344CB8AC3E}">
        <p14:creationId xmlns:p14="http://schemas.microsoft.com/office/powerpoint/2010/main" val="1098615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ADD76-0D53-4379-C5C6-5F0B7BD4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25195"/>
            <a:ext cx="3986155" cy="28065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Sampling sites</a:t>
            </a:r>
            <a:b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EB0FCB-B33F-97CF-8B89-AFAE9F9892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782" r="1" b="27570"/>
          <a:stretch>
            <a:fillRect/>
          </a:stretch>
        </p:blipFill>
        <p:spPr>
          <a:xfrm>
            <a:off x="5186554" y="163646"/>
            <a:ext cx="6806703" cy="2623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8AE58F-D921-8A61-5D03-9ADBF38FD9B2}"/>
              </a:ext>
            </a:extLst>
          </p:cNvPr>
          <p:cNvSpPr txBox="1"/>
          <p:nvPr/>
        </p:nvSpPr>
        <p:spPr>
          <a:xfrm>
            <a:off x="835155" y="3526300"/>
            <a:ext cx="4807656" cy="2588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Three sampling sites (1, 2 and 3) were selected in order to obtain a representative subset of the prokaryotic community of the soils from the Odiel Saltmarshes Natural Area</a:t>
            </a:r>
            <a:endParaRPr lang="en-US" sz="2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D10EFEC-64C4-DD20-CA04-0F8D18E0C0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6" r="29027" b="67102"/>
          <a:stretch>
            <a:fillRect/>
          </a:stretch>
        </p:blipFill>
        <p:spPr bwMode="auto">
          <a:xfrm>
            <a:off x="5769356" y="3331701"/>
            <a:ext cx="6422644" cy="262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419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0C87C7A-1980-5123-2B23-535D7C135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638" y="0"/>
            <a:ext cx="6359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C1DF5E2-05F4-00F6-06F8-E5F2B8995C85}"/>
              </a:ext>
            </a:extLst>
          </p:cNvPr>
          <p:cNvSpPr txBox="1">
            <a:spLocks/>
          </p:cNvSpPr>
          <p:nvPr/>
        </p:nvSpPr>
        <p:spPr>
          <a:xfrm>
            <a:off x="730576" y="1438836"/>
            <a:ext cx="4243062" cy="11704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dirty="0"/>
              <a:t>Sample table with some metadata:</a:t>
            </a:r>
          </a:p>
          <a:p>
            <a:endParaRPr lang="en-US" sz="3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779E2-6508-C3F2-E936-399CAD8B65F8}"/>
              </a:ext>
            </a:extLst>
          </p:cNvPr>
          <p:cNvSpPr txBox="1"/>
          <p:nvPr/>
        </p:nvSpPr>
        <p:spPr>
          <a:xfrm>
            <a:off x="1105763" y="2944906"/>
            <a:ext cx="26625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Sampling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Coordinates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Sample names</a:t>
            </a:r>
          </a:p>
        </p:txBody>
      </p:sp>
    </p:spTree>
    <p:extLst>
      <p:ext uri="{BB962C8B-B14F-4D97-AF65-F5344CB8AC3E}">
        <p14:creationId xmlns:p14="http://schemas.microsoft.com/office/powerpoint/2010/main" val="1208515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57" name="Freeform: Shape 2056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59" name="Freeform: Shape 2058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C8DCC-DF1F-8A92-4B33-ADDE6B52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884" y="374015"/>
            <a:ext cx="4848748" cy="11704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dirty="0"/>
              <a:t>Processing metagenomics data – a </a:t>
            </a:r>
            <a:r>
              <a:rPr lang="en-US" sz="3400" dirty="0" err="1"/>
              <a:t>fastq</a:t>
            </a:r>
            <a:r>
              <a:rPr lang="en-US" sz="3400" dirty="0"/>
              <a:t> file</a:t>
            </a: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239E10-F5C4-4568-2E01-90C76700E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823" y="244055"/>
            <a:ext cx="2666119" cy="210623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50A9F06-6519-16C1-D3DE-538A66F3E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25151" y="4174410"/>
            <a:ext cx="6161698" cy="2064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475108-D4AE-5CAE-B96A-45DF559F8021}"/>
              </a:ext>
            </a:extLst>
          </p:cNvPr>
          <p:cNvSpPr txBox="1"/>
          <p:nvPr/>
        </p:nvSpPr>
        <p:spPr>
          <a:xfrm>
            <a:off x="6330221" y="2494323"/>
            <a:ext cx="55224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/>
              <a:t>Four lines for each read:</a:t>
            </a:r>
          </a:p>
          <a:p>
            <a:pPr marL="342900" indent="-342900">
              <a:buFont typeface="+mj-lt"/>
              <a:buAutoNum type="arabicPeriod"/>
            </a:pPr>
            <a:r>
              <a:rPr lang="en-DK" dirty="0"/>
              <a:t> identifier (starting with @)</a:t>
            </a:r>
          </a:p>
          <a:p>
            <a:pPr marL="342900" indent="-342900">
              <a:buFont typeface="+mj-lt"/>
              <a:buAutoNum type="arabicPeriod"/>
            </a:pPr>
            <a:r>
              <a:rPr lang="en-DK" dirty="0"/>
              <a:t>Read sequence</a:t>
            </a:r>
          </a:p>
          <a:p>
            <a:pPr marL="342900" indent="-342900">
              <a:buFont typeface="+mj-lt"/>
              <a:buAutoNum type="arabicPeriod"/>
            </a:pPr>
            <a:r>
              <a:rPr lang="en-DK" dirty="0"/>
              <a:t>a line starting with + (som</a:t>
            </a:r>
            <a:r>
              <a:rPr lang="en-GB" dirty="0"/>
              <a:t>e</a:t>
            </a:r>
            <a:r>
              <a:rPr lang="en-DK" dirty="0"/>
              <a:t>times id gets repeated)</a:t>
            </a:r>
          </a:p>
          <a:p>
            <a:pPr marL="342900" indent="-342900">
              <a:buFont typeface="+mj-lt"/>
              <a:buAutoNum type="arabicPeriod"/>
            </a:pPr>
            <a:r>
              <a:rPr lang="en-DK" dirty="0"/>
              <a:t>quality scores per nucleotide (Phred score)</a:t>
            </a:r>
          </a:p>
        </p:txBody>
      </p:sp>
      <p:graphicFrame>
        <p:nvGraphicFramePr>
          <p:cNvPr id="2065" name="TextBox 9">
            <a:extLst>
              <a:ext uri="{FF2B5EF4-FFF2-40B4-BE49-F238E27FC236}">
                <a16:creationId xmlns:a16="http://schemas.microsoft.com/office/drawing/2014/main" id="{014D0287-D459-7769-515C-849E5549B3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9582712"/>
              </p:ext>
            </p:extLst>
          </p:nvPr>
        </p:nvGraphicFramePr>
        <p:xfrm>
          <a:off x="366259" y="1811047"/>
          <a:ext cx="5352852" cy="4672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95239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A16C-5D3D-DBB2-CDFF-E6B83CBA2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Repeating steps too many times? – find yourself a pipeline!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05E49E-A4E2-0A19-B8CD-19327E20B0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837" r="-139"/>
          <a:stretch/>
        </p:blipFill>
        <p:spPr>
          <a:xfrm>
            <a:off x="8891545" y="2061216"/>
            <a:ext cx="2927130" cy="1571150"/>
          </a:xfrm>
          <a:prstGeom prst="rect">
            <a:avLst/>
          </a:prstGeom>
        </p:spPr>
      </p:pic>
      <p:sp>
        <p:nvSpPr>
          <p:cNvPr id="5" name="Down Arrow 4">
            <a:extLst>
              <a:ext uri="{FF2B5EF4-FFF2-40B4-BE49-F238E27FC236}">
                <a16:creationId xmlns:a16="http://schemas.microsoft.com/office/drawing/2014/main" id="{ED67E2F8-B073-50C5-9707-11810E8D453C}"/>
              </a:ext>
            </a:extLst>
          </p:cNvPr>
          <p:cNvSpPr/>
          <p:nvPr/>
        </p:nvSpPr>
        <p:spPr>
          <a:xfrm rot="16200000">
            <a:off x="6313896" y="2528743"/>
            <a:ext cx="424070" cy="6361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79A646-1605-1721-968E-1CC8705AB449}"/>
              </a:ext>
            </a:extLst>
          </p:cNvPr>
          <p:cNvSpPr txBox="1"/>
          <p:nvPr/>
        </p:nvSpPr>
        <p:spPr>
          <a:xfrm>
            <a:off x="1204068" y="4578998"/>
            <a:ext cx="39251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Different steps to run manually in an order (QC, host removal, mapping to a database, etc…)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Workflow that contains all the processes needed and have them chained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996355-A2BC-D4E2-262F-4C6D81DEEAE7}"/>
              </a:ext>
            </a:extLst>
          </p:cNvPr>
          <p:cNvSpPr txBox="1"/>
          <p:nvPr/>
        </p:nvSpPr>
        <p:spPr>
          <a:xfrm>
            <a:off x="9035767" y="4106931"/>
            <a:ext cx="29271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0" i="0" dirty="0" err="1">
                <a:effectLst/>
                <a:latin typeface="Inter"/>
              </a:rPr>
              <a:t>Nextflow</a:t>
            </a:r>
            <a:r>
              <a:rPr lang="en-GB" sz="2000" b="0" i="0" dirty="0">
                <a:effectLst/>
                <a:latin typeface="Inter"/>
              </a:rPr>
              <a:t> is a </a:t>
            </a:r>
            <a:r>
              <a:rPr lang="en-GB" sz="2000" dirty="0">
                <a:latin typeface="Inter"/>
              </a:rPr>
              <a:t>language to build workflows and a software to orchestrate workflows execution.</a:t>
            </a:r>
            <a:endParaRPr lang="en-GB" sz="2000" b="0" i="0" dirty="0">
              <a:effectLst/>
              <a:latin typeface="Inter"/>
            </a:endParaRPr>
          </a:p>
        </p:txBody>
      </p:sp>
      <p:pic>
        <p:nvPicPr>
          <p:cNvPr id="8" name="Picture 2" descr="GitHub - nextflow-io/nextflow: A DSL for data-driven computational pipelines">
            <a:extLst>
              <a:ext uri="{FF2B5EF4-FFF2-40B4-BE49-F238E27FC236}">
                <a16:creationId xmlns:a16="http://schemas.microsoft.com/office/drawing/2014/main" id="{9DF5E776-6077-5C4D-D9E6-9FAECCDE0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855" y="4211001"/>
            <a:ext cx="2230599" cy="111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0ABA058-B4CC-6FB6-0CDF-54E5C50E3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8735" y="1918031"/>
            <a:ext cx="5544859" cy="1857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own Arrow 9">
            <a:extLst>
              <a:ext uri="{FF2B5EF4-FFF2-40B4-BE49-F238E27FC236}">
                <a16:creationId xmlns:a16="http://schemas.microsoft.com/office/drawing/2014/main" id="{A6E6B478-17DF-12FF-8E1A-7DF9C29724FF}"/>
              </a:ext>
            </a:extLst>
          </p:cNvPr>
          <p:cNvSpPr/>
          <p:nvPr/>
        </p:nvSpPr>
        <p:spPr>
          <a:xfrm rot="16200000">
            <a:off x="6950000" y="2528742"/>
            <a:ext cx="424070" cy="6361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042B1C9F-28FB-4C87-D789-D9969E8CF49B}"/>
              </a:ext>
            </a:extLst>
          </p:cNvPr>
          <p:cNvSpPr/>
          <p:nvPr/>
        </p:nvSpPr>
        <p:spPr>
          <a:xfrm rot="16200000">
            <a:off x="7551069" y="2528740"/>
            <a:ext cx="424070" cy="6361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362D09C8-DECC-CE47-E947-589C5A7E5FE9}"/>
              </a:ext>
            </a:extLst>
          </p:cNvPr>
          <p:cNvSpPr/>
          <p:nvPr/>
        </p:nvSpPr>
        <p:spPr>
          <a:xfrm rot="16200000">
            <a:off x="8152138" y="2528740"/>
            <a:ext cx="424070" cy="6361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819FD-BB10-A7D5-ED12-EF29ACE4A46B}"/>
              </a:ext>
            </a:extLst>
          </p:cNvPr>
          <p:cNvSpPr txBox="1"/>
          <p:nvPr/>
        </p:nvSpPr>
        <p:spPr>
          <a:xfrm>
            <a:off x="6393733" y="1839555"/>
            <a:ext cx="2052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K" dirty="0"/>
              <a:t>Series of steps in an specific order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A3151248-34F6-D4A4-CD78-3B67DCF1CEAD}"/>
              </a:ext>
            </a:extLst>
          </p:cNvPr>
          <p:cNvSpPr/>
          <p:nvPr/>
        </p:nvSpPr>
        <p:spPr>
          <a:xfrm rot="16200000">
            <a:off x="5776742" y="5008250"/>
            <a:ext cx="424070" cy="6361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F65631-14FF-FC62-55FD-D7CC2E0A31FB}"/>
              </a:ext>
            </a:extLst>
          </p:cNvPr>
          <p:cNvSpPr txBox="1"/>
          <p:nvPr/>
        </p:nvSpPr>
        <p:spPr>
          <a:xfrm>
            <a:off x="6719292" y="5538337"/>
            <a:ext cx="49746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Strong community behind with various bioinformaticians joining forces to build each of the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Support for other technologies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8174C-1182-4496-8E73-7A67D13BBFD9}"/>
              </a:ext>
            </a:extLst>
          </p:cNvPr>
          <p:cNvSpPr txBox="1"/>
          <p:nvPr/>
        </p:nvSpPr>
        <p:spPr>
          <a:xfrm>
            <a:off x="9171779" y="1420230"/>
            <a:ext cx="2658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/>
              <a:t>Abundance table for downstream analysis</a:t>
            </a:r>
          </a:p>
        </p:txBody>
      </p:sp>
    </p:spTree>
    <p:extLst>
      <p:ext uri="{BB962C8B-B14F-4D97-AF65-F5344CB8AC3E}">
        <p14:creationId xmlns:p14="http://schemas.microsoft.com/office/powerpoint/2010/main" val="1041897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5">
            <a:extLst>
              <a:ext uri="{FF2B5EF4-FFF2-40B4-BE49-F238E27FC236}">
                <a16:creationId xmlns:a16="http://schemas.microsoft.com/office/drawing/2014/main" id="{D47F22ED-3A55-4EDE-A5A8-163D82B09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5184EE59-3061-456B-9FB5-98A8E0E74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39326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F7E07B5E-9FB5-4C91-8BE4-6167EB58D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39326" y="1410083"/>
            <a:ext cx="6858000" cy="403783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7524947-EB09-4DD9-973B-9F75BBCD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26611" y="3576013"/>
            <a:ext cx="2526132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D30C8E25-2DD1-45C6-9F04-0F0CBF66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3" y="1396067"/>
            <a:ext cx="6858000" cy="40378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BC57EA3C-C239-4132-A618-5CBE9F896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8268" y="982780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BE82E-96BE-9CBF-D23F-B00031FC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82" y="456345"/>
            <a:ext cx="3111690" cy="35560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0" i="0">
                <a:solidFill>
                  <a:srgbClr val="FFFFFF"/>
                </a:solidFill>
                <a:effectLst/>
              </a:rPr>
              <a:t>Nextflow’s core features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55577D-7CB0-62BC-7E9E-DD741C1C7965}"/>
              </a:ext>
            </a:extLst>
          </p:cNvPr>
          <p:cNvSpPr txBox="1"/>
          <p:nvPr/>
        </p:nvSpPr>
        <p:spPr>
          <a:xfrm>
            <a:off x="4244454" y="670877"/>
            <a:ext cx="4907663" cy="5848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>
                <a:effectLst/>
              </a:rPr>
              <a:t>Reproducible </a:t>
            </a:r>
            <a:r>
              <a:rPr lang="en-US" i="0">
                <a:effectLst/>
              </a:rPr>
              <a:t>between runs</a:t>
            </a:r>
            <a:endParaRPr lang="en-US"/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integration with code management tools </a:t>
            </a:r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all packages downloaded, organized in containers, and control over computing environment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Portable</a:t>
            </a:r>
            <a:r>
              <a:rPr lang="en-US"/>
              <a:t> between systems</a:t>
            </a:r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you can write the code in your laptop and can run everywhere (HPC, cloud)</a:t>
            </a:r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works with most of computing environments</a:t>
            </a:r>
            <a:endParaRPr lang="en-US" b="0" i="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>
                <a:effectLst/>
              </a:rPr>
              <a:t>Scalable</a:t>
            </a:r>
            <a:endParaRPr lang="en-US"/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it can run for 10 samples on your laptop or thousands in the cloud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>
                <a:effectLst/>
              </a:rPr>
              <a:t>Integration</a:t>
            </a:r>
            <a:r>
              <a:rPr lang="en-US" b="0" i="0">
                <a:effectLst/>
              </a:rPr>
              <a:t> of existing tools, systems, and industry standards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Graphic 4" descr="Recycle with solid fill">
            <a:extLst>
              <a:ext uri="{FF2B5EF4-FFF2-40B4-BE49-F238E27FC236}">
                <a16:creationId xmlns:a16="http://schemas.microsoft.com/office/drawing/2014/main" id="{59EA208E-C2B6-936B-0673-B882C36EF5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6113" y="896238"/>
            <a:ext cx="1486670" cy="1486670"/>
          </a:xfrm>
          <a:prstGeom prst="rect">
            <a:avLst/>
          </a:prstGeom>
        </p:spPr>
      </p:pic>
      <p:pic>
        <p:nvPicPr>
          <p:cNvPr id="7" name="Graphic 6" descr="Box with solid fill">
            <a:extLst>
              <a:ext uri="{FF2B5EF4-FFF2-40B4-BE49-F238E27FC236}">
                <a16:creationId xmlns:a16="http://schemas.microsoft.com/office/drawing/2014/main" id="{5F19D61B-C73F-2EA6-59A3-BB1BBCCEC8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5509" y="2685061"/>
            <a:ext cx="1487878" cy="1487878"/>
          </a:xfrm>
          <a:prstGeom prst="rect">
            <a:avLst/>
          </a:prstGeom>
        </p:spPr>
      </p:pic>
      <p:pic>
        <p:nvPicPr>
          <p:cNvPr id="1026" name="Picture 2" descr="Scalable Icon Billeder – Gennemse 65,304 stockfotos ...">
            <a:extLst>
              <a:ext uri="{FF2B5EF4-FFF2-40B4-BE49-F238E27FC236}">
                <a16:creationId xmlns:a16="http://schemas.microsoft.com/office/drawing/2014/main" id="{E7F8B9F6-426A-8F69-76A0-25A3BC8B9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04080" y="4514362"/>
            <a:ext cx="1470736" cy="1470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848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5E68A8-6496-8332-1E29-6AFA91182DD9}"/>
              </a:ext>
            </a:extLst>
          </p:cNvPr>
          <p:cNvSpPr txBox="1"/>
          <p:nvPr/>
        </p:nvSpPr>
        <p:spPr>
          <a:xfrm>
            <a:off x="838200" y="1722653"/>
            <a:ext cx="1103860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0" i="0" dirty="0">
                <a:effectLst/>
                <a:latin typeface="Inter Variable"/>
              </a:rPr>
              <a:t>A global community effort to collect a curated set of open‑source analysis pipelines built using </a:t>
            </a:r>
            <a:r>
              <a:rPr lang="en-GB" sz="2000" b="0" i="0" dirty="0" err="1">
                <a:effectLst/>
                <a:latin typeface="Inter Variable"/>
              </a:rPr>
              <a:t>Nextflow</a:t>
            </a:r>
            <a:r>
              <a:rPr lang="en-GB" sz="2000" b="0" i="0" dirty="0">
                <a:effectLst/>
                <a:latin typeface="Inter Variable"/>
              </a:rPr>
              <a:t>.</a:t>
            </a:r>
            <a:br>
              <a:rPr lang="en-GB" sz="2000" b="0" i="0" dirty="0">
                <a:effectLst/>
                <a:latin typeface="Inter Variable"/>
              </a:rPr>
            </a:br>
            <a:r>
              <a:rPr lang="en-GB" sz="2000" b="0" i="0" dirty="0">
                <a:effectLst/>
                <a:latin typeface="Inter Variable"/>
                <a:hlinkClick r:id="rId3"/>
              </a:rPr>
              <a:t>https://nf-co.re/</a:t>
            </a:r>
            <a:endParaRPr lang="en-GB" sz="2000" b="0" i="0" dirty="0">
              <a:effectLst/>
              <a:latin typeface="Inter Variable"/>
            </a:endParaRPr>
          </a:p>
          <a:p>
            <a:endParaRPr lang="en-GB" sz="2000" b="0" i="0" dirty="0">
              <a:effectLst/>
              <a:latin typeface="Inter Variable"/>
            </a:endParaRPr>
          </a:p>
          <a:p>
            <a:r>
              <a:rPr lang="en-GB" sz="1400" b="0" i="0" dirty="0">
                <a:effectLst/>
                <a:latin typeface="Inter Variable"/>
                <a:hlinkClick r:id="rId4"/>
              </a:rPr>
              <a:t>https://www.nature.com/articles/s41587-020-0439-x</a:t>
            </a:r>
            <a:endParaRPr lang="en-GB" sz="1400" b="0" i="0" dirty="0">
              <a:effectLst/>
              <a:latin typeface="Inter Variable"/>
            </a:endParaRPr>
          </a:p>
          <a:p>
            <a:endParaRPr lang="en-DK" sz="2000" b="0" i="0" dirty="0">
              <a:effectLst/>
              <a:latin typeface="Inter Variable"/>
            </a:endParaRPr>
          </a:p>
          <a:p>
            <a:endParaRPr lang="en-GB" sz="2000" b="0" i="0" dirty="0">
              <a:effectLst/>
              <a:latin typeface="Inter Variable"/>
            </a:endParaRPr>
          </a:p>
        </p:txBody>
      </p:sp>
      <p:pic>
        <p:nvPicPr>
          <p:cNvPr id="1026" name="Picture 2" descr="What is nf-core? - training.nextflow.io">
            <a:extLst>
              <a:ext uri="{FF2B5EF4-FFF2-40B4-BE49-F238E27FC236}">
                <a16:creationId xmlns:a16="http://schemas.microsoft.com/office/drawing/2014/main" id="{8FD22934-8E0D-0C9C-1CF1-C13B0FD9E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2888"/>
            <a:ext cx="55880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832764-D67F-39F7-75BB-257A2E3A37C1}"/>
              </a:ext>
            </a:extLst>
          </p:cNvPr>
          <p:cNvSpPr txBox="1"/>
          <p:nvPr/>
        </p:nvSpPr>
        <p:spPr>
          <a:xfrm>
            <a:off x="1179008" y="4647569"/>
            <a:ext cx="30065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2000" dirty="0"/>
              <a:t>149 </a:t>
            </a:r>
            <a:r>
              <a:rPr lang="en-DK" sz="2000" b="1" dirty="0"/>
              <a:t>pipelines</a:t>
            </a:r>
            <a:r>
              <a:rPr lang="en-DK" sz="2000" dirty="0"/>
              <a:t> available (2nd May 2026)</a:t>
            </a:r>
          </a:p>
          <a:p>
            <a:r>
              <a:rPr lang="en-DK" sz="2000" dirty="0"/>
              <a:t>for 149 different bioinformatic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219D86-03C1-EA4F-8BB9-994CDFC803C8}"/>
              </a:ext>
            </a:extLst>
          </p:cNvPr>
          <p:cNvSpPr txBox="1"/>
          <p:nvPr/>
        </p:nvSpPr>
        <p:spPr>
          <a:xfrm>
            <a:off x="5375707" y="4625371"/>
            <a:ext cx="230830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Modules</a:t>
            </a:r>
            <a:r>
              <a:rPr lang="en-GB" sz="2000" dirty="0"/>
              <a:t>: 1,811 reusable components that can be integrated into pipelines</a:t>
            </a:r>
            <a:endParaRPr lang="en-DK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79BD33-4438-2A43-5F84-21BE385F07E8}"/>
              </a:ext>
            </a:extLst>
          </p:cNvPr>
          <p:cNvSpPr txBox="1"/>
          <p:nvPr/>
        </p:nvSpPr>
        <p:spPr>
          <a:xfrm>
            <a:off x="8276300" y="4625371"/>
            <a:ext cx="28736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err="1"/>
              <a:t>Subworkflows</a:t>
            </a:r>
            <a:r>
              <a:rPr lang="en-GB" sz="2000" dirty="0"/>
              <a:t>: 117 pre-assembled combinations of modules aimed at streamlining commonly used workflows</a:t>
            </a:r>
            <a:endParaRPr lang="en-DK" sz="2000" dirty="0"/>
          </a:p>
        </p:txBody>
      </p:sp>
      <p:pic>
        <p:nvPicPr>
          <p:cNvPr id="14" name="Graphic 13" descr="Puzzle pieces outline">
            <a:extLst>
              <a:ext uri="{FF2B5EF4-FFF2-40B4-BE49-F238E27FC236}">
                <a16:creationId xmlns:a16="http://schemas.microsoft.com/office/drawing/2014/main" id="{FEED8ED9-E5D2-33A3-DB30-1478EA71E5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6643" y="2650302"/>
            <a:ext cx="1682088" cy="1682088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FA14F8C-56E7-5EE3-4B5A-6CA4A2F4E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3310" y="3046467"/>
            <a:ext cx="3097937" cy="130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499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Rectangle 104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F7122C-FAA7-DEF4-650A-31894F10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nf-core/taxprofiler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248540-05BA-BF9A-4B95-2B03C287C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8606" y="1489353"/>
            <a:ext cx="11914787" cy="5004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DDE58-A896-E50D-CC91-A05611DB328C}"/>
              </a:ext>
            </a:extLst>
          </p:cNvPr>
          <p:cNvSpPr txBox="1"/>
          <p:nvPr/>
        </p:nvSpPr>
        <p:spPr>
          <a:xfrm>
            <a:off x="278296" y="1603514"/>
            <a:ext cx="413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/>
              <a:t>Reference-based taxonomical profiling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4214BCE-E361-2777-BA5D-DFE0EDB32A5C}"/>
              </a:ext>
            </a:extLst>
          </p:cNvPr>
          <p:cNvSpPr/>
          <p:nvPr/>
        </p:nvSpPr>
        <p:spPr>
          <a:xfrm>
            <a:off x="781587" y="3429000"/>
            <a:ext cx="471054" cy="6303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D42254-4C1F-1AE5-EAA1-E18484ABD284}"/>
              </a:ext>
            </a:extLst>
          </p:cNvPr>
          <p:cNvSpPr/>
          <p:nvPr/>
        </p:nvSpPr>
        <p:spPr>
          <a:xfrm>
            <a:off x="2027062" y="2798618"/>
            <a:ext cx="842261" cy="6303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1ECB5F-6EC2-8703-6411-D66699FC08F9}"/>
              </a:ext>
            </a:extLst>
          </p:cNvPr>
          <p:cNvSpPr/>
          <p:nvPr/>
        </p:nvSpPr>
        <p:spPr>
          <a:xfrm>
            <a:off x="4071324" y="2798618"/>
            <a:ext cx="842261" cy="6303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27A497-16B2-0BCC-2945-34F7AB402307}"/>
              </a:ext>
            </a:extLst>
          </p:cNvPr>
          <p:cNvSpPr/>
          <p:nvPr/>
        </p:nvSpPr>
        <p:spPr>
          <a:xfrm>
            <a:off x="8774704" y="2911366"/>
            <a:ext cx="842261" cy="420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E93A280-BA36-91EC-1FCC-5FF08F36BAC9}"/>
              </a:ext>
            </a:extLst>
          </p:cNvPr>
          <p:cNvSpPr/>
          <p:nvPr/>
        </p:nvSpPr>
        <p:spPr>
          <a:xfrm>
            <a:off x="10114773" y="5891049"/>
            <a:ext cx="842261" cy="420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849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A8EB5-0351-2073-C218-6950C270E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Command line to run the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C94DE8-89FB-AF6F-1957-0F4D3C54999E}"/>
              </a:ext>
            </a:extLst>
          </p:cNvPr>
          <p:cNvSpPr txBox="1"/>
          <p:nvPr/>
        </p:nvSpPr>
        <p:spPr>
          <a:xfrm>
            <a:off x="723901" y="1252538"/>
            <a:ext cx="8651328" cy="419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Ø"/>
            </a:pP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nextflow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run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nf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-core/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taxprofiler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-profile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test,docker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--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outdir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processed_data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812B2D-1669-9242-A1E3-A7B50F9AD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97876" y="3139183"/>
            <a:ext cx="7641020" cy="320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C92CC-3430-A1D9-B152-22B8D4085390}"/>
              </a:ext>
            </a:extLst>
          </p:cNvPr>
          <p:cNvSpPr txBox="1"/>
          <p:nvPr/>
        </p:nvSpPr>
        <p:spPr>
          <a:xfrm>
            <a:off x="1397876" y="1671851"/>
            <a:ext cx="77356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/>
              <a:t>nf-core/taxprofiler </a:t>
            </a:r>
            <a:r>
              <a:rPr lang="en-DK" dirty="0">
                <a:sym typeface="Wingdings" pitchFamily="2" charset="2"/>
              </a:rPr>
              <a:t> nf-core pipeline downloaded from here: </a:t>
            </a:r>
            <a:r>
              <a:rPr lang="en-GB" dirty="0">
                <a:sym typeface="Wingdings" pitchFamily="2" charset="2"/>
                <a:hlinkClick r:id="rId3"/>
              </a:rPr>
              <a:t>https://github.com/nf-core/taxprofiler/tree/2.0.0</a:t>
            </a:r>
            <a:endParaRPr lang="en-GB" dirty="0">
              <a:sym typeface="Wingdings" pitchFamily="2" charset="2"/>
            </a:endParaRPr>
          </a:p>
          <a:p>
            <a:r>
              <a:rPr lang="en-GB" dirty="0">
                <a:sym typeface="Wingdings" pitchFamily="2" charset="2"/>
              </a:rPr>
              <a:t> “test”  running for demonstration few reduced samples, each pipeline has a test dataset</a:t>
            </a:r>
          </a:p>
          <a:p>
            <a:r>
              <a:rPr lang="en-GB" dirty="0">
                <a:sym typeface="Wingdings" pitchFamily="2" charset="2"/>
              </a:rPr>
              <a:t>“docker”  using Docker containers for reproducibility</a:t>
            </a:r>
          </a:p>
          <a:p>
            <a:r>
              <a:rPr lang="en-GB" dirty="0">
                <a:sym typeface="Wingdings" pitchFamily="2" charset="2"/>
              </a:rPr>
              <a:t>--</a:t>
            </a:r>
            <a:r>
              <a:rPr lang="en-GB" dirty="0" err="1">
                <a:sym typeface="Wingdings" pitchFamily="2" charset="2"/>
              </a:rPr>
              <a:t>outdir</a:t>
            </a:r>
            <a:r>
              <a:rPr lang="en-GB" dirty="0">
                <a:sym typeface="Wingdings" pitchFamily="2" charset="2"/>
              </a:rPr>
              <a:t>  our results folder</a:t>
            </a:r>
          </a:p>
          <a:p>
            <a:endParaRPr lang="en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4A947C-1021-7C3F-CE49-B43CA7947CA5}"/>
              </a:ext>
            </a:extLst>
          </p:cNvPr>
          <p:cNvSpPr txBox="1"/>
          <p:nvPr/>
        </p:nvSpPr>
        <p:spPr>
          <a:xfrm>
            <a:off x="3142593" y="6418540"/>
            <a:ext cx="9648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/>
              <a:t>Wanna know more about Nextflow: </a:t>
            </a:r>
            <a:r>
              <a:rPr lang="en-GB" dirty="0">
                <a:hlinkClick r:id="rId4"/>
              </a:rPr>
              <a:t>https://</a:t>
            </a:r>
            <a:r>
              <a:rPr lang="en-GB" dirty="0" err="1">
                <a:hlinkClick r:id="rId4"/>
              </a:rPr>
              <a:t>biosustain.github.io</a:t>
            </a:r>
            <a:r>
              <a:rPr lang="en-GB" dirty="0">
                <a:hlinkClick r:id="rId4"/>
              </a:rPr>
              <a:t>/</a:t>
            </a:r>
            <a:r>
              <a:rPr lang="en-GB" dirty="0" err="1">
                <a:hlinkClick r:id="rId4"/>
              </a:rPr>
              <a:t>dsp_nextflow_training</a:t>
            </a:r>
            <a:r>
              <a:rPr lang="en-GB" dirty="0">
                <a:hlinkClick r:id="rId4"/>
              </a:rPr>
              <a:t>/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742021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27463</TotalTime>
  <Words>749</Words>
  <Application>Microsoft Macintosh PowerPoint</Application>
  <PresentationFormat>Widescreen</PresentationFormat>
  <Paragraphs>88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Inter</vt:lpstr>
      <vt:lpstr>Inter Variable</vt:lpstr>
      <vt:lpstr>Wingdings</vt:lpstr>
      <vt:lpstr>Office Theme</vt:lpstr>
      <vt:lpstr>Processing of shotgun metagenomics samples</vt:lpstr>
      <vt:lpstr>PowerPoint Presentation</vt:lpstr>
      <vt:lpstr>Sampling sites </vt:lpstr>
      <vt:lpstr>PowerPoint Presentation</vt:lpstr>
      <vt:lpstr>Processing metagenomics data – a fastq file</vt:lpstr>
      <vt:lpstr>Repeating steps too many times? – find yourself a pipeline!</vt:lpstr>
      <vt:lpstr>Nextflow’s core features</vt:lpstr>
      <vt:lpstr>PowerPoint Presentation</vt:lpstr>
      <vt:lpstr>nf-core/taxprofiler</vt:lpstr>
      <vt:lpstr>Command line to run the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Pallejà Caro</dc:creator>
  <cp:lastModifiedBy>Alberto Pallejà Caro</cp:lastModifiedBy>
  <cp:revision>14</cp:revision>
  <cp:lastPrinted>2025-06-10T22:04:02Z</cp:lastPrinted>
  <dcterms:created xsi:type="dcterms:W3CDTF">2025-05-22T17:23:32Z</dcterms:created>
  <dcterms:modified xsi:type="dcterms:W3CDTF">2026-05-03T17:23:23Z</dcterms:modified>
</cp:coreProperties>
</file>