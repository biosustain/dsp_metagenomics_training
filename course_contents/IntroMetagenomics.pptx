
<file path=[Content_Types].xml><?xml version="1.0" encoding="utf-8"?>
<Types xmlns="http://schemas.openxmlformats.org/package/2006/content-types">
  <Default Extension="emf" ContentType="image/x-em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50"/>
  </p:notesMasterIdLst>
  <p:sldIdLst>
    <p:sldId id="256" r:id="rId2"/>
    <p:sldId id="304" r:id="rId3"/>
    <p:sldId id="273" r:id="rId4"/>
    <p:sldId id="301" r:id="rId5"/>
    <p:sldId id="302" r:id="rId6"/>
    <p:sldId id="300" r:id="rId7"/>
    <p:sldId id="298" r:id="rId8"/>
    <p:sldId id="274" r:id="rId9"/>
    <p:sldId id="297" r:id="rId10"/>
    <p:sldId id="299" r:id="rId11"/>
    <p:sldId id="276" r:id="rId12"/>
    <p:sldId id="277" r:id="rId13"/>
    <p:sldId id="303" r:id="rId14"/>
    <p:sldId id="307" r:id="rId15"/>
    <p:sldId id="305" r:id="rId16"/>
    <p:sldId id="279" r:id="rId17"/>
    <p:sldId id="306" r:id="rId18"/>
    <p:sldId id="281" r:id="rId19"/>
    <p:sldId id="257" r:id="rId20"/>
    <p:sldId id="259" r:id="rId21"/>
    <p:sldId id="267" r:id="rId22"/>
    <p:sldId id="282" r:id="rId23"/>
    <p:sldId id="269" r:id="rId24"/>
    <p:sldId id="270" r:id="rId25"/>
    <p:sldId id="308" r:id="rId26"/>
    <p:sldId id="289" r:id="rId27"/>
    <p:sldId id="290" r:id="rId28"/>
    <p:sldId id="291" r:id="rId29"/>
    <p:sldId id="264" r:id="rId30"/>
    <p:sldId id="292" r:id="rId31"/>
    <p:sldId id="265" r:id="rId32"/>
    <p:sldId id="293" r:id="rId33"/>
    <p:sldId id="278" r:id="rId34"/>
    <p:sldId id="309" r:id="rId35"/>
    <p:sldId id="288" r:id="rId36"/>
    <p:sldId id="296" r:id="rId37"/>
    <p:sldId id="315" r:id="rId38"/>
    <p:sldId id="312" r:id="rId39"/>
    <p:sldId id="285" r:id="rId40"/>
    <p:sldId id="262" r:id="rId41"/>
    <p:sldId id="294" r:id="rId42"/>
    <p:sldId id="295" r:id="rId43"/>
    <p:sldId id="311" r:id="rId44"/>
    <p:sldId id="284" r:id="rId45"/>
    <p:sldId id="283" r:id="rId46"/>
    <p:sldId id="313" r:id="rId47"/>
    <p:sldId id="261" r:id="rId48"/>
    <p:sldId id="314" r:id="rId49"/>
  </p:sldIdLst>
  <p:sldSz cx="12192000" cy="6858000"/>
  <p:notesSz cx="6858000" cy="9144000"/>
  <p:defaultText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D7AC3CCA-C797-4891-BE02-D94E43425B78}" styleName="Medium Style 4">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w="12700" cmpd="sng">
              <a:solidFill>
                <a:schemeClr val="dk1"/>
              </a:solid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tcStyle>
    </a:lastCol>
    <a:firstCol>
      <a:tcTxStyle b="on"/>
      <a:tcStyle>
        <a:tcBdr/>
      </a:tcStyle>
    </a:firstCol>
    <a:lastRow>
      <a:tcTxStyle b="on"/>
      <a:tcStyle>
        <a:tcBdr>
          <a:top>
            <a:ln w="25400" cmpd="sng">
              <a:solidFill>
                <a:schemeClr val="dk1"/>
              </a:solidFill>
            </a:ln>
          </a:top>
        </a:tcBdr>
        <a:fill>
          <a:solidFill>
            <a:schemeClr val="dk1">
              <a:tint val="20000"/>
            </a:schemeClr>
          </a:solidFill>
        </a:fill>
      </a:tcStyle>
    </a:lastRow>
    <a:firstRow>
      <a:tcTxStyle b="on"/>
      <a:tcStyle>
        <a:tcBdr/>
        <a:fill>
          <a:solidFill>
            <a:schemeClr val="dk1">
              <a:tint val="20000"/>
            </a:schemeClr>
          </a:solidFill>
        </a:fill>
      </a:tcStyle>
    </a:firstRow>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956"/>
    <p:restoredTop sz="76064"/>
  </p:normalViewPr>
  <p:slideViewPr>
    <p:cSldViewPr snapToGrid="0">
      <p:cViewPr varScale="1">
        <p:scale>
          <a:sx n="101" d="100"/>
          <a:sy n="101" d="100"/>
        </p:scale>
        <p:origin x="2544" y="48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notesMaster" Target="notesMasters/notesMaster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8" Type="http://schemas.openxmlformats.org/officeDocument/2006/relationships/slide" Target="slides/slide7.xml"/><Relationship Id="rId51" Type="http://schemas.openxmlformats.org/officeDocument/2006/relationships/presProps" Target="pres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s>
</file>

<file path=ppt/diagrams/colors1.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8CC1A0C2-F72A-4791-8A2F-1FAC90C24D12}" type="doc">
      <dgm:prSet loTypeId="urn:microsoft.com/office/officeart/2016/7/layout/VerticalDownArrowProcess" loCatId="process" qsTypeId="urn:microsoft.com/office/officeart/2005/8/quickstyle/simple5" qsCatId="simple" csTypeId="urn:microsoft.com/office/officeart/2005/8/colors/colorful2" csCatId="colorful" phldr="1"/>
      <dgm:spPr/>
      <dgm:t>
        <a:bodyPr/>
        <a:lstStyle/>
        <a:p>
          <a:endParaRPr lang="en-US"/>
        </a:p>
      </dgm:t>
    </dgm:pt>
    <dgm:pt modelId="{1FAEABA9-9CB0-47C2-AFC0-DD469FB9F5A9}">
      <dgm:prSet/>
      <dgm:spPr/>
      <dgm:t>
        <a:bodyPr/>
        <a:lstStyle/>
        <a:p>
          <a:r>
            <a:rPr lang="en-DK"/>
            <a:t>Who is in the samples?</a:t>
          </a:r>
          <a:endParaRPr lang="en-US"/>
        </a:p>
      </dgm:t>
    </dgm:pt>
    <dgm:pt modelId="{15BE7340-7176-437F-BCB3-2824005D5BC1}" type="parTrans" cxnId="{7DD2F9E7-3896-4510-BC80-B8B300732E4E}">
      <dgm:prSet/>
      <dgm:spPr/>
      <dgm:t>
        <a:bodyPr/>
        <a:lstStyle/>
        <a:p>
          <a:endParaRPr lang="en-US"/>
        </a:p>
      </dgm:t>
    </dgm:pt>
    <dgm:pt modelId="{3975B443-F06F-4209-8EB2-500EFE0FF7BA}" type="sibTrans" cxnId="{7DD2F9E7-3896-4510-BC80-B8B300732E4E}">
      <dgm:prSet/>
      <dgm:spPr/>
      <dgm:t>
        <a:bodyPr/>
        <a:lstStyle/>
        <a:p>
          <a:endParaRPr lang="en-US"/>
        </a:p>
      </dgm:t>
    </dgm:pt>
    <dgm:pt modelId="{983D7529-D97F-456A-A2D9-22B7F2DC7AC5}">
      <dgm:prSet custT="1"/>
      <dgm:spPr/>
      <dgm:t>
        <a:bodyPr/>
        <a:lstStyle/>
        <a:p>
          <a:pPr>
            <a:buFont typeface="Arial" panose="020B0604020202020204" pitchFamily="34" charset="0"/>
            <a:buChar char="•"/>
          </a:pPr>
          <a:r>
            <a:rPr lang="en-DK" sz="1600" dirty="0"/>
            <a:t>What is the relative proportion of the different members</a:t>
          </a:r>
          <a:endParaRPr lang="en-US" sz="1600" dirty="0"/>
        </a:p>
      </dgm:t>
    </dgm:pt>
    <dgm:pt modelId="{ED2BC299-2FFF-4A8A-8EF0-F6F46F5BBCAD}" type="parTrans" cxnId="{8E3C85D7-1019-4BCB-B70F-CC0D4B30AB91}">
      <dgm:prSet/>
      <dgm:spPr/>
      <dgm:t>
        <a:bodyPr/>
        <a:lstStyle/>
        <a:p>
          <a:endParaRPr lang="en-US"/>
        </a:p>
      </dgm:t>
    </dgm:pt>
    <dgm:pt modelId="{CFA72191-0730-4FC8-AB81-1E672D194443}" type="sibTrans" cxnId="{8E3C85D7-1019-4BCB-B70F-CC0D4B30AB91}">
      <dgm:prSet/>
      <dgm:spPr/>
      <dgm:t>
        <a:bodyPr/>
        <a:lstStyle/>
        <a:p>
          <a:endParaRPr lang="en-US"/>
        </a:p>
      </dgm:t>
    </dgm:pt>
    <dgm:pt modelId="{95D1B40B-7D99-4F85-A058-8F0BC05E6222}">
      <dgm:prSet custT="1"/>
      <dgm:spPr/>
      <dgm:t>
        <a:bodyPr/>
        <a:lstStyle/>
        <a:p>
          <a:pPr>
            <a:buFont typeface="Arial" panose="020B0604020202020204" pitchFamily="34" charset="0"/>
            <a:buNone/>
          </a:pPr>
          <a:r>
            <a:rPr lang="en-DK" sz="1600" dirty="0"/>
            <a:t>What is the total abundace (number of cells) (by absolute abundace)</a:t>
          </a:r>
          <a:endParaRPr lang="en-US" sz="1600" dirty="0"/>
        </a:p>
      </dgm:t>
    </dgm:pt>
    <dgm:pt modelId="{43C1D882-F45D-4AFC-B9DC-8B4EDF4B140B}" type="parTrans" cxnId="{AC61D38A-2C6E-4E6C-8142-780CA1A88220}">
      <dgm:prSet/>
      <dgm:spPr/>
      <dgm:t>
        <a:bodyPr/>
        <a:lstStyle/>
        <a:p>
          <a:endParaRPr lang="en-US"/>
        </a:p>
      </dgm:t>
    </dgm:pt>
    <dgm:pt modelId="{5344D2E8-27A7-47EB-8092-EB43F4EBFD25}" type="sibTrans" cxnId="{AC61D38A-2C6E-4E6C-8142-780CA1A88220}">
      <dgm:prSet/>
      <dgm:spPr/>
      <dgm:t>
        <a:bodyPr/>
        <a:lstStyle/>
        <a:p>
          <a:endParaRPr lang="en-US"/>
        </a:p>
      </dgm:t>
    </dgm:pt>
    <dgm:pt modelId="{BA4598E6-6F26-4338-B43A-FB390AB08F05}">
      <dgm:prSet custT="1"/>
      <dgm:spPr/>
      <dgm:t>
        <a:bodyPr/>
        <a:lstStyle/>
        <a:p>
          <a:pPr>
            <a:buFont typeface="Arial" panose="020B0604020202020204" pitchFamily="34" charset="0"/>
            <a:buNone/>
          </a:pPr>
          <a:r>
            <a:rPr lang="en-DK" sz="1600" dirty="0"/>
            <a:t>How abundant are bacteria, archaea, protozoa, virus,…</a:t>
          </a:r>
          <a:endParaRPr lang="en-US" sz="1600" dirty="0"/>
        </a:p>
      </dgm:t>
    </dgm:pt>
    <dgm:pt modelId="{489B905A-1624-4E8B-8F09-8C3962FFFF40}" type="parTrans" cxnId="{DB034B5D-39AB-4AB4-8ED3-5C6B40683B28}">
      <dgm:prSet/>
      <dgm:spPr/>
      <dgm:t>
        <a:bodyPr/>
        <a:lstStyle/>
        <a:p>
          <a:endParaRPr lang="en-US"/>
        </a:p>
      </dgm:t>
    </dgm:pt>
    <dgm:pt modelId="{61D5A9C5-B610-41D4-A270-27808340986A}" type="sibTrans" cxnId="{DB034B5D-39AB-4AB4-8ED3-5C6B40683B28}">
      <dgm:prSet/>
      <dgm:spPr/>
      <dgm:t>
        <a:bodyPr/>
        <a:lstStyle/>
        <a:p>
          <a:endParaRPr lang="en-US"/>
        </a:p>
      </dgm:t>
    </dgm:pt>
    <dgm:pt modelId="{E3A3FE97-F636-40B9-847F-6F155CB6E442}">
      <dgm:prSet custT="1"/>
      <dgm:spPr/>
      <dgm:t>
        <a:bodyPr/>
        <a:lstStyle/>
        <a:p>
          <a:pPr>
            <a:buFont typeface="Arial" panose="020B0604020202020204" pitchFamily="34" charset="0"/>
            <a:buNone/>
          </a:pPr>
          <a:r>
            <a:rPr lang="en-DK" sz="1600"/>
            <a:t>How diverse is the microbial community</a:t>
          </a:r>
          <a:endParaRPr lang="en-US" sz="1600"/>
        </a:p>
      </dgm:t>
    </dgm:pt>
    <dgm:pt modelId="{E931D86A-15E2-4799-B917-C7B98952ACDE}" type="parTrans" cxnId="{607DBF3E-808D-4B0D-A4D3-1C03D933CDD6}">
      <dgm:prSet/>
      <dgm:spPr/>
      <dgm:t>
        <a:bodyPr/>
        <a:lstStyle/>
        <a:p>
          <a:endParaRPr lang="en-US"/>
        </a:p>
      </dgm:t>
    </dgm:pt>
    <dgm:pt modelId="{EC5A6174-834C-40AF-8235-5AC67585320F}" type="sibTrans" cxnId="{607DBF3E-808D-4B0D-A4D3-1C03D933CDD6}">
      <dgm:prSet/>
      <dgm:spPr/>
      <dgm:t>
        <a:bodyPr/>
        <a:lstStyle/>
        <a:p>
          <a:endParaRPr lang="en-US"/>
        </a:p>
      </dgm:t>
    </dgm:pt>
    <dgm:pt modelId="{A1395E35-9B34-4E20-8D40-6EFCEB101DEC}">
      <dgm:prSet custT="1"/>
      <dgm:spPr/>
      <dgm:t>
        <a:bodyPr/>
        <a:lstStyle/>
        <a:p>
          <a:pPr>
            <a:buFont typeface="Arial" panose="020B0604020202020204" pitchFamily="34" charset="0"/>
            <a:buNone/>
          </a:pPr>
          <a:r>
            <a:rPr lang="en-DK" sz="1600" dirty="0"/>
            <a:t>How evenly distributed is it?</a:t>
          </a:r>
          <a:endParaRPr lang="en-US" sz="1600" dirty="0"/>
        </a:p>
      </dgm:t>
    </dgm:pt>
    <dgm:pt modelId="{84D06B47-DC89-4610-8639-8DAA4E5ADD26}" type="parTrans" cxnId="{BFB21192-CC2F-44A4-B1B3-9064D91F606E}">
      <dgm:prSet/>
      <dgm:spPr/>
      <dgm:t>
        <a:bodyPr/>
        <a:lstStyle/>
        <a:p>
          <a:endParaRPr lang="en-US"/>
        </a:p>
      </dgm:t>
    </dgm:pt>
    <dgm:pt modelId="{106EDDC3-9964-4FDC-9612-11100A4C4C34}" type="sibTrans" cxnId="{BFB21192-CC2F-44A4-B1B3-9064D91F606E}">
      <dgm:prSet/>
      <dgm:spPr/>
      <dgm:t>
        <a:bodyPr/>
        <a:lstStyle/>
        <a:p>
          <a:endParaRPr lang="en-US"/>
        </a:p>
      </dgm:t>
    </dgm:pt>
    <dgm:pt modelId="{3795CB3D-EED0-4174-9802-021B51EB6C05}">
      <dgm:prSet/>
      <dgm:spPr/>
      <dgm:t>
        <a:bodyPr/>
        <a:lstStyle/>
        <a:p>
          <a:r>
            <a:rPr lang="en-DK"/>
            <a:t>What are these organisms doing?</a:t>
          </a:r>
          <a:endParaRPr lang="en-US"/>
        </a:p>
      </dgm:t>
    </dgm:pt>
    <dgm:pt modelId="{8757FDD7-DCBB-4AED-8980-85932D501EAF}" type="parTrans" cxnId="{473A3DC0-4593-4B48-A281-30361941A67C}">
      <dgm:prSet/>
      <dgm:spPr/>
      <dgm:t>
        <a:bodyPr/>
        <a:lstStyle/>
        <a:p>
          <a:endParaRPr lang="en-US"/>
        </a:p>
      </dgm:t>
    </dgm:pt>
    <dgm:pt modelId="{073A3C1C-B64E-42DD-8E01-F7106100F34A}" type="sibTrans" cxnId="{473A3DC0-4593-4B48-A281-30361941A67C}">
      <dgm:prSet/>
      <dgm:spPr/>
      <dgm:t>
        <a:bodyPr/>
        <a:lstStyle/>
        <a:p>
          <a:endParaRPr lang="en-US"/>
        </a:p>
      </dgm:t>
    </dgm:pt>
    <dgm:pt modelId="{D262F0D7-89F6-48B8-B717-6C16B898EC42}">
      <dgm:prSet custT="1"/>
      <dgm:spPr/>
      <dgm:t>
        <a:bodyPr/>
        <a:lstStyle/>
        <a:p>
          <a:r>
            <a:rPr lang="en-DK" sz="1600" dirty="0"/>
            <a:t>What functions potentially do they perform </a:t>
          </a:r>
          <a:endParaRPr lang="en-US" sz="1600" dirty="0"/>
        </a:p>
      </dgm:t>
    </dgm:pt>
    <dgm:pt modelId="{9F46D7AE-B7F6-4146-BFEB-CB12D542B781}" type="parTrans" cxnId="{01F67E76-46FE-4586-A701-A09A03738ED7}">
      <dgm:prSet/>
      <dgm:spPr/>
      <dgm:t>
        <a:bodyPr/>
        <a:lstStyle/>
        <a:p>
          <a:endParaRPr lang="en-US"/>
        </a:p>
      </dgm:t>
    </dgm:pt>
    <dgm:pt modelId="{AE86FEAE-3410-4438-8C0E-493B030FBCEA}" type="sibTrans" cxnId="{01F67E76-46FE-4586-A701-A09A03738ED7}">
      <dgm:prSet/>
      <dgm:spPr/>
      <dgm:t>
        <a:bodyPr/>
        <a:lstStyle/>
        <a:p>
          <a:endParaRPr lang="en-US"/>
        </a:p>
      </dgm:t>
    </dgm:pt>
    <dgm:pt modelId="{A217D896-37B0-45EE-9ACB-1B8783AFD582}">
      <dgm:prSet custT="1"/>
      <dgm:spPr/>
      <dgm:t>
        <a:bodyPr/>
        <a:lstStyle/>
        <a:p>
          <a:r>
            <a:rPr lang="en-DK" sz="1600" dirty="0"/>
            <a:t>What substrates they consume?</a:t>
          </a:r>
          <a:endParaRPr lang="en-US" sz="1600" dirty="0"/>
        </a:p>
      </dgm:t>
    </dgm:pt>
    <dgm:pt modelId="{EEC1CF6F-0D73-44C2-AA32-1B2466DB547B}" type="parTrans" cxnId="{4B7C626E-0857-41E0-96CE-B0DDC9485099}">
      <dgm:prSet/>
      <dgm:spPr/>
      <dgm:t>
        <a:bodyPr/>
        <a:lstStyle/>
        <a:p>
          <a:endParaRPr lang="en-US"/>
        </a:p>
      </dgm:t>
    </dgm:pt>
    <dgm:pt modelId="{DCED2500-90D6-4DDD-BB76-DD85A5BC0D85}" type="sibTrans" cxnId="{4B7C626E-0857-41E0-96CE-B0DDC9485099}">
      <dgm:prSet/>
      <dgm:spPr/>
      <dgm:t>
        <a:bodyPr/>
        <a:lstStyle/>
        <a:p>
          <a:endParaRPr lang="en-US"/>
        </a:p>
      </dgm:t>
    </dgm:pt>
    <dgm:pt modelId="{A2ADD0CB-A8F1-481D-B9D2-58DF1CE91B39}">
      <dgm:prSet custT="1"/>
      <dgm:spPr/>
      <dgm:t>
        <a:bodyPr/>
        <a:lstStyle/>
        <a:p>
          <a:r>
            <a:rPr lang="en-DK" sz="1600" dirty="0"/>
            <a:t>What metabolites they produce?</a:t>
          </a:r>
          <a:endParaRPr lang="en-US" sz="1600" dirty="0"/>
        </a:p>
      </dgm:t>
    </dgm:pt>
    <dgm:pt modelId="{917051FD-618E-43AC-A535-7363B7031E23}" type="parTrans" cxnId="{0B41A8EA-2525-48F1-8FDB-44A90AB178B7}">
      <dgm:prSet/>
      <dgm:spPr/>
      <dgm:t>
        <a:bodyPr/>
        <a:lstStyle/>
        <a:p>
          <a:endParaRPr lang="en-US"/>
        </a:p>
      </dgm:t>
    </dgm:pt>
    <dgm:pt modelId="{0BA95E5E-9F6F-4512-AC5E-8E713A6B0A9A}" type="sibTrans" cxnId="{0B41A8EA-2525-48F1-8FDB-44A90AB178B7}">
      <dgm:prSet/>
      <dgm:spPr/>
      <dgm:t>
        <a:bodyPr/>
        <a:lstStyle/>
        <a:p>
          <a:endParaRPr lang="en-US"/>
        </a:p>
      </dgm:t>
    </dgm:pt>
    <dgm:pt modelId="{FC4DAE19-4537-40BB-9D39-9A341C5E2F83}">
      <dgm:prSet/>
      <dgm:spPr/>
      <dgm:t>
        <a:bodyPr/>
        <a:lstStyle/>
        <a:p>
          <a:r>
            <a:rPr lang="en-DK"/>
            <a:t>How do they perform their activities?</a:t>
          </a:r>
          <a:endParaRPr lang="en-US"/>
        </a:p>
      </dgm:t>
    </dgm:pt>
    <dgm:pt modelId="{EF824A53-765A-4FE2-BBAD-6EA72315803D}" type="parTrans" cxnId="{80A79511-80CE-4F7C-9096-F37DEE0DF2F8}">
      <dgm:prSet/>
      <dgm:spPr/>
      <dgm:t>
        <a:bodyPr/>
        <a:lstStyle/>
        <a:p>
          <a:endParaRPr lang="en-US"/>
        </a:p>
      </dgm:t>
    </dgm:pt>
    <dgm:pt modelId="{969F6927-568A-46D5-9728-E843163BAAA4}" type="sibTrans" cxnId="{80A79511-80CE-4F7C-9096-F37DEE0DF2F8}">
      <dgm:prSet/>
      <dgm:spPr/>
      <dgm:t>
        <a:bodyPr/>
        <a:lstStyle/>
        <a:p>
          <a:endParaRPr lang="en-US"/>
        </a:p>
      </dgm:t>
    </dgm:pt>
    <dgm:pt modelId="{EEFD09AB-6C54-476E-8909-698397A00A29}">
      <dgm:prSet custT="1"/>
      <dgm:spPr/>
      <dgm:t>
        <a:bodyPr/>
        <a:lstStyle/>
        <a:p>
          <a:r>
            <a:rPr lang="en-DK" sz="1600" dirty="0"/>
            <a:t>Which genes and/or pathways are present?</a:t>
          </a:r>
          <a:endParaRPr lang="en-US" sz="1600" dirty="0"/>
        </a:p>
      </dgm:t>
    </dgm:pt>
    <dgm:pt modelId="{CD9E3175-4770-4681-BDCF-96BA015B1386}" type="parTrans" cxnId="{931BCDB7-A24E-43CF-8D97-29292CD75A69}">
      <dgm:prSet/>
      <dgm:spPr/>
      <dgm:t>
        <a:bodyPr/>
        <a:lstStyle/>
        <a:p>
          <a:endParaRPr lang="en-US"/>
        </a:p>
      </dgm:t>
    </dgm:pt>
    <dgm:pt modelId="{CB5DE36C-F8EB-4F53-BA54-345C7F8AE731}" type="sibTrans" cxnId="{931BCDB7-A24E-43CF-8D97-29292CD75A69}">
      <dgm:prSet/>
      <dgm:spPr/>
      <dgm:t>
        <a:bodyPr/>
        <a:lstStyle/>
        <a:p>
          <a:endParaRPr lang="en-US"/>
        </a:p>
      </dgm:t>
    </dgm:pt>
    <dgm:pt modelId="{34AA6C30-A1EC-C94B-8426-CE3DBC37A0AB}" type="pres">
      <dgm:prSet presAssocID="{8CC1A0C2-F72A-4791-8A2F-1FAC90C24D12}" presName="Name0" presStyleCnt="0">
        <dgm:presLayoutVars>
          <dgm:dir/>
          <dgm:animLvl val="lvl"/>
          <dgm:resizeHandles val="exact"/>
        </dgm:presLayoutVars>
      </dgm:prSet>
      <dgm:spPr/>
    </dgm:pt>
    <dgm:pt modelId="{967925EF-A0E4-BF4D-9618-4882CAB00907}" type="pres">
      <dgm:prSet presAssocID="{FC4DAE19-4537-40BB-9D39-9A341C5E2F83}" presName="boxAndChildren" presStyleCnt="0"/>
      <dgm:spPr/>
    </dgm:pt>
    <dgm:pt modelId="{1CABDDCF-600E-F64D-9FE8-51C059221E31}" type="pres">
      <dgm:prSet presAssocID="{FC4DAE19-4537-40BB-9D39-9A341C5E2F83}" presName="parentTextBox" presStyleLbl="alignNode1" presStyleIdx="0" presStyleCnt="3"/>
      <dgm:spPr/>
    </dgm:pt>
    <dgm:pt modelId="{4448FB35-B32F-0446-BAC8-F42CFC40B710}" type="pres">
      <dgm:prSet presAssocID="{FC4DAE19-4537-40BB-9D39-9A341C5E2F83}" presName="descendantBox" presStyleLbl="bgAccFollowNode1" presStyleIdx="0" presStyleCnt="3"/>
      <dgm:spPr/>
    </dgm:pt>
    <dgm:pt modelId="{6B4EF679-E713-4348-BFCC-F4D6BDCC87E5}" type="pres">
      <dgm:prSet presAssocID="{073A3C1C-B64E-42DD-8E01-F7106100F34A}" presName="sp" presStyleCnt="0"/>
      <dgm:spPr/>
    </dgm:pt>
    <dgm:pt modelId="{EB2E621F-42AA-BD42-8093-2750535CF277}" type="pres">
      <dgm:prSet presAssocID="{3795CB3D-EED0-4174-9802-021B51EB6C05}" presName="arrowAndChildren" presStyleCnt="0"/>
      <dgm:spPr/>
    </dgm:pt>
    <dgm:pt modelId="{6D2A7753-A147-A54D-B180-5D044F2BFA1C}" type="pres">
      <dgm:prSet presAssocID="{3795CB3D-EED0-4174-9802-021B51EB6C05}" presName="parentTextArrow" presStyleLbl="node1" presStyleIdx="0" presStyleCnt="0"/>
      <dgm:spPr/>
    </dgm:pt>
    <dgm:pt modelId="{98124513-59BF-5340-8A3D-8381895C49FB}" type="pres">
      <dgm:prSet presAssocID="{3795CB3D-EED0-4174-9802-021B51EB6C05}" presName="arrow" presStyleLbl="alignNode1" presStyleIdx="1" presStyleCnt="3"/>
      <dgm:spPr/>
    </dgm:pt>
    <dgm:pt modelId="{57BEB718-1341-3447-9064-890F87069466}" type="pres">
      <dgm:prSet presAssocID="{3795CB3D-EED0-4174-9802-021B51EB6C05}" presName="descendantArrow" presStyleLbl="bgAccFollowNode1" presStyleIdx="1" presStyleCnt="3"/>
      <dgm:spPr/>
    </dgm:pt>
    <dgm:pt modelId="{B76F1D80-B997-6748-8A77-EE6B1BA0EC37}" type="pres">
      <dgm:prSet presAssocID="{3975B443-F06F-4209-8EB2-500EFE0FF7BA}" presName="sp" presStyleCnt="0"/>
      <dgm:spPr/>
    </dgm:pt>
    <dgm:pt modelId="{FDD4CAF4-57A2-CF4D-BFA3-9A6E111E328E}" type="pres">
      <dgm:prSet presAssocID="{1FAEABA9-9CB0-47C2-AFC0-DD469FB9F5A9}" presName="arrowAndChildren" presStyleCnt="0"/>
      <dgm:spPr/>
    </dgm:pt>
    <dgm:pt modelId="{E44A02AB-9A62-D349-8C07-632D0442D40C}" type="pres">
      <dgm:prSet presAssocID="{1FAEABA9-9CB0-47C2-AFC0-DD469FB9F5A9}" presName="parentTextArrow" presStyleLbl="node1" presStyleIdx="0" presStyleCnt="0"/>
      <dgm:spPr/>
    </dgm:pt>
    <dgm:pt modelId="{D398163D-00CC-0E48-98F0-5A74906FC835}" type="pres">
      <dgm:prSet presAssocID="{1FAEABA9-9CB0-47C2-AFC0-DD469FB9F5A9}" presName="arrow" presStyleLbl="alignNode1" presStyleIdx="2" presStyleCnt="3" custScaleY="131798"/>
      <dgm:spPr/>
    </dgm:pt>
    <dgm:pt modelId="{B71D9932-F7D9-BE46-89F6-303D2A0D8F84}" type="pres">
      <dgm:prSet presAssocID="{1FAEABA9-9CB0-47C2-AFC0-DD469FB9F5A9}" presName="descendantArrow" presStyleLbl="bgAccFollowNode1" presStyleIdx="2" presStyleCnt="3" custScaleY="143942"/>
      <dgm:spPr/>
    </dgm:pt>
  </dgm:ptLst>
  <dgm:cxnLst>
    <dgm:cxn modelId="{93909310-144E-E34C-9F09-5CAD96C5ED6A}" type="presOf" srcId="{D262F0D7-89F6-48B8-B717-6C16B898EC42}" destId="{57BEB718-1341-3447-9064-890F87069466}" srcOrd="0" destOrd="0" presId="urn:microsoft.com/office/officeart/2016/7/layout/VerticalDownArrowProcess"/>
    <dgm:cxn modelId="{80A79511-80CE-4F7C-9096-F37DEE0DF2F8}" srcId="{8CC1A0C2-F72A-4791-8A2F-1FAC90C24D12}" destId="{FC4DAE19-4537-40BB-9D39-9A341C5E2F83}" srcOrd="2" destOrd="0" parTransId="{EF824A53-765A-4FE2-BBAD-6EA72315803D}" sibTransId="{969F6927-568A-46D5-9728-E843163BAAA4}"/>
    <dgm:cxn modelId="{A55B362E-5886-D449-A7E5-2E29FDBE96FA}" type="presOf" srcId="{8CC1A0C2-F72A-4791-8A2F-1FAC90C24D12}" destId="{34AA6C30-A1EC-C94B-8426-CE3DBC37A0AB}" srcOrd="0" destOrd="0" presId="urn:microsoft.com/office/officeart/2016/7/layout/VerticalDownArrowProcess"/>
    <dgm:cxn modelId="{495D9934-3403-DC40-92E5-2729BFB48254}" type="presOf" srcId="{A1395E35-9B34-4E20-8D40-6EFCEB101DEC}" destId="{B71D9932-F7D9-BE46-89F6-303D2A0D8F84}" srcOrd="0" destOrd="4" presId="urn:microsoft.com/office/officeart/2016/7/layout/VerticalDownArrowProcess"/>
    <dgm:cxn modelId="{AA356C39-A2C3-FC45-B70F-5243CF69988D}" type="presOf" srcId="{3795CB3D-EED0-4174-9802-021B51EB6C05}" destId="{6D2A7753-A147-A54D-B180-5D044F2BFA1C}" srcOrd="0" destOrd="0" presId="urn:microsoft.com/office/officeart/2016/7/layout/VerticalDownArrowProcess"/>
    <dgm:cxn modelId="{607DBF3E-808D-4B0D-A4D3-1C03D933CDD6}" srcId="{1FAEABA9-9CB0-47C2-AFC0-DD469FB9F5A9}" destId="{E3A3FE97-F636-40B9-847F-6F155CB6E442}" srcOrd="3" destOrd="0" parTransId="{E931D86A-15E2-4799-B917-C7B98952ACDE}" sibTransId="{EC5A6174-834C-40AF-8235-5AC67585320F}"/>
    <dgm:cxn modelId="{F8F22458-88B9-8C43-8D2C-261AB5B018B9}" type="presOf" srcId="{3795CB3D-EED0-4174-9802-021B51EB6C05}" destId="{98124513-59BF-5340-8A3D-8381895C49FB}" srcOrd="1" destOrd="0" presId="urn:microsoft.com/office/officeart/2016/7/layout/VerticalDownArrowProcess"/>
    <dgm:cxn modelId="{DB034B5D-39AB-4AB4-8ED3-5C6B40683B28}" srcId="{1FAEABA9-9CB0-47C2-AFC0-DD469FB9F5A9}" destId="{BA4598E6-6F26-4338-B43A-FB390AB08F05}" srcOrd="2" destOrd="0" parTransId="{489B905A-1624-4E8B-8F09-8C3962FFFF40}" sibTransId="{61D5A9C5-B610-41D4-A270-27808340986A}"/>
    <dgm:cxn modelId="{182CAF69-E16F-6B4C-90ED-CE155B568673}" type="presOf" srcId="{983D7529-D97F-456A-A2D9-22B7F2DC7AC5}" destId="{B71D9932-F7D9-BE46-89F6-303D2A0D8F84}" srcOrd="0" destOrd="0" presId="urn:microsoft.com/office/officeart/2016/7/layout/VerticalDownArrowProcess"/>
    <dgm:cxn modelId="{4B7C626E-0857-41E0-96CE-B0DDC9485099}" srcId="{3795CB3D-EED0-4174-9802-021B51EB6C05}" destId="{A217D896-37B0-45EE-9ACB-1B8783AFD582}" srcOrd="1" destOrd="0" parTransId="{EEC1CF6F-0D73-44C2-AA32-1B2466DB547B}" sibTransId="{DCED2500-90D6-4DDD-BB76-DD85A5BC0D85}"/>
    <dgm:cxn modelId="{01F67E76-46FE-4586-A701-A09A03738ED7}" srcId="{3795CB3D-EED0-4174-9802-021B51EB6C05}" destId="{D262F0D7-89F6-48B8-B717-6C16B898EC42}" srcOrd="0" destOrd="0" parTransId="{9F46D7AE-B7F6-4146-BFEB-CB12D542B781}" sibTransId="{AE86FEAE-3410-4438-8C0E-493B030FBCEA}"/>
    <dgm:cxn modelId="{AC61D38A-2C6E-4E6C-8142-780CA1A88220}" srcId="{1FAEABA9-9CB0-47C2-AFC0-DD469FB9F5A9}" destId="{95D1B40B-7D99-4F85-A058-8F0BC05E6222}" srcOrd="1" destOrd="0" parTransId="{43C1D882-F45D-4AFC-B9DC-8B4EDF4B140B}" sibTransId="{5344D2E8-27A7-47EB-8092-EB43F4EBFD25}"/>
    <dgm:cxn modelId="{BFB21192-CC2F-44A4-B1B3-9064D91F606E}" srcId="{1FAEABA9-9CB0-47C2-AFC0-DD469FB9F5A9}" destId="{A1395E35-9B34-4E20-8D40-6EFCEB101DEC}" srcOrd="4" destOrd="0" parTransId="{84D06B47-DC89-4610-8639-8DAA4E5ADD26}" sibTransId="{106EDDC3-9964-4FDC-9612-11100A4C4C34}"/>
    <dgm:cxn modelId="{26C8C493-4732-6F4D-9047-73031A62005B}" type="presOf" srcId="{EEFD09AB-6C54-476E-8909-698397A00A29}" destId="{4448FB35-B32F-0446-BAC8-F42CFC40B710}" srcOrd="0" destOrd="0" presId="urn:microsoft.com/office/officeart/2016/7/layout/VerticalDownArrowProcess"/>
    <dgm:cxn modelId="{22599599-B8DC-2C4E-BF56-5EDE679A307D}" type="presOf" srcId="{BA4598E6-6F26-4338-B43A-FB390AB08F05}" destId="{B71D9932-F7D9-BE46-89F6-303D2A0D8F84}" srcOrd="0" destOrd="2" presId="urn:microsoft.com/office/officeart/2016/7/layout/VerticalDownArrowProcess"/>
    <dgm:cxn modelId="{F6F3F3B4-0763-5A4B-B1CE-66D4F6823765}" type="presOf" srcId="{A2ADD0CB-A8F1-481D-B9D2-58DF1CE91B39}" destId="{57BEB718-1341-3447-9064-890F87069466}" srcOrd="0" destOrd="2" presId="urn:microsoft.com/office/officeart/2016/7/layout/VerticalDownArrowProcess"/>
    <dgm:cxn modelId="{18C1ACB6-2EF9-1049-A4D0-C64279420923}" type="presOf" srcId="{A217D896-37B0-45EE-9ACB-1B8783AFD582}" destId="{57BEB718-1341-3447-9064-890F87069466}" srcOrd="0" destOrd="1" presId="urn:microsoft.com/office/officeart/2016/7/layout/VerticalDownArrowProcess"/>
    <dgm:cxn modelId="{931BCDB7-A24E-43CF-8D97-29292CD75A69}" srcId="{FC4DAE19-4537-40BB-9D39-9A341C5E2F83}" destId="{EEFD09AB-6C54-476E-8909-698397A00A29}" srcOrd="0" destOrd="0" parTransId="{CD9E3175-4770-4681-BDCF-96BA015B1386}" sibTransId="{CB5DE36C-F8EB-4F53-BA54-345C7F8AE731}"/>
    <dgm:cxn modelId="{48BB1AC0-23A1-E548-9337-A1E1962C4DDF}" type="presOf" srcId="{E3A3FE97-F636-40B9-847F-6F155CB6E442}" destId="{B71D9932-F7D9-BE46-89F6-303D2A0D8F84}" srcOrd="0" destOrd="3" presId="urn:microsoft.com/office/officeart/2016/7/layout/VerticalDownArrowProcess"/>
    <dgm:cxn modelId="{473A3DC0-4593-4B48-A281-30361941A67C}" srcId="{8CC1A0C2-F72A-4791-8A2F-1FAC90C24D12}" destId="{3795CB3D-EED0-4174-9802-021B51EB6C05}" srcOrd="1" destOrd="0" parTransId="{8757FDD7-DCBB-4AED-8980-85932D501EAF}" sibTransId="{073A3C1C-B64E-42DD-8E01-F7106100F34A}"/>
    <dgm:cxn modelId="{8E3C85D7-1019-4BCB-B70F-CC0D4B30AB91}" srcId="{1FAEABA9-9CB0-47C2-AFC0-DD469FB9F5A9}" destId="{983D7529-D97F-456A-A2D9-22B7F2DC7AC5}" srcOrd="0" destOrd="0" parTransId="{ED2BC299-2FFF-4A8A-8EF0-F6F46F5BBCAD}" sibTransId="{CFA72191-0730-4FC8-AB81-1E672D194443}"/>
    <dgm:cxn modelId="{29045ADD-4F9A-9745-8C62-6131508C9EAA}" type="presOf" srcId="{FC4DAE19-4537-40BB-9D39-9A341C5E2F83}" destId="{1CABDDCF-600E-F64D-9FE8-51C059221E31}" srcOrd="0" destOrd="0" presId="urn:microsoft.com/office/officeart/2016/7/layout/VerticalDownArrowProcess"/>
    <dgm:cxn modelId="{7DD2F9E7-3896-4510-BC80-B8B300732E4E}" srcId="{8CC1A0C2-F72A-4791-8A2F-1FAC90C24D12}" destId="{1FAEABA9-9CB0-47C2-AFC0-DD469FB9F5A9}" srcOrd="0" destOrd="0" parTransId="{15BE7340-7176-437F-BCB3-2824005D5BC1}" sibTransId="{3975B443-F06F-4209-8EB2-500EFE0FF7BA}"/>
    <dgm:cxn modelId="{0B41A8EA-2525-48F1-8FDB-44A90AB178B7}" srcId="{3795CB3D-EED0-4174-9802-021B51EB6C05}" destId="{A2ADD0CB-A8F1-481D-B9D2-58DF1CE91B39}" srcOrd="2" destOrd="0" parTransId="{917051FD-618E-43AC-A535-7363B7031E23}" sibTransId="{0BA95E5E-9F6F-4512-AC5E-8E713A6B0A9A}"/>
    <dgm:cxn modelId="{DF473DEB-83C3-4F49-A236-42AD0911C9E1}" type="presOf" srcId="{1FAEABA9-9CB0-47C2-AFC0-DD469FB9F5A9}" destId="{D398163D-00CC-0E48-98F0-5A74906FC835}" srcOrd="1" destOrd="0" presId="urn:microsoft.com/office/officeart/2016/7/layout/VerticalDownArrowProcess"/>
    <dgm:cxn modelId="{E8FE4DF7-F2A9-3948-8E1A-39C7180D39CC}" type="presOf" srcId="{1FAEABA9-9CB0-47C2-AFC0-DD469FB9F5A9}" destId="{E44A02AB-9A62-D349-8C07-632D0442D40C}" srcOrd="0" destOrd="0" presId="urn:microsoft.com/office/officeart/2016/7/layout/VerticalDownArrowProcess"/>
    <dgm:cxn modelId="{63F679FF-00EB-D942-A4FC-F7D87F4FEF71}" type="presOf" srcId="{95D1B40B-7D99-4F85-A058-8F0BC05E6222}" destId="{B71D9932-F7D9-BE46-89F6-303D2A0D8F84}" srcOrd="0" destOrd="1" presId="urn:microsoft.com/office/officeart/2016/7/layout/VerticalDownArrowProcess"/>
    <dgm:cxn modelId="{67FFE28C-965D-FF46-9EA7-3011F2AB8778}" type="presParOf" srcId="{34AA6C30-A1EC-C94B-8426-CE3DBC37A0AB}" destId="{967925EF-A0E4-BF4D-9618-4882CAB00907}" srcOrd="0" destOrd="0" presId="urn:microsoft.com/office/officeart/2016/7/layout/VerticalDownArrowProcess"/>
    <dgm:cxn modelId="{2B6FF561-09B8-264F-AF46-18AED20A1059}" type="presParOf" srcId="{967925EF-A0E4-BF4D-9618-4882CAB00907}" destId="{1CABDDCF-600E-F64D-9FE8-51C059221E31}" srcOrd="0" destOrd="0" presId="urn:microsoft.com/office/officeart/2016/7/layout/VerticalDownArrowProcess"/>
    <dgm:cxn modelId="{97E4FD98-786A-B145-8D1C-57F06B962598}" type="presParOf" srcId="{967925EF-A0E4-BF4D-9618-4882CAB00907}" destId="{4448FB35-B32F-0446-BAC8-F42CFC40B710}" srcOrd="1" destOrd="0" presId="urn:microsoft.com/office/officeart/2016/7/layout/VerticalDownArrowProcess"/>
    <dgm:cxn modelId="{664131D3-DD06-E94D-8B0A-16BE7A422279}" type="presParOf" srcId="{34AA6C30-A1EC-C94B-8426-CE3DBC37A0AB}" destId="{6B4EF679-E713-4348-BFCC-F4D6BDCC87E5}" srcOrd="1" destOrd="0" presId="urn:microsoft.com/office/officeart/2016/7/layout/VerticalDownArrowProcess"/>
    <dgm:cxn modelId="{838675E8-58C3-7749-9669-736FAD6A24B7}" type="presParOf" srcId="{34AA6C30-A1EC-C94B-8426-CE3DBC37A0AB}" destId="{EB2E621F-42AA-BD42-8093-2750535CF277}" srcOrd="2" destOrd="0" presId="urn:microsoft.com/office/officeart/2016/7/layout/VerticalDownArrowProcess"/>
    <dgm:cxn modelId="{64FA31FF-40F4-D941-BCFD-7C712657D1E2}" type="presParOf" srcId="{EB2E621F-42AA-BD42-8093-2750535CF277}" destId="{6D2A7753-A147-A54D-B180-5D044F2BFA1C}" srcOrd="0" destOrd="0" presId="urn:microsoft.com/office/officeart/2016/7/layout/VerticalDownArrowProcess"/>
    <dgm:cxn modelId="{C0A71A05-D5D3-2B4D-9673-5F86F2BEC327}" type="presParOf" srcId="{EB2E621F-42AA-BD42-8093-2750535CF277}" destId="{98124513-59BF-5340-8A3D-8381895C49FB}" srcOrd="1" destOrd="0" presId="urn:microsoft.com/office/officeart/2016/7/layout/VerticalDownArrowProcess"/>
    <dgm:cxn modelId="{4C49CD74-9F58-BB46-8C03-592DA4E31EE4}" type="presParOf" srcId="{EB2E621F-42AA-BD42-8093-2750535CF277}" destId="{57BEB718-1341-3447-9064-890F87069466}" srcOrd="2" destOrd="0" presId="urn:microsoft.com/office/officeart/2016/7/layout/VerticalDownArrowProcess"/>
    <dgm:cxn modelId="{8FB59EF5-3F2A-6F46-A0C9-F55CE028B12E}" type="presParOf" srcId="{34AA6C30-A1EC-C94B-8426-CE3DBC37A0AB}" destId="{B76F1D80-B997-6748-8A77-EE6B1BA0EC37}" srcOrd="3" destOrd="0" presId="urn:microsoft.com/office/officeart/2016/7/layout/VerticalDownArrowProcess"/>
    <dgm:cxn modelId="{EB521D50-145A-6943-BE7F-8C4517B7189C}" type="presParOf" srcId="{34AA6C30-A1EC-C94B-8426-CE3DBC37A0AB}" destId="{FDD4CAF4-57A2-CF4D-BFA3-9A6E111E328E}" srcOrd="4" destOrd="0" presId="urn:microsoft.com/office/officeart/2016/7/layout/VerticalDownArrowProcess"/>
    <dgm:cxn modelId="{B91DC79C-0D4A-664E-A507-6D94DFFBDD74}" type="presParOf" srcId="{FDD4CAF4-57A2-CF4D-BFA3-9A6E111E328E}" destId="{E44A02AB-9A62-D349-8C07-632D0442D40C}" srcOrd="0" destOrd="0" presId="urn:microsoft.com/office/officeart/2016/7/layout/VerticalDownArrowProcess"/>
    <dgm:cxn modelId="{C0048015-DCE7-2841-A84A-77A4FF3E9648}" type="presParOf" srcId="{FDD4CAF4-57A2-CF4D-BFA3-9A6E111E328E}" destId="{D398163D-00CC-0E48-98F0-5A74906FC835}" srcOrd="1" destOrd="0" presId="urn:microsoft.com/office/officeart/2016/7/layout/VerticalDownArrowProcess"/>
    <dgm:cxn modelId="{E4456406-055C-1D44-BDAD-0ED777443D31}" type="presParOf" srcId="{FDD4CAF4-57A2-CF4D-BFA3-9A6E111E328E}" destId="{B71D9932-F7D9-BE46-89F6-303D2A0D8F84}" srcOrd="2" destOrd="0" presId="urn:microsoft.com/office/officeart/2016/7/layout/VerticalDownArrowProcess"/>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CABDDCF-600E-F64D-9FE8-51C059221E31}">
      <dsp:nvSpPr>
        <dsp:cNvPr id="0" name=""/>
        <dsp:cNvSpPr/>
      </dsp:nvSpPr>
      <dsp:spPr>
        <a:xfrm>
          <a:off x="0" y="3583499"/>
          <a:ext cx="2628900" cy="1013570"/>
        </a:xfrm>
        <a:prstGeom prst="rect">
          <a:avLst/>
        </a:prstGeom>
        <a:gradFill rotWithShape="0">
          <a:gsLst>
            <a:gs pos="0">
              <a:schemeClr val="accent2">
                <a:hueOff val="0"/>
                <a:satOff val="0"/>
                <a:lumOff val="0"/>
                <a:alphaOff val="0"/>
                <a:satMod val="103000"/>
                <a:lumMod val="102000"/>
                <a:tint val="94000"/>
              </a:schemeClr>
            </a:gs>
            <a:gs pos="50000">
              <a:schemeClr val="accent2">
                <a:hueOff val="0"/>
                <a:satOff val="0"/>
                <a:lumOff val="0"/>
                <a:alphaOff val="0"/>
                <a:satMod val="110000"/>
                <a:lumMod val="100000"/>
                <a:shade val="100000"/>
              </a:schemeClr>
            </a:gs>
            <a:gs pos="100000">
              <a:schemeClr val="accent2">
                <a:hueOff val="0"/>
                <a:satOff val="0"/>
                <a:lumOff val="0"/>
                <a:alphaOff val="0"/>
                <a:lumMod val="99000"/>
                <a:satMod val="120000"/>
                <a:shade val="78000"/>
              </a:schemeClr>
            </a:gs>
          </a:gsLst>
          <a:lin ang="5400000" scaled="0"/>
        </a:gradFill>
        <a:ln w="12700" cap="flat" cmpd="sng" algn="ctr">
          <a:solidFill>
            <a:schemeClr val="accent2">
              <a:hueOff val="0"/>
              <a:satOff val="0"/>
              <a:lumOff val="0"/>
              <a:alphaOff val="0"/>
            </a:schemeClr>
          </a:solidFill>
          <a:prstDash val="solid"/>
          <a:miter lim="800000"/>
        </a:ln>
        <a:effectLst>
          <a:outerShdw blurRad="57150" dist="19050" dir="5400000" algn="ctr" rotWithShape="0">
            <a:srgbClr val="000000">
              <a:alpha val="63000"/>
            </a:srgbClr>
          </a:outerShdw>
        </a:effectLst>
      </dsp:spPr>
      <dsp:style>
        <a:lnRef idx="1">
          <a:scrgbClr r="0" g="0" b="0"/>
        </a:lnRef>
        <a:fillRef idx="3">
          <a:scrgbClr r="0" g="0" b="0"/>
        </a:fillRef>
        <a:effectRef idx="3">
          <a:scrgbClr r="0" g="0" b="0"/>
        </a:effectRef>
        <a:fontRef idx="minor">
          <a:schemeClr val="lt1"/>
        </a:fontRef>
      </dsp:style>
      <dsp:txBody>
        <a:bodyPr spcFirstLastPara="0" vert="horz" wrap="square" lIns="186967" tIns="135128" rIns="186967" bIns="135128" numCol="1" spcCol="1270" anchor="ctr" anchorCtr="0">
          <a:noAutofit/>
        </a:bodyPr>
        <a:lstStyle/>
        <a:p>
          <a:pPr marL="0" lvl="0" indent="0" algn="ctr" defTabSz="844550">
            <a:lnSpc>
              <a:spcPct val="90000"/>
            </a:lnSpc>
            <a:spcBef>
              <a:spcPct val="0"/>
            </a:spcBef>
            <a:spcAft>
              <a:spcPct val="35000"/>
            </a:spcAft>
            <a:buNone/>
          </a:pPr>
          <a:r>
            <a:rPr lang="en-DK" sz="1900" kern="1200"/>
            <a:t>How do they perform their activities?</a:t>
          </a:r>
          <a:endParaRPr lang="en-US" sz="1900" kern="1200"/>
        </a:p>
      </dsp:txBody>
      <dsp:txXfrm>
        <a:off x="0" y="3583499"/>
        <a:ext cx="2628900" cy="1013570"/>
      </dsp:txXfrm>
    </dsp:sp>
    <dsp:sp modelId="{4448FB35-B32F-0446-BAC8-F42CFC40B710}">
      <dsp:nvSpPr>
        <dsp:cNvPr id="0" name=""/>
        <dsp:cNvSpPr/>
      </dsp:nvSpPr>
      <dsp:spPr>
        <a:xfrm>
          <a:off x="2628900" y="3583499"/>
          <a:ext cx="7886700" cy="1013570"/>
        </a:xfrm>
        <a:prstGeom prst="rect">
          <a:avLst/>
        </a:prstGeom>
        <a:solidFill>
          <a:schemeClr val="accent2">
            <a:tint val="40000"/>
            <a:alpha val="90000"/>
            <a:hueOff val="0"/>
            <a:satOff val="0"/>
            <a:lumOff val="0"/>
            <a:alphaOff val="0"/>
          </a:schemeClr>
        </a:solidFill>
        <a:ln w="12700" cap="flat" cmpd="sng" algn="ctr">
          <a:solidFill>
            <a:schemeClr val="accent2">
              <a:tint val="40000"/>
              <a:alpha val="90000"/>
              <a:hueOff val="0"/>
              <a:satOff val="0"/>
              <a:lumOff val="0"/>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159980" tIns="203200" rIns="159980" bIns="203200" numCol="1" spcCol="1270" anchor="ctr" anchorCtr="0">
          <a:noAutofit/>
        </a:bodyPr>
        <a:lstStyle/>
        <a:p>
          <a:pPr marL="0" lvl="0" indent="0" algn="l" defTabSz="711200">
            <a:lnSpc>
              <a:spcPct val="90000"/>
            </a:lnSpc>
            <a:spcBef>
              <a:spcPct val="0"/>
            </a:spcBef>
            <a:spcAft>
              <a:spcPct val="35000"/>
            </a:spcAft>
            <a:buNone/>
          </a:pPr>
          <a:r>
            <a:rPr lang="en-DK" sz="1600" kern="1200" dirty="0"/>
            <a:t>Which genes and/or pathways are present?</a:t>
          </a:r>
          <a:endParaRPr lang="en-US" sz="1600" kern="1200" dirty="0"/>
        </a:p>
      </dsp:txBody>
      <dsp:txXfrm>
        <a:off x="2628900" y="3583499"/>
        <a:ext cx="7886700" cy="1013570"/>
      </dsp:txXfrm>
    </dsp:sp>
    <dsp:sp modelId="{98124513-59BF-5340-8A3D-8381895C49FB}">
      <dsp:nvSpPr>
        <dsp:cNvPr id="0" name=""/>
        <dsp:cNvSpPr/>
      </dsp:nvSpPr>
      <dsp:spPr>
        <a:xfrm rot="10800000">
          <a:off x="0" y="2039832"/>
          <a:ext cx="2628900" cy="1558870"/>
        </a:xfrm>
        <a:prstGeom prst="upArrowCallout">
          <a:avLst>
            <a:gd name="adj1" fmla="val 5000"/>
            <a:gd name="adj2" fmla="val 10000"/>
            <a:gd name="adj3" fmla="val 15000"/>
            <a:gd name="adj4" fmla="val 64977"/>
          </a:avLst>
        </a:prstGeom>
        <a:gradFill rotWithShape="0">
          <a:gsLst>
            <a:gs pos="0">
              <a:schemeClr val="accent2">
                <a:hueOff val="3221806"/>
                <a:satOff val="-9246"/>
                <a:lumOff val="-14805"/>
                <a:alphaOff val="0"/>
                <a:satMod val="103000"/>
                <a:lumMod val="102000"/>
                <a:tint val="94000"/>
              </a:schemeClr>
            </a:gs>
            <a:gs pos="50000">
              <a:schemeClr val="accent2">
                <a:hueOff val="3221806"/>
                <a:satOff val="-9246"/>
                <a:lumOff val="-14805"/>
                <a:alphaOff val="0"/>
                <a:satMod val="110000"/>
                <a:lumMod val="100000"/>
                <a:shade val="100000"/>
              </a:schemeClr>
            </a:gs>
            <a:gs pos="100000">
              <a:schemeClr val="accent2">
                <a:hueOff val="3221806"/>
                <a:satOff val="-9246"/>
                <a:lumOff val="-14805"/>
                <a:alphaOff val="0"/>
                <a:lumMod val="99000"/>
                <a:satMod val="120000"/>
                <a:shade val="78000"/>
              </a:schemeClr>
            </a:gs>
          </a:gsLst>
          <a:lin ang="5400000" scaled="0"/>
        </a:gradFill>
        <a:ln w="12700" cap="flat" cmpd="sng" algn="ctr">
          <a:solidFill>
            <a:schemeClr val="accent2">
              <a:hueOff val="3221806"/>
              <a:satOff val="-9246"/>
              <a:lumOff val="-14805"/>
              <a:alphaOff val="0"/>
            </a:schemeClr>
          </a:solidFill>
          <a:prstDash val="solid"/>
          <a:miter lim="800000"/>
        </a:ln>
        <a:effectLst>
          <a:outerShdw blurRad="57150" dist="19050" dir="5400000" algn="ctr" rotWithShape="0">
            <a:srgbClr val="000000">
              <a:alpha val="63000"/>
            </a:srgbClr>
          </a:outerShdw>
        </a:effectLst>
      </dsp:spPr>
      <dsp:style>
        <a:lnRef idx="1">
          <a:scrgbClr r="0" g="0" b="0"/>
        </a:lnRef>
        <a:fillRef idx="3">
          <a:scrgbClr r="0" g="0" b="0"/>
        </a:fillRef>
        <a:effectRef idx="3">
          <a:scrgbClr r="0" g="0" b="0"/>
        </a:effectRef>
        <a:fontRef idx="minor">
          <a:schemeClr val="lt1"/>
        </a:fontRef>
      </dsp:style>
      <dsp:txBody>
        <a:bodyPr spcFirstLastPara="0" vert="horz" wrap="square" lIns="186967" tIns="135128" rIns="186967" bIns="135128" numCol="1" spcCol="1270" anchor="ctr" anchorCtr="0">
          <a:noAutofit/>
        </a:bodyPr>
        <a:lstStyle/>
        <a:p>
          <a:pPr marL="0" lvl="0" indent="0" algn="ctr" defTabSz="844550">
            <a:lnSpc>
              <a:spcPct val="90000"/>
            </a:lnSpc>
            <a:spcBef>
              <a:spcPct val="0"/>
            </a:spcBef>
            <a:spcAft>
              <a:spcPct val="35000"/>
            </a:spcAft>
            <a:buNone/>
          </a:pPr>
          <a:r>
            <a:rPr lang="en-DK" sz="1900" kern="1200"/>
            <a:t>What are these organisms doing?</a:t>
          </a:r>
          <a:endParaRPr lang="en-US" sz="1900" kern="1200"/>
        </a:p>
      </dsp:txBody>
      <dsp:txXfrm rot="-10800000">
        <a:off x="0" y="2039832"/>
        <a:ext cx="2628900" cy="1013266"/>
      </dsp:txXfrm>
    </dsp:sp>
    <dsp:sp modelId="{57BEB718-1341-3447-9064-890F87069466}">
      <dsp:nvSpPr>
        <dsp:cNvPr id="0" name=""/>
        <dsp:cNvSpPr/>
      </dsp:nvSpPr>
      <dsp:spPr>
        <a:xfrm>
          <a:off x="2628900" y="2039832"/>
          <a:ext cx="7886700" cy="1013266"/>
        </a:xfrm>
        <a:prstGeom prst="rect">
          <a:avLst/>
        </a:prstGeom>
        <a:solidFill>
          <a:schemeClr val="accent2">
            <a:tint val="40000"/>
            <a:alpha val="90000"/>
            <a:hueOff val="3367362"/>
            <a:satOff val="-31116"/>
            <a:lumOff val="-3508"/>
            <a:alphaOff val="0"/>
          </a:schemeClr>
        </a:solidFill>
        <a:ln w="12700" cap="flat" cmpd="sng" algn="ctr">
          <a:solidFill>
            <a:schemeClr val="accent2">
              <a:tint val="40000"/>
              <a:alpha val="90000"/>
              <a:hueOff val="3367362"/>
              <a:satOff val="-31116"/>
              <a:lumOff val="-3508"/>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159980" tIns="203200" rIns="159980" bIns="203200" numCol="1" spcCol="1270" anchor="ctr" anchorCtr="0">
          <a:noAutofit/>
        </a:bodyPr>
        <a:lstStyle/>
        <a:p>
          <a:pPr marL="0" lvl="0" indent="0" algn="l" defTabSz="711200">
            <a:lnSpc>
              <a:spcPct val="90000"/>
            </a:lnSpc>
            <a:spcBef>
              <a:spcPct val="0"/>
            </a:spcBef>
            <a:spcAft>
              <a:spcPct val="35000"/>
            </a:spcAft>
            <a:buNone/>
          </a:pPr>
          <a:r>
            <a:rPr lang="en-DK" sz="1600" kern="1200" dirty="0"/>
            <a:t>What functions potentially do they perform </a:t>
          </a:r>
          <a:endParaRPr lang="en-US" sz="1600" kern="1200" dirty="0"/>
        </a:p>
        <a:p>
          <a:pPr marL="0" lvl="0" indent="0" algn="l" defTabSz="711200">
            <a:lnSpc>
              <a:spcPct val="90000"/>
            </a:lnSpc>
            <a:spcBef>
              <a:spcPct val="0"/>
            </a:spcBef>
            <a:spcAft>
              <a:spcPct val="35000"/>
            </a:spcAft>
            <a:buNone/>
          </a:pPr>
          <a:r>
            <a:rPr lang="en-DK" sz="1600" kern="1200" dirty="0"/>
            <a:t>What substrates they consume?</a:t>
          </a:r>
          <a:endParaRPr lang="en-US" sz="1600" kern="1200" dirty="0"/>
        </a:p>
        <a:p>
          <a:pPr marL="0" lvl="0" indent="0" algn="l" defTabSz="711200">
            <a:lnSpc>
              <a:spcPct val="90000"/>
            </a:lnSpc>
            <a:spcBef>
              <a:spcPct val="0"/>
            </a:spcBef>
            <a:spcAft>
              <a:spcPct val="35000"/>
            </a:spcAft>
            <a:buNone/>
          </a:pPr>
          <a:r>
            <a:rPr lang="en-DK" sz="1600" kern="1200" dirty="0"/>
            <a:t>What metabolites they produce?</a:t>
          </a:r>
          <a:endParaRPr lang="en-US" sz="1600" kern="1200" dirty="0"/>
        </a:p>
      </dsp:txBody>
      <dsp:txXfrm>
        <a:off x="2628900" y="2039832"/>
        <a:ext cx="7886700" cy="1013266"/>
      </dsp:txXfrm>
    </dsp:sp>
    <dsp:sp modelId="{D398163D-00CC-0E48-98F0-5A74906FC835}">
      <dsp:nvSpPr>
        <dsp:cNvPr id="0" name=""/>
        <dsp:cNvSpPr/>
      </dsp:nvSpPr>
      <dsp:spPr>
        <a:xfrm rot="10800000">
          <a:off x="0" y="475"/>
          <a:ext cx="2628900" cy="2054560"/>
        </a:xfrm>
        <a:prstGeom prst="upArrowCallout">
          <a:avLst>
            <a:gd name="adj1" fmla="val 5000"/>
            <a:gd name="adj2" fmla="val 10000"/>
            <a:gd name="adj3" fmla="val 15000"/>
            <a:gd name="adj4" fmla="val 64977"/>
          </a:avLst>
        </a:prstGeom>
        <a:gradFill rotWithShape="0">
          <a:gsLst>
            <a:gs pos="0">
              <a:schemeClr val="accent2">
                <a:hueOff val="6443612"/>
                <a:satOff val="-18493"/>
                <a:lumOff val="-29609"/>
                <a:alphaOff val="0"/>
                <a:satMod val="103000"/>
                <a:lumMod val="102000"/>
                <a:tint val="94000"/>
              </a:schemeClr>
            </a:gs>
            <a:gs pos="50000">
              <a:schemeClr val="accent2">
                <a:hueOff val="6443612"/>
                <a:satOff val="-18493"/>
                <a:lumOff val="-29609"/>
                <a:alphaOff val="0"/>
                <a:satMod val="110000"/>
                <a:lumMod val="100000"/>
                <a:shade val="100000"/>
              </a:schemeClr>
            </a:gs>
            <a:gs pos="100000">
              <a:schemeClr val="accent2">
                <a:hueOff val="6443612"/>
                <a:satOff val="-18493"/>
                <a:lumOff val="-29609"/>
                <a:alphaOff val="0"/>
                <a:lumMod val="99000"/>
                <a:satMod val="120000"/>
                <a:shade val="78000"/>
              </a:schemeClr>
            </a:gs>
          </a:gsLst>
          <a:lin ang="5400000" scaled="0"/>
        </a:gradFill>
        <a:ln w="12700" cap="flat" cmpd="sng" algn="ctr">
          <a:solidFill>
            <a:schemeClr val="accent2">
              <a:hueOff val="6443612"/>
              <a:satOff val="-18493"/>
              <a:lumOff val="-29609"/>
              <a:alphaOff val="0"/>
            </a:schemeClr>
          </a:solidFill>
          <a:prstDash val="solid"/>
          <a:miter lim="800000"/>
        </a:ln>
        <a:effectLst>
          <a:outerShdw blurRad="57150" dist="19050" dir="5400000" algn="ctr" rotWithShape="0">
            <a:srgbClr val="000000">
              <a:alpha val="63000"/>
            </a:srgbClr>
          </a:outerShdw>
        </a:effectLst>
      </dsp:spPr>
      <dsp:style>
        <a:lnRef idx="1">
          <a:scrgbClr r="0" g="0" b="0"/>
        </a:lnRef>
        <a:fillRef idx="3">
          <a:scrgbClr r="0" g="0" b="0"/>
        </a:fillRef>
        <a:effectRef idx="3">
          <a:scrgbClr r="0" g="0" b="0"/>
        </a:effectRef>
        <a:fontRef idx="minor">
          <a:schemeClr val="lt1"/>
        </a:fontRef>
      </dsp:style>
      <dsp:txBody>
        <a:bodyPr spcFirstLastPara="0" vert="horz" wrap="square" lIns="186967" tIns="135128" rIns="186967" bIns="135128" numCol="1" spcCol="1270" anchor="ctr" anchorCtr="0">
          <a:noAutofit/>
        </a:bodyPr>
        <a:lstStyle/>
        <a:p>
          <a:pPr marL="0" lvl="0" indent="0" algn="ctr" defTabSz="844550">
            <a:lnSpc>
              <a:spcPct val="90000"/>
            </a:lnSpc>
            <a:spcBef>
              <a:spcPct val="0"/>
            </a:spcBef>
            <a:spcAft>
              <a:spcPct val="35000"/>
            </a:spcAft>
            <a:buNone/>
          </a:pPr>
          <a:r>
            <a:rPr lang="en-DK" sz="1900" kern="1200"/>
            <a:t>Who is in the samples?</a:t>
          </a:r>
          <a:endParaRPr lang="en-US" sz="1900" kern="1200"/>
        </a:p>
      </dsp:txBody>
      <dsp:txXfrm rot="-10800000">
        <a:off x="0" y="475"/>
        <a:ext cx="2628900" cy="1335464"/>
      </dsp:txXfrm>
    </dsp:sp>
    <dsp:sp modelId="{B71D9932-F7D9-BE46-89F6-303D2A0D8F84}">
      <dsp:nvSpPr>
        <dsp:cNvPr id="0" name=""/>
        <dsp:cNvSpPr/>
      </dsp:nvSpPr>
      <dsp:spPr>
        <a:xfrm>
          <a:off x="2628900" y="25695"/>
          <a:ext cx="7886700" cy="1458515"/>
        </a:xfrm>
        <a:prstGeom prst="rect">
          <a:avLst/>
        </a:prstGeom>
        <a:solidFill>
          <a:schemeClr val="accent2">
            <a:tint val="40000"/>
            <a:alpha val="90000"/>
            <a:hueOff val="6734724"/>
            <a:satOff val="-62232"/>
            <a:lumOff val="-7015"/>
            <a:alphaOff val="0"/>
          </a:schemeClr>
        </a:solidFill>
        <a:ln w="12700" cap="flat" cmpd="sng" algn="ctr">
          <a:solidFill>
            <a:schemeClr val="accent2">
              <a:tint val="40000"/>
              <a:alpha val="90000"/>
              <a:hueOff val="6734724"/>
              <a:satOff val="-62232"/>
              <a:lumOff val="-7015"/>
              <a:alphaOff val="0"/>
            </a:schemeClr>
          </a:solidFill>
          <a:prstDash val="solid"/>
          <a:miter lim="800000"/>
        </a:ln>
        <a:effectLst/>
      </dsp:spPr>
      <dsp:style>
        <a:lnRef idx="1">
          <a:scrgbClr r="0" g="0" b="0"/>
        </a:lnRef>
        <a:fillRef idx="1">
          <a:scrgbClr r="0" g="0" b="0"/>
        </a:fillRef>
        <a:effectRef idx="2">
          <a:scrgbClr r="0" g="0" b="0"/>
        </a:effectRef>
        <a:fontRef idx="minor"/>
      </dsp:style>
      <dsp:txBody>
        <a:bodyPr spcFirstLastPara="0" vert="horz" wrap="square" lIns="159980" tIns="203200" rIns="159980" bIns="203200" numCol="1" spcCol="1270" anchor="ctr" anchorCtr="0">
          <a:noAutofit/>
        </a:bodyPr>
        <a:lstStyle/>
        <a:p>
          <a:pPr marL="0" lvl="0" indent="0" algn="l" defTabSz="711200">
            <a:lnSpc>
              <a:spcPct val="90000"/>
            </a:lnSpc>
            <a:spcBef>
              <a:spcPct val="0"/>
            </a:spcBef>
            <a:spcAft>
              <a:spcPct val="35000"/>
            </a:spcAft>
            <a:buFont typeface="Arial" panose="020B0604020202020204" pitchFamily="34" charset="0"/>
            <a:buNone/>
          </a:pPr>
          <a:r>
            <a:rPr lang="en-DK" sz="1600" kern="1200" dirty="0"/>
            <a:t>What is the relative proportion of the different members</a:t>
          </a:r>
          <a:endParaRPr lang="en-US" sz="1600" kern="1200" dirty="0"/>
        </a:p>
        <a:p>
          <a:pPr marL="0" lvl="0" indent="0" algn="l" defTabSz="711200">
            <a:lnSpc>
              <a:spcPct val="90000"/>
            </a:lnSpc>
            <a:spcBef>
              <a:spcPct val="0"/>
            </a:spcBef>
            <a:spcAft>
              <a:spcPct val="35000"/>
            </a:spcAft>
            <a:buFont typeface="Arial" panose="020B0604020202020204" pitchFamily="34" charset="0"/>
            <a:buNone/>
          </a:pPr>
          <a:r>
            <a:rPr lang="en-DK" sz="1600" kern="1200" dirty="0"/>
            <a:t>What is the total abundace (number of cells) (by absolute abundace)</a:t>
          </a:r>
          <a:endParaRPr lang="en-US" sz="1600" kern="1200" dirty="0"/>
        </a:p>
        <a:p>
          <a:pPr marL="0" lvl="0" indent="0" algn="l" defTabSz="711200">
            <a:lnSpc>
              <a:spcPct val="90000"/>
            </a:lnSpc>
            <a:spcBef>
              <a:spcPct val="0"/>
            </a:spcBef>
            <a:spcAft>
              <a:spcPct val="35000"/>
            </a:spcAft>
            <a:buFont typeface="Arial" panose="020B0604020202020204" pitchFamily="34" charset="0"/>
            <a:buNone/>
          </a:pPr>
          <a:r>
            <a:rPr lang="en-DK" sz="1600" kern="1200" dirty="0"/>
            <a:t>How abundant are bacteria, archaea, protozoa, virus,…</a:t>
          </a:r>
          <a:endParaRPr lang="en-US" sz="1600" kern="1200" dirty="0"/>
        </a:p>
        <a:p>
          <a:pPr marL="0" lvl="0" indent="0" algn="l" defTabSz="711200">
            <a:lnSpc>
              <a:spcPct val="90000"/>
            </a:lnSpc>
            <a:spcBef>
              <a:spcPct val="0"/>
            </a:spcBef>
            <a:spcAft>
              <a:spcPct val="35000"/>
            </a:spcAft>
            <a:buFont typeface="Arial" panose="020B0604020202020204" pitchFamily="34" charset="0"/>
            <a:buNone/>
          </a:pPr>
          <a:r>
            <a:rPr lang="en-DK" sz="1600" kern="1200"/>
            <a:t>How diverse is the microbial community</a:t>
          </a:r>
          <a:endParaRPr lang="en-US" sz="1600" kern="1200"/>
        </a:p>
        <a:p>
          <a:pPr marL="0" lvl="0" indent="0" algn="l" defTabSz="711200">
            <a:lnSpc>
              <a:spcPct val="90000"/>
            </a:lnSpc>
            <a:spcBef>
              <a:spcPct val="0"/>
            </a:spcBef>
            <a:spcAft>
              <a:spcPct val="35000"/>
            </a:spcAft>
            <a:buFont typeface="Arial" panose="020B0604020202020204" pitchFamily="34" charset="0"/>
            <a:buNone/>
          </a:pPr>
          <a:r>
            <a:rPr lang="en-DK" sz="1600" kern="1200" dirty="0"/>
            <a:t>How evenly distributed is it?</a:t>
          </a:r>
          <a:endParaRPr lang="en-US" sz="1600" kern="1200" dirty="0"/>
        </a:p>
      </dsp:txBody>
      <dsp:txXfrm>
        <a:off x="2628900" y="25695"/>
        <a:ext cx="7886700" cy="1458515"/>
      </dsp:txXfrm>
    </dsp:sp>
  </dsp:spTree>
</dsp:drawing>
</file>

<file path=ppt/diagrams/layout1.xml><?xml version="1.0" encoding="utf-8"?>
<dgm:layoutDef xmlns:dgm="http://schemas.openxmlformats.org/drawingml/2006/diagram" xmlns:a="http://schemas.openxmlformats.org/drawingml/2006/main" uniqueId="urn:microsoft.com/office/officeart/2016/7/layout/VerticalDownArrowProcess">
  <dgm:title val="Vertical Down Arrow Process"/>
  <dgm:desc val="Use to show a progression; a timeline; sequential steps in a task, process, or workflow; or to emphasize movement or direction. Level 1 text appears inside an arrow shape while Level 2 text appears below the arrow shapes."/>
  <dgm:catLst>
    <dgm:cat type="process" pri="5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Lst>
      <dgm:cxnLst>
        <dgm:cxn modelId="4" srcId="0" destId="1" srcOrd="0" destOrd="0"/>
        <dgm:cxn modelId="5" srcId="0" destId="2" srcOrd="1" destOrd="0"/>
        <dgm:cxn modelId="6" srcId="0" destId="3" srcOrd="2" destOrd="0"/>
        <dgm:cxn modelId="13" srcId="1" destId="11" srcOrd="0" destOrd="0"/>
        <dgm:cxn modelId="23" srcId="2" destId="21" srcOrd="0" destOrd="0"/>
        <dgm:cxn modelId="33" srcId="3" destId="3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alg type="lin">
      <dgm:param type="linDir" val="fromB"/>
    </dgm:alg>
    <dgm:shape xmlns:r="http://schemas.openxmlformats.org/officeDocument/2006/relationships" r:blip="">
      <dgm:adjLst/>
    </dgm:shape>
    <dgm:presOf/>
    <dgm:constrLst>
      <dgm:constr type="h" for="ch" forName="boxAndChildren" refType="h"/>
      <dgm:constr type="h" for="ch" forName="arrowAndChildren" refType="h" refFor="ch" refForName="boxAndChildren" op="equ" fact="1.538"/>
      <dgm:constr type="w" for="ch" forName="arrowAndChildren" refType="w"/>
      <dgm:constr type="w" for="ch" forName="boxAndChildren" refType="w"/>
      <dgm:constr type="h" for="ch" forName="sp" refType="h" fact="-0.015"/>
      <dgm:constr type="primFontSz" for="des" forName="parentTextBox" val="36"/>
      <dgm:constr type="primFontSz" for="des" forName="parentTextArrow" refType="primFontSz" refFor="des" refForName="parentTextBox" op="equ"/>
      <dgm:constr type="primFontSz" for="des" forName="descendantArrow" val="24"/>
      <dgm:constr type="primFontSz" for="des" forName="descendantArrow" refType="primFontSz" refFor="des" refForName="parentTextArrow" op="lte"/>
      <dgm:constr type="primFontSz" for="des" forName="descendantBox" refType="primFontSz" refFor="des" refForName="parentTextArrow" op="lte"/>
      <dgm:constr type="primFontSz" for="des" forName="descendantBox" refType="primFontSz" refFor="des" refForName="parentTextBox" op="lte"/>
      <dgm:constr type="primFontSz" for="des" forName="descendantArrow" refType="primFontSz" refFor="des" refForName="parentTextBox" op="lte"/>
      <dgm:constr type="primFontSz" for="des" forName="descendantBox" refType="primFontSz" refFor="des" refForName="descendantArrow" op="equ"/>
    </dgm:constrLst>
    <dgm:ruleLst/>
    <dgm:forEach name="Name1" axis="ch" ptType="node" st="-1" step="-1">
      <dgm:choose name="Name2">
        <dgm:if name="Name3" axis="self" ptType="node" func="revPos" op="equ" val="1">
          <dgm:layoutNode name="boxAndChildren">
            <dgm:alg type="composite"/>
            <dgm:shape xmlns:r="http://schemas.openxmlformats.org/officeDocument/2006/relationships" r:blip="">
              <dgm:adjLst/>
            </dgm:shape>
            <dgm:presOf/>
            <dgm:constrLst>
              <dgm:constr type="w" for="ch" forName="parentTextBox" refType="w" fact="0.25"/>
              <dgm:constr type="h" for="ch" forName="parentTextBox" refType="h"/>
              <dgm:constr type="t" for="ch" forName="parentTextBox"/>
              <dgm:constr type="w" for="ch" forName="descendantBox" refType="w" fact="0.75"/>
              <dgm:constr type="l" for="ch" forName="descendantBox" refType="w" fact="0.25"/>
              <dgm:constr type="b" for="ch" forName="descendantBox" refType="h"/>
              <dgm:constr type="h" for="ch" forName="descendantBox" refType="h"/>
            </dgm:constrLst>
            <dgm:ruleLst/>
            <dgm:layoutNode name="parentTextBox" styleLbl="alignNode1">
              <dgm:alg type="tx"/>
              <dgm:shape xmlns:r="http://schemas.openxmlformats.org/officeDocument/2006/relationships" type="rect" r:blip="">
                <dgm:adjLst/>
              </dgm:shape>
              <dgm:presOf axis="self"/>
              <dgm:constrLst>
                <dgm:constr type="primFontSz" refType="h" op="lte" fact="0.5"/>
                <dgm:constr type="lMarg" refType="w" fact="0.2016"/>
                <dgm:constr type="rMarg" refType="w" fact="0.2016"/>
              </dgm:constrLst>
              <dgm:ruleLst>
                <dgm:rule type="primFontSz" val="13" fact="NaN" max="NaN"/>
              </dgm:ruleLst>
            </dgm:layoutNode>
            <dgm:layoutNode name="descendantBox" styleLbl="bgAccFollowNode1">
              <dgm:alg type="tx">
                <dgm:param type="stBulletLvl" val="0"/>
                <dgm:param type="parTxLTRAlign" val="l"/>
              </dgm:alg>
              <dgm:shape xmlns:r="http://schemas.openxmlformats.org/officeDocument/2006/relationships" type="rect" r:blip="">
                <dgm:adjLst/>
              </dgm:shape>
              <dgm:presOf/>
              <dgm:constrLst>
                <dgm:constr type="tMarg" refType="primFontSz"/>
                <dgm:constr type="bMarg" refType="primFontSz"/>
                <dgm:constr type="lMarg" refType="w" fact="0.0575"/>
                <dgm:constr type="rMarg" refType="w" fact="0.0575"/>
              </dgm:constrLst>
              <dgm:presOf axis="des" ptType="node"/>
              <dgm:ruleLst>
                <dgm:rule type="primFontSz" val="11" fact="NaN" max="NaN"/>
              </dgm:ruleLst>
            </dgm:layoutNode>
          </dgm:layoutNode>
        </dgm:if>
        <dgm:else name="Name17">
          <dgm:layoutNode name="arrowAndChildren">
            <dgm:alg type="composite"/>
            <dgm:shape xmlns:r="http://schemas.openxmlformats.org/officeDocument/2006/relationships" r:blip="">
              <dgm:adjLst/>
            </dgm:shape>
            <dgm:presOf/>
            <dgm:constrLst>
              <dgm:constr type="w" for="ch" forName="parentTextArrow" refType="w" fact="0.25"/>
              <dgm:constr type="t" for="ch" forName="parentTextArrow"/>
              <dgm:constr type="h" for="ch" forName="parentTextArrow" refType="h" fact="0.65"/>
              <dgm:constr type="w" for="ch" forName="arrow" refType="w" fact="0.25"/>
              <dgm:constr type="h" for="ch" forName="arrow" refType="h"/>
              <dgm:constr type="l" for="ch" forName="descendantArrow" refType="w" fact="0.25"/>
              <dgm:constr type="w" for="ch" forName="descendantArrow" refType="w" fact="0.75"/>
              <dgm:constr type="b" for="ch" forName="descendantArrow" refType="h" fact="0.65"/>
              <dgm:constr type="h" for="ch" forName="descendantArrow" refType="h" fact="0.65"/>
            </dgm:constrLst>
            <dgm:ruleLst/>
            <dgm:layoutNode name="parentTextArrow">
              <dgm:alg type="tx"/>
              <dgm:choose name="Name21">
                <dgm:if name="Name22" axis="ch" ptType="node" func="cnt" op="gte" val="1">
                  <dgm:shape xmlns:r="http://schemas.openxmlformats.org/officeDocument/2006/relationships" type="rect" r:blip="" zOrderOff="1" hideGeom="1">
                    <dgm:adjLst/>
                  </dgm:shape>
                </dgm:if>
                <dgm:else name="Name23">
                  <dgm:shape xmlns:r="http://schemas.openxmlformats.org/officeDocument/2006/relationships" rot="180" type="upArrowCallout" r:blip="">
                    <dgm:adjLst/>
                  </dgm:shape>
                </dgm:else>
              </dgm:choose>
              <dgm:presOf axis="self"/>
              <dgm:constrLst>
                <dgm:constr type="primFontSz" refType="h" op="lte" fact="0.5"/>
                <dgm:constr type="lMarg" refType="w" fact="0.2016"/>
                <dgm:constr type="rMarg" refType="w" fact="0.2016"/>
              </dgm:constrLst>
              <dgm:ruleLst>
                <dgm:rule type="primFontSz" val="13" fact="NaN" max="NaN"/>
              </dgm:ruleLst>
            </dgm:layoutNode>
            <dgm:layoutNode name="arrow" styleLbl="alignNode1">
              <dgm:alg type="sp"/>
              <dgm:shape xmlns:r="http://schemas.openxmlformats.org/officeDocument/2006/relationships" rot="180" type="upArrowCallout" r:blip="">
                <dgm:adjLst>
                  <dgm:adj idx="1" val="0.05"/>
                  <dgm:adj idx="2" val="0.1"/>
                  <dgm:adj idx="3" val="0.15"/>
                </dgm:adjLst>
              </dgm:shape>
              <dgm:presOf axis="self"/>
              <dgm:constrLst/>
              <dgm:ruleLst/>
            </dgm:layoutNode>
            <dgm:layoutNode name="descendantArrow" styleLbl="bgAccFollowNode1">
              <dgm:alg type="tx">
                <dgm:param type="stBulletLvl" val="0"/>
                <dgm:param type="parTxLTRAlign" val="l"/>
              </dgm:alg>
              <dgm:shape xmlns:r="http://schemas.openxmlformats.org/officeDocument/2006/relationships" type="rect" r:blip="">
                <dgm:adjLst/>
              </dgm:shape>
              <dgm:presOf axis="des" ptType="node"/>
              <dgm:constrLst>
                <dgm:constr type="tMarg" refType="primFontSz"/>
                <dgm:constr type="bMarg" refType="primFontSz"/>
                <dgm:constr type="lMarg" refType="w" fact="0.0575"/>
                <dgm:constr type="rMarg" refType="w" fact="0.0575"/>
              </dgm:constrLst>
              <dgm:ruleLst>
                <dgm:rule type="primFontSz" val="11" fact="NaN" max="NaN"/>
              </dgm:ruleLst>
            </dgm:layoutNode>
          </dgm:layoutNode>
        </dgm:else>
      </dgm:choose>
      <dgm:forEach name="Name31" axis="precedSib" ptType="sibTrans" st="-1" cnt="1">
        <dgm:layoutNode name="sp">
          <dgm:alg type="sp"/>
          <dgm:shape xmlns:r="http://schemas.openxmlformats.org/officeDocument/2006/relationships" r:blip="">
            <dgm:adjLst/>
          </dgm:shape>
          <dgm:presOf axis="sel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5">
  <dgm:title val=""/>
  <dgm:desc val=""/>
  <dgm:catLst>
    <dgm:cat type="simple" pri="105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ln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3">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3">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0">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3">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DK"/>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E742ACD-0F18-E14C-99C6-E2FCF606A3AF}" type="datetimeFigureOut">
              <a:rPr lang="en-DK" smtClean="0"/>
              <a:t>23/05/2025</a:t>
            </a:fld>
            <a:endParaRPr lang="en-DK"/>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DK"/>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DK"/>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DK"/>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0AA28B0-211A-B640-96C3-6E3EBE2D2300}" type="slidenum">
              <a:rPr lang="en-DK" smtClean="0"/>
              <a:t>‹#›</a:t>
            </a:fld>
            <a:endParaRPr lang="en-DK"/>
          </a:p>
        </p:txBody>
      </p:sp>
    </p:spTree>
    <p:extLst>
      <p:ext uri="{BB962C8B-B14F-4D97-AF65-F5344CB8AC3E}">
        <p14:creationId xmlns:p14="http://schemas.microsoft.com/office/powerpoint/2010/main" val="220726009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DK" dirty="0"/>
          </a:p>
        </p:txBody>
      </p:sp>
      <p:sp>
        <p:nvSpPr>
          <p:cNvPr id="4" name="Slide Number Placeholder 3"/>
          <p:cNvSpPr>
            <a:spLocks noGrp="1"/>
          </p:cNvSpPr>
          <p:nvPr>
            <p:ph type="sldNum" sz="quarter" idx="5"/>
          </p:nvPr>
        </p:nvSpPr>
        <p:spPr/>
        <p:txBody>
          <a:bodyPr/>
          <a:lstStyle/>
          <a:p>
            <a:fld id="{90AA28B0-211A-B640-96C3-6E3EBE2D2300}" type="slidenum">
              <a:rPr lang="en-DK" smtClean="0"/>
              <a:t>1</a:t>
            </a:fld>
            <a:endParaRPr lang="en-DK"/>
          </a:p>
        </p:txBody>
      </p:sp>
    </p:spTree>
    <p:extLst>
      <p:ext uri="{BB962C8B-B14F-4D97-AF65-F5344CB8AC3E}">
        <p14:creationId xmlns:p14="http://schemas.microsoft.com/office/powerpoint/2010/main" val="121036204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b="1" i="0" kern="1200" dirty="0">
                <a:solidFill>
                  <a:schemeClr val="tx1"/>
                </a:solidFill>
                <a:effectLst/>
                <a:latin typeface="+mn-lt"/>
                <a:ea typeface="+mn-ea"/>
                <a:cs typeface="+mn-cs"/>
              </a:rPr>
              <a:t>In these first slides I am going to give examples of the impact of microbiome studies on the fields of medical health and planetary health</a:t>
            </a:r>
          </a:p>
          <a:p>
            <a:endParaRPr lang="en-DK" dirty="0"/>
          </a:p>
        </p:txBody>
      </p:sp>
      <p:sp>
        <p:nvSpPr>
          <p:cNvPr id="4" name="Slide Number Placeholder 3"/>
          <p:cNvSpPr>
            <a:spLocks noGrp="1"/>
          </p:cNvSpPr>
          <p:nvPr>
            <p:ph type="sldNum" sz="quarter" idx="5"/>
          </p:nvPr>
        </p:nvSpPr>
        <p:spPr/>
        <p:txBody>
          <a:bodyPr/>
          <a:lstStyle/>
          <a:p>
            <a:fld id="{90AA28B0-211A-B640-96C3-6E3EBE2D2300}" type="slidenum">
              <a:rPr lang="en-DK" smtClean="0"/>
              <a:t>2</a:t>
            </a:fld>
            <a:endParaRPr lang="en-DK"/>
          </a:p>
        </p:txBody>
      </p:sp>
    </p:spTree>
    <p:extLst>
      <p:ext uri="{BB962C8B-B14F-4D97-AF65-F5344CB8AC3E}">
        <p14:creationId xmlns:p14="http://schemas.microsoft.com/office/powerpoint/2010/main" val="405881061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b="1" i="0" kern="1200" dirty="0">
                <a:solidFill>
                  <a:schemeClr val="tx1"/>
                </a:solidFill>
                <a:effectLst/>
                <a:latin typeface="+mn-lt"/>
                <a:ea typeface="+mn-ea"/>
                <a:cs typeface="+mn-cs"/>
              </a:rPr>
              <a:t>Over more than a decade microbiome has been associated to a variety of disease becoming a really hot topic in science as it could be the target for disease treatments</a:t>
            </a:r>
          </a:p>
          <a:p>
            <a:endParaRPr lang="en-GB" sz="1200" b="1" i="0" kern="1200" dirty="0">
              <a:solidFill>
                <a:schemeClr val="tx1"/>
              </a:solidFill>
              <a:effectLst/>
              <a:latin typeface="+mn-lt"/>
              <a:ea typeface="+mn-ea"/>
              <a:cs typeface="+mn-cs"/>
            </a:endParaRPr>
          </a:p>
          <a:p>
            <a:r>
              <a:rPr lang="en-GB" sz="1200" b="1" i="0" kern="1200" dirty="0">
                <a:solidFill>
                  <a:schemeClr val="tx1"/>
                </a:solidFill>
                <a:effectLst/>
                <a:latin typeface="+mn-lt"/>
                <a:ea typeface="+mn-ea"/>
                <a:cs typeface="+mn-cs"/>
              </a:rPr>
              <a:t>Examples</a:t>
            </a:r>
          </a:p>
          <a:p>
            <a:endParaRPr lang="en-GB" sz="1200" b="1" i="0" kern="1200" dirty="0">
              <a:solidFill>
                <a:schemeClr val="tx1"/>
              </a:solidFill>
              <a:effectLst/>
              <a:latin typeface="+mn-lt"/>
              <a:ea typeface="+mn-ea"/>
              <a:cs typeface="+mn-cs"/>
            </a:endParaRPr>
          </a:p>
          <a:p>
            <a:r>
              <a:rPr lang="en-GB" sz="1200" b="1" i="0" kern="1200" dirty="0">
                <a:solidFill>
                  <a:schemeClr val="tx1"/>
                </a:solidFill>
                <a:effectLst/>
                <a:latin typeface="+mn-lt"/>
                <a:ea typeface="+mn-ea"/>
                <a:cs typeface="+mn-cs"/>
              </a:rPr>
              <a:t>For most of the diseases it is not known whether the microbiota is the cause or the consequence of the disease</a:t>
            </a:r>
          </a:p>
          <a:p>
            <a:endParaRPr lang="en-GB" sz="1200" b="1" i="0" kern="1200" dirty="0">
              <a:solidFill>
                <a:schemeClr val="tx1"/>
              </a:solidFill>
              <a:effectLst/>
              <a:latin typeface="+mn-lt"/>
              <a:ea typeface="+mn-ea"/>
              <a:cs typeface="+mn-cs"/>
            </a:endParaRPr>
          </a:p>
          <a:p>
            <a:r>
              <a:rPr lang="en-US" sz="1200" dirty="0"/>
              <a:t>For some diseases it may also be a disease modifier or may metabolize the drugs administered to the diseased individuals</a:t>
            </a:r>
          </a:p>
        </p:txBody>
      </p:sp>
      <p:sp>
        <p:nvSpPr>
          <p:cNvPr id="4" name="Slide Number Placeholder 3"/>
          <p:cNvSpPr>
            <a:spLocks noGrp="1"/>
          </p:cNvSpPr>
          <p:nvPr>
            <p:ph type="sldNum" sz="quarter" idx="5"/>
          </p:nvPr>
        </p:nvSpPr>
        <p:spPr/>
        <p:txBody>
          <a:bodyPr/>
          <a:lstStyle/>
          <a:p>
            <a:fld id="{90AA28B0-211A-B640-96C3-6E3EBE2D2300}" type="slidenum">
              <a:rPr lang="en-DK" smtClean="0"/>
              <a:t>3</a:t>
            </a:fld>
            <a:endParaRPr lang="en-DK"/>
          </a:p>
        </p:txBody>
      </p:sp>
    </p:spTree>
    <p:extLst>
      <p:ext uri="{BB962C8B-B14F-4D97-AF65-F5344CB8AC3E}">
        <p14:creationId xmlns:p14="http://schemas.microsoft.com/office/powerpoint/2010/main" val="193173687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DK" dirty="0"/>
              <a:t>In one of the pioneering studies, P. Turnbaugh and Ruth Ley showed that obesity was associated to gut microbiome. Microbiome from obese mice had higher capacity to harvest energy from the diet</a:t>
            </a:r>
          </a:p>
          <a:p>
            <a:endParaRPr lang="en-DK" dirty="0"/>
          </a:p>
          <a:p>
            <a:pPr marL="0" marR="0" lvl="0" indent="0" algn="l" defTabSz="914400" rtl="0" eaLnBrk="1" fontAlgn="auto" latinLnBrk="0" hangingPunct="1">
              <a:lnSpc>
                <a:spcPct val="100000"/>
              </a:lnSpc>
              <a:spcBef>
                <a:spcPts val="0"/>
              </a:spcBef>
              <a:spcAft>
                <a:spcPts val="0"/>
              </a:spcAft>
              <a:buClrTx/>
              <a:buSzTx/>
              <a:buFontTx/>
              <a:buNone/>
              <a:tabLst/>
              <a:defRPr/>
            </a:pPr>
            <a:r>
              <a:rPr lang="en-DK" dirty="0"/>
              <a:t>They also showed that the trait was transmissible! </a:t>
            </a:r>
            <a:r>
              <a:rPr lang="en-GB" dirty="0"/>
              <a:t>Colonization of germ-free mice with an ‘obese microbiota’ results in a significantly greater increase in total body fat than colonization with a ‘lean microbiota’</a:t>
            </a:r>
          </a:p>
          <a:p>
            <a:endParaRPr lang="en-DK" dirty="0"/>
          </a:p>
        </p:txBody>
      </p:sp>
      <p:sp>
        <p:nvSpPr>
          <p:cNvPr id="4" name="Slide Number Placeholder 3"/>
          <p:cNvSpPr>
            <a:spLocks noGrp="1"/>
          </p:cNvSpPr>
          <p:nvPr>
            <p:ph type="sldNum" sz="quarter" idx="5"/>
          </p:nvPr>
        </p:nvSpPr>
        <p:spPr/>
        <p:txBody>
          <a:bodyPr/>
          <a:lstStyle/>
          <a:p>
            <a:fld id="{90AA28B0-211A-B640-96C3-6E3EBE2D2300}" type="slidenum">
              <a:rPr lang="en-DK" smtClean="0"/>
              <a:t>4</a:t>
            </a:fld>
            <a:endParaRPr lang="en-DK"/>
          </a:p>
        </p:txBody>
      </p:sp>
    </p:spTree>
    <p:extLst>
      <p:ext uri="{BB962C8B-B14F-4D97-AF65-F5344CB8AC3E}">
        <p14:creationId xmlns:p14="http://schemas.microsoft.com/office/powerpoint/2010/main" val="392328639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DK" dirty="0"/>
              <a:t>Few years later the Human Microbiome consortium published their data based on thousands of samples showing that diversity of the human microbiome is concordant among measures, unique to each individual and strongly influenced by habitat.</a:t>
            </a:r>
          </a:p>
          <a:p>
            <a:endParaRPr lang="en-DK" dirty="0"/>
          </a:p>
          <a:p>
            <a:r>
              <a:rPr lang="en-DK" dirty="0"/>
              <a:t>They also reported that carriage of different taxa varies among individuals while metabolic pathways remain more stable within a healthy population</a:t>
            </a:r>
          </a:p>
          <a:p>
            <a:endParaRPr lang="en-DK" dirty="0"/>
          </a:p>
          <a:p>
            <a:r>
              <a:rPr lang="en-DK" dirty="0"/>
              <a:t>Q</a:t>
            </a:r>
          </a:p>
        </p:txBody>
      </p:sp>
      <p:sp>
        <p:nvSpPr>
          <p:cNvPr id="4" name="Slide Number Placeholder 3"/>
          <p:cNvSpPr>
            <a:spLocks noGrp="1"/>
          </p:cNvSpPr>
          <p:nvPr>
            <p:ph type="sldNum" sz="quarter" idx="5"/>
          </p:nvPr>
        </p:nvSpPr>
        <p:spPr/>
        <p:txBody>
          <a:bodyPr/>
          <a:lstStyle/>
          <a:p>
            <a:fld id="{90AA28B0-211A-B640-96C3-6E3EBE2D2300}" type="slidenum">
              <a:rPr lang="en-DK" smtClean="0"/>
              <a:t>5</a:t>
            </a:fld>
            <a:endParaRPr lang="en-DK"/>
          </a:p>
        </p:txBody>
      </p:sp>
    </p:spTree>
    <p:extLst>
      <p:ext uri="{BB962C8B-B14F-4D97-AF65-F5344CB8AC3E}">
        <p14:creationId xmlns:p14="http://schemas.microsoft.com/office/powerpoint/2010/main" val="110231413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DK" dirty="0"/>
              <a:t>Meanwhile the analogous European initiative called MetaHIT consortium published their data showing that bacterial richness correlated with metabolic markers</a:t>
            </a:r>
          </a:p>
          <a:p>
            <a:endParaRPr lang="en-DK" dirty="0"/>
          </a:p>
          <a:p>
            <a:pPr marL="0" marR="0" lvl="0" indent="0" algn="l" defTabSz="914400" rtl="0" eaLnBrk="1" fontAlgn="auto" latinLnBrk="0" hangingPunct="1">
              <a:lnSpc>
                <a:spcPct val="100000"/>
              </a:lnSpc>
              <a:spcBef>
                <a:spcPts val="0"/>
              </a:spcBef>
              <a:spcAft>
                <a:spcPts val="0"/>
              </a:spcAft>
              <a:buClrTx/>
              <a:buSzTx/>
              <a:buFontTx/>
              <a:buNone/>
              <a:tabLst/>
              <a:defRPr/>
            </a:pPr>
            <a:r>
              <a:rPr lang="en-DK" dirty="0"/>
              <a:t>More precisely, </a:t>
            </a:r>
            <a:r>
              <a:rPr lang="en-GB" dirty="0"/>
              <a:t>individuals with a low bacterial gene richness are characterized by more marked overall adiposity, insulin resistance and dyslipidaemia and a more pronounced inflammatory phenotype when compared with high bacterial richness individuals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DK" dirty="0"/>
          </a:p>
          <a:p>
            <a:pPr marL="0" marR="0" lvl="0" indent="0" algn="l" defTabSz="914400" rtl="0" eaLnBrk="1" fontAlgn="auto" latinLnBrk="0" hangingPunct="1">
              <a:lnSpc>
                <a:spcPct val="100000"/>
              </a:lnSpc>
              <a:spcBef>
                <a:spcPts val="0"/>
              </a:spcBef>
              <a:spcAft>
                <a:spcPts val="0"/>
              </a:spcAft>
              <a:buClrTx/>
              <a:buSzTx/>
              <a:buFontTx/>
              <a:buNone/>
              <a:tabLst/>
              <a:defRPr/>
            </a:pPr>
            <a:r>
              <a:rPr lang="en-DK" dirty="0"/>
              <a:t>Individuals with lower number of genes (gene richness) and higher BMI had less efficient weight loss when following a diet</a:t>
            </a:r>
          </a:p>
          <a:p>
            <a:pPr marL="0" marR="0" lvl="0" indent="0" algn="l" defTabSz="914400" rtl="0" eaLnBrk="1" fontAlgn="auto" latinLnBrk="0" hangingPunct="1">
              <a:lnSpc>
                <a:spcPct val="100000"/>
              </a:lnSpc>
              <a:spcBef>
                <a:spcPts val="0"/>
              </a:spcBef>
              <a:spcAft>
                <a:spcPts val="0"/>
              </a:spcAft>
              <a:buClrTx/>
              <a:buSzTx/>
              <a:buFontTx/>
              <a:buNone/>
              <a:tabLst/>
              <a:defRPr/>
            </a:pPr>
            <a:br>
              <a:rPr lang="en-DK" dirty="0"/>
            </a:br>
            <a:r>
              <a:rPr lang="en-DK" dirty="0"/>
              <a:t>So diversity could be related to health markers! </a:t>
            </a:r>
          </a:p>
          <a:p>
            <a:endParaRPr lang="en-DK" dirty="0"/>
          </a:p>
        </p:txBody>
      </p:sp>
      <p:sp>
        <p:nvSpPr>
          <p:cNvPr id="4" name="Slide Number Placeholder 3"/>
          <p:cNvSpPr>
            <a:spLocks noGrp="1"/>
          </p:cNvSpPr>
          <p:nvPr>
            <p:ph type="sldNum" sz="quarter" idx="5"/>
          </p:nvPr>
        </p:nvSpPr>
        <p:spPr/>
        <p:txBody>
          <a:bodyPr/>
          <a:lstStyle/>
          <a:p>
            <a:fld id="{90AA28B0-211A-B640-96C3-6E3EBE2D2300}" type="slidenum">
              <a:rPr lang="en-DK" smtClean="0"/>
              <a:t>6</a:t>
            </a:fld>
            <a:endParaRPr lang="en-DK"/>
          </a:p>
        </p:txBody>
      </p:sp>
    </p:spTree>
    <p:extLst>
      <p:ext uri="{BB962C8B-B14F-4D97-AF65-F5344CB8AC3E}">
        <p14:creationId xmlns:p14="http://schemas.microsoft.com/office/powerpoint/2010/main" val="69237034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DK" dirty="0"/>
              <a:t>Probably you have heard about microbial therapies? Probiotics, prebiotics, … and one of the most promising ones is a fecal material transplantation where the microbiota of a healthy donor is encapsulated in a pill that is given to a sick patient (the recipient) to restore the patient microbiome and cure the disease. </a:t>
            </a:r>
            <a:br>
              <a:rPr lang="en-DK" dirty="0"/>
            </a:br>
            <a:br>
              <a:rPr lang="en-DK" dirty="0"/>
            </a:br>
            <a:r>
              <a:rPr lang="en-DK" dirty="0"/>
              <a:t>This has been succesfully used to cure Clostridioides difficile  infection with higher percentages of cured patients without relapse compared to the standard treatment (vancomycin). </a:t>
            </a:r>
          </a:p>
          <a:p>
            <a:endParaRPr lang="en-DK" dirty="0"/>
          </a:p>
          <a:p>
            <a:pPr marL="0" marR="0" lvl="0" indent="0" algn="l" defTabSz="914400" rtl="0" eaLnBrk="1" fontAlgn="auto" latinLnBrk="0" hangingPunct="1">
              <a:lnSpc>
                <a:spcPct val="100000"/>
              </a:lnSpc>
              <a:spcBef>
                <a:spcPts val="0"/>
              </a:spcBef>
              <a:spcAft>
                <a:spcPts val="0"/>
              </a:spcAft>
              <a:buClrTx/>
              <a:buSzTx/>
              <a:buFontTx/>
              <a:buNone/>
              <a:tabLst/>
              <a:defRPr/>
            </a:pPr>
            <a:r>
              <a:rPr lang="en-DK" dirty="0"/>
              <a:t>Diversity (Simpson’s index) of patients after FMT resemble more the donors diversity</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DK" dirty="0"/>
          </a:p>
          <a:p>
            <a:pPr marL="0" marR="0" lvl="0" indent="0" algn="l" defTabSz="914400" rtl="0" eaLnBrk="1" fontAlgn="auto" latinLnBrk="0" hangingPunct="1">
              <a:lnSpc>
                <a:spcPct val="100000"/>
              </a:lnSpc>
              <a:spcBef>
                <a:spcPts val="0"/>
              </a:spcBef>
              <a:spcAft>
                <a:spcPts val="0"/>
              </a:spcAft>
              <a:buClrTx/>
              <a:buSzTx/>
              <a:buFontTx/>
              <a:buNone/>
              <a:tabLst/>
              <a:defRPr/>
            </a:pPr>
            <a:r>
              <a:rPr lang="en-DK" dirty="0"/>
              <a:t>It has been tried in other disesases like IBD and cancer with different rates of success.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DK" dirty="0"/>
          </a:p>
          <a:p>
            <a:endParaRPr lang="en-DK" dirty="0"/>
          </a:p>
        </p:txBody>
      </p:sp>
      <p:sp>
        <p:nvSpPr>
          <p:cNvPr id="4" name="Slide Number Placeholder 3"/>
          <p:cNvSpPr>
            <a:spLocks noGrp="1"/>
          </p:cNvSpPr>
          <p:nvPr>
            <p:ph type="sldNum" sz="quarter" idx="5"/>
          </p:nvPr>
        </p:nvSpPr>
        <p:spPr/>
        <p:txBody>
          <a:bodyPr/>
          <a:lstStyle/>
          <a:p>
            <a:fld id="{90AA28B0-211A-B640-96C3-6E3EBE2D2300}" type="slidenum">
              <a:rPr lang="en-DK" smtClean="0"/>
              <a:t>7</a:t>
            </a:fld>
            <a:endParaRPr lang="en-DK"/>
          </a:p>
        </p:txBody>
      </p:sp>
    </p:spTree>
    <p:extLst>
      <p:ext uri="{BB962C8B-B14F-4D97-AF65-F5344CB8AC3E}">
        <p14:creationId xmlns:p14="http://schemas.microsoft.com/office/powerpoint/2010/main" val="161203893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sz="1200" b="1" i="0" kern="1200" dirty="0">
                <a:solidFill>
                  <a:schemeClr val="tx1"/>
                </a:solidFill>
                <a:effectLst/>
                <a:latin typeface="+mn-lt"/>
                <a:ea typeface="+mn-ea"/>
                <a:cs typeface="+mn-cs"/>
              </a:rPr>
              <a:t>So for you to get an idea of how promising is this therapy here is an overview of ongoing clinical trials in which the efficacy of FMT is tested for a range of different diseases</a:t>
            </a:r>
            <a:endParaRPr lang="en-DK" dirty="0"/>
          </a:p>
        </p:txBody>
      </p:sp>
      <p:sp>
        <p:nvSpPr>
          <p:cNvPr id="4" name="Slide Number Placeholder 3"/>
          <p:cNvSpPr>
            <a:spLocks noGrp="1"/>
          </p:cNvSpPr>
          <p:nvPr>
            <p:ph type="sldNum" sz="quarter" idx="5"/>
          </p:nvPr>
        </p:nvSpPr>
        <p:spPr/>
        <p:txBody>
          <a:bodyPr/>
          <a:lstStyle/>
          <a:p>
            <a:fld id="{90AA28B0-211A-B640-96C3-6E3EBE2D2300}" type="slidenum">
              <a:rPr lang="en-DK" smtClean="0"/>
              <a:t>8</a:t>
            </a:fld>
            <a:endParaRPr lang="en-DK"/>
          </a:p>
        </p:txBody>
      </p:sp>
    </p:spTree>
    <p:extLst>
      <p:ext uri="{BB962C8B-B14F-4D97-AF65-F5344CB8AC3E}">
        <p14:creationId xmlns:p14="http://schemas.microsoft.com/office/powerpoint/2010/main" val="205275118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DK" dirty="0"/>
              <a:t>Finally to conclude the papers related to medical health, I wanted to highlight a series of back to back papers in Science showing how gut bacteria can affect patient responses to cancer immunotherapy</a:t>
            </a:r>
          </a:p>
          <a:p>
            <a:endParaRPr lang="en-DK" dirty="0"/>
          </a:p>
          <a:p>
            <a:r>
              <a:rPr lang="en-DK" dirty="0"/>
              <a:t>Basically these papers demonstrated better reponse to cancer immunotherapy on patients with higher gut microbiome diversity or presence of good key bacteria in their guts and worse responses on lower diversity or imbalanced microbiomes.</a:t>
            </a:r>
          </a:p>
        </p:txBody>
      </p:sp>
      <p:sp>
        <p:nvSpPr>
          <p:cNvPr id="4" name="Slide Number Placeholder 3"/>
          <p:cNvSpPr>
            <a:spLocks noGrp="1"/>
          </p:cNvSpPr>
          <p:nvPr>
            <p:ph type="sldNum" sz="quarter" idx="5"/>
          </p:nvPr>
        </p:nvSpPr>
        <p:spPr/>
        <p:txBody>
          <a:bodyPr/>
          <a:lstStyle/>
          <a:p>
            <a:fld id="{90AA28B0-211A-B640-96C3-6E3EBE2D2300}" type="slidenum">
              <a:rPr lang="en-DK" smtClean="0"/>
              <a:t>9</a:t>
            </a:fld>
            <a:endParaRPr lang="en-DK"/>
          </a:p>
        </p:txBody>
      </p:sp>
    </p:spTree>
    <p:extLst>
      <p:ext uri="{BB962C8B-B14F-4D97-AF65-F5344CB8AC3E}">
        <p14:creationId xmlns:p14="http://schemas.microsoft.com/office/powerpoint/2010/main" val="188648787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DK" dirty="0"/>
              <a:t>Now let’s have a look to impactful microbiome studies in environmental health.</a:t>
            </a:r>
            <a:br>
              <a:rPr lang="en-DK" dirty="0"/>
            </a:br>
            <a:br>
              <a:rPr lang="en-DK" dirty="0"/>
            </a:br>
            <a:r>
              <a:rPr lang="en-DK" dirty="0"/>
              <a:t>Few years ago, it was published the first genomic catalog of the Earth’s microbiome with more than 10,000 samples collected from diverse habitats comprising host associated, aquatic, terrestrials, air and engineered microbiomes</a:t>
            </a:r>
          </a:p>
          <a:p>
            <a:endParaRPr lang="en-DK" dirty="0"/>
          </a:p>
          <a:p>
            <a:r>
              <a:rPr lang="en-DK" dirty="0"/>
              <a:t>To give an idea of the volume of data reported:</a:t>
            </a:r>
          </a:p>
          <a:p>
            <a:pPr marL="285750" indent="-285750">
              <a:buFont typeface="Arial" panose="020B0604020202020204" pitchFamily="34" charset="0"/>
              <a:buChar char="•"/>
            </a:pPr>
            <a:r>
              <a:rPr lang="en-GB" sz="1200" dirty="0"/>
              <a:t>52,515 metagenome-assembled genomes representing 12,556 novel candidate species from 135 different phyla</a:t>
            </a:r>
          </a:p>
          <a:p>
            <a:pPr marL="285750" indent="-285750">
              <a:buFont typeface="Arial" panose="020B0604020202020204" pitchFamily="34" charset="0"/>
              <a:buChar char="•"/>
            </a:pPr>
            <a:r>
              <a:rPr lang="en-GB" sz="1200" dirty="0"/>
              <a:t>Performing metabolic modelling, understanding secondary-metabolite biosynthetic potential and for resolving thousands of new host linkages to uncultivated viruses</a:t>
            </a:r>
          </a:p>
          <a:p>
            <a:endParaRPr lang="en-DK" dirty="0"/>
          </a:p>
        </p:txBody>
      </p:sp>
      <p:sp>
        <p:nvSpPr>
          <p:cNvPr id="4" name="Slide Number Placeholder 3"/>
          <p:cNvSpPr>
            <a:spLocks noGrp="1"/>
          </p:cNvSpPr>
          <p:nvPr>
            <p:ph type="sldNum" sz="quarter" idx="5"/>
          </p:nvPr>
        </p:nvSpPr>
        <p:spPr/>
        <p:txBody>
          <a:bodyPr/>
          <a:lstStyle/>
          <a:p>
            <a:fld id="{90AA28B0-211A-B640-96C3-6E3EBE2D2300}" type="slidenum">
              <a:rPr lang="en-DK" smtClean="0"/>
              <a:t>10</a:t>
            </a:fld>
            <a:endParaRPr lang="en-DK"/>
          </a:p>
        </p:txBody>
      </p:sp>
    </p:spTree>
    <p:extLst>
      <p:ext uri="{BB962C8B-B14F-4D97-AF65-F5344CB8AC3E}">
        <p14:creationId xmlns:p14="http://schemas.microsoft.com/office/powerpoint/2010/main" val="195200060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285750" indent="-285750">
              <a:buFont typeface="Arial" panose="020B0604020202020204" pitchFamily="34" charset="0"/>
              <a:buChar char="•"/>
            </a:pPr>
            <a:endParaRPr lang="en-GB" sz="1200" dirty="0"/>
          </a:p>
          <a:p>
            <a:pPr marL="0" indent="0">
              <a:buFont typeface="Arial" panose="020B0604020202020204" pitchFamily="34" charset="0"/>
              <a:buNone/>
            </a:pPr>
            <a:r>
              <a:rPr lang="en-GB" sz="1200" dirty="0"/>
              <a:t>Another type of microbial study, </a:t>
            </a:r>
            <a:r>
              <a:rPr lang="en-GB" sz="1200" dirty="0" err="1"/>
              <a:t>resistome</a:t>
            </a:r>
            <a:r>
              <a:rPr lang="en-GB" sz="1200" dirty="0"/>
              <a:t> analysis. I am sure you must have heard that Antimicrobial resistance is a major threat to global health mostly due to the abuse of antibiotic prescription and the utilization of antibiotics on agriculture and farming</a:t>
            </a:r>
          </a:p>
          <a:p>
            <a:pPr marL="0" indent="0">
              <a:buFont typeface="Arial" panose="020B0604020202020204" pitchFamily="34" charset="0"/>
              <a:buNone/>
            </a:pPr>
            <a:endParaRPr lang="en-GB" sz="1200" dirty="0"/>
          </a:p>
          <a:p>
            <a:pPr marL="0" indent="0">
              <a:buFont typeface="Arial" panose="020B0604020202020204" pitchFamily="34" charset="0"/>
              <a:buNone/>
            </a:pPr>
            <a:r>
              <a:rPr lang="en-GB" sz="1200" dirty="0"/>
              <a:t>Our colleagues from DTU Food in collaboration with The Global Sewage Surveillance consortium worked on a </a:t>
            </a:r>
            <a:r>
              <a:rPr lang="en-DK" sz="1200" dirty="0"/>
              <a:t>global resistome based on sewage-based monitoring, where they could describe the ARG abundance around the world revealing regional patterns reflecting taxonomical changes</a:t>
            </a:r>
            <a:endParaRPr lang="en-GB" sz="1200" dirty="0"/>
          </a:p>
          <a:p>
            <a:endParaRPr lang="en-GB"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GB" sz="1200" dirty="0"/>
              <a:t>Understanding the emergence, evolution, and transmission of individual antibiotic resistance genes (ARGs) is essential to develop sustainable strategies to fight this threat</a:t>
            </a:r>
          </a:p>
          <a:p>
            <a:br>
              <a:rPr lang="en-GB" sz="1200" b="0" i="0" kern="1200" dirty="0">
                <a:solidFill>
                  <a:schemeClr val="tx1"/>
                </a:solidFill>
                <a:effectLst/>
                <a:latin typeface="+mn-lt"/>
                <a:ea typeface="+mn-ea"/>
                <a:cs typeface="+mn-cs"/>
              </a:rPr>
            </a:br>
            <a:r>
              <a:rPr lang="en-GB" sz="1200" b="0" i="0" kern="1200" dirty="0">
                <a:solidFill>
                  <a:schemeClr val="tx1"/>
                </a:solidFill>
                <a:effectLst/>
                <a:latin typeface="+mn-lt"/>
                <a:ea typeface="+mn-ea"/>
                <a:cs typeface="+mn-cs"/>
              </a:rPr>
              <a:t>Fig b. Stacked bar chart of relative abundances per drug class per country. Each panel represent countries in a World Bank region and is ordered by the Shannon diversity of class-level AMR.</a:t>
            </a:r>
            <a:endParaRPr lang="en-DK" dirty="0"/>
          </a:p>
        </p:txBody>
      </p:sp>
      <p:sp>
        <p:nvSpPr>
          <p:cNvPr id="4" name="Slide Number Placeholder 3"/>
          <p:cNvSpPr>
            <a:spLocks noGrp="1"/>
          </p:cNvSpPr>
          <p:nvPr>
            <p:ph type="sldNum" sz="quarter" idx="5"/>
          </p:nvPr>
        </p:nvSpPr>
        <p:spPr/>
        <p:txBody>
          <a:bodyPr/>
          <a:lstStyle/>
          <a:p>
            <a:fld id="{90AA28B0-211A-B640-96C3-6E3EBE2D2300}" type="slidenum">
              <a:rPr lang="en-DK" smtClean="0"/>
              <a:t>11</a:t>
            </a:fld>
            <a:endParaRPr lang="en-DK"/>
          </a:p>
        </p:txBody>
      </p:sp>
    </p:spTree>
    <p:extLst>
      <p:ext uri="{BB962C8B-B14F-4D97-AF65-F5344CB8AC3E}">
        <p14:creationId xmlns:p14="http://schemas.microsoft.com/office/powerpoint/2010/main" val="101288333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DK" dirty="0"/>
              <a:t>Another very interesting study was the study of microbial communities at the Deepwater Hozon oil spill site</a:t>
            </a:r>
            <a:br>
              <a:rPr lang="en-DK" dirty="0"/>
            </a:br>
            <a:br>
              <a:rPr lang="en-DK" dirty="0"/>
            </a:br>
            <a:r>
              <a:rPr lang="en-DK" dirty="0"/>
              <a:t>In this </a:t>
            </a:r>
            <a:r>
              <a:rPr lang="en-GB" sz="1200" dirty="0"/>
              <a:t>Metagenomic Analysis of sediment samples from 64 sites in the Gulf of Mexico, </a:t>
            </a:r>
            <a:r>
              <a:rPr lang="en-GB" sz="1200" dirty="0" err="1"/>
              <a:t>characteryzing</a:t>
            </a:r>
            <a:r>
              <a:rPr lang="en-GB" sz="1200" dirty="0"/>
              <a:t> microbial community's response to the oil spill.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en-DK" dirty="0"/>
              <a:t>They found that </a:t>
            </a:r>
            <a:r>
              <a:rPr lang="en-GB" sz="1200" dirty="0"/>
              <a:t>Uncultured </a:t>
            </a:r>
            <a:r>
              <a:rPr lang="en-GB" sz="1200" i="1" dirty="0" err="1"/>
              <a:t>Gammaproteobacterium</a:t>
            </a:r>
            <a:r>
              <a:rPr lang="en-GB" sz="1200" dirty="0"/>
              <a:t> and </a:t>
            </a:r>
            <a:r>
              <a:rPr lang="en-GB" sz="1200" i="1" dirty="0" err="1"/>
              <a:t>Colwellia</a:t>
            </a:r>
            <a:r>
              <a:rPr lang="en-GB" sz="1200" dirty="0"/>
              <a:t> species, that were enriched in oil-impacted sediments, highlighting their roles in hydrocarbon degradation</a:t>
            </a:r>
          </a:p>
          <a:p>
            <a:pPr marL="0" marR="0" lvl="0" indent="0" algn="l" defTabSz="914400" rtl="0" eaLnBrk="1" fontAlgn="auto" latinLnBrk="0" hangingPunct="1">
              <a:lnSpc>
                <a:spcPct val="100000"/>
              </a:lnSpc>
              <a:spcBef>
                <a:spcPts val="0"/>
              </a:spcBef>
              <a:spcAft>
                <a:spcPts val="0"/>
              </a:spcAft>
              <a:buClrTx/>
              <a:buSzTx/>
              <a:buFontTx/>
              <a:buNone/>
              <a:tabLst/>
              <a:defRPr/>
            </a:pPr>
            <a:br>
              <a:rPr lang="en-GB" sz="1200" dirty="0"/>
            </a:br>
            <a:r>
              <a:rPr lang="en-GB" sz="1200" dirty="0"/>
              <a:t>Also an increase on the abundance of genes associated with hydrocarbon degradation pathways, including those involved in aliphatic and aromatic hydrocarbon breakdown, indicating an adaptive microbial response to oil contamination.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sz="1200" dirty="0"/>
              <a:t>The study emphasized the importance of microbial communities in natural bioremediation processes.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12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1200" dirty="0"/>
          </a:p>
          <a:p>
            <a:endParaRPr lang="en-DK" dirty="0"/>
          </a:p>
        </p:txBody>
      </p:sp>
      <p:sp>
        <p:nvSpPr>
          <p:cNvPr id="4" name="Slide Number Placeholder 3"/>
          <p:cNvSpPr>
            <a:spLocks noGrp="1"/>
          </p:cNvSpPr>
          <p:nvPr>
            <p:ph type="sldNum" sz="quarter" idx="5"/>
          </p:nvPr>
        </p:nvSpPr>
        <p:spPr/>
        <p:txBody>
          <a:bodyPr/>
          <a:lstStyle/>
          <a:p>
            <a:fld id="{90AA28B0-211A-B640-96C3-6E3EBE2D2300}" type="slidenum">
              <a:rPr lang="en-DK" smtClean="0"/>
              <a:t>12</a:t>
            </a:fld>
            <a:endParaRPr lang="en-DK"/>
          </a:p>
        </p:txBody>
      </p:sp>
    </p:spTree>
    <p:extLst>
      <p:ext uri="{BB962C8B-B14F-4D97-AF65-F5344CB8AC3E}">
        <p14:creationId xmlns:p14="http://schemas.microsoft.com/office/powerpoint/2010/main" val="220429168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DK" dirty="0"/>
              <a:t>And the final example of this section is the Global ocean microbiome within the Tara Oceans initiative</a:t>
            </a:r>
          </a:p>
          <a:p>
            <a:endParaRPr lang="en-DK" dirty="0"/>
          </a:p>
          <a:p>
            <a:pPr marL="0" marR="0" lvl="0" indent="0" algn="l" defTabSz="914400" rtl="0" eaLnBrk="1" fontAlgn="auto" latinLnBrk="0" hangingPunct="1">
              <a:lnSpc>
                <a:spcPct val="100000"/>
              </a:lnSpc>
              <a:spcBef>
                <a:spcPts val="0"/>
              </a:spcBef>
              <a:spcAft>
                <a:spcPts val="0"/>
              </a:spcAft>
              <a:buClrTx/>
              <a:buSzTx/>
              <a:buFontTx/>
              <a:buNone/>
              <a:tabLst/>
              <a:defRPr/>
            </a:pPr>
            <a:r>
              <a:rPr lang="en-DK" dirty="0"/>
              <a:t>They </a:t>
            </a:r>
            <a:r>
              <a:rPr lang="en-GB" dirty="0" err="1"/>
              <a:t>Characteryzed</a:t>
            </a:r>
            <a:r>
              <a:rPr lang="en-GB" dirty="0"/>
              <a:t> ~1,000 non-redundant microbial genomes from the TARA Oceans metagenomes</a:t>
            </a:r>
          </a:p>
          <a:p>
            <a:endParaRPr lang="en-DK" dirty="0"/>
          </a:p>
          <a:p>
            <a:pPr marL="0" indent="0">
              <a:buFont typeface="Arial" panose="020B0604020202020204" pitchFamily="34" charset="0"/>
              <a:buNone/>
            </a:pPr>
            <a:r>
              <a:rPr lang="en-GB" dirty="0"/>
              <a:t>Nitrogen fixation in the surface ocean impacts global marine nitrogen bioavailability and thus microbial primary productivity</a:t>
            </a:r>
            <a:br>
              <a:rPr lang="en-GB" dirty="0"/>
            </a:br>
            <a:br>
              <a:rPr lang="en-GB" dirty="0"/>
            </a:br>
            <a:r>
              <a:rPr lang="en-GB" dirty="0"/>
              <a:t>Usually this is done by cyanobacteria but in this study they described Non-cyanobacterial diazotrophs inhabiting surface waters of the open ocean, which correspond to lineages within the Proteobacteria and Planctomycetes</a:t>
            </a:r>
            <a:endParaRPr lang="en-DK" sz="1100"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a:p>
            <a:endParaRPr lang="en-DK" dirty="0"/>
          </a:p>
          <a:p>
            <a:endParaRPr lang="en-DK" dirty="0"/>
          </a:p>
        </p:txBody>
      </p:sp>
      <p:sp>
        <p:nvSpPr>
          <p:cNvPr id="4" name="Slide Number Placeholder 3"/>
          <p:cNvSpPr>
            <a:spLocks noGrp="1"/>
          </p:cNvSpPr>
          <p:nvPr>
            <p:ph type="sldNum" sz="quarter" idx="5"/>
          </p:nvPr>
        </p:nvSpPr>
        <p:spPr/>
        <p:txBody>
          <a:bodyPr/>
          <a:lstStyle/>
          <a:p>
            <a:fld id="{90AA28B0-211A-B640-96C3-6E3EBE2D2300}" type="slidenum">
              <a:rPr lang="en-DK" smtClean="0"/>
              <a:t>13</a:t>
            </a:fld>
            <a:endParaRPr lang="en-DK"/>
          </a:p>
        </p:txBody>
      </p:sp>
    </p:spTree>
    <p:extLst>
      <p:ext uri="{BB962C8B-B14F-4D97-AF65-F5344CB8AC3E}">
        <p14:creationId xmlns:p14="http://schemas.microsoft.com/office/powerpoint/2010/main" val="338909402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AD9F90-13BF-CD13-7A45-4AF44890907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A05BC5C-7F2F-263A-6455-210DF531970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3458256-1B8F-17CE-F7A0-A27DECBB50E2}"/>
              </a:ext>
            </a:extLst>
          </p:cNvPr>
          <p:cNvSpPr>
            <a:spLocks noGrp="1"/>
          </p:cNvSpPr>
          <p:nvPr>
            <p:ph type="body" idx="1"/>
          </p:nvPr>
        </p:nvSpPr>
        <p:spPr/>
        <p:txBody>
          <a:bodyPr/>
          <a:lstStyle/>
          <a:p>
            <a:r>
              <a:rPr lang="en-DK" dirty="0"/>
              <a:t>Now we are going to define what is metagenomics</a:t>
            </a:r>
          </a:p>
        </p:txBody>
      </p:sp>
      <p:sp>
        <p:nvSpPr>
          <p:cNvPr id="4" name="Slide Number Placeholder 3">
            <a:extLst>
              <a:ext uri="{FF2B5EF4-FFF2-40B4-BE49-F238E27FC236}">
                <a16:creationId xmlns:a16="http://schemas.microsoft.com/office/drawing/2014/main" id="{44324D11-697D-BE6E-271D-B1B7444D1A77}"/>
              </a:ext>
            </a:extLst>
          </p:cNvPr>
          <p:cNvSpPr>
            <a:spLocks noGrp="1"/>
          </p:cNvSpPr>
          <p:nvPr>
            <p:ph type="sldNum" sz="quarter" idx="5"/>
          </p:nvPr>
        </p:nvSpPr>
        <p:spPr/>
        <p:txBody>
          <a:bodyPr/>
          <a:lstStyle/>
          <a:p>
            <a:fld id="{90AA28B0-211A-B640-96C3-6E3EBE2D2300}" type="slidenum">
              <a:rPr lang="en-DK" smtClean="0"/>
              <a:t>14</a:t>
            </a:fld>
            <a:endParaRPr lang="en-DK"/>
          </a:p>
        </p:txBody>
      </p:sp>
    </p:spTree>
    <p:extLst>
      <p:ext uri="{BB962C8B-B14F-4D97-AF65-F5344CB8AC3E}">
        <p14:creationId xmlns:p14="http://schemas.microsoft.com/office/powerpoint/2010/main" val="291835920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3F2505-FA1E-C823-45DA-A5C7D26AA1D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C5B7380-AEFA-B21A-AA3D-D99CF339463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0C1CDDC-1A50-CA7A-80A6-1EC9942E2153}"/>
              </a:ext>
            </a:extLst>
          </p:cNvPr>
          <p:cNvSpPr>
            <a:spLocks noGrp="1"/>
          </p:cNvSpPr>
          <p:nvPr>
            <p:ph type="body" idx="1"/>
          </p:nvPr>
        </p:nvSpPr>
        <p:spPr/>
        <p:txBody>
          <a:bodyPr/>
          <a:lstStyle/>
          <a:p>
            <a:r>
              <a:rPr lang="en-DK" dirty="0"/>
              <a:t>What do you expecto to fin in a microbiome?</a:t>
            </a:r>
            <a:br>
              <a:rPr lang="en-DK" dirty="0"/>
            </a:br>
            <a:br>
              <a:rPr lang="en-DK" dirty="0"/>
            </a:br>
            <a:r>
              <a:rPr lang="en-DK" dirty="0"/>
              <a:t>Where do you expect to fin microbe communities?</a:t>
            </a:r>
          </a:p>
          <a:p>
            <a:endParaRPr lang="en-DK" dirty="0"/>
          </a:p>
          <a:p>
            <a:r>
              <a:rPr lang="en-DK" dirty="0"/>
              <a:t>What other products you can find in a microbiome sample?</a:t>
            </a:r>
            <a:br>
              <a:rPr lang="en-DK" dirty="0"/>
            </a:br>
            <a:endParaRPr lang="en-DK" dirty="0"/>
          </a:p>
        </p:txBody>
      </p:sp>
      <p:sp>
        <p:nvSpPr>
          <p:cNvPr id="4" name="Slide Number Placeholder 3">
            <a:extLst>
              <a:ext uri="{FF2B5EF4-FFF2-40B4-BE49-F238E27FC236}">
                <a16:creationId xmlns:a16="http://schemas.microsoft.com/office/drawing/2014/main" id="{70CA7C28-7ECA-C73A-7B5A-BC867D386D94}"/>
              </a:ext>
            </a:extLst>
          </p:cNvPr>
          <p:cNvSpPr>
            <a:spLocks noGrp="1"/>
          </p:cNvSpPr>
          <p:nvPr>
            <p:ph type="sldNum" sz="quarter" idx="5"/>
          </p:nvPr>
        </p:nvSpPr>
        <p:spPr/>
        <p:txBody>
          <a:bodyPr/>
          <a:lstStyle/>
          <a:p>
            <a:fld id="{90AA28B0-211A-B640-96C3-6E3EBE2D2300}" type="slidenum">
              <a:rPr lang="en-DK" smtClean="0"/>
              <a:t>15</a:t>
            </a:fld>
            <a:endParaRPr lang="en-DK"/>
          </a:p>
        </p:txBody>
      </p:sp>
    </p:spTree>
    <p:extLst>
      <p:ext uri="{BB962C8B-B14F-4D97-AF65-F5344CB8AC3E}">
        <p14:creationId xmlns:p14="http://schemas.microsoft.com/office/powerpoint/2010/main" val="370281563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DK" dirty="0"/>
          </a:p>
        </p:txBody>
      </p:sp>
      <p:sp>
        <p:nvSpPr>
          <p:cNvPr id="4" name="Slide Number Placeholder 3"/>
          <p:cNvSpPr>
            <a:spLocks noGrp="1"/>
          </p:cNvSpPr>
          <p:nvPr>
            <p:ph type="sldNum" sz="quarter" idx="5"/>
          </p:nvPr>
        </p:nvSpPr>
        <p:spPr/>
        <p:txBody>
          <a:bodyPr/>
          <a:lstStyle/>
          <a:p>
            <a:fld id="{90AA28B0-211A-B640-96C3-6E3EBE2D2300}" type="slidenum">
              <a:rPr lang="en-DK" smtClean="0"/>
              <a:t>16</a:t>
            </a:fld>
            <a:endParaRPr lang="en-DK"/>
          </a:p>
        </p:txBody>
      </p:sp>
    </p:spTree>
    <p:extLst>
      <p:ext uri="{BB962C8B-B14F-4D97-AF65-F5344CB8AC3E}">
        <p14:creationId xmlns:p14="http://schemas.microsoft.com/office/powerpoint/2010/main" val="307264844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DK" sz="1200" dirty="0"/>
              <a:t>Study of the genetic material sampled directly from the environment (fecal, skin, soil, marine,… samples)</a:t>
            </a:r>
          </a:p>
          <a:p>
            <a:endParaRPr lang="en-DK" sz="1200" dirty="0"/>
          </a:p>
          <a:p>
            <a:r>
              <a:rPr lang="en-DK" sz="1200" dirty="0"/>
              <a:t>No need of culturing organisms – many of the organisms that we characterize can not even be cultured – </a:t>
            </a:r>
          </a:p>
          <a:p>
            <a:endParaRPr lang="en-DK" sz="1200" dirty="0"/>
          </a:p>
          <a:p>
            <a:r>
              <a:rPr lang="en-DK" sz="1200" dirty="0"/>
              <a:t>we can study all the organisms in the microbial community</a:t>
            </a:r>
          </a:p>
          <a:p>
            <a:endParaRPr lang="en-DK" sz="1200" dirty="0"/>
          </a:p>
          <a:p>
            <a:r>
              <a:rPr lang="en-DK" sz="1200" dirty="0"/>
              <a:t>Uses </a:t>
            </a:r>
            <a:r>
              <a:rPr lang="en-GB" sz="1200" dirty="0"/>
              <a:t>high-throughput DNA sequencing technology to </a:t>
            </a:r>
            <a:r>
              <a:rPr lang="en-GB" sz="1200" dirty="0" err="1"/>
              <a:t>analyze</a:t>
            </a:r>
            <a:r>
              <a:rPr lang="en-GB" sz="1200" dirty="0"/>
              <a:t> microbial diversity, taxonomical and functional profiles, and microbial interactions</a:t>
            </a:r>
          </a:p>
          <a:p>
            <a:endParaRPr lang="en-DK" dirty="0"/>
          </a:p>
        </p:txBody>
      </p:sp>
      <p:sp>
        <p:nvSpPr>
          <p:cNvPr id="4" name="Slide Number Placeholder 3"/>
          <p:cNvSpPr>
            <a:spLocks noGrp="1"/>
          </p:cNvSpPr>
          <p:nvPr>
            <p:ph type="sldNum" sz="quarter" idx="5"/>
          </p:nvPr>
        </p:nvSpPr>
        <p:spPr/>
        <p:txBody>
          <a:bodyPr/>
          <a:lstStyle/>
          <a:p>
            <a:fld id="{90AA28B0-211A-B640-96C3-6E3EBE2D2300}" type="slidenum">
              <a:rPr lang="en-DK" smtClean="0"/>
              <a:t>19</a:t>
            </a:fld>
            <a:endParaRPr lang="en-DK"/>
          </a:p>
        </p:txBody>
      </p:sp>
    </p:spTree>
    <p:extLst>
      <p:ext uri="{BB962C8B-B14F-4D97-AF65-F5344CB8AC3E}">
        <p14:creationId xmlns:p14="http://schemas.microsoft.com/office/powerpoint/2010/main" val="218613325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DK" dirty="0"/>
              <a:t>The usual procedure in metagenomics is the one presented in this slide:</a:t>
            </a:r>
          </a:p>
          <a:p>
            <a:endParaRPr lang="en-DK" dirty="0"/>
          </a:p>
          <a:p>
            <a:r>
              <a:rPr lang="en-DK" dirty="0"/>
              <a:t>First sampling of DNA. </a:t>
            </a:r>
            <a:r>
              <a:rPr lang="en-GB" dirty="0"/>
              <a:t>DNA sampling tools vary depending on the source material and the application</a:t>
            </a:r>
          </a:p>
          <a:p>
            <a:endParaRPr lang="en-GB" dirty="0"/>
          </a:p>
          <a:p>
            <a:r>
              <a:rPr lang="en-GB" dirty="0"/>
              <a:t>After DNA storage is important, the best thing you can do is freeze the DNA as soon as possible, otherwise you can use preserving buffers</a:t>
            </a:r>
          </a:p>
          <a:p>
            <a:endParaRPr lang="en-GB" dirty="0"/>
          </a:p>
          <a:p>
            <a:r>
              <a:rPr lang="en-GB" dirty="0"/>
              <a:t>Then it will come the DNA Extraction, where different kits are commonly used.</a:t>
            </a:r>
          </a:p>
          <a:p>
            <a:endParaRPr lang="en-GB" dirty="0"/>
          </a:p>
          <a:p>
            <a:r>
              <a:rPr lang="en-GB" dirty="0"/>
              <a:t>Then prior to DNA sequencing in the library preparation the </a:t>
            </a:r>
            <a:r>
              <a:rPr lang="en-GB" dirty="0" err="1"/>
              <a:t>Dna</a:t>
            </a:r>
            <a:r>
              <a:rPr lang="en-GB" dirty="0"/>
              <a:t> is fragmented into small reads of the same length, end are repaired and adapters are ligated. Then sequencing starts!</a:t>
            </a:r>
          </a:p>
          <a:p>
            <a:endParaRPr lang="en-GB" dirty="0"/>
          </a:p>
          <a:p>
            <a:r>
              <a:rPr lang="en-GB" dirty="0"/>
              <a:t>Once is finished the sequencer provider or our colleagues will pass us the </a:t>
            </a:r>
            <a:r>
              <a:rPr lang="en-GB" dirty="0" err="1"/>
              <a:t>fastq</a:t>
            </a:r>
            <a:r>
              <a:rPr lang="en-GB" dirty="0"/>
              <a:t> files containing the reads and we can do the taxonomical and functional characterization to get an abundance table</a:t>
            </a:r>
          </a:p>
          <a:p>
            <a:endParaRPr lang="en-GB" dirty="0"/>
          </a:p>
          <a:p>
            <a:r>
              <a:rPr lang="en-GB" dirty="0"/>
              <a:t>Here taxa will </a:t>
            </a:r>
            <a:r>
              <a:rPr lang="en-GB" dirty="0" err="1"/>
              <a:t>bein</a:t>
            </a:r>
            <a:r>
              <a:rPr lang="en-GB" dirty="0"/>
              <a:t> the rows and samples in the columns</a:t>
            </a:r>
          </a:p>
          <a:p>
            <a:endParaRPr lang="en-GB" dirty="0"/>
          </a:p>
          <a:p>
            <a:r>
              <a:rPr lang="en-GB" dirty="0"/>
              <a:t>And this is the starting point of our downstream analysis</a:t>
            </a:r>
            <a:endParaRPr lang="en-DK" dirty="0"/>
          </a:p>
        </p:txBody>
      </p:sp>
      <p:sp>
        <p:nvSpPr>
          <p:cNvPr id="4" name="Slide Number Placeholder 3"/>
          <p:cNvSpPr>
            <a:spLocks noGrp="1"/>
          </p:cNvSpPr>
          <p:nvPr>
            <p:ph type="sldNum" sz="quarter" idx="5"/>
          </p:nvPr>
        </p:nvSpPr>
        <p:spPr/>
        <p:txBody>
          <a:bodyPr/>
          <a:lstStyle/>
          <a:p>
            <a:fld id="{90AA28B0-211A-B640-96C3-6E3EBE2D2300}" type="slidenum">
              <a:rPr lang="en-DK" smtClean="0"/>
              <a:t>20</a:t>
            </a:fld>
            <a:endParaRPr lang="en-DK"/>
          </a:p>
        </p:txBody>
      </p:sp>
    </p:spTree>
    <p:extLst>
      <p:ext uri="{BB962C8B-B14F-4D97-AF65-F5344CB8AC3E}">
        <p14:creationId xmlns:p14="http://schemas.microsoft.com/office/powerpoint/2010/main" val="225591345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DK" dirty="0"/>
          </a:p>
        </p:txBody>
      </p:sp>
      <p:sp>
        <p:nvSpPr>
          <p:cNvPr id="4" name="Slide Number Placeholder 3"/>
          <p:cNvSpPr>
            <a:spLocks noGrp="1"/>
          </p:cNvSpPr>
          <p:nvPr>
            <p:ph type="sldNum" sz="quarter" idx="5"/>
          </p:nvPr>
        </p:nvSpPr>
        <p:spPr/>
        <p:txBody>
          <a:bodyPr/>
          <a:lstStyle/>
          <a:p>
            <a:fld id="{90AA28B0-211A-B640-96C3-6E3EBE2D2300}" type="slidenum">
              <a:rPr lang="en-DK" smtClean="0"/>
              <a:t>23</a:t>
            </a:fld>
            <a:endParaRPr lang="en-DK"/>
          </a:p>
        </p:txBody>
      </p:sp>
    </p:spTree>
    <p:extLst>
      <p:ext uri="{BB962C8B-B14F-4D97-AF65-F5344CB8AC3E}">
        <p14:creationId xmlns:p14="http://schemas.microsoft.com/office/powerpoint/2010/main" val="354044361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DK" dirty="0"/>
              <a:t>Here I let you what are common sequencing platform nowadays and their common use cases for your revision.</a:t>
            </a:r>
            <a:br>
              <a:rPr lang="en-DK" dirty="0"/>
            </a:br>
            <a:br>
              <a:rPr lang="en-DK" dirty="0"/>
            </a:br>
            <a:r>
              <a:rPr lang="en-DK" dirty="0"/>
              <a:t>WE will talk today only about Illumina which produces short reads with high accuracy and is mostly used for amplicon and shotgun metagenomics</a:t>
            </a:r>
          </a:p>
          <a:p>
            <a:endParaRPr lang="en-DK" dirty="0"/>
          </a:p>
        </p:txBody>
      </p:sp>
      <p:sp>
        <p:nvSpPr>
          <p:cNvPr id="4" name="Slide Number Placeholder 3"/>
          <p:cNvSpPr>
            <a:spLocks noGrp="1"/>
          </p:cNvSpPr>
          <p:nvPr>
            <p:ph type="sldNum" sz="quarter" idx="5"/>
          </p:nvPr>
        </p:nvSpPr>
        <p:spPr/>
        <p:txBody>
          <a:bodyPr/>
          <a:lstStyle/>
          <a:p>
            <a:fld id="{90AA28B0-211A-B640-96C3-6E3EBE2D2300}" type="slidenum">
              <a:rPr lang="en-DK" smtClean="0"/>
              <a:t>24</a:t>
            </a:fld>
            <a:endParaRPr lang="en-DK"/>
          </a:p>
        </p:txBody>
      </p:sp>
    </p:spTree>
    <p:extLst>
      <p:ext uri="{BB962C8B-B14F-4D97-AF65-F5344CB8AC3E}">
        <p14:creationId xmlns:p14="http://schemas.microsoft.com/office/powerpoint/2010/main" val="386106511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F4E441-869B-8016-50FD-94757ABC8D7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FC6A962-B252-6A12-4AF5-E1A73ABFA1E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4175D26-EA4D-C988-88A8-500017DAF793}"/>
              </a:ext>
            </a:extLst>
          </p:cNvPr>
          <p:cNvSpPr>
            <a:spLocks noGrp="1"/>
          </p:cNvSpPr>
          <p:nvPr>
            <p:ph type="body" idx="1"/>
          </p:nvPr>
        </p:nvSpPr>
        <p:spPr/>
        <p:txBody>
          <a:bodyPr/>
          <a:lstStyle/>
          <a:p>
            <a:endParaRPr lang="en-DK" dirty="0"/>
          </a:p>
        </p:txBody>
      </p:sp>
      <p:sp>
        <p:nvSpPr>
          <p:cNvPr id="4" name="Slide Number Placeholder 3">
            <a:extLst>
              <a:ext uri="{FF2B5EF4-FFF2-40B4-BE49-F238E27FC236}">
                <a16:creationId xmlns:a16="http://schemas.microsoft.com/office/drawing/2014/main" id="{26799936-84DE-4257-0585-4189A7FF9D16}"/>
              </a:ext>
            </a:extLst>
          </p:cNvPr>
          <p:cNvSpPr>
            <a:spLocks noGrp="1"/>
          </p:cNvSpPr>
          <p:nvPr>
            <p:ph type="sldNum" sz="quarter" idx="5"/>
          </p:nvPr>
        </p:nvSpPr>
        <p:spPr/>
        <p:txBody>
          <a:bodyPr/>
          <a:lstStyle/>
          <a:p>
            <a:fld id="{90AA28B0-211A-B640-96C3-6E3EBE2D2300}" type="slidenum">
              <a:rPr lang="en-DK" smtClean="0"/>
              <a:t>25</a:t>
            </a:fld>
            <a:endParaRPr lang="en-DK"/>
          </a:p>
        </p:txBody>
      </p:sp>
    </p:spTree>
    <p:extLst>
      <p:ext uri="{BB962C8B-B14F-4D97-AF65-F5344CB8AC3E}">
        <p14:creationId xmlns:p14="http://schemas.microsoft.com/office/powerpoint/2010/main" val="197898058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DK" dirty="0"/>
              <a:t>- 16S rRNA gene is an ancient gene that </a:t>
            </a:r>
            <a:r>
              <a:rPr lang="en-GB" dirty="0"/>
              <a:t>encodes the RNA component of the small (30S) subunit of the prokaryotic ribosome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a:p>
            <a:pPr marL="285750" indent="-285750">
              <a:buFont typeface="Arial" panose="020B0604020202020204" pitchFamily="34" charset="0"/>
              <a:buChar char="•"/>
            </a:pPr>
            <a:r>
              <a:rPr lang="en-DK" dirty="0"/>
              <a:t>As it is conserved in many organisms, traditionally  used to infer phylogenetic trees to figure out species evolution</a:t>
            </a:r>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DK"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16s gene has</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dirty="0"/>
              <a:t>conserved region: spread around all organisms and easy to amplify</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GB" dirty="0"/>
              <a:t>variable unique regions: to tag specifically species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DK" dirty="0"/>
          </a:p>
          <a:p>
            <a:endParaRPr lang="en-DK" dirty="0"/>
          </a:p>
          <a:p>
            <a:endParaRPr lang="en-DK" dirty="0"/>
          </a:p>
        </p:txBody>
      </p:sp>
      <p:sp>
        <p:nvSpPr>
          <p:cNvPr id="4" name="Slide Number Placeholder 3"/>
          <p:cNvSpPr>
            <a:spLocks noGrp="1"/>
          </p:cNvSpPr>
          <p:nvPr>
            <p:ph type="sldNum" sz="quarter" idx="5"/>
          </p:nvPr>
        </p:nvSpPr>
        <p:spPr/>
        <p:txBody>
          <a:bodyPr/>
          <a:lstStyle/>
          <a:p>
            <a:fld id="{90AA28B0-211A-B640-96C3-6E3EBE2D2300}" type="slidenum">
              <a:rPr lang="en-DK" smtClean="0"/>
              <a:t>27</a:t>
            </a:fld>
            <a:endParaRPr lang="en-DK"/>
          </a:p>
        </p:txBody>
      </p:sp>
    </p:spTree>
    <p:extLst>
      <p:ext uri="{BB962C8B-B14F-4D97-AF65-F5344CB8AC3E}">
        <p14:creationId xmlns:p14="http://schemas.microsoft.com/office/powerpoint/2010/main" val="350106971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DK" dirty="0"/>
              <a:t>SO in our samples we have microbial genomes carrying the 16S rRNA gene, </a:t>
            </a:r>
          </a:p>
          <a:p>
            <a:endParaRPr lang="en-DK" dirty="0"/>
          </a:p>
          <a:p>
            <a:r>
              <a:rPr lang="en-DK" dirty="0"/>
              <a:t>we amplify out this gene with PCR amplification and we sequence all these 16S genes </a:t>
            </a:r>
          </a:p>
          <a:p>
            <a:endParaRPr lang="en-DK" dirty="0"/>
          </a:p>
          <a:p>
            <a:r>
              <a:rPr lang="en-DK" dirty="0"/>
              <a:t>and we can align them to each other and find out the differences -  in this example different single nucleotide variants, that can uniquely identify to which species this gene belongs</a:t>
            </a:r>
          </a:p>
          <a:p>
            <a:endParaRPr lang="en-DK" dirty="0"/>
          </a:p>
          <a:p>
            <a:r>
              <a:rPr lang="en-DK" dirty="0"/>
              <a:t>Computationally we would cluster all similar sequences into operational taxonomic units that are compared to 16S gene databases like silva or green genes to assign them taxonomy</a:t>
            </a:r>
          </a:p>
          <a:p>
            <a:endParaRPr lang="en-DK" dirty="0"/>
          </a:p>
          <a:p>
            <a:r>
              <a:rPr lang="en-DK" dirty="0"/>
              <a:t>Or we can use DADA2, my favorite one, </a:t>
            </a:r>
            <a:r>
              <a:rPr lang="en-GB" dirty="0"/>
              <a:t>which assign taxonomy directly to the amplicon sequence variants therefore allowing more precise taxonomic placement than OTUs</a:t>
            </a:r>
          </a:p>
          <a:p>
            <a:endParaRPr lang="en-GB" dirty="0"/>
          </a:p>
          <a:p>
            <a:r>
              <a:rPr lang="en-GB" dirty="0"/>
              <a:t>In the end we are going to get an OTUs or ASVs abundance table but we get only to genus resolution </a:t>
            </a:r>
          </a:p>
          <a:p>
            <a:endParaRPr lang="en-GB" dirty="0"/>
          </a:p>
          <a:p>
            <a:r>
              <a:rPr lang="en-GB" dirty="0"/>
              <a:t>and we do not have functional annotation unless we predict it from taxonomical compositional (PICRUST). </a:t>
            </a:r>
          </a:p>
          <a:p>
            <a:endParaRPr lang="en-GB" dirty="0"/>
          </a:p>
          <a:p>
            <a:r>
              <a:rPr lang="en-GB" dirty="0"/>
              <a:t>Many assumptions, for example Close phylogenetic </a:t>
            </a:r>
            <a:r>
              <a:rPr lang="en-GB" dirty="0" err="1"/>
              <a:t>neighbors</a:t>
            </a:r>
            <a:r>
              <a:rPr lang="en-GB" dirty="0"/>
              <a:t> have similar gene content and functional potential, does not capture HGT or strain level functionality,…</a:t>
            </a:r>
            <a:endParaRPr lang="en-DK" dirty="0"/>
          </a:p>
        </p:txBody>
      </p:sp>
      <p:sp>
        <p:nvSpPr>
          <p:cNvPr id="4" name="Slide Number Placeholder 3"/>
          <p:cNvSpPr>
            <a:spLocks noGrp="1"/>
          </p:cNvSpPr>
          <p:nvPr>
            <p:ph type="sldNum" sz="quarter" idx="5"/>
          </p:nvPr>
        </p:nvSpPr>
        <p:spPr/>
        <p:txBody>
          <a:bodyPr/>
          <a:lstStyle/>
          <a:p>
            <a:fld id="{90AA28B0-211A-B640-96C3-6E3EBE2D2300}" type="slidenum">
              <a:rPr lang="en-DK" smtClean="0"/>
              <a:t>28</a:t>
            </a:fld>
            <a:endParaRPr lang="en-DK"/>
          </a:p>
        </p:txBody>
      </p:sp>
    </p:spTree>
    <p:extLst>
      <p:ext uri="{BB962C8B-B14F-4D97-AF65-F5344CB8AC3E}">
        <p14:creationId xmlns:p14="http://schemas.microsoft.com/office/powerpoint/2010/main" val="209041410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DK" dirty="0"/>
              <a:t>  Microbial genomes in your sample from different organisms (here represented with different colors)</a:t>
            </a:r>
          </a:p>
          <a:p>
            <a:endParaRPr lang="en-DK" dirty="0"/>
          </a:p>
          <a:p>
            <a:pPr marL="0" marR="0" lvl="0" indent="0" algn="l" defTabSz="914400" rtl="0" eaLnBrk="1" fontAlgn="auto" latinLnBrk="0" hangingPunct="1">
              <a:lnSpc>
                <a:spcPct val="100000"/>
              </a:lnSpc>
              <a:spcBef>
                <a:spcPts val="0"/>
              </a:spcBef>
              <a:spcAft>
                <a:spcPts val="0"/>
              </a:spcAft>
              <a:buClrTx/>
              <a:buSzTx/>
              <a:buFontTx/>
              <a:buNone/>
              <a:tabLst/>
              <a:defRPr/>
            </a:pPr>
            <a:r>
              <a:rPr lang="en-DK" dirty="0"/>
              <a:t>Randomly shattering them into fragments of relatively equal length (150-300 bps) - no PCR amplification</a:t>
            </a:r>
          </a:p>
          <a:p>
            <a:endParaRPr lang="en-DK" dirty="0"/>
          </a:p>
          <a:p>
            <a:pPr marL="0" marR="0" lvl="0" indent="0" algn="l" defTabSz="914400" rtl="0" eaLnBrk="1" fontAlgn="auto" latinLnBrk="0" hangingPunct="1">
              <a:lnSpc>
                <a:spcPct val="100000"/>
              </a:lnSpc>
              <a:spcBef>
                <a:spcPts val="0"/>
              </a:spcBef>
              <a:spcAft>
                <a:spcPts val="0"/>
              </a:spcAft>
              <a:buClrTx/>
              <a:buSzTx/>
              <a:buFontTx/>
              <a:buNone/>
              <a:tabLst/>
              <a:defRPr/>
            </a:pPr>
            <a:r>
              <a:rPr lang="en-DK" dirty="0"/>
              <a:t>Sequence all these small fragments of DNA  (in the order of millions per sample)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DK" dirty="0"/>
          </a:p>
          <a:p>
            <a:pPr marL="0" marR="0" lvl="0" indent="0" algn="l" defTabSz="914400" rtl="0" eaLnBrk="1" fontAlgn="auto" latinLnBrk="0" hangingPunct="1">
              <a:lnSpc>
                <a:spcPct val="100000"/>
              </a:lnSpc>
              <a:spcBef>
                <a:spcPts val="0"/>
              </a:spcBef>
              <a:spcAft>
                <a:spcPts val="0"/>
              </a:spcAft>
              <a:buClrTx/>
              <a:buSzTx/>
              <a:buFontTx/>
              <a:buNone/>
              <a:tabLst/>
              <a:defRPr/>
            </a:pPr>
            <a:r>
              <a:rPr lang="en-DK" dirty="0"/>
              <a:t>and we map them with different tools to genomes or to clade-specfic marker genes</a:t>
            </a:r>
          </a:p>
          <a:p>
            <a:endParaRPr lang="en-DK" dirty="0"/>
          </a:p>
          <a:p>
            <a:r>
              <a:rPr lang="en-DK" dirty="0"/>
              <a:t>When we know all the gene/genome counts (reads mapping) we can divide those by gene or genome length and by sample depth (number of reads detected in a sample) to estimate the final abundance of our taxa.</a:t>
            </a:r>
          </a:p>
          <a:p>
            <a:endParaRPr lang="en-DK" dirty="0"/>
          </a:p>
          <a:p>
            <a:endParaRPr lang="en-DK" dirty="0"/>
          </a:p>
        </p:txBody>
      </p:sp>
      <p:sp>
        <p:nvSpPr>
          <p:cNvPr id="4" name="Slide Number Placeholder 3"/>
          <p:cNvSpPr>
            <a:spLocks noGrp="1"/>
          </p:cNvSpPr>
          <p:nvPr>
            <p:ph type="sldNum" sz="quarter" idx="5"/>
          </p:nvPr>
        </p:nvSpPr>
        <p:spPr/>
        <p:txBody>
          <a:bodyPr/>
          <a:lstStyle/>
          <a:p>
            <a:fld id="{90AA28B0-211A-B640-96C3-6E3EBE2D2300}" type="slidenum">
              <a:rPr lang="en-DK" smtClean="0"/>
              <a:t>29</a:t>
            </a:fld>
            <a:endParaRPr lang="en-DK"/>
          </a:p>
        </p:txBody>
      </p:sp>
    </p:spTree>
    <p:extLst>
      <p:ext uri="{BB962C8B-B14F-4D97-AF65-F5344CB8AC3E}">
        <p14:creationId xmlns:p14="http://schemas.microsoft.com/office/powerpoint/2010/main" val="2548824536"/>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DK" dirty="0"/>
              <a:t>Here I just added table describing tools and databases used the 16S amplicon sequencing and in the Reference-based profiling for your revision.</a:t>
            </a:r>
            <a:br>
              <a:rPr lang="en-DK" dirty="0"/>
            </a:br>
            <a:endParaRPr lang="en-DK" dirty="0"/>
          </a:p>
          <a:p>
            <a:r>
              <a:rPr lang="en-DK" dirty="0"/>
              <a:t>I highlighted in red my preferred methods, both in my opinion with higher resolution.</a:t>
            </a:r>
          </a:p>
          <a:p>
            <a:endParaRPr lang="en-DK" dirty="0"/>
          </a:p>
          <a:p>
            <a:r>
              <a:rPr lang="en-DK" dirty="0"/>
              <a:t>Choice depending on your needs:</a:t>
            </a:r>
          </a:p>
          <a:p>
            <a:endParaRPr lang="en-DK" dirty="0"/>
          </a:p>
          <a:p>
            <a:r>
              <a:rPr lang="en-GB" b="1" dirty="0"/>
              <a:t>Speed vs. Accuracy</a:t>
            </a:r>
            <a:r>
              <a:rPr lang="en-GB" dirty="0"/>
              <a:t>: Kraken2 is fast; MetaPhlAn is more accurate for species-level identification.</a:t>
            </a:r>
          </a:p>
          <a:p>
            <a:r>
              <a:rPr lang="en-GB" b="1" dirty="0"/>
              <a:t>Resolution</a:t>
            </a:r>
            <a:r>
              <a:rPr lang="en-GB" dirty="0"/>
              <a:t>: DADA2 and MetaPhlAn can provide high-resolution profiling.</a:t>
            </a:r>
          </a:p>
          <a:p>
            <a:r>
              <a:rPr lang="en-GB" b="1" dirty="0"/>
              <a:t>Data Type</a:t>
            </a:r>
            <a:r>
              <a:rPr lang="en-GB" dirty="0"/>
              <a:t>: Amplicon (16S) vs. shotgun metagenomics.</a:t>
            </a:r>
          </a:p>
          <a:p>
            <a:r>
              <a:rPr lang="en-GB" b="1" dirty="0"/>
              <a:t>Resource Requirements</a:t>
            </a:r>
            <a:r>
              <a:rPr lang="en-GB" dirty="0"/>
              <a:t>: Kraken needs large memory for big databases; MetaPhlAn is lighter.</a:t>
            </a:r>
          </a:p>
          <a:p>
            <a:endParaRPr lang="en-DK" dirty="0"/>
          </a:p>
        </p:txBody>
      </p:sp>
      <p:sp>
        <p:nvSpPr>
          <p:cNvPr id="4" name="Slide Number Placeholder 3"/>
          <p:cNvSpPr>
            <a:spLocks noGrp="1"/>
          </p:cNvSpPr>
          <p:nvPr>
            <p:ph type="sldNum" sz="quarter" idx="5"/>
          </p:nvPr>
        </p:nvSpPr>
        <p:spPr/>
        <p:txBody>
          <a:bodyPr/>
          <a:lstStyle/>
          <a:p>
            <a:fld id="{90AA28B0-211A-B640-96C3-6E3EBE2D2300}" type="slidenum">
              <a:rPr lang="en-DK" smtClean="0"/>
              <a:t>30</a:t>
            </a:fld>
            <a:endParaRPr lang="en-DK"/>
          </a:p>
        </p:txBody>
      </p:sp>
    </p:spTree>
    <p:extLst>
      <p:ext uri="{BB962C8B-B14F-4D97-AF65-F5344CB8AC3E}">
        <p14:creationId xmlns:p14="http://schemas.microsoft.com/office/powerpoint/2010/main" val="115073839"/>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DK" dirty="0"/>
              <a:t>Reference-based methods rely on what is known in the databases (human commensals, pathogens or enzyms and species used in the industry better characterized in the databases)</a:t>
            </a:r>
            <a:br>
              <a:rPr lang="en-DK" dirty="0"/>
            </a:br>
            <a:br>
              <a:rPr lang="en-DK" dirty="0"/>
            </a:br>
            <a:r>
              <a:rPr lang="en-DK" dirty="0"/>
              <a:t>The next method </a:t>
            </a:r>
            <a:r>
              <a:rPr lang="en-GB" dirty="0"/>
              <a:t>I am </a:t>
            </a:r>
            <a:r>
              <a:rPr lang="en-GB" dirty="0" err="1"/>
              <a:t>gonna</a:t>
            </a:r>
            <a:r>
              <a:rPr lang="en-GB" dirty="0"/>
              <a:t> present is an assemble based method called metagenome assembled genomes.</a:t>
            </a:r>
          </a:p>
          <a:p>
            <a:endParaRPr lang="en-GB" dirty="0"/>
          </a:p>
          <a:p>
            <a:r>
              <a:rPr lang="en-GB" dirty="0"/>
              <a:t>Let’s go step by step: </a:t>
            </a:r>
          </a:p>
          <a:p>
            <a:pPr marL="171450" indent="-171450">
              <a:buFontTx/>
              <a:buChar char="-"/>
            </a:pPr>
            <a:r>
              <a:rPr lang="en-GB" dirty="0"/>
              <a:t>We have </a:t>
            </a:r>
            <a:r>
              <a:rPr lang="en-GB" dirty="0" err="1"/>
              <a:t>fastQ</a:t>
            </a:r>
            <a:r>
              <a:rPr lang="en-GB" dirty="0"/>
              <a:t> files with our reads and we perform QC to remove low quality, low complexity and host reads (if there are)</a:t>
            </a:r>
          </a:p>
          <a:p>
            <a:pPr marL="171450" indent="-171450">
              <a:buFontTx/>
              <a:buChar char="-"/>
            </a:pPr>
            <a:r>
              <a:rPr lang="en-GB" dirty="0"/>
              <a:t>we stitch together sequenced reads to reproduce the original genome from where they came. If we had easy </a:t>
            </a:r>
            <a:r>
              <a:rPr lang="en-GB" dirty="0" err="1"/>
              <a:t>communitires</a:t>
            </a:r>
            <a:r>
              <a:rPr lang="en-GB" dirty="0"/>
              <a:t> and lots of reds we could reproduce the whole genome, otherwise we get these large DNA chunks called contigs. </a:t>
            </a:r>
          </a:p>
          <a:p>
            <a:pPr marL="171450" indent="-171450">
              <a:buFontTx/>
              <a:buChar char="-"/>
            </a:pPr>
            <a:r>
              <a:rPr lang="en-GB" dirty="0"/>
              <a:t>These contigs can be clustered into different bins according to their composition (GC content, tetranucleotide frequencies) or coverage depth across samples (require to remap all the reads to the contigs – more samples higher accuracy).</a:t>
            </a:r>
          </a:p>
          <a:p>
            <a:pPr marL="171450" indent="-171450">
              <a:buFontTx/>
              <a:buChar char="-"/>
            </a:pPr>
            <a:r>
              <a:rPr lang="en-GB" dirty="0"/>
              <a:t>The bins go through </a:t>
            </a:r>
            <a:r>
              <a:rPr lang="en-GB" dirty="0" err="1"/>
              <a:t>refinment</a:t>
            </a:r>
            <a:r>
              <a:rPr lang="en-GB" dirty="0"/>
              <a:t> and quality assessment. In many MAG collections they divide the MAGs on High quality and medium quality based on the completeness and contamination levels (how many marker genes of this species can be found in the bin, how many marker genes from other species)</a:t>
            </a:r>
          </a:p>
          <a:p>
            <a:pPr marL="171450" indent="-171450">
              <a:buFontTx/>
              <a:buChar char="-"/>
            </a:pPr>
            <a:r>
              <a:rPr lang="en-GB" dirty="0"/>
              <a:t>We assign taxonomy therefore to the bins and we can then with the clean bins do phylogenomic analysis or do functional annotation (call genes in the contigs assigned to the bins and map them to pathways, etc.. and estimate their abundances by mapping reads to the functional features)</a:t>
            </a:r>
          </a:p>
          <a:p>
            <a:endParaRPr lang="en-GB" dirty="0"/>
          </a:p>
          <a:p>
            <a:endParaRPr lang="en-DK" dirty="0"/>
          </a:p>
        </p:txBody>
      </p:sp>
      <p:sp>
        <p:nvSpPr>
          <p:cNvPr id="4" name="Slide Number Placeholder 3"/>
          <p:cNvSpPr>
            <a:spLocks noGrp="1"/>
          </p:cNvSpPr>
          <p:nvPr>
            <p:ph type="sldNum" sz="quarter" idx="5"/>
          </p:nvPr>
        </p:nvSpPr>
        <p:spPr/>
        <p:txBody>
          <a:bodyPr/>
          <a:lstStyle/>
          <a:p>
            <a:fld id="{90AA28B0-211A-B640-96C3-6E3EBE2D2300}" type="slidenum">
              <a:rPr lang="en-DK" smtClean="0"/>
              <a:t>31</a:t>
            </a:fld>
            <a:endParaRPr lang="en-DK"/>
          </a:p>
        </p:txBody>
      </p:sp>
    </p:spTree>
    <p:extLst>
      <p:ext uri="{BB962C8B-B14F-4D97-AF65-F5344CB8AC3E}">
        <p14:creationId xmlns:p14="http://schemas.microsoft.com/office/powerpoint/2010/main" val="204354390"/>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DK" dirty="0"/>
              <a:t>Here I left you a table with all the tools related to the different steps on building MAGs. As you can see it is a very complex process  and it requires of many softwares that need to be run in a chained way.</a:t>
            </a:r>
            <a:br>
              <a:rPr lang="en-DK" dirty="0"/>
            </a:br>
            <a:endParaRPr lang="en-DK" dirty="0"/>
          </a:p>
          <a:p>
            <a:r>
              <a:rPr lang="en-DK" dirty="0"/>
              <a:t>Maybe in another course we can cover only that methodology.</a:t>
            </a:r>
          </a:p>
        </p:txBody>
      </p:sp>
      <p:sp>
        <p:nvSpPr>
          <p:cNvPr id="4" name="Slide Number Placeholder 3"/>
          <p:cNvSpPr>
            <a:spLocks noGrp="1"/>
          </p:cNvSpPr>
          <p:nvPr>
            <p:ph type="sldNum" sz="quarter" idx="5"/>
          </p:nvPr>
        </p:nvSpPr>
        <p:spPr/>
        <p:txBody>
          <a:bodyPr/>
          <a:lstStyle/>
          <a:p>
            <a:fld id="{90AA28B0-211A-B640-96C3-6E3EBE2D2300}" type="slidenum">
              <a:rPr lang="en-DK" smtClean="0"/>
              <a:t>32</a:t>
            </a:fld>
            <a:endParaRPr lang="en-DK"/>
          </a:p>
        </p:txBody>
      </p:sp>
    </p:spTree>
    <p:extLst>
      <p:ext uri="{BB962C8B-B14F-4D97-AF65-F5344CB8AC3E}">
        <p14:creationId xmlns:p14="http://schemas.microsoft.com/office/powerpoint/2010/main" val="172509970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DK" dirty="0"/>
              <a:t>A</a:t>
            </a:r>
            <a:r>
              <a:rPr lang="en-GB" dirty="0"/>
              <a:t>n</a:t>
            </a:r>
            <a:r>
              <a:rPr lang="en-DK" dirty="0"/>
              <a:t>d finally I wanted to compare the three different methods that we have described.</a:t>
            </a:r>
          </a:p>
          <a:p>
            <a:endParaRPr lang="en-DK" dirty="0"/>
          </a:p>
          <a:p>
            <a:r>
              <a:rPr lang="en-DK" dirty="0"/>
              <a:t>TABLE</a:t>
            </a:r>
          </a:p>
        </p:txBody>
      </p:sp>
      <p:sp>
        <p:nvSpPr>
          <p:cNvPr id="4" name="Slide Number Placeholder 3"/>
          <p:cNvSpPr>
            <a:spLocks noGrp="1"/>
          </p:cNvSpPr>
          <p:nvPr>
            <p:ph type="sldNum" sz="quarter" idx="5"/>
          </p:nvPr>
        </p:nvSpPr>
        <p:spPr/>
        <p:txBody>
          <a:bodyPr/>
          <a:lstStyle/>
          <a:p>
            <a:fld id="{90AA28B0-211A-B640-96C3-6E3EBE2D2300}" type="slidenum">
              <a:rPr lang="en-DK" smtClean="0"/>
              <a:t>33</a:t>
            </a:fld>
            <a:endParaRPr lang="en-DK"/>
          </a:p>
        </p:txBody>
      </p:sp>
    </p:spTree>
    <p:extLst>
      <p:ext uri="{BB962C8B-B14F-4D97-AF65-F5344CB8AC3E}">
        <p14:creationId xmlns:p14="http://schemas.microsoft.com/office/powerpoint/2010/main" val="1270361369"/>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0552C9-0B41-3990-822D-46007C82B10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3C8F397-CE3A-2915-C17F-69A1A036455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EC1243C-293B-3F56-AB43-C6132D0A3035}"/>
              </a:ext>
            </a:extLst>
          </p:cNvPr>
          <p:cNvSpPr>
            <a:spLocks noGrp="1"/>
          </p:cNvSpPr>
          <p:nvPr>
            <p:ph type="body" idx="1"/>
          </p:nvPr>
        </p:nvSpPr>
        <p:spPr/>
        <p:txBody>
          <a:bodyPr/>
          <a:lstStyle/>
          <a:p>
            <a:endParaRPr lang="en-DK" dirty="0"/>
          </a:p>
        </p:txBody>
      </p:sp>
      <p:sp>
        <p:nvSpPr>
          <p:cNvPr id="4" name="Slide Number Placeholder 3">
            <a:extLst>
              <a:ext uri="{FF2B5EF4-FFF2-40B4-BE49-F238E27FC236}">
                <a16:creationId xmlns:a16="http://schemas.microsoft.com/office/drawing/2014/main" id="{E6A540A1-647A-CDBC-B24D-408CC6A0EA1F}"/>
              </a:ext>
            </a:extLst>
          </p:cNvPr>
          <p:cNvSpPr>
            <a:spLocks noGrp="1"/>
          </p:cNvSpPr>
          <p:nvPr>
            <p:ph type="sldNum" sz="quarter" idx="5"/>
          </p:nvPr>
        </p:nvSpPr>
        <p:spPr/>
        <p:txBody>
          <a:bodyPr/>
          <a:lstStyle/>
          <a:p>
            <a:fld id="{90AA28B0-211A-B640-96C3-6E3EBE2D2300}" type="slidenum">
              <a:rPr lang="en-DK" smtClean="0"/>
              <a:t>34</a:t>
            </a:fld>
            <a:endParaRPr lang="en-DK"/>
          </a:p>
        </p:txBody>
      </p:sp>
    </p:spTree>
    <p:extLst>
      <p:ext uri="{BB962C8B-B14F-4D97-AF65-F5344CB8AC3E}">
        <p14:creationId xmlns:p14="http://schemas.microsoft.com/office/powerpoint/2010/main" val="2050842383"/>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DK" dirty="0"/>
              <a:t>To do functional annotation you can always map reads to genes (read/reference-based annotation)</a:t>
            </a:r>
          </a:p>
          <a:p>
            <a:endParaRPr lang="en-DK" dirty="0"/>
          </a:p>
          <a:p>
            <a:r>
              <a:rPr lang="en-DK" dirty="0"/>
              <a:t>A common resource used in functional annotation is building a microbial gene catalog</a:t>
            </a:r>
          </a:p>
          <a:p>
            <a:endParaRPr lang="en-DK" dirty="0"/>
          </a:p>
          <a:p>
            <a:r>
              <a:rPr lang="en-DK" dirty="0"/>
              <a:t>We have high quality reads that were stitched into contigs, and the genes are called up on in these contigs. </a:t>
            </a:r>
          </a:p>
          <a:p>
            <a:endParaRPr lang="en-DK" dirty="0"/>
          </a:p>
          <a:p>
            <a:r>
              <a:rPr lang="en-DK" dirty="0"/>
              <a:t>W</a:t>
            </a:r>
            <a:r>
              <a:rPr lang="en-GB" dirty="0" err="1"/>
              <a:t>i</a:t>
            </a:r>
            <a:r>
              <a:rPr lang="en-DK" dirty="0"/>
              <a:t>th softwares like CD-HIT, a quite used one, we can cluster these genes based on sequence similarity and asking for a % identity and a % of coverage. </a:t>
            </a:r>
          </a:p>
          <a:p>
            <a:endParaRPr lang="en-DK" dirty="0"/>
          </a:p>
          <a:p>
            <a:r>
              <a:rPr lang="en-DK" dirty="0"/>
              <a:t>The longest sequences of these clusters are then taken as representatives of each gene cluster and a non-redundant gene catalog is then ready.</a:t>
            </a:r>
          </a:p>
          <a:p>
            <a:endParaRPr lang="en-DK" dirty="0"/>
          </a:p>
        </p:txBody>
      </p:sp>
      <p:sp>
        <p:nvSpPr>
          <p:cNvPr id="4" name="Slide Number Placeholder 3"/>
          <p:cNvSpPr>
            <a:spLocks noGrp="1"/>
          </p:cNvSpPr>
          <p:nvPr>
            <p:ph type="sldNum" sz="quarter" idx="5"/>
          </p:nvPr>
        </p:nvSpPr>
        <p:spPr/>
        <p:txBody>
          <a:bodyPr/>
          <a:lstStyle/>
          <a:p>
            <a:fld id="{90AA28B0-211A-B640-96C3-6E3EBE2D2300}" type="slidenum">
              <a:rPr lang="en-DK" smtClean="0"/>
              <a:t>35</a:t>
            </a:fld>
            <a:endParaRPr lang="en-DK"/>
          </a:p>
        </p:txBody>
      </p:sp>
    </p:spTree>
    <p:extLst>
      <p:ext uri="{BB962C8B-B14F-4D97-AF65-F5344CB8AC3E}">
        <p14:creationId xmlns:p14="http://schemas.microsoft.com/office/powerpoint/2010/main" val="2209652439"/>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DK" dirty="0"/>
              <a:t>When we have this gene catalog we can maps reads to the genes to figure out the gene abundance (normalized by gene length and sample depth)</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DK" dirty="0"/>
          </a:p>
          <a:p>
            <a:pPr marL="0" marR="0" lvl="0" indent="0" algn="l" defTabSz="914400" rtl="0" eaLnBrk="1" fontAlgn="auto" latinLnBrk="0" hangingPunct="1">
              <a:lnSpc>
                <a:spcPct val="100000"/>
              </a:lnSpc>
              <a:spcBef>
                <a:spcPts val="0"/>
              </a:spcBef>
              <a:spcAft>
                <a:spcPts val="0"/>
              </a:spcAft>
              <a:buClrTx/>
              <a:buSzTx/>
              <a:buFontTx/>
              <a:buNone/>
              <a:tabLst/>
              <a:defRPr/>
            </a:pPr>
            <a:r>
              <a:rPr lang="en-DK" dirty="0"/>
              <a:t>Parallelly, catalog genes can be mapped to several functional information databases (e.g KEGG database)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DK" dirty="0"/>
          </a:p>
          <a:p>
            <a:pPr marL="0" marR="0" lvl="0" indent="0" algn="l" defTabSz="914400" rtl="0" eaLnBrk="1" fontAlgn="auto" latinLnBrk="0" hangingPunct="1">
              <a:lnSpc>
                <a:spcPct val="100000"/>
              </a:lnSpc>
              <a:spcBef>
                <a:spcPts val="0"/>
              </a:spcBef>
              <a:spcAft>
                <a:spcPts val="0"/>
              </a:spcAft>
              <a:buClrTx/>
              <a:buSzTx/>
              <a:buFontTx/>
              <a:buNone/>
              <a:tabLst/>
              <a:defRPr/>
            </a:pPr>
            <a:r>
              <a:rPr lang="en-DK" dirty="0"/>
              <a:t>This is usually done by eggNOG mapper which is a tool that map the genes to orthologous groups. An ortholog group is a collection of genes that </a:t>
            </a:r>
            <a:r>
              <a:rPr lang="en-GB" sz="1200" dirty="0"/>
              <a:t>Descend from a single gene in the last common ancestor and typically perform the same function across species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1200" dirty="0">
              <a:latin typeface="Calibri" charset="0"/>
              <a:ea typeface="Calibri" charset="0"/>
              <a:cs typeface="Calibri"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GB" sz="1200" dirty="0">
                <a:latin typeface="Calibri" charset="0"/>
                <a:ea typeface="Calibri" charset="0"/>
                <a:cs typeface="Calibri" charset="0"/>
              </a:rPr>
              <a:t>Once we have this mapping we can transfer all the information know to these orthologous to the genes and then we have them mapped to KEGG pathways, CAZY, …</a:t>
            </a:r>
            <a:br>
              <a:rPr lang="en-GB" sz="1200" dirty="0">
                <a:latin typeface="Calibri" charset="0"/>
                <a:ea typeface="Calibri" charset="0"/>
                <a:cs typeface="Calibri" charset="0"/>
              </a:rPr>
            </a:br>
            <a:br>
              <a:rPr lang="en-GB" sz="1200" dirty="0">
                <a:latin typeface="Calibri" charset="0"/>
                <a:ea typeface="Calibri" charset="0"/>
                <a:cs typeface="Calibri" charset="0"/>
              </a:rPr>
            </a:br>
            <a:r>
              <a:rPr lang="en-GB" sz="1200" dirty="0">
                <a:latin typeface="Calibri" charset="0"/>
                <a:ea typeface="Calibri" charset="0"/>
                <a:cs typeface="Calibri" charset="0"/>
              </a:rPr>
              <a:t>Then in the end we can collapse the gene </a:t>
            </a:r>
            <a:r>
              <a:rPr lang="en-GB" sz="1200" dirty="0" err="1">
                <a:latin typeface="Calibri" charset="0"/>
                <a:ea typeface="Calibri" charset="0"/>
                <a:cs typeface="Calibri" charset="0"/>
              </a:rPr>
              <a:t>abundaces</a:t>
            </a:r>
            <a:r>
              <a:rPr lang="en-GB" sz="1200" dirty="0">
                <a:latin typeface="Calibri" charset="0"/>
                <a:ea typeface="Calibri" charset="0"/>
                <a:cs typeface="Calibri" charset="0"/>
              </a:rPr>
              <a:t> into the different feature that these genes map to and get different features abundance.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1200" dirty="0">
              <a:latin typeface="Calibri" charset="0"/>
              <a:ea typeface="Calibri" charset="0"/>
              <a:cs typeface="Calibri"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GB" sz="1200" dirty="0">
                <a:latin typeface="Calibri" charset="0"/>
                <a:ea typeface="Calibri" charset="0"/>
                <a:cs typeface="Calibri" charset="0"/>
              </a:rPr>
              <a:t>But why to build a gene </a:t>
            </a:r>
            <a:r>
              <a:rPr lang="en-GB" sz="1200" dirty="0" err="1">
                <a:latin typeface="Calibri" charset="0"/>
                <a:ea typeface="Calibri" charset="0"/>
                <a:cs typeface="Calibri" charset="0"/>
              </a:rPr>
              <a:t>catalog</a:t>
            </a:r>
            <a:r>
              <a:rPr lang="en-GB" sz="1200" dirty="0">
                <a:latin typeface="Calibri" charset="0"/>
                <a:ea typeface="Calibri" charset="0"/>
                <a:cs typeface="Calibri" charset="0"/>
              </a:rPr>
              <a: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sz="1200" dirty="0">
              <a:latin typeface="Calibri" charset="0"/>
              <a:ea typeface="Calibri" charset="0"/>
              <a:cs typeface="Calibri"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GB" sz="1200" dirty="0">
                <a:latin typeface="Calibri" charset="0"/>
                <a:ea typeface="Calibri" charset="0"/>
                <a:cs typeface="Calibri" charset="0"/>
              </a:rPr>
              <a:t>-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latin typeface="Calibri" charset="0"/>
              <a:ea typeface="Calibri" charset="0"/>
              <a:cs typeface="Calibri" charset="0"/>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DK"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DK" dirty="0"/>
          </a:p>
        </p:txBody>
      </p:sp>
      <p:sp>
        <p:nvSpPr>
          <p:cNvPr id="4" name="Slide Number Placeholder 3"/>
          <p:cNvSpPr>
            <a:spLocks noGrp="1"/>
          </p:cNvSpPr>
          <p:nvPr>
            <p:ph type="sldNum" sz="quarter" idx="5"/>
          </p:nvPr>
        </p:nvSpPr>
        <p:spPr/>
        <p:txBody>
          <a:bodyPr/>
          <a:lstStyle/>
          <a:p>
            <a:fld id="{90AA28B0-211A-B640-96C3-6E3EBE2D2300}" type="slidenum">
              <a:rPr lang="en-DK" smtClean="0"/>
              <a:t>36</a:t>
            </a:fld>
            <a:endParaRPr lang="en-DK"/>
          </a:p>
        </p:txBody>
      </p:sp>
    </p:spTree>
    <p:extLst>
      <p:ext uri="{BB962C8B-B14F-4D97-AF65-F5344CB8AC3E}">
        <p14:creationId xmlns:p14="http://schemas.microsoft.com/office/powerpoint/2010/main" val="2671495715"/>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F1E9E8-2258-35AD-4D58-02665780E71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99487D7-B0FF-52D3-0878-9AD27AA94AB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BB331C0-B31B-F0DB-7822-1334124D1B8B}"/>
              </a:ext>
            </a:extLst>
          </p:cNvPr>
          <p:cNvSpPr>
            <a:spLocks noGrp="1"/>
          </p:cNvSpPr>
          <p:nvPr>
            <p:ph type="body" idx="1"/>
          </p:nvPr>
        </p:nvSpPr>
        <p:spPr/>
        <p:txBody>
          <a:bodyPr/>
          <a:lstStyle/>
          <a:p>
            <a:endParaRPr lang="en-DK" dirty="0"/>
          </a:p>
        </p:txBody>
      </p:sp>
      <p:sp>
        <p:nvSpPr>
          <p:cNvPr id="4" name="Slide Number Placeholder 3">
            <a:extLst>
              <a:ext uri="{FF2B5EF4-FFF2-40B4-BE49-F238E27FC236}">
                <a16:creationId xmlns:a16="http://schemas.microsoft.com/office/drawing/2014/main" id="{DF60612E-65DF-2F60-8C62-002FE88AEFB0}"/>
              </a:ext>
            </a:extLst>
          </p:cNvPr>
          <p:cNvSpPr>
            <a:spLocks noGrp="1"/>
          </p:cNvSpPr>
          <p:nvPr>
            <p:ph type="sldNum" sz="quarter" idx="5"/>
          </p:nvPr>
        </p:nvSpPr>
        <p:spPr/>
        <p:txBody>
          <a:bodyPr/>
          <a:lstStyle/>
          <a:p>
            <a:fld id="{90AA28B0-211A-B640-96C3-6E3EBE2D2300}" type="slidenum">
              <a:rPr lang="en-DK" smtClean="0"/>
              <a:t>38</a:t>
            </a:fld>
            <a:endParaRPr lang="en-DK"/>
          </a:p>
        </p:txBody>
      </p:sp>
    </p:spTree>
    <p:extLst>
      <p:ext uri="{BB962C8B-B14F-4D97-AF65-F5344CB8AC3E}">
        <p14:creationId xmlns:p14="http://schemas.microsoft.com/office/powerpoint/2010/main" val="110116014"/>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DK" dirty="0"/>
              <a:t>How does it look the microbiome data?</a:t>
            </a:r>
          </a:p>
          <a:p>
            <a:endParaRPr lang="en-DK" dirty="0"/>
          </a:p>
          <a:p>
            <a:r>
              <a:rPr lang="en-DK" dirty="0"/>
              <a:t>Microbiome data shows sparsity and a dinamic range</a:t>
            </a:r>
          </a:p>
          <a:p>
            <a:endParaRPr lang="en-DK" dirty="0"/>
          </a:p>
          <a:p>
            <a:r>
              <a:rPr lang="en-DK" dirty="0"/>
              <a:t>Here we have a relative abundace table fo taxa or functional features in rows and samples in columns. I added the metadata which is area and condition measured</a:t>
            </a:r>
          </a:p>
          <a:p>
            <a:endParaRPr lang="en-DK" dirty="0"/>
          </a:p>
          <a:p>
            <a:r>
              <a:rPr lang="en-DK" dirty="0"/>
              <a:t>As you can see the abundance </a:t>
            </a:r>
          </a:p>
          <a:p>
            <a:pPr marL="171450" indent="-171450">
              <a:buFontTx/>
              <a:buChar char="-"/>
            </a:pPr>
            <a:r>
              <a:rPr lang="en-DK" dirty="0"/>
              <a:t>First row evenly distributed</a:t>
            </a:r>
          </a:p>
          <a:p>
            <a:pPr marL="171450" indent="-171450">
              <a:buFontTx/>
              <a:buChar char="-"/>
            </a:pPr>
            <a:r>
              <a:rPr lang="en-DK" dirty="0"/>
              <a:t>Highly dinamic range</a:t>
            </a:r>
          </a:p>
          <a:p>
            <a:r>
              <a:rPr lang="en-DK" dirty="0"/>
              <a:t>- Some fetures drop 0</a:t>
            </a:r>
          </a:p>
          <a:p>
            <a:endParaRPr lang="en-DK" dirty="0"/>
          </a:p>
        </p:txBody>
      </p:sp>
      <p:sp>
        <p:nvSpPr>
          <p:cNvPr id="4" name="Slide Number Placeholder 3"/>
          <p:cNvSpPr>
            <a:spLocks noGrp="1"/>
          </p:cNvSpPr>
          <p:nvPr>
            <p:ph type="sldNum" sz="quarter" idx="5"/>
          </p:nvPr>
        </p:nvSpPr>
        <p:spPr/>
        <p:txBody>
          <a:bodyPr/>
          <a:lstStyle/>
          <a:p>
            <a:fld id="{90AA28B0-211A-B640-96C3-6E3EBE2D2300}" type="slidenum">
              <a:rPr lang="en-DK" smtClean="0"/>
              <a:t>39</a:t>
            </a:fld>
            <a:endParaRPr lang="en-DK"/>
          </a:p>
        </p:txBody>
      </p:sp>
    </p:spTree>
    <p:extLst>
      <p:ext uri="{BB962C8B-B14F-4D97-AF65-F5344CB8AC3E}">
        <p14:creationId xmlns:p14="http://schemas.microsoft.com/office/powerpoint/2010/main" val="499874656"/>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Font typeface="Arial" panose="020B0604020202020204" pitchFamily="34" charset="0"/>
              <a:buNone/>
            </a:pPr>
            <a:r>
              <a:rPr lang="en-DK" dirty="0"/>
              <a:t>Microbiome data is usually expressed as relatives abundance, which makes this data compostional</a:t>
            </a:r>
          </a:p>
          <a:p>
            <a:pPr marL="0" indent="0">
              <a:buFont typeface="Arial" panose="020B0604020202020204" pitchFamily="34" charset="0"/>
              <a:buNone/>
            </a:pPr>
            <a:endParaRPr lang="en-DK" dirty="0"/>
          </a:p>
          <a:p>
            <a:pPr marL="0" indent="0">
              <a:buFont typeface="Arial" panose="020B0604020202020204" pitchFamily="34" charset="0"/>
              <a:buNone/>
            </a:pPr>
            <a:r>
              <a:rPr lang="en-DK" dirty="0"/>
              <a:t>What compositional data means:</a:t>
            </a:r>
          </a:p>
          <a:p>
            <a:pPr marL="0" indent="0">
              <a:buFont typeface="Arial" panose="020B0604020202020204" pitchFamily="34" charset="0"/>
              <a:buNone/>
            </a:pPr>
            <a:endParaRPr lang="en-DK" dirty="0"/>
          </a:p>
          <a:p>
            <a:pPr marL="285750" indent="-285750">
              <a:buFont typeface="Arial" panose="020B0604020202020204" pitchFamily="34" charset="0"/>
              <a:buChar char="•"/>
            </a:pPr>
            <a:r>
              <a:rPr lang="en-GB" dirty="0"/>
              <a:t>Sampling of a fraction of the total genomic DNA</a:t>
            </a:r>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r>
              <a:rPr lang="en-GB" dirty="0"/>
              <a:t>Different sequencing depth between samples</a:t>
            </a:r>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r>
              <a:rPr lang="en-GB" dirty="0"/>
              <a:t>Both sampling depth and sequencing depth can vary several orders of magnitude between samples</a:t>
            </a:r>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r>
              <a:rPr lang="en-GB" dirty="0"/>
              <a:t>Absolute abundances are normally not known – abundances are relative and constraint to sum to 1 (or 100%)</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b="1" dirty="0"/>
              <a:t>Proportions or percentages</a:t>
            </a:r>
            <a:r>
              <a:rPr lang="en-GB" dirty="0"/>
              <a:t> of total reads per sample — not true cell counts.</a:t>
            </a:r>
          </a:p>
          <a:p>
            <a:pPr marL="285750" indent="-285750">
              <a:buFont typeface="Arial" panose="020B0604020202020204" pitchFamily="34" charset="0"/>
              <a:buChar char="•"/>
            </a:pPr>
            <a:endParaRPr lang="en-GB" dirty="0"/>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dirty="0"/>
              <a:t>Relative abundances are susceptible to compositional effects. </a:t>
            </a:r>
          </a:p>
          <a:p>
            <a:pPr marL="0" indent="0">
              <a:buFont typeface="Arial" panose="020B0604020202020204" pitchFamily="34" charset="0"/>
              <a:buNone/>
            </a:pPr>
            <a:endParaRPr lang="en-DK" dirty="0"/>
          </a:p>
          <a:p>
            <a:r>
              <a:rPr lang="en-GB" dirty="0"/>
              <a:t>----</a:t>
            </a:r>
          </a:p>
          <a:p>
            <a:r>
              <a:rPr lang="en-GB" dirty="0"/>
              <a:t>Metagenomic studies of microbial communities sample a fraction of the total genomic content (sampling depth), which are then sequenced at a certain sequencing depth. Both sampling depth and sequencing depth can vary several orders of magnitude between samples. As absolute microbial counts (abundances) are normally not known, and measurements depend on sampling and sequencing depths, community compositions are represented using relative abundances. Since relative abundances are constrained (they sum to 1 in a given community), they are susceptible to compositional effects, where an increase in relative abundance of one component leads to a compositional decrease in the relative abundance of other components. Differential analysis based on relative abundances thus needs careful interpretation as compositional effect can introduce spurious differences in relative abundances while the absolute abundances are not different. </a:t>
            </a:r>
            <a:endParaRPr lang="en-DK" dirty="0"/>
          </a:p>
        </p:txBody>
      </p:sp>
      <p:sp>
        <p:nvSpPr>
          <p:cNvPr id="4" name="Slide Number Placeholder 3"/>
          <p:cNvSpPr>
            <a:spLocks noGrp="1"/>
          </p:cNvSpPr>
          <p:nvPr>
            <p:ph type="sldNum" sz="quarter" idx="5"/>
          </p:nvPr>
        </p:nvSpPr>
        <p:spPr/>
        <p:txBody>
          <a:bodyPr/>
          <a:lstStyle/>
          <a:p>
            <a:fld id="{90AA28B0-211A-B640-96C3-6E3EBE2D2300}" type="slidenum">
              <a:rPr lang="en-DK" smtClean="0"/>
              <a:t>40</a:t>
            </a:fld>
            <a:endParaRPr lang="en-DK"/>
          </a:p>
        </p:txBody>
      </p:sp>
    </p:spTree>
    <p:extLst>
      <p:ext uri="{BB962C8B-B14F-4D97-AF65-F5344CB8AC3E}">
        <p14:creationId xmlns:p14="http://schemas.microsoft.com/office/powerpoint/2010/main" val="4283283273"/>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DK" dirty="0"/>
              <a:t>Here I prepared an example to illustrate the compositionality issue.</a:t>
            </a:r>
          </a:p>
          <a:p>
            <a:endParaRPr lang="en-DK" dirty="0"/>
          </a:p>
          <a:p>
            <a:r>
              <a:rPr lang="en-DK" dirty="0"/>
              <a:t>Consider read counts as a proxy for cell abundance (not perfect as in 16S gene we have multiple gene copies in some genomes, and in shotgun metagenomics we have different genome sizes – larger genomes contributing with more reads per cell, extraction efficiency, lib</a:t>
            </a:r>
            <a:r>
              <a:rPr lang="en-GB" dirty="0"/>
              <a:t>r</a:t>
            </a:r>
            <a:r>
              <a:rPr lang="en-DK" dirty="0"/>
              <a:t>ary prep bias, etc ...)</a:t>
            </a:r>
          </a:p>
          <a:p>
            <a:endParaRPr lang="en-DK" dirty="0"/>
          </a:p>
          <a:p>
            <a:r>
              <a:rPr lang="en-DK" dirty="0"/>
              <a:t>Then we have in the tablæe cell counts and relative abundace for S1 before an antibiotic treatment and fro sample 2 after the antibiotic treatment. </a:t>
            </a:r>
          </a:p>
          <a:p>
            <a:endParaRPr lang="en-DK" dirty="0"/>
          </a:p>
          <a:p>
            <a:r>
              <a:rPr lang="en-DK" dirty="0"/>
              <a:t>TABLE</a:t>
            </a:r>
          </a:p>
          <a:p>
            <a:endParaRPr lang="en-DK" dirty="0"/>
          </a:p>
          <a:p>
            <a:pPr marL="0" marR="0" lvl="0" indent="0" algn="l" defTabSz="914400" rtl="0" eaLnBrk="1" fontAlgn="auto" latinLnBrk="0" hangingPunct="1">
              <a:lnSpc>
                <a:spcPct val="100000"/>
              </a:lnSpc>
              <a:spcBef>
                <a:spcPts val="0"/>
              </a:spcBef>
              <a:spcAft>
                <a:spcPts val="0"/>
              </a:spcAft>
              <a:buClrTx/>
              <a:buSzTx/>
              <a:buFontTx/>
              <a:buNone/>
              <a:tabLst/>
              <a:defRPr/>
            </a:pPr>
            <a:r>
              <a:rPr lang="en-DK" dirty="0"/>
              <a:t>Only Taxon 3 reduced its abundance after antibiotic treament, but 1,2, and 4 seem that they increase. Their number of cells have not changed but due to the decrease of one taxon the orther 3 seem to have increased abundances.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DK" dirty="0"/>
          </a:p>
          <a:p>
            <a:pPr marL="0" marR="0" lvl="0" indent="0" algn="l" defTabSz="914400" rtl="0" eaLnBrk="1" fontAlgn="auto" latinLnBrk="0" hangingPunct="1">
              <a:lnSpc>
                <a:spcPct val="100000"/>
              </a:lnSpc>
              <a:spcBef>
                <a:spcPts val="0"/>
              </a:spcBef>
              <a:spcAft>
                <a:spcPts val="0"/>
              </a:spcAft>
              <a:buClrTx/>
              <a:buSzTx/>
              <a:buFontTx/>
              <a:buNone/>
              <a:tabLst/>
              <a:defRPr/>
            </a:pPr>
            <a:r>
              <a:rPr lang="en-DK" dirty="0"/>
              <a:t>T</a:t>
            </a:r>
            <a:r>
              <a:rPr lang="en-GB" dirty="0"/>
              <a:t>h</a:t>
            </a:r>
            <a:r>
              <a:rPr lang="en-DK" dirty="0"/>
              <a:t>is affects downstream analysis and specially interpretations. </a:t>
            </a:r>
          </a:p>
          <a:p>
            <a:endParaRPr lang="en-DK" dirty="0"/>
          </a:p>
          <a:p>
            <a:r>
              <a:rPr lang="en-DK" sz="1200" dirty="0"/>
              <a:t>e.g correlations or regression assume independent variables</a:t>
            </a:r>
          </a:p>
          <a:p>
            <a:endParaRPr lang="en-DK"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en-DK" sz="1200" dirty="0"/>
              <a:t>analysis alternatives and data transformations have been proposed: center-log-ration transformation (clr), ALDEx2, ANCOM</a:t>
            </a:r>
          </a:p>
          <a:p>
            <a:endParaRPr lang="en-DK"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en-DK" sz="1200" dirty="0"/>
              <a:t>however, they introduce </a:t>
            </a:r>
            <a:r>
              <a:rPr lang="en-GB" sz="1200" dirty="0"/>
              <a:t>practical limitations — especially with zero handling, computational cost, and difficult interpretation</a:t>
            </a:r>
            <a:endParaRPr lang="en-DK" sz="1200" dirty="0"/>
          </a:p>
          <a:p>
            <a:endParaRPr lang="en-DK" sz="1200" dirty="0"/>
          </a:p>
          <a:p>
            <a:r>
              <a:rPr lang="en-DK" sz="1200" dirty="0"/>
              <a:t>Best thing you can do after your analysis is plotting your data, perhaps also as an exploratory step plotting your data is advisable!</a:t>
            </a:r>
          </a:p>
          <a:p>
            <a:endParaRPr lang="en-DK" dirty="0"/>
          </a:p>
        </p:txBody>
      </p:sp>
      <p:sp>
        <p:nvSpPr>
          <p:cNvPr id="4" name="Slide Number Placeholder 3"/>
          <p:cNvSpPr>
            <a:spLocks noGrp="1"/>
          </p:cNvSpPr>
          <p:nvPr>
            <p:ph type="sldNum" sz="quarter" idx="5"/>
          </p:nvPr>
        </p:nvSpPr>
        <p:spPr/>
        <p:txBody>
          <a:bodyPr/>
          <a:lstStyle/>
          <a:p>
            <a:fld id="{90AA28B0-211A-B640-96C3-6E3EBE2D2300}" type="slidenum">
              <a:rPr lang="en-DK" smtClean="0"/>
              <a:t>41</a:t>
            </a:fld>
            <a:endParaRPr lang="en-DK"/>
          </a:p>
        </p:txBody>
      </p:sp>
    </p:spTree>
    <p:extLst>
      <p:ext uri="{BB962C8B-B14F-4D97-AF65-F5344CB8AC3E}">
        <p14:creationId xmlns:p14="http://schemas.microsoft.com/office/powerpoint/2010/main" val="1893476772"/>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DK" dirty="0"/>
              <a:t>The ideal scenario it would be measure absolute abundances, something that different groups and companies are starting to do.</a:t>
            </a:r>
          </a:p>
          <a:p>
            <a:endParaRPr lang="en-DK" dirty="0"/>
          </a:p>
          <a:p>
            <a:r>
              <a:rPr lang="en-DK" dirty="0"/>
              <a:t>This way we have true cell counts</a:t>
            </a:r>
          </a:p>
          <a:p>
            <a:br>
              <a:rPr lang="en-DK" dirty="0"/>
            </a:br>
            <a:r>
              <a:rPr lang="en-DK" dirty="0"/>
              <a:t>to obtain absolute abundances, you can</a:t>
            </a:r>
          </a:p>
          <a:p>
            <a:endParaRPr lang="en-DK" dirty="0"/>
          </a:p>
          <a:p>
            <a:pPr marL="285750" indent="-285750">
              <a:buFont typeface="Arial" panose="020B0604020202020204" pitchFamily="34" charset="0"/>
              <a:buChar char="•"/>
            </a:pPr>
            <a:r>
              <a:rPr lang="en-GB" dirty="0"/>
              <a:t>Add </a:t>
            </a:r>
            <a:r>
              <a:rPr lang="en-GB" b="1" dirty="0"/>
              <a:t>internal spike-in controls</a:t>
            </a:r>
            <a:r>
              <a:rPr lang="en-GB" dirty="0"/>
              <a:t> (known amounts of reference DNA). Then. you can calculate the other taxa abundance on respect to that reference</a:t>
            </a:r>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r>
              <a:rPr lang="en-GB" dirty="0"/>
              <a:t>Use </a:t>
            </a:r>
            <a:r>
              <a:rPr lang="en-GB" b="1" dirty="0"/>
              <a:t>qPCR or flow cytometry</a:t>
            </a:r>
            <a:r>
              <a:rPr lang="en-GB" dirty="0"/>
              <a:t> to estimate </a:t>
            </a:r>
            <a:r>
              <a:rPr lang="en-GB" b="1" dirty="0"/>
              <a:t>total bacterial load</a:t>
            </a:r>
            <a:r>
              <a:rPr lang="en-GB" dirty="0"/>
              <a:t>. Then normalize your data accordingly</a:t>
            </a:r>
          </a:p>
          <a:p>
            <a:pPr marL="285750" indent="-285750">
              <a:buFont typeface="Arial" panose="020B0604020202020204" pitchFamily="34" charset="0"/>
              <a:buChar char="•"/>
            </a:pPr>
            <a:endParaRPr lang="en-GB" dirty="0"/>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dirty="0"/>
              <a:t>This allows you to correct read counts to reflect </a:t>
            </a:r>
            <a:r>
              <a:rPr lang="en-GB" b="1" dirty="0"/>
              <a:t>absolute abundance</a:t>
            </a:r>
            <a:r>
              <a:rPr lang="en-GB" dirty="0"/>
              <a:t>, not just proportions.</a:t>
            </a:r>
          </a:p>
          <a:p>
            <a:pPr marL="285750" indent="-285750">
              <a:buFont typeface="Arial" panose="020B0604020202020204" pitchFamily="34" charset="0"/>
              <a:buChar char="•"/>
            </a:pPr>
            <a:endParaRPr lang="en-GB" dirty="0"/>
          </a:p>
          <a:p>
            <a:endParaRPr lang="en-DK" dirty="0"/>
          </a:p>
        </p:txBody>
      </p:sp>
      <p:sp>
        <p:nvSpPr>
          <p:cNvPr id="4" name="Slide Number Placeholder 3"/>
          <p:cNvSpPr>
            <a:spLocks noGrp="1"/>
          </p:cNvSpPr>
          <p:nvPr>
            <p:ph type="sldNum" sz="quarter" idx="5"/>
          </p:nvPr>
        </p:nvSpPr>
        <p:spPr/>
        <p:txBody>
          <a:bodyPr/>
          <a:lstStyle/>
          <a:p>
            <a:fld id="{90AA28B0-211A-B640-96C3-6E3EBE2D2300}" type="slidenum">
              <a:rPr lang="en-DK" smtClean="0"/>
              <a:t>42</a:t>
            </a:fld>
            <a:endParaRPr lang="en-DK"/>
          </a:p>
        </p:txBody>
      </p:sp>
    </p:spTree>
    <p:extLst>
      <p:ext uri="{BB962C8B-B14F-4D97-AF65-F5344CB8AC3E}">
        <p14:creationId xmlns:p14="http://schemas.microsoft.com/office/powerpoint/2010/main" val="171021632"/>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9C7BE01-8F94-E9D3-D539-0D87F2E23D9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4834A66-A237-251B-DD54-C64FCB54EE4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C810C6A-1DEB-8345-E0F5-687ABC334B9F}"/>
              </a:ext>
            </a:extLst>
          </p:cNvPr>
          <p:cNvSpPr>
            <a:spLocks noGrp="1"/>
          </p:cNvSpPr>
          <p:nvPr>
            <p:ph type="body" idx="1"/>
          </p:nvPr>
        </p:nvSpPr>
        <p:spPr/>
        <p:txBody>
          <a:bodyPr/>
          <a:lstStyle/>
          <a:p>
            <a:endParaRPr lang="en-DK" dirty="0"/>
          </a:p>
        </p:txBody>
      </p:sp>
      <p:sp>
        <p:nvSpPr>
          <p:cNvPr id="4" name="Slide Number Placeholder 3">
            <a:extLst>
              <a:ext uri="{FF2B5EF4-FFF2-40B4-BE49-F238E27FC236}">
                <a16:creationId xmlns:a16="http://schemas.microsoft.com/office/drawing/2014/main" id="{504F62E0-C4BB-9564-DDCE-3200906C5D5B}"/>
              </a:ext>
            </a:extLst>
          </p:cNvPr>
          <p:cNvSpPr>
            <a:spLocks noGrp="1"/>
          </p:cNvSpPr>
          <p:nvPr>
            <p:ph type="sldNum" sz="quarter" idx="5"/>
          </p:nvPr>
        </p:nvSpPr>
        <p:spPr/>
        <p:txBody>
          <a:bodyPr/>
          <a:lstStyle/>
          <a:p>
            <a:fld id="{90AA28B0-211A-B640-96C3-6E3EBE2D2300}" type="slidenum">
              <a:rPr lang="en-DK" smtClean="0"/>
              <a:t>43</a:t>
            </a:fld>
            <a:endParaRPr lang="en-DK"/>
          </a:p>
        </p:txBody>
      </p:sp>
    </p:spTree>
    <p:extLst>
      <p:ext uri="{BB962C8B-B14F-4D97-AF65-F5344CB8AC3E}">
        <p14:creationId xmlns:p14="http://schemas.microsoft.com/office/powerpoint/2010/main" val="2214016257"/>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DK" dirty="0"/>
              <a:t>There are several ways how microbiome ecologist describe microbiome data:</a:t>
            </a:r>
          </a:p>
          <a:p>
            <a:endParaRPr lang="en-DK" dirty="0"/>
          </a:p>
          <a:p>
            <a:r>
              <a:rPr lang="en-DK" dirty="0"/>
              <a:t>For example Microbiome alpha div which is the diversity within a sample</a:t>
            </a:r>
          </a:p>
          <a:p>
            <a:endParaRPr lang="en-DK" dirty="0"/>
          </a:p>
          <a:p>
            <a:r>
              <a:rPr lang="en-DK" dirty="0"/>
              <a:t>Two common measures of diversity are </a:t>
            </a:r>
          </a:p>
          <a:p>
            <a:endParaRPr lang="en-DK" dirty="0"/>
          </a:p>
          <a:p>
            <a:pPr lvl="1" indent="-228600">
              <a:lnSpc>
                <a:spcPct val="90000"/>
              </a:lnSpc>
              <a:spcAft>
                <a:spcPts val="600"/>
              </a:spcAft>
              <a:buFont typeface="Arial" panose="020B0604020202020204" pitchFamily="34" charset="0"/>
              <a:buChar char="•"/>
            </a:pPr>
            <a:r>
              <a:rPr lang="en-DK" dirty="0"/>
              <a:t>- </a:t>
            </a:r>
            <a:r>
              <a:rPr lang="en-US" b="1" dirty="0"/>
              <a:t>Richness</a:t>
            </a:r>
            <a:r>
              <a:rPr lang="en-US" dirty="0"/>
              <a:t>: number of unique taxa found in a sample (species, OTUs, ASVs,…)</a:t>
            </a:r>
          </a:p>
          <a:p>
            <a:pPr lvl="1" indent="-228600">
              <a:lnSpc>
                <a:spcPct val="90000"/>
              </a:lnSpc>
              <a:spcAft>
                <a:spcPts val="600"/>
              </a:spcAft>
              <a:buFont typeface="Arial" panose="020B0604020202020204" pitchFamily="34" charset="0"/>
              <a:buChar char="•"/>
            </a:pPr>
            <a:r>
              <a:rPr lang="en-US" b="1" dirty="0"/>
              <a:t>Shannon Index</a:t>
            </a:r>
            <a:r>
              <a:rPr lang="en-US" dirty="0"/>
              <a:t>: Accounts for both richness and evenness (how balanced the community is)</a:t>
            </a:r>
          </a:p>
          <a:p>
            <a:pPr lvl="2" indent="-228600">
              <a:lnSpc>
                <a:spcPct val="90000"/>
              </a:lnSpc>
              <a:spcAft>
                <a:spcPts val="600"/>
              </a:spcAft>
              <a:buFont typeface="Arial" panose="020B0604020202020204" pitchFamily="34" charset="0"/>
              <a:buChar char="•"/>
            </a:pPr>
            <a:r>
              <a:rPr lang="en-US" b="1" dirty="0"/>
              <a:t>Higher values</a:t>
            </a:r>
            <a:r>
              <a:rPr lang="en-US" dirty="0"/>
              <a:t> indicate More diverse and evenly distributed community</a:t>
            </a:r>
          </a:p>
          <a:p>
            <a:pPr lvl="2" indent="-228600">
              <a:lnSpc>
                <a:spcPct val="90000"/>
              </a:lnSpc>
              <a:spcAft>
                <a:spcPts val="600"/>
              </a:spcAft>
              <a:buFont typeface="Arial" panose="020B0604020202020204" pitchFamily="34" charset="0"/>
              <a:buChar char="•"/>
            </a:pPr>
            <a:r>
              <a:rPr lang="en-US" dirty="0"/>
              <a:t>There are other indices used but here we will focus on these two, up there you have the Shannon formula </a:t>
            </a:r>
          </a:p>
          <a:p>
            <a:pPr lvl="2" indent="-228600">
              <a:lnSpc>
                <a:spcPct val="90000"/>
              </a:lnSpc>
              <a:spcAft>
                <a:spcPts val="600"/>
              </a:spcAft>
              <a:buFont typeface="Arial" panose="020B0604020202020204" pitchFamily="34" charset="0"/>
              <a:buChar char="•"/>
            </a:pPr>
            <a:endParaRPr lang="en-US" dirty="0"/>
          </a:p>
          <a:p>
            <a:pPr lvl="2" indent="-228600">
              <a:lnSpc>
                <a:spcPct val="90000"/>
              </a:lnSpc>
              <a:spcAft>
                <a:spcPts val="600"/>
              </a:spcAft>
              <a:buFont typeface="Arial" panose="020B0604020202020204" pitchFamily="34" charset="0"/>
              <a:buChar char="•"/>
            </a:pPr>
            <a:endParaRPr lang="en-US" dirty="0"/>
          </a:p>
          <a:p>
            <a:pPr lvl="2" indent="-228600">
              <a:lnSpc>
                <a:spcPct val="90000"/>
              </a:lnSpc>
              <a:spcAft>
                <a:spcPts val="600"/>
              </a:spcAft>
              <a:buFont typeface="Arial" panose="020B0604020202020204" pitchFamily="34" charset="0"/>
              <a:buChar char="•"/>
            </a:pPr>
            <a:r>
              <a:rPr lang="en-US" dirty="0"/>
              <a:t>PLOT – here we studied the diversity after an antibiotic treatment in young humans and you can see that after an initial decrease of both richness and Shannon index both recovered diversity within half a year.</a:t>
            </a:r>
          </a:p>
          <a:p>
            <a:endParaRPr lang="en-DK" dirty="0"/>
          </a:p>
          <a:p>
            <a:endParaRPr lang="en-DK" dirty="0"/>
          </a:p>
        </p:txBody>
      </p:sp>
      <p:sp>
        <p:nvSpPr>
          <p:cNvPr id="4" name="Slide Number Placeholder 3"/>
          <p:cNvSpPr>
            <a:spLocks noGrp="1"/>
          </p:cNvSpPr>
          <p:nvPr>
            <p:ph type="sldNum" sz="quarter" idx="5"/>
          </p:nvPr>
        </p:nvSpPr>
        <p:spPr/>
        <p:txBody>
          <a:bodyPr/>
          <a:lstStyle/>
          <a:p>
            <a:fld id="{90AA28B0-211A-B640-96C3-6E3EBE2D2300}" type="slidenum">
              <a:rPr lang="en-DK" smtClean="0"/>
              <a:t>44</a:t>
            </a:fld>
            <a:endParaRPr lang="en-DK"/>
          </a:p>
        </p:txBody>
      </p:sp>
    </p:spTree>
    <p:extLst>
      <p:ext uri="{BB962C8B-B14F-4D97-AF65-F5344CB8AC3E}">
        <p14:creationId xmlns:p14="http://schemas.microsoft.com/office/powerpoint/2010/main" val="1203967522"/>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DK" dirty="0"/>
              <a:t>Another diversity measure is beta diversity which is diversity between samples</a:t>
            </a:r>
          </a:p>
          <a:p>
            <a:endParaRPr lang="en-DK" dirty="0"/>
          </a:p>
          <a:p>
            <a:r>
              <a:rPr lang="en-DK" dirty="0"/>
              <a:t>This one is measured by ecological distances or dissimilarities. Few of the most known and used are:</a:t>
            </a:r>
          </a:p>
          <a:p>
            <a:endParaRPr lang="en-DK" dirty="0"/>
          </a:p>
          <a:p>
            <a:pPr marL="742950" lvl="1" indent="-228600">
              <a:lnSpc>
                <a:spcPct val="90000"/>
              </a:lnSpc>
              <a:spcAft>
                <a:spcPts val="600"/>
              </a:spcAft>
              <a:buFont typeface="Arial" panose="020B0604020202020204" pitchFamily="34" charset="0"/>
              <a:buChar char="•"/>
            </a:pPr>
            <a:r>
              <a:rPr lang="en-US" b="1" dirty="0"/>
              <a:t>Bray-Curtis dissimilarity</a:t>
            </a:r>
            <a:r>
              <a:rPr lang="en-US" dirty="0"/>
              <a:t> (presence/absence + abundance-weighted)</a:t>
            </a:r>
          </a:p>
          <a:p>
            <a:pPr marL="742950" lvl="1" indent="-228600">
              <a:lnSpc>
                <a:spcPct val="90000"/>
              </a:lnSpc>
              <a:spcAft>
                <a:spcPts val="600"/>
              </a:spcAft>
              <a:buFont typeface="Arial" panose="020B0604020202020204" pitchFamily="34" charset="0"/>
              <a:buChar char="•"/>
            </a:pPr>
            <a:r>
              <a:rPr lang="en-US" b="1" dirty="0"/>
              <a:t>Jaccard distance</a:t>
            </a:r>
            <a:r>
              <a:rPr lang="en-US" dirty="0"/>
              <a:t> (presence/absence)</a:t>
            </a:r>
          </a:p>
          <a:p>
            <a:pPr marL="742950" lvl="1" indent="-228600">
              <a:lnSpc>
                <a:spcPct val="90000"/>
              </a:lnSpc>
              <a:spcAft>
                <a:spcPts val="600"/>
              </a:spcAft>
              <a:buFont typeface="Arial" panose="020B0604020202020204" pitchFamily="34" charset="0"/>
              <a:buChar char="•"/>
            </a:pPr>
            <a:r>
              <a:rPr lang="en-US" b="1" dirty="0" err="1"/>
              <a:t>UniFrac</a:t>
            </a:r>
            <a:r>
              <a:rPr lang="en-US" dirty="0"/>
              <a:t> (phylogenetic distances: weighted/unweighted)</a:t>
            </a:r>
          </a:p>
          <a:p>
            <a:endParaRPr lang="en-DK" dirty="0"/>
          </a:p>
          <a:p>
            <a:pPr indent="-228600">
              <a:lnSpc>
                <a:spcPct val="90000"/>
              </a:lnSpc>
              <a:spcAft>
                <a:spcPts val="600"/>
              </a:spcAft>
              <a:buFont typeface="Arial" panose="020B0604020202020204" pitchFamily="34" charset="0"/>
              <a:buChar char="•"/>
            </a:pPr>
            <a:r>
              <a:rPr lang="en-US" dirty="0"/>
              <a:t>These distances between samples are calculated based on the taxa abundance table and projected on the two first dimensions of a </a:t>
            </a:r>
            <a:r>
              <a:rPr lang="en-US" dirty="0" err="1"/>
              <a:t>PCoA</a:t>
            </a:r>
            <a:r>
              <a:rPr lang="en-US" dirty="0"/>
              <a:t>.</a:t>
            </a:r>
          </a:p>
          <a:p>
            <a:pPr indent="-228600">
              <a:lnSpc>
                <a:spcPct val="90000"/>
              </a:lnSpc>
              <a:spcAft>
                <a:spcPts val="600"/>
              </a:spcAft>
              <a:buFont typeface="Arial" panose="020B0604020202020204" pitchFamily="34" charset="0"/>
              <a:buChar char="•"/>
            </a:pPr>
            <a:r>
              <a:rPr lang="en-US" dirty="0"/>
              <a:t>other ordination methods are also used: NMDS, </a:t>
            </a:r>
            <a:r>
              <a:rPr lang="en-US" dirty="0" err="1"/>
              <a:t>tSNE</a:t>
            </a:r>
            <a:r>
              <a:rPr lang="en-US" dirty="0"/>
              <a:t> or simply PCA,…)</a:t>
            </a:r>
          </a:p>
          <a:p>
            <a:endParaRPr lang="en-DK" dirty="0"/>
          </a:p>
          <a:p>
            <a:r>
              <a:rPr lang="en-DK" dirty="0"/>
              <a:t>In this example is about the dataset that I talked in the previous slide and as you can see the microbial composition changes dramatically after an antibiotic treatment and looks more and more similar to the baseline composition when the time passes and the gut microbiotat recovers. </a:t>
            </a:r>
          </a:p>
          <a:p>
            <a:endParaRPr lang="en-DK" dirty="0"/>
          </a:p>
          <a:p>
            <a:r>
              <a:rPr lang="en-DK" dirty="0"/>
              <a:t>Same you could have in environmental studies, you change a condition in a microbial community and it changes drastically and perhaps with the time it comes back to the original composition once the new resource is consumed or dervies into a totally different composition, then samples will be placed further away in the PCoA.</a:t>
            </a:r>
            <a:br>
              <a:rPr lang="en-DK" dirty="0"/>
            </a:br>
            <a:endParaRPr lang="en-DK" dirty="0"/>
          </a:p>
          <a:p>
            <a:endParaRPr lang="en-DK" dirty="0"/>
          </a:p>
        </p:txBody>
      </p:sp>
      <p:sp>
        <p:nvSpPr>
          <p:cNvPr id="4" name="Slide Number Placeholder 3"/>
          <p:cNvSpPr>
            <a:spLocks noGrp="1"/>
          </p:cNvSpPr>
          <p:nvPr>
            <p:ph type="sldNum" sz="quarter" idx="5"/>
          </p:nvPr>
        </p:nvSpPr>
        <p:spPr/>
        <p:txBody>
          <a:bodyPr/>
          <a:lstStyle/>
          <a:p>
            <a:fld id="{90AA28B0-211A-B640-96C3-6E3EBE2D2300}" type="slidenum">
              <a:rPr lang="en-DK" smtClean="0"/>
              <a:t>45</a:t>
            </a:fld>
            <a:endParaRPr lang="en-DK"/>
          </a:p>
        </p:txBody>
      </p:sp>
    </p:spTree>
    <p:extLst>
      <p:ext uri="{BB962C8B-B14F-4D97-AF65-F5344CB8AC3E}">
        <p14:creationId xmlns:p14="http://schemas.microsoft.com/office/powerpoint/2010/main" val="1650963326"/>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73FF47-8B5F-FBB8-3B74-54AB58954F0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AC01C6B-F93A-3F9C-F234-838533764D7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0849541-127B-F89C-D38E-8E936EFF22AC}"/>
              </a:ext>
            </a:extLst>
          </p:cNvPr>
          <p:cNvSpPr>
            <a:spLocks noGrp="1"/>
          </p:cNvSpPr>
          <p:nvPr>
            <p:ph type="body" idx="1"/>
          </p:nvPr>
        </p:nvSpPr>
        <p:spPr/>
        <p:txBody>
          <a:bodyPr/>
          <a:lstStyle/>
          <a:p>
            <a:r>
              <a:rPr lang="en-GB" sz="1200" b="1" i="0" kern="1200" dirty="0">
                <a:solidFill>
                  <a:schemeClr val="tx1"/>
                </a:solidFill>
                <a:effectLst/>
                <a:latin typeface="+mn-lt"/>
                <a:ea typeface="+mn-ea"/>
                <a:cs typeface="+mn-cs"/>
              </a:rPr>
              <a:t>In these first slides I am going to give examples of the impact of microbiome studies on the fields of medical health and planetary health</a:t>
            </a:r>
          </a:p>
          <a:p>
            <a:endParaRPr lang="en-DK" dirty="0"/>
          </a:p>
        </p:txBody>
      </p:sp>
      <p:sp>
        <p:nvSpPr>
          <p:cNvPr id="4" name="Slide Number Placeholder 3">
            <a:extLst>
              <a:ext uri="{FF2B5EF4-FFF2-40B4-BE49-F238E27FC236}">
                <a16:creationId xmlns:a16="http://schemas.microsoft.com/office/drawing/2014/main" id="{BF5C27F8-833E-84E2-D5A3-5AC1382E4EFE}"/>
              </a:ext>
            </a:extLst>
          </p:cNvPr>
          <p:cNvSpPr>
            <a:spLocks noGrp="1"/>
          </p:cNvSpPr>
          <p:nvPr>
            <p:ph type="sldNum" sz="quarter" idx="5"/>
          </p:nvPr>
        </p:nvSpPr>
        <p:spPr/>
        <p:txBody>
          <a:bodyPr/>
          <a:lstStyle/>
          <a:p>
            <a:fld id="{90AA28B0-211A-B640-96C3-6E3EBE2D2300}" type="slidenum">
              <a:rPr lang="en-DK" smtClean="0"/>
              <a:t>46</a:t>
            </a:fld>
            <a:endParaRPr lang="en-DK"/>
          </a:p>
        </p:txBody>
      </p:sp>
    </p:spTree>
    <p:extLst>
      <p:ext uri="{BB962C8B-B14F-4D97-AF65-F5344CB8AC3E}">
        <p14:creationId xmlns:p14="http://schemas.microsoft.com/office/powerpoint/2010/main" val="26436759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EB5B08F-E520-C3B5-CF9B-504793A96395}"/>
              </a:ext>
            </a:extLst>
          </p:cNvPr>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DK"/>
          </a:p>
        </p:txBody>
      </p:sp>
      <p:sp>
        <p:nvSpPr>
          <p:cNvPr id="3" name="Subtitle 2">
            <a:extLst>
              <a:ext uri="{FF2B5EF4-FFF2-40B4-BE49-F238E27FC236}">
                <a16:creationId xmlns:a16="http://schemas.microsoft.com/office/drawing/2014/main" id="{F4631A82-7552-8E6A-ED1A-6F8952FF07C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DK"/>
          </a:p>
        </p:txBody>
      </p:sp>
      <p:sp>
        <p:nvSpPr>
          <p:cNvPr id="4" name="Date Placeholder 3">
            <a:extLst>
              <a:ext uri="{FF2B5EF4-FFF2-40B4-BE49-F238E27FC236}">
                <a16:creationId xmlns:a16="http://schemas.microsoft.com/office/drawing/2014/main" id="{E0B516EA-D451-0AB0-D5F8-CC04ADCC9DFE}"/>
              </a:ext>
            </a:extLst>
          </p:cNvPr>
          <p:cNvSpPr>
            <a:spLocks noGrp="1"/>
          </p:cNvSpPr>
          <p:nvPr>
            <p:ph type="dt" sz="half" idx="10"/>
          </p:nvPr>
        </p:nvSpPr>
        <p:spPr/>
        <p:txBody>
          <a:bodyPr/>
          <a:lstStyle/>
          <a:p>
            <a:fld id="{AF0867AF-5E38-4D41-A409-B469C3993211}" type="datetimeFigureOut">
              <a:rPr lang="en-DK" smtClean="0"/>
              <a:t>23/05/2025</a:t>
            </a:fld>
            <a:endParaRPr lang="en-DK"/>
          </a:p>
        </p:txBody>
      </p:sp>
      <p:sp>
        <p:nvSpPr>
          <p:cNvPr id="5" name="Footer Placeholder 4">
            <a:extLst>
              <a:ext uri="{FF2B5EF4-FFF2-40B4-BE49-F238E27FC236}">
                <a16:creationId xmlns:a16="http://schemas.microsoft.com/office/drawing/2014/main" id="{1FEAD2FD-85CA-C2DD-96EC-B43C04695A8A}"/>
              </a:ext>
            </a:extLst>
          </p:cNvPr>
          <p:cNvSpPr>
            <a:spLocks noGrp="1"/>
          </p:cNvSpPr>
          <p:nvPr>
            <p:ph type="ftr" sz="quarter" idx="11"/>
          </p:nvPr>
        </p:nvSpPr>
        <p:spPr/>
        <p:txBody>
          <a:bodyPr/>
          <a:lstStyle/>
          <a:p>
            <a:endParaRPr lang="en-DK"/>
          </a:p>
        </p:txBody>
      </p:sp>
      <p:sp>
        <p:nvSpPr>
          <p:cNvPr id="6" name="Slide Number Placeholder 5">
            <a:extLst>
              <a:ext uri="{FF2B5EF4-FFF2-40B4-BE49-F238E27FC236}">
                <a16:creationId xmlns:a16="http://schemas.microsoft.com/office/drawing/2014/main" id="{8ADD16B8-D8A1-9E9A-AFC4-9BFBA234DA7C}"/>
              </a:ext>
            </a:extLst>
          </p:cNvPr>
          <p:cNvSpPr>
            <a:spLocks noGrp="1"/>
          </p:cNvSpPr>
          <p:nvPr>
            <p:ph type="sldNum" sz="quarter" idx="12"/>
          </p:nvPr>
        </p:nvSpPr>
        <p:spPr/>
        <p:txBody>
          <a:bodyPr/>
          <a:lstStyle/>
          <a:p>
            <a:fld id="{55594515-A7E2-9645-9FB0-ED223F25913F}" type="slidenum">
              <a:rPr lang="en-DK" smtClean="0"/>
              <a:t>‹#›</a:t>
            </a:fld>
            <a:endParaRPr lang="en-DK"/>
          </a:p>
        </p:txBody>
      </p:sp>
    </p:spTree>
    <p:extLst>
      <p:ext uri="{BB962C8B-B14F-4D97-AF65-F5344CB8AC3E}">
        <p14:creationId xmlns:p14="http://schemas.microsoft.com/office/powerpoint/2010/main" val="39481914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0D9A50-A97B-1DEC-D02D-B56F74D74333}"/>
              </a:ext>
            </a:extLst>
          </p:cNvPr>
          <p:cNvSpPr>
            <a:spLocks noGrp="1"/>
          </p:cNvSpPr>
          <p:nvPr>
            <p:ph type="title"/>
          </p:nvPr>
        </p:nvSpPr>
        <p:spPr/>
        <p:txBody>
          <a:bodyPr/>
          <a:lstStyle/>
          <a:p>
            <a:r>
              <a:rPr lang="en-GB"/>
              <a:t>Click to edit Master title style</a:t>
            </a:r>
            <a:endParaRPr lang="en-DK"/>
          </a:p>
        </p:txBody>
      </p:sp>
      <p:sp>
        <p:nvSpPr>
          <p:cNvPr id="3" name="Content Placeholder 2">
            <a:extLst>
              <a:ext uri="{FF2B5EF4-FFF2-40B4-BE49-F238E27FC236}">
                <a16:creationId xmlns:a16="http://schemas.microsoft.com/office/drawing/2014/main" id="{7D7FEA44-2742-0632-74EB-913304C19386}"/>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DK"/>
          </a:p>
        </p:txBody>
      </p:sp>
      <p:sp>
        <p:nvSpPr>
          <p:cNvPr id="4" name="Date Placeholder 3">
            <a:extLst>
              <a:ext uri="{FF2B5EF4-FFF2-40B4-BE49-F238E27FC236}">
                <a16:creationId xmlns:a16="http://schemas.microsoft.com/office/drawing/2014/main" id="{8AFEB3A7-2D23-164A-FB57-4534F944C69D}"/>
              </a:ext>
            </a:extLst>
          </p:cNvPr>
          <p:cNvSpPr>
            <a:spLocks noGrp="1"/>
          </p:cNvSpPr>
          <p:nvPr>
            <p:ph type="dt" sz="half" idx="10"/>
          </p:nvPr>
        </p:nvSpPr>
        <p:spPr/>
        <p:txBody>
          <a:bodyPr/>
          <a:lstStyle/>
          <a:p>
            <a:fld id="{AF0867AF-5E38-4D41-A409-B469C3993211}" type="datetimeFigureOut">
              <a:rPr lang="en-DK" smtClean="0"/>
              <a:t>23/05/2025</a:t>
            </a:fld>
            <a:endParaRPr lang="en-DK"/>
          </a:p>
        </p:txBody>
      </p:sp>
      <p:sp>
        <p:nvSpPr>
          <p:cNvPr id="5" name="Footer Placeholder 4">
            <a:extLst>
              <a:ext uri="{FF2B5EF4-FFF2-40B4-BE49-F238E27FC236}">
                <a16:creationId xmlns:a16="http://schemas.microsoft.com/office/drawing/2014/main" id="{DAEB35BE-6289-D804-9F31-79C413075DEC}"/>
              </a:ext>
            </a:extLst>
          </p:cNvPr>
          <p:cNvSpPr>
            <a:spLocks noGrp="1"/>
          </p:cNvSpPr>
          <p:nvPr>
            <p:ph type="ftr" sz="quarter" idx="11"/>
          </p:nvPr>
        </p:nvSpPr>
        <p:spPr/>
        <p:txBody>
          <a:bodyPr/>
          <a:lstStyle/>
          <a:p>
            <a:endParaRPr lang="en-DK"/>
          </a:p>
        </p:txBody>
      </p:sp>
      <p:sp>
        <p:nvSpPr>
          <p:cNvPr id="6" name="Slide Number Placeholder 5">
            <a:extLst>
              <a:ext uri="{FF2B5EF4-FFF2-40B4-BE49-F238E27FC236}">
                <a16:creationId xmlns:a16="http://schemas.microsoft.com/office/drawing/2014/main" id="{6BB688F1-0F65-AF33-857A-F52DB5A0F2B3}"/>
              </a:ext>
            </a:extLst>
          </p:cNvPr>
          <p:cNvSpPr>
            <a:spLocks noGrp="1"/>
          </p:cNvSpPr>
          <p:nvPr>
            <p:ph type="sldNum" sz="quarter" idx="12"/>
          </p:nvPr>
        </p:nvSpPr>
        <p:spPr/>
        <p:txBody>
          <a:bodyPr/>
          <a:lstStyle/>
          <a:p>
            <a:fld id="{55594515-A7E2-9645-9FB0-ED223F25913F}" type="slidenum">
              <a:rPr lang="en-DK" smtClean="0"/>
              <a:t>‹#›</a:t>
            </a:fld>
            <a:endParaRPr lang="en-DK"/>
          </a:p>
        </p:txBody>
      </p:sp>
    </p:spTree>
    <p:extLst>
      <p:ext uri="{BB962C8B-B14F-4D97-AF65-F5344CB8AC3E}">
        <p14:creationId xmlns:p14="http://schemas.microsoft.com/office/powerpoint/2010/main" val="420525678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02D400-9FBF-96E9-75F6-72F07FEB8DF6}"/>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DK"/>
          </a:p>
        </p:txBody>
      </p:sp>
      <p:sp>
        <p:nvSpPr>
          <p:cNvPr id="3" name="Text Placeholder 2">
            <a:extLst>
              <a:ext uri="{FF2B5EF4-FFF2-40B4-BE49-F238E27FC236}">
                <a16:creationId xmlns:a16="http://schemas.microsoft.com/office/drawing/2014/main" id="{C63DA5BE-F890-1291-0BC4-F90EBB3CF18D}"/>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a:extLst>
              <a:ext uri="{FF2B5EF4-FFF2-40B4-BE49-F238E27FC236}">
                <a16:creationId xmlns:a16="http://schemas.microsoft.com/office/drawing/2014/main" id="{DF7EC702-E4E2-6F95-232F-5E1D84826CE9}"/>
              </a:ext>
            </a:extLst>
          </p:cNvPr>
          <p:cNvSpPr>
            <a:spLocks noGrp="1"/>
          </p:cNvSpPr>
          <p:nvPr>
            <p:ph type="dt" sz="half" idx="10"/>
          </p:nvPr>
        </p:nvSpPr>
        <p:spPr/>
        <p:txBody>
          <a:bodyPr/>
          <a:lstStyle/>
          <a:p>
            <a:fld id="{AF0867AF-5E38-4D41-A409-B469C3993211}" type="datetimeFigureOut">
              <a:rPr lang="en-DK" smtClean="0"/>
              <a:t>23/05/2025</a:t>
            </a:fld>
            <a:endParaRPr lang="en-DK"/>
          </a:p>
        </p:txBody>
      </p:sp>
      <p:sp>
        <p:nvSpPr>
          <p:cNvPr id="5" name="Footer Placeholder 4">
            <a:extLst>
              <a:ext uri="{FF2B5EF4-FFF2-40B4-BE49-F238E27FC236}">
                <a16:creationId xmlns:a16="http://schemas.microsoft.com/office/drawing/2014/main" id="{C6E5F506-60F8-3E43-7EA8-A671C94DADC6}"/>
              </a:ext>
            </a:extLst>
          </p:cNvPr>
          <p:cNvSpPr>
            <a:spLocks noGrp="1"/>
          </p:cNvSpPr>
          <p:nvPr>
            <p:ph type="ftr" sz="quarter" idx="11"/>
          </p:nvPr>
        </p:nvSpPr>
        <p:spPr/>
        <p:txBody>
          <a:bodyPr/>
          <a:lstStyle/>
          <a:p>
            <a:endParaRPr lang="en-DK"/>
          </a:p>
        </p:txBody>
      </p:sp>
      <p:sp>
        <p:nvSpPr>
          <p:cNvPr id="6" name="Slide Number Placeholder 5">
            <a:extLst>
              <a:ext uri="{FF2B5EF4-FFF2-40B4-BE49-F238E27FC236}">
                <a16:creationId xmlns:a16="http://schemas.microsoft.com/office/drawing/2014/main" id="{AB3443D2-1B51-6B4B-5C26-94551B342984}"/>
              </a:ext>
            </a:extLst>
          </p:cNvPr>
          <p:cNvSpPr>
            <a:spLocks noGrp="1"/>
          </p:cNvSpPr>
          <p:nvPr>
            <p:ph type="sldNum" sz="quarter" idx="12"/>
          </p:nvPr>
        </p:nvSpPr>
        <p:spPr/>
        <p:txBody>
          <a:bodyPr/>
          <a:lstStyle/>
          <a:p>
            <a:fld id="{55594515-A7E2-9645-9FB0-ED223F25913F}" type="slidenum">
              <a:rPr lang="en-DK" smtClean="0"/>
              <a:t>‹#›</a:t>
            </a:fld>
            <a:endParaRPr lang="en-DK"/>
          </a:p>
        </p:txBody>
      </p:sp>
    </p:spTree>
    <p:extLst>
      <p:ext uri="{BB962C8B-B14F-4D97-AF65-F5344CB8AC3E}">
        <p14:creationId xmlns:p14="http://schemas.microsoft.com/office/powerpoint/2010/main" val="279528037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551EAE-B27B-84FE-5C2A-F7058ED26278}"/>
              </a:ext>
            </a:extLst>
          </p:cNvPr>
          <p:cNvSpPr>
            <a:spLocks noGrp="1"/>
          </p:cNvSpPr>
          <p:nvPr>
            <p:ph type="title"/>
          </p:nvPr>
        </p:nvSpPr>
        <p:spPr/>
        <p:txBody>
          <a:bodyPr/>
          <a:lstStyle/>
          <a:p>
            <a:r>
              <a:rPr lang="en-GB"/>
              <a:t>Click to edit Master title style</a:t>
            </a:r>
            <a:endParaRPr lang="en-DK"/>
          </a:p>
        </p:txBody>
      </p:sp>
      <p:sp>
        <p:nvSpPr>
          <p:cNvPr id="3" name="Content Placeholder 2">
            <a:extLst>
              <a:ext uri="{FF2B5EF4-FFF2-40B4-BE49-F238E27FC236}">
                <a16:creationId xmlns:a16="http://schemas.microsoft.com/office/drawing/2014/main" id="{77BC7A39-68E6-A948-FB5C-AD855F26D19E}"/>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DK"/>
          </a:p>
        </p:txBody>
      </p:sp>
      <p:sp>
        <p:nvSpPr>
          <p:cNvPr id="4" name="Content Placeholder 3">
            <a:extLst>
              <a:ext uri="{FF2B5EF4-FFF2-40B4-BE49-F238E27FC236}">
                <a16:creationId xmlns:a16="http://schemas.microsoft.com/office/drawing/2014/main" id="{FE704136-F2EA-8AEB-7251-BF415EB32081}"/>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DK"/>
          </a:p>
        </p:txBody>
      </p:sp>
      <p:sp>
        <p:nvSpPr>
          <p:cNvPr id="5" name="Date Placeholder 4">
            <a:extLst>
              <a:ext uri="{FF2B5EF4-FFF2-40B4-BE49-F238E27FC236}">
                <a16:creationId xmlns:a16="http://schemas.microsoft.com/office/drawing/2014/main" id="{CBF387A1-9E39-6C08-06D9-A3EF9AD3C226}"/>
              </a:ext>
            </a:extLst>
          </p:cNvPr>
          <p:cNvSpPr>
            <a:spLocks noGrp="1"/>
          </p:cNvSpPr>
          <p:nvPr>
            <p:ph type="dt" sz="half" idx="10"/>
          </p:nvPr>
        </p:nvSpPr>
        <p:spPr/>
        <p:txBody>
          <a:bodyPr/>
          <a:lstStyle/>
          <a:p>
            <a:fld id="{AF0867AF-5E38-4D41-A409-B469C3993211}" type="datetimeFigureOut">
              <a:rPr lang="en-DK" smtClean="0"/>
              <a:t>23/05/2025</a:t>
            </a:fld>
            <a:endParaRPr lang="en-DK"/>
          </a:p>
        </p:txBody>
      </p:sp>
      <p:sp>
        <p:nvSpPr>
          <p:cNvPr id="6" name="Footer Placeholder 5">
            <a:extLst>
              <a:ext uri="{FF2B5EF4-FFF2-40B4-BE49-F238E27FC236}">
                <a16:creationId xmlns:a16="http://schemas.microsoft.com/office/drawing/2014/main" id="{472E8ADE-AE0E-3184-2436-5913B1BF1C49}"/>
              </a:ext>
            </a:extLst>
          </p:cNvPr>
          <p:cNvSpPr>
            <a:spLocks noGrp="1"/>
          </p:cNvSpPr>
          <p:nvPr>
            <p:ph type="ftr" sz="quarter" idx="11"/>
          </p:nvPr>
        </p:nvSpPr>
        <p:spPr/>
        <p:txBody>
          <a:bodyPr/>
          <a:lstStyle/>
          <a:p>
            <a:endParaRPr lang="en-DK"/>
          </a:p>
        </p:txBody>
      </p:sp>
      <p:sp>
        <p:nvSpPr>
          <p:cNvPr id="7" name="Slide Number Placeholder 6">
            <a:extLst>
              <a:ext uri="{FF2B5EF4-FFF2-40B4-BE49-F238E27FC236}">
                <a16:creationId xmlns:a16="http://schemas.microsoft.com/office/drawing/2014/main" id="{A4BAAA52-52C3-26D5-D331-8EB9D626F79A}"/>
              </a:ext>
            </a:extLst>
          </p:cNvPr>
          <p:cNvSpPr>
            <a:spLocks noGrp="1"/>
          </p:cNvSpPr>
          <p:nvPr>
            <p:ph type="sldNum" sz="quarter" idx="12"/>
          </p:nvPr>
        </p:nvSpPr>
        <p:spPr/>
        <p:txBody>
          <a:bodyPr/>
          <a:lstStyle/>
          <a:p>
            <a:fld id="{55594515-A7E2-9645-9FB0-ED223F25913F}" type="slidenum">
              <a:rPr lang="en-DK" smtClean="0"/>
              <a:t>‹#›</a:t>
            </a:fld>
            <a:endParaRPr lang="en-DK"/>
          </a:p>
        </p:txBody>
      </p:sp>
    </p:spTree>
    <p:extLst>
      <p:ext uri="{BB962C8B-B14F-4D97-AF65-F5344CB8AC3E}">
        <p14:creationId xmlns:p14="http://schemas.microsoft.com/office/powerpoint/2010/main" val="265401619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3463B20-C872-D41F-9C11-B42CDAFB0179}"/>
              </a:ext>
            </a:extLst>
          </p:cNvPr>
          <p:cNvSpPr>
            <a:spLocks noGrp="1"/>
          </p:cNvSpPr>
          <p:nvPr>
            <p:ph type="title"/>
          </p:nvPr>
        </p:nvSpPr>
        <p:spPr>
          <a:xfrm>
            <a:off x="839788" y="365125"/>
            <a:ext cx="10515600" cy="1325563"/>
          </a:xfrm>
        </p:spPr>
        <p:txBody>
          <a:bodyPr/>
          <a:lstStyle/>
          <a:p>
            <a:r>
              <a:rPr lang="en-GB"/>
              <a:t>Click to edit Master title style</a:t>
            </a:r>
            <a:endParaRPr lang="en-DK"/>
          </a:p>
        </p:txBody>
      </p:sp>
      <p:sp>
        <p:nvSpPr>
          <p:cNvPr id="3" name="Text Placeholder 2">
            <a:extLst>
              <a:ext uri="{FF2B5EF4-FFF2-40B4-BE49-F238E27FC236}">
                <a16:creationId xmlns:a16="http://schemas.microsoft.com/office/drawing/2014/main" id="{F0F175B8-A698-AF7B-D736-B09E5258E91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a:extLst>
              <a:ext uri="{FF2B5EF4-FFF2-40B4-BE49-F238E27FC236}">
                <a16:creationId xmlns:a16="http://schemas.microsoft.com/office/drawing/2014/main" id="{0C64EDC3-5A33-0A73-74BB-C78A58E69AAA}"/>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DK"/>
          </a:p>
        </p:txBody>
      </p:sp>
      <p:sp>
        <p:nvSpPr>
          <p:cNvPr id="5" name="Text Placeholder 4">
            <a:extLst>
              <a:ext uri="{FF2B5EF4-FFF2-40B4-BE49-F238E27FC236}">
                <a16:creationId xmlns:a16="http://schemas.microsoft.com/office/drawing/2014/main" id="{48DEA8AB-C145-24DB-4999-CAB5A88AB459}"/>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a:extLst>
              <a:ext uri="{FF2B5EF4-FFF2-40B4-BE49-F238E27FC236}">
                <a16:creationId xmlns:a16="http://schemas.microsoft.com/office/drawing/2014/main" id="{08233B10-E822-10E9-585F-269B50B884B5}"/>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DK"/>
          </a:p>
        </p:txBody>
      </p:sp>
      <p:sp>
        <p:nvSpPr>
          <p:cNvPr id="7" name="Date Placeholder 6">
            <a:extLst>
              <a:ext uri="{FF2B5EF4-FFF2-40B4-BE49-F238E27FC236}">
                <a16:creationId xmlns:a16="http://schemas.microsoft.com/office/drawing/2014/main" id="{F5D717AE-BA66-636D-D88C-F7F031F1F76D}"/>
              </a:ext>
            </a:extLst>
          </p:cNvPr>
          <p:cNvSpPr>
            <a:spLocks noGrp="1"/>
          </p:cNvSpPr>
          <p:nvPr>
            <p:ph type="dt" sz="half" idx="10"/>
          </p:nvPr>
        </p:nvSpPr>
        <p:spPr/>
        <p:txBody>
          <a:bodyPr/>
          <a:lstStyle/>
          <a:p>
            <a:fld id="{AF0867AF-5E38-4D41-A409-B469C3993211}" type="datetimeFigureOut">
              <a:rPr lang="en-DK" smtClean="0"/>
              <a:t>23/05/2025</a:t>
            </a:fld>
            <a:endParaRPr lang="en-DK"/>
          </a:p>
        </p:txBody>
      </p:sp>
      <p:sp>
        <p:nvSpPr>
          <p:cNvPr id="8" name="Footer Placeholder 7">
            <a:extLst>
              <a:ext uri="{FF2B5EF4-FFF2-40B4-BE49-F238E27FC236}">
                <a16:creationId xmlns:a16="http://schemas.microsoft.com/office/drawing/2014/main" id="{0C21625F-FF66-FD6B-BAFB-1589D878997A}"/>
              </a:ext>
            </a:extLst>
          </p:cNvPr>
          <p:cNvSpPr>
            <a:spLocks noGrp="1"/>
          </p:cNvSpPr>
          <p:nvPr>
            <p:ph type="ftr" sz="quarter" idx="11"/>
          </p:nvPr>
        </p:nvSpPr>
        <p:spPr/>
        <p:txBody>
          <a:bodyPr/>
          <a:lstStyle/>
          <a:p>
            <a:endParaRPr lang="en-DK"/>
          </a:p>
        </p:txBody>
      </p:sp>
      <p:sp>
        <p:nvSpPr>
          <p:cNvPr id="9" name="Slide Number Placeholder 8">
            <a:extLst>
              <a:ext uri="{FF2B5EF4-FFF2-40B4-BE49-F238E27FC236}">
                <a16:creationId xmlns:a16="http://schemas.microsoft.com/office/drawing/2014/main" id="{70D48355-B36F-727E-51AA-DE40595FC31B}"/>
              </a:ext>
            </a:extLst>
          </p:cNvPr>
          <p:cNvSpPr>
            <a:spLocks noGrp="1"/>
          </p:cNvSpPr>
          <p:nvPr>
            <p:ph type="sldNum" sz="quarter" idx="12"/>
          </p:nvPr>
        </p:nvSpPr>
        <p:spPr/>
        <p:txBody>
          <a:bodyPr/>
          <a:lstStyle/>
          <a:p>
            <a:fld id="{55594515-A7E2-9645-9FB0-ED223F25913F}" type="slidenum">
              <a:rPr lang="en-DK" smtClean="0"/>
              <a:t>‹#›</a:t>
            </a:fld>
            <a:endParaRPr lang="en-DK"/>
          </a:p>
        </p:txBody>
      </p:sp>
    </p:spTree>
    <p:extLst>
      <p:ext uri="{BB962C8B-B14F-4D97-AF65-F5344CB8AC3E}">
        <p14:creationId xmlns:p14="http://schemas.microsoft.com/office/powerpoint/2010/main" val="423620398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B8CF26-DE4F-56D9-8A1B-F5F978B90B8A}"/>
              </a:ext>
            </a:extLst>
          </p:cNvPr>
          <p:cNvSpPr>
            <a:spLocks noGrp="1"/>
          </p:cNvSpPr>
          <p:nvPr>
            <p:ph type="title"/>
          </p:nvPr>
        </p:nvSpPr>
        <p:spPr/>
        <p:txBody>
          <a:bodyPr/>
          <a:lstStyle/>
          <a:p>
            <a:r>
              <a:rPr lang="en-GB"/>
              <a:t>Click to edit Master title style</a:t>
            </a:r>
            <a:endParaRPr lang="en-DK"/>
          </a:p>
        </p:txBody>
      </p:sp>
      <p:sp>
        <p:nvSpPr>
          <p:cNvPr id="3" name="Date Placeholder 2">
            <a:extLst>
              <a:ext uri="{FF2B5EF4-FFF2-40B4-BE49-F238E27FC236}">
                <a16:creationId xmlns:a16="http://schemas.microsoft.com/office/drawing/2014/main" id="{5C72E4D4-C128-6528-CCAB-0EECA186A2BB}"/>
              </a:ext>
            </a:extLst>
          </p:cNvPr>
          <p:cNvSpPr>
            <a:spLocks noGrp="1"/>
          </p:cNvSpPr>
          <p:nvPr>
            <p:ph type="dt" sz="half" idx="10"/>
          </p:nvPr>
        </p:nvSpPr>
        <p:spPr/>
        <p:txBody>
          <a:bodyPr/>
          <a:lstStyle/>
          <a:p>
            <a:fld id="{AF0867AF-5E38-4D41-A409-B469C3993211}" type="datetimeFigureOut">
              <a:rPr lang="en-DK" smtClean="0"/>
              <a:t>23/05/2025</a:t>
            </a:fld>
            <a:endParaRPr lang="en-DK"/>
          </a:p>
        </p:txBody>
      </p:sp>
      <p:sp>
        <p:nvSpPr>
          <p:cNvPr id="4" name="Footer Placeholder 3">
            <a:extLst>
              <a:ext uri="{FF2B5EF4-FFF2-40B4-BE49-F238E27FC236}">
                <a16:creationId xmlns:a16="http://schemas.microsoft.com/office/drawing/2014/main" id="{D0D77489-056E-6BAE-1D66-821CCC573654}"/>
              </a:ext>
            </a:extLst>
          </p:cNvPr>
          <p:cNvSpPr>
            <a:spLocks noGrp="1"/>
          </p:cNvSpPr>
          <p:nvPr>
            <p:ph type="ftr" sz="quarter" idx="11"/>
          </p:nvPr>
        </p:nvSpPr>
        <p:spPr/>
        <p:txBody>
          <a:bodyPr/>
          <a:lstStyle/>
          <a:p>
            <a:endParaRPr lang="en-DK"/>
          </a:p>
        </p:txBody>
      </p:sp>
      <p:sp>
        <p:nvSpPr>
          <p:cNvPr id="5" name="Slide Number Placeholder 4">
            <a:extLst>
              <a:ext uri="{FF2B5EF4-FFF2-40B4-BE49-F238E27FC236}">
                <a16:creationId xmlns:a16="http://schemas.microsoft.com/office/drawing/2014/main" id="{6E932BAF-DEE0-9A5D-8557-C68D35FC5189}"/>
              </a:ext>
            </a:extLst>
          </p:cNvPr>
          <p:cNvSpPr>
            <a:spLocks noGrp="1"/>
          </p:cNvSpPr>
          <p:nvPr>
            <p:ph type="sldNum" sz="quarter" idx="12"/>
          </p:nvPr>
        </p:nvSpPr>
        <p:spPr/>
        <p:txBody>
          <a:bodyPr/>
          <a:lstStyle/>
          <a:p>
            <a:fld id="{55594515-A7E2-9645-9FB0-ED223F25913F}" type="slidenum">
              <a:rPr lang="en-DK" smtClean="0"/>
              <a:t>‹#›</a:t>
            </a:fld>
            <a:endParaRPr lang="en-DK"/>
          </a:p>
        </p:txBody>
      </p:sp>
    </p:spTree>
    <p:extLst>
      <p:ext uri="{BB962C8B-B14F-4D97-AF65-F5344CB8AC3E}">
        <p14:creationId xmlns:p14="http://schemas.microsoft.com/office/powerpoint/2010/main" val="119635155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FD6AAF1-ABB5-B82B-E3F5-87B76E253CB2}"/>
              </a:ext>
            </a:extLst>
          </p:cNvPr>
          <p:cNvSpPr>
            <a:spLocks noGrp="1"/>
          </p:cNvSpPr>
          <p:nvPr>
            <p:ph type="dt" sz="half" idx="10"/>
          </p:nvPr>
        </p:nvSpPr>
        <p:spPr/>
        <p:txBody>
          <a:bodyPr/>
          <a:lstStyle/>
          <a:p>
            <a:fld id="{AF0867AF-5E38-4D41-A409-B469C3993211}" type="datetimeFigureOut">
              <a:rPr lang="en-DK" smtClean="0"/>
              <a:t>23/05/2025</a:t>
            </a:fld>
            <a:endParaRPr lang="en-DK"/>
          </a:p>
        </p:txBody>
      </p:sp>
      <p:sp>
        <p:nvSpPr>
          <p:cNvPr id="3" name="Footer Placeholder 2">
            <a:extLst>
              <a:ext uri="{FF2B5EF4-FFF2-40B4-BE49-F238E27FC236}">
                <a16:creationId xmlns:a16="http://schemas.microsoft.com/office/drawing/2014/main" id="{142574EF-E8B0-1A30-C556-80C308CF0FB0}"/>
              </a:ext>
            </a:extLst>
          </p:cNvPr>
          <p:cNvSpPr>
            <a:spLocks noGrp="1"/>
          </p:cNvSpPr>
          <p:nvPr>
            <p:ph type="ftr" sz="quarter" idx="11"/>
          </p:nvPr>
        </p:nvSpPr>
        <p:spPr/>
        <p:txBody>
          <a:bodyPr/>
          <a:lstStyle/>
          <a:p>
            <a:endParaRPr lang="en-DK"/>
          </a:p>
        </p:txBody>
      </p:sp>
      <p:sp>
        <p:nvSpPr>
          <p:cNvPr id="4" name="Slide Number Placeholder 3">
            <a:extLst>
              <a:ext uri="{FF2B5EF4-FFF2-40B4-BE49-F238E27FC236}">
                <a16:creationId xmlns:a16="http://schemas.microsoft.com/office/drawing/2014/main" id="{31D081B3-FFB7-6C6C-29CE-D66BBB75C985}"/>
              </a:ext>
            </a:extLst>
          </p:cNvPr>
          <p:cNvSpPr>
            <a:spLocks noGrp="1"/>
          </p:cNvSpPr>
          <p:nvPr>
            <p:ph type="sldNum" sz="quarter" idx="12"/>
          </p:nvPr>
        </p:nvSpPr>
        <p:spPr/>
        <p:txBody>
          <a:bodyPr/>
          <a:lstStyle/>
          <a:p>
            <a:fld id="{55594515-A7E2-9645-9FB0-ED223F25913F}" type="slidenum">
              <a:rPr lang="en-DK" smtClean="0"/>
              <a:t>‹#›</a:t>
            </a:fld>
            <a:endParaRPr lang="en-DK"/>
          </a:p>
        </p:txBody>
      </p:sp>
    </p:spTree>
    <p:extLst>
      <p:ext uri="{BB962C8B-B14F-4D97-AF65-F5344CB8AC3E}">
        <p14:creationId xmlns:p14="http://schemas.microsoft.com/office/powerpoint/2010/main" val="390403984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BEF720-683C-4DC4-6BA9-D55E58722C92}"/>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DK"/>
          </a:p>
        </p:txBody>
      </p:sp>
      <p:sp>
        <p:nvSpPr>
          <p:cNvPr id="3" name="Content Placeholder 2">
            <a:extLst>
              <a:ext uri="{FF2B5EF4-FFF2-40B4-BE49-F238E27FC236}">
                <a16:creationId xmlns:a16="http://schemas.microsoft.com/office/drawing/2014/main" id="{442BDA84-39EF-28C6-74AF-91C14F574DEF}"/>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DK"/>
          </a:p>
        </p:txBody>
      </p:sp>
      <p:sp>
        <p:nvSpPr>
          <p:cNvPr id="4" name="Text Placeholder 3">
            <a:extLst>
              <a:ext uri="{FF2B5EF4-FFF2-40B4-BE49-F238E27FC236}">
                <a16:creationId xmlns:a16="http://schemas.microsoft.com/office/drawing/2014/main" id="{86CAC6B0-CA34-E106-0E5B-E37C3CC2791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61405152-097A-80B7-5BB1-AF363EDFEFE2}"/>
              </a:ext>
            </a:extLst>
          </p:cNvPr>
          <p:cNvSpPr>
            <a:spLocks noGrp="1"/>
          </p:cNvSpPr>
          <p:nvPr>
            <p:ph type="dt" sz="half" idx="10"/>
          </p:nvPr>
        </p:nvSpPr>
        <p:spPr/>
        <p:txBody>
          <a:bodyPr/>
          <a:lstStyle/>
          <a:p>
            <a:fld id="{AF0867AF-5E38-4D41-A409-B469C3993211}" type="datetimeFigureOut">
              <a:rPr lang="en-DK" smtClean="0"/>
              <a:t>23/05/2025</a:t>
            </a:fld>
            <a:endParaRPr lang="en-DK"/>
          </a:p>
        </p:txBody>
      </p:sp>
      <p:sp>
        <p:nvSpPr>
          <p:cNvPr id="6" name="Footer Placeholder 5">
            <a:extLst>
              <a:ext uri="{FF2B5EF4-FFF2-40B4-BE49-F238E27FC236}">
                <a16:creationId xmlns:a16="http://schemas.microsoft.com/office/drawing/2014/main" id="{ACBD7508-FECD-02D3-52F9-4CD63ECFA86D}"/>
              </a:ext>
            </a:extLst>
          </p:cNvPr>
          <p:cNvSpPr>
            <a:spLocks noGrp="1"/>
          </p:cNvSpPr>
          <p:nvPr>
            <p:ph type="ftr" sz="quarter" idx="11"/>
          </p:nvPr>
        </p:nvSpPr>
        <p:spPr/>
        <p:txBody>
          <a:bodyPr/>
          <a:lstStyle/>
          <a:p>
            <a:endParaRPr lang="en-DK"/>
          </a:p>
        </p:txBody>
      </p:sp>
      <p:sp>
        <p:nvSpPr>
          <p:cNvPr id="7" name="Slide Number Placeholder 6">
            <a:extLst>
              <a:ext uri="{FF2B5EF4-FFF2-40B4-BE49-F238E27FC236}">
                <a16:creationId xmlns:a16="http://schemas.microsoft.com/office/drawing/2014/main" id="{9D675DFA-DB7D-98C6-3379-934A7B2590DE}"/>
              </a:ext>
            </a:extLst>
          </p:cNvPr>
          <p:cNvSpPr>
            <a:spLocks noGrp="1"/>
          </p:cNvSpPr>
          <p:nvPr>
            <p:ph type="sldNum" sz="quarter" idx="12"/>
          </p:nvPr>
        </p:nvSpPr>
        <p:spPr/>
        <p:txBody>
          <a:bodyPr/>
          <a:lstStyle/>
          <a:p>
            <a:fld id="{55594515-A7E2-9645-9FB0-ED223F25913F}" type="slidenum">
              <a:rPr lang="en-DK" smtClean="0"/>
              <a:t>‹#›</a:t>
            </a:fld>
            <a:endParaRPr lang="en-DK"/>
          </a:p>
        </p:txBody>
      </p:sp>
    </p:spTree>
    <p:extLst>
      <p:ext uri="{BB962C8B-B14F-4D97-AF65-F5344CB8AC3E}">
        <p14:creationId xmlns:p14="http://schemas.microsoft.com/office/powerpoint/2010/main" val="221009001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15254E-1F75-C304-E115-BF609C2CA20B}"/>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DK"/>
          </a:p>
        </p:txBody>
      </p:sp>
      <p:sp>
        <p:nvSpPr>
          <p:cNvPr id="3" name="Picture Placeholder 2">
            <a:extLst>
              <a:ext uri="{FF2B5EF4-FFF2-40B4-BE49-F238E27FC236}">
                <a16:creationId xmlns:a16="http://schemas.microsoft.com/office/drawing/2014/main" id="{B11B10A1-7661-F511-813C-8B1712A7FCC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DK"/>
          </a:p>
        </p:txBody>
      </p:sp>
      <p:sp>
        <p:nvSpPr>
          <p:cNvPr id="4" name="Text Placeholder 3">
            <a:extLst>
              <a:ext uri="{FF2B5EF4-FFF2-40B4-BE49-F238E27FC236}">
                <a16:creationId xmlns:a16="http://schemas.microsoft.com/office/drawing/2014/main" id="{13FFECFC-62FE-D6AA-4BDE-20DE0A3C508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a:extLst>
              <a:ext uri="{FF2B5EF4-FFF2-40B4-BE49-F238E27FC236}">
                <a16:creationId xmlns:a16="http://schemas.microsoft.com/office/drawing/2014/main" id="{69525938-09DE-2D93-8A77-71C80781F63C}"/>
              </a:ext>
            </a:extLst>
          </p:cNvPr>
          <p:cNvSpPr>
            <a:spLocks noGrp="1"/>
          </p:cNvSpPr>
          <p:nvPr>
            <p:ph type="dt" sz="half" idx="10"/>
          </p:nvPr>
        </p:nvSpPr>
        <p:spPr/>
        <p:txBody>
          <a:bodyPr/>
          <a:lstStyle/>
          <a:p>
            <a:fld id="{AF0867AF-5E38-4D41-A409-B469C3993211}" type="datetimeFigureOut">
              <a:rPr lang="en-DK" smtClean="0"/>
              <a:t>23/05/2025</a:t>
            </a:fld>
            <a:endParaRPr lang="en-DK"/>
          </a:p>
        </p:txBody>
      </p:sp>
      <p:sp>
        <p:nvSpPr>
          <p:cNvPr id="6" name="Footer Placeholder 5">
            <a:extLst>
              <a:ext uri="{FF2B5EF4-FFF2-40B4-BE49-F238E27FC236}">
                <a16:creationId xmlns:a16="http://schemas.microsoft.com/office/drawing/2014/main" id="{E093DA5A-5F2E-9C6C-4A34-60667478BC50}"/>
              </a:ext>
            </a:extLst>
          </p:cNvPr>
          <p:cNvSpPr>
            <a:spLocks noGrp="1"/>
          </p:cNvSpPr>
          <p:nvPr>
            <p:ph type="ftr" sz="quarter" idx="11"/>
          </p:nvPr>
        </p:nvSpPr>
        <p:spPr/>
        <p:txBody>
          <a:bodyPr/>
          <a:lstStyle/>
          <a:p>
            <a:endParaRPr lang="en-DK"/>
          </a:p>
        </p:txBody>
      </p:sp>
      <p:sp>
        <p:nvSpPr>
          <p:cNvPr id="7" name="Slide Number Placeholder 6">
            <a:extLst>
              <a:ext uri="{FF2B5EF4-FFF2-40B4-BE49-F238E27FC236}">
                <a16:creationId xmlns:a16="http://schemas.microsoft.com/office/drawing/2014/main" id="{4BBE1887-D0F2-C08B-1212-F65BA3B3E08C}"/>
              </a:ext>
            </a:extLst>
          </p:cNvPr>
          <p:cNvSpPr>
            <a:spLocks noGrp="1"/>
          </p:cNvSpPr>
          <p:nvPr>
            <p:ph type="sldNum" sz="quarter" idx="12"/>
          </p:nvPr>
        </p:nvSpPr>
        <p:spPr/>
        <p:txBody>
          <a:bodyPr/>
          <a:lstStyle/>
          <a:p>
            <a:fld id="{55594515-A7E2-9645-9FB0-ED223F25913F}" type="slidenum">
              <a:rPr lang="en-DK" smtClean="0"/>
              <a:t>‹#›</a:t>
            </a:fld>
            <a:endParaRPr lang="en-DK"/>
          </a:p>
        </p:txBody>
      </p:sp>
    </p:spTree>
    <p:extLst>
      <p:ext uri="{BB962C8B-B14F-4D97-AF65-F5344CB8AC3E}">
        <p14:creationId xmlns:p14="http://schemas.microsoft.com/office/powerpoint/2010/main" val="1282057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913790-C8F5-FE67-3E0D-CF979E071F7E}"/>
              </a:ext>
            </a:extLst>
          </p:cNvPr>
          <p:cNvSpPr>
            <a:spLocks noGrp="1"/>
          </p:cNvSpPr>
          <p:nvPr>
            <p:ph type="title"/>
          </p:nvPr>
        </p:nvSpPr>
        <p:spPr/>
        <p:txBody>
          <a:bodyPr/>
          <a:lstStyle/>
          <a:p>
            <a:r>
              <a:rPr lang="en-GB"/>
              <a:t>Click to edit Master title style</a:t>
            </a:r>
            <a:endParaRPr lang="en-DK"/>
          </a:p>
        </p:txBody>
      </p:sp>
      <p:sp>
        <p:nvSpPr>
          <p:cNvPr id="3" name="Vertical Text Placeholder 2">
            <a:extLst>
              <a:ext uri="{FF2B5EF4-FFF2-40B4-BE49-F238E27FC236}">
                <a16:creationId xmlns:a16="http://schemas.microsoft.com/office/drawing/2014/main" id="{1C47FAAE-2BC3-F8C4-BB61-12EE426E9ADF}"/>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DK"/>
          </a:p>
        </p:txBody>
      </p:sp>
      <p:sp>
        <p:nvSpPr>
          <p:cNvPr id="4" name="Date Placeholder 3">
            <a:extLst>
              <a:ext uri="{FF2B5EF4-FFF2-40B4-BE49-F238E27FC236}">
                <a16:creationId xmlns:a16="http://schemas.microsoft.com/office/drawing/2014/main" id="{3932B4F9-E2D9-63E7-07FA-B54FD71295CC}"/>
              </a:ext>
            </a:extLst>
          </p:cNvPr>
          <p:cNvSpPr>
            <a:spLocks noGrp="1"/>
          </p:cNvSpPr>
          <p:nvPr>
            <p:ph type="dt" sz="half" idx="10"/>
          </p:nvPr>
        </p:nvSpPr>
        <p:spPr/>
        <p:txBody>
          <a:bodyPr/>
          <a:lstStyle/>
          <a:p>
            <a:fld id="{AF0867AF-5E38-4D41-A409-B469C3993211}" type="datetimeFigureOut">
              <a:rPr lang="en-DK" smtClean="0"/>
              <a:t>23/05/2025</a:t>
            </a:fld>
            <a:endParaRPr lang="en-DK"/>
          </a:p>
        </p:txBody>
      </p:sp>
      <p:sp>
        <p:nvSpPr>
          <p:cNvPr id="5" name="Footer Placeholder 4">
            <a:extLst>
              <a:ext uri="{FF2B5EF4-FFF2-40B4-BE49-F238E27FC236}">
                <a16:creationId xmlns:a16="http://schemas.microsoft.com/office/drawing/2014/main" id="{5FEEA928-A165-75A6-626C-E45C80A0B56E}"/>
              </a:ext>
            </a:extLst>
          </p:cNvPr>
          <p:cNvSpPr>
            <a:spLocks noGrp="1"/>
          </p:cNvSpPr>
          <p:nvPr>
            <p:ph type="ftr" sz="quarter" idx="11"/>
          </p:nvPr>
        </p:nvSpPr>
        <p:spPr/>
        <p:txBody>
          <a:bodyPr/>
          <a:lstStyle/>
          <a:p>
            <a:endParaRPr lang="en-DK"/>
          </a:p>
        </p:txBody>
      </p:sp>
      <p:sp>
        <p:nvSpPr>
          <p:cNvPr id="6" name="Slide Number Placeholder 5">
            <a:extLst>
              <a:ext uri="{FF2B5EF4-FFF2-40B4-BE49-F238E27FC236}">
                <a16:creationId xmlns:a16="http://schemas.microsoft.com/office/drawing/2014/main" id="{0E9F087E-FFC1-11D9-CA7F-6FD23AC0F858}"/>
              </a:ext>
            </a:extLst>
          </p:cNvPr>
          <p:cNvSpPr>
            <a:spLocks noGrp="1"/>
          </p:cNvSpPr>
          <p:nvPr>
            <p:ph type="sldNum" sz="quarter" idx="12"/>
          </p:nvPr>
        </p:nvSpPr>
        <p:spPr/>
        <p:txBody>
          <a:bodyPr/>
          <a:lstStyle/>
          <a:p>
            <a:fld id="{55594515-A7E2-9645-9FB0-ED223F25913F}" type="slidenum">
              <a:rPr lang="en-DK" smtClean="0"/>
              <a:t>‹#›</a:t>
            </a:fld>
            <a:endParaRPr lang="en-DK"/>
          </a:p>
        </p:txBody>
      </p:sp>
    </p:spTree>
    <p:extLst>
      <p:ext uri="{BB962C8B-B14F-4D97-AF65-F5344CB8AC3E}">
        <p14:creationId xmlns:p14="http://schemas.microsoft.com/office/powerpoint/2010/main" val="93775164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9A24E164-E60A-A366-DC15-67269EF339B4}"/>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en-DK"/>
          </a:p>
        </p:txBody>
      </p:sp>
      <p:sp>
        <p:nvSpPr>
          <p:cNvPr id="3" name="Vertical Text Placeholder 2">
            <a:extLst>
              <a:ext uri="{FF2B5EF4-FFF2-40B4-BE49-F238E27FC236}">
                <a16:creationId xmlns:a16="http://schemas.microsoft.com/office/drawing/2014/main" id="{8FD01CD6-D05A-1E96-494E-656AA84F7D6E}"/>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DK"/>
          </a:p>
        </p:txBody>
      </p:sp>
      <p:sp>
        <p:nvSpPr>
          <p:cNvPr id="4" name="Date Placeholder 3">
            <a:extLst>
              <a:ext uri="{FF2B5EF4-FFF2-40B4-BE49-F238E27FC236}">
                <a16:creationId xmlns:a16="http://schemas.microsoft.com/office/drawing/2014/main" id="{EAB435A5-F7D5-01F8-8A4E-1D45684276D9}"/>
              </a:ext>
            </a:extLst>
          </p:cNvPr>
          <p:cNvSpPr>
            <a:spLocks noGrp="1"/>
          </p:cNvSpPr>
          <p:nvPr>
            <p:ph type="dt" sz="half" idx="10"/>
          </p:nvPr>
        </p:nvSpPr>
        <p:spPr/>
        <p:txBody>
          <a:bodyPr/>
          <a:lstStyle/>
          <a:p>
            <a:fld id="{AF0867AF-5E38-4D41-A409-B469C3993211}" type="datetimeFigureOut">
              <a:rPr lang="en-DK" smtClean="0"/>
              <a:t>23/05/2025</a:t>
            </a:fld>
            <a:endParaRPr lang="en-DK"/>
          </a:p>
        </p:txBody>
      </p:sp>
      <p:sp>
        <p:nvSpPr>
          <p:cNvPr id="5" name="Footer Placeholder 4">
            <a:extLst>
              <a:ext uri="{FF2B5EF4-FFF2-40B4-BE49-F238E27FC236}">
                <a16:creationId xmlns:a16="http://schemas.microsoft.com/office/drawing/2014/main" id="{8656779A-2273-663F-A7CE-EE7755ECA148}"/>
              </a:ext>
            </a:extLst>
          </p:cNvPr>
          <p:cNvSpPr>
            <a:spLocks noGrp="1"/>
          </p:cNvSpPr>
          <p:nvPr>
            <p:ph type="ftr" sz="quarter" idx="11"/>
          </p:nvPr>
        </p:nvSpPr>
        <p:spPr/>
        <p:txBody>
          <a:bodyPr/>
          <a:lstStyle/>
          <a:p>
            <a:endParaRPr lang="en-DK"/>
          </a:p>
        </p:txBody>
      </p:sp>
      <p:sp>
        <p:nvSpPr>
          <p:cNvPr id="6" name="Slide Number Placeholder 5">
            <a:extLst>
              <a:ext uri="{FF2B5EF4-FFF2-40B4-BE49-F238E27FC236}">
                <a16:creationId xmlns:a16="http://schemas.microsoft.com/office/drawing/2014/main" id="{9D992B9C-F7D6-70EB-BA4E-DA23DF03A6D8}"/>
              </a:ext>
            </a:extLst>
          </p:cNvPr>
          <p:cNvSpPr>
            <a:spLocks noGrp="1"/>
          </p:cNvSpPr>
          <p:nvPr>
            <p:ph type="sldNum" sz="quarter" idx="12"/>
          </p:nvPr>
        </p:nvSpPr>
        <p:spPr/>
        <p:txBody>
          <a:bodyPr/>
          <a:lstStyle/>
          <a:p>
            <a:fld id="{55594515-A7E2-9645-9FB0-ED223F25913F}" type="slidenum">
              <a:rPr lang="en-DK" smtClean="0"/>
              <a:t>‹#›</a:t>
            </a:fld>
            <a:endParaRPr lang="en-DK"/>
          </a:p>
        </p:txBody>
      </p:sp>
    </p:spTree>
    <p:extLst>
      <p:ext uri="{BB962C8B-B14F-4D97-AF65-F5344CB8AC3E}">
        <p14:creationId xmlns:p14="http://schemas.microsoft.com/office/powerpoint/2010/main" val="17013727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To indhold C">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473181" y="1547617"/>
            <a:ext cx="10880619" cy="3617678"/>
          </a:xfrm>
        </p:spPr>
        <p:txBody>
          <a:bodyPr>
            <a:normAutofit/>
          </a:bodyPr>
          <a:lstStyle>
            <a:lvl1pPr marL="0" indent="0">
              <a:lnSpc>
                <a:spcPct val="100000"/>
              </a:lnSpc>
              <a:buNone/>
              <a:defRPr sz="1500"/>
            </a:lvl1pPr>
            <a:lvl2pPr marL="453177" indent="0">
              <a:buNone/>
              <a:defRPr/>
            </a:lvl2pPr>
            <a:lvl3pPr marL="906355" indent="0">
              <a:buNone/>
              <a:defRPr/>
            </a:lvl3pPr>
            <a:lvl4pPr marL="1359532" indent="0">
              <a:buNone/>
              <a:defRPr/>
            </a:lvl4pPr>
            <a:lvl5pPr marL="1812709" indent="0">
              <a:buNone/>
              <a:defRPr/>
            </a:lvl5pPr>
          </a:lstStyle>
          <a:p>
            <a:pPr lvl="0"/>
            <a:r>
              <a:rPr lang="en-US"/>
              <a:t>Edit Master text styles</a:t>
            </a:r>
          </a:p>
        </p:txBody>
      </p:sp>
      <p:sp>
        <p:nvSpPr>
          <p:cNvPr id="5" name="Content Placeholder 2">
            <a:extLst>
              <a:ext uri="{FF2B5EF4-FFF2-40B4-BE49-F238E27FC236}">
                <a16:creationId xmlns:a16="http://schemas.microsoft.com/office/drawing/2014/main" id="{5BF103BB-A9CF-463C-AC74-666431857D92}"/>
              </a:ext>
            </a:extLst>
          </p:cNvPr>
          <p:cNvSpPr>
            <a:spLocks noGrp="1"/>
          </p:cNvSpPr>
          <p:nvPr>
            <p:ph sz="half" idx="10"/>
          </p:nvPr>
        </p:nvSpPr>
        <p:spPr>
          <a:xfrm>
            <a:off x="473182" y="5441303"/>
            <a:ext cx="8418785" cy="995601"/>
          </a:xfrm>
        </p:spPr>
        <p:txBody>
          <a:bodyPr>
            <a:normAutofit/>
          </a:bodyPr>
          <a:lstStyle>
            <a:lvl1pPr marL="0" indent="0">
              <a:lnSpc>
                <a:spcPct val="100000"/>
              </a:lnSpc>
              <a:buNone/>
              <a:defRPr sz="1000"/>
            </a:lvl1pPr>
            <a:lvl2pPr marL="453177" indent="0">
              <a:buNone/>
              <a:defRPr/>
            </a:lvl2pPr>
            <a:lvl3pPr marL="906355" indent="0">
              <a:buNone/>
              <a:defRPr/>
            </a:lvl3pPr>
            <a:lvl4pPr marL="1359532" indent="0">
              <a:buNone/>
              <a:defRPr/>
            </a:lvl4pPr>
            <a:lvl5pPr marL="1812709" indent="0">
              <a:buNone/>
              <a:defRPr/>
            </a:lvl5pPr>
          </a:lstStyle>
          <a:p>
            <a:pPr lvl="0"/>
            <a:r>
              <a:rPr lang="en-US"/>
              <a:t>Edit Master text styles</a:t>
            </a:r>
          </a:p>
        </p:txBody>
      </p:sp>
      <p:sp>
        <p:nvSpPr>
          <p:cNvPr id="4" name="Pladsholder til dato 3" hidden="1"/>
          <p:cNvSpPr>
            <a:spLocks noGrp="1"/>
          </p:cNvSpPr>
          <p:nvPr>
            <p:ph type="dt" sz="half" idx="11"/>
          </p:nvPr>
        </p:nvSpPr>
        <p:spPr/>
        <p:txBody>
          <a:bodyPr/>
          <a:lstStyle/>
          <a:p>
            <a:endParaRPr lang="en-GB"/>
          </a:p>
        </p:txBody>
      </p:sp>
      <p:sp>
        <p:nvSpPr>
          <p:cNvPr id="7" name="Pladsholder til sidefod 6" hidden="1"/>
          <p:cNvSpPr>
            <a:spLocks noGrp="1"/>
          </p:cNvSpPr>
          <p:nvPr>
            <p:ph type="ftr" sz="quarter" idx="12"/>
          </p:nvPr>
        </p:nvSpPr>
        <p:spPr/>
        <p:txBody>
          <a:bodyPr/>
          <a:lstStyle/>
          <a:p>
            <a:endParaRPr lang="en-GB" dirty="0"/>
          </a:p>
        </p:txBody>
      </p:sp>
      <p:sp>
        <p:nvSpPr>
          <p:cNvPr id="8" name="Pladsholder til slidenummer 7"/>
          <p:cNvSpPr>
            <a:spLocks noGrp="1"/>
          </p:cNvSpPr>
          <p:nvPr>
            <p:ph type="sldNum" sz="quarter" idx="13"/>
          </p:nvPr>
        </p:nvSpPr>
        <p:spPr/>
        <p:txBody>
          <a:bodyPr/>
          <a:lstStyle/>
          <a:p>
            <a:fld id="{0D08B38D-4F16-45CA-9042-40A25BC4B1DD}" type="slidenum">
              <a:rPr lang="en-GB" smtClean="0"/>
              <a:pPr/>
              <a:t>‹#›</a:t>
            </a:fld>
            <a:endParaRPr lang="en-GB"/>
          </a:p>
        </p:txBody>
      </p:sp>
    </p:spTree>
    <p:extLst>
      <p:ext uri="{BB962C8B-B14F-4D97-AF65-F5344CB8AC3E}">
        <p14:creationId xmlns:p14="http://schemas.microsoft.com/office/powerpoint/2010/main" val="258140927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B1ACF05-F4FA-6704-5BDF-92EB8359D0D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DK"/>
          </a:p>
        </p:txBody>
      </p:sp>
      <p:sp>
        <p:nvSpPr>
          <p:cNvPr id="3" name="Text Placeholder 2">
            <a:extLst>
              <a:ext uri="{FF2B5EF4-FFF2-40B4-BE49-F238E27FC236}">
                <a16:creationId xmlns:a16="http://schemas.microsoft.com/office/drawing/2014/main" id="{01EA2D9D-9E6A-0C70-C935-B9BE9219B72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DK"/>
          </a:p>
        </p:txBody>
      </p:sp>
      <p:sp>
        <p:nvSpPr>
          <p:cNvPr id="4" name="Date Placeholder 3">
            <a:extLst>
              <a:ext uri="{FF2B5EF4-FFF2-40B4-BE49-F238E27FC236}">
                <a16:creationId xmlns:a16="http://schemas.microsoft.com/office/drawing/2014/main" id="{BD9F152E-C076-529A-1362-A2C2F8B2AE5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AF0867AF-5E38-4D41-A409-B469C3993211}" type="datetimeFigureOut">
              <a:rPr lang="en-DK" smtClean="0"/>
              <a:t>23/05/2025</a:t>
            </a:fld>
            <a:endParaRPr lang="en-DK"/>
          </a:p>
        </p:txBody>
      </p:sp>
      <p:sp>
        <p:nvSpPr>
          <p:cNvPr id="5" name="Footer Placeholder 4">
            <a:extLst>
              <a:ext uri="{FF2B5EF4-FFF2-40B4-BE49-F238E27FC236}">
                <a16:creationId xmlns:a16="http://schemas.microsoft.com/office/drawing/2014/main" id="{63EDEB37-D1BD-7D04-DFDB-7A287FE31DF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DK"/>
          </a:p>
        </p:txBody>
      </p:sp>
      <p:sp>
        <p:nvSpPr>
          <p:cNvPr id="6" name="Slide Number Placeholder 5">
            <a:extLst>
              <a:ext uri="{FF2B5EF4-FFF2-40B4-BE49-F238E27FC236}">
                <a16:creationId xmlns:a16="http://schemas.microsoft.com/office/drawing/2014/main" id="{FBAD4327-821C-E45E-38E2-ECDB9D1CD4C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55594515-A7E2-9645-9FB0-ED223F25913F}" type="slidenum">
              <a:rPr lang="en-DK" smtClean="0"/>
              <a:t>‹#›</a:t>
            </a:fld>
            <a:endParaRPr lang="en-DK"/>
          </a:p>
        </p:txBody>
      </p:sp>
    </p:spTree>
    <p:extLst>
      <p:ext uri="{BB962C8B-B14F-4D97-AF65-F5344CB8AC3E}">
        <p14:creationId xmlns:p14="http://schemas.microsoft.com/office/powerpoint/2010/main" val="181574548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jpe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2.xml"/><Relationship Id="rId5" Type="http://schemas.openxmlformats.org/officeDocument/2006/relationships/hyperlink" Target="https://doi.org/10.1038/nature05414" TargetMode="External"/><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8.jpeg"/><Relationship Id="rId5" Type="http://schemas.openxmlformats.org/officeDocument/2006/relationships/image" Target="../media/image7.png"/><Relationship Id="rId4" Type="http://schemas.openxmlformats.org/officeDocument/2006/relationships/hyperlink" Target="https://doi.org/10.1038/nature11234" TargetMode="External"/></Relationships>
</file>

<file path=ppt/slides/_rels/slide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hyperlink" Target="https://doi.org/10.1038/nature12506" TargetMode="External"/></Relationships>
</file>

<file path=ppt/slides/_rels/slide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image" Target="../media/image14.png"/><Relationship Id="rId5" Type="http://schemas.openxmlformats.org/officeDocument/2006/relationships/hyperlink" Target="https://doi.org/10.1056/nejmoa1205037" TargetMode="External"/><Relationship Id="rId4" Type="http://schemas.openxmlformats.org/officeDocument/2006/relationships/image" Target="../media/image13.png"/></Relationships>
</file>

<file path=ppt/slides/_rels/slide8.xml.rels><?xml version="1.0" encoding="UTF-8" standalone="yes"?>
<Relationships xmlns="http://schemas.openxmlformats.org/package/2006/relationships"><Relationship Id="rId3" Type="http://schemas.openxmlformats.org/officeDocument/2006/relationships/image" Target="../media/image15.jpe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8" Type="http://schemas.openxmlformats.org/officeDocument/2006/relationships/hyperlink" Target="https://doi.org/10.1126/science.aan3706" TargetMode="External"/><Relationship Id="rId3" Type="http://schemas.openxmlformats.org/officeDocument/2006/relationships/image" Target="../media/image16.png"/><Relationship Id="rId7" Type="http://schemas.openxmlformats.org/officeDocument/2006/relationships/hyperlink" Target="https://doi.org/10.1126/science.aao3290" TargetMode="External"/><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hyperlink" Target="https://doi.org/10.1126/science.aan4236" TargetMode="External"/><Relationship Id="rId5" Type="http://schemas.openxmlformats.org/officeDocument/2006/relationships/image" Target="../media/image18.png"/><Relationship Id="rId4" Type="http://schemas.openxmlformats.org/officeDocument/2006/relationships/image" Target="../media/image17.png"/></Relationships>
</file>

<file path=ppt/slides/_rels/slide10.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0.xml"/><Relationship Id="rId1" Type="http://schemas.openxmlformats.org/officeDocument/2006/relationships/slideLayout" Target="../slideLayouts/slideLayout2.xml"/><Relationship Id="rId5" Type="http://schemas.openxmlformats.org/officeDocument/2006/relationships/hyperlink" Target="https://doi.org/10.1038/s41587-020-0718-6" TargetMode="External"/><Relationship Id="rId4" Type="http://schemas.openxmlformats.org/officeDocument/2006/relationships/image" Target="../media/image20.png"/></Relationships>
</file>

<file path=ppt/slides/_rels/slide11.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1.xml"/><Relationship Id="rId1" Type="http://schemas.openxmlformats.org/officeDocument/2006/relationships/slideLayout" Target="../slideLayouts/slideLayout2.xml"/><Relationship Id="rId5" Type="http://schemas.openxmlformats.org/officeDocument/2006/relationships/hyperlink" Target="https://doi.org/10.1038/s41467-022-34312-7" TargetMode="External"/><Relationship Id="rId4" Type="http://schemas.openxmlformats.org/officeDocument/2006/relationships/image" Target="../media/image22.png"/></Relationships>
</file>

<file path=ppt/slides/_rels/slide12.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2.xml"/><Relationship Id="rId1" Type="http://schemas.openxmlformats.org/officeDocument/2006/relationships/slideLayout" Target="../slideLayouts/slideLayout2.xml"/><Relationship Id="rId5" Type="http://schemas.openxmlformats.org/officeDocument/2006/relationships/image" Target="../media/image24.jpeg"/><Relationship Id="rId4" Type="http://schemas.openxmlformats.org/officeDocument/2006/relationships/hyperlink" Target="https://doi.org/10.1038/ismej.2013.254" TargetMode="External"/></Relationships>
</file>

<file path=ppt/slides/_rels/slide13.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3.xml"/><Relationship Id="rId1" Type="http://schemas.openxmlformats.org/officeDocument/2006/relationships/slideLayout" Target="../slideLayouts/slideLayout2.xml"/><Relationship Id="rId5" Type="http://schemas.openxmlformats.org/officeDocument/2006/relationships/image" Target="../media/image26.png"/><Relationship Id="rId4" Type="http://schemas.openxmlformats.org/officeDocument/2006/relationships/hyperlink" Target="https://doi.org/10.1038/s41564-018-0176-9" TargetMode="Externa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2.jpeg"/></Relationships>
</file>

<file path=ppt/slides/_rels/slide16.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2.jpeg"/></Relationships>
</file>

<file path=ppt/slides/_rels/slide17.xml.rels><?xml version="1.0" encoding="UTF-8" standalone="yes"?>
<Relationships xmlns="http://schemas.openxmlformats.org/package/2006/relationships"><Relationship Id="rId2" Type="http://schemas.openxmlformats.org/officeDocument/2006/relationships/image" Target="../media/image27.jpe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image" Target="../media/image27.jpeg"/><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28.jpe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8" Type="http://schemas.openxmlformats.org/officeDocument/2006/relationships/image" Target="../media/image33.png"/><Relationship Id="rId3" Type="http://schemas.openxmlformats.org/officeDocument/2006/relationships/image" Target="../media/image29.png"/><Relationship Id="rId7" Type="http://schemas.openxmlformats.org/officeDocument/2006/relationships/image" Target="../media/image32.png"/><Relationship Id="rId12" Type="http://schemas.openxmlformats.org/officeDocument/2006/relationships/image" Target="../media/image37.png"/><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image" Target="../media/image31.png"/><Relationship Id="rId11" Type="http://schemas.openxmlformats.org/officeDocument/2006/relationships/image" Target="../media/image36.png"/><Relationship Id="rId5" Type="http://schemas.openxmlformats.org/officeDocument/2006/relationships/image" Target="../media/image30.png"/><Relationship Id="rId10" Type="http://schemas.openxmlformats.org/officeDocument/2006/relationships/image" Target="../media/image35.png"/><Relationship Id="rId4" Type="http://schemas.openxmlformats.org/officeDocument/2006/relationships/image" Target="../media/image1.jpeg"/><Relationship Id="rId9" Type="http://schemas.openxmlformats.org/officeDocument/2006/relationships/image" Target="../media/image34.png"/></Relationships>
</file>

<file path=ppt/slides/_rels/slide21.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hyperlink" Target="https://www.youtube.com/watch?v=HMyCqWhwB8E" TargetMode="External"/><Relationship Id="rId2" Type="http://schemas.openxmlformats.org/officeDocument/2006/relationships/notesSlide" Target="../notesSlides/notesSlide19.xml"/><Relationship Id="rId1" Type="http://schemas.openxmlformats.org/officeDocument/2006/relationships/slideLayout" Target="../slideLayouts/slideLayout2.xml"/><Relationship Id="rId4" Type="http://schemas.openxmlformats.org/officeDocument/2006/relationships/image" Target="../media/image29.png"/></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22.xml"/><Relationship Id="rId1" Type="http://schemas.openxmlformats.org/officeDocument/2006/relationships/slideLayout" Target="../slideLayouts/slideLayout2.xml"/><Relationship Id="rId6" Type="http://schemas.openxmlformats.org/officeDocument/2006/relationships/hyperlink" Target="https://doi.org/10.1172/JCI154944" TargetMode="External"/><Relationship Id="rId5" Type="http://schemas.openxmlformats.org/officeDocument/2006/relationships/hyperlink" Target="http://www.jci.org/132/7" TargetMode="External"/><Relationship Id="rId4" Type="http://schemas.openxmlformats.org/officeDocument/2006/relationships/image" Target="../media/image39.jpeg"/></Relationships>
</file>

<file path=ppt/slides/_rels/slide28.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23.xml"/><Relationship Id="rId1" Type="http://schemas.openxmlformats.org/officeDocument/2006/relationships/slideLayout" Target="../slideLayouts/slideLayout2.xml"/><Relationship Id="rId5" Type="http://schemas.openxmlformats.org/officeDocument/2006/relationships/image" Target="../media/image42.png"/><Relationship Id="rId4" Type="http://schemas.openxmlformats.org/officeDocument/2006/relationships/image" Target="../media/image41.png"/></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43.jpeg"/><Relationship Id="rId2" Type="http://schemas.openxmlformats.org/officeDocument/2006/relationships/notesSlide" Target="../notesSlides/notesSlide26.xml"/><Relationship Id="rId1" Type="http://schemas.openxmlformats.org/officeDocument/2006/relationships/slideLayout" Target="../slideLayouts/slideLayout2.xml"/><Relationship Id="rId4" Type="http://schemas.openxmlformats.org/officeDocument/2006/relationships/image" Target="../media/image44.jpeg"/></Relationships>
</file>

<file path=ppt/slides/_rels/slide32.xml.rels><?xml version="1.0" encoding="UTF-8" standalone="yes"?>
<Relationships xmlns="http://schemas.openxmlformats.org/package/2006/relationships"><Relationship Id="rId3" Type="http://schemas.openxmlformats.org/officeDocument/2006/relationships/hyperlink" Target="https://pubmed.ncbi.nlm.nih.gov/28898207/" TargetMode="External"/><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hyperlink" Target="https://pubmed.ncbi.nlm.nih.gov/27306058/" TargetMode="External"/><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45.emf"/><Relationship Id="rId2" Type="http://schemas.openxmlformats.org/officeDocument/2006/relationships/notesSlide" Target="../notesSlides/notesSlide38.xml"/><Relationship Id="rId1" Type="http://schemas.openxmlformats.org/officeDocument/2006/relationships/slideLayout" Target="../slideLayouts/slideLayout2.xml"/><Relationship Id="rId5" Type="http://schemas.openxmlformats.org/officeDocument/2006/relationships/hyperlink" Target="https://pubmed.ncbi.nlm.nih.gov/30349083/" TargetMode="External"/><Relationship Id="rId4" Type="http://schemas.openxmlformats.org/officeDocument/2006/relationships/image" Target="../media/image46.png"/></Relationships>
</file>

<file path=ppt/slides/_rels/slide45.xml.rels><?xml version="1.0" encoding="UTF-8" standalone="yes"?>
<Relationships xmlns="http://schemas.openxmlformats.org/package/2006/relationships"><Relationship Id="rId3" Type="http://schemas.openxmlformats.org/officeDocument/2006/relationships/image" Target="../media/image47.jpg"/><Relationship Id="rId2" Type="http://schemas.openxmlformats.org/officeDocument/2006/relationships/notesSlide" Target="../notesSlides/notesSlide39.xml"/><Relationship Id="rId1" Type="http://schemas.openxmlformats.org/officeDocument/2006/relationships/slideLayout" Target="../slideLayouts/slideLayout2.xml"/><Relationship Id="rId4" Type="http://schemas.openxmlformats.org/officeDocument/2006/relationships/hyperlink" Target="https://pubmed.ncbi.nlm.nih.gov/30349083/" TargetMode="Externa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hyperlink" Target="https://pubmed.ncbi.nlm.nih.gov/28898207/" TargetMode="Externa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hyperlink" Target="https://pubmed.ncbi.nlm.nih.gov/28898207/" TargetMode="Externa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4" name="Rectangle 23">
            <a:extLst>
              <a:ext uri="{FF2B5EF4-FFF2-40B4-BE49-F238E27FC236}">
                <a16:creationId xmlns:a16="http://schemas.microsoft.com/office/drawing/2014/main" id="{E8A8EAB8-D2FF-444D-B34B-7D32F106AD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lumMod val="95000"/>
              <a:lumOff val="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bg1"/>
              </a:solidFill>
            </a:endParaRPr>
          </a:p>
        </p:txBody>
      </p:sp>
      <p:sp>
        <p:nvSpPr>
          <p:cNvPr id="2" name="Title 1">
            <a:extLst>
              <a:ext uri="{FF2B5EF4-FFF2-40B4-BE49-F238E27FC236}">
                <a16:creationId xmlns:a16="http://schemas.microsoft.com/office/drawing/2014/main" id="{E9C237F5-AF80-1180-65FB-F0665383AEE9}"/>
              </a:ext>
            </a:extLst>
          </p:cNvPr>
          <p:cNvSpPr>
            <a:spLocks noGrp="1"/>
          </p:cNvSpPr>
          <p:nvPr>
            <p:ph type="ctrTitle"/>
          </p:nvPr>
        </p:nvSpPr>
        <p:spPr>
          <a:xfrm>
            <a:off x="6741467" y="2181563"/>
            <a:ext cx="4286661" cy="1236027"/>
          </a:xfrm>
        </p:spPr>
        <p:txBody>
          <a:bodyPr vert="horz" lIns="91440" tIns="45720" rIns="91440" bIns="45720" rtlCol="0" anchor="b">
            <a:noAutofit/>
          </a:bodyPr>
          <a:lstStyle/>
          <a:p>
            <a:pPr algn="l"/>
            <a:r>
              <a:rPr lang="en-US" sz="5400" kern="1200" dirty="0">
                <a:solidFill>
                  <a:schemeClr val="bg1"/>
                </a:solidFill>
                <a:latin typeface="+mj-lt"/>
                <a:ea typeface="+mj-ea"/>
                <a:cs typeface="+mj-cs"/>
              </a:rPr>
              <a:t>Introduction to Metagenomics</a:t>
            </a:r>
          </a:p>
        </p:txBody>
      </p:sp>
      <p:cxnSp>
        <p:nvCxnSpPr>
          <p:cNvPr id="26" name="Straight Connector 25">
            <a:extLst>
              <a:ext uri="{FF2B5EF4-FFF2-40B4-BE49-F238E27FC236}">
                <a16:creationId xmlns:a16="http://schemas.microsoft.com/office/drawing/2014/main" id="{EEA38897-7BA3-4408-8083-3235339C4A60}"/>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6527800" y="1749756"/>
            <a:ext cx="4718304" cy="0"/>
          </a:xfrm>
          <a:prstGeom prst="line">
            <a:avLst/>
          </a:prstGeom>
          <a:ln w="12700">
            <a:solidFill>
              <a:schemeClr val="accent2"/>
            </a:solidFill>
          </a:ln>
        </p:spPr>
        <p:style>
          <a:lnRef idx="1">
            <a:schemeClr val="accent1"/>
          </a:lnRef>
          <a:fillRef idx="0">
            <a:schemeClr val="accent1"/>
          </a:fillRef>
          <a:effectRef idx="0">
            <a:schemeClr val="accent1"/>
          </a:effectRef>
          <a:fontRef idx="minor">
            <a:schemeClr val="tx1"/>
          </a:fontRef>
        </p:style>
      </p:cxnSp>
      <p:sp>
        <p:nvSpPr>
          <p:cNvPr id="3" name="Subtitle 2">
            <a:extLst>
              <a:ext uri="{FF2B5EF4-FFF2-40B4-BE49-F238E27FC236}">
                <a16:creationId xmlns:a16="http://schemas.microsoft.com/office/drawing/2014/main" id="{CCB7DCFE-F312-235E-9685-7FF3058B7A5E}"/>
              </a:ext>
            </a:extLst>
          </p:cNvPr>
          <p:cNvSpPr>
            <a:spLocks noGrp="1"/>
          </p:cNvSpPr>
          <p:nvPr>
            <p:ph type="subTitle" idx="1"/>
          </p:nvPr>
        </p:nvSpPr>
        <p:spPr>
          <a:xfrm>
            <a:off x="7564857" y="3849396"/>
            <a:ext cx="3058995" cy="1415897"/>
          </a:xfrm>
        </p:spPr>
        <p:txBody>
          <a:bodyPr vert="horz" lIns="91440" tIns="45720" rIns="91440" bIns="45720" rtlCol="0">
            <a:normAutofit fontScale="92500" lnSpcReduction="10000"/>
          </a:bodyPr>
          <a:lstStyle/>
          <a:p>
            <a:pPr algn="l"/>
            <a:r>
              <a:rPr lang="en-US" sz="2000" dirty="0">
                <a:solidFill>
                  <a:schemeClr val="bg1"/>
                </a:solidFill>
              </a:rPr>
              <a:t>Data Science platform</a:t>
            </a:r>
          </a:p>
          <a:p>
            <a:pPr algn="l"/>
            <a:r>
              <a:rPr lang="en-US" sz="2000" dirty="0">
                <a:solidFill>
                  <a:schemeClr val="bg1"/>
                </a:solidFill>
              </a:rPr>
              <a:t>DTU – </a:t>
            </a:r>
            <a:r>
              <a:rPr lang="en-US" sz="2000" dirty="0" err="1">
                <a:solidFill>
                  <a:schemeClr val="bg1"/>
                </a:solidFill>
              </a:rPr>
              <a:t>Biosustain</a:t>
            </a:r>
            <a:endParaRPr lang="en-US" sz="2000" dirty="0">
              <a:solidFill>
                <a:schemeClr val="bg1"/>
              </a:solidFill>
            </a:endParaRPr>
          </a:p>
          <a:p>
            <a:pPr algn="l"/>
            <a:r>
              <a:rPr lang="en-US" sz="2000" dirty="0">
                <a:solidFill>
                  <a:schemeClr val="bg1"/>
                </a:solidFill>
              </a:rPr>
              <a:t>Spring Data-type Courses </a:t>
            </a:r>
          </a:p>
          <a:p>
            <a:pPr algn="l"/>
            <a:r>
              <a:rPr lang="en-US" sz="2000" dirty="0">
                <a:solidFill>
                  <a:schemeClr val="bg1"/>
                </a:solidFill>
              </a:rPr>
              <a:t>11th June 2025</a:t>
            </a:r>
          </a:p>
        </p:txBody>
      </p:sp>
      <p:cxnSp>
        <p:nvCxnSpPr>
          <p:cNvPr id="28" name="Straight Connector 27">
            <a:extLst>
              <a:ext uri="{FF2B5EF4-FFF2-40B4-BE49-F238E27FC236}">
                <a16:creationId xmlns:a16="http://schemas.microsoft.com/office/drawing/2014/main" id="{F11AD06B-AB20-4097-8606-5DA00DBACE88}"/>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6527800" y="5707672"/>
            <a:ext cx="4713997" cy="0"/>
          </a:xfrm>
          <a:prstGeom prst="line">
            <a:avLst/>
          </a:prstGeom>
          <a:ln w="12700">
            <a:solidFill>
              <a:schemeClr val="accent2"/>
            </a:solidFill>
          </a:ln>
        </p:spPr>
        <p:style>
          <a:lnRef idx="1">
            <a:schemeClr val="accent1"/>
          </a:lnRef>
          <a:fillRef idx="0">
            <a:schemeClr val="accent1"/>
          </a:fillRef>
          <a:effectRef idx="0">
            <a:schemeClr val="accent1"/>
          </a:effectRef>
          <a:fontRef idx="minor">
            <a:schemeClr val="tx1"/>
          </a:fontRef>
        </p:style>
      </p:cxnSp>
      <p:grpSp>
        <p:nvGrpSpPr>
          <p:cNvPr id="4" name="Group 3">
            <a:extLst>
              <a:ext uri="{FF2B5EF4-FFF2-40B4-BE49-F238E27FC236}">
                <a16:creationId xmlns:a16="http://schemas.microsoft.com/office/drawing/2014/main" id="{4784EBE8-B8CF-A9B8-D609-C4264B84AF8C}"/>
              </a:ext>
            </a:extLst>
          </p:cNvPr>
          <p:cNvGrpSpPr/>
          <p:nvPr/>
        </p:nvGrpSpPr>
        <p:grpSpPr>
          <a:xfrm>
            <a:off x="-2346" y="595726"/>
            <a:ext cx="5666547" cy="5666547"/>
            <a:chOff x="3103417" y="1184563"/>
            <a:chExt cx="5507182" cy="5507182"/>
          </a:xfrm>
        </p:grpSpPr>
        <p:pic>
          <p:nvPicPr>
            <p:cNvPr id="6" name="Picture 2" descr="1,500+ Microbiome Stock Illustrations, Royalty-Free Vector Graphics &amp; Clip  Art - iStock | Gut microbiome, Skin microbiome, Microbiome woman">
              <a:extLst>
                <a:ext uri="{FF2B5EF4-FFF2-40B4-BE49-F238E27FC236}">
                  <a16:creationId xmlns:a16="http://schemas.microsoft.com/office/drawing/2014/main" id="{2F7DF042-900E-9788-5287-AC4E012A7C1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103417" y="1184563"/>
              <a:ext cx="5507182" cy="5507182"/>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6" descr="Virus">
              <a:extLst>
                <a:ext uri="{FF2B5EF4-FFF2-40B4-BE49-F238E27FC236}">
                  <a16:creationId xmlns:a16="http://schemas.microsoft.com/office/drawing/2014/main" id="{3B1274F2-AD95-A53C-D8A1-7F5E0266DC65}"/>
                </a:ext>
              </a:extLst>
            </p:cNvPr>
            <p:cNvPicPr>
              <a:picLocks noChangeAspect="1"/>
            </p:cNvPicPr>
            <p:nvPr/>
          </p:nvPicPr>
          <p:blipFill>
            <a:blip r:embed="rId4"/>
            <a:stretch>
              <a:fillRect/>
            </a:stretch>
          </p:blipFill>
          <p:spPr>
            <a:xfrm>
              <a:off x="6613359" y="3092935"/>
              <a:ext cx="369332" cy="369332"/>
            </a:xfrm>
            <a:prstGeom prst="rect">
              <a:avLst/>
            </a:prstGeom>
          </p:spPr>
        </p:pic>
        <p:pic>
          <p:nvPicPr>
            <p:cNvPr id="8" name="Picture 7" descr="Virus">
              <a:extLst>
                <a:ext uri="{FF2B5EF4-FFF2-40B4-BE49-F238E27FC236}">
                  <a16:creationId xmlns:a16="http://schemas.microsoft.com/office/drawing/2014/main" id="{C313216F-15E2-E91B-B3B1-3344D3BD34BF}"/>
                </a:ext>
              </a:extLst>
            </p:cNvPr>
            <p:cNvPicPr>
              <a:picLocks noChangeAspect="1"/>
            </p:cNvPicPr>
            <p:nvPr/>
          </p:nvPicPr>
          <p:blipFill>
            <a:blip r:embed="rId4"/>
            <a:stretch>
              <a:fillRect/>
            </a:stretch>
          </p:blipFill>
          <p:spPr>
            <a:xfrm>
              <a:off x="4499448" y="2037278"/>
              <a:ext cx="369332" cy="369332"/>
            </a:xfrm>
            <a:prstGeom prst="rect">
              <a:avLst/>
            </a:prstGeom>
          </p:spPr>
        </p:pic>
        <p:pic>
          <p:nvPicPr>
            <p:cNvPr id="10" name="Picture 9" descr="Virus">
              <a:extLst>
                <a:ext uri="{FF2B5EF4-FFF2-40B4-BE49-F238E27FC236}">
                  <a16:creationId xmlns:a16="http://schemas.microsoft.com/office/drawing/2014/main" id="{2764AD2C-7D4B-853A-123C-F43332EB060F}"/>
                </a:ext>
              </a:extLst>
            </p:cNvPr>
            <p:cNvPicPr>
              <a:picLocks noChangeAspect="1"/>
            </p:cNvPicPr>
            <p:nvPr/>
          </p:nvPicPr>
          <p:blipFill>
            <a:blip r:embed="rId4"/>
            <a:stretch>
              <a:fillRect/>
            </a:stretch>
          </p:blipFill>
          <p:spPr>
            <a:xfrm rot="19207075">
              <a:off x="4036414" y="3582188"/>
              <a:ext cx="369332" cy="369332"/>
            </a:xfrm>
            <a:prstGeom prst="rect">
              <a:avLst/>
            </a:prstGeom>
          </p:spPr>
        </p:pic>
      </p:grpSp>
    </p:spTree>
    <p:extLst>
      <p:ext uri="{BB962C8B-B14F-4D97-AF65-F5344CB8AC3E}">
        <p14:creationId xmlns:p14="http://schemas.microsoft.com/office/powerpoint/2010/main" val="220146810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5" name="Rectangle 24">
            <a:extLst>
              <a:ext uri="{FF2B5EF4-FFF2-40B4-BE49-F238E27FC236}">
                <a16:creationId xmlns:a16="http://schemas.microsoft.com/office/drawing/2014/main" id="{A8DB9CD9-59B1-4D73-BC4C-98796A48EF9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8874A6A9-41FF-4E33-AFA8-F9F81436A59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gradFill flip="none" rotWithShape="1">
            <a:gsLst>
              <a:gs pos="16000">
                <a:schemeClr val="accent6">
                  <a:alpha val="20000"/>
                </a:schemeClr>
              </a:gs>
              <a:gs pos="85000">
                <a:schemeClr val="accent1">
                  <a:alpha val="40000"/>
                </a:schemeClr>
              </a:gs>
            </a:gsLst>
            <a:lin ang="120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9" name="Group 28">
            <a:extLst>
              <a:ext uri="{FF2B5EF4-FFF2-40B4-BE49-F238E27FC236}">
                <a16:creationId xmlns:a16="http://schemas.microsoft.com/office/drawing/2014/main" id="{721D730E-1F97-4071-B143-B05E6D2599B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303402" y="3985"/>
            <a:ext cx="9772765" cy="6858000"/>
            <a:chOff x="1303402" y="3985"/>
            <a:chExt cx="9772765" cy="6858000"/>
          </a:xfrm>
        </p:grpSpPr>
        <p:sp>
          <p:nvSpPr>
            <p:cNvPr id="30" name="Freeform: Shape 29">
              <a:extLst>
                <a:ext uri="{FF2B5EF4-FFF2-40B4-BE49-F238E27FC236}">
                  <a16:creationId xmlns:a16="http://schemas.microsoft.com/office/drawing/2014/main" id="{B3849C6A-9EE5-4604-8EAE-DD4796B79D8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60551" y="3985"/>
              <a:ext cx="9313016" cy="6858000"/>
            </a:xfrm>
            <a:custGeom>
              <a:avLst/>
              <a:gdLst>
                <a:gd name="connsiteX0" fmla="*/ 6993556 w 9313016"/>
                <a:gd name="connsiteY0" fmla="*/ 0 h 6858000"/>
                <a:gd name="connsiteX1" fmla="*/ 7358516 w 9313016"/>
                <a:gd name="connsiteY1" fmla="*/ 0 h 6858000"/>
                <a:gd name="connsiteX2" fmla="*/ 7475006 w 9313016"/>
                <a:gd name="connsiteY2" fmla="*/ 82722 h 6858000"/>
                <a:gd name="connsiteX3" fmla="*/ 7816357 w 9313016"/>
                <a:gd name="connsiteY3" fmla="*/ 358482 h 6858000"/>
                <a:gd name="connsiteX4" fmla="*/ 8421752 w 9313016"/>
                <a:gd name="connsiteY4" fmla="*/ 995405 h 6858000"/>
                <a:gd name="connsiteX5" fmla="*/ 8897059 w 9313016"/>
                <a:gd name="connsiteY5" fmla="*/ 1737211 h 6858000"/>
                <a:gd name="connsiteX6" fmla="*/ 9206633 w 9313016"/>
                <a:gd name="connsiteY6" fmla="*/ 2564460 h 6858000"/>
                <a:gd name="connsiteX7" fmla="*/ 9286787 w 9313016"/>
                <a:gd name="connsiteY7" fmla="*/ 3000164 h 6858000"/>
                <a:gd name="connsiteX8" fmla="*/ 9312914 w 9313016"/>
                <a:gd name="connsiteY8" fmla="*/ 3442493 h 6858000"/>
                <a:gd name="connsiteX9" fmla="*/ 9190562 w 9313016"/>
                <a:gd name="connsiteY9" fmla="*/ 4316686 h 6858000"/>
                <a:gd name="connsiteX10" fmla="*/ 9043416 w 9313016"/>
                <a:gd name="connsiteY10" fmla="*/ 4734917 h 6858000"/>
                <a:gd name="connsiteX11" fmla="*/ 8809657 w 9313016"/>
                <a:gd name="connsiteY11" fmla="*/ 5128718 h 6858000"/>
                <a:gd name="connsiteX12" fmla="*/ 8645997 w 9313016"/>
                <a:gd name="connsiteY12" fmla="*/ 5297441 h 6858000"/>
                <a:gd name="connsiteX13" fmla="*/ 8457787 w 9313016"/>
                <a:gd name="connsiteY13" fmla="*/ 5433763 h 6858000"/>
                <a:gd name="connsiteX14" fmla="*/ 8260803 w 9313016"/>
                <a:gd name="connsiteY14" fmla="*/ 5541237 h 6858000"/>
                <a:gd name="connsiteX15" fmla="*/ 8066136 w 9313016"/>
                <a:gd name="connsiteY15" fmla="*/ 5635704 h 6858000"/>
                <a:gd name="connsiteX16" fmla="*/ 7698638 w 9313016"/>
                <a:gd name="connsiteY16" fmla="*/ 5837163 h 6858000"/>
                <a:gd name="connsiteX17" fmla="*/ 7370135 w 9313016"/>
                <a:gd name="connsiteY17" fmla="*/ 6090081 h 6858000"/>
                <a:gd name="connsiteX18" fmla="*/ 7218897 w 9313016"/>
                <a:gd name="connsiteY18" fmla="*/ 6235860 h 6858000"/>
                <a:gd name="connsiteX19" fmla="*/ 7070665 w 9313016"/>
                <a:gd name="connsiteY19" fmla="*/ 6387205 h 6858000"/>
                <a:gd name="connsiteX20" fmla="*/ 6779035 w 9313016"/>
                <a:gd name="connsiteY20" fmla="*/ 6697100 h 6858000"/>
                <a:gd name="connsiteX21" fmla="*/ 6631837 w 9313016"/>
                <a:gd name="connsiteY21" fmla="*/ 6852239 h 6858000"/>
                <a:gd name="connsiteX22" fmla="*/ 6626221 w 9313016"/>
                <a:gd name="connsiteY22" fmla="*/ 6858000 h 6858000"/>
                <a:gd name="connsiteX23" fmla="*/ 6424725 w 9313016"/>
                <a:gd name="connsiteY23" fmla="*/ 6858000 h 6858000"/>
                <a:gd name="connsiteX24" fmla="*/ 6527382 w 9313016"/>
                <a:gd name="connsiteY24" fmla="*/ 6756333 h 6858000"/>
                <a:gd name="connsiteX25" fmla="*/ 6674233 w 9313016"/>
                <a:gd name="connsiteY25" fmla="*/ 6603450 h 6858000"/>
                <a:gd name="connsiteX26" fmla="*/ 6965813 w 9313016"/>
                <a:gd name="connsiteY26" fmla="*/ 6292932 h 6858000"/>
                <a:gd name="connsiteX27" fmla="*/ 7112961 w 9313016"/>
                <a:gd name="connsiteY27" fmla="*/ 6137505 h 6858000"/>
                <a:gd name="connsiteX28" fmla="*/ 7264790 w 9313016"/>
                <a:gd name="connsiteY28" fmla="*/ 5983710 h 6858000"/>
                <a:gd name="connsiteX29" fmla="*/ 7974595 w 9313016"/>
                <a:gd name="connsiteY29" fmla="*/ 5470773 h 6858000"/>
                <a:gd name="connsiteX30" fmla="*/ 8331591 w 9313016"/>
                <a:gd name="connsiteY30" fmla="*/ 5254048 h 6858000"/>
                <a:gd name="connsiteX31" fmla="*/ 8599807 w 9313016"/>
                <a:gd name="connsiteY31" fmla="*/ 4980010 h 6858000"/>
                <a:gd name="connsiteX32" fmla="*/ 8766474 w 9313016"/>
                <a:gd name="connsiteY32" fmla="*/ 4631524 h 6858000"/>
                <a:gd name="connsiteX33" fmla="*/ 8865755 w 9313016"/>
                <a:gd name="connsiteY33" fmla="*/ 4244445 h 6858000"/>
                <a:gd name="connsiteX34" fmla="*/ 8882911 w 9313016"/>
                <a:gd name="connsiteY34" fmla="*/ 4145659 h 6858000"/>
                <a:gd name="connsiteX35" fmla="*/ 8897403 w 9313016"/>
                <a:gd name="connsiteY35" fmla="*/ 4046633 h 6858000"/>
                <a:gd name="connsiteX36" fmla="*/ 8908298 w 9313016"/>
                <a:gd name="connsiteY36" fmla="*/ 3947271 h 6858000"/>
                <a:gd name="connsiteX37" fmla="*/ 8916184 w 9313016"/>
                <a:gd name="connsiteY37" fmla="*/ 3847765 h 6858000"/>
                <a:gd name="connsiteX38" fmla="*/ 8920670 w 9313016"/>
                <a:gd name="connsiteY38" fmla="*/ 3449597 h 6858000"/>
                <a:gd name="connsiteX39" fmla="*/ 8914607 w 9313016"/>
                <a:gd name="connsiteY39" fmla="*/ 3350283 h 6858000"/>
                <a:gd name="connsiteX40" fmla="*/ 8905340 w 9313016"/>
                <a:gd name="connsiteY40" fmla="*/ 3251209 h 6858000"/>
                <a:gd name="connsiteX41" fmla="*/ 8893854 w 9313016"/>
                <a:gd name="connsiteY41" fmla="*/ 3152376 h 6858000"/>
                <a:gd name="connsiteX42" fmla="*/ 8879706 w 9313016"/>
                <a:gd name="connsiteY42" fmla="*/ 3053878 h 6858000"/>
                <a:gd name="connsiteX43" fmla="*/ 8797531 w 9313016"/>
                <a:gd name="connsiteY43" fmla="*/ 2663966 h 6858000"/>
                <a:gd name="connsiteX44" fmla="*/ 8520442 w 9313016"/>
                <a:gd name="connsiteY44" fmla="*/ 1911983 h 6858000"/>
                <a:gd name="connsiteX45" fmla="*/ 8332626 w 9313016"/>
                <a:gd name="connsiteY45" fmla="*/ 1553608 h 6858000"/>
                <a:gd name="connsiteX46" fmla="*/ 8116317 w 9313016"/>
                <a:gd name="connsiteY46" fmla="*/ 1208529 h 6858000"/>
                <a:gd name="connsiteX47" fmla="*/ 7873293 w 9313016"/>
                <a:gd name="connsiteY47" fmla="*/ 878284 h 6858000"/>
                <a:gd name="connsiteX48" fmla="*/ 7604337 w 9313016"/>
                <a:gd name="connsiteY48" fmla="*/ 565125 h 6858000"/>
                <a:gd name="connsiteX49" fmla="*/ 7311128 w 9313016"/>
                <a:gd name="connsiteY49" fmla="*/ 270591 h 6858000"/>
                <a:gd name="connsiteX50" fmla="*/ 1752019 w 9313016"/>
                <a:gd name="connsiteY50" fmla="*/ 0 h 6858000"/>
                <a:gd name="connsiteX51" fmla="*/ 2155804 w 9313016"/>
                <a:gd name="connsiteY51" fmla="*/ 0 h 6858000"/>
                <a:gd name="connsiteX52" fmla="*/ 2103975 w 9313016"/>
                <a:gd name="connsiteY52" fmla="*/ 40789 h 6858000"/>
                <a:gd name="connsiteX53" fmla="*/ 1656310 w 9313016"/>
                <a:gd name="connsiteY53" fmla="*/ 470035 h 6858000"/>
                <a:gd name="connsiteX54" fmla="*/ 806013 w 9313016"/>
                <a:gd name="connsiteY54" fmla="*/ 1841133 h 6858000"/>
                <a:gd name="connsiteX55" fmla="*/ 580685 w 9313016"/>
                <a:gd name="connsiteY55" fmla="*/ 2606364 h 6858000"/>
                <a:gd name="connsiteX56" fmla="*/ 503489 w 9313016"/>
                <a:gd name="connsiteY56" fmla="*/ 3397276 h 6858000"/>
                <a:gd name="connsiteX57" fmla="*/ 570135 w 9313016"/>
                <a:gd name="connsiteY57" fmla="*/ 4188235 h 6858000"/>
                <a:gd name="connsiteX58" fmla="*/ 783387 w 9313016"/>
                <a:gd name="connsiteY58" fmla="*/ 4953850 h 6858000"/>
                <a:gd name="connsiteX59" fmla="*/ 1628014 w 9313016"/>
                <a:gd name="connsiteY59" fmla="*/ 6308245 h 6858000"/>
                <a:gd name="connsiteX60" fmla="*/ 2235998 w 9313016"/>
                <a:gd name="connsiteY60" fmla="*/ 6844829 h 6858000"/>
                <a:gd name="connsiteX61" fmla="*/ 2255028 w 9313016"/>
                <a:gd name="connsiteY61" fmla="*/ 6858000 h 6858000"/>
                <a:gd name="connsiteX62" fmla="*/ 1578787 w 9313016"/>
                <a:gd name="connsiteY62" fmla="*/ 6858000 h 6858000"/>
                <a:gd name="connsiteX63" fmla="*/ 1465153 w 9313016"/>
                <a:gd name="connsiteY63" fmla="*/ 6759050 h 6858000"/>
                <a:gd name="connsiteX64" fmla="*/ 1303650 w 9313016"/>
                <a:gd name="connsiteY64" fmla="*/ 6604267 h 6858000"/>
                <a:gd name="connsiteX65" fmla="*/ 323708 w 9313016"/>
                <a:gd name="connsiteY65" fmla="*/ 5126365 h 6858000"/>
                <a:gd name="connsiteX66" fmla="*/ 872 w 9313016"/>
                <a:gd name="connsiteY66" fmla="*/ 3391228 h 6858000"/>
                <a:gd name="connsiteX67" fmla="*/ 105428 w 9313016"/>
                <a:gd name="connsiteY67" fmla="*/ 2511899 h 6858000"/>
                <a:gd name="connsiteX68" fmla="*/ 384933 w 9313016"/>
                <a:gd name="connsiteY68" fmla="*/ 1670971 h 6858000"/>
                <a:gd name="connsiteX69" fmla="*/ 1433593 w 9313016"/>
                <a:gd name="connsiteY69" fmla="*/ 256095 h 6858000"/>
                <a:gd name="connsiteX70" fmla="*/ 1602664 w 9313016"/>
                <a:gd name="connsiteY70" fmla="*/ 113704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Lst>
              <a:rect l="l" t="t" r="r" b="b"/>
              <a:pathLst>
                <a:path w="9313016" h="6858000">
                  <a:moveTo>
                    <a:pt x="6993556" y="0"/>
                  </a:moveTo>
                  <a:lnTo>
                    <a:pt x="7358516" y="0"/>
                  </a:lnTo>
                  <a:lnTo>
                    <a:pt x="7475006" y="82722"/>
                  </a:lnTo>
                  <a:cubicBezTo>
                    <a:pt x="7592423" y="169778"/>
                    <a:pt x="7706366" y="261748"/>
                    <a:pt x="7816357" y="358482"/>
                  </a:cubicBezTo>
                  <a:cubicBezTo>
                    <a:pt x="8036559" y="551589"/>
                    <a:pt x="8239655" y="764905"/>
                    <a:pt x="8421752" y="995405"/>
                  </a:cubicBezTo>
                  <a:cubicBezTo>
                    <a:pt x="8604736" y="1225282"/>
                    <a:pt x="8763567" y="1474646"/>
                    <a:pt x="8897059" y="1737211"/>
                  </a:cubicBezTo>
                  <a:cubicBezTo>
                    <a:pt x="9029909" y="2000162"/>
                    <a:pt x="9134317" y="2277990"/>
                    <a:pt x="9206633" y="2564460"/>
                  </a:cubicBezTo>
                  <a:cubicBezTo>
                    <a:pt x="9242322" y="2707791"/>
                    <a:pt x="9269041" y="2853474"/>
                    <a:pt x="9286787" y="3000164"/>
                  </a:cubicBezTo>
                  <a:cubicBezTo>
                    <a:pt x="9304977" y="3146856"/>
                    <a:pt x="9314097" y="3294698"/>
                    <a:pt x="9312914" y="3442493"/>
                  </a:cubicBezTo>
                  <a:cubicBezTo>
                    <a:pt x="9309906" y="3737987"/>
                    <a:pt x="9270717" y="4033288"/>
                    <a:pt x="9190562" y="4316686"/>
                  </a:cubicBezTo>
                  <a:cubicBezTo>
                    <a:pt x="9150486" y="4458240"/>
                    <a:pt x="9103951" y="4597587"/>
                    <a:pt x="9043416" y="4734917"/>
                  </a:cubicBezTo>
                  <a:cubicBezTo>
                    <a:pt x="8982980" y="4871817"/>
                    <a:pt x="8908740" y="5007131"/>
                    <a:pt x="8809657" y="5128718"/>
                  </a:cubicBezTo>
                  <a:cubicBezTo>
                    <a:pt x="8760312" y="5189247"/>
                    <a:pt x="8706137" y="5246945"/>
                    <a:pt x="8645997" y="5297441"/>
                  </a:cubicBezTo>
                  <a:cubicBezTo>
                    <a:pt x="8586252" y="5348274"/>
                    <a:pt x="8522809" y="5393730"/>
                    <a:pt x="8457787" y="5433763"/>
                  </a:cubicBezTo>
                  <a:cubicBezTo>
                    <a:pt x="8392816" y="5474132"/>
                    <a:pt x="8326219" y="5508213"/>
                    <a:pt x="8260803" y="5541237"/>
                  </a:cubicBezTo>
                  <a:cubicBezTo>
                    <a:pt x="8195289" y="5574071"/>
                    <a:pt x="8130023" y="5604838"/>
                    <a:pt x="8066136" y="5635704"/>
                  </a:cubicBezTo>
                  <a:cubicBezTo>
                    <a:pt x="7938313" y="5697433"/>
                    <a:pt x="7815222" y="5762186"/>
                    <a:pt x="7698638" y="5837163"/>
                  </a:cubicBezTo>
                  <a:cubicBezTo>
                    <a:pt x="7582449" y="5912381"/>
                    <a:pt x="7471881" y="5996094"/>
                    <a:pt x="7370135" y="6090081"/>
                  </a:cubicBezTo>
                  <a:cubicBezTo>
                    <a:pt x="7319460" y="6136593"/>
                    <a:pt x="7268881" y="6186082"/>
                    <a:pt x="7218897" y="6235860"/>
                  </a:cubicBezTo>
                  <a:cubicBezTo>
                    <a:pt x="7168763" y="6285493"/>
                    <a:pt x="7119665" y="6336229"/>
                    <a:pt x="7070665" y="6387205"/>
                  </a:cubicBezTo>
                  <a:cubicBezTo>
                    <a:pt x="6972715" y="6489208"/>
                    <a:pt x="6876195" y="6593131"/>
                    <a:pt x="6779035" y="6697100"/>
                  </a:cubicBezTo>
                  <a:cubicBezTo>
                    <a:pt x="6730379" y="6748989"/>
                    <a:pt x="6681528" y="6800878"/>
                    <a:pt x="6631837" y="6852239"/>
                  </a:cubicBezTo>
                  <a:lnTo>
                    <a:pt x="6626221" y="6858000"/>
                  </a:lnTo>
                  <a:lnTo>
                    <a:pt x="6424725" y="6858000"/>
                  </a:lnTo>
                  <a:lnTo>
                    <a:pt x="6527382" y="6756333"/>
                  </a:lnTo>
                  <a:cubicBezTo>
                    <a:pt x="6576726" y="6705932"/>
                    <a:pt x="6625480" y="6654811"/>
                    <a:pt x="6674233" y="6603450"/>
                  </a:cubicBezTo>
                  <a:cubicBezTo>
                    <a:pt x="6771788" y="6500920"/>
                    <a:pt x="6868309" y="6396757"/>
                    <a:pt x="6965813" y="6292932"/>
                  </a:cubicBezTo>
                  <a:lnTo>
                    <a:pt x="7112961" y="6137505"/>
                  </a:lnTo>
                  <a:cubicBezTo>
                    <a:pt x="7162354" y="6085808"/>
                    <a:pt x="7211945" y="6034640"/>
                    <a:pt x="7264790" y="5983710"/>
                  </a:cubicBezTo>
                  <a:cubicBezTo>
                    <a:pt x="7472373" y="5779130"/>
                    <a:pt x="7721610" y="5610648"/>
                    <a:pt x="7974595" y="5470773"/>
                  </a:cubicBezTo>
                  <a:cubicBezTo>
                    <a:pt x="8099903" y="5399395"/>
                    <a:pt x="8224127" y="5332529"/>
                    <a:pt x="8331591" y="5254048"/>
                  </a:cubicBezTo>
                  <a:cubicBezTo>
                    <a:pt x="8439351" y="5176047"/>
                    <a:pt x="8529660" y="5085949"/>
                    <a:pt x="8599807" y="4980010"/>
                  </a:cubicBezTo>
                  <a:cubicBezTo>
                    <a:pt x="8671187" y="4875128"/>
                    <a:pt x="8723982" y="4756086"/>
                    <a:pt x="8766474" y="4631524"/>
                  </a:cubicBezTo>
                  <a:cubicBezTo>
                    <a:pt x="8808968" y="4507010"/>
                    <a:pt x="8840615" y="4375872"/>
                    <a:pt x="8865755" y="4244445"/>
                  </a:cubicBezTo>
                  <a:cubicBezTo>
                    <a:pt x="8871375" y="4211468"/>
                    <a:pt x="8878129" y="4178731"/>
                    <a:pt x="8882911" y="4145659"/>
                  </a:cubicBezTo>
                  <a:lnTo>
                    <a:pt x="8897403" y="4046633"/>
                  </a:lnTo>
                  <a:lnTo>
                    <a:pt x="8908298" y="3947271"/>
                  </a:lnTo>
                  <a:cubicBezTo>
                    <a:pt x="8912389" y="3914247"/>
                    <a:pt x="8913425" y="3880886"/>
                    <a:pt x="8916184" y="3847765"/>
                  </a:cubicBezTo>
                  <a:cubicBezTo>
                    <a:pt x="8925797" y="3715091"/>
                    <a:pt x="8925945" y="3582127"/>
                    <a:pt x="8920670" y="3449597"/>
                  </a:cubicBezTo>
                  <a:lnTo>
                    <a:pt x="8914607" y="3350283"/>
                  </a:lnTo>
                  <a:cubicBezTo>
                    <a:pt x="8911995" y="3317211"/>
                    <a:pt x="8908348" y="3284233"/>
                    <a:pt x="8905340" y="3251209"/>
                  </a:cubicBezTo>
                  <a:cubicBezTo>
                    <a:pt x="8902628" y="3218185"/>
                    <a:pt x="8897551" y="3185305"/>
                    <a:pt x="8893854" y="3152376"/>
                  </a:cubicBezTo>
                  <a:cubicBezTo>
                    <a:pt x="8890305" y="3119399"/>
                    <a:pt x="8884932" y="3086662"/>
                    <a:pt x="8879706" y="3053878"/>
                  </a:cubicBezTo>
                  <a:cubicBezTo>
                    <a:pt x="8858707" y="2922835"/>
                    <a:pt x="8831249" y="2792705"/>
                    <a:pt x="8797531" y="2663966"/>
                  </a:cubicBezTo>
                  <a:cubicBezTo>
                    <a:pt x="8728616" y="2406777"/>
                    <a:pt x="8635497" y="2155109"/>
                    <a:pt x="8520442" y="1911983"/>
                  </a:cubicBezTo>
                  <a:cubicBezTo>
                    <a:pt x="8462667" y="1790541"/>
                    <a:pt x="8400112" y="1670923"/>
                    <a:pt x="8332626" y="1553608"/>
                  </a:cubicBezTo>
                  <a:cubicBezTo>
                    <a:pt x="8265683" y="1436006"/>
                    <a:pt x="8192973" y="1321188"/>
                    <a:pt x="8116317" y="1208529"/>
                  </a:cubicBezTo>
                  <a:cubicBezTo>
                    <a:pt x="8039811" y="1095776"/>
                    <a:pt x="7958079" y="986094"/>
                    <a:pt x="7873293" y="878284"/>
                  </a:cubicBezTo>
                  <a:cubicBezTo>
                    <a:pt x="7787814" y="771002"/>
                    <a:pt x="7697999" y="666551"/>
                    <a:pt x="7604337" y="565125"/>
                  </a:cubicBezTo>
                  <a:cubicBezTo>
                    <a:pt x="7510479" y="463891"/>
                    <a:pt x="7413367" y="364818"/>
                    <a:pt x="7311128" y="270591"/>
                  </a:cubicBezTo>
                  <a:close/>
                  <a:moveTo>
                    <a:pt x="1752019" y="0"/>
                  </a:moveTo>
                  <a:lnTo>
                    <a:pt x="2155804" y="0"/>
                  </a:lnTo>
                  <a:lnTo>
                    <a:pt x="2103975" y="40789"/>
                  </a:lnTo>
                  <a:cubicBezTo>
                    <a:pt x="1943592" y="173585"/>
                    <a:pt x="1793955" y="317500"/>
                    <a:pt x="1656310" y="470035"/>
                  </a:cubicBezTo>
                  <a:cubicBezTo>
                    <a:pt x="1288172" y="876939"/>
                    <a:pt x="1002998" y="1344708"/>
                    <a:pt x="806013" y="1841133"/>
                  </a:cubicBezTo>
                  <a:cubicBezTo>
                    <a:pt x="707818" y="2089538"/>
                    <a:pt x="630868" y="2345480"/>
                    <a:pt x="580685" y="2606364"/>
                  </a:cubicBezTo>
                  <a:cubicBezTo>
                    <a:pt x="530749" y="2867250"/>
                    <a:pt x="504868" y="3132119"/>
                    <a:pt x="503489" y="3397276"/>
                  </a:cubicBezTo>
                  <a:cubicBezTo>
                    <a:pt x="501467" y="3662434"/>
                    <a:pt x="524093" y="3927351"/>
                    <a:pt x="570135" y="4188235"/>
                  </a:cubicBezTo>
                  <a:cubicBezTo>
                    <a:pt x="615734" y="4449264"/>
                    <a:pt x="688642" y="4705493"/>
                    <a:pt x="783387" y="4953850"/>
                  </a:cubicBezTo>
                  <a:cubicBezTo>
                    <a:pt x="974357" y="5449796"/>
                    <a:pt x="1259630" y="5913773"/>
                    <a:pt x="1628014" y="6308245"/>
                  </a:cubicBezTo>
                  <a:cubicBezTo>
                    <a:pt x="1812182" y="6505481"/>
                    <a:pt x="2016215" y="6685052"/>
                    <a:pt x="2235998" y="6844829"/>
                  </a:cubicBezTo>
                  <a:lnTo>
                    <a:pt x="2255028" y="6858000"/>
                  </a:lnTo>
                  <a:lnTo>
                    <a:pt x="1578787" y="6858000"/>
                  </a:lnTo>
                  <a:lnTo>
                    <a:pt x="1465153" y="6759050"/>
                  </a:lnTo>
                  <a:cubicBezTo>
                    <a:pt x="1410086" y="6708726"/>
                    <a:pt x="1356236" y="6657104"/>
                    <a:pt x="1303650" y="6604267"/>
                  </a:cubicBezTo>
                  <a:cubicBezTo>
                    <a:pt x="883506" y="6181043"/>
                    <a:pt x="548150" y="5676072"/>
                    <a:pt x="323708" y="5126365"/>
                  </a:cubicBezTo>
                  <a:cubicBezTo>
                    <a:pt x="97737" y="4577139"/>
                    <a:pt x="-10958" y="3981927"/>
                    <a:pt x="872" y="3391228"/>
                  </a:cubicBezTo>
                  <a:cubicBezTo>
                    <a:pt x="5951" y="3095783"/>
                    <a:pt x="40506" y="2800528"/>
                    <a:pt x="105428" y="2511899"/>
                  </a:cubicBezTo>
                  <a:cubicBezTo>
                    <a:pt x="170104" y="2223317"/>
                    <a:pt x="262089" y="1940399"/>
                    <a:pt x="384933" y="1670971"/>
                  </a:cubicBezTo>
                  <a:cubicBezTo>
                    <a:pt x="629092" y="1131344"/>
                    <a:pt x="991955" y="646919"/>
                    <a:pt x="1433593" y="256095"/>
                  </a:cubicBezTo>
                  <a:cubicBezTo>
                    <a:pt x="1488791" y="207206"/>
                    <a:pt x="1545179" y="159733"/>
                    <a:pt x="1602664" y="113704"/>
                  </a:cubicBez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31" name="Freeform: Shape 30">
              <a:extLst>
                <a:ext uri="{FF2B5EF4-FFF2-40B4-BE49-F238E27FC236}">
                  <a16:creationId xmlns:a16="http://schemas.microsoft.com/office/drawing/2014/main" id="{308677BE-069B-4A4D-8732-E26B6EF5671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59468" y="3985"/>
              <a:ext cx="9065550" cy="6858000"/>
            </a:xfrm>
            <a:custGeom>
              <a:avLst/>
              <a:gdLst>
                <a:gd name="connsiteX0" fmla="*/ 1839951 w 9065550"/>
                <a:gd name="connsiteY0" fmla="*/ 0 h 6858000"/>
                <a:gd name="connsiteX1" fmla="*/ 6979427 w 9065550"/>
                <a:gd name="connsiteY1" fmla="*/ 0 h 6858000"/>
                <a:gd name="connsiteX2" fmla="*/ 6989586 w 9065550"/>
                <a:gd name="connsiteY2" fmla="*/ 6825 h 6858000"/>
                <a:gd name="connsiteX3" fmla="*/ 8932062 w 9065550"/>
                <a:gd name="connsiteY3" fmla="*/ 4580835 h 6858000"/>
                <a:gd name="connsiteX4" fmla="*/ 7166294 w 9065550"/>
                <a:gd name="connsiteY4" fmla="*/ 6259703 h 6858000"/>
                <a:gd name="connsiteX5" fmla="*/ 6868878 w 9065550"/>
                <a:gd name="connsiteY5" fmla="*/ 6564765 h 6858000"/>
                <a:gd name="connsiteX6" fmla="*/ 6591881 w 9065550"/>
                <a:gd name="connsiteY6" fmla="*/ 6858000 h 6858000"/>
                <a:gd name="connsiteX7" fmla="*/ 5184648 w 9065550"/>
                <a:gd name="connsiteY7" fmla="*/ 6858000 h 6858000"/>
                <a:gd name="connsiteX8" fmla="*/ 5244877 w 9065550"/>
                <a:gd name="connsiteY8" fmla="*/ 6817615 h 6858000"/>
                <a:gd name="connsiteX9" fmla="*/ 6033853 w 9065550"/>
                <a:gd name="connsiteY9" fmla="*/ 6069135 h 6858000"/>
                <a:gd name="connsiteX10" fmla="*/ 6480248 w 9065550"/>
                <a:gd name="connsiteY10" fmla="*/ 5607082 h 6858000"/>
                <a:gd name="connsiteX11" fmla="*/ 7551502 w 9065550"/>
                <a:gd name="connsiteY11" fmla="*/ 4859004 h 6858000"/>
                <a:gd name="connsiteX12" fmla="*/ 7844227 w 9065550"/>
                <a:gd name="connsiteY12" fmla="*/ 4683074 h 6858000"/>
                <a:gd name="connsiteX13" fmla="*/ 8005810 w 9065550"/>
                <a:gd name="connsiteY13" fmla="*/ 4330239 h 6858000"/>
                <a:gd name="connsiteX14" fmla="*/ 8016191 w 9065550"/>
                <a:gd name="connsiteY14" fmla="*/ 2956574 h 6858000"/>
                <a:gd name="connsiteX15" fmla="*/ 7346424 w 9065550"/>
                <a:gd name="connsiteY15" fmla="*/ 1636739 h 6858000"/>
                <a:gd name="connsiteX16" fmla="*/ 5995751 w 9065550"/>
                <a:gd name="connsiteY16" fmla="*/ 493319 h 6858000"/>
                <a:gd name="connsiteX17" fmla="*/ 4494836 w 9065550"/>
                <a:gd name="connsiteY17" fmla="*/ 75383 h 6858000"/>
                <a:gd name="connsiteX18" fmla="*/ 2002499 w 9065550"/>
                <a:gd name="connsiteY18" fmla="*/ 1094261 h 6858000"/>
                <a:gd name="connsiteX19" fmla="*/ 1241306 w 9065550"/>
                <a:gd name="connsiteY19" fmla="*/ 2206935 h 6858000"/>
                <a:gd name="connsiteX20" fmla="*/ 961736 w 9065550"/>
                <a:gd name="connsiteY20" fmla="*/ 3573719 h 6858000"/>
                <a:gd name="connsiteX21" fmla="*/ 1193878 w 9065550"/>
                <a:gd name="connsiteY21" fmla="*/ 4824208 h 6858000"/>
                <a:gd name="connsiteX22" fmla="*/ 1832096 w 9065550"/>
                <a:gd name="connsiteY22" fmla="*/ 5873050 h 6858000"/>
                <a:gd name="connsiteX23" fmla="*/ 3010752 w 9065550"/>
                <a:gd name="connsiteY23" fmla="*/ 6749475 h 6858000"/>
                <a:gd name="connsiteX24" fmla="*/ 3187037 w 9065550"/>
                <a:gd name="connsiteY24" fmla="*/ 6824756 h 6858000"/>
                <a:gd name="connsiteX25" fmla="*/ 3278211 w 9065550"/>
                <a:gd name="connsiteY25" fmla="*/ 6858000 h 6858000"/>
                <a:gd name="connsiteX26" fmla="*/ 1480830 w 9065550"/>
                <a:gd name="connsiteY26" fmla="*/ 6858000 h 6858000"/>
                <a:gd name="connsiteX27" fmla="*/ 1427607 w 9065550"/>
                <a:gd name="connsiteY27" fmla="*/ 6811515 h 6858000"/>
                <a:gd name="connsiteX28" fmla="*/ 1100739 w 9065550"/>
                <a:gd name="connsiteY28" fmla="*/ 6477651 h 6858000"/>
                <a:gd name="connsiteX29" fmla="*/ 0 w 9065550"/>
                <a:gd name="connsiteY29" fmla="*/ 3573620 h 6858000"/>
                <a:gd name="connsiteX30" fmla="*/ 1805513 w 9065550"/>
                <a:gd name="connsiteY30" fmla="*/ 241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9065550" h="6858000">
                  <a:moveTo>
                    <a:pt x="1839951" y="0"/>
                  </a:moveTo>
                  <a:lnTo>
                    <a:pt x="6979427" y="0"/>
                  </a:lnTo>
                  <a:lnTo>
                    <a:pt x="6989586" y="6825"/>
                  </a:lnTo>
                  <a:cubicBezTo>
                    <a:pt x="8438828" y="1031353"/>
                    <a:pt x="9439169" y="2823601"/>
                    <a:pt x="8932062" y="4580835"/>
                  </a:cubicBezTo>
                  <a:cubicBezTo>
                    <a:pt x="8592517" y="5757293"/>
                    <a:pt x="7979652" y="5458140"/>
                    <a:pt x="7166294" y="6259703"/>
                  </a:cubicBezTo>
                  <a:cubicBezTo>
                    <a:pt x="7064618" y="6359905"/>
                    <a:pt x="6966014" y="6462297"/>
                    <a:pt x="6868878" y="6564765"/>
                  </a:cubicBezTo>
                  <a:lnTo>
                    <a:pt x="6591881" y="6858000"/>
                  </a:lnTo>
                  <a:lnTo>
                    <a:pt x="5184648" y="6858000"/>
                  </a:lnTo>
                  <a:lnTo>
                    <a:pt x="5244877" y="6817615"/>
                  </a:lnTo>
                  <a:cubicBezTo>
                    <a:pt x="5481027" y="6649287"/>
                    <a:pt x="5723665" y="6398593"/>
                    <a:pt x="6033853" y="6069135"/>
                  </a:cubicBezTo>
                  <a:cubicBezTo>
                    <a:pt x="6175680" y="5918484"/>
                    <a:pt x="6322395" y="5762660"/>
                    <a:pt x="6480248" y="5607082"/>
                  </a:cubicBezTo>
                  <a:cubicBezTo>
                    <a:pt x="6893276" y="5200077"/>
                    <a:pt x="7273697" y="5002920"/>
                    <a:pt x="7551502" y="4859004"/>
                  </a:cubicBezTo>
                  <a:cubicBezTo>
                    <a:pt x="7687884" y="4788339"/>
                    <a:pt x="7795540" y="4732559"/>
                    <a:pt x="7844227" y="4683074"/>
                  </a:cubicBezTo>
                  <a:cubicBezTo>
                    <a:pt x="7898759" y="4627636"/>
                    <a:pt x="7956165" y="4502313"/>
                    <a:pt x="8005810" y="4330239"/>
                  </a:cubicBezTo>
                  <a:cubicBezTo>
                    <a:pt x="8132968" y="3889611"/>
                    <a:pt x="8136446" y="3427460"/>
                    <a:pt x="8016191" y="2956574"/>
                  </a:cubicBezTo>
                  <a:cubicBezTo>
                    <a:pt x="7900876" y="2505064"/>
                    <a:pt x="7669287" y="2048671"/>
                    <a:pt x="7346424" y="1636739"/>
                  </a:cubicBezTo>
                  <a:cubicBezTo>
                    <a:pt x="6979764" y="1168830"/>
                    <a:pt x="6512706" y="773489"/>
                    <a:pt x="5995751" y="493319"/>
                  </a:cubicBezTo>
                  <a:cubicBezTo>
                    <a:pt x="5491195" y="219884"/>
                    <a:pt x="4972174" y="75383"/>
                    <a:pt x="4494836" y="75383"/>
                  </a:cubicBezTo>
                  <a:cubicBezTo>
                    <a:pt x="3554318" y="75383"/>
                    <a:pt x="2669191" y="437197"/>
                    <a:pt x="2002499" y="1094261"/>
                  </a:cubicBezTo>
                  <a:cubicBezTo>
                    <a:pt x="1676360" y="1415667"/>
                    <a:pt x="1420225" y="1790023"/>
                    <a:pt x="1241306" y="2206935"/>
                  </a:cubicBezTo>
                  <a:cubicBezTo>
                    <a:pt x="1055782" y="2639169"/>
                    <a:pt x="961736" y="3099027"/>
                    <a:pt x="961736" y="3573719"/>
                  </a:cubicBezTo>
                  <a:cubicBezTo>
                    <a:pt x="961736" y="4005124"/>
                    <a:pt x="1039805" y="4425841"/>
                    <a:pt x="1193878" y="4824208"/>
                  </a:cubicBezTo>
                  <a:cubicBezTo>
                    <a:pt x="1342457" y="5208423"/>
                    <a:pt x="1557214" y="5561306"/>
                    <a:pt x="1832096" y="5873050"/>
                  </a:cubicBezTo>
                  <a:cubicBezTo>
                    <a:pt x="2157126" y="6241599"/>
                    <a:pt x="2564661" y="6544656"/>
                    <a:pt x="3010752" y="6749475"/>
                  </a:cubicBezTo>
                  <a:cubicBezTo>
                    <a:pt x="3069003" y="6776219"/>
                    <a:pt x="3127773" y="6801314"/>
                    <a:pt x="3187037" y="6824756"/>
                  </a:cubicBezTo>
                  <a:lnTo>
                    <a:pt x="3278211" y="6858000"/>
                  </a:lnTo>
                  <a:lnTo>
                    <a:pt x="1480830" y="6858000"/>
                  </a:lnTo>
                  <a:lnTo>
                    <a:pt x="1427607" y="6811515"/>
                  </a:lnTo>
                  <a:cubicBezTo>
                    <a:pt x="1312870" y="6705919"/>
                    <a:pt x="1203751" y="6594470"/>
                    <a:pt x="1100739" y="6477651"/>
                  </a:cubicBezTo>
                  <a:cubicBezTo>
                    <a:pt x="415045" y="5700097"/>
                    <a:pt x="0" y="4684635"/>
                    <a:pt x="0" y="3573620"/>
                  </a:cubicBezTo>
                  <a:cubicBezTo>
                    <a:pt x="0" y="2121118"/>
                    <a:pt x="709459" y="831902"/>
                    <a:pt x="1805513" y="24133"/>
                  </a:cubicBez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32" name="Freeform: Shape 31">
              <a:extLst>
                <a:ext uri="{FF2B5EF4-FFF2-40B4-BE49-F238E27FC236}">
                  <a16:creationId xmlns:a16="http://schemas.microsoft.com/office/drawing/2014/main" id="{9A9A575B-DD07-4388-963B-0AF3FDDCF3C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48217" y="3985"/>
              <a:ext cx="9088051" cy="6858000"/>
            </a:xfrm>
            <a:custGeom>
              <a:avLst/>
              <a:gdLst>
                <a:gd name="connsiteX0" fmla="*/ 5158786 w 9088051"/>
                <a:gd name="connsiteY0" fmla="*/ 0 h 6858000"/>
                <a:gd name="connsiteX1" fmla="*/ 6996771 w 9088051"/>
                <a:gd name="connsiteY1" fmla="*/ 0 h 6858000"/>
                <a:gd name="connsiteX2" fmla="*/ 7006955 w 9088051"/>
                <a:gd name="connsiteY2" fmla="*/ 6825 h 6858000"/>
                <a:gd name="connsiteX3" fmla="*/ 8954230 w 9088051"/>
                <a:gd name="connsiteY3" fmla="*/ 4580835 h 6858000"/>
                <a:gd name="connsiteX4" fmla="*/ 7184080 w 9088051"/>
                <a:gd name="connsiteY4" fmla="*/ 6259703 h 6858000"/>
                <a:gd name="connsiteX5" fmla="*/ 6885926 w 9088051"/>
                <a:gd name="connsiteY5" fmla="*/ 6564765 h 6858000"/>
                <a:gd name="connsiteX6" fmla="*/ 6608241 w 9088051"/>
                <a:gd name="connsiteY6" fmla="*/ 6858000 h 6858000"/>
                <a:gd name="connsiteX7" fmla="*/ 5462870 w 9088051"/>
                <a:gd name="connsiteY7" fmla="*/ 6858000 h 6858000"/>
                <a:gd name="connsiteX8" fmla="*/ 5529056 w 9088051"/>
                <a:gd name="connsiteY8" fmla="*/ 6804645 h 6858000"/>
                <a:gd name="connsiteX9" fmla="*/ 6167613 w 9088051"/>
                <a:gd name="connsiteY9" fmla="*/ 6173667 h 6858000"/>
                <a:gd name="connsiteX10" fmla="*/ 6610973 w 9088051"/>
                <a:gd name="connsiteY10" fmla="*/ 5715860 h 6858000"/>
                <a:gd name="connsiteX11" fmla="*/ 7646083 w 9088051"/>
                <a:gd name="connsiteY11" fmla="*/ 4995842 h 6858000"/>
                <a:gd name="connsiteX12" fmla="*/ 7980054 w 9088051"/>
                <a:gd name="connsiteY12" fmla="*/ 4790095 h 6858000"/>
                <a:gd name="connsiteX13" fmla="*/ 8180437 w 9088051"/>
                <a:gd name="connsiteY13" fmla="*/ 4371964 h 6858000"/>
                <a:gd name="connsiteX14" fmla="*/ 8192058 w 9088051"/>
                <a:gd name="connsiteY14" fmla="*/ 2919242 h 6858000"/>
                <a:gd name="connsiteX15" fmla="*/ 7492638 w 9088051"/>
                <a:gd name="connsiteY15" fmla="*/ 1542845 h 6858000"/>
                <a:gd name="connsiteX16" fmla="*/ 6089097 w 9088051"/>
                <a:gd name="connsiteY16" fmla="*/ 357847 h 6858000"/>
                <a:gd name="connsiteX17" fmla="*/ 5288639 w 9088051"/>
                <a:gd name="connsiteY17" fmla="*/ 31627 h 6858000"/>
                <a:gd name="connsiteX18" fmla="*/ 1844517 w 9088051"/>
                <a:gd name="connsiteY18" fmla="*/ 0 h 6858000"/>
                <a:gd name="connsiteX19" fmla="*/ 3734467 w 9088051"/>
                <a:gd name="connsiteY19" fmla="*/ 0 h 6858000"/>
                <a:gd name="connsiteX20" fmla="*/ 3603618 w 9088051"/>
                <a:gd name="connsiteY20" fmla="*/ 28853 h 6858000"/>
                <a:gd name="connsiteX21" fmla="*/ 1892878 w 9088051"/>
                <a:gd name="connsiteY21" fmla="*/ 985434 h 6858000"/>
                <a:gd name="connsiteX22" fmla="*/ 1096045 w 9088051"/>
                <a:gd name="connsiteY22" fmla="*/ 2147349 h 6858000"/>
                <a:gd name="connsiteX23" fmla="*/ 803453 w 9088051"/>
                <a:gd name="connsiteY23" fmla="*/ 3573669 h 6858000"/>
                <a:gd name="connsiteX24" fmla="*/ 1046377 w 9088051"/>
                <a:gd name="connsiteY24" fmla="*/ 4878573 h 6858000"/>
                <a:gd name="connsiteX25" fmla="*/ 1714473 w 9088051"/>
                <a:gd name="connsiteY25" fmla="*/ 5973776 h 6858000"/>
                <a:gd name="connsiteX26" fmla="*/ 2776083 w 9088051"/>
                <a:gd name="connsiteY26" fmla="*/ 6804641 h 6858000"/>
                <a:gd name="connsiteX27" fmla="*/ 2884836 w 9088051"/>
                <a:gd name="connsiteY27" fmla="*/ 6858000 h 6858000"/>
                <a:gd name="connsiteX28" fmla="*/ 1484505 w 9088051"/>
                <a:gd name="connsiteY28" fmla="*/ 6858000 h 6858000"/>
                <a:gd name="connsiteX29" fmla="*/ 1431151 w 9088051"/>
                <a:gd name="connsiteY29" fmla="*/ 6811515 h 6858000"/>
                <a:gd name="connsiteX30" fmla="*/ 1103471 w 9088051"/>
                <a:gd name="connsiteY30" fmla="*/ 6477651 h 6858000"/>
                <a:gd name="connsiteX31" fmla="*/ 0 w 9088051"/>
                <a:gd name="connsiteY31" fmla="*/ 3573620 h 6858000"/>
                <a:gd name="connsiteX32" fmla="*/ 1809994 w 9088051"/>
                <a:gd name="connsiteY32" fmla="*/ 241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9088051" h="6858000">
                  <a:moveTo>
                    <a:pt x="5158786" y="0"/>
                  </a:moveTo>
                  <a:lnTo>
                    <a:pt x="6996771" y="0"/>
                  </a:lnTo>
                  <a:lnTo>
                    <a:pt x="7006955" y="6825"/>
                  </a:lnTo>
                  <a:cubicBezTo>
                    <a:pt x="8459794" y="1031353"/>
                    <a:pt x="9462596" y="2823601"/>
                    <a:pt x="8954230" y="4580835"/>
                  </a:cubicBezTo>
                  <a:cubicBezTo>
                    <a:pt x="8613842" y="5757293"/>
                    <a:pt x="7999457" y="5458140"/>
                    <a:pt x="7184080" y="6259703"/>
                  </a:cubicBezTo>
                  <a:cubicBezTo>
                    <a:pt x="7082152" y="6359905"/>
                    <a:pt x="6983303" y="6462297"/>
                    <a:pt x="6885926" y="6564765"/>
                  </a:cubicBezTo>
                  <a:lnTo>
                    <a:pt x="6608241" y="6858000"/>
                  </a:lnTo>
                  <a:lnTo>
                    <a:pt x="5462870" y="6858000"/>
                  </a:lnTo>
                  <a:lnTo>
                    <a:pt x="5529056" y="6804645"/>
                  </a:lnTo>
                  <a:cubicBezTo>
                    <a:pt x="5740217" y="6626505"/>
                    <a:pt x="5949382" y="6404876"/>
                    <a:pt x="6167613" y="6173667"/>
                  </a:cubicBezTo>
                  <a:cubicBezTo>
                    <a:pt x="6308782" y="6024091"/>
                    <a:pt x="6454799" y="5869390"/>
                    <a:pt x="6610973" y="5715860"/>
                  </a:cubicBezTo>
                  <a:cubicBezTo>
                    <a:pt x="7007847" y="5325741"/>
                    <a:pt x="7376733" y="5135074"/>
                    <a:pt x="7646083" y="4995842"/>
                  </a:cubicBezTo>
                  <a:cubicBezTo>
                    <a:pt x="7816858" y="4907561"/>
                    <a:pt x="7916545" y="4854514"/>
                    <a:pt x="7980054" y="4790095"/>
                  </a:cubicBezTo>
                  <a:cubicBezTo>
                    <a:pt x="8054629" y="4714405"/>
                    <a:pt x="8122031" y="4573758"/>
                    <a:pt x="8180437" y="4371964"/>
                  </a:cubicBezTo>
                  <a:cubicBezTo>
                    <a:pt x="8315441" y="3905228"/>
                    <a:pt x="8319381" y="3416431"/>
                    <a:pt x="8192058" y="2919242"/>
                  </a:cubicBezTo>
                  <a:cubicBezTo>
                    <a:pt x="8071251" y="2447381"/>
                    <a:pt x="7829388" y="1971467"/>
                    <a:pt x="7492638" y="1542845"/>
                  </a:cubicBezTo>
                  <a:cubicBezTo>
                    <a:pt x="7111829" y="1058099"/>
                    <a:pt x="6626484" y="648361"/>
                    <a:pt x="6089097" y="357847"/>
                  </a:cubicBezTo>
                  <a:cubicBezTo>
                    <a:pt x="5824244" y="214687"/>
                    <a:pt x="5554957" y="105262"/>
                    <a:pt x="5288639" y="31627"/>
                  </a:cubicBezTo>
                  <a:close/>
                  <a:moveTo>
                    <a:pt x="1844517" y="0"/>
                  </a:moveTo>
                  <a:lnTo>
                    <a:pt x="3734467" y="0"/>
                  </a:lnTo>
                  <a:lnTo>
                    <a:pt x="3603618" y="28853"/>
                  </a:lnTo>
                  <a:cubicBezTo>
                    <a:pt x="2962049" y="186733"/>
                    <a:pt x="2373277" y="513136"/>
                    <a:pt x="1892878" y="985434"/>
                  </a:cubicBezTo>
                  <a:cubicBezTo>
                    <a:pt x="1551428" y="1321091"/>
                    <a:pt x="1283341" y="1711990"/>
                    <a:pt x="1096045" y="2147349"/>
                  </a:cubicBezTo>
                  <a:cubicBezTo>
                    <a:pt x="901876" y="2598519"/>
                    <a:pt x="803453" y="3078432"/>
                    <a:pt x="803453" y="3573669"/>
                  </a:cubicBezTo>
                  <a:cubicBezTo>
                    <a:pt x="803453" y="4023717"/>
                    <a:pt x="885151" y="4462735"/>
                    <a:pt x="1046377" y="4878573"/>
                  </a:cubicBezTo>
                  <a:cubicBezTo>
                    <a:pt x="1201945" y="5279770"/>
                    <a:pt x="1426681" y="5648221"/>
                    <a:pt x="1714473" y="5973776"/>
                  </a:cubicBezTo>
                  <a:cubicBezTo>
                    <a:pt x="2012357" y="6310732"/>
                    <a:pt x="2376505" y="6595304"/>
                    <a:pt x="2776083" y="6804641"/>
                  </a:cubicBezTo>
                  <a:lnTo>
                    <a:pt x="2884836" y="6858000"/>
                  </a:lnTo>
                  <a:lnTo>
                    <a:pt x="1484505" y="6858000"/>
                  </a:lnTo>
                  <a:lnTo>
                    <a:pt x="1431151" y="6811515"/>
                  </a:lnTo>
                  <a:cubicBezTo>
                    <a:pt x="1316128" y="6705919"/>
                    <a:pt x="1206738" y="6594470"/>
                    <a:pt x="1103471" y="6477651"/>
                  </a:cubicBezTo>
                  <a:cubicBezTo>
                    <a:pt x="416075" y="5700097"/>
                    <a:pt x="0" y="4684635"/>
                    <a:pt x="0" y="3573620"/>
                  </a:cubicBezTo>
                  <a:cubicBezTo>
                    <a:pt x="0" y="2121118"/>
                    <a:pt x="711220" y="831902"/>
                    <a:pt x="1809994" y="24133"/>
                  </a:cubicBez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33" name="Freeform: Shape 32">
              <a:extLst>
                <a:ext uri="{FF2B5EF4-FFF2-40B4-BE49-F238E27FC236}">
                  <a16:creationId xmlns:a16="http://schemas.microsoft.com/office/drawing/2014/main" id="{D55285E4-21EB-4EC1-AB8E-36E881E8992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29061" y="3985"/>
              <a:ext cx="9107210" cy="6858000"/>
            </a:xfrm>
            <a:custGeom>
              <a:avLst/>
              <a:gdLst>
                <a:gd name="connsiteX0" fmla="*/ 6184722 w 9107210"/>
                <a:gd name="connsiteY0" fmla="*/ 0 h 6858000"/>
                <a:gd name="connsiteX1" fmla="*/ 6985680 w 9107210"/>
                <a:gd name="connsiteY1" fmla="*/ 0 h 6858000"/>
                <a:gd name="connsiteX2" fmla="*/ 7324323 w 9107210"/>
                <a:gd name="connsiteY2" fmla="*/ 247136 h 6858000"/>
                <a:gd name="connsiteX3" fmla="*/ 7652712 w 9107210"/>
                <a:gd name="connsiteY3" fmla="*/ 528495 h 6858000"/>
                <a:gd name="connsiteX4" fmla="*/ 8236677 w 9107210"/>
                <a:gd name="connsiteY4" fmla="*/ 1166289 h 6858000"/>
                <a:gd name="connsiteX5" fmla="*/ 8704298 w 9107210"/>
                <a:gd name="connsiteY5" fmla="*/ 1897038 h 6858000"/>
                <a:gd name="connsiteX6" fmla="*/ 8885160 w 9107210"/>
                <a:gd name="connsiteY6" fmla="*/ 2294087 h 6858000"/>
                <a:gd name="connsiteX7" fmla="*/ 8924247 w 9107210"/>
                <a:gd name="connsiteY7" fmla="*/ 2396286 h 6858000"/>
                <a:gd name="connsiteX8" fmla="*/ 8960022 w 9107210"/>
                <a:gd name="connsiteY8" fmla="*/ 2499767 h 6858000"/>
                <a:gd name="connsiteX9" fmla="*/ 8991720 w 9107210"/>
                <a:gd name="connsiteY9" fmla="*/ 2604671 h 6858000"/>
                <a:gd name="connsiteX10" fmla="*/ 9019646 w 9107210"/>
                <a:gd name="connsiteY10" fmla="*/ 2710708 h 6858000"/>
                <a:gd name="connsiteX11" fmla="*/ 9105822 w 9107210"/>
                <a:gd name="connsiteY11" fmla="*/ 3582266 h 6858000"/>
                <a:gd name="connsiteX12" fmla="*/ 9057716 w 9107210"/>
                <a:gd name="connsiteY12" fmla="*/ 4017873 h 6858000"/>
                <a:gd name="connsiteX13" fmla="*/ 8945600 w 9107210"/>
                <a:gd name="connsiteY13" fmla="*/ 4439659 h 6858000"/>
                <a:gd name="connsiteX14" fmla="*/ 8796080 w 9107210"/>
                <a:gd name="connsiteY14" fmla="*/ 4847428 h 6858000"/>
                <a:gd name="connsiteX15" fmla="*/ 8702056 w 9107210"/>
                <a:gd name="connsiteY15" fmla="*/ 5050108 h 6858000"/>
                <a:gd name="connsiteX16" fmla="*/ 8581125 w 9107210"/>
                <a:gd name="connsiteY16" fmla="*/ 5247525 h 6858000"/>
                <a:gd name="connsiteX17" fmla="*/ 8426254 w 9107210"/>
                <a:gd name="connsiteY17" fmla="*/ 5429647 h 6858000"/>
                <a:gd name="connsiteX18" fmla="*/ 8337174 w 9107210"/>
                <a:gd name="connsiteY18" fmla="*/ 5510552 h 6858000"/>
                <a:gd name="connsiteX19" fmla="*/ 8243200 w 9107210"/>
                <a:gd name="connsiteY19" fmla="*/ 5582948 h 6858000"/>
                <a:gd name="connsiteX20" fmla="*/ 7868330 w 9107210"/>
                <a:gd name="connsiteY20" fmla="*/ 5811104 h 6858000"/>
                <a:gd name="connsiteX21" fmla="*/ 7538916 w 9107210"/>
                <a:gd name="connsiteY21" fmla="*/ 6018899 h 6858000"/>
                <a:gd name="connsiteX22" fmla="*/ 7391280 w 9107210"/>
                <a:gd name="connsiteY22" fmla="*/ 6134132 h 6858000"/>
                <a:gd name="connsiteX23" fmla="*/ 7252511 w 9107210"/>
                <a:gd name="connsiteY23" fmla="*/ 6259105 h 6858000"/>
                <a:gd name="connsiteX24" fmla="*/ 7185601 w 9107210"/>
                <a:gd name="connsiteY24" fmla="*/ 6325894 h 6858000"/>
                <a:gd name="connsiteX25" fmla="*/ 7116651 w 9107210"/>
                <a:gd name="connsiteY25" fmla="*/ 6397010 h 6858000"/>
                <a:gd name="connsiteX26" fmla="*/ 6978545 w 9107210"/>
                <a:gd name="connsiteY26" fmla="*/ 6541607 h 6858000"/>
                <a:gd name="connsiteX27" fmla="*/ 6693009 w 9107210"/>
                <a:gd name="connsiteY27" fmla="*/ 6832716 h 6858000"/>
                <a:gd name="connsiteX28" fmla="*/ 6667488 w 9107210"/>
                <a:gd name="connsiteY28" fmla="*/ 6858000 h 6858000"/>
                <a:gd name="connsiteX29" fmla="*/ 6056793 w 9107210"/>
                <a:gd name="connsiteY29" fmla="*/ 6858000 h 6858000"/>
                <a:gd name="connsiteX30" fmla="*/ 6077345 w 9107210"/>
                <a:gd name="connsiteY30" fmla="*/ 6835420 h 6858000"/>
                <a:gd name="connsiteX31" fmla="*/ 6208519 w 9107210"/>
                <a:gd name="connsiteY31" fmla="*/ 6683989 h 6858000"/>
                <a:gd name="connsiteX32" fmla="*/ 6340001 w 9107210"/>
                <a:gd name="connsiteY32" fmla="*/ 6529852 h 6858000"/>
                <a:gd name="connsiteX33" fmla="*/ 6611419 w 9107210"/>
                <a:gd name="connsiteY33" fmla="*/ 6219317 h 6858000"/>
                <a:gd name="connsiteX34" fmla="*/ 6757678 w 9107210"/>
                <a:gd name="connsiteY34" fmla="*/ 6068228 h 6858000"/>
                <a:gd name="connsiteX35" fmla="*/ 6833713 w 9107210"/>
                <a:gd name="connsiteY35" fmla="*/ 5994061 h 6858000"/>
                <a:gd name="connsiteX36" fmla="*/ 6915148 w 9107210"/>
                <a:gd name="connsiteY36" fmla="*/ 5918812 h 6858000"/>
                <a:gd name="connsiteX37" fmla="*/ 7276311 w 9107210"/>
                <a:gd name="connsiteY37" fmla="*/ 5650229 h 6858000"/>
                <a:gd name="connsiteX38" fmla="*/ 7664942 w 9107210"/>
                <a:gd name="connsiteY38" fmla="*/ 5445681 h 6858000"/>
                <a:gd name="connsiteX39" fmla="*/ 7848505 w 9107210"/>
                <a:gd name="connsiteY39" fmla="*/ 5358333 h 6858000"/>
                <a:gd name="connsiteX40" fmla="*/ 8011785 w 9107210"/>
                <a:gd name="connsiteY40" fmla="*/ 5267788 h 6858000"/>
                <a:gd name="connsiteX41" fmla="*/ 8260273 w 9107210"/>
                <a:gd name="connsiteY41" fmla="*/ 5034370 h 6858000"/>
                <a:gd name="connsiteX42" fmla="*/ 8417589 w 9107210"/>
                <a:gd name="connsiteY42" fmla="*/ 4714488 h 6858000"/>
                <a:gd name="connsiteX43" fmla="*/ 8495000 w 9107210"/>
                <a:gd name="connsiteY43" fmla="*/ 4346409 h 6858000"/>
                <a:gd name="connsiteX44" fmla="*/ 8508556 w 9107210"/>
                <a:gd name="connsiteY44" fmla="*/ 3971101 h 6858000"/>
                <a:gd name="connsiteX45" fmla="*/ 8483330 w 9107210"/>
                <a:gd name="connsiteY45" fmla="*/ 3600710 h 6858000"/>
                <a:gd name="connsiteX46" fmla="*/ 8425336 w 9107210"/>
                <a:gd name="connsiteY46" fmla="*/ 3236121 h 6858000"/>
                <a:gd name="connsiteX47" fmla="*/ 8334575 w 9107210"/>
                <a:gd name="connsiteY47" fmla="*/ 2877977 h 6858000"/>
                <a:gd name="connsiteX48" fmla="*/ 8087513 w 9107210"/>
                <a:gd name="connsiteY48" fmla="*/ 2174622 h 6858000"/>
                <a:gd name="connsiteX49" fmla="*/ 7723650 w 9107210"/>
                <a:gd name="connsiteY49" fmla="*/ 1507613 h 6858000"/>
                <a:gd name="connsiteX50" fmla="*/ 7501815 w 9107210"/>
                <a:gd name="connsiteY50" fmla="*/ 1192947 h 6858000"/>
                <a:gd name="connsiteX51" fmla="*/ 7254399 w 9107210"/>
                <a:gd name="connsiteY51" fmla="*/ 894361 h 6858000"/>
                <a:gd name="connsiteX52" fmla="*/ 6689339 w 9107210"/>
                <a:gd name="connsiteY52" fmla="*/ 354046 h 6858000"/>
                <a:gd name="connsiteX53" fmla="*/ 6206651 w 9107210"/>
                <a:gd name="connsiteY53" fmla="*/ 12626 h 6858000"/>
                <a:gd name="connsiteX54" fmla="*/ 1827105 w 9107210"/>
                <a:gd name="connsiteY54" fmla="*/ 0 h 6858000"/>
                <a:gd name="connsiteX55" fmla="*/ 2807607 w 9107210"/>
                <a:gd name="connsiteY55" fmla="*/ 0 h 6858000"/>
                <a:gd name="connsiteX56" fmla="*/ 2667958 w 9107210"/>
                <a:gd name="connsiteY56" fmla="*/ 88235 h 6858000"/>
                <a:gd name="connsiteX57" fmla="*/ 2354723 w 9107210"/>
                <a:gd name="connsiteY57" fmla="*/ 314947 h 6858000"/>
                <a:gd name="connsiteX58" fmla="*/ 2059963 w 9107210"/>
                <a:gd name="connsiteY58" fmla="*/ 561545 h 6858000"/>
                <a:gd name="connsiteX59" fmla="*/ 1780798 w 9107210"/>
                <a:gd name="connsiteY59" fmla="*/ 824425 h 6858000"/>
                <a:gd name="connsiteX60" fmla="*/ 954714 w 9107210"/>
                <a:gd name="connsiteY60" fmla="*/ 2094309 h 6858000"/>
                <a:gd name="connsiteX61" fmla="*/ 732676 w 9107210"/>
                <a:gd name="connsiteY61" fmla="*/ 2813646 h 6858000"/>
                <a:gd name="connsiteX62" fmla="*/ 673867 w 9107210"/>
                <a:gd name="connsiteY62" fmla="*/ 3183989 h 6858000"/>
                <a:gd name="connsiteX63" fmla="*/ 647621 w 9107210"/>
                <a:gd name="connsiteY63" fmla="*/ 3557281 h 6858000"/>
                <a:gd name="connsiteX64" fmla="*/ 653381 w 9107210"/>
                <a:gd name="connsiteY64" fmla="*/ 3931214 h 6858000"/>
                <a:gd name="connsiteX65" fmla="*/ 690428 w 9107210"/>
                <a:gd name="connsiteY65" fmla="*/ 4303719 h 6858000"/>
                <a:gd name="connsiteX66" fmla="*/ 871801 w 9107210"/>
                <a:gd name="connsiteY66" fmla="*/ 5033041 h 6858000"/>
                <a:gd name="connsiteX67" fmla="*/ 1197749 w 9107210"/>
                <a:gd name="connsiteY67" fmla="*/ 5718494 h 6858000"/>
                <a:gd name="connsiteX68" fmla="*/ 1411480 w 9107210"/>
                <a:gd name="connsiteY68" fmla="*/ 6036703 h 6858000"/>
                <a:gd name="connsiteX69" fmla="*/ 1530170 w 9107210"/>
                <a:gd name="connsiteY69" fmla="*/ 6188430 h 6858000"/>
                <a:gd name="connsiteX70" fmla="*/ 1657165 w 9107210"/>
                <a:gd name="connsiteY70" fmla="*/ 6335385 h 6858000"/>
                <a:gd name="connsiteX71" fmla="*/ 1931343 w 9107210"/>
                <a:gd name="connsiteY71" fmla="*/ 6612896 h 6858000"/>
                <a:gd name="connsiteX72" fmla="*/ 2220133 w 9107210"/>
                <a:gd name="connsiteY72" fmla="*/ 6858000 h 6858000"/>
                <a:gd name="connsiteX73" fmla="*/ 1539862 w 9107210"/>
                <a:gd name="connsiteY73" fmla="*/ 6858000 h 6858000"/>
                <a:gd name="connsiteX74" fmla="*/ 1307111 w 9107210"/>
                <a:gd name="connsiteY74" fmla="*/ 6648873 h 6858000"/>
                <a:gd name="connsiteX75" fmla="*/ 750258 w 9107210"/>
                <a:gd name="connsiteY75" fmla="*/ 5987570 h 6858000"/>
                <a:gd name="connsiteX76" fmla="*/ 335382 w 9107210"/>
                <a:gd name="connsiteY76" fmla="*/ 5229279 h 6858000"/>
                <a:gd name="connsiteX77" fmla="*/ 79351 w 9107210"/>
                <a:gd name="connsiteY77" fmla="*/ 4403854 h 6858000"/>
                <a:gd name="connsiteX78" fmla="*/ 16007 w 9107210"/>
                <a:gd name="connsiteY78" fmla="*/ 3975723 h 6858000"/>
                <a:gd name="connsiteX79" fmla="*/ 871 w 9107210"/>
                <a:gd name="connsiteY79" fmla="*/ 3543362 h 6858000"/>
                <a:gd name="connsiteX80" fmla="*/ 32519 w 9107210"/>
                <a:gd name="connsiteY80" fmla="*/ 3112085 h 6858000"/>
                <a:gd name="connsiteX81" fmla="*/ 108502 w 9107210"/>
                <a:gd name="connsiteY81" fmla="*/ 2686511 h 6858000"/>
                <a:gd name="connsiteX82" fmla="*/ 378239 w 9107210"/>
                <a:gd name="connsiteY82" fmla="*/ 1865955 h 6858000"/>
                <a:gd name="connsiteX83" fmla="*/ 1343701 w 9107210"/>
                <a:gd name="connsiteY83" fmla="*/ 431508 h 6858000"/>
                <a:gd name="connsiteX84" fmla="*/ 1661853 w 9107210"/>
                <a:gd name="connsiteY84" fmla="*/ 130268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Lst>
              <a:rect l="l" t="t" r="r" b="b"/>
              <a:pathLst>
                <a:path w="9107210" h="6858000">
                  <a:moveTo>
                    <a:pt x="6184722" y="0"/>
                  </a:moveTo>
                  <a:lnTo>
                    <a:pt x="6985680" y="0"/>
                  </a:lnTo>
                  <a:lnTo>
                    <a:pt x="7324323" y="247136"/>
                  </a:lnTo>
                  <a:cubicBezTo>
                    <a:pt x="7437502" y="336500"/>
                    <a:pt x="7547171" y="430254"/>
                    <a:pt x="7652712" y="528495"/>
                  </a:cubicBezTo>
                  <a:cubicBezTo>
                    <a:pt x="7863743" y="724929"/>
                    <a:pt x="8060097" y="937593"/>
                    <a:pt x="8236677" y="1166289"/>
                  </a:cubicBezTo>
                  <a:cubicBezTo>
                    <a:pt x="8413818" y="1394594"/>
                    <a:pt x="8570168" y="1639471"/>
                    <a:pt x="8704298" y="1897038"/>
                  </a:cubicBezTo>
                  <a:cubicBezTo>
                    <a:pt x="8770803" y="2026141"/>
                    <a:pt x="8830836" y="2158786"/>
                    <a:pt x="8885160" y="2294087"/>
                  </a:cubicBezTo>
                  <a:cubicBezTo>
                    <a:pt x="8898360" y="2328071"/>
                    <a:pt x="8912169" y="2361810"/>
                    <a:pt x="8924247" y="2396286"/>
                  </a:cubicBezTo>
                  <a:lnTo>
                    <a:pt x="8960022" y="2499767"/>
                  </a:lnTo>
                  <a:lnTo>
                    <a:pt x="8991720" y="2604671"/>
                  </a:lnTo>
                  <a:cubicBezTo>
                    <a:pt x="9002116" y="2639690"/>
                    <a:pt x="9010474" y="2675346"/>
                    <a:pt x="9019646" y="2710708"/>
                  </a:cubicBezTo>
                  <a:cubicBezTo>
                    <a:pt x="9089055" y="2995079"/>
                    <a:pt x="9113620" y="3289927"/>
                    <a:pt x="9105822" y="3582266"/>
                  </a:cubicBezTo>
                  <a:cubicBezTo>
                    <a:pt x="9101796" y="3728484"/>
                    <a:pt x="9085744" y="3874458"/>
                    <a:pt x="9057716" y="4017873"/>
                  </a:cubicBezTo>
                  <a:cubicBezTo>
                    <a:pt x="9029534" y="4161336"/>
                    <a:pt x="8990497" y="4302046"/>
                    <a:pt x="8945600" y="4439659"/>
                  </a:cubicBezTo>
                  <a:cubicBezTo>
                    <a:pt x="8900857" y="4577566"/>
                    <a:pt x="8852901" y="4711784"/>
                    <a:pt x="8796080" y="4847428"/>
                  </a:cubicBezTo>
                  <a:cubicBezTo>
                    <a:pt x="8767695" y="4915152"/>
                    <a:pt x="8737016" y="4982926"/>
                    <a:pt x="8702056" y="5050108"/>
                  </a:cubicBezTo>
                  <a:cubicBezTo>
                    <a:pt x="8666485" y="5116997"/>
                    <a:pt x="8627347" y="5183687"/>
                    <a:pt x="8581125" y="5247525"/>
                  </a:cubicBezTo>
                  <a:cubicBezTo>
                    <a:pt x="8535565" y="5311660"/>
                    <a:pt x="8483534" y="5373185"/>
                    <a:pt x="8426254" y="5429647"/>
                  </a:cubicBezTo>
                  <a:cubicBezTo>
                    <a:pt x="8397512" y="5457779"/>
                    <a:pt x="8367801" y="5484879"/>
                    <a:pt x="8337174" y="5510552"/>
                  </a:cubicBezTo>
                  <a:cubicBezTo>
                    <a:pt x="8306444" y="5536077"/>
                    <a:pt x="8274899" y="5560029"/>
                    <a:pt x="8243200" y="5582948"/>
                  </a:cubicBezTo>
                  <a:cubicBezTo>
                    <a:pt x="8115543" y="5674574"/>
                    <a:pt x="7986203" y="5743233"/>
                    <a:pt x="7868330" y="5811104"/>
                  </a:cubicBezTo>
                  <a:cubicBezTo>
                    <a:pt x="7749844" y="5878385"/>
                    <a:pt x="7640685" y="5945126"/>
                    <a:pt x="7538916" y="6018899"/>
                  </a:cubicBezTo>
                  <a:cubicBezTo>
                    <a:pt x="7487749" y="6055392"/>
                    <a:pt x="7438777" y="6093950"/>
                    <a:pt x="7391280" y="6134132"/>
                  </a:cubicBezTo>
                  <a:cubicBezTo>
                    <a:pt x="7343427" y="6173921"/>
                    <a:pt x="7297511" y="6215922"/>
                    <a:pt x="7252511" y="6259105"/>
                  </a:cubicBezTo>
                  <a:cubicBezTo>
                    <a:pt x="7229784" y="6280990"/>
                    <a:pt x="7208635" y="6302433"/>
                    <a:pt x="7185601" y="6325894"/>
                  </a:cubicBezTo>
                  <a:lnTo>
                    <a:pt x="7116651" y="6397010"/>
                  </a:lnTo>
                  <a:lnTo>
                    <a:pt x="6978545" y="6541607"/>
                  </a:lnTo>
                  <a:cubicBezTo>
                    <a:pt x="6885693" y="6638397"/>
                    <a:pt x="6789885" y="6734943"/>
                    <a:pt x="6693009" y="6832716"/>
                  </a:cubicBezTo>
                  <a:lnTo>
                    <a:pt x="6667488" y="6858000"/>
                  </a:lnTo>
                  <a:lnTo>
                    <a:pt x="6056793" y="6858000"/>
                  </a:lnTo>
                  <a:lnTo>
                    <a:pt x="6077345" y="6835420"/>
                  </a:lnTo>
                  <a:cubicBezTo>
                    <a:pt x="6121427" y="6785747"/>
                    <a:pt x="6164948" y="6735090"/>
                    <a:pt x="6208519" y="6683989"/>
                  </a:cubicBezTo>
                  <a:lnTo>
                    <a:pt x="6340001" y="6529852"/>
                  </a:lnTo>
                  <a:cubicBezTo>
                    <a:pt x="6428315" y="6426667"/>
                    <a:pt x="6516733" y="6321417"/>
                    <a:pt x="6611419" y="6219317"/>
                  </a:cubicBezTo>
                  <a:cubicBezTo>
                    <a:pt x="6658864" y="6168363"/>
                    <a:pt x="6707584" y="6117950"/>
                    <a:pt x="6757678" y="6068228"/>
                  </a:cubicBezTo>
                  <a:lnTo>
                    <a:pt x="6833713" y="5994061"/>
                  </a:lnTo>
                  <a:cubicBezTo>
                    <a:pt x="6859346" y="5969422"/>
                    <a:pt x="6887579" y="5943404"/>
                    <a:pt x="6915148" y="5918812"/>
                  </a:cubicBezTo>
                  <a:cubicBezTo>
                    <a:pt x="7026295" y="5819219"/>
                    <a:pt x="7148602" y="5729117"/>
                    <a:pt x="7276311" y="5650229"/>
                  </a:cubicBezTo>
                  <a:cubicBezTo>
                    <a:pt x="7403918" y="5571046"/>
                    <a:pt x="7537794" y="5505190"/>
                    <a:pt x="7664942" y="5445681"/>
                  </a:cubicBezTo>
                  <a:cubicBezTo>
                    <a:pt x="7728491" y="5416024"/>
                    <a:pt x="7790410" y="5387449"/>
                    <a:pt x="7848505" y="5358333"/>
                  </a:cubicBezTo>
                  <a:cubicBezTo>
                    <a:pt x="7906805" y="5329315"/>
                    <a:pt x="7961843" y="5300101"/>
                    <a:pt x="8011785" y="5267788"/>
                  </a:cubicBezTo>
                  <a:cubicBezTo>
                    <a:pt x="8112281" y="5203950"/>
                    <a:pt x="8193615" y="5128111"/>
                    <a:pt x="8260273" y="5034370"/>
                  </a:cubicBezTo>
                  <a:cubicBezTo>
                    <a:pt x="8326370" y="4940776"/>
                    <a:pt x="8378657" y="4831640"/>
                    <a:pt x="8417589" y="4714488"/>
                  </a:cubicBezTo>
                  <a:cubicBezTo>
                    <a:pt x="8456372" y="4597485"/>
                    <a:pt x="8481140" y="4471332"/>
                    <a:pt x="8495000" y="4346409"/>
                  </a:cubicBezTo>
                  <a:cubicBezTo>
                    <a:pt x="8508404" y="4221044"/>
                    <a:pt x="8511359" y="4095482"/>
                    <a:pt x="8508556" y="3971101"/>
                  </a:cubicBezTo>
                  <a:cubicBezTo>
                    <a:pt x="8504530" y="3846571"/>
                    <a:pt x="8495663" y="3723222"/>
                    <a:pt x="8483330" y="3600710"/>
                  </a:cubicBezTo>
                  <a:cubicBezTo>
                    <a:pt x="8470793" y="3478148"/>
                    <a:pt x="8451888" y="3356421"/>
                    <a:pt x="8425336" y="3236121"/>
                  </a:cubicBezTo>
                  <a:cubicBezTo>
                    <a:pt x="8399091" y="3115774"/>
                    <a:pt x="8367801" y="2996655"/>
                    <a:pt x="8334575" y="2877977"/>
                  </a:cubicBezTo>
                  <a:cubicBezTo>
                    <a:pt x="8268222" y="2640772"/>
                    <a:pt x="8190100" y="2404057"/>
                    <a:pt x="8087513" y="2174622"/>
                  </a:cubicBezTo>
                  <a:cubicBezTo>
                    <a:pt x="7985081" y="1945237"/>
                    <a:pt x="7863233" y="1721900"/>
                    <a:pt x="7723650" y="1507613"/>
                  </a:cubicBezTo>
                  <a:cubicBezTo>
                    <a:pt x="7653527" y="1400692"/>
                    <a:pt x="7579684" y="1295589"/>
                    <a:pt x="7501815" y="1192947"/>
                  </a:cubicBezTo>
                  <a:cubicBezTo>
                    <a:pt x="7423844" y="1090353"/>
                    <a:pt x="7340778" y="991103"/>
                    <a:pt x="7254399" y="894361"/>
                  </a:cubicBezTo>
                  <a:cubicBezTo>
                    <a:pt x="7082047" y="700485"/>
                    <a:pt x="6893083" y="519052"/>
                    <a:pt x="6689339" y="354046"/>
                  </a:cubicBezTo>
                  <a:cubicBezTo>
                    <a:pt x="6536914" y="229775"/>
                    <a:pt x="6375602" y="115325"/>
                    <a:pt x="6206651" y="12626"/>
                  </a:cubicBezTo>
                  <a:close/>
                  <a:moveTo>
                    <a:pt x="1827105" y="0"/>
                  </a:moveTo>
                  <a:lnTo>
                    <a:pt x="2807607" y="0"/>
                  </a:lnTo>
                  <a:lnTo>
                    <a:pt x="2667958" y="88235"/>
                  </a:lnTo>
                  <a:cubicBezTo>
                    <a:pt x="2560098" y="159777"/>
                    <a:pt x="2455754" y="235690"/>
                    <a:pt x="2354723" y="314947"/>
                  </a:cubicBezTo>
                  <a:cubicBezTo>
                    <a:pt x="2253464" y="394030"/>
                    <a:pt x="2156943" y="478181"/>
                    <a:pt x="2059963" y="561545"/>
                  </a:cubicBezTo>
                  <a:cubicBezTo>
                    <a:pt x="1962831" y="644811"/>
                    <a:pt x="1868297" y="731322"/>
                    <a:pt x="1780798" y="824425"/>
                  </a:cubicBezTo>
                  <a:cubicBezTo>
                    <a:pt x="1429010" y="1195013"/>
                    <a:pt x="1148011" y="1628455"/>
                    <a:pt x="954714" y="2094309"/>
                  </a:cubicBezTo>
                  <a:cubicBezTo>
                    <a:pt x="857938" y="2327186"/>
                    <a:pt x="783229" y="2568326"/>
                    <a:pt x="732676" y="2813646"/>
                  </a:cubicBezTo>
                  <a:cubicBezTo>
                    <a:pt x="707552" y="2936307"/>
                    <a:pt x="688085" y="3059952"/>
                    <a:pt x="673867" y="3183989"/>
                  </a:cubicBezTo>
                  <a:cubicBezTo>
                    <a:pt x="660056" y="3308075"/>
                    <a:pt x="651341" y="3432605"/>
                    <a:pt x="647621" y="3557281"/>
                  </a:cubicBezTo>
                  <a:cubicBezTo>
                    <a:pt x="644411" y="3681958"/>
                    <a:pt x="645329" y="3806733"/>
                    <a:pt x="653381" y="3931214"/>
                  </a:cubicBezTo>
                  <a:cubicBezTo>
                    <a:pt x="659852" y="4055792"/>
                    <a:pt x="672949" y="4179977"/>
                    <a:pt x="690428" y="4303719"/>
                  </a:cubicBezTo>
                  <a:cubicBezTo>
                    <a:pt x="726408" y="4551057"/>
                    <a:pt x="786440" y="4795835"/>
                    <a:pt x="871801" y="5033041"/>
                  </a:cubicBezTo>
                  <a:cubicBezTo>
                    <a:pt x="957007" y="5270247"/>
                    <a:pt x="1065962" y="5500322"/>
                    <a:pt x="1197749" y="5718494"/>
                  </a:cubicBezTo>
                  <a:cubicBezTo>
                    <a:pt x="1263846" y="5827433"/>
                    <a:pt x="1334937" y="5933813"/>
                    <a:pt x="1411480" y="6036703"/>
                  </a:cubicBezTo>
                  <a:cubicBezTo>
                    <a:pt x="1449548" y="6088295"/>
                    <a:pt x="1489451" y="6138609"/>
                    <a:pt x="1530170" y="6188430"/>
                  </a:cubicBezTo>
                  <a:cubicBezTo>
                    <a:pt x="1571447" y="6238055"/>
                    <a:pt x="1613644" y="6287336"/>
                    <a:pt x="1657165" y="6335385"/>
                  </a:cubicBezTo>
                  <a:cubicBezTo>
                    <a:pt x="1744079" y="6431708"/>
                    <a:pt x="1835644" y="6524282"/>
                    <a:pt x="1931343" y="6612896"/>
                  </a:cubicBezTo>
                  <a:lnTo>
                    <a:pt x="2220133" y="6858000"/>
                  </a:lnTo>
                  <a:lnTo>
                    <a:pt x="1539862" y="6858000"/>
                  </a:lnTo>
                  <a:lnTo>
                    <a:pt x="1307111" y="6648873"/>
                  </a:lnTo>
                  <a:cubicBezTo>
                    <a:pt x="1101839" y="6448063"/>
                    <a:pt x="913180" y="6225465"/>
                    <a:pt x="750258" y="5987570"/>
                  </a:cubicBezTo>
                  <a:cubicBezTo>
                    <a:pt x="587232" y="5749281"/>
                    <a:pt x="448261" y="5494813"/>
                    <a:pt x="335382" y="5229279"/>
                  </a:cubicBezTo>
                  <a:cubicBezTo>
                    <a:pt x="222298" y="4963793"/>
                    <a:pt x="137040" y="4686652"/>
                    <a:pt x="79351" y="4403854"/>
                  </a:cubicBezTo>
                  <a:cubicBezTo>
                    <a:pt x="50150" y="4262456"/>
                    <a:pt x="29767" y="4119385"/>
                    <a:pt x="16007" y="3975723"/>
                  </a:cubicBezTo>
                  <a:cubicBezTo>
                    <a:pt x="3930" y="3831964"/>
                    <a:pt x="-2441" y="3687614"/>
                    <a:pt x="871" y="3543362"/>
                  </a:cubicBezTo>
                  <a:cubicBezTo>
                    <a:pt x="3522" y="3399160"/>
                    <a:pt x="14172" y="3255105"/>
                    <a:pt x="32519" y="3112085"/>
                  </a:cubicBezTo>
                  <a:cubicBezTo>
                    <a:pt x="50508" y="2969014"/>
                    <a:pt x="76090" y="2826925"/>
                    <a:pt x="108502" y="2686511"/>
                  </a:cubicBezTo>
                  <a:cubicBezTo>
                    <a:pt x="173019" y="2405533"/>
                    <a:pt x="263474" y="2130703"/>
                    <a:pt x="378239" y="1865955"/>
                  </a:cubicBezTo>
                  <a:cubicBezTo>
                    <a:pt x="607922" y="1336607"/>
                    <a:pt x="935706" y="848228"/>
                    <a:pt x="1343701" y="431508"/>
                  </a:cubicBezTo>
                  <a:cubicBezTo>
                    <a:pt x="1446133" y="327783"/>
                    <a:pt x="1550910" y="225926"/>
                    <a:pt x="1661853" y="130268"/>
                  </a:cubicBez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34" name="Freeform: Shape 33">
              <a:extLst>
                <a:ext uri="{FF2B5EF4-FFF2-40B4-BE49-F238E27FC236}">
                  <a16:creationId xmlns:a16="http://schemas.microsoft.com/office/drawing/2014/main" id="{6A0C77B5-3FAA-4D4F-9555-89D75160887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03402" y="3985"/>
              <a:ext cx="9767847" cy="6858000"/>
            </a:xfrm>
            <a:custGeom>
              <a:avLst/>
              <a:gdLst>
                <a:gd name="connsiteX0" fmla="*/ 7145704 w 9767847"/>
                <a:gd name="connsiteY0" fmla="*/ 0 h 6858000"/>
                <a:gd name="connsiteX1" fmla="*/ 7875738 w 9767847"/>
                <a:gd name="connsiteY1" fmla="*/ 0 h 6858000"/>
                <a:gd name="connsiteX2" fmla="*/ 7990553 w 9767847"/>
                <a:gd name="connsiteY2" fmla="*/ 85415 h 6858000"/>
                <a:gd name="connsiteX3" fmla="*/ 9767847 w 9767847"/>
                <a:gd name="connsiteY3" fmla="*/ 3653129 h 6858000"/>
                <a:gd name="connsiteX4" fmla="*/ 8652597 w 9767847"/>
                <a:gd name="connsiteY4" fmla="*/ 6594103 h 6858000"/>
                <a:gd name="connsiteX5" fmla="*/ 8399240 w 9767847"/>
                <a:gd name="connsiteY5" fmla="*/ 6858000 h 6858000"/>
                <a:gd name="connsiteX6" fmla="*/ 6766926 w 9767847"/>
                <a:gd name="connsiteY6" fmla="*/ 6858000 h 6858000"/>
                <a:gd name="connsiteX7" fmla="*/ 6804586 w 9767847"/>
                <a:gd name="connsiteY7" fmla="*/ 6821201 h 6858000"/>
                <a:gd name="connsiteX8" fmla="*/ 6881735 w 9767847"/>
                <a:gd name="connsiteY8" fmla="*/ 6745295 h 6858000"/>
                <a:gd name="connsiteX9" fmla="*/ 6958883 w 9767847"/>
                <a:gd name="connsiteY9" fmla="*/ 6668920 h 6858000"/>
                <a:gd name="connsiteX10" fmla="*/ 7267925 w 9767847"/>
                <a:gd name="connsiteY10" fmla="*/ 6359792 h 6858000"/>
                <a:gd name="connsiteX11" fmla="*/ 7424360 w 9767847"/>
                <a:gd name="connsiteY11" fmla="*/ 6204783 h 6858000"/>
                <a:gd name="connsiteX12" fmla="*/ 7504938 w 9767847"/>
                <a:gd name="connsiteY12" fmla="*/ 6126806 h 6858000"/>
                <a:gd name="connsiteX13" fmla="*/ 7546396 w 9767847"/>
                <a:gd name="connsiteY13" fmla="*/ 6087795 h 6858000"/>
                <a:gd name="connsiteX14" fmla="*/ 7588002 w 9767847"/>
                <a:gd name="connsiteY14" fmla="*/ 6049630 h 6858000"/>
                <a:gd name="connsiteX15" fmla="*/ 7631000 w 9767847"/>
                <a:gd name="connsiteY15" fmla="*/ 6010807 h 6858000"/>
                <a:gd name="connsiteX16" fmla="*/ 7675440 w 9767847"/>
                <a:gd name="connsiteY16" fmla="*/ 5972407 h 6858000"/>
                <a:gd name="connsiteX17" fmla="*/ 7720626 w 9767847"/>
                <a:gd name="connsiteY17" fmla="*/ 5934949 h 6858000"/>
                <a:gd name="connsiteX18" fmla="*/ 7766458 w 9767847"/>
                <a:gd name="connsiteY18" fmla="*/ 5898432 h 6858000"/>
                <a:gd name="connsiteX19" fmla="*/ 7955254 w 9767847"/>
                <a:gd name="connsiteY19" fmla="*/ 5760926 h 6858000"/>
                <a:gd name="connsiteX20" fmla="*/ 8352678 w 9767847"/>
                <a:gd name="connsiteY20" fmla="*/ 5521728 h 6858000"/>
                <a:gd name="connsiteX21" fmla="*/ 8451350 w 9767847"/>
                <a:gd name="connsiteY21" fmla="*/ 5469352 h 6858000"/>
                <a:gd name="connsiteX22" fmla="*/ 8548532 w 9767847"/>
                <a:gd name="connsiteY22" fmla="*/ 5417493 h 6858000"/>
                <a:gd name="connsiteX23" fmla="*/ 8729473 w 9767847"/>
                <a:gd name="connsiteY23" fmla="*/ 5314059 h 6858000"/>
                <a:gd name="connsiteX24" fmla="*/ 8770781 w 9767847"/>
                <a:gd name="connsiteY24" fmla="*/ 5287330 h 6858000"/>
                <a:gd name="connsiteX25" fmla="*/ 8790964 w 9767847"/>
                <a:gd name="connsiteY25" fmla="*/ 5273590 h 6858000"/>
                <a:gd name="connsiteX26" fmla="*/ 8810499 w 9767847"/>
                <a:gd name="connsiteY26" fmla="*/ 5259801 h 6858000"/>
                <a:gd name="connsiteX27" fmla="*/ 8883571 w 9767847"/>
                <a:gd name="connsiteY27" fmla="*/ 5202577 h 6858000"/>
                <a:gd name="connsiteX28" fmla="*/ 9006651 w 9767847"/>
                <a:gd name="connsiteY28" fmla="*/ 5074625 h 6858000"/>
                <a:gd name="connsiteX29" fmla="*/ 9033494 w 9767847"/>
                <a:gd name="connsiteY29" fmla="*/ 5038203 h 6858000"/>
                <a:gd name="connsiteX30" fmla="*/ 9040305 w 9767847"/>
                <a:gd name="connsiteY30" fmla="*/ 5028649 h 6858000"/>
                <a:gd name="connsiteX31" fmla="*/ 9046568 w 9767847"/>
                <a:gd name="connsiteY31" fmla="*/ 5019379 h 6858000"/>
                <a:gd name="connsiteX32" fmla="*/ 9058846 w 9767847"/>
                <a:gd name="connsiteY32" fmla="*/ 5000743 h 6858000"/>
                <a:gd name="connsiteX33" fmla="*/ 9104529 w 9767847"/>
                <a:gd name="connsiteY33" fmla="*/ 4922203 h 6858000"/>
                <a:gd name="connsiteX34" fmla="*/ 9181081 w 9767847"/>
                <a:gd name="connsiteY34" fmla="*/ 4748792 h 6858000"/>
                <a:gd name="connsiteX35" fmla="*/ 9240731 w 9767847"/>
                <a:gd name="connsiteY35" fmla="*/ 4561970 h 6858000"/>
                <a:gd name="connsiteX36" fmla="*/ 9265388 w 9767847"/>
                <a:gd name="connsiteY36" fmla="*/ 4465171 h 6858000"/>
                <a:gd name="connsiteX37" fmla="*/ 9276571 w 9767847"/>
                <a:gd name="connsiteY37" fmla="*/ 4416041 h 6858000"/>
                <a:gd name="connsiteX38" fmla="*/ 9281841 w 9767847"/>
                <a:gd name="connsiteY38" fmla="*/ 4391477 h 6858000"/>
                <a:gd name="connsiteX39" fmla="*/ 9286513 w 9767847"/>
                <a:gd name="connsiteY39" fmla="*/ 4368936 h 6858000"/>
                <a:gd name="connsiteX40" fmla="*/ 9296754 w 9767847"/>
                <a:gd name="connsiteY40" fmla="*/ 4316136 h 6858000"/>
                <a:gd name="connsiteX41" fmla="*/ 9301029 w 9767847"/>
                <a:gd name="connsiteY41" fmla="*/ 4293172 h 6858000"/>
                <a:gd name="connsiteX42" fmla="*/ 9302818 w 9767847"/>
                <a:gd name="connsiteY42" fmla="*/ 4282679 h 6858000"/>
                <a:gd name="connsiteX43" fmla="*/ 9304658 w 9767847"/>
                <a:gd name="connsiteY43" fmla="*/ 4270914 h 6858000"/>
                <a:gd name="connsiteX44" fmla="*/ 9312810 w 9767847"/>
                <a:gd name="connsiteY44" fmla="*/ 4220043 h 6858000"/>
                <a:gd name="connsiteX45" fmla="*/ 9316887 w 9767847"/>
                <a:gd name="connsiteY45" fmla="*/ 4194584 h 6858000"/>
                <a:gd name="connsiteX46" fmla="*/ 9318923 w 9767847"/>
                <a:gd name="connsiteY46" fmla="*/ 4181878 h 6858000"/>
                <a:gd name="connsiteX47" fmla="*/ 9320515 w 9767847"/>
                <a:gd name="connsiteY47" fmla="*/ 4168984 h 6858000"/>
                <a:gd name="connsiteX48" fmla="*/ 9332445 w 9767847"/>
                <a:gd name="connsiteY48" fmla="*/ 4069079 h 6858000"/>
                <a:gd name="connsiteX49" fmla="*/ 9336173 w 9767847"/>
                <a:gd name="connsiteY49" fmla="*/ 4022774 h 6858000"/>
                <a:gd name="connsiteX50" fmla="*/ 9340199 w 9767847"/>
                <a:gd name="connsiteY50" fmla="*/ 3969269 h 6858000"/>
                <a:gd name="connsiteX51" fmla="*/ 9347557 w 9767847"/>
                <a:gd name="connsiteY51" fmla="*/ 3770070 h 6858000"/>
                <a:gd name="connsiteX52" fmla="*/ 9346364 w 9767847"/>
                <a:gd name="connsiteY52" fmla="*/ 3669036 h 6858000"/>
                <a:gd name="connsiteX53" fmla="*/ 9344921 w 9767847"/>
                <a:gd name="connsiteY53" fmla="*/ 3619341 h 6858000"/>
                <a:gd name="connsiteX54" fmla="*/ 9344524 w 9767847"/>
                <a:gd name="connsiteY54" fmla="*/ 3607624 h 6858000"/>
                <a:gd name="connsiteX55" fmla="*/ 9343728 w 9767847"/>
                <a:gd name="connsiteY55" fmla="*/ 3594872 h 6858000"/>
                <a:gd name="connsiteX56" fmla="*/ 9342188 w 9767847"/>
                <a:gd name="connsiteY56" fmla="*/ 3569366 h 6858000"/>
                <a:gd name="connsiteX57" fmla="*/ 9339056 w 9767847"/>
                <a:gd name="connsiteY57" fmla="*/ 3518354 h 6858000"/>
                <a:gd name="connsiteX58" fmla="*/ 9334334 w 9767847"/>
                <a:gd name="connsiteY58" fmla="*/ 3467155 h 6858000"/>
                <a:gd name="connsiteX59" fmla="*/ 9329363 w 9767847"/>
                <a:gd name="connsiteY59" fmla="*/ 3415908 h 6858000"/>
                <a:gd name="connsiteX60" fmla="*/ 9328319 w 9767847"/>
                <a:gd name="connsiteY60" fmla="*/ 3404755 h 6858000"/>
                <a:gd name="connsiteX61" fmla="*/ 9327177 w 9767847"/>
                <a:gd name="connsiteY61" fmla="*/ 3394214 h 6858000"/>
                <a:gd name="connsiteX62" fmla="*/ 9324293 w 9767847"/>
                <a:gd name="connsiteY62" fmla="*/ 3370872 h 6858000"/>
                <a:gd name="connsiteX63" fmla="*/ 9320763 w 9767847"/>
                <a:gd name="connsiteY63" fmla="*/ 3344427 h 6858000"/>
                <a:gd name="connsiteX64" fmla="*/ 9317184 w 9767847"/>
                <a:gd name="connsiteY64" fmla="*/ 3315343 h 6858000"/>
                <a:gd name="connsiteX65" fmla="*/ 9311021 w 9767847"/>
                <a:gd name="connsiteY65" fmla="*/ 3270309 h 6858000"/>
                <a:gd name="connsiteX66" fmla="*/ 9302719 w 9767847"/>
                <a:gd name="connsiteY66" fmla="*/ 3219815 h 6858000"/>
                <a:gd name="connsiteX67" fmla="*/ 9293970 w 9767847"/>
                <a:gd name="connsiteY67" fmla="*/ 3169887 h 6858000"/>
                <a:gd name="connsiteX68" fmla="*/ 9252065 w 9767847"/>
                <a:gd name="connsiteY68" fmla="*/ 2971205 h 6858000"/>
                <a:gd name="connsiteX69" fmla="*/ 9227211 w 9767847"/>
                <a:gd name="connsiteY69" fmla="*/ 2872571 h 6858000"/>
                <a:gd name="connsiteX70" fmla="*/ 9220699 w 9767847"/>
                <a:gd name="connsiteY70" fmla="*/ 2848524 h 6858000"/>
                <a:gd name="connsiteX71" fmla="*/ 9213740 w 9767847"/>
                <a:gd name="connsiteY71" fmla="*/ 2824289 h 6858000"/>
                <a:gd name="connsiteX72" fmla="*/ 9199374 w 9767847"/>
                <a:gd name="connsiteY72" fmla="*/ 2775536 h 6858000"/>
                <a:gd name="connsiteX73" fmla="*/ 9061829 w 9767847"/>
                <a:gd name="connsiteY73" fmla="*/ 2389515 h 6858000"/>
                <a:gd name="connsiteX74" fmla="*/ 8978865 w 9767847"/>
                <a:gd name="connsiteY74" fmla="*/ 2200953 h 6858000"/>
                <a:gd name="connsiteX75" fmla="*/ 8956694 w 9767847"/>
                <a:gd name="connsiteY75" fmla="*/ 2154317 h 6858000"/>
                <a:gd name="connsiteX76" fmla="*/ 8934176 w 9767847"/>
                <a:gd name="connsiteY76" fmla="*/ 2108012 h 6858000"/>
                <a:gd name="connsiteX77" fmla="*/ 8887151 w 9767847"/>
                <a:gd name="connsiteY77" fmla="*/ 2015448 h 6858000"/>
                <a:gd name="connsiteX78" fmla="*/ 8787533 w 9767847"/>
                <a:gd name="connsiteY78" fmla="*/ 1832625 h 6858000"/>
                <a:gd name="connsiteX79" fmla="*/ 8761485 w 9767847"/>
                <a:gd name="connsiteY79" fmla="*/ 1787496 h 6858000"/>
                <a:gd name="connsiteX80" fmla="*/ 8734791 w 9767847"/>
                <a:gd name="connsiteY80" fmla="*/ 1741991 h 6858000"/>
                <a:gd name="connsiteX81" fmla="*/ 8680808 w 9767847"/>
                <a:gd name="connsiteY81" fmla="*/ 1652910 h 6858000"/>
                <a:gd name="connsiteX82" fmla="*/ 8567024 w 9767847"/>
                <a:gd name="connsiteY82" fmla="*/ 1477004 h 6858000"/>
                <a:gd name="connsiteX83" fmla="*/ 8537446 w 9767847"/>
                <a:gd name="connsiteY83" fmla="*/ 1433428 h 6858000"/>
                <a:gd name="connsiteX84" fmla="*/ 8507423 w 9767847"/>
                <a:gd name="connsiteY84" fmla="*/ 1389994 h 6858000"/>
                <a:gd name="connsiteX85" fmla="*/ 8446529 w 9767847"/>
                <a:gd name="connsiteY85" fmla="*/ 1304393 h 6858000"/>
                <a:gd name="connsiteX86" fmla="*/ 8319224 w 9767847"/>
                <a:gd name="connsiteY86" fmla="*/ 1135124 h 6858000"/>
                <a:gd name="connsiteX87" fmla="*/ 8286366 w 9767847"/>
                <a:gd name="connsiteY87" fmla="*/ 1093148 h 6858000"/>
                <a:gd name="connsiteX88" fmla="*/ 8270161 w 9767847"/>
                <a:gd name="connsiteY88" fmla="*/ 1072538 h 6858000"/>
                <a:gd name="connsiteX89" fmla="*/ 8253856 w 9767847"/>
                <a:gd name="connsiteY89" fmla="*/ 1052254 h 6858000"/>
                <a:gd name="connsiteX90" fmla="*/ 8186352 w 9767847"/>
                <a:gd name="connsiteY90" fmla="*/ 970373 h 6858000"/>
                <a:gd name="connsiteX91" fmla="*/ 8046768 w 9767847"/>
                <a:gd name="connsiteY91" fmla="*/ 809527 h 6858000"/>
                <a:gd name="connsiteX92" fmla="*/ 8010927 w 9767847"/>
                <a:gd name="connsiteY92" fmla="*/ 769951 h 6858000"/>
                <a:gd name="connsiteX93" fmla="*/ 7974788 w 9767847"/>
                <a:gd name="connsiteY93" fmla="*/ 730751 h 6858000"/>
                <a:gd name="connsiteX94" fmla="*/ 7901070 w 9767847"/>
                <a:gd name="connsiteY94" fmla="*/ 652823 h 6858000"/>
                <a:gd name="connsiteX95" fmla="*/ 7750054 w 9767847"/>
                <a:gd name="connsiteY95" fmla="*/ 501106 h 6858000"/>
                <a:gd name="connsiteX96" fmla="*/ 7592277 w 9767847"/>
                <a:gd name="connsiteY96" fmla="*/ 355319 h 6858000"/>
                <a:gd name="connsiteX97" fmla="*/ 7257734 w 9767847"/>
                <a:gd name="connsiteY97" fmla="*/ 81062 h 6858000"/>
                <a:gd name="connsiteX98" fmla="*/ 1892109 w 9767847"/>
                <a:gd name="connsiteY98" fmla="*/ 0 h 6858000"/>
                <a:gd name="connsiteX99" fmla="*/ 2298402 w 9767847"/>
                <a:gd name="connsiteY99" fmla="*/ 0 h 6858000"/>
                <a:gd name="connsiteX100" fmla="*/ 2135542 w 9767847"/>
                <a:gd name="connsiteY100" fmla="*/ 121879 h 6858000"/>
                <a:gd name="connsiteX101" fmla="*/ 1969576 w 9767847"/>
                <a:gd name="connsiteY101" fmla="*/ 259084 h 6858000"/>
                <a:gd name="connsiteX102" fmla="*/ 1659938 w 9767847"/>
                <a:gd name="connsiteY102" fmla="*/ 553953 h 6858000"/>
                <a:gd name="connsiteX103" fmla="*/ 729383 w 9767847"/>
                <a:gd name="connsiteY103" fmla="*/ 1940578 h 6858000"/>
                <a:gd name="connsiteX104" fmla="*/ 578465 w 9767847"/>
                <a:gd name="connsiteY104" fmla="*/ 2324905 h 6858000"/>
                <a:gd name="connsiteX105" fmla="*/ 465080 w 9767847"/>
                <a:gd name="connsiteY105" fmla="*/ 2718973 h 6858000"/>
                <a:gd name="connsiteX106" fmla="*/ 423820 w 9767847"/>
                <a:gd name="connsiteY106" fmla="*/ 2919535 h 6858000"/>
                <a:gd name="connsiteX107" fmla="*/ 392355 w 9767847"/>
                <a:gd name="connsiteY107" fmla="*/ 3122169 h 6858000"/>
                <a:gd name="connsiteX108" fmla="*/ 358801 w 9767847"/>
                <a:gd name="connsiteY108" fmla="*/ 3531013 h 6858000"/>
                <a:gd name="connsiteX109" fmla="*/ 410350 w 9767847"/>
                <a:gd name="connsiteY109" fmla="*/ 4352324 h 6858000"/>
                <a:gd name="connsiteX110" fmla="*/ 449022 w 9767847"/>
                <a:gd name="connsiteY110" fmla="*/ 4555147 h 6858000"/>
                <a:gd name="connsiteX111" fmla="*/ 498882 w 9767847"/>
                <a:gd name="connsiteY111" fmla="*/ 4756463 h 6858000"/>
                <a:gd name="connsiteX112" fmla="*/ 559775 w 9767847"/>
                <a:gd name="connsiteY112" fmla="*/ 4955755 h 6858000"/>
                <a:gd name="connsiteX113" fmla="*/ 631406 w 9767847"/>
                <a:gd name="connsiteY113" fmla="*/ 5152084 h 6858000"/>
                <a:gd name="connsiteX114" fmla="*/ 1023461 w 9767847"/>
                <a:gd name="connsiteY114" fmla="*/ 5898055 h 6858000"/>
                <a:gd name="connsiteX115" fmla="*/ 1575880 w 9767847"/>
                <a:gd name="connsiteY115" fmla="*/ 6551744 h 6858000"/>
                <a:gd name="connsiteX116" fmla="*/ 1905228 w 9767847"/>
                <a:gd name="connsiteY116" fmla="*/ 6833566 h 6858000"/>
                <a:gd name="connsiteX117" fmla="*/ 1938629 w 9767847"/>
                <a:gd name="connsiteY117" fmla="*/ 6858000 h 6858000"/>
                <a:gd name="connsiteX118" fmla="*/ 1368607 w 9767847"/>
                <a:gd name="connsiteY118" fmla="*/ 6858000 h 6858000"/>
                <a:gd name="connsiteX119" fmla="*/ 1115251 w 9767847"/>
                <a:gd name="connsiteY119" fmla="*/ 6594103 h 6858000"/>
                <a:gd name="connsiteX120" fmla="*/ 0 w 9767847"/>
                <a:gd name="connsiteY120" fmla="*/ 3653129 h 6858000"/>
                <a:gd name="connsiteX121" fmla="*/ 1777294 w 9767847"/>
                <a:gd name="connsiteY121" fmla="*/ 85415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Lst>
              <a:rect l="l" t="t" r="r" b="b"/>
              <a:pathLst>
                <a:path w="9767847" h="6858000">
                  <a:moveTo>
                    <a:pt x="7145704" y="0"/>
                  </a:moveTo>
                  <a:lnTo>
                    <a:pt x="7875738" y="0"/>
                  </a:lnTo>
                  <a:lnTo>
                    <a:pt x="7990553" y="85415"/>
                  </a:lnTo>
                  <a:cubicBezTo>
                    <a:pt x="9075991" y="933432"/>
                    <a:pt x="9767847" y="2216793"/>
                    <a:pt x="9767847" y="3653129"/>
                  </a:cubicBezTo>
                  <a:cubicBezTo>
                    <a:pt x="9767847" y="4770280"/>
                    <a:pt x="9349317" y="5794890"/>
                    <a:pt x="8652597" y="6594103"/>
                  </a:cubicBezTo>
                  <a:lnTo>
                    <a:pt x="8399240" y="6858000"/>
                  </a:lnTo>
                  <a:lnTo>
                    <a:pt x="6766926" y="6858000"/>
                  </a:lnTo>
                  <a:lnTo>
                    <a:pt x="6804586" y="6821201"/>
                  </a:lnTo>
                  <a:lnTo>
                    <a:pt x="6881735" y="6745295"/>
                  </a:lnTo>
                  <a:cubicBezTo>
                    <a:pt x="6907435" y="6719979"/>
                    <a:pt x="6933134" y="6694896"/>
                    <a:pt x="6958883" y="6668920"/>
                  </a:cubicBezTo>
                  <a:lnTo>
                    <a:pt x="7267925" y="6359792"/>
                  </a:lnTo>
                  <a:lnTo>
                    <a:pt x="7424360" y="6204783"/>
                  </a:lnTo>
                  <a:cubicBezTo>
                    <a:pt x="7450754" y="6178900"/>
                    <a:pt x="7477598" y="6152829"/>
                    <a:pt x="7504938" y="6126806"/>
                  </a:cubicBezTo>
                  <a:lnTo>
                    <a:pt x="7546396" y="6087795"/>
                  </a:lnTo>
                  <a:cubicBezTo>
                    <a:pt x="7560264" y="6074901"/>
                    <a:pt x="7574780" y="6061630"/>
                    <a:pt x="7588002" y="6049630"/>
                  </a:cubicBezTo>
                  <a:lnTo>
                    <a:pt x="7631000" y="6010807"/>
                  </a:lnTo>
                  <a:lnTo>
                    <a:pt x="7675440" y="5972407"/>
                  </a:lnTo>
                  <a:cubicBezTo>
                    <a:pt x="7690404" y="5959796"/>
                    <a:pt x="7705564" y="5947419"/>
                    <a:pt x="7720626" y="5934949"/>
                  </a:cubicBezTo>
                  <a:cubicBezTo>
                    <a:pt x="7735738" y="5922525"/>
                    <a:pt x="7751197" y="5910619"/>
                    <a:pt x="7766458" y="5898432"/>
                  </a:cubicBezTo>
                  <a:cubicBezTo>
                    <a:pt x="7827949" y="5850290"/>
                    <a:pt x="7890979" y="5804597"/>
                    <a:pt x="7955254" y="5760926"/>
                  </a:cubicBezTo>
                  <a:cubicBezTo>
                    <a:pt x="8083800" y="5673632"/>
                    <a:pt x="8216872" y="5594434"/>
                    <a:pt x="8352678" y="5521728"/>
                  </a:cubicBezTo>
                  <a:lnTo>
                    <a:pt x="8451350" y="5469352"/>
                  </a:lnTo>
                  <a:lnTo>
                    <a:pt x="8548532" y="5417493"/>
                  </a:lnTo>
                  <a:cubicBezTo>
                    <a:pt x="8612110" y="5383188"/>
                    <a:pt x="8673251" y="5349306"/>
                    <a:pt x="8729473" y="5314059"/>
                  </a:cubicBezTo>
                  <a:cubicBezTo>
                    <a:pt x="8743591" y="5305213"/>
                    <a:pt x="8757161" y="5296459"/>
                    <a:pt x="8770781" y="5287330"/>
                  </a:cubicBezTo>
                  <a:cubicBezTo>
                    <a:pt x="8777591" y="5282765"/>
                    <a:pt x="8784451" y="5278201"/>
                    <a:pt x="8790964" y="5273590"/>
                  </a:cubicBezTo>
                  <a:cubicBezTo>
                    <a:pt x="8797574" y="5268977"/>
                    <a:pt x="8804235" y="5264412"/>
                    <a:pt x="8810499" y="5259801"/>
                  </a:cubicBezTo>
                  <a:cubicBezTo>
                    <a:pt x="8835999" y="5241401"/>
                    <a:pt x="8860407" y="5222389"/>
                    <a:pt x="8883571" y="5202577"/>
                  </a:cubicBezTo>
                  <a:cubicBezTo>
                    <a:pt x="8929900" y="5162954"/>
                    <a:pt x="8971258" y="5120413"/>
                    <a:pt x="9006651" y="5074625"/>
                  </a:cubicBezTo>
                  <a:cubicBezTo>
                    <a:pt x="9015351" y="5063426"/>
                    <a:pt x="9024398" y="5050955"/>
                    <a:pt x="9033494" y="5038203"/>
                  </a:cubicBezTo>
                  <a:lnTo>
                    <a:pt x="9040305" y="5028649"/>
                  </a:lnTo>
                  <a:lnTo>
                    <a:pt x="9046568" y="5019379"/>
                  </a:lnTo>
                  <a:cubicBezTo>
                    <a:pt x="9050743" y="5013261"/>
                    <a:pt x="9054819" y="5007050"/>
                    <a:pt x="9058846" y="5000743"/>
                  </a:cubicBezTo>
                  <a:cubicBezTo>
                    <a:pt x="9075002" y="4975615"/>
                    <a:pt x="9090212" y="4949403"/>
                    <a:pt x="9104529" y="4922203"/>
                  </a:cubicBezTo>
                  <a:cubicBezTo>
                    <a:pt x="9133211" y="4867850"/>
                    <a:pt x="9158313" y="4809545"/>
                    <a:pt x="9181081" y="4748792"/>
                  </a:cubicBezTo>
                  <a:cubicBezTo>
                    <a:pt x="9203748" y="4688276"/>
                    <a:pt x="9223383" y="4625876"/>
                    <a:pt x="9240731" y="4561970"/>
                  </a:cubicBezTo>
                  <a:cubicBezTo>
                    <a:pt x="9249481" y="4530064"/>
                    <a:pt x="9257682" y="4497782"/>
                    <a:pt x="9265388" y="4465171"/>
                  </a:cubicBezTo>
                  <a:cubicBezTo>
                    <a:pt x="9269215" y="4448842"/>
                    <a:pt x="9272943" y="4432465"/>
                    <a:pt x="9276571" y="4416041"/>
                  </a:cubicBezTo>
                  <a:lnTo>
                    <a:pt x="9281841" y="4391477"/>
                  </a:lnTo>
                  <a:lnTo>
                    <a:pt x="9286513" y="4368936"/>
                  </a:lnTo>
                  <a:lnTo>
                    <a:pt x="9296754" y="4316136"/>
                  </a:lnTo>
                  <a:lnTo>
                    <a:pt x="9301029" y="4293172"/>
                  </a:lnTo>
                  <a:lnTo>
                    <a:pt x="9302818" y="4282679"/>
                  </a:lnTo>
                  <a:lnTo>
                    <a:pt x="9304658" y="4270914"/>
                  </a:lnTo>
                  <a:lnTo>
                    <a:pt x="9312810" y="4220043"/>
                  </a:lnTo>
                  <a:lnTo>
                    <a:pt x="9316887" y="4194584"/>
                  </a:lnTo>
                  <a:lnTo>
                    <a:pt x="9318923" y="4181878"/>
                  </a:lnTo>
                  <a:cubicBezTo>
                    <a:pt x="9319570" y="4177644"/>
                    <a:pt x="9319969" y="4173267"/>
                    <a:pt x="9320515" y="4168984"/>
                  </a:cubicBezTo>
                  <a:lnTo>
                    <a:pt x="9332445" y="4069079"/>
                  </a:lnTo>
                  <a:cubicBezTo>
                    <a:pt x="9333836" y="4056468"/>
                    <a:pt x="9334880" y="4040986"/>
                    <a:pt x="9336173" y="4022774"/>
                  </a:cubicBezTo>
                  <a:lnTo>
                    <a:pt x="9340199" y="3969269"/>
                  </a:lnTo>
                  <a:cubicBezTo>
                    <a:pt x="9345071" y="3903904"/>
                    <a:pt x="9347358" y="3837081"/>
                    <a:pt x="9347557" y="3770070"/>
                  </a:cubicBezTo>
                  <a:cubicBezTo>
                    <a:pt x="9347656" y="3736518"/>
                    <a:pt x="9347209" y="3702871"/>
                    <a:pt x="9346364" y="3669036"/>
                  </a:cubicBezTo>
                  <a:lnTo>
                    <a:pt x="9344921" y="3619341"/>
                  </a:lnTo>
                  <a:lnTo>
                    <a:pt x="9344524" y="3607624"/>
                  </a:lnTo>
                  <a:lnTo>
                    <a:pt x="9343728" y="3594872"/>
                  </a:lnTo>
                  <a:lnTo>
                    <a:pt x="9342188" y="3569366"/>
                  </a:lnTo>
                  <a:lnTo>
                    <a:pt x="9339056" y="3518354"/>
                  </a:lnTo>
                  <a:cubicBezTo>
                    <a:pt x="9337914" y="3501319"/>
                    <a:pt x="9335874" y="3484236"/>
                    <a:pt x="9334334" y="3467155"/>
                  </a:cubicBezTo>
                  <a:lnTo>
                    <a:pt x="9329363" y="3415908"/>
                  </a:lnTo>
                  <a:lnTo>
                    <a:pt x="9328319" y="3404755"/>
                  </a:lnTo>
                  <a:lnTo>
                    <a:pt x="9327177" y="3394214"/>
                  </a:lnTo>
                  <a:lnTo>
                    <a:pt x="9324293" y="3370872"/>
                  </a:lnTo>
                  <a:lnTo>
                    <a:pt x="9320763" y="3344427"/>
                  </a:lnTo>
                  <a:lnTo>
                    <a:pt x="9317184" y="3315343"/>
                  </a:lnTo>
                  <a:cubicBezTo>
                    <a:pt x="9315594" y="3300991"/>
                    <a:pt x="9313506" y="3286404"/>
                    <a:pt x="9311021" y="3270309"/>
                  </a:cubicBezTo>
                  <a:lnTo>
                    <a:pt x="9302719" y="3219815"/>
                  </a:lnTo>
                  <a:cubicBezTo>
                    <a:pt x="9299936" y="3203157"/>
                    <a:pt x="9297003" y="3186498"/>
                    <a:pt x="9293970" y="3169887"/>
                  </a:cubicBezTo>
                  <a:cubicBezTo>
                    <a:pt x="9281891" y="3103393"/>
                    <a:pt x="9267674" y="3037182"/>
                    <a:pt x="9252065" y="2971205"/>
                  </a:cubicBezTo>
                  <a:cubicBezTo>
                    <a:pt x="9244261" y="2938265"/>
                    <a:pt x="9235959" y="2905371"/>
                    <a:pt x="9227211" y="2872571"/>
                  </a:cubicBezTo>
                  <a:lnTo>
                    <a:pt x="9220699" y="2848524"/>
                  </a:lnTo>
                  <a:lnTo>
                    <a:pt x="9213740" y="2824289"/>
                  </a:lnTo>
                  <a:cubicBezTo>
                    <a:pt x="9209216" y="2808147"/>
                    <a:pt x="9204345" y="2791866"/>
                    <a:pt x="9199374" y="2775536"/>
                  </a:cubicBezTo>
                  <a:cubicBezTo>
                    <a:pt x="9159855" y="2645184"/>
                    <a:pt x="9114272" y="2516197"/>
                    <a:pt x="9061829" y="2389515"/>
                  </a:cubicBezTo>
                  <a:cubicBezTo>
                    <a:pt x="9035582" y="2326175"/>
                    <a:pt x="9008043" y="2263258"/>
                    <a:pt x="8978865" y="2200953"/>
                  </a:cubicBezTo>
                  <a:lnTo>
                    <a:pt x="8956694" y="2154317"/>
                  </a:lnTo>
                  <a:lnTo>
                    <a:pt x="8934176" y="2108012"/>
                  </a:lnTo>
                  <a:cubicBezTo>
                    <a:pt x="8918915" y="2077189"/>
                    <a:pt x="8903157" y="2046130"/>
                    <a:pt x="8887151" y="2015448"/>
                  </a:cubicBezTo>
                  <a:cubicBezTo>
                    <a:pt x="8854988" y="1953989"/>
                    <a:pt x="8822082" y="1892908"/>
                    <a:pt x="8787533" y="1832625"/>
                  </a:cubicBezTo>
                  <a:lnTo>
                    <a:pt x="8761485" y="1787496"/>
                  </a:lnTo>
                  <a:lnTo>
                    <a:pt x="8734791" y="1741991"/>
                  </a:lnTo>
                  <a:cubicBezTo>
                    <a:pt x="8717047" y="1711921"/>
                    <a:pt x="8699200" y="1682461"/>
                    <a:pt x="8680808" y="1652910"/>
                  </a:cubicBezTo>
                  <a:cubicBezTo>
                    <a:pt x="8644322" y="1593756"/>
                    <a:pt x="8606194" y="1535216"/>
                    <a:pt x="8567024" y="1477004"/>
                  </a:cubicBezTo>
                  <a:lnTo>
                    <a:pt x="8537446" y="1433428"/>
                  </a:lnTo>
                  <a:lnTo>
                    <a:pt x="8507423" y="1389994"/>
                  </a:lnTo>
                  <a:cubicBezTo>
                    <a:pt x="8487390" y="1361382"/>
                    <a:pt x="8467158" y="1332817"/>
                    <a:pt x="8446529" y="1304393"/>
                  </a:cubicBezTo>
                  <a:cubicBezTo>
                    <a:pt x="8405271" y="1247595"/>
                    <a:pt x="8362718" y="1191218"/>
                    <a:pt x="8319224" y="1135124"/>
                  </a:cubicBezTo>
                  <a:lnTo>
                    <a:pt x="8286366" y="1093148"/>
                  </a:lnTo>
                  <a:lnTo>
                    <a:pt x="8270161" y="1072538"/>
                  </a:lnTo>
                  <a:lnTo>
                    <a:pt x="8253856" y="1052254"/>
                  </a:lnTo>
                  <a:cubicBezTo>
                    <a:pt x="8231636" y="1024773"/>
                    <a:pt x="8209117" y="997479"/>
                    <a:pt x="8186352" y="970373"/>
                  </a:cubicBezTo>
                  <a:cubicBezTo>
                    <a:pt x="8140917" y="916020"/>
                    <a:pt x="8094240" y="862515"/>
                    <a:pt x="8046768" y="809527"/>
                  </a:cubicBezTo>
                  <a:lnTo>
                    <a:pt x="8010927" y="769951"/>
                  </a:lnTo>
                  <a:lnTo>
                    <a:pt x="7974788" y="730751"/>
                  </a:lnTo>
                  <a:cubicBezTo>
                    <a:pt x="7950382" y="704587"/>
                    <a:pt x="7925824" y="678563"/>
                    <a:pt x="7901070" y="652823"/>
                  </a:cubicBezTo>
                  <a:cubicBezTo>
                    <a:pt x="7851510" y="601387"/>
                    <a:pt x="7801404" y="550612"/>
                    <a:pt x="7750054" y="501106"/>
                  </a:cubicBezTo>
                  <a:cubicBezTo>
                    <a:pt x="7698902" y="451742"/>
                    <a:pt x="7645913" y="403036"/>
                    <a:pt x="7592277" y="355319"/>
                  </a:cubicBezTo>
                  <a:cubicBezTo>
                    <a:pt x="7484856" y="259884"/>
                    <a:pt x="7373308" y="168402"/>
                    <a:pt x="7257734" y="81062"/>
                  </a:cubicBezTo>
                  <a:close/>
                  <a:moveTo>
                    <a:pt x="1892109" y="0"/>
                  </a:moveTo>
                  <a:lnTo>
                    <a:pt x="2298402" y="0"/>
                  </a:lnTo>
                  <a:lnTo>
                    <a:pt x="2135542" y="121879"/>
                  </a:lnTo>
                  <a:cubicBezTo>
                    <a:pt x="2078998" y="166378"/>
                    <a:pt x="2023659" y="212143"/>
                    <a:pt x="1969576" y="259084"/>
                  </a:cubicBezTo>
                  <a:cubicBezTo>
                    <a:pt x="1861309" y="352918"/>
                    <a:pt x="1758064" y="451412"/>
                    <a:pt x="1659938" y="553953"/>
                  </a:cubicBezTo>
                  <a:cubicBezTo>
                    <a:pt x="1266987" y="964444"/>
                    <a:pt x="953820" y="1435593"/>
                    <a:pt x="729383" y="1940578"/>
                  </a:cubicBezTo>
                  <a:cubicBezTo>
                    <a:pt x="673260" y="2066459"/>
                    <a:pt x="622855" y="2195070"/>
                    <a:pt x="578465" y="2324905"/>
                  </a:cubicBezTo>
                  <a:cubicBezTo>
                    <a:pt x="534125" y="2454785"/>
                    <a:pt x="496147" y="2586314"/>
                    <a:pt x="465080" y="2718973"/>
                  </a:cubicBezTo>
                  <a:cubicBezTo>
                    <a:pt x="449769" y="2785089"/>
                    <a:pt x="435850" y="2852289"/>
                    <a:pt x="423820" y="2919535"/>
                  </a:cubicBezTo>
                  <a:cubicBezTo>
                    <a:pt x="411840" y="2986829"/>
                    <a:pt x="401054" y="3054358"/>
                    <a:pt x="392355" y="3122169"/>
                  </a:cubicBezTo>
                  <a:cubicBezTo>
                    <a:pt x="374509" y="3257744"/>
                    <a:pt x="363424" y="3393978"/>
                    <a:pt x="358801" y="3531013"/>
                  </a:cubicBezTo>
                  <a:cubicBezTo>
                    <a:pt x="349009" y="3804941"/>
                    <a:pt x="366357" y="4079668"/>
                    <a:pt x="410350" y="4352324"/>
                  </a:cubicBezTo>
                  <a:cubicBezTo>
                    <a:pt x="421286" y="4420230"/>
                    <a:pt x="434209" y="4487758"/>
                    <a:pt x="449022" y="4555147"/>
                  </a:cubicBezTo>
                  <a:cubicBezTo>
                    <a:pt x="463737" y="4622534"/>
                    <a:pt x="480389" y="4689686"/>
                    <a:pt x="498882" y="4756463"/>
                  </a:cubicBezTo>
                  <a:cubicBezTo>
                    <a:pt x="517373" y="4823239"/>
                    <a:pt x="537704" y="4889733"/>
                    <a:pt x="559775" y="4955755"/>
                  </a:cubicBezTo>
                  <a:cubicBezTo>
                    <a:pt x="581946" y="5021873"/>
                    <a:pt x="605358" y="5087473"/>
                    <a:pt x="631406" y="5152084"/>
                  </a:cubicBezTo>
                  <a:cubicBezTo>
                    <a:pt x="734055" y="5411706"/>
                    <a:pt x="865188" y="5662668"/>
                    <a:pt x="1023461" y="5898055"/>
                  </a:cubicBezTo>
                  <a:cubicBezTo>
                    <a:pt x="1181487" y="6133676"/>
                    <a:pt x="1367051" y="6353345"/>
                    <a:pt x="1575880" y="6551744"/>
                  </a:cubicBezTo>
                  <a:cubicBezTo>
                    <a:pt x="1680269" y="6651014"/>
                    <a:pt x="1790338" y="6745037"/>
                    <a:pt x="1905228" y="6833566"/>
                  </a:cubicBezTo>
                  <a:lnTo>
                    <a:pt x="1938629" y="6858000"/>
                  </a:lnTo>
                  <a:lnTo>
                    <a:pt x="1368607" y="6858000"/>
                  </a:lnTo>
                  <a:lnTo>
                    <a:pt x="1115251" y="6594103"/>
                  </a:lnTo>
                  <a:cubicBezTo>
                    <a:pt x="418530" y="5794890"/>
                    <a:pt x="0" y="4770280"/>
                    <a:pt x="0" y="3653129"/>
                  </a:cubicBezTo>
                  <a:cubicBezTo>
                    <a:pt x="0" y="2216793"/>
                    <a:pt x="691856" y="933432"/>
                    <a:pt x="1777294" y="85415"/>
                  </a:cubicBezTo>
                  <a:close/>
                </a:path>
              </a:pathLst>
            </a:custGeom>
            <a:solidFill>
              <a:schemeClr val="bg1">
                <a:alpha val="51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solidFill>
                  <a:schemeClr val="lt1"/>
                </a:solidFill>
              </a:endParaRPr>
            </a:p>
          </p:txBody>
        </p:sp>
        <p:sp>
          <p:nvSpPr>
            <p:cNvPr id="35" name="Freeform: Shape 34">
              <a:extLst>
                <a:ext uri="{FF2B5EF4-FFF2-40B4-BE49-F238E27FC236}">
                  <a16:creationId xmlns:a16="http://schemas.microsoft.com/office/drawing/2014/main" id="{5F0C96D1-A8B7-4C8E-9997-D823FD1591F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18434" y="3985"/>
              <a:ext cx="9747620" cy="6858000"/>
            </a:xfrm>
            <a:custGeom>
              <a:avLst/>
              <a:gdLst>
                <a:gd name="connsiteX0" fmla="*/ 7235453 w 9747620"/>
                <a:gd name="connsiteY0" fmla="*/ 0 h 6858000"/>
                <a:gd name="connsiteX1" fmla="*/ 7548130 w 9747620"/>
                <a:gd name="connsiteY1" fmla="*/ 0 h 6858000"/>
                <a:gd name="connsiteX2" fmla="*/ 7710334 w 9747620"/>
                <a:gd name="connsiteY2" fmla="*/ 111973 h 6858000"/>
                <a:gd name="connsiteX3" fmla="*/ 7889188 w 9747620"/>
                <a:gd name="connsiteY3" fmla="*/ 251542 h 6858000"/>
                <a:gd name="connsiteX4" fmla="*/ 8061828 w 9747620"/>
                <a:gd name="connsiteY4" fmla="*/ 398586 h 6858000"/>
                <a:gd name="connsiteX5" fmla="*/ 8145637 w 9747620"/>
                <a:gd name="connsiteY5" fmla="*/ 474218 h 6858000"/>
                <a:gd name="connsiteX6" fmla="*/ 8187242 w 9747620"/>
                <a:gd name="connsiteY6" fmla="*/ 512753 h 6858000"/>
                <a:gd name="connsiteX7" fmla="*/ 8228402 w 9747620"/>
                <a:gd name="connsiteY7" fmla="*/ 551575 h 6858000"/>
                <a:gd name="connsiteX8" fmla="*/ 8389211 w 9747620"/>
                <a:gd name="connsiteY8" fmla="*/ 710937 h 6858000"/>
                <a:gd name="connsiteX9" fmla="*/ 8467206 w 9747620"/>
                <a:gd name="connsiteY9" fmla="*/ 793088 h 6858000"/>
                <a:gd name="connsiteX10" fmla="*/ 8486791 w 9747620"/>
                <a:gd name="connsiteY10" fmla="*/ 814223 h 6858000"/>
                <a:gd name="connsiteX11" fmla="*/ 8505979 w 9747620"/>
                <a:gd name="connsiteY11" fmla="*/ 835409 h 6858000"/>
                <a:gd name="connsiteX12" fmla="*/ 8543509 w 9747620"/>
                <a:gd name="connsiteY12" fmla="*/ 877346 h 6858000"/>
                <a:gd name="connsiteX13" fmla="*/ 8690549 w 9747620"/>
                <a:gd name="connsiteY13" fmla="*/ 1048978 h 6858000"/>
                <a:gd name="connsiteX14" fmla="*/ 8761732 w 9747620"/>
                <a:gd name="connsiteY14" fmla="*/ 1137502 h 6858000"/>
                <a:gd name="connsiteX15" fmla="*/ 8796379 w 9747620"/>
                <a:gd name="connsiteY15" fmla="*/ 1182077 h 6858000"/>
                <a:gd name="connsiteX16" fmla="*/ 8830678 w 9747620"/>
                <a:gd name="connsiteY16" fmla="*/ 1226986 h 6858000"/>
                <a:gd name="connsiteX17" fmla="*/ 8963353 w 9747620"/>
                <a:gd name="connsiteY17" fmla="*/ 1410936 h 6858000"/>
                <a:gd name="connsiteX18" fmla="*/ 9026483 w 9747620"/>
                <a:gd name="connsiteY18" fmla="*/ 1505499 h 6858000"/>
                <a:gd name="connsiteX19" fmla="*/ 9057004 w 9747620"/>
                <a:gd name="connsiteY19" fmla="*/ 1552613 h 6858000"/>
                <a:gd name="connsiteX20" fmla="*/ 9087278 w 9747620"/>
                <a:gd name="connsiteY20" fmla="*/ 1600542 h 6858000"/>
                <a:gd name="connsiteX21" fmla="*/ 9202851 w 9747620"/>
                <a:gd name="connsiteY21" fmla="*/ 1795515 h 6858000"/>
                <a:gd name="connsiteX22" fmla="*/ 9257332 w 9747620"/>
                <a:gd name="connsiteY22" fmla="*/ 1894920 h 6858000"/>
                <a:gd name="connsiteX23" fmla="*/ 9283778 w 9747620"/>
                <a:gd name="connsiteY23" fmla="*/ 1945436 h 6858000"/>
                <a:gd name="connsiteX24" fmla="*/ 9309428 w 9747620"/>
                <a:gd name="connsiteY24" fmla="*/ 1996193 h 6858000"/>
                <a:gd name="connsiteX25" fmla="*/ 9405714 w 9747620"/>
                <a:gd name="connsiteY25" fmla="*/ 2202191 h 6858000"/>
                <a:gd name="connsiteX26" fmla="*/ 9566524 w 9747620"/>
                <a:gd name="connsiteY26" fmla="*/ 2627653 h 6858000"/>
                <a:gd name="connsiteX27" fmla="*/ 9583573 w 9747620"/>
                <a:gd name="connsiteY27" fmla="*/ 2682195 h 6858000"/>
                <a:gd name="connsiteX28" fmla="*/ 9591974 w 9747620"/>
                <a:gd name="connsiteY28" fmla="*/ 2709707 h 6858000"/>
                <a:gd name="connsiteX29" fmla="*/ 9600027 w 9747620"/>
                <a:gd name="connsiteY29" fmla="*/ 2737650 h 6858000"/>
                <a:gd name="connsiteX30" fmla="*/ 9629803 w 9747620"/>
                <a:gd name="connsiteY30" fmla="*/ 2847694 h 6858000"/>
                <a:gd name="connsiteX31" fmla="*/ 9679909 w 9747620"/>
                <a:gd name="connsiteY31" fmla="*/ 3070131 h 6858000"/>
                <a:gd name="connsiteX32" fmla="*/ 9690498 w 9747620"/>
                <a:gd name="connsiteY32" fmla="*/ 3126159 h 6858000"/>
                <a:gd name="connsiteX33" fmla="*/ 9700390 w 9747620"/>
                <a:gd name="connsiteY33" fmla="*/ 3181805 h 6858000"/>
                <a:gd name="connsiteX34" fmla="*/ 9709685 w 9747620"/>
                <a:gd name="connsiteY34" fmla="*/ 3243392 h 6858000"/>
                <a:gd name="connsiteX35" fmla="*/ 9713016 w 9747620"/>
                <a:gd name="connsiteY35" fmla="*/ 3267597 h 6858000"/>
                <a:gd name="connsiteX36" fmla="*/ 9716844 w 9747620"/>
                <a:gd name="connsiteY36" fmla="*/ 3294437 h 6858000"/>
                <a:gd name="connsiteX37" fmla="*/ 9720820 w 9747620"/>
                <a:gd name="connsiteY37" fmla="*/ 3324488 h 6858000"/>
                <a:gd name="connsiteX38" fmla="*/ 9722709 w 9747620"/>
                <a:gd name="connsiteY38" fmla="*/ 3340737 h 6858000"/>
                <a:gd name="connsiteX39" fmla="*/ 9724301 w 9747620"/>
                <a:gd name="connsiteY39" fmla="*/ 3356361 h 6858000"/>
                <a:gd name="connsiteX40" fmla="*/ 9730166 w 9747620"/>
                <a:gd name="connsiteY40" fmla="*/ 3412197 h 6858000"/>
                <a:gd name="connsiteX41" fmla="*/ 9735783 w 9747620"/>
                <a:gd name="connsiteY41" fmla="*/ 3468083 h 6858000"/>
                <a:gd name="connsiteX42" fmla="*/ 9739760 w 9747620"/>
                <a:gd name="connsiteY42" fmla="*/ 3524399 h 6858000"/>
                <a:gd name="connsiteX43" fmla="*/ 9741748 w 9747620"/>
                <a:gd name="connsiteY43" fmla="*/ 3552580 h 6858000"/>
                <a:gd name="connsiteX44" fmla="*/ 9742742 w 9747620"/>
                <a:gd name="connsiteY44" fmla="*/ 3566672 h 6858000"/>
                <a:gd name="connsiteX45" fmla="*/ 9743488 w 9747620"/>
                <a:gd name="connsiteY45" fmla="*/ 3581865 h 6858000"/>
                <a:gd name="connsiteX46" fmla="*/ 9744731 w 9747620"/>
                <a:gd name="connsiteY46" fmla="*/ 3611341 h 6858000"/>
                <a:gd name="connsiteX47" fmla="*/ 9745725 w 9747620"/>
                <a:gd name="connsiteY47" fmla="*/ 3639715 h 6858000"/>
                <a:gd name="connsiteX48" fmla="*/ 9747613 w 9747620"/>
                <a:gd name="connsiteY48" fmla="*/ 3753786 h 6858000"/>
                <a:gd name="connsiteX49" fmla="*/ 9740405 w 9747620"/>
                <a:gd name="connsiteY49" fmla="*/ 3984609 h 6858000"/>
                <a:gd name="connsiteX50" fmla="*/ 9736329 w 9747620"/>
                <a:gd name="connsiteY50" fmla="*/ 4038434 h 6858000"/>
                <a:gd name="connsiteX51" fmla="*/ 9731408 w 9747620"/>
                <a:gd name="connsiteY51" fmla="*/ 4099446 h 6858000"/>
                <a:gd name="connsiteX52" fmla="*/ 9717987 w 9747620"/>
                <a:gd name="connsiteY52" fmla="*/ 4213325 h 6858000"/>
                <a:gd name="connsiteX53" fmla="*/ 9716297 w 9747620"/>
                <a:gd name="connsiteY53" fmla="*/ 4227129 h 6858000"/>
                <a:gd name="connsiteX54" fmla="*/ 9714110 w 9747620"/>
                <a:gd name="connsiteY54" fmla="*/ 4240981 h 6858000"/>
                <a:gd name="connsiteX55" fmla="*/ 9709785 w 9747620"/>
                <a:gd name="connsiteY55" fmla="*/ 4268731 h 6858000"/>
                <a:gd name="connsiteX56" fmla="*/ 9701086 w 9747620"/>
                <a:gd name="connsiteY56" fmla="*/ 4324185 h 6858000"/>
                <a:gd name="connsiteX57" fmla="*/ 9698699 w 9747620"/>
                <a:gd name="connsiteY57" fmla="*/ 4338994 h 6858000"/>
                <a:gd name="connsiteX58" fmla="*/ 9695966 w 9747620"/>
                <a:gd name="connsiteY58" fmla="*/ 4355050 h 6858000"/>
                <a:gd name="connsiteX59" fmla="*/ 9690299 w 9747620"/>
                <a:gd name="connsiteY59" fmla="*/ 4385054 h 6858000"/>
                <a:gd name="connsiteX60" fmla="*/ 9679909 w 9747620"/>
                <a:gd name="connsiteY60" fmla="*/ 4437919 h 6858000"/>
                <a:gd name="connsiteX61" fmla="*/ 9673647 w 9747620"/>
                <a:gd name="connsiteY61" fmla="*/ 4468162 h 6858000"/>
                <a:gd name="connsiteX62" fmla="*/ 9667532 w 9747620"/>
                <a:gd name="connsiteY62" fmla="*/ 4496296 h 6858000"/>
                <a:gd name="connsiteX63" fmla="*/ 9654658 w 9747620"/>
                <a:gd name="connsiteY63" fmla="*/ 4552277 h 6858000"/>
                <a:gd name="connsiteX64" fmla="*/ 9625876 w 9747620"/>
                <a:gd name="connsiteY64" fmla="*/ 4664478 h 6858000"/>
                <a:gd name="connsiteX65" fmla="*/ 9552803 w 9747620"/>
                <a:gd name="connsiteY65" fmla="*/ 4888737 h 6858000"/>
                <a:gd name="connsiteX66" fmla="*/ 9452639 w 9747620"/>
                <a:gd name="connsiteY66" fmla="*/ 5110934 h 6858000"/>
                <a:gd name="connsiteX67" fmla="*/ 9388017 w 9747620"/>
                <a:gd name="connsiteY67" fmla="*/ 5220020 h 6858000"/>
                <a:gd name="connsiteX68" fmla="*/ 9370073 w 9747620"/>
                <a:gd name="connsiteY68" fmla="*/ 5246811 h 6858000"/>
                <a:gd name="connsiteX69" fmla="*/ 9360926 w 9747620"/>
                <a:gd name="connsiteY69" fmla="*/ 5260040 h 6858000"/>
                <a:gd name="connsiteX70" fmla="*/ 9351829 w 9747620"/>
                <a:gd name="connsiteY70" fmla="*/ 5272646 h 6858000"/>
                <a:gd name="connsiteX71" fmla="*/ 9313305 w 9747620"/>
                <a:gd name="connsiteY71" fmla="*/ 5323881 h 6858000"/>
                <a:gd name="connsiteX72" fmla="*/ 9130375 w 9747620"/>
                <a:gd name="connsiteY72" fmla="*/ 5510802 h 6858000"/>
                <a:gd name="connsiteX73" fmla="*/ 9028422 w 9747620"/>
                <a:gd name="connsiteY73" fmla="*/ 5588878 h 6858000"/>
                <a:gd name="connsiteX74" fmla="*/ 9002424 w 9747620"/>
                <a:gd name="connsiteY74" fmla="*/ 5606707 h 6858000"/>
                <a:gd name="connsiteX75" fmla="*/ 8976525 w 9747620"/>
                <a:gd name="connsiteY75" fmla="*/ 5623866 h 6858000"/>
                <a:gd name="connsiteX76" fmla="*/ 8924181 w 9747620"/>
                <a:gd name="connsiteY76" fmla="*/ 5656793 h 6858000"/>
                <a:gd name="connsiteX77" fmla="*/ 8717291 w 9747620"/>
                <a:gd name="connsiteY77" fmla="*/ 5771582 h 6858000"/>
                <a:gd name="connsiteX78" fmla="*/ 8617129 w 9747620"/>
                <a:gd name="connsiteY78" fmla="*/ 5823105 h 6858000"/>
                <a:gd name="connsiteX79" fmla="*/ 8518207 w 9747620"/>
                <a:gd name="connsiteY79" fmla="*/ 5873671 h 6858000"/>
                <a:gd name="connsiteX80" fmla="*/ 8150558 w 9747620"/>
                <a:gd name="connsiteY80" fmla="*/ 6086761 h 6858000"/>
                <a:gd name="connsiteX81" fmla="*/ 7979410 w 9747620"/>
                <a:gd name="connsiteY81" fmla="*/ 6207158 h 6858000"/>
                <a:gd name="connsiteX82" fmla="*/ 7938300 w 9747620"/>
                <a:gd name="connsiteY82" fmla="*/ 6238887 h 6858000"/>
                <a:gd name="connsiteX83" fmla="*/ 7897936 w 9747620"/>
                <a:gd name="connsiteY83" fmla="*/ 6271286 h 6858000"/>
                <a:gd name="connsiteX84" fmla="*/ 7858367 w 9747620"/>
                <a:gd name="connsiteY84" fmla="*/ 6304357 h 6858000"/>
                <a:gd name="connsiteX85" fmla="*/ 7819048 w 9747620"/>
                <a:gd name="connsiteY85" fmla="*/ 6338770 h 6858000"/>
                <a:gd name="connsiteX86" fmla="*/ 7778882 w 9747620"/>
                <a:gd name="connsiteY86" fmla="*/ 6374477 h 6858000"/>
                <a:gd name="connsiteX87" fmla="*/ 7739563 w 9747620"/>
                <a:gd name="connsiteY87" fmla="*/ 6410328 h 6858000"/>
                <a:gd name="connsiteX88" fmla="*/ 7660824 w 9747620"/>
                <a:gd name="connsiteY88" fmla="*/ 6484138 h 6858000"/>
                <a:gd name="connsiteX89" fmla="*/ 7502302 w 9747620"/>
                <a:gd name="connsiteY89" fmla="*/ 6636360 h 6858000"/>
                <a:gd name="connsiteX90" fmla="*/ 7273394 w 9747620"/>
                <a:gd name="connsiteY90" fmla="*/ 6858000 h 6858000"/>
                <a:gd name="connsiteX91" fmla="*/ 6780690 w 9747620"/>
                <a:gd name="connsiteY91" fmla="*/ 6858000 h 6858000"/>
                <a:gd name="connsiteX92" fmla="*/ 6854939 w 9747620"/>
                <a:gd name="connsiteY92" fmla="*/ 6783597 h 6858000"/>
                <a:gd name="connsiteX93" fmla="*/ 6932087 w 9747620"/>
                <a:gd name="connsiteY93" fmla="*/ 6705809 h 6858000"/>
                <a:gd name="connsiteX94" fmla="*/ 7241130 w 9747620"/>
                <a:gd name="connsiteY94" fmla="*/ 6390965 h 6858000"/>
                <a:gd name="connsiteX95" fmla="*/ 7397564 w 9747620"/>
                <a:gd name="connsiteY95" fmla="*/ 6233087 h 6858000"/>
                <a:gd name="connsiteX96" fmla="*/ 7478142 w 9747620"/>
                <a:gd name="connsiteY96" fmla="*/ 6153670 h 6858000"/>
                <a:gd name="connsiteX97" fmla="*/ 7519600 w 9747620"/>
                <a:gd name="connsiteY97" fmla="*/ 6113937 h 6858000"/>
                <a:gd name="connsiteX98" fmla="*/ 7561207 w 9747620"/>
                <a:gd name="connsiteY98" fmla="*/ 6075067 h 6858000"/>
                <a:gd name="connsiteX99" fmla="*/ 7604204 w 9747620"/>
                <a:gd name="connsiteY99" fmla="*/ 6035526 h 6858000"/>
                <a:gd name="connsiteX100" fmla="*/ 7648644 w 9747620"/>
                <a:gd name="connsiteY100" fmla="*/ 5996416 h 6858000"/>
                <a:gd name="connsiteX101" fmla="*/ 7693830 w 9747620"/>
                <a:gd name="connsiteY101" fmla="*/ 5958264 h 6858000"/>
                <a:gd name="connsiteX102" fmla="*/ 7739662 w 9747620"/>
                <a:gd name="connsiteY102" fmla="*/ 5921073 h 6858000"/>
                <a:gd name="connsiteX103" fmla="*/ 7928458 w 9747620"/>
                <a:gd name="connsiteY103" fmla="*/ 5781025 h 6858000"/>
                <a:gd name="connsiteX104" fmla="*/ 8325882 w 9747620"/>
                <a:gd name="connsiteY104" fmla="*/ 5537450 h 6858000"/>
                <a:gd name="connsiteX105" fmla="*/ 8424555 w 9747620"/>
                <a:gd name="connsiteY105" fmla="*/ 5484106 h 6858000"/>
                <a:gd name="connsiteX106" fmla="*/ 8521737 w 9747620"/>
                <a:gd name="connsiteY106" fmla="*/ 5431289 h 6858000"/>
                <a:gd name="connsiteX107" fmla="*/ 8702677 w 9747620"/>
                <a:gd name="connsiteY107" fmla="*/ 5325942 h 6858000"/>
                <a:gd name="connsiteX108" fmla="*/ 8743986 w 9747620"/>
                <a:gd name="connsiteY108" fmla="*/ 5298717 h 6858000"/>
                <a:gd name="connsiteX109" fmla="*/ 8764167 w 9747620"/>
                <a:gd name="connsiteY109" fmla="*/ 5284723 h 6858000"/>
                <a:gd name="connsiteX110" fmla="*/ 8783704 w 9747620"/>
                <a:gd name="connsiteY110" fmla="*/ 5270679 h 6858000"/>
                <a:gd name="connsiteX111" fmla="*/ 8856776 w 9747620"/>
                <a:gd name="connsiteY111" fmla="*/ 5212399 h 6858000"/>
                <a:gd name="connsiteX112" fmla="*/ 8979856 w 9747620"/>
                <a:gd name="connsiteY112" fmla="*/ 5082081 h 6858000"/>
                <a:gd name="connsiteX113" fmla="*/ 9006699 w 9747620"/>
                <a:gd name="connsiteY113" fmla="*/ 5044984 h 6858000"/>
                <a:gd name="connsiteX114" fmla="*/ 9013509 w 9747620"/>
                <a:gd name="connsiteY114" fmla="*/ 5035254 h 6858000"/>
                <a:gd name="connsiteX115" fmla="*/ 9019773 w 9747620"/>
                <a:gd name="connsiteY115" fmla="*/ 5025812 h 6858000"/>
                <a:gd name="connsiteX116" fmla="*/ 9032050 w 9747620"/>
                <a:gd name="connsiteY116" fmla="*/ 5006833 h 6858000"/>
                <a:gd name="connsiteX117" fmla="*/ 9077733 w 9747620"/>
                <a:gd name="connsiteY117" fmla="*/ 4926839 h 6858000"/>
                <a:gd name="connsiteX118" fmla="*/ 9154285 w 9747620"/>
                <a:gd name="connsiteY118" fmla="*/ 4750223 h 6858000"/>
                <a:gd name="connsiteX119" fmla="*/ 9213936 w 9747620"/>
                <a:gd name="connsiteY119" fmla="*/ 4559945 h 6858000"/>
                <a:gd name="connsiteX120" fmla="*/ 9238592 w 9747620"/>
                <a:gd name="connsiteY120" fmla="*/ 4461357 h 6858000"/>
                <a:gd name="connsiteX121" fmla="*/ 9249776 w 9747620"/>
                <a:gd name="connsiteY121" fmla="*/ 4411319 h 6858000"/>
                <a:gd name="connsiteX122" fmla="*/ 9255046 w 9747620"/>
                <a:gd name="connsiteY122" fmla="*/ 4386299 h 6858000"/>
                <a:gd name="connsiteX123" fmla="*/ 9259718 w 9747620"/>
                <a:gd name="connsiteY123" fmla="*/ 4363342 h 6858000"/>
                <a:gd name="connsiteX124" fmla="*/ 9269959 w 9747620"/>
                <a:gd name="connsiteY124" fmla="*/ 4309566 h 6858000"/>
                <a:gd name="connsiteX125" fmla="*/ 9274233 w 9747620"/>
                <a:gd name="connsiteY125" fmla="*/ 4286176 h 6858000"/>
                <a:gd name="connsiteX126" fmla="*/ 9276022 w 9747620"/>
                <a:gd name="connsiteY126" fmla="*/ 4275489 h 6858000"/>
                <a:gd name="connsiteX127" fmla="*/ 9277861 w 9747620"/>
                <a:gd name="connsiteY127" fmla="*/ 4263506 h 6858000"/>
                <a:gd name="connsiteX128" fmla="*/ 9286014 w 9747620"/>
                <a:gd name="connsiteY128" fmla="*/ 4211696 h 6858000"/>
                <a:gd name="connsiteX129" fmla="*/ 9290092 w 9747620"/>
                <a:gd name="connsiteY129" fmla="*/ 4185767 h 6858000"/>
                <a:gd name="connsiteX130" fmla="*/ 9292128 w 9747620"/>
                <a:gd name="connsiteY130" fmla="*/ 4172826 h 6858000"/>
                <a:gd name="connsiteX131" fmla="*/ 9293720 w 9747620"/>
                <a:gd name="connsiteY131" fmla="*/ 4159693 h 6858000"/>
                <a:gd name="connsiteX132" fmla="*/ 9305650 w 9747620"/>
                <a:gd name="connsiteY132" fmla="*/ 4057941 h 6858000"/>
                <a:gd name="connsiteX133" fmla="*/ 9309378 w 9747620"/>
                <a:gd name="connsiteY133" fmla="*/ 4010779 h 6858000"/>
                <a:gd name="connsiteX134" fmla="*/ 9313454 w 9747620"/>
                <a:gd name="connsiteY134" fmla="*/ 3956428 h 6858000"/>
                <a:gd name="connsiteX135" fmla="*/ 9320811 w 9747620"/>
                <a:gd name="connsiteY135" fmla="*/ 3753546 h 6858000"/>
                <a:gd name="connsiteX136" fmla="*/ 9319617 w 9747620"/>
                <a:gd name="connsiteY136" fmla="*/ 3650643 h 6858000"/>
                <a:gd name="connsiteX137" fmla="*/ 9318176 w 9747620"/>
                <a:gd name="connsiteY137" fmla="*/ 3600030 h 6858000"/>
                <a:gd name="connsiteX138" fmla="*/ 9317778 w 9747620"/>
                <a:gd name="connsiteY138" fmla="*/ 3588096 h 6858000"/>
                <a:gd name="connsiteX139" fmla="*/ 9316983 w 9747620"/>
                <a:gd name="connsiteY139" fmla="*/ 3575107 h 6858000"/>
                <a:gd name="connsiteX140" fmla="*/ 9315443 w 9747620"/>
                <a:gd name="connsiteY140" fmla="*/ 3549130 h 6858000"/>
                <a:gd name="connsiteX141" fmla="*/ 9312311 w 9747620"/>
                <a:gd name="connsiteY141" fmla="*/ 3497176 h 6858000"/>
                <a:gd name="connsiteX142" fmla="*/ 9307587 w 9747620"/>
                <a:gd name="connsiteY142" fmla="*/ 3445029 h 6858000"/>
                <a:gd name="connsiteX143" fmla="*/ 9302618 w 9747620"/>
                <a:gd name="connsiteY143" fmla="*/ 3392835 h 6858000"/>
                <a:gd name="connsiteX144" fmla="*/ 9301574 w 9747620"/>
                <a:gd name="connsiteY144" fmla="*/ 3381476 h 6858000"/>
                <a:gd name="connsiteX145" fmla="*/ 9300430 w 9747620"/>
                <a:gd name="connsiteY145" fmla="*/ 3370740 h 6858000"/>
                <a:gd name="connsiteX146" fmla="*/ 9297547 w 9747620"/>
                <a:gd name="connsiteY146" fmla="*/ 3346966 h 6858000"/>
                <a:gd name="connsiteX147" fmla="*/ 9294017 w 9747620"/>
                <a:gd name="connsiteY147" fmla="*/ 3320030 h 6858000"/>
                <a:gd name="connsiteX148" fmla="*/ 9290439 w 9747620"/>
                <a:gd name="connsiteY148" fmla="*/ 3290410 h 6858000"/>
                <a:gd name="connsiteX149" fmla="*/ 9284275 w 9747620"/>
                <a:gd name="connsiteY149" fmla="*/ 3244544 h 6858000"/>
                <a:gd name="connsiteX150" fmla="*/ 9275974 w 9747620"/>
                <a:gd name="connsiteY150" fmla="*/ 3193116 h 6858000"/>
                <a:gd name="connsiteX151" fmla="*/ 9267224 w 9747620"/>
                <a:gd name="connsiteY151" fmla="*/ 3142264 h 6858000"/>
                <a:gd name="connsiteX152" fmla="*/ 9225320 w 9747620"/>
                <a:gd name="connsiteY152" fmla="*/ 2939909 h 6858000"/>
                <a:gd name="connsiteX153" fmla="*/ 9200466 w 9747620"/>
                <a:gd name="connsiteY153" fmla="*/ 2839449 h 6858000"/>
                <a:gd name="connsiteX154" fmla="*/ 9193953 w 9747620"/>
                <a:gd name="connsiteY154" fmla="*/ 2814958 h 6858000"/>
                <a:gd name="connsiteX155" fmla="*/ 9186993 w 9747620"/>
                <a:gd name="connsiteY155" fmla="*/ 2790276 h 6858000"/>
                <a:gd name="connsiteX156" fmla="*/ 9172628 w 9747620"/>
                <a:gd name="connsiteY156" fmla="*/ 2740621 h 6858000"/>
                <a:gd name="connsiteX157" fmla="*/ 9035082 w 9747620"/>
                <a:gd name="connsiteY157" fmla="*/ 2347463 h 6858000"/>
                <a:gd name="connsiteX158" fmla="*/ 8952118 w 9747620"/>
                <a:gd name="connsiteY158" fmla="*/ 2155413 h 6858000"/>
                <a:gd name="connsiteX159" fmla="*/ 8929948 w 9747620"/>
                <a:gd name="connsiteY159" fmla="*/ 2107915 h 6858000"/>
                <a:gd name="connsiteX160" fmla="*/ 8907429 w 9747620"/>
                <a:gd name="connsiteY160" fmla="*/ 2060753 h 6858000"/>
                <a:gd name="connsiteX161" fmla="*/ 8860404 w 9747620"/>
                <a:gd name="connsiteY161" fmla="*/ 1966478 h 6858000"/>
                <a:gd name="connsiteX162" fmla="*/ 8760788 w 9747620"/>
                <a:gd name="connsiteY162" fmla="*/ 1780274 h 6858000"/>
                <a:gd name="connsiteX163" fmla="*/ 8734740 w 9747620"/>
                <a:gd name="connsiteY163" fmla="*/ 1734311 h 6858000"/>
                <a:gd name="connsiteX164" fmla="*/ 8708046 w 9747620"/>
                <a:gd name="connsiteY164" fmla="*/ 1687963 h 6858000"/>
                <a:gd name="connsiteX165" fmla="*/ 8654062 w 9747620"/>
                <a:gd name="connsiteY165" fmla="*/ 1597234 h 6858000"/>
                <a:gd name="connsiteX166" fmla="*/ 8540278 w 9747620"/>
                <a:gd name="connsiteY166" fmla="*/ 1418077 h 6858000"/>
                <a:gd name="connsiteX167" fmla="*/ 8510701 w 9747620"/>
                <a:gd name="connsiteY167" fmla="*/ 1373695 h 6858000"/>
                <a:gd name="connsiteX168" fmla="*/ 8480676 w 9747620"/>
                <a:gd name="connsiteY168" fmla="*/ 1329457 h 6858000"/>
                <a:gd name="connsiteX169" fmla="*/ 8419782 w 9747620"/>
                <a:gd name="connsiteY169" fmla="*/ 1242275 h 6858000"/>
                <a:gd name="connsiteX170" fmla="*/ 8292478 w 9747620"/>
                <a:gd name="connsiteY170" fmla="*/ 1069875 h 6858000"/>
                <a:gd name="connsiteX171" fmla="*/ 8259620 w 9747620"/>
                <a:gd name="connsiteY171" fmla="*/ 1027123 h 6858000"/>
                <a:gd name="connsiteX172" fmla="*/ 8243416 w 9747620"/>
                <a:gd name="connsiteY172" fmla="*/ 1006130 h 6858000"/>
                <a:gd name="connsiteX173" fmla="*/ 8227110 w 9747620"/>
                <a:gd name="connsiteY173" fmla="*/ 985473 h 6858000"/>
                <a:gd name="connsiteX174" fmla="*/ 8159604 w 9747620"/>
                <a:gd name="connsiteY174" fmla="*/ 902029 h 6858000"/>
                <a:gd name="connsiteX175" fmla="*/ 8020022 w 9747620"/>
                <a:gd name="connsiteY175" fmla="*/ 738209 h 6858000"/>
                <a:gd name="connsiteX176" fmla="*/ 7984182 w 9747620"/>
                <a:gd name="connsiteY176" fmla="*/ 697901 h 6858000"/>
                <a:gd name="connsiteX177" fmla="*/ 7948043 w 9747620"/>
                <a:gd name="connsiteY177" fmla="*/ 657976 h 6858000"/>
                <a:gd name="connsiteX178" fmla="*/ 7874324 w 9747620"/>
                <a:gd name="connsiteY178" fmla="*/ 578607 h 6858000"/>
                <a:gd name="connsiteX179" fmla="*/ 7723308 w 9747620"/>
                <a:gd name="connsiteY179" fmla="*/ 424085 h 6858000"/>
                <a:gd name="connsiteX180" fmla="*/ 7565532 w 9747620"/>
                <a:gd name="connsiteY180" fmla="*/ 275602 h 6858000"/>
                <a:gd name="connsiteX181" fmla="*/ 1832515 w 9747620"/>
                <a:gd name="connsiteY181" fmla="*/ 0 h 6858000"/>
                <a:gd name="connsiteX182" fmla="*/ 2158449 w 9747620"/>
                <a:gd name="connsiteY182" fmla="*/ 0 h 6858000"/>
                <a:gd name="connsiteX183" fmla="*/ 2108797 w 9747620"/>
                <a:gd name="connsiteY183" fmla="*/ 37845 h 6858000"/>
                <a:gd name="connsiteX184" fmla="*/ 1942830 w 9747620"/>
                <a:gd name="connsiteY184" fmla="*/ 177587 h 6858000"/>
                <a:gd name="connsiteX185" fmla="*/ 1633191 w 9747620"/>
                <a:gd name="connsiteY185" fmla="*/ 477909 h 6858000"/>
                <a:gd name="connsiteX186" fmla="*/ 702686 w 9747620"/>
                <a:gd name="connsiteY186" fmla="*/ 1889935 h 6858000"/>
                <a:gd name="connsiteX187" fmla="*/ 551769 w 9747620"/>
                <a:gd name="connsiteY187" fmla="*/ 2281416 h 6858000"/>
                <a:gd name="connsiteX188" fmla="*/ 438383 w 9747620"/>
                <a:gd name="connsiteY188" fmla="*/ 2682772 h 6858000"/>
                <a:gd name="connsiteX189" fmla="*/ 397124 w 9747620"/>
                <a:gd name="connsiteY189" fmla="*/ 2887044 h 6858000"/>
                <a:gd name="connsiteX190" fmla="*/ 365658 w 9747620"/>
                <a:gd name="connsiteY190" fmla="*/ 3093424 h 6858000"/>
                <a:gd name="connsiteX191" fmla="*/ 332105 w 9747620"/>
                <a:gd name="connsiteY191" fmla="*/ 3509828 h 6858000"/>
                <a:gd name="connsiteX192" fmla="*/ 383653 w 9747620"/>
                <a:gd name="connsiteY192" fmla="*/ 4346327 h 6858000"/>
                <a:gd name="connsiteX193" fmla="*/ 422327 w 9747620"/>
                <a:gd name="connsiteY193" fmla="*/ 4552900 h 6858000"/>
                <a:gd name="connsiteX194" fmla="*/ 472184 w 9747620"/>
                <a:gd name="connsiteY194" fmla="*/ 4757939 h 6858000"/>
                <a:gd name="connsiteX195" fmla="*/ 533078 w 9747620"/>
                <a:gd name="connsiteY195" fmla="*/ 4960916 h 6858000"/>
                <a:gd name="connsiteX196" fmla="*/ 604710 w 9747620"/>
                <a:gd name="connsiteY196" fmla="*/ 5160875 h 6858000"/>
                <a:gd name="connsiteX197" fmla="*/ 996766 w 9747620"/>
                <a:gd name="connsiteY197" fmla="*/ 5920640 h 6858000"/>
                <a:gd name="connsiteX198" fmla="*/ 1549183 w 9747620"/>
                <a:gd name="connsiteY198" fmla="*/ 6586417 h 6858000"/>
                <a:gd name="connsiteX199" fmla="*/ 1709890 w 9747620"/>
                <a:gd name="connsiteY199" fmla="*/ 6734063 h 6858000"/>
                <a:gd name="connsiteX200" fmla="*/ 1859761 w 9747620"/>
                <a:gd name="connsiteY200" fmla="*/ 6858000 h 6858000"/>
                <a:gd name="connsiteX201" fmla="*/ 1671798 w 9747620"/>
                <a:gd name="connsiteY201" fmla="*/ 6858000 h 6858000"/>
                <a:gd name="connsiteX202" fmla="*/ 1628044 w 9747620"/>
                <a:gd name="connsiteY202" fmla="*/ 6822717 h 6858000"/>
                <a:gd name="connsiteX203" fmla="*/ 1459756 w 9747620"/>
                <a:gd name="connsiteY203" fmla="*/ 6674223 h 6858000"/>
                <a:gd name="connsiteX204" fmla="*/ 402543 w 9747620"/>
                <a:gd name="connsiteY204" fmla="*/ 5241588 h 6858000"/>
                <a:gd name="connsiteX205" fmla="*/ 311923 w 9747620"/>
                <a:gd name="connsiteY205" fmla="*/ 5036741 h 6858000"/>
                <a:gd name="connsiteX206" fmla="*/ 232140 w 9747620"/>
                <a:gd name="connsiteY206" fmla="*/ 4827483 h 6858000"/>
                <a:gd name="connsiteX207" fmla="*/ 163392 w 9747620"/>
                <a:gd name="connsiteY207" fmla="*/ 4613913 h 6858000"/>
                <a:gd name="connsiteX208" fmla="*/ 106823 w 9747620"/>
                <a:gd name="connsiteY208" fmla="*/ 4396365 h 6858000"/>
                <a:gd name="connsiteX209" fmla="*/ 29326 w 9747620"/>
                <a:gd name="connsiteY209" fmla="*/ 3954702 h 6858000"/>
                <a:gd name="connsiteX210" fmla="*/ 8647 w 9747620"/>
                <a:gd name="connsiteY210" fmla="*/ 3730971 h 6858000"/>
                <a:gd name="connsiteX211" fmla="*/ 2880 w 9747620"/>
                <a:gd name="connsiteY211" fmla="*/ 3618674 h 6858000"/>
                <a:gd name="connsiteX212" fmla="*/ 296 w 9747620"/>
                <a:gd name="connsiteY212" fmla="*/ 3506425 h 6858000"/>
                <a:gd name="connsiteX213" fmla="*/ 20030 w 9747620"/>
                <a:gd name="connsiteY213" fmla="*/ 3056711 h 6858000"/>
                <a:gd name="connsiteX214" fmla="*/ 48664 w 9747620"/>
                <a:gd name="connsiteY214" fmla="*/ 2832980 h 6858000"/>
                <a:gd name="connsiteX215" fmla="*/ 89922 w 9747620"/>
                <a:gd name="connsiteY215" fmla="*/ 2610639 h 6858000"/>
                <a:gd name="connsiteX216" fmla="*/ 211163 w 9747620"/>
                <a:gd name="connsiteY216" fmla="*/ 2174343 h 6858000"/>
                <a:gd name="connsiteX217" fmla="*/ 379129 w 9747620"/>
                <a:gd name="connsiteY217" fmla="*/ 1754393 h 6858000"/>
                <a:gd name="connsiteX218" fmla="*/ 841424 w 9747620"/>
                <a:gd name="connsiteY218" fmla="*/ 976270 h 6858000"/>
                <a:gd name="connsiteX219" fmla="*/ 1130234 w 9747620"/>
                <a:gd name="connsiteY219" fmla="*/ 625768 h 6858000"/>
                <a:gd name="connsiteX220" fmla="*/ 1452897 w 9747620"/>
                <a:gd name="connsiteY220" fmla="*/ 305748 h 6858000"/>
                <a:gd name="connsiteX221" fmla="*/ 1805682 w 9747620"/>
                <a:gd name="connsiteY221" fmla="*/ 18752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Lst>
              <a:rect l="l" t="t" r="r" b="b"/>
              <a:pathLst>
                <a:path w="9747620" h="6858000">
                  <a:moveTo>
                    <a:pt x="7235453" y="0"/>
                  </a:moveTo>
                  <a:lnTo>
                    <a:pt x="7548130" y="0"/>
                  </a:lnTo>
                  <a:lnTo>
                    <a:pt x="7710334" y="111973"/>
                  </a:lnTo>
                  <a:cubicBezTo>
                    <a:pt x="7770781" y="157314"/>
                    <a:pt x="7830282" y="203517"/>
                    <a:pt x="7889188" y="251542"/>
                  </a:cubicBezTo>
                  <a:cubicBezTo>
                    <a:pt x="7947894" y="299470"/>
                    <a:pt x="8005557" y="348453"/>
                    <a:pt x="8061828" y="398586"/>
                  </a:cubicBezTo>
                  <a:cubicBezTo>
                    <a:pt x="8090013" y="423605"/>
                    <a:pt x="8117948" y="448816"/>
                    <a:pt x="8145637" y="474218"/>
                  </a:cubicBezTo>
                  <a:cubicBezTo>
                    <a:pt x="8159506" y="486918"/>
                    <a:pt x="8173375" y="499764"/>
                    <a:pt x="8187242" y="512753"/>
                  </a:cubicBezTo>
                  <a:lnTo>
                    <a:pt x="8228402" y="551575"/>
                  </a:lnTo>
                  <a:cubicBezTo>
                    <a:pt x="8283082" y="603577"/>
                    <a:pt x="8336569" y="656778"/>
                    <a:pt x="8389211" y="710937"/>
                  </a:cubicBezTo>
                  <a:cubicBezTo>
                    <a:pt x="8415458" y="738065"/>
                    <a:pt x="8441455" y="765432"/>
                    <a:pt x="8467206" y="793088"/>
                  </a:cubicBezTo>
                  <a:lnTo>
                    <a:pt x="8486791" y="814223"/>
                  </a:lnTo>
                  <a:lnTo>
                    <a:pt x="8505979" y="835409"/>
                  </a:lnTo>
                  <a:lnTo>
                    <a:pt x="8543509" y="877346"/>
                  </a:lnTo>
                  <a:cubicBezTo>
                    <a:pt x="8593418" y="933423"/>
                    <a:pt x="8642579" y="990601"/>
                    <a:pt x="8690549" y="1048978"/>
                  </a:cubicBezTo>
                  <a:cubicBezTo>
                    <a:pt x="8714558" y="1078168"/>
                    <a:pt x="8738368" y="1107644"/>
                    <a:pt x="8761732" y="1137502"/>
                  </a:cubicBezTo>
                  <a:lnTo>
                    <a:pt x="8796379" y="1182077"/>
                  </a:lnTo>
                  <a:lnTo>
                    <a:pt x="8830678" y="1226986"/>
                  </a:lnTo>
                  <a:cubicBezTo>
                    <a:pt x="8876112" y="1287185"/>
                    <a:pt x="8920304" y="1348532"/>
                    <a:pt x="8963353" y="1410936"/>
                  </a:cubicBezTo>
                  <a:cubicBezTo>
                    <a:pt x="8984727" y="1442137"/>
                    <a:pt x="9005954" y="1473915"/>
                    <a:pt x="9026483" y="1505499"/>
                  </a:cubicBezTo>
                  <a:lnTo>
                    <a:pt x="9057004" y="1552613"/>
                  </a:lnTo>
                  <a:cubicBezTo>
                    <a:pt x="9067245" y="1568525"/>
                    <a:pt x="9077336" y="1584534"/>
                    <a:pt x="9087278" y="1600542"/>
                  </a:cubicBezTo>
                  <a:cubicBezTo>
                    <a:pt x="9127145" y="1664766"/>
                    <a:pt x="9165966" y="1729613"/>
                    <a:pt x="9202851" y="1795515"/>
                  </a:cubicBezTo>
                  <a:cubicBezTo>
                    <a:pt x="9221342" y="1828491"/>
                    <a:pt x="9239437" y="1861417"/>
                    <a:pt x="9257332" y="1894920"/>
                  </a:cubicBezTo>
                  <a:lnTo>
                    <a:pt x="9283778" y="1945436"/>
                  </a:lnTo>
                  <a:lnTo>
                    <a:pt x="9309428" y="1996193"/>
                  </a:lnTo>
                  <a:cubicBezTo>
                    <a:pt x="9343280" y="2064013"/>
                    <a:pt x="9375491" y="2132695"/>
                    <a:pt x="9405714" y="2202191"/>
                  </a:cubicBezTo>
                  <a:cubicBezTo>
                    <a:pt x="9466260" y="2341183"/>
                    <a:pt x="9520493" y="2483053"/>
                    <a:pt x="9566524" y="2627653"/>
                  </a:cubicBezTo>
                  <a:cubicBezTo>
                    <a:pt x="9572289" y="2645675"/>
                    <a:pt x="9578056" y="2663792"/>
                    <a:pt x="9583573" y="2682195"/>
                  </a:cubicBezTo>
                  <a:lnTo>
                    <a:pt x="9591974" y="2709707"/>
                  </a:lnTo>
                  <a:lnTo>
                    <a:pt x="9600027" y="2737650"/>
                  </a:lnTo>
                  <a:cubicBezTo>
                    <a:pt x="9610416" y="2774171"/>
                    <a:pt x="9620358" y="2810884"/>
                    <a:pt x="9629803" y="2847694"/>
                  </a:cubicBezTo>
                  <a:cubicBezTo>
                    <a:pt x="9648692" y="2921312"/>
                    <a:pt x="9665196" y="2995506"/>
                    <a:pt x="9679909" y="3070131"/>
                  </a:cubicBezTo>
                  <a:cubicBezTo>
                    <a:pt x="9683587" y="3088775"/>
                    <a:pt x="9687118" y="3107418"/>
                    <a:pt x="9690498" y="3126159"/>
                  </a:cubicBezTo>
                  <a:lnTo>
                    <a:pt x="9700390" y="3181805"/>
                  </a:lnTo>
                  <a:cubicBezTo>
                    <a:pt x="9703670" y="3201120"/>
                    <a:pt x="9706952" y="3222112"/>
                    <a:pt x="9709685" y="3243392"/>
                  </a:cubicBezTo>
                  <a:lnTo>
                    <a:pt x="9713016" y="3267597"/>
                  </a:lnTo>
                  <a:lnTo>
                    <a:pt x="9716844" y="3294437"/>
                  </a:lnTo>
                  <a:cubicBezTo>
                    <a:pt x="9718186" y="3303926"/>
                    <a:pt x="9719527" y="3313895"/>
                    <a:pt x="9720820" y="3324488"/>
                  </a:cubicBezTo>
                  <a:lnTo>
                    <a:pt x="9722709" y="3340737"/>
                  </a:lnTo>
                  <a:lnTo>
                    <a:pt x="9724301" y="3356361"/>
                  </a:lnTo>
                  <a:lnTo>
                    <a:pt x="9730166" y="3412197"/>
                  </a:lnTo>
                  <a:cubicBezTo>
                    <a:pt x="9732005" y="3430842"/>
                    <a:pt x="9734291" y="3449342"/>
                    <a:pt x="9735783" y="3468083"/>
                  </a:cubicBezTo>
                  <a:lnTo>
                    <a:pt x="9739760" y="3524399"/>
                  </a:lnTo>
                  <a:lnTo>
                    <a:pt x="9741748" y="3552580"/>
                  </a:lnTo>
                  <a:lnTo>
                    <a:pt x="9742742" y="3566672"/>
                  </a:lnTo>
                  <a:lnTo>
                    <a:pt x="9743488" y="3581865"/>
                  </a:lnTo>
                  <a:lnTo>
                    <a:pt x="9744731" y="3611341"/>
                  </a:lnTo>
                  <a:lnTo>
                    <a:pt x="9745725" y="3639715"/>
                  </a:lnTo>
                  <a:cubicBezTo>
                    <a:pt x="9746868" y="3677579"/>
                    <a:pt x="9747514" y="3715587"/>
                    <a:pt x="9747613" y="3753786"/>
                  </a:cubicBezTo>
                  <a:cubicBezTo>
                    <a:pt x="9747763" y="3830232"/>
                    <a:pt x="9745675" y="3906870"/>
                    <a:pt x="9740405" y="3984609"/>
                  </a:cubicBezTo>
                  <a:lnTo>
                    <a:pt x="9736329" y="4038434"/>
                  </a:lnTo>
                  <a:cubicBezTo>
                    <a:pt x="9735087" y="4055976"/>
                    <a:pt x="9733794" y="4076346"/>
                    <a:pt x="9731408" y="4099446"/>
                  </a:cubicBezTo>
                  <a:lnTo>
                    <a:pt x="9717987" y="4213325"/>
                  </a:lnTo>
                  <a:cubicBezTo>
                    <a:pt x="9717441" y="4217926"/>
                    <a:pt x="9716943" y="4222527"/>
                    <a:pt x="9716297" y="4227129"/>
                  </a:cubicBezTo>
                  <a:lnTo>
                    <a:pt x="9714110" y="4240981"/>
                  </a:lnTo>
                  <a:lnTo>
                    <a:pt x="9709785" y="4268731"/>
                  </a:lnTo>
                  <a:lnTo>
                    <a:pt x="9701086" y="4324185"/>
                  </a:lnTo>
                  <a:lnTo>
                    <a:pt x="9698699" y="4338994"/>
                  </a:lnTo>
                  <a:lnTo>
                    <a:pt x="9695966" y="4355050"/>
                  </a:lnTo>
                  <a:cubicBezTo>
                    <a:pt x="9694077" y="4365547"/>
                    <a:pt x="9692188" y="4375516"/>
                    <a:pt x="9690299" y="4385054"/>
                  </a:cubicBezTo>
                  <a:lnTo>
                    <a:pt x="9679909" y="4437919"/>
                  </a:lnTo>
                  <a:cubicBezTo>
                    <a:pt x="9677871" y="4448320"/>
                    <a:pt x="9675735" y="4458097"/>
                    <a:pt x="9673647" y="4468162"/>
                  </a:cubicBezTo>
                  <a:lnTo>
                    <a:pt x="9667532" y="4496296"/>
                  </a:lnTo>
                  <a:cubicBezTo>
                    <a:pt x="9663406" y="4514941"/>
                    <a:pt x="9659081" y="4533585"/>
                    <a:pt x="9654658" y="4552277"/>
                  </a:cubicBezTo>
                  <a:cubicBezTo>
                    <a:pt x="9645760" y="4589613"/>
                    <a:pt x="9636265" y="4627045"/>
                    <a:pt x="9625876" y="4664478"/>
                  </a:cubicBezTo>
                  <a:cubicBezTo>
                    <a:pt x="9605048" y="4739247"/>
                    <a:pt x="9581088" y="4814303"/>
                    <a:pt x="9552803" y="4888737"/>
                  </a:cubicBezTo>
                  <a:cubicBezTo>
                    <a:pt x="9524668" y="4962930"/>
                    <a:pt x="9492109" y="5037459"/>
                    <a:pt x="9452639" y="5110934"/>
                  </a:cubicBezTo>
                  <a:cubicBezTo>
                    <a:pt x="9432905" y="5147695"/>
                    <a:pt x="9411431" y="5184169"/>
                    <a:pt x="9388017" y="5220020"/>
                  </a:cubicBezTo>
                  <a:cubicBezTo>
                    <a:pt x="9382201" y="5228982"/>
                    <a:pt x="9376236" y="5237945"/>
                    <a:pt x="9370073" y="5246811"/>
                  </a:cubicBezTo>
                  <a:lnTo>
                    <a:pt x="9360926" y="5260040"/>
                  </a:lnTo>
                  <a:lnTo>
                    <a:pt x="9351829" y="5272646"/>
                  </a:lnTo>
                  <a:cubicBezTo>
                    <a:pt x="9339700" y="5289468"/>
                    <a:pt x="9327174" y="5306387"/>
                    <a:pt x="9313305" y="5323881"/>
                  </a:cubicBezTo>
                  <a:cubicBezTo>
                    <a:pt x="9258625" y="5393042"/>
                    <a:pt x="9196489" y="5455445"/>
                    <a:pt x="9130375" y="5510802"/>
                  </a:cubicBezTo>
                  <a:cubicBezTo>
                    <a:pt x="9097319" y="5538505"/>
                    <a:pt x="9063268" y="5564530"/>
                    <a:pt x="9028422" y="5588878"/>
                  </a:cubicBezTo>
                  <a:cubicBezTo>
                    <a:pt x="9019723" y="5595109"/>
                    <a:pt x="9011074" y="5600909"/>
                    <a:pt x="9002424" y="5606707"/>
                  </a:cubicBezTo>
                  <a:cubicBezTo>
                    <a:pt x="8993774" y="5612603"/>
                    <a:pt x="8985124" y="5618211"/>
                    <a:pt x="8976525" y="5623866"/>
                  </a:cubicBezTo>
                  <a:cubicBezTo>
                    <a:pt x="8959277" y="5635130"/>
                    <a:pt x="8941629" y="5646201"/>
                    <a:pt x="8924181" y="5656793"/>
                  </a:cubicBezTo>
                  <a:cubicBezTo>
                    <a:pt x="8854291" y="5699259"/>
                    <a:pt x="8784946" y="5736451"/>
                    <a:pt x="8717291" y="5771582"/>
                  </a:cubicBezTo>
                  <a:lnTo>
                    <a:pt x="8617129" y="5823105"/>
                  </a:lnTo>
                  <a:lnTo>
                    <a:pt x="8518207" y="5873671"/>
                  </a:lnTo>
                  <a:cubicBezTo>
                    <a:pt x="8391200" y="5939188"/>
                    <a:pt x="8267922" y="6009788"/>
                    <a:pt x="8150558" y="6086761"/>
                  </a:cubicBezTo>
                  <a:cubicBezTo>
                    <a:pt x="8091901" y="6125248"/>
                    <a:pt x="8034736" y="6165317"/>
                    <a:pt x="7979410" y="6207158"/>
                  </a:cubicBezTo>
                  <a:cubicBezTo>
                    <a:pt x="7965739" y="6217750"/>
                    <a:pt x="7951771" y="6228103"/>
                    <a:pt x="7938300" y="6238887"/>
                  </a:cubicBezTo>
                  <a:lnTo>
                    <a:pt x="7897936" y="6271286"/>
                  </a:lnTo>
                  <a:lnTo>
                    <a:pt x="7858367" y="6304357"/>
                  </a:lnTo>
                  <a:lnTo>
                    <a:pt x="7819048" y="6338770"/>
                  </a:lnTo>
                  <a:cubicBezTo>
                    <a:pt x="7804882" y="6351232"/>
                    <a:pt x="7792105" y="6362591"/>
                    <a:pt x="7778882" y="6374477"/>
                  </a:cubicBezTo>
                  <a:lnTo>
                    <a:pt x="7739563" y="6410328"/>
                  </a:lnTo>
                  <a:cubicBezTo>
                    <a:pt x="7713366" y="6434485"/>
                    <a:pt x="7687168" y="6459120"/>
                    <a:pt x="7660824" y="6484138"/>
                  </a:cubicBezTo>
                  <a:lnTo>
                    <a:pt x="7502302" y="6636360"/>
                  </a:lnTo>
                  <a:lnTo>
                    <a:pt x="7273394" y="6858000"/>
                  </a:lnTo>
                  <a:lnTo>
                    <a:pt x="6780690" y="6858000"/>
                  </a:lnTo>
                  <a:lnTo>
                    <a:pt x="6854939" y="6783597"/>
                  </a:lnTo>
                  <a:cubicBezTo>
                    <a:pt x="6880688" y="6757810"/>
                    <a:pt x="6906338" y="6732265"/>
                    <a:pt x="6932087" y="6705809"/>
                  </a:cubicBezTo>
                  <a:lnTo>
                    <a:pt x="7241130" y="6390965"/>
                  </a:lnTo>
                  <a:lnTo>
                    <a:pt x="7397564" y="6233087"/>
                  </a:lnTo>
                  <a:cubicBezTo>
                    <a:pt x="7424009" y="6206679"/>
                    <a:pt x="7450802" y="6180175"/>
                    <a:pt x="7478142" y="6153670"/>
                  </a:cubicBezTo>
                  <a:lnTo>
                    <a:pt x="7519600" y="6113937"/>
                  </a:lnTo>
                  <a:cubicBezTo>
                    <a:pt x="7533469" y="6100805"/>
                    <a:pt x="7547934" y="6087288"/>
                    <a:pt x="7561207" y="6075067"/>
                  </a:cubicBezTo>
                  <a:lnTo>
                    <a:pt x="7604204" y="6035526"/>
                  </a:lnTo>
                  <a:lnTo>
                    <a:pt x="7648644" y="5996416"/>
                  </a:lnTo>
                  <a:cubicBezTo>
                    <a:pt x="7663608" y="5983570"/>
                    <a:pt x="7678768" y="5971013"/>
                    <a:pt x="7693830" y="5958264"/>
                  </a:cubicBezTo>
                  <a:cubicBezTo>
                    <a:pt x="7708942" y="5945611"/>
                    <a:pt x="7724352" y="5933485"/>
                    <a:pt x="7739662" y="5921073"/>
                  </a:cubicBezTo>
                  <a:cubicBezTo>
                    <a:pt x="7801154" y="5872088"/>
                    <a:pt x="7864234" y="5825502"/>
                    <a:pt x="7928458" y="5781025"/>
                  </a:cubicBezTo>
                  <a:cubicBezTo>
                    <a:pt x="8057005" y="5692164"/>
                    <a:pt x="8190077" y="5611500"/>
                    <a:pt x="8325882" y="5537450"/>
                  </a:cubicBezTo>
                  <a:lnTo>
                    <a:pt x="8424555" y="5484106"/>
                  </a:lnTo>
                  <a:lnTo>
                    <a:pt x="8521737" y="5431289"/>
                  </a:lnTo>
                  <a:cubicBezTo>
                    <a:pt x="8585315" y="5396349"/>
                    <a:pt x="8646456" y="5361840"/>
                    <a:pt x="8702677" y="5325942"/>
                  </a:cubicBezTo>
                  <a:cubicBezTo>
                    <a:pt x="8716795" y="5316931"/>
                    <a:pt x="8730365" y="5308017"/>
                    <a:pt x="8743986" y="5298717"/>
                  </a:cubicBezTo>
                  <a:cubicBezTo>
                    <a:pt x="8750747" y="5294069"/>
                    <a:pt x="8757606" y="5289420"/>
                    <a:pt x="8764167" y="5284723"/>
                  </a:cubicBezTo>
                  <a:cubicBezTo>
                    <a:pt x="8770778" y="5280074"/>
                    <a:pt x="8777440" y="5275377"/>
                    <a:pt x="8783704" y="5270679"/>
                  </a:cubicBezTo>
                  <a:cubicBezTo>
                    <a:pt x="8809155" y="5251987"/>
                    <a:pt x="8833611" y="5232577"/>
                    <a:pt x="8856776" y="5212399"/>
                  </a:cubicBezTo>
                  <a:cubicBezTo>
                    <a:pt x="8903104" y="5172043"/>
                    <a:pt x="8944463" y="5128668"/>
                    <a:pt x="8979856" y="5082081"/>
                  </a:cubicBezTo>
                  <a:cubicBezTo>
                    <a:pt x="8988555" y="5070722"/>
                    <a:pt x="8997602" y="5057973"/>
                    <a:pt x="9006699" y="5044984"/>
                  </a:cubicBezTo>
                  <a:lnTo>
                    <a:pt x="9013509" y="5035254"/>
                  </a:lnTo>
                  <a:lnTo>
                    <a:pt x="9019773" y="5025812"/>
                  </a:lnTo>
                  <a:cubicBezTo>
                    <a:pt x="9023997" y="5019629"/>
                    <a:pt x="9028073" y="5013254"/>
                    <a:pt x="9032050" y="5006833"/>
                  </a:cubicBezTo>
                  <a:cubicBezTo>
                    <a:pt x="9048206" y="4981238"/>
                    <a:pt x="9063417" y="4954542"/>
                    <a:pt x="9077733" y="4926839"/>
                  </a:cubicBezTo>
                  <a:cubicBezTo>
                    <a:pt x="9106415" y="4871434"/>
                    <a:pt x="9131469" y="4812050"/>
                    <a:pt x="9154285" y="4750223"/>
                  </a:cubicBezTo>
                  <a:cubicBezTo>
                    <a:pt x="9176904" y="4688586"/>
                    <a:pt x="9196537" y="4625032"/>
                    <a:pt x="9213936" y="4559945"/>
                  </a:cubicBezTo>
                  <a:cubicBezTo>
                    <a:pt x="9222635" y="4527402"/>
                    <a:pt x="9230887" y="4494523"/>
                    <a:pt x="9238592" y="4461357"/>
                  </a:cubicBezTo>
                  <a:cubicBezTo>
                    <a:pt x="9242419" y="4444773"/>
                    <a:pt x="9246147" y="4428094"/>
                    <a:pt x="9249776" y="4411319"/>
                  </a:cubicBezTo>
                  <a:lnTo>
                    <a:pt x="9255046" y="4386299"/>
                  </a:lnTo>
                  <a:lnTo>
                    <a:pt x="9259718" y="4363342"/>
                  </a:lnTo>
                  <a:lnTo>
                    <a:pt x="9269959" y="4309566"/>
                  </a:lnTo>
                  <a:lnTo>
                    <a:pt x="9274233" y="4286176"/>
                  </a:lnTo>
                  <a:lnTo>
                    <a:pt x="9276022" y="4275489"/>
                  </a:lnTo>
                  <a:lnTo>
                    <a:pt x="9277861" y="4263506"/>
                  </a:lnTo>
                  <a:lnTo>
                    <a:pt x="9286014" y="4211696"/>
                  </a:lnTo>
                  <a:lnTo>
                    <a:pt x="9290092" y="4185767"/>
                  </a:lnTo>
                  <a:lnTo>
                    <a:pt x="9292128" y="4172826"/>
                  </a:lnTo>
                  <a:cubicBezTo>
                    <a:pt x="9292774" y="4168464"/>
                    <a:pt x="9293173" y="4164055"/>
                    <a:pt x="9293720" y="4159693"/>
                  </a:cubicBezTo>
                  <a:lnTo>
                    <a:pt x="9305650" y="4057941"/>
                  </a:lnTo>
                  <a:cubicBezTo>
                    <a:pt x="9306991" y="4045048"/>
                    <a:pt x="9308085" y="4029328"/>
                    <a:pt x="9309378" y="4010779"/>
                  </a:cubicBezTo>
                  <a:lnTo>
                    <a:pt x="9313454" y="3956428"/>
                  </a:lnTo>
                  <a:cubicBezTo>
                    <a:pt x="9318326" y="3889806"/>
                    <a:pt x="9320611" y="3821796"/>
                    <a:pt x="9320811" y="3753546"/>
                  </a:cubicBezTo>
                  <a:cubicBezTo>
                    <a:pt x="9320910" y="3719373"/>
                    <a:pt x="9320513" y="3685056"/>
                    <a:pt x="9319617" y="3650643"/>
                  </a:cubicBezTo>
                  <a:lnTo>
                    <a:pt x="9318176" y="3600030"/>
                  </a:lnTo>
                  <a:lnTo>
                    <a:pt x="9317778" y="3588096"/>
                  </a:lnTo>
                  <a:lnTo>
                    <a:pt x="9316983" y="3575107"/>
                  </a:lnTo>
                  <a:lnTo>
                    <a:pt x="9315443" y="3549130"/>
                  </a:lnTo>
                  <a:lnTo>
                    <a:pt x="9312311" y="3497176"/>
                  </a:lnTo>
                  <a:cubicBezTo>
                    <a:pt x="9311118" y="3479825"/>
                    <a:pt x="9309129" y="3462427"/>
                    <a:pt x="9307587" y="3445029"/>
                  </a:cubicBezTo>
                  <a:lnTo>
                    <a:pt x="9302618" y="3392835"/>
                  </a:lnTo>
                  <a:lnTo>
                    <a:pt x="9301574" y="3381476"/>
                  </a:lnTo>
                  <a:lnTo>
                    <a:pt x="9300430" y="3370740"/>
                  </a:lnTo>
                  <a:lnTo>
                    <a:pt x="9297547" y="3346966"/>
                  </a:lnTo>
                  <a:lnTo>
                    <a:pt x="9294017" y="3320030"/>
                  </a:lnTo>
                  <a:lnTo>
                    <a:pt x="9290439" y="3290410"/>
                  </a:lnTo>
                  <a:cubicBezTo>
                    <a:pt x="9288849" y="3275745"/>
                    <a:pt x="9286761" y="3260934"/>
                    <a:pt x="9284275" y="3244544"/>
                  </a:cubicBezTo>
                  <a:lnTo>
                    <a:pt x="9275974" y="3193116"/>
                  </a:lnTo>
                  <a:cubicBezTo>
                    <a:pt x="9273189" y="3176197"/>
                    <a:pt x="9270256" y="3159230"/>
                    <a:pt x="9267224" y="3142264"/>
                  </a:cubicBezTo>
                  <a:cubicBezTo>
                    <a:pt x="9255146" y="3074493"/>
                    <a:pt x="9240929" y="3007057"/>
                    <a:pt x="9225320" y="2939909"/>
                  </a:cubicBezTo>
                  <a:cubicBezTo>
                    <a:pt x="9217465" y="2906311"/>
                    <a:pt x="9209214" y="2872809"/>
                    <a:pt x="9200466" y="2839449"/>
                  </a:cubicBezTo>
                  <a:lnTo>
                    <a:pt x="9193953" y="2814958"/>
                  </a:lnTo>
                  <a:lnTo>
                    <a:pt x="9186993" y="2790276"/>
                  </a:lnTo>
                  <a:cubicBezTo>
                    <a:pt x="9182471" y="2773836"/>
                    <a:pt x="9177599" y="2757252"/>
                    <a:pt x="9172628" y="2740621"/>
                  </a:cubicBezTo>
                  <a:cubicBezTo>
                    <a:pt x="9133110" y="2607859"/>
                    <a:pt x="9087527" y="2476533"/>
                    <a:pt x="9035082" y="2347463"/>
                  </a:cubicBezTo>
                  <a:cubicBezTo>
                    <a:pt x="9008836" y="2282951"/>
                    <a:pt x="8981298" y="2218870"/>
                    <a:pt x="8952118" y="2155413"/>
                  </a:cubicBezTo>
                  <a:lnTo>
                    <a:pt x="8929948" y="2107915"/>
                  </a:lnTo>
                  <a:lnTo>
                    <a:pt x="8907429" y="2060753"/>
                  </a:lnTo>
                  <a:cubicBezTo>
                    <a:pt x="8892170" y="2029408"/>
                    <a:pt x="8876411" y="1997726"/>
                    <a:pt x="8860404" y="1966478"/>
                  </a:cubicBezTo>
                  <a:cubicBezTo>
                    <a:pt x="8828243" y="1903931"/>
                    <a:pt x="8795336" y="1841670"/>
                    <a:pt x="8760788" y="1780274"/>
                  </a:cubicBezTo>
                  <a:lnTo>
                    <a:pt x="8734740" y="1734311"/>
                  </a:lnTo>
                  <a:lnTo>
                    <a:pt x="8708046" y="1687963"/>
                  </a:lnTo>
                  <a:cubicBezTo>
                    <a:pt x="8690300" y="1657337"/>
                    <a:pt x="8672455" y="1627334"/>
                    <a:pt x="8654062" y="1597234"/>
                  </a:cubicBezTo>
                  <a:cubicBezTo>
                    <a:pt x="8617575" y="1536988"/>
                    <a:pt x="8579398" y="1477365"/>
                    <a:pt x="8540278" y="1418077"/>
                  </a:cubicBezTo>
                  <a:lnTo>
                    <a:pt x="8510701" y="1373695"/>
                  </a:lnTo>
                  <a:lnTo>
                    <a:pt x="8480676" y="1329457"/>
                  </a:lnTo>
                  <a:cubicBezTo>
                    <a:pt x="8460643" y="1300269"/>
                    <a:pt x="8440411" y="1271224"/>
                    <a:pt x="8419782" y="1242275"/>
                  </a:cubicBezTo>
                  <a:cubicBezTo>
                    <a:pt x="8378476" y="1184425"/>
                    <a:pt x="8335923" y="1127006"/>
                    <a:pt x="8292478" y="1069875"/>
                  </a:cubicBezTo>
                  <a:lnTo>
                    <a:pt x="8259620" y="1027123"/>
                  </a:lnTo>
                  <a:lnTo>
                    <a:pt x="8243416" y="1006130"/>
                  </a:lnTo>
                  <a:lnTo>
                    <a:pt x="8227110" y="985473"/>
                  </a:lnTo>
                  <a:cubicBezTo>
                    <a:pt x="8204890" y="957483"/>
                    <a:pt x="8182422" y="929684"/>
                    <a:pt x="8159604" y="902029"/>
                  </a:cubicBezTo>
                  <a:cubicBezTo>
                    <a:pt x="8114170" y="846671"/>
                    <a:pt x="8067494" y="792177"/>
                    <a:pt x="8020022" y="738209"/>
                  </a:cubicBezTo>
                  <a:lnTo>
                    <a:pt x="7984182" y="697901"/>
                  </a:lnTo>
                  <a:lnTo>
                    <a:pt x="7948043" y="657976"/>
                  </a:lnTo>
                  <a:cubicBezTo>
                    <a:pt x="7923636" y="631328"/>
                    <a:pt x="7899079" y="604823"/>
                    <a:pt x="7874324" y="578607"/>
                  </a:cubicBezTo>
                  <a:cubicBezTo>
                    <a:pt x="7824714" y="526221"/>
                    <a:pt x="7774608" y="474458"/>
                    <a:pt x="7723308" y="424085"/>
                  </a:cubicBezTo>
                  <a:cubicBezTo>
                    <a:pt x="7672157" y="373808"/>
                    <a:pt x="7619168" y="324153"/>
                    <a:pt x="7565532" y="275602"/>
                  </a:cubicBezTo>
                  <a:close/>
                  <a:moveTo>
                    <a:pt x="1832515" y="0"/>
                  </a:moveTo>
                  <a:lnTo>
                    <a:pt x="2158449" y="0"/>
                  </a:lnTo>
                  <a:lnTo>
                    <a:pt x="2108797" y="37845"/>
                  </a:lnTo>
                  <a:cubicBezTo>
                    <a:pt x="2052253" y="83168"/>
                    <a:pt x="1996914" y="129778"/>
                    <a:pt x="1942830" y="177587"/>
                  </a:cubicBezTo>
                  <a:cubicBezTo>
                    <a:pt x="1834563" y="273109"/>
                    <a:pt x="1731317" y="373472"/>
                    <a:pt x="1633191" y="477909"/>
                  </a:cubicBezTo>
                  <a:cubicBezTo>
                    <a:pt x="1240290" y="896038"/>
                    <a:pt x="927123" y="1375900"/>
                    <a:pt x="702686" y="1889935"/>
                  </a:cubicBezTo>
                  <a:cubicBezTo>
                    <a:pt x="646565" y="2018192"/>
                    <a:pt x="596210" y="2149182"/>
                    <a:pt x="551769" y="2281416"/>
                  </a:cubicBezTo>
                  <a:cubicBezTo>
                    <a:pt x="507429" y="2413700"/>
                    <a:pt x="469451" y="2547613"/>
                    <a:pt x="438383" y="2682772"/>
                  </a:cubicBezTo>
                  <a:cubicBezTo>
                    <a:pt x="423122" y="2750111"/>
                    <a:pt x="409203" y="2818553"/>
                    <a:pt x="397124" y="2887044"/>
                  </a:cubicBezTo>
                  <a:cubicBezTo>
                    <a:pt x="385144" y="2955581"/>
                    <a:pt x="374357" y="3024359"/>
                    <a:pt x="365658" y="3093424"/>
                  </a:cubicBezTo>
                  <a:cubicBezTo>
                    <a:pt x="347813" y="3231506"/>
                    <a:pt x="336727" y="3370260"/>
                    <a:pt x="332105" y="3509828"/>
                  </a:cubicBezTo>
                  <a:cubicBezTo>
                    <a:pt x="322311" y="3788822"/>
                    <a:pt x="339660" y="4068628"/>
                    <a:pt x="383653" y="4346327"/>
                  </a:cubicBezTo>
                  <a:cubicBezTo>
                    <a:pt x="394539" y="4415489"/>
                    <a:pt x="407464" y="4484267"/>
                    <a:pt x="422327" y="4552900"/>
                  </a:cubicBezTo>
                  <a:cubicBezTo>
                    <a:pt x="437041" y="4621534"/>
                    <a:pt x="453693" y="4689881"/>
                    <a:pt x="472184" y="4757939"/>
                  </a:cubicBezTo>
                  <a:cubicBezTo>
                    <a:pt x="490677" y="4825949"/>
                    <a:pt x="511007" y="4893673"/>
                    <a:pt x="533078" y="4960916"/>
                  </a:cubicBezTo>
                  <a:cubicBezTo>
                    <a:pt x="555249" y="5028208"/>
                    <a:pt x="578662" y="5095022"/>
                    <a:pt x="604710" y="5160875"/>
                  </a:cubicBezTo>
                  <a:cubicBezTo>
                    <a:pt x="707358" y="5425298"/>
                    <a:pt x="838443" y="5680902"/>
                    <a:pt x="996766" y="5920640"/>
                  </a:cubicBezTo>
                  <a:cubicBezTo>
                    <a:pt x="1154790" y="6160571"/>
                    <a:pt x="1340404" y="6384350"/>
                    <a:pt x="1549183" y="6586417"/>
                  </a:cubicBezTo>
                  <a:cubicBezTo>
                    <a:pt x="1601365" y="6636982"/>
                    <a:pt x="1654970" y="6686208"/>
                    <a:pt x="1709890" y="6734063"/>
                  </a:cubicBezTo>
                  <a:lnTo>
                    <a:pt x="1859761" y="6858000"/>
                  </a:lnTo>
                  <a:lnTo>
                    <a:pt x="1671798" y="6858000"/>
                  </a:lnTo>
                  <a:lnTo>
                    <a:pt x="1628044" y="6822717"/>
                  </a:lnTo>
                  <a:cubicBezTo>
                    <a:pt x="1570828" y="6774460"/>
                    <a:pt x="1514710" y="6724955"/>
                    <a:pt x="1459756" y="6674223"/>
                  </a:cubicBezTo>
                  <a:cubicBezTo>
                    <a:pt x="1019931" y="6268363"/>
                    <a:pt x="658296" y="5781216"/>
                    <a:pt x="402543" y="5241588"/>
                  </a:cubicBezTo>
                  <a:cubicBezTo>
                    <a:pt x="370231" y="5174103"/>
                    <a:pt x="340306" y="5105661"/>
                    <a:pt x="311923" y="5036741"/>
                  </a:cubicBezTo>
                  <a:cubicBezTo>
                    <a:pt x="283539" y="4967771"/>
                    <a:pt x="256895" y="4897986"/>
                    <a:pt x="232140" y="4827483"/>
                  </a:cubicBezTo>
                  <a:cubicBezTo>
                    <a:pt x="207334" y="4756981"/>
                    <a:pt x="184368" y="4685758"/>
                    <a:pt x="163392" y="4613913"/>
                  </a:cubicBezTo>
                  <a:cubicBezTo>
                    <a:pt x="142514" y="4542020"/>
                    <a:pt x="123624" y="4469360"/>
                    <a:pt x="106823" y="4396365"/>
                  </a:cubicBezTo>
                  <a:cubicBezTo>
                    <a:pt x="73120" y="4250902"/>
                    <a:pt x="47371" y="4103281"/>
                    <a:pt x="29326" y="3954702"/>
                  </a:cubicBezTo>
                  <a:cubicBezTo>
                    <a:pt x="20478" y="3880365"/>
                    <a:pt x="13320" y="3805789"/>
                    <a:pt x="8647" y="3730971"/>
                  </a:cubicBezTo>
                  <a:cubicBezTo>
                    <a:pt x="6311" y="3693587"/>
                    <a:pt x="4322" y="3656106"/>
                    <a:pt x="2880" y="3618674"/>
                  </a:cubicBezTo>
                  <a:cubicBezTo>
                    <a:pt x="1539" y="3581146"/>
                    <a:pt x="694" y="3543809"/>
                    <a:pt x="296" y="3506425"/>
                  </a:cubicBezTo>
                  <a:cubicBezTo>
                    <a:pt x="-1543" y="3356649"/>
                    <a:pt x="5217" y="3206200"/>
                    <a:pt x="20030" y="3056711"/>
                  </a:cubicBezTo>
                  <a:cubicBezTo>
                    <a:pt x="27686" y="2981942"/>
                    <a:pt x="36931" y="2907317"/>
                    <a:pt x="48664" y="2832980"/>
                  </a:cubicBezTo>
                  <a:cubicBezTo>
                    <a:pt x="60395" y="2758642"/>
                    <a:pt x="73716" y="2684784"/>
                    <a:pt x="89922" y="2610639"/>
                  </a:cubicBezTo>
                  <a:cubicBezTo>
                    <a:pt x="121736" y="2462826"/>
                    <a:pt x="162645" y="2317220"/>
                    <a:pt x="211163" y="2174343"/>
                  </a:cubicBezTo>
                  <a:cubicBezTo>
                    <a:pt x="259778" y="2031468"/>
                    <a:pt x="315601" y="1891517"/>
                    <a:pt x="379129" y="1754393"/>
                  </a:cubicBezTo>
                  <a:cubicBezTo>
                    <a:pt x="505540" y="1480433"/>
                    <a:pt x="660930" y="1219318"/>
                    <a:pt x="841424" y="976270"/>
                  </a:cubicBezTo>
                  <a:cubicBezTo>
                    <a:pt x="931498" y="854627"/>
                    <a:pt x="1028182" y="737777"/>
                    <a:pt x="1130234" y="625768"/>
                  </a:cubicBezTo>
                  <a:cubicBezTo>
                    <a:pt x="1232486" y="513855"/>
                    <a:pt x="1340157" y="407117"/>
                    <a:pt x="1452897" y="305748"/>
                  </a:cubicBezTo>
                  <a:cubicBezTo>
                    <a:pt x="1565736" y="204380"/>
                    <a:pt x="1683596" y="108665"/>
                    <a:pt x="1805682" y="18752"/>
                  </a:cubicBez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36" name="Freeform: Shape 35">
              <a:extLst>
                <a:ext uri="{FF2B5EF4-FFF2-40B4-BE49-F238E27FC236}">
                  <a16:creationId xmlns:a16="http://schemas.microsoft.com/office/drawing/2014/main" id="{DA46556D-445B-4CD0-87A0-02A30BD1B15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08320" y="3985"/>
              <a:ext cx="9767847" cy="6858000"/>
            </a:xfrm>
            <a:custGeom>
              <a:avLst/>
              <a:gdLst>
                <a:gd name="connsiteX0" fmla="*/ 7151367 w 9767847"/>
                <a:gd name="connsiteY0" fmla="*/ 0 h 6858000"/>
                <a:gd name="connsiteX1" fmla="*/ 7881247 w 9767847"/>
                <a:gd name="connsiteY1" fmla="*/ 0 h 6858000"/>
                <a:gd name="connsiteX2" fmla="*/ 7990553 w 9767847"/>
                <a:gd name="connsiteY2" fmla="*/ 81317 h 6858000"/>
                <a:gd name="connsiteX3" fmla="*/ 9767847 w 9767847"/>
                <a:gd name="connsiteY3" fmla="*/ 3649031 h 6858000"/>
                <a:gd name="connsiteX4" fmla="*/ 8652597 w 9767847"/>
                <a:gd name="connsiteY4" fmla="*/ 6590005 h 6858000"/>
                <a:gd name="connsiteX5" fmla="*/ 8395306 w 9767847"/>
                <a:gd name="connsiteY5" fmla="*/ 6858000 h 6858000"/>
                <a:gd name="connsiteX6" fmla="*/ 6762603 w 9767847"/>
                <a:gd name="connsiteY6" fmla="*/ 6858000 h 6858000"/>
                <a:gd name="connsiteX7" fmla="*/ 6765962 w 9767847"/>
                <a:gd name="connsiteY7" fmla="*/ 6854844 h 6858000"/>
                <a:gd name="connsiteX8" fmla="*/ 6804586 w 9767847"/>
                <a:gd name="connsiteY8" fmla="*/ 6817103 h 6858000"/>
                <a:gd name="connsiteX9" fmla="*/ 6881735 w 9767847"/>
                <a:gd name="connsiteY9" fmla="*/ 6741197 h 6858000"/>
                <a:gd name="connsiteX10" fmla="*/ 6958883 w 9767847"/>
                <a:gd name="connsiteY10" fmla="*/ 6664822 h 6858000"/>
                <a:gd name="connsiteX11" fmla="*/ 7267925 w 9767847"/>
                <a:gd name="connsiteY11" fmla="*/ 6355694 h 6858000"/>
                <a:gd name="connsiteX12" fmla="*/ 7424360 w 9767847"/>
                <a:gd name="connsiteY12" fmla="*/ 6200685 h 6858000"/>
                <a:gd name="connsiteX13" fmla="*/ 7504938 w 9767847"/>
                <a:gd name="connsiteY13" fmla="*/ 6122708 h 6858000"/>
                <a:gd name="connsiteX14" fmla="*/ 7546396 w 9767847"/>
                <a:gd name="connsiteY14" fmla="*/ 6083697 h 6858000"/>
                <a:gd name="connsiteX15" fmla="*/ 7588002 w 9767847"/>
                <a:gd name="connsiteY15" fmla="*/ 6045532 h 6858000"/>
                <a:gd name="connsiteX16" fmla="*/ 7631000 w 9767847"/>
                <a:gd name="connsiteY16" fmla="*/ 6006709 h 6858000"/>
                <a:gd name="connsiteX17" fmla="*/ 7675440 w 9767847"/>
                <a:gd name="connsiteY17" fmla="*/ 5968309 h 6858000"/>
                <a:gd name="connsiteX18" fmla="*/ 7720626 w 9767847"/>
                <a:gd name="connsiteY18" fmla="*/ 5930851 h 6858000"/>
                <a:gd name="connsiteX19" fmla="*/ 7766458 w 9767847"/>
                <a:gd name="connsiteY19" fmla="*/ 5894334 h 6858000"/>
                <a:gd name="connsiteX20" fmla="*/ 7955254 w 9767847"/>
                <a:gd name="connsiteY20" fmla="*/ 5756828 h 6858000"/>
                <a:gd name="connsiteX21" fmla="*/ 8352678 w 9767847"/>
                <a:gd name="connsiteY21" fmla="*/ 5517630 h 6858000"/>
                <a:gd name="connsiteX22" fmla="*/ 8451350 w 9767847"/>
                <a:gd name="connsiteY22" fmla="*/ 5465254 h 6858000"/>
                <a:gd name="connsiteX23" fmla="*/ 8548532 w 9767847"/>
                <a:gd name="connsiteY23" fmla="*/ 5413395 h 6858000"/>
                <a:gd name="connsiteX24" fmla="*/ 8729473 w 9767847"/>
                <a:gd name="connsiteY24" fmla="*/ 5309961 h 6858000"/>
                <a:gd name="connsiteX25" fmla="*/ 8770781 w 9767847"/>
                <a:gd name="connsiteY25" fmla="*/ 5283232 h 6858000"/>
                <a:gd name="connsiteX26" fmla="*/ 8790964 w 9767847"/>
                <a:gd name="connsiteY26" fmla="*/ 5269492 h 6858000"/>
                <a:gd name="connsiteX27" fmla="*/ 8810499 w 9767847"/>
                <a:gd name="connsiteY27" fmla="*/ 5255703 h 6858000"/>
                <a:gd name="connsiteX28" fmla="*/ 8883571 w 9767847"/>
                <a:gd name="connsiteY28" fmla="*/ 5198479 h 6858000"/>
                <a:gd name="connsiteX29" fmla="*/ 9006651 w 9767847"/>
                <a:gd name="connsiteY29" fmla="*/ 5070527 h 6858000"/>
                <a:gd name="connsiteX30" fmla="*/ 9033494 w 9767847"/>
                <a:gd name="connsiteY30" fmla="*/ 5034105 h 6858000"/>
                <a:gd name="connsiteX31" fmla="*/ 9040305 w 9767847"/>
                <a:gd name="connsiteY31" fmla="*/ 5024551 h 6858000"/>
                <a:gd name="connsiteX32" fmla="*/ 9046568 w 9767847"/>
                <a:gd name="connsiteY32" fmla="*/ 5015281 h 6858000"/>
                <a:gd name="connsiteX33" fmla="*/ 9058846 w 9767847"/>
                <a:gd name="connsiteY33" fmla="*/ 4996645 h 6858000"/>
                <a:gd name="connsiteX34" fmla="*/ 9104529 w 9767847"/>
                <a:gd name="connsiteY34" fmla="*/ 4918105 h 6858000"/>
                <a:gd name="connsiteX35" fmla="*/ 9181081 w 9767847"/>
                <a:gd name="connsiteY35" fmla="*/ 4744694 h 6858000"/>
                <a:gd name="connsiteX36" fmla="*/ 9240731 w 9767847"/>
                <a:gd name="connsiteY36" fmla="*/ 4557872 h 6858000"/>
                <a:gd name="connsiteX37" fmla="*/ 9265388 w 9767847"/>
                <a:gd name="connsiteY37" fmla="*/ 4461073 h 6858000"/>
                <a:gd name="connsiteX38" fmla="*/ 9276571 w 9767847"/>
                <a:gd name="connsiteY38" fmla="*/ 4411943 h 6858000"/>
                <a:gd name="connsiteX39" fmla="*/ 9281841 w 9767847"/>
                <a:gd name="connsiteY39" fmla="*/ 4387379 h 6858000"/>
                <a:gd name="connsiteX40" fmla="*/ 9286513 w 9767847"/>
                <a:gd name="connsiteY40" fmla="*/ 4364838 h 6858000"/>
                <a:gd name="connsiteX41" fmla="*/ 9296754 w 9767847"/>
                <a:gd name="connsiteY41" fmla="*/ 4312038 h 6858000"/>
                <a:gd name="connsiteX42" fmla="*/ 9301029 w 9767847"/>
                <a:gd name="connsiteY42" fmla="*/ 4289074 h 6858000"/>
                <a:gd name="connsiteX43" fmla="*/ 9302818 w 9767847"/>
                <a:gd name="connsiteY43" fmla="*/ 4278581 h 6858000"/>
                <a:gd name="connsiteX44" fmla="*/ 9304658 w 9767847"/>
                <a:gd name="connsiteY44" fmla="*/ 4266816 h 6858000"/>
                <a:gd name="connsiteX45" fmla="*/ 9312810 w 9767847"/>
                <a:gd name="connsiteY45" fmla="*/ 4215945 h 6858000"/>
                <a:gd name="connsiteX46" fmla="*/ 9316887 w 9767847"/>
                <a:gd name="connsiteY46" fmla="*/ 4190486 h 6858000"/>
                <a:gd name="connsiteX47" fmla="*/ 9318923 w 9767847"/>
                <a:gd name="connsiteY47" fmla="*/ 4177780 h 6858000"/>
                <a:gd name="connsiteX48" fmla="*/ 9320515 w 9767847"/>
                <a:gd name="connsiteY48" fmla="*/ 4164886 h 6858000"/>
                <a:gd name="connsiteX49" fmla="*/ 9332445 w 9767847"/>
                <a:gd name="connsiteY49" fmla="*/ 4064981 h 6858000"/>
                <a:gd name="connsiteX50" fmla="*/ 9336173 w 9767847"/>
                <a:gd name="connsiteY50" fmla="*/ 4018676 h 6858000"/>
                <a:gd name="connsiteX51" fmla="*/ 9340199 w 9767847"/>
                <a:gd name="connsiteY51" fmla="*/ 3965171 h 6858000"/>
                <a:gd name="connsiteX52" fmla="*/ 9347557 w 9767847"/>
                <a:gd name="connsiteY52" fmla="*/ 3765972 h 6858000"/>
                <a:gd name="connsiteX53" fmla="*/ 9346364 w 9767847"/>
                <a:gd name="connsiteY53" fmla="*/ 3664938 h 6858000"/>
                <a:gd name="connsiteX54" fmla="*/ 9344921 w 9767847"/>
                <a:gd name="connsiteY54" fmla="*/ 3615243 h 6858000"/>
                <a:gd name="connsiteX55" fmla="*/ 9344524 w 9767847"/>
                <a:gd name="connsiteY55" fmla="*/ 3603526 h 6858000"/>
                <a:gd name="connsiteX56" fmla="*/ 9343728 w 9767847"/>
                <a:gd name="connsiteY56" fmla="*/ 3590774 h 6858000"/>
                <a:gd name="connsiteX57" fmla="*/ 9342188 w 9767847"/>
                <a:gd name="connsiteY57" fmla="*/ 3565268 h 6858000"/>
                <a:gd name="connsiteX58" fmla="*/ 9339056 w 9767847"/>
                <a:gd name="connsiteY58" fmla="*/ 3514256 h 6858000"/>
                <a:gd name="connsiteX59" fmla="*/ 9334334 w 9767847"/>
                <a:gd name="connsiteY59" fmla="*/ 3463057 h 6858000"/>
                <a:gd name="connsiteX60" fmla="*/ 9329363 w 9767847"/>
                <a:gd name="connsiteY60" fmla="*/ 3411810 h 6858000"/>
                <a:gd name="connsiteX61" fmla="*/ 9328319 w 9767847"/>
                <a:gd name="connsiteY61" fmla="*/ 3400657 h 6858000"/>
                <a:gd name="connsiteX62" fmla="*/ 9327177 w 9767847"/>
                <a:gd name="connsiteY62" fmla="*/ 3390116 h 6858000"/>
                <a:gd name="connsiteX63" fmla="*/ 9324293 w 9767847"/>
                <a:gd name="connsiteY63" fmla="*/ 3366774 h 6858000"/>
                <a:gd name="connsiteX64" fmla="*/ 9320763 w 9767847"/>
                <a:gd name="connsiteY64" fmla="*/ 3340329 h 6858000"/>
                <a:gd name="connsiteX65" fmla="*/ 9317184 w 9767847"/>
                <a:gd name="connsiteY65" fmla="*/ 3311245 h 6858000"/>
                <a:gd name="connsiteX66" fmla="*/ 9311021 w 9767847"/>
                <a:gd name="connsiteY66" fmla="*/ 3266211 h 6858000"/>
                <a:gd name="connsiteX67" fmla="*/ 9302719 w 9767847"/>
                <a:gd name="connsiteY67" fmla="*/ 3215717 h 6858000"/>
                <a:gd name="connsiteX68" fmla="*/ 9293970 w 9767847"/>
                <a:gd name="connsiteY68" fmla="*/ 3165789 h 6858000"/>
                <a:gd name="connsiteX69" fmla="*/ 9252065 w 9767847"/>
                <a:gd name="connsiteY69" fmla="*/ 2967107 h 6858000"/>
                <a:gd name="connsiteX70" fmla="*/ 9227211 w 9767847"/>
                <a:gd name="connsiteY70" fmla="*/ 2868473 h 6858000"/>
                <a:gd name="connsiteX71" fmla="*/ 9220699 w 9767847"/>
                <a:gd name="connsiteY71" fmla="*/ 2844426 h 6858000"/>
                <a:gd name="connsiteX72" fmla="*/ 9213740 w 9767847"/>
                <a:gd name="connsiteY72" fmla="*/ 2820191 h 6858000"/>
                <a:gd name="connsiteX73" fmla="*/ 9199374 w 9767847"/>
                <a:gd name="connsiteY73" fmla="*/ 2771438 h 6858000"/>
                <a:gd name="connsiteX74" fmla="*/ 9061829 w 9767847"/>
                <a:gd name="connsiteY74" fmla="*/ 2385418 h 6858000"/>
                <a:gd name="connsiteX75" fmla="*/ 8978865 w 9767847"/>
                <a:gd name="connsiteY75" fmla="*/ 2196855 h 6858000"/>
                <a:gd name="connsiteX76" fmla="*/ 8956694 w 9767847"/>
                <a:gd name="connsiteY76" fmla="*/ 2150219 h 6858000"/>
                <a:gd name="connsiteX77" fmla="*/ 8934176 w 9767847"/>
                <a:gd name="connsiteY77" fmla="*/ 2103914 h 6858000"/>
                <a:gd name="connsiteX78" fmla="*/ 8887151 w 9767847"/>
                <a:gd name="connsiteY78" fmla="*/ 2011350 h 6858000"/>
                <a:gd name="connsiteX79" fmla="*/ 8787533 w 9767847"/>
                <a:gd name="connsiteY79" fmla="*/ 1828527 h 6858000"/>
                <a:gd name="connsiteX80" fmla="*/ 8761485 w 9767847"/>
                <a:gd name="connsiteY80" fmla="*/ 1783398 h 6858000"/>
                <a:gd name="connsiteX81" fmla="*/ 8734791 w 9767847"/>
                <a:gd name="connsiteY81" fmla="*/ 1737893 h 6858000"/>
                <a:gd name="connsiteX82" fmla="*/ 8680808 w 9767847"/>
                <a:gd name="connsiteY82" fmla="*/ 1648812 h 6858000"/>
                <a:gd name="connsiteX83" fmla="*/ 8567024 w 9767847"/>
                <a:gd name="connsiteY83" fmla="*/ 1472906 h 6858000"/>
                <a:gd name="connsiteX84" fmla="*/ 8537446 w 9767847"/>
                <a:gd name="connsiteY84" fmla="*/ 1429330 h 6858000"/>
                <a:gd name="connsiteX85" fmla="*/ 8507423 w 9767847"/>
                <a:gd name="connsiteY85" fmla="*/ 1385896 h 6858000"/>
                <a:gd name="connsiteX86" fmla="*/ 8446529 w 9767847"/>
                <a:gd name="connsiteY86" fmla="*/ 1300295 h 6858000"/>
                <a:gd name="connsiteX87" fmla="*/ 8319224 w 9767847"/>
                <a:gd name="connsiteY87" fmla="*/ 1131026 h 6858000"/>
                <a:gd name="connsiteX88" fmla="*/ 8286366 w 9767847"/>
                <a:gd name="connsiteY88" fmla="*/ 1089050 h 6858000"/>
                <a:gd name="connsiteX89" fmla="*/ 8270161 w 9767847"/>
                <a:gd name="connsiteY89" fmla="*/ 1068439 h 6858000"/>
                <a:gd name="connsiteX90" fmla="*/ 8253856 w 9767847"/>
                <a:gd name="connsiteY90" fmla="*/ 1048156 h 6858000"/>
                <a:gd name="connsiteX91" fmla="*/ 8186352 w 9767847"/>
                <a:gd name="connsiteY91" fmla="*/ 966275 h 6858000"/>
                <a:gd name="connsiteX92" fmla="*/ 8046768 w 9767847"/>
                <a:gd name="connsiteY92" fmla="*/ 805429 h 6858000"/>
                <a:gd name="connsiteX93" fmla="*/ 8010927 w 9767847"/>
                <a:gd name="connsiteY93" fmla="*/ 765853 h 6858000"/>
                <a:gd name="connsiteX94" fmla="*/ 7974788 w 9767847"/>
                <a:gd name="connsiteY94" fmla="*/ 726653 h 6858000"/>
                <a:gd name="connsiteX95" fmla="*/ 7901070 w 9767847"/>
                <a:gd name="connsiteY95" fmla="*/ 648724 h 6858000"/>
                <a:gd name="connsiteX96" fmla="*/ 7750054 w 9767847"/>
                <a:gd name="connsiteY96" fmla="*/ 497008 h 6858000"/>
                <a:gd name="connsiteX97" fmla="*/ 7592277 w 9767847"/>
                <a:gd name="connsiteY97" fmla="*/ 351221 h 6858000"/>
                <a:gd name="connsiteX98" fmla="*/ 7257734 w 9767847"/>
                <a:gd name="connsiteY98" fmla="*/ 76964 h 6858000"/>
                <a:gd name="connsiteX99" fmla="*/ 1886601 w 9767847"/>
                <a:gd name="connsiteY99" fmla="*/ 0 h 6858000"/>
                <a:gd name="connsiteX100" fmla="*/ 2292926 w 9767847"/>
                <a:gd name="connsiteY100" fmla="*/ 0 h 6858000"/>
                <a:gd name="connsiteX101" fmla="*/ 2135542 w 9767847"/>
                <a:gd name="connsiteY101" fmla="*/ 117781 h 6858000"/>
                <a:gd name="connsiteX102" fmla="*/ 1969576 w 9767847"/>
                <a:gd name="connsiteY102" fmla="*/ 254986 h 6858000"/>
                <a:gd name="connsiteX103" fmla="*/ 1659938 w 9767847"/>
                <a:gd name="connsiteY103" fmla="*/ 549855 h 6858000"/>
                <a:gd name="connsiteX104" fmla="*/ 729383 w 9767847"/>
                <a:gd name="connsiteY104" fmla="*/ 1936480 h 6858000"/>
                <a:gd name="connsiteX105" fmla="*/ 578465 w 9767847"/>
                <a:gd name="connsiteY105" fmla="*/ 2320807 h 6858000"/>
                <a:gd name="connsiteX106" fmla="*/ 465080 w 9767847"/>
                <a:gd name="connsiteY106" fmla="*/ 2714875 h 6858000"/>
                <a:gd name="connsiteX107" fmla="*/ 423820 w 9767847"/>
                <a:gd name="connsiteY107" fmla="*/ 2915436 h 6858000"/>
                <a:gd name="connsiteX108" fmla="*/ 392355 w 9767847"/>
                <a:gd name="connsiteY108" fmla="*/ 3118071 h 6858000"/>
                <a:gd name="connsiteX109" fmla="*/ 358801 w 9767847"/>
                <a:gd name="connsiteY109" fmla="*/ 3526915 h 6858000"/>
                <a:gd name="connsiteX110" fmla="*/ 410350 w 9767847"/>
                <a:gd name="connsiteY110" fmla="*/ 4348226 h 6858000"/>
                <a:gd name="connsiteX111" fmla="*/ 449022 w 9767847"/>
                <a:gd name="connsiteY111" fmla="*/ 4551049 h 6858000"/>
                <a:gd name="connsiteX112" fmla="*/ 498882 w 9767847"/>
                <a:gd name="connsiteY112" fmla="*/ 4752365 h 6858000"/>
                <a:gd name="connsiteX113" fmla="*/ 559775 w 9767847"/>
                <a:gd name="connsiteY113" fmla="*/ 4951657 h 6858000"/>
                <a:gd name="connsiteX114" fmla="*/ 631406 w 9767847"/>
                <a:gd name="connsiteY114" fmla="*/ 5147986 h 6858000"/>
                <a:gd name="connsiteX115" fmla="*/ 1023461 w 9767847"/>
                <a:gd name="connsiteY115" fmla="*/ 5893957 h 6858000"/>
                <a:gd name="connsiteX116" fmla="*/ 1575880 w 9767847"/>
                <a:gd name="connsiteY116" fmla="*/ 6547646 h 6858000"/>
                <a:gd name="connsiteX117" fmla="*/ 1905228 w 9767847"/>
                <a:gd name="connsiteY117" fmla="*/ 6829468 h 6858000"/>
                <a:gd name="connsiteX118" fmla="*/ 1944230 w 9767847"/>
                <a:gd name="connsiteY118" fmla="*/ 6858000 h 6858000"/>
                <a:gd name="connsiteX119" fmla="*/ 1372541 w 9767847"/>
                <a:gd name="connsiteY119" fmla="*/ 6858000 h 6858000"/>
                <a:gd name="connsiteX120" fmla="*/ 1115251 w 9767847"/>
                <a:gd name="connsiteY120" fmla="*/ 6590005 h 6858000"/>
                <a:gd name="connsiteX121" fmla="*/ 0 w 9767847"/>
                <a:gd name="connsiteY121" fmla="*/ 3649031 h 6858000"/>
                <a:gd name="connsiteX122" fmla="*/ 1777294 w 9767847"/>
                <a:gd name="connsiteY122" fmla="*/ 81317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Lst>
              <a:rect l="l" t="t" r="r" b="b"/>
              <a:pathLst>
                <a:path w="9767847" h="6858000">
                  <a:moveTo>
                    <a:pt x="7151367" y="0"/>
                  </a:moveTo>
                  <a:lnTo>
                    <a:pt x="7881247" y="0"/>
                  </a:lnTo>
                  <a:lnTo>
                    <a:pt x="7990553" y="81317"/>
                  </a:lnTo>
                  <a:cubicBezTo>
                    <a:pt x="9075991" y="929334"/>
                    <a:pt x="9767847" y="2212695"/>
                    <a:pt x="9767847" y="3649031"/>
                  </a:cubicBezTo>
                  <a:cubicBezTo>
                    <a:pt x="9767847" y="4766182"/>
                    <a:pt x="9349317" y="5790792"/>
                    <a:pt x="8652597" y="6590005"/>
                  </a:cubicBezTo>
                  <a:lnTo>
                    <a:pt x="8395306" y="6858000"/>
                  </a:lnTo>
                  <a:lnTo>
                    <a:pt x="6762603" y="6858000"/>
                  </a:lnTo>
                  <a:lnTo>
                    <a:pt x="6765962" y="6854844"/>
                  </a:lnTo>
                  <a:cubicBezTo>
                    <a:pt x="6779036" y="6842703"/>
                    <a:pt x="6791663" y="6829621"/>
                    <a:pt x="6804586" y="6817103"/>
                  </a:cubicBezTo>
                  <a:lnTo>
                    <a:pt x="6881735" y="6741197"/>
                  </a:lnTo>
                  <a:cubicBezTo>
                    <a:pt x="6907435" y="6715881"/>
                    <a:pt x="6933134" y="6690798"/>
                    <a:pt x="6958883" y="6664822"/>
                  </a:cubicBezTo>
                  <a:lnTo>
                    <a:pt x="7267925" y="6355694"/>
                  </a:lnTo>
                  <a:lnTo>
                    <a:pt x="7424360" y="6200685"/>
                  </a:lnTo>
                  <a:cubicBezTo>
                    <a:pt x="7450754" y="6174802"/>
                    <a:pt x="7477598" y="6148731"/>
                    <a:pt x="7504938" y="6122708"/>
                  </a:cubicBezTo>
                  <a:lnTo>
                    <a:pt x="7546396" y="6083697"/>
                  </a:lnTo>
                  <a:cubicBezTo>
                    <a:pt x="7560264" y="6070803"/>
                    <a:pt x="7574780" y="6057532"/>
                    <a:pt x="7588002" y="6045532"/>
                  </a:cubicBezTo>
                  <a:lnTo>
                    <a:pt x="7631000" y="6006709"/>
                  </a:lnTo>
                  <a:lnTo>
                    <a:pt x="7675440" y="5968309"/>
                  </a:lnTo>
                  <a:cubicBezTo>
                    <a:pt x="7690404" y="5955698"/>
                    <a:pt x="7705564" y="5943321"/>
                    <a:pt x="7720626" y="5930851"/>
                  </a:cubicBezTo>
                  <a:cubicBezTo>
                    <a:pt x="7735738" y="5918427"/>
                    <a:pt x="7751197" y="5906521"/>
                    <a:pt x="7766458" y="5894334"/>
                  </a:cubicBezTo>
                  <a:cubicBezTo>
                    <a:pt x="7827949" y="5846192"/>
                    <a:pt x="7890979" y="5800499"/>
                    <a:pt x="7955254" y="5756828"/>
                  </a:cubicBezTo>
                  <a:cubicBezTo>
                    <a:pt x="8083800" y="5669534"/>
                    <a:pt x="8216872" y="5590336"/>
                    <a:pt x="8352678" y="5517630"/>
                  </a:cubicBezTo>
                  <a:lnTo>
                    <a:pt x="8451350" y="5465254"/>
                  </a:lnTo>
                  <a:lnTo>
                    <a:pt x="8548532" y="5413395"/>
                  </a:lnTo>
                  <a:cubicBezTo>
                    <a:pt x="8612110" y="5379090"/>
                    <a:pt x="8673251" y="5345208"/>
                    <a:pt x="8729473" y="5309961"/>
                  </a:cubicBezTo>
                  <a:cubicBezTo>
                    <a:pt x="8743591" y="5301115"/>
                    <a:pt x="8757161" y="5292361"/>
                    <a:pt x="8770781" y="5283232"/>
                  </a:cubicBezTo>
                  <a:cubicBezTo>
                    <a:pt x="8777591" y="5278667"/>
                    <a:pt x="8784451" y="5274103"/>
                    <a:pt x="8790964" y="5269492"/>
                  </a:cubicBezTo>
                  <a:cubicBezTo>
                    <a:pt x="8797574" y="5264879"/>
                    <a:pt x="8804235" y="5260314"/>
                    <a:pt x="8810499" y="5255703"/>
                  </a:cubicBezTo>
                  <a:cubicBezTo>
                    <a:pt x="8835999" y="5237303"/>
                    <a:pt x="8860407" y="5218291"/>
                    <a:pt x="8883571" y="5198479"/>
                  </a:cubicBezTo>
                  <a:cubicBezTo>
                    <a:pt x="8929900" y="5158856"/>
                    <a:pt x="8971258" y="5116315"/>
                    <a:pt x="9006651" y="5070527"/>
                  </a:cubicBezTo>
                  <a:cubicBezTo>
                    <a:pt x="9015351" y="5059328"/>
                    <a:pt x="9024398" y="5046857"/>
                    <a:pt x="9033494" y="5034105"/>
                  </a:cubicBezTo>
                  <a:lnTo>
                    <a:pt x="9040305" y="5024551"/>
                  </a:lnTo>
                  <a:lnTo>
                    <a:pt x="9046568" y="5015281"/>
                  </a:lnTo>
                  <a:cubicBezTo>
                    <a:pt x="9050743" y="5009163"/>
                    <a:pt x="9054819" y="5002952"/>
                    <a:pt x="9058846" y="4996645"/>
                  </a:cubicBezTo>
                  <a:cubicBezTo>
                    <a:pt x="9075002" y="4971517"/>
                    <a:pt x="9090212" y="4945305"/>
                    <a:pt x="9104529" y="4918105"/>
                  </a:cubicBezTo>
                  <a:cubicBezTo>
                    <a:pt x="9133211" y="4863752"/>
                    <a:pt x="9158313" y="4805447"/>
                    <a:pt x="9181081" y="4744694"/>
                  </a:cubicBezTo>
                  <a:cubicBezTo>
                    <a:pt x="9203748" y="4684178"/>
                    <a:pt x="9223383" y="4621778"/>
                    <a:pt x="9240731" y="4557872"/>
                  </a:cubicBezTo>
                  <a:cubicBezTo>
                    <a:pt x="9249481" y="4525966"/>
                    <a:pt x="9257682" y="4493684"/>
                    <a:pt x="9265388" y="4461073"/>
                  </a:cubicBezTo>
                  <a:cubicBezTo>
                    <a:pt x="9269215" y="4444744"/>
                    <a:pt x="9272943" y="4428367"/>
                    <a:pt x="9276571" y="4411943"/>
                  </a:cubicBezTo>
                  <a:lnTo>
                    <a:pt x="9281841" y="4387379"/>
                  </a:lnTo>
                  <a:lnTo>
                    <a:pt x="9286513" y="4364838"/>
                  </a:lnTo>
                  <a:lnTo>
                    <a:pt x="9296754" y="4312038"/>
                  </a:lnTo>
                  <a:lnTo>
                    <a:pt x="9301029" y="4289074"/>
                  </a:lnTo>
                  <a:lnTo>
                    <a:pt x="9302818" y="4278581"/>
                  </a:lnTo>
                  <a:lnTo>
                    <a:pt x="9304658" y="4266816"/>
                  </a:lnTo>
                  <a:lnTo>
                    <a:pt x="9312810" y="4215945"/>
                  </a:lnTo>
                  <a:lnTo>
                    <a:pt x="9316887" y="4190486"/>
                  </a:lnTo>
                  <a:lnTo>
                    <a:pt x="9318923" y="4177780"/>
                  </a:lnTo>
                  <a:cubicBezTo>
                    <a:pt x="9319570" y="4173546"/>
                    <a:pt x="9319969" y="4169169"/>
                    <a:pt x="9320515" y="4164886"/>
                  </a:cubicBezTo>
                  <a:lnTo>
                    <a:pt x="9332445" y="4064981"/>
                  </a:lnTo>
                  <a:cubicBezTo>
                    <a:pt x="9333836" y="4052370"/>
                    <a:pt x="9334880" y="4036888"/>
                    <a:pt x="9336173" y="4018676"/>
                  </a:cubicBezTo>
                  <a:lnTo>
                    <a:pt x="9340199" y="3965171"/>
                  </a:lnTo>
                  <a:cubicBezTo>
                    <a:pt x="9345071" y="3899806"/>
                    <a:pt x="9347358" y="3832983"/>
                    <a:pt x="9347557" y="3765972"/>
                  </a:cubicBezTo>
                  <a:cubicBezTo>
                    <a:pt x="9347656" y="3732420"/>
                    <a:pt x="9347209" y="3698773"/>
                    <a:pt x="9346364" y="3664938"/>
                  </a:cubicBezTo>
                  <a:lnTo>
                    <a:pt x="9344921" y="3615243"/>
                  </a:lnTo>
                  <a:lnTo>
                    <a:pt x="9344524" y="3603526"/>
                  </a:lnTo>
                  <a:lnTo>
                    <a:pt x="9343728" y="3590774"/>
                  </a:lnTo>
                  <a:lnTo>
                    <a:pt x="9342188" y="3565268"/>
                  </a:lnTo>
                  <a:lnTo>
                    <a:pt x="9339056" y="3514256"/>
                  </a:lnTo>
                  <a:cubicBezTo>
                    <a:pt x="9337914" y="3497221"/>
                    <a:pt x="9335874" y="3480138"/>
                    <a:pt x="9334334" y="3463057"/>
                  </a:cubicBezTo>
                  <a:lnTo>
                    <a:pt x="9329363" y="3411810"/>
                  </a:lnTo>
                  <a:lnTo>
                    <a:pt x="9328319" y="3400657"/>
                  </a:lnTo>
                  <a:lnTo>
                    <a:pt x="9327177" y="3390116"/>
                  </a:lnTo>
                  <a:lnTo>
                    <a:pt x="9324293" y="3366774"/>
                  </a:lnTo>
                  <a:lnTo>
                    <a:pt x="9320763" y="3340329"/>
                  </a:lnTo>
                  <a:lnTo>
                    <a:pt x="9317184" y="3311245"/>
                  </a:lnTo>
                  <a:cubicBezTo>
                    <a:pt x="9315594" y="3296893"/>
                    <a:pt x="9313506" y="3282306"/>
                    <a:pt x="9311021" y="3266211"/>
                  </a:cubicBezTo>
                  <a:lnTo>
                    <a:pt x="9302719" y="3215717"/>
                  </a:lnTo>
                  <a:cubicBezTo>
                    <a:pt x="9299936" y="3199059"/>
                    <a:pt x="9297003" y="3182400"/>
                    <a:pt x="9293970" y="3165789"/>
                  </a:cubicBezTo>
                  <a:cubicBezTo>
                    <a:pt x="9281891" y="3099295"/>
                    <a:pt x="9267674" y="3033084"/>
                    <a:pt x="9252065" y="2967107"/>
                  </a:cubicBezTo>
                  <a:cubicBezTo>
                    <a:pt x="9244261" y="2934167"/>
                    <a:pt x="9235959" y="2901273"/>
                    <a:pt x="9227211" y="2868473"/>
                  </a:cubicBezTo>
                  <a:lnTo>
                    <a:pt x="9220699" y="2844426"/>
                  </a:lnTo>
                  <a:lnTo>
                    <a:pt x="9213740" y="2820191"/>
                  </a:lnTo>
                  <a:cubicBezTo>
                    <a:pt x="9209216" y="2804049"/>
                    <a:pt x="9204345" y="2787768"/>
                    <a:pt x="9199374" y="2771438"/>
                  </a:cubicBezTo>
                  <a:cubicBezTo>
                    <a:pt x="9159855" y="2641086"/>
                    <a:pt x="9114272" y="2512099"/>
                    <a:pt x="9061829" y="2385418"/>
                  </a:cubicBezTo>
                  <a:cubicBezTo>
                    <a:pt x="9035582" y="2322077"/>
                    <a:pt x="9008043" y="2259160"/>
                    <a:pt x="8978865" y="2196855"/>
                  </a:cubicBezTo>
                  <a:lnTo>
                    <a:pt x="8956694" y="2150219"/>
                  </a:lnTo>
                  <a:lnTo>
                    <a:pt x="8934176" y="2103914"/>
                  </a:lnTo>
                  <a:cubicBezTo>
                    <a:pt x="8918915" y="2073091"/>
                    <a:pt x="8903157" y="2042032"/>
                    <a:pt x="8887151" y="2011350"/>
                  </a:cubicBezTo>
                  <a:cubicBezTo>
                    <a:pt x="8854988" y="1949891"/>
                    <a:pt x="8822082" y="1888810"/>
                    <a:pt x="8787533" y="1828527"/>
                  </a:cubicBezTo>
                  <a:lnTo>
                    <a:pt x="8761485" y="1783398"/>
                  </a:lnTo>
                  <a:lnTo>
                    <a:pt x="8734791" y="1737893"/>
                  </a:lnTo>
                  <a:cubicBezTo>
                    <a:pt x="8717047" y="1707823"/>
                    <a:pt x="8699200" y="1678363"/>
                    <a:pt x="8680808" y="1648812"/>
                  </a:cubicBezTo>
                  <a:cubicBezTo>
                    <a:pt x="8644322" y="1589658"/>
                    <a:pt x="8606194" y="1531118"/>
                    <a:pt x="8567024" y="1472906"/>
                  </a:cubicBezTo>
                  <a:lnTo>
                    <a:pt x="8537446" y="1429330"/>
                  </a:lnTo>
                  <a:lnTo>
                    <a:pt x="8507423" y="1385896"/>
                  </a:lnTo>
                  <a:cubicBezTo>
                    <a:pt x="8487390" y="1357284"/>
                    <a:pt x="8467158" y="1328719"/>
                    <a:pt x="8446529" y="1300295"/>
                  </a:cubicBezTo>
                  <a:cubicBezTo>
                    <a:pt x="8405271" y="1243496"/>
                    <a:pt x="8362718" y="1187120"/>
                    <a:pt x="8319224" y="1131026"/>
                  </a:cubicBezTo>
                  <a:lnTo>
                    <a:pt x="8286366" y="1089050"/>
                  </a:lnTo>
                  <a:lnTo>
                    <a:pt x="8270161" y="1068439"/>
                  </a:lnTo>
                  <a:lnTo>
                    <a:pt x="8253856" y="1048156"/>
                  </a:lnTo>
                  <a:cubicBezTo>
                    <a:pt x="8231636" y="1020675"/>
                    <a:pt x="8209117" y="993381"/>
                    <a:pt x="8186352" y="966275"/>
                  </a:cubicBezTo>
                  <a:cubicBezTo>
                    <a:pt x="8140917" y="911922"/>
                    <a:pt x="8094240" y="858417"/>
                    <a:pt x="8046768" y="805429"/>
                  </a:cubicBezTo>
                  <a:lnTo>
                    <a:pt x="8010927" y="765853"/>
                  </a:lnTo>
                  <a:lnTo>
                    <a:pt x="7974788" y="726653"/>
                  </a:lnTo>
                  <a:cubicBezTo>
                    <a:pt x="7950382" y="700489"/>
                    <a:pt x="7925824" y="674465"/>
                    <a:pt x="7901070" y="648724"/>
                  </a:cubicBezTo>
                  <a:cubicBezTo>
                    <a:pt x="7851510" y="597289"/>
                    <a:pt x="7801404" y="546514"/>
                    <a:pt x="7750054" y="497008"/>
                  </a:cubicBezTo>
                  <a:cubicBezTo>
                    <a:pt x="7698902" y="447644"/>
                    <a:pt x="7645913" y="398938"/>
                    <a:pt x="7592277" y="351221"/>
                  </a:cubicBezTo>
                  <a:cubicBezTo>
                    <a:pt x="7484856" y="255786"/>
                    <a:pt x="7373308" y="164304"/>
                    <a:pt x="7257734" y="76964"/>
                  </a:cubicBezTo>
                  <a:close/>
                  <a:moveTo>
                    <a:pt x="1886601" y="0"/>
                  </a:moveTo>
                  <a:lnTo>
                    <a:pt x="2292926" y="0"/>
                  </a:lnTo>
                  <a:lnTo>
                    <a:pt x="2135542" y="117781"/>
                  </a:lnTo>
                  <a:cubicBezTo>
                    <a:pt x="2078998" y="162280"/>
                    <a:pt x="2023659" y="208045"/>
                    <a:pt x="1969576" y="254986"/>
                  </a:cubicBezTo>
                  <a:cubicBezTo>
                    <a:pt x="1861309" y="348820"/>
                    <a:pt x="1758064" y="447314"/>
                    <a:pt x="1659938" y="549855"/>
                  </a:cubicBezTo>
                  <a:cubicBezTo>
                    <a:pt x="1266987" y="960346"/>
                    <a:pt x="953820" y="1431495"/>
                    <a:pt x="729383" y="1936480"/>
                  </a:cubicBezTo>
                  <a:cubicBezTo>
                    <a:pt x="673260" y="2062362"/>
                    <a:pt x="622855" y="2190972"/>
                    <a:pt x="578465" y="2320807"/>
                  </a:cubicBezTo>
                  <a:cubicBezTo>
                    <a:pt x="534125" y="2450687"/>
                    <a:pt x="496147" y="2582216"/>
                    <a:pt x="465080" y="2714875"/>
                  </a:cubicBezTo>
                  <a:cubicBezTo>
                    <a:pt x="449769" y="2780991"/>
                    <a:pt x="435850" y="2848191"/>
                    <a:pt x="423820" y="2915436"/>
                  </a:cubicBezTo>
                  <a:cubicBezTo>
                    <a:pt x="411840" y="2982731"/>
                    <a:pt x="401054" y="3050260"/>
                    <a:pt x="392355" y="3118071"/>
                  </a:cubicBezTo>
                  <a:cubicBezTo>
                    <a:pt x="374509" y="3253646"/>
                    <a:pt x="363424" y="3389880"/>
                    <a:pt x="358801" y="3526915"/>
                  </a:cubicBezTo>
                  <a:cubicBezTo>
                    <a:pt x="349009" y="3800843"/>
                    <a:pt x="366357" y="4075570"/>
                    <a:pt x="410350" y="4348226"/>
                  </a:cubicBezTo>
                  <a:cubicBezTo>
                    <a:pt x="421286" y="4416132"/>
                    <a:pt x="434209" y="4483660"/>
                    <a:pt x="449022" y="4551049"/>
                  </a:cubicBezTo>
                  <a:cubicBezTo>
                    <a:pt x="463737" y="4618436"/>
                    <a:pt x="480389" y="4685588"/>
                    <a:pt x="498882" y="4752365"/>
                  </a:cubicBezTo>
                  <a:cubicBezTo>
                    <a:pt x="517373" y="4819141"/>
                    <a:pt x="537704" y="4885635"/>
                    <a:pt x="559775" y="4951657"/>
                  </a:cubicBezTo>
                  <a:cubicBezTo>
                    <a:pt x="581946" y="5017775"/>
                    <a:pt x="605358" y="5083375"/>
                    <a:pt x="631406" y="5147986"/>
                  </a:cubicBezTo>
                  <a:cubicBezTo>
                    <a:pt x="734055" y="5407608"/>
                    <a:pt x="865188" y="5658570"/>
                    <a:pt x="1023461" y="5893957"/>
                  </a:cubicBezTo>
                  <a:cubicBezTo>
                    <a:pt x="1181487" y="6129578"/>
                    <a:pt x="1367051" y="6349247"/>
                    <a:pt x="1575880" y="6547646"/>
                  </a:cubicBezTo>
                  <a:cubicBezTo>
                    <a:pt x="1680269" y="6646916"/>
                    <a:pt x="1790338" y="6740939"/>
                    <a:pt x="1905228" y="6829468"/>
                  </a:cubicBezTo>
                  <a:lnTo>
                    <a:pt x="1944230" y="6858000"/>
                  </a:lnTo>
                  <a:lnTo>
                    <a:pt x="1372541" y="6858000"/>
                  </a:lnTo>
                  <a:lnTo>
                    <a:pt x="1115251" y="6590005"/>
                  </a:lnTo>
                  <a:cubicBezTo>
                    <a:pt x="418530" y="5790792"/>
                    <a:pt x="0" y="4766182"/>
                    <a:pt x="0" y="3649031"/>
                  </a:cubicBezTo>
                  <a:cubicBezTo>
                    <a:pt x="0" y="2212695"/>
                    <a:pt x="691856" y="929334"/>
                    <a:pt x="1777294" y="81317"/>
                  </a:cubicBezTo>
                  <a:close/>
                </a:path>
              </a:pathLst>
            </a:custGeom>
            <a:solidFill>
              <a:schemeClr val="bg1">
                <a:alpha val="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grpSp>
      <p:sp>
        <p:nvSpPr>
          <p:cNvPr id="2" name="Title 1">
            <a:extLst>
              <a:ext uri="{FF2B5EF4-FFF2-40B4-BE49-F238E27FC236}">
                <a16:creationId xmlns:a16="http://schemas.microsoft.com/office/drawing/2014/main" id="{10F4251D-887C-84B5-FB81-6986D59AE416}"/>
              </a:ext>
            </a:extLst>
          </p:cNvPr>
          <p:cNvSpPr>
            <a:spLocks noGrp="1"/>
          </p:cNvSpPr>
          <p:nvPr>
            <p:ph type="title"/>
          </p:nvPr>
        </p:nvSpPr>
        <p:spPr>
          <a:xfrm>
            <a:off x="3215729" y="1764407"/>
            <a:ext cx="5760846" cy="2310312"/>
          </a:xfrm>
        </p:spPr>
        <p:txBody>
          <a:bodyPr vert="horz" lIns="91440" tIns="45720" rIns="91440" bIns="45720" rtlCol="0" anchor="b">
            <a:normAutofit/>
          </a:bodyPr>
          <a:lstStyle/>
          <a:p>
            <a:pPr algn="ctr"/>
            <a:r>
              <a:rPr lang="en-US" sz="4800" kern="1200">
                <a:solidFill>
                  <a:schemeClr val="tx2"/>
                </a:solidFill>
                <a:latin typeface="+mj-lt"/>
                <a:ea typeface="+mj-ea"/>
                <a:cs typeface="+mj-cs"/>
              </a:rPr>
              <a:t>Impact of microbiome studies in medical and planetary health</a:t>
            </a:r>
          </a:p>
        </p:txBody>
      </p:sp>
    </p:spTree>
    <p:extLst>
      <p:ext uri="{BB962C8B-B14F-4D97-AF65-F5344CB8AC3E}">
        <p14:creationId xmlns:p14="http://schemas.microsoft.com/office/powerpoint/2010/main" val="38529671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055" name="Rectangle 2054">
            <a:extLst>
              <a:ext uri="{FF2B5EF4-FFF2-40B4-BE49-F238E27FC236}">
                <a16:creationId xmlns:a16="http://schemas.microsoft.com/office/drawing/2014/main" id="{92CC1E4F-F1F0-B945-BE50-C72A7103E8A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Neue Haas Grotesk Text Pro"/>
              <a:ea typeface="+mn-ea"/>
              <a:cs typeface="+mn-cs"/>
            </a:endParaRPr>
          </a:p>
        </p:txBody>
      </p:sp>
      <p:sp>
        <p:nvSpPr>
          <p:cNvPr id="2" name="Title 1">
            <a:extLst>
              <a:ext uri="{FF2B5EF4-FFF2-40B4-BE49-F238E27FC236}">
                <a16:creationId xmlns:a16="http://schemas.microsoft.com/office/drawing/2014/main" id="{DB7A68AE-7C10-E7E7-40D8-0125E0C1F66F}"/>
              </a:ext>
            </a:extLst>
          </p:cNvPr>
          <p:cNvSpPr>
            <a:spLocks noGrp="1"/>
          </p:cNvSpPr>
          <p:nvPr>
            <p:ph type="title"/>
          </p:nvPr>
        </p:nvSpPr>
        <p:spPr>
          <a:xfrm>
            <a:off x="8270420" y="1387927"/>
            <a:ext cx="3212502" cy="1942773"/>
          </a:xfrm>
        </p:spPr>
        <p:txBody>
          <a:bodyPr vert="horz" lIns="91440" tIns="45720" rIns="91440" bIns="45720" rtlCol="0" anchor="b">
            <a:normAutofit/>
          </a:bodyPr>
          <a:lstStyle/>
          <a:p>
            <a:r>
              <a:rPr lang="en-US" sz="3300" b="1" kern="1200" dirty="0">
                <a:solidFill>
                  <a:schemeClr val="tx1"/>
                </a:solidFill>
                <a:latin typeface="+mj-lt"/>
                <a:ea typeface="+mj-ea"/>
                <a:cs typeface="+mj-cs"/>
              </a:rPr>
              <a:t>Microbiome has been associated with a variety of diseases </a:t>
            </a:r>
          </a:p>
        </p:txBody>
      </p:sp>
      <p:pic>
        <p:nvPicPr>
          <p:cNvPr id="2050" name="Picture 2" descr="Fig. 1">
            <a:extLst>
              <a:ext uri="{FF2B5EF4-FFF2-40B4-BE49-F238E27FC236}">
                <a16:creationId xmlns:a16="http://schemas.microsoft.com/office/drawing/2014/main" id="{90C191E8-ED4B-E122-2BCB-BA79704548F8}"/>
              </a:ext>
            </a:extLst>
          </p:cNvPr>
          <p:cNvPicPr>
            <a:picLocks noChangeAspect="1" noChangeArrowheads="1"/>
          </p:cNvPicPr>
          <p:nvPr/>
        </p:nvPicPr>
        <p:blipFill>
          <a:blip r:embed="rId3">
            <a:extLst>
              <a:ext uri="{28A0092B-C50C-407E-A947-70E740481C1C}">
                <a14:useLocalDpi xmlns:a14="http://schemas.microsoft.com/office/drawing/2010/main" val="0"/>
              </a:ext>
            </a:extLst>
          </a:blip>
          <a:srcRect r="-2" b="1062"/>
          <a:stretch>
            <a:fillRect/>
          </a:stretch>
        </p:blipFill>
        <p:spPr bwMode="auto">
          <a:xfrm>
            <a:off x="20" y="10"/>
            <a:ext cx="7723393" cy="6857990"/>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8140B6EE-B0EF-631F-981F-DDE73B1C198B}"/>
              </a:ext>
            </a:extLst>
          </p:cNvPr>
          <p:cNvSpPr txBox="1"/>
          <p:nvPr/>
        </p:nvSpPr>
        <p:spPr>
          <a:xfrm>
            <a:off x="8270420" y="3412998"/>
            <a:ext cx="3212502" cy="2767366"/>
          </a:xfrm>
          <a:prstGeom prst="rect">
            <a:avLst/>
          </a:prstGeom>
        </p:spPr>
        <p:txBody>
          <a:bodyPr vert="horz" lIns="91440" tIns="45720" rIns="91440" bIns="45720" rtlCol="0">
            <a:normAutofit/>
          </a:bodyPr>
          <a:lstStyle/>
          <a:p>
            <a:pPr marL="285750" indent="-228600">
              <a:lnSpc>
                <a:spcPct val="110000"/>
              </a:lnSpc>
              <a:spcAft>
                <a:spcPts val="600"/>
              </a:spcAft>
              <a:buFont typeface="Arial" panose="020B0604020202020204" pitchFamily="34" charset="0"/>
              <a:buChar char="•"/>
            </a:pPr>
            <a:r>
              <a:rPr lang="en-US" sz="1700" dirty="0"/>
              <a:t>Microbiota: cause or consequence of the disease?</a:t>
            </a:r>
          </a:p>
          <a:p>
            <a:pPr marL="285750" indent="-228600">
              <a:lnSpc>
                <a:spcPct val="110000"/>
              </a:lnSpc>
              <a:spcAft>
                <a:spcPts val="600"/>
              </a:spcAft>
              <a:buFont typeface="Arial" panose="020B0604020202020204" pitchFamily="34" charset="0"/>
              <a:buChar char="•"/>
            </a:pPr>
            <a:r>
              <a:rPr lang="en-US" sz="1700" dirty="0"/>
              <a:t>For some diseases it may also be a disease modifier or may metabolize the drugs administered to the diseased individuals</a:t>
            </a:r>
          </a:p>
        </p:txBody>
      </p:sp>
    </p:spTree>
    <p:extLst>
      <p:ext uri="{BB962C8B-B14F-4D97-AF65-F5344CB8AC3E}">
        <p14:creationId xmlns:p14="http://schemas.microsoft.com/office/powerpoint/2010/main" val="231145493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47B7F42-7DF3-7366-2432-8A90F1D583D8}"/>
              </a:ext>
            </a:extLst>
          </p:cNvPr>
          <p:cNvSpPr>
            <a:spLocks noGrp="1"/>
          </p:cNvSpPr>
          <p:nvPr>
            <p:ph type="title"/>
          </p:nvPr>
        </p:nvSpPr>
        <p:spPr>
          <a:xfrm>
            <a:off x="720437" y="365125"/>
            <a:ext cx="11028218" cy="1325563"/>
          </a:xfrm>
        </p:spPr>
        <p:txBody>
          <a:bodyPr/>
          <a:lstStyle/>
          <a:p>
            <a:r>
              <a:rPr lang="en-DK" dirty="0"/>
              <a:t>Obesity associated gut microbiome – a transmissible trait</a:t>
            </a:r>
          </a:p>
        </p:txBody>
      </p:sp>
      <p:pic>
        <p:nvPicPr>
          <p:cNvPr id="5" name="Picture 4" descr="A screenshot of a web page&#10;&#10;AI-generated content may be incorrect.">
            <a:extLst>
              <a:ext uri="{FF2B5EF4-FFF2-40B4-BE49-F238E27FC236}">
                <a16:creationId xmlns:a16="http://schemas.microsoft.com/office/drawing/2014/main" id="{EC3FEC11-6718-3444-62B3-718F55AC881D}"/>
              </a:ext>
            </a:extLst>
          </p:cNvPr>
          <p:cNvPicPr>
            <a:picLocks noChangeAspect="1"/>
          </p:cNvPicPr>
          <p:nvPr/>
        </p:nvPicPr>
        <p:blipFill>
          <a:blip r:embed="rId3"/>
          <a:stretch>
            <a:fillRect/>
          </a:stretch>
        </p:blipFill>
        <p:spPr>
          <a:xfrm>
            <a:off x="838200" y="1690688"/>
            <a:ext cx="4749800" cy="1473200"/>
          </a:xfrm>
          <a:prstGeom prst="rect">
            <a:avLst/>
          </a:prstGeom>
        </p:spPr>
      </p:pic>
      <p:pic>
        <p:nvPicPr>
          <p:cNvPr id="7" name="Picture 6" descr="A graph of a plant&#10;&#10;AI-generated content may be incorrect.">
            <a:extLst>
              <a:ext uri="{FF2B5EF4-FFF2-40B4-BE49-F238E27FC236}">
                <a16:creationId xmlns:a16="http://schemas.microsoft.com/office/drawing/2014/main" id="{57A146FE-EC58-3FB5-2443-484A22A02215}"/>
              </a:ext>
            </a:extLst>
          </p:cNvPr>
          <p:cNvPicPr>
            <a:picLocks noChangeAspect="1"/>
          </p:cNvPicPr>
          <p:nvPr/>
        </p:nvPicPr>
        <p:blipFill>
          <a:blip r:embed="rId4"/>
          <a:stretch>
            <a:fillRect/>
          </a:stretch>
        </p:blipFill>
        <p:spPr>
          <a:xfrm>
            <a:off x="5867399" y="1670791"/>
            <a:ext cx="6324601" cy="3601748"/>
          </a:xfrm>
          <a:prstGeom prst="rect">
            <a:avLst/>
          </a:prstGeom>
        </p:spPr>
      </p:pic>
      <p:sp>
        <p:nvSpPr>
          <p:cNvPr id="9" name="TextBox 8">
            <a:extLst>
              <a:ext uri="{FF2B5EF4-FFF2-40B4-BE49-F238E27FC236}">
                <a16:creationId xmlns:a16="http://schemas.microsoft.com/office/drawing/2014/main" id="{202603B7-A256-8AE4-AEDC-A30230CA47B8}"/>
              </a:ext>
            </a:extLst>
          </p:cNvPr>
          <p:cNvSpPr txBox="1"/>
          <p:nvPr/>
        </p:nvSpPr>
        <p:spPr>
          <a:xfrm>
            <a:off x="2847108" y="3163888"/>
            <a:ext cx="3020291" cy="307777"/>
          </a:xfrm>
          <a:prstGeom prst="rect">
            <a:avLst/>
          </a:prstGeom>
          <a:noFill/>
        </p:spPr>
        <p:txBody>
          <a:bodyPr wrap="square">
            <a:spAutoFit/>
          </a:bodyPr>
          <a:lstStyle/>
          <a:p>
            <a:r>
              <a:rPr lang="en-GB" sz="1400" b="0" i="0" dirty="0">
                <a:solidFill>
                  <a:srgbClr val="222222"/>
                </a:solidFill>
                <a:effectLst/>
                <a:latin typeface="-apple-system"/>
                <a:hlinkClick r:id="rId5"/>
              </a:rPr>
              <a:t>https://doi.org/10.1038/nature05414</a:t>
            </a:r>
            <a:endParaRPr lang="en-GB" sz="1400" b="0" i="0" dirty="0">
              <a:solidFill>
                <a:srgbClr val="222222"/>
              </a:solidFill>
              <a:effectLst/>
              <a:latin typeface="-apple-system"/>
            </a:endParaRPr>
          </a:p>
        </p:txBody>
      </p:sp>
      <p:sp>
        <p:nvSpPr>
          <p:cNvPr id="10" name="TextBox 9">
            <a:extLst>
              <a:ext uri="{FF2B5EF4-FFF2-40B4-BE49-F238E27FC236}">
                <a16:creationId xmlns:a16="http://schemas.microsoft.com/office/drawing/2014/main" id="{4E5418EF-12C2-EAB9-2C71-ABCF7EA7D033}"/>
              </a:ext>
            </a:extLst>
          </p:cNvPr>
          <p:cNvSpPr txBox="1"/>
          <p:nvPr/>
        </p:nvSpPr>
        <p:spPr>
          <a:xfrm>
            <a:off x="942110" y="3837710"/>
            <a:ext cx="4925290" cy="2585323"/>
          </a:xfrm>
          <a:prstGeom prst="rect">
            <a:avLst/>
          </a:prstGeom>
          <a:noFill/>
        </p:spPr>
        <p:txBody>
          <a:bodyPr wrap="square" rtlCol="0">
            <a:spAutoFit/>
          </a:bodyPr>
          <a:lstStyle/>
          <a:p>
            <a:pPr marL="285750" indent="-285750">
              <a:buFont typeface="Arial" panose="020B0604020202020204" pitchFamily="34" charset="0"/>
              <a:buChar char="•"/>
            </a:pPr>
            <a:r>
              <a:rPr lang="en-GB" dirty="0"/>
              <a:t>Obese microbiome has an increased capacity to harvest energy from the diet</a:t>
            </a:r>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r>
              <a:rPr lang="en-GB" b="1" dirty="0"/>
              <a:t>The trait is transmissible!</a:t>
            </a:r>
            <a:br>
              <a:rPr lang="en-GB" dirty="0"/>
            </a:br>
            <a:r>
              <a:rPr lang="en-GB" dirty="0"/>
              <a:t>Colonization of germ-free mice with an ‘obese microbiota’ results in a significantly greater increase in total body fat than colonization with a ‘lean microbiota’</a:t>
            </a:r>
          </a:p>
          <a:p>
            <a:pPr marL="285750" indent="-285750">
              <a:buFont typeface="Arial" panose="020B0604020202020204" pitchFamily="34" charset="0"/>
              <a:buChar char="•"/>
            </a:pPr>
            <a:endParaRPr lang="en-DK" dirty="0"/>
          </a:p>
        </p:txBody>
      </p:sp>
      <p:sp>
        <p:nvSpPr>
          <p:cNvPr id="11" name="TextBox 10">
            <a:extLst>
              <a:ext uri="{FF2B5EF4-FFF2-40B4-BE49-F238E27FC236}">
                <a16:creationId xmlns:a16="http://schemas.microsoft.com/office/drawing/2014/main" id="{8B21EE5E-D324-502C-00ED-C066EEC61527}"/>
              </a:ext>
            </a:extLst>
          </p:cNvPr>
          <p:cNvSpPr txBox="1"/>
          <p:nvPr/>
        </p:nvSpPr>
        <p:spPr>
          <a:xfrm>
            <a:off x="6498772" y="5272539"/>
            <a:ext cx="2373085" cy="1169551"/>
          </a:xfrm>
          <a:prstGeom prst="rect">
            <a:avLst/>
          </a:prstGeom>
          <a:noFill/>
        </p:spPr>
        <p:txBody>
          <a:bodyPr wrap="square" rtlCol="0">
            <a:spAutoFit/>
          </a:bodyPr>
          <a:lstStyle/>
          <a:p>
            <a:r>
              <a:rPr lang="en-GB" sz="1400" dirty="0"/>
              <a:t>Genetically obese mice had an increased concentration of the major fermentation end-products: butyrate and acetate</a:t>
            </a:r>
            <a:endParaRPr lang="en-DK" sz="1400" dirty="0"/>
          </a:p>
        </p:txBody>
      </p:sp>
      <p:sp>
        <p:nvSpPr>
          <p:cNvPr id="12" name="TextBox 11">
            <a:extLst>
              <a:ext uri="{FF2B5EF4-FFF2-40B4-BE49-F238E27FC236}">
                <a16:creationId xmlns:a16="http://schemas.microsoft.com/office/drawing/2014/main" id="{95DACDA9-5A76-DD01-03C5-23B150854F99}"/>
              </a:ext>
            </a:extLst>
          </p:cNvPr>
          <p:cNvSpPr txBox="1"/>
          <p:nvPr/>
        </p:nvSpPr>
        <p:spPr>
          <a:xfrm>
            <a:off x="9002487" y="5253482"/>
            <a:ext cx="1305790" cy="1169551"/>
          </a:xfrm>
          <a:prstGeom prst="rect">
            <a:avLst/>
          </a:prstGeom>
          <a:noFill/>
        </p:spPr>
        <p:txBody>
          <a:bodyPr wrap="square" rtlCol="0">
            <a:spAutoFit/>
          </a:bodyPr>
          <a:lstStyle/>
          <a:p>
            <a:r>
              <a:rPr lang="en-GB" sz="1400" dirty="0"/>
              <a:t>They also had significantly less energy remaining in their faeces</a:t>
            </a:r>
            <a:endParaRPr lang="en-DK" sz="1400" dirty="0"/>
          </a:p>
        </p:txBody>
      </p:sp>
      <p:sp>
        <p:nvSpPr>
          <p:cNvPr id="13" name="TextBox 12">
            <a:extLst>
              <a:ext uri="{FF2B5EF4-FFF2-40B4-BE49-F238E27FC236}">
                <a16:creationId xmlns:a16="http://schemas.microsoft.com/office/drawing/2014/main" id="{CCC3AA88-8801-41F5-A725-6A220EC58816}"/>
              </a:ext>
            </a:extLst>
          </p:cNvPr>
          <p:cNvSpPr txBox="1"/>
          <p:nvPr/>
        </p:nvSpPr>
        <p:spPr>
          <a:xfrm>
            <a:off x="10308277" y="5253481"/>
            <a:ext cx="1883723" cy="1384995"/>
          </a:xfrm>
          <a:prstGeom prst="rect">
            <a:avLst/>
          </a:prstGeom>
          <a:noFill/>
        </p:spPr>
        <p:txBody>
          <a:bodyPr wrap="square" rtlCol="0">
            <a:spAutoFit/>
          </a:bodyPr>
          <a:lstStyle/>
          <a:p>
            <a:r>
              <a:rPr lang="en-GB" sz="1400" dirty="0"/>
              <a:t>Germ-free mice colonized with an obese mice microbiota exhibited significantly greater increase in body fat</a:t>
            </a:r>
            <a:endParaRPr lang="en-DK" sz="1400" dirty="0"/>
          </a:p>
        </p:txBody>
      </p:sp>
    </p:spTree>
    <p:extLst>
      <p:ext uri="{BB962C8B-B14F-4D97-AF65-F5344CB8AC3E}">
        <p14:creationId xmlns:p14="http://schemas.microsoft.com/office/powerpoint/2010/main" val="78281620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189872-81A7-7E09-FAE3-5BF58C6C6633}"/>
              </a:ext>
            </a:extLst>
          </p:cNvPr>
          <p:cNvSpPr>
            <a:spLocks noGrp="1"/>
          </p:cNvSpPr>
          <p:nvPr>
            <p:ph type="title"/>
          </p:nvPr>
        </p:nvSpPr>
        <p:spPr>
          <a:xfrm>
            <a:off x="838200" y="45460"/>
            <a:ext cx="10515600" cy="1325563"/>
          </a:xfrm>
        </p:spPr>
        <p:txBody>
          <a:bodyPr/>
          <a:lstStyle/>
          <a:p>
            <a:r>
              <a:rPr lang="en-GB" dirty="0"/>
              <a:t>The Human Microbiome Project (HMP) </a:t>
            </a:r>
            <a:endParaRPr lang="en-DK" dirty="0"/>
          </a:p>
        </p:txBody>
      </p:sp>
      <p:sp>
        <p:nvSpPr>
          <p:cNvPr id="5" name="TextBox 4">
            <a:extLst>
              <a:ext uri="{FF2B5EF4-FFF2-40B4-BE49-F238E27FC236}">
                <a16:creationId xmlns:a16="http://schemas.microsoft.com/office/drawing/2014/main" id="{4E5B5DBD-465E-6464-8875-99C51140620B}"/>
              </a:ext>
            </a:extLst>
          </p:cNvPr>
          <p:cNvSpPr txBox="1"/>
          <p:nvPr/>
        </p:nvSpPr>
        <p:spPr>
          <a:xfrm>
            <a:off x="838200" y="3047999"/>
            <a:ext cx="4223657" cy="3693319"/>
          </a:xfrm>
          <a:prstGeom prst="rect">
            <a:avLst/>
          </a:prstGeom>
          <a:noFill/>
        </p:spPr>
        <p:txBody>
          <a:bodyPr wrap="square" rtlCol="0">
            <a:spAutoFit/>
          </a:bodyPr>
          <a:lstStyle/>
          <a:p>
            <a:pPr marL="285750" indent="-285750">
              <a:buFont typeface="Arial" panose="020B0604020202020204" pitchFamily="34" charset="0"/>
              <a:buChar char="•"/>
            </a:pPr>
            <a:r>
              <a:rPr lang="en-DK" dirty="0"/>
              <a:t>Great initial resource to study the microbiome.</a:t>
            </a:r>
          </a:p>
          <a:p>
            <a:pPr marL="285750" indent="-285750">
              <a:buFont typeface="Arial" panose="020B0604020202020204" pitchFamily="34" charset="0"/>
              <a:buChar char="•"/>
            </a:pPr>
            <a:endParaRPr lang="en-DK" dirty="0"/>
          </a:p>
          <a:p>
            <a:pPr marL="285750" indent="-285750">
              <a:buFont typeface="Arial" panose="020B0604020202020204" pitchFamily="34" charset="0"/>
              <a:buChar char="•"/>
            </a:pPr>
            <a:r>
              <a:rPr lang="en-GB" dirty="0"/>
              <a:t>Diversity of the human microbiome is concordant among measures, unique to each individual, and strongly determined by microbial habitat</a:t>
            </a:r>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r>
              <a:rPr lang="en-GB" dirty="0"/>
              <a:t>Carriage of microbial taxa varies while metabolic pathways remain stable within a healthy population</a:t>
            </a:r>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endParaRPr lang="en-DK" dirty="0"/>
          </a:p>
        </p:txBody>
      </p:sp>
      <p:pic>
        <p:nvPicPr>
          <p:cNvPr id="7" name="Picture 6" descr="A screenshot of a cell phone&#10;&#10;AI-generated content may be incorrect.">
            <a:extLst>
              <a:ext uri="{FF2B5EF4-FFF2-40B4-BE49-F238E27FC236}">
                <a16:creationId xmlns:a16="http://schemas.microsoft.com/office/drawing/2014/main" id="{C1BE2593-3A72-9B21-8510-C99051A3E2E5}"/>
              </a:ext>
            </a:extLst>
          </p:cNvPr>
          <p:cNvPicPr>
            <a:picLocks noChangeAspect="1"/>
          </p:cNvPicPr>
          <p:nvPr/>
        </p:nvPicPr>
        <p:blipFill>
          <a:blip r:embed="rId3"/>
          <a:stretch>
            <a:fillRect/>
          </a:stretch>
        </p:blipFill>
        <p:spPr>
          <a:xfrm>
            <a:off x="838200" y="1176481"/>
            <a:ext cx="4876800" cy="1498600"/>
          </a:xfrm>
          <a:prstGeom prst="rect">
            <a:avLst/>
          </a:prstGeom>
        </p:spPr>
      </p:pic>
      <p:sp>
        <p:nvSpPr>
          <p:cNvPr id="9" name="TextBox 8">
            <a:extLst>
              <a:ext uri="{FF2B5EF4-FFF2-40B4-BE49-F238E27FC236}">
                <a16:creationId xmlns:a16="http://schemas.microsoft.com/office/drawing/2014/main" id="{1B80557C-57F5-C34A-C311-CF84C8A2CB10}"/>
              </a:ext>
            </a:extLst>
          </p:cNvPr>
          <p:cNvSpPr txBox="1"/>
          <p:nvPr/>
        </p:nvSpPr>
        <p:spPr>
          <a:xfrm>
            <a:off x="838200" y="2642619"/>
            <a:ext cx="3796145" cy="307777"/>
          </a:xfrm>
          <a:prstGeom prst="rect">
            <a:avLst/>
          </a:prstGeom>
          <a:noFill/>
        </p:spPr>
        <p:txBody>
          <a:bodyPr wrap="square">
            <a:spAutoFit/>
          </a:bodyPr>
          <a:lstStyle/>
          <a:p>
            <a:r>
              <a:rPr lang="en-GB" sz="1400" b="0" i="0" dirty="0">
                <a:solidFill>
                  <a:srgbClr val="222222"/>
                </a:solidFill>
                <a:effectLst/>
                <a:latin typeface="-apple-system"/>
                <a:hlinkClick r:id="rId4"/>
              </a:rPr>
              <a:t>https://doi.org/10.1038/nature11234</a:t>
            </a:r>
            <a:endParaRPr lang="en-GB" sz="1400" b="0" i="0" dirty="0">
              <a:solidFill>
                <a:srgbClr val="222222"/>
              </a:solidFill>
              <a:effectLst/>
              <a:latin typeface="-apple-system"/>
            </a:endParaRPr>
          </a:p>
        </p:txBody>
      </p:sp>
      <p:pic>
        <p:nvPicPr>
          <p:cNvPr id="4" name="Picture 3" descr="A diagram of different colored objects&#10;&#10;AI-generated content may be incorrect.">
            <a:extLst>
              <a:ext uri="{FF2B5EF4-FFF2-40B4-BE49-F238E27FC236}">
                <a16:creationId xmlns:a16="http://schemas.microsoft.com/office/drawing/2014/main" id="{59CBD1D4-CBDA-3C02-C63C-9D806AEA0C3C}"/>
              </a:ext>
            </a:extLst>
          </p:cNvPr>
          <p:cNvPicPr>
            <a:picLocks noChangeAspect="1"/>
          </p:cNvPicPr>
          <p:nvPr/>
        </p:nvPicPr>
        <p:blipFill>
          <a:blip r:embed="rId5"/>
          <a:srcRect l="55959" t="96" r="13324" b="57234"/>
          <a:stretch>
            <a:fillRect/>
          </a:stretch>
        </p:blipFill>
        <p:spPr>
          <a:xfrm>
            <a:off x="6477002" y="1041581"/>
            <a:ext cx="3124198" cy="2916982"/>
          </a:xfrm>
          <a:prstGeom prst="rect">
            <a:avLst/>
          </a:prstGeom>
        </p:spPr>
      </p:pic>
      <p:pic>
        <p:nvPicPr>
          <p:cNvPr id="9218" name="Picture 2" descr="Figure 2">
            <a:extLst>
              <a:ext uri="{FF2B5EF4-FFF2-40B4-BE49-F238E27FC236}">
                <a16:creationId xmlns:a16="http://schemas.microsoft.com/office/drawing/2014/main" id="{6C0466F7-2F42-19E5-12C5-4751861D19DD}"/>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5253651" y="3958563"/>
            <a:ext cx="6756121" cy="258532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5096118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866532-898D-3186-D0CF-67EBD5A12A4F}"/>
              </a:ext>
            </a:extLst>
          </p:cNvPr>
          <p:cNvSpPr>
            <a:spLocks noGrp="1"/>
          </p:cNvSpPr>
          <p:nvPr>
            <p:ph type="title"/>
          </p:nvPr>
        </p:nvSpPr>
        <p:spPr>
          <a:xfrm>
            <a:off x="838200" y="470705"/>
            <a:ext cx="10993582" cy="1325563"/>
          </a:xfrm>
        </p:spPr>
        <p:txBody>
          <a:bodyPr>
            <a:normAutofit fontScale="90000"/>
          </a:bodyPr>
          <a:lstStyle/>
          <a:p>
            <a:r>
              <a:rPr lang="en-GB" dirty="0"/>
              <a:t>Richness of human gut microbiome correlates with metabolic markers (lessons of </a:t>
            </a:r>
            <a:r>
              <a:rPr lang="en-GB" dirty="0" err="1"/>
              <a:t>MetaHIT</a:t>
            </a:r>
            <a:r>
              <a:rPr lang="en-GB" dirty="0"/>
              <a:t> study)</a:t>
            </a:r>
            <a:br>
              <a:rPr lang="en-GB" dirty="0"/>
            </a:br>
            <a:endParaRPr lang="en-DK" dirty="0"/>
          </a:p>
        </p:txBody>
      </p:sp>
      <p:pic>
        <p:nvPicPr>
          <p:cNvPr id="7" name="Picture 6" descr="A screenshot of a computer&#10;&#10;AI-generated content may be incorrect.">
            <a:extLst>
              <a:ext uri="{FF2B5EF4-FFF2-40B4-BE49-F238E27FC236}">
                <a16:creationId xmlns:a16="http://schemas.microsoft.com/office/drawing/2014/main" id="{DF9B7393-EB47-61C6-2688-ECB6EF050190}"/>
              </a:ext>
            </a:extLst>
          </p:cNvPr>
          <p:cNvPicPr>
            <a:picLocks noChangeAspect="1"/>
          </p:cNvPicPr>
          <p:nvPr/>
        </p:nvPicPr>
        <p:blipFill>
          <a:blip r:embed="rId3"/>
          <a:stretch>
            <a:fillRect/>
          </a:stretch>
        </p:blipFill>
        <p:spPr>
          <a:xfrm>
            <a:off x="755070" y="1579847"/>
            <a:ext cx="4800600" cy="2120900"/>
          </a:xfrm>
          <a:prstGeom prst="rect">
            <a:avLst/>
          </a:prstGeom>
        </p:spPr>
      </p:pic>
      <p:sp>
        <p:nvSpPr>
          <p:cNvPr id="5" name="TextBox 4">
            <a:extLst>
              <a:ext uri="{FF2B5EF4-FFF2-40B4-BE49-F238E27FC236}">
                <a16:creationId xmlns:a16="http://schemas.microsoft.com/office/drawing/2014/main" id="{6B9A79F8-628C-9BE4-29F0-589037E4C4F8}"/>
              </a:ext>
            </a:extLst>
          </p:cNvPr>
          <p:cNvSpPr txBox="1"/>
          <p:nvPr/>
        </p:nvSpPr>
        <p:spPr>
          <a:xfrm>
            <a:off x="3491343" y="3392970"/>
            <a:ext cx="2202873" cy="307777"/>
          </a:xfrm>
          <a:prstGeom prst="rect">
            <a:avLst/>
          </a:prstGeom>
          <a:noFill/>
        </p:spPr>
        <p:txBody>
          <a:bodyPr wrap="square">
            <a:spAutoFit/>
          </a:bodyPr>
          <a:lstStyle/>
          <a:p>
            <a:pPr algn="l"/>
            <a:r>
              <a:rPr lang="en-GB" sz="1400" b="0" i="0" u="sng" dirty="0">
                <a:solidFill>
                  <a:srgbClr val="205493"/>
                </a:solidFill>
                <a:effectLst/>
                <a:latin typeface="system-ui"/>
                <a:hlinkClick r:id="rId4"/>
              </a:rPr>
              <a:t>10.1038/nature12506</a:t>
            </a:r>
            <a:endParaRPr lang="en-GB" sz="1400" b="0" i="0" dirty="0">
              <a:solidFill>
                <a:srgbClr val="212121"/>
              </a:solidFill>
              <a:effectLst/>
              <a:latin typeface="system-ui"/>
            </a:endParaRPr>
          </a:p>
        </p:txBody>
      </p:sp>
      <p:pic>
        <p:nvPicPr>
          <p:cNvPr id="9" name="Picture 8" descr="A graph of a number of gene numbers&#10;&#10;AI-generated content may be incorrect.">
            <a:extLst>
              <a:ext uri="{FF2B5EF4-FFF2-40B4-BE49-F238E27FC236}">
                <a16:creationId xmlns:a16="http://schemas.microsoft.com/office/drawing/2014/main" id="{52343361-8B67-80FA-304D-77145579E631}"/>
              </a:ext>
            </a:extLst>
          </p:cNvPr>
          <p:cNvPicPr>
            <a:picLocks noChangeAspect="1"/>
          </p:cNvPicPr>
          <p:nvPr/>
        </p:nvPicPr>
        <p:blipFill>
          <a:blip r:embed="rId5"/>
          <a:stretch>
            <a:fillRect/>
          </a:stretch>
        </p:blipFill>
        <p:spPr>
          <a:xfrm>
            <a:off x="6497786" y="1454219"/>
            <a:ext cx="4832263" cy="2705529"/>
          </a:xfrm>
          <a:prstGeom prst="rect">
            <a:avLst/>
          </a:prstGeom>
        </p:spPr>
      </p:pic>
      <p:pic>
        <p:nvPicPr>
          <p:cNvPr id="11" name="Picture 10" descr="A graph of bmi and bgc&#10;&#10;AI-generated content may be incorrect.">
            <a:extLst>
              <a:ext uri="{FF2B5EF4-FFF2-40B4-BE49-F238E27FC236}">
                <a16:creationId xmlns:a16="http://schemas.microsoft.com/office/drawing/2014/main" id="{D2709E30-7C21-57DD-569E-E2FE42DEFD17}"/>
              </a:ext>
            </a:extLst>
          </p:cNvPr>
          <p:cNvPicPr>
            <a:picLocks noChangeAspect="1"/>
          </p:cNvPicPr>
          <p:nvPr/>
        </p:nvPicPr>
        <p:blipFill>
          <a:blip r:embed="rId6"/>
          <a:stretch>
            <a:fillRect/>
          </a:stretch>
        </p:blipFill>
        <p:spPr>
          <a:xfrm>
            <a:off x="8021782" y="4389919"/>
            <a:ext cx="2065486" cy="2468081"/>
          </a:xfrm>
          <a:prstGeom prst="rect">
            <a:avLst/>
          </a:prstGeom>
        </p:spPr>
      </p:pic>
      <p:sp>
        <p:nvSpPr>
          <p:cNvPr id="12" name="TextBox 11">
            <a:extLst>
              <a:ext uri="{FF2B5EF4-FFF2-40B4-BE49-F238E27FC236}">
                <a16:creationId xmlns:a16="http://schemas.microsoft.com/office/drawing/2014/main" id="{3AC1AB23-A9CE-8CBB-CDA7-4948D8D374F3}"/>
              </a:ext>
            </a:extLst>
          </p:cNvPr>
          <p:cNvSpPr txBox="1"/>
          <p:nvPr/>
        </p:nvSpPr>
        <p:spPr>
          <a:xfrm>
            <a:off x="619985" y="3989100"/>
            <a:ext cx="5376067" cy="2308324"/>
          </a:xfrm>
          <a:prstGeom prst="rect">
            <a:avLst/>
          </a:prstGeom>
          <a:noFill/>
        </p:spPr>
        <p:txBody>
          <a:bodyPr wrap="square" rtlCol="0">
            <a:spAutoFit/>
          </a:bodyPr>
          <a:lstStyle/>
          <a:p>
            <a:pPr marL="285750" indent="-285750">
              <a:buFont typeface="Arial" panose="020B0604020202020204" pitchFamily="34" charset="0"/>
              <a:buChar char="•"/>
            </a:pPr>
            <a:r>
              <a:rPr lang="en-GB" dirty="0"/>
              <a:t>Individuals with a low bacterial richness are characterized by more marked overall adiposity, insulin resistance and dyslipidaemia and a more pronounced inflammatory phenotype</a:t>
            </a:r>
          </a:p>
          <a:p>
            <a:pPr marL="285750" indent="-285750">
              <a:buFont typeface="Arial" panose="020B0604020202020204" pitchFamily="34" charset="0"/>
              <a:buChar char="•"/>
            </a:pPr>
            <a:endParaRPr lang="en-DK" dirty="0"/>
          </a:p>
          <a:p>
            <a:pPr marL="285750" indent="-285750">
              <a:buFont typeface="Arial" panose="020B0604020202020204" pitchFamily="34" charset="0"/>
              <a:buChar char="•"/>
            </a:pPr>
            <a:r>
              <a:rPr lang="en-DK" dirty="0"/>
              <a:t>Individuals with lower number of genes (gene richness) and higher BMI had less efficient weight loss when following a diet</a:t>
            </a:r>
          </a:p>
        </p:txBody>
      </p:sp>
    </p:spTree>
    <p:extLst>
      <p:ext uri="{BB962C8B-B14F-4D97-AF65-F5344CB8AC3E}">
        <p14:creationId xmlns:p14="http://schemas.microsoft.com/office/powerpoint/2010/main" val="262280500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E44CC7-2CE8-32A5-4893-C78B53CD8DA9}"/>
              </a:ext>
            </a:extLst>
          </p:cNvPr>
          <p:cNvSpPr>
            <a:spLocks noGrp="1"/>
          </p:cNvSpPr>
          <p:nvPr>
            <p:ph type="title"/>
          </p:nvPr>
        </p:nvSpPr>
        <p:spPr/>
        <p:txBody>
          <a:bodyPr/>
          <a:lstStyle/>
          <a:p>
            <a:r>
              <a:rPr lang="en-DK" dirty="0"/>
              <a:t>Fecal material transplantation (FMT) as experimental cure for </a:t>
            </a:r>
            <a:r>
              <a:rPr lang="en-DK" i="1" dirty="0"/>
              <a:t>Clostridioides difficile</a:t>
            </a:r>
          </a:p>
        </p:txBody>
      </p:sp>
      <p:pic>
        <p:nvPicPr>
          <p:cNvPr id="5" name="Content Placeholder 4" descr="A screenshot of a medical website&#10;&#10;AI-generated content may be incorrect.">
            <a:extLst>
              <a:ext uri="{FF2B5EF4-FFF2-40B4-BE49-F238E27FC236}">
                <a16:creationId xmlns:a16="http://schemas.microsoft.com/office/drawing/2014/main" id="{5084CE9B-1F08-C3AD-2799-E715AA58892B}"/>
              </a:ext>
            </a:extLst>
          </p:cNvPr>
          <p:cNvPicPr>
            <a:picLocks noGrp="1" noChangeAspect="1"/>
          </p:cNvPicPr>
          <p:nvPr>
            <p:ph idx="1"/>
          </p:nvPr>
        </p:nvPicPr>
        <p:blipFill>
          <a:blip r:embed="rId3"/>
          <a:stretch>
            <a:fillRect/>
          </a:stretch>
        </p:blipFill>
        <p:spPr>
          <a:xfrm>
            <a:off x="474601" y="2374470"/>
            <a:ext cx="3185219" cy="1460207"/>
          </a:xfrm>
        </p:spPr>
      </p:pic>
      <p:pic>
        <p:nvPicPr>
          <p:cNvPr id="7" name="Picture 6" descr="A graph of a number of patients with numbers&#10;&#10;AI-generated content may be incorrect.">
            <a:extLst>
              <a:ext uri="{FF2B5EF4-FFF2-40B4-BE49-F238E27FC236}">
                <a16:creationId xmlns:a16="http://schemas.microsoft.com/office/drawing/2014/main" id="{D9C7ACFB-8951-2C6C-3B10-5885E6C5EE3B}"/>
              </a:ext>
            </a:extLst>
          </p:cNvPr>
          <p:cNvPicPr>
            <a:picLocks noChangeAspect="1"/>
          </p:cNvPicPr>
          <p:nvPr/>
        </p:nvPicPr>
        <p:blipFill>
          <a:blip r:embed="rId4"/>
          <a:stretch>
            <a:fillRect/>
          </a:stretch>
        </p:blipFill>
        <p:spPr>
          <a:xfrm>
            <a:off x="3765251" y="1596849"/>
            <a:ext cx="4556702" cy="3926640"/>
          </a:xfrm>
          <a:prstGeom prst="rect">
            <a:avLst/>
          </a:prstGeom>
        </p:spPr>
      </p:pic>
      <p:sp>
        <p:nvSpPr>
          <p:cNvPr id="8" name="TextBox 7">
            <a:extLst>
              <a:ext uri="{FF2B5EF4-FFF2-40B4-BE49-F238E27FC236}">
                <a16:creationId xmlns:a16="http://schemas.microsoft.com/office/drawing/2014/main" id="{02855226-B87D-B4B4-E950-DAFD87A168D8}"/>
              </a:ext>
            </a:extLst>
          </p:cNvPr>
          <p:cNvSpPr txBox="1"/>
          <p:nvPr/>
        </p:nvSpPr>
        <p:spPr>
          <a:xfrm>
            <a:off x="605181" y="3913206"/>
            <a:ext cx="3054639" cy="369332"/>
          </a:xfrm>
          <a:prstGeom prst="rect">
            <a:avLst/>
          </a:prstGeom>
          <a:noFill/>
        </p:spPr>
        <p:txBody>
          <a:bodyPr wrap="square" rtlCol="0">
            <a:spAutoFit/>
          </a:bodyPr>
          <a:lstStyle/>
          <a:p>
            <a:r>
              <a:rPr lang="en-GB" u="sng" dirty="0">
                <a:hlinkClick r:id="rId5"/>
              </a:rPr>
              <a:t>10.1056/NEJMoa1205037</a:t>
            </a:r>
            <a:endParaRPr lang="en-GB" dirty="0"/>
          </a:p>
        </p:txBody>
      </p:sp>
      <p:pic>
        <p:nvPicPr>
          <p:cNvPr id="10" name="Picture 9" descr="A graph of a patient&#10;&#10;AI-generated content may be incorrect.">
            <a:extLst>
              <a:ext uri="{FF2B5EF4-FFF2-40B4-BE49-F238E27FC236}">
                <a16:creationId xmlns:a16="http://schemas.microsoft.com/office/drawing/2014/main" id="{761B5B3A-85AB-D960-446A-12B5878C7E72}"/>
              </a:ext>
            </a:extLst>
          </p:cNvPr>
          <p:cNvPicPr>
            <a:picLocks noChangeAspect="1"/>
          </p:cNvPicPr>
          <p:nvPr/>
        </p:nvPicPr>
        <p:blipFill>
          <a:blip r:embed="rId6"/>
          <a:stretch>
            <a:fillRect/>
          </a:stretch>
        </p:blipFill>
        <p:spPr>
          <a:xfrm>
            <a:off x="8427385" y="2374470"/>
            <a:ext cx="3407942" cy="2924790"/>
          </a:xfrm>
          <a:prstGeom prst="rect">
            <a:avLst/>
          </a:prstGeom>
        </p:spPr>
      </p:pic>
      <p:sp>
        <p:nvSpPr>
          <p:cNvPr id="11" name="TextBox 10">
            <a:extLst>
              <a:ext uri="{FF2B5EF4-FFF2-40B4-BE49-F238E27FC236}">
                <a16:creationId xmlns:a16="http://schemas.microsoft.com/office/drawing/2014/main" id="{41E37838-3975-4D28-1A1C-6452607A9132}"/>
              </a:ext>
            </a:extLst>
          </p:cNvPr>
          <p:cNvSpPr txBox="1"/>
          <p:nvPr/>
        </p:nvSpPr>
        <p:spPr>
          <a:xfrm>
            <a:off x="4158343" y="5607106"/>
            <a:ext cx="4556702" cy="1200329"/>
          </a:xfrm>
          <a:prstGeom prst="rect">
            <a:avLst/>
          </a:prstGeom>
          <a:noFill/>
        </p:spPr>
        <p:txBody>
          <a:bodyPr wrap="square" rtlCol="0">
            <a:spAutoFit/>
          </a:bodyPr>
          <a:lstStyle/>
          <a:p>
            <a:r>
              <a:rPr lang="en-DK" dirty="0"/>
              <a:t>FMT succesfully used to cure </a:t>
            </a:r>
            <a:r>
              <a:rPr lang="en-DK" i="1" dirty="0"/>
              <a:t>Clostridioides difficile  </a:t>
            </a:r>
            <a:r>
              <a:rPr lang="en-DK" dirty="0"/>
              <a:t>infection with higher percentages of cured patients without relapse compared to the standard treatment (vancomycin)</a:t>
            </a:r>
          </a:p>
        </p:txBody>
      </p:sp>
      <p:sp>
        <p:nvSpPr>
          <p:cNvPr id="12" name="TextBox 11">
            <a:extLst>
              <a:ext uri="{FF2B5EF4-FFF2-40B4-BE49-F238E27FC236}">
                <a16:creationId xmlns:a16="http://schemas.microsoft.com/office/drawing/2014/main" id="{D9E8C210-F592-849E-A013-3E74A7C119F5}"/>
              </a:ext>
            </a:extLst>
          </p:cNvPr>
          <p:cNvSpPr txBox="1"/>
          <p:nvPr/>
        </p:nvSpPr>
        <p:spPr>
          <a:xfrm>
            <a:off x="9015206" y="5607106"/>
            <a:ext cx="3124921" cy="923330"/>
          </a:xfrm>
          <a:prstGeom prst="rect">
            <a:avLst/>
          </a:prstGeom>
          <a:noFill/>
        </p:spPr>
        <p:txBody>
          <a:bodyPr wrap="square" rtlCol="0">
            <a:spAutoFit/>
          </a:bodyPr>
          <a:lstStyle/>
          <a:p>
            <a:r>
              <a:rPr lang="en-DK" dirty="0"/>
              <a:t>Diversity (Simpson’s index) of patients after FMT resemble more the donors diversity</a:t>
            </a:r>
          </a:p>
        </p:txBody>
      </p:sp>
    </p:spTree>
    <p:extLst>
      <p:ext uri="{BB962C8B-B14F-4D97-AF65-F5344CB8AC3E}">
        <p14:creationId xmlns:p14="http://schemas.microsoft.com/office/powerpoint/2010/main" val="233030550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913B96-5008-5F99-6813-445BD2BD57FC}"/>
              </a:ext>
            </a:extLst>
          </p:cNvPr>
          <p:cNvSpPr>
            <a:spLocks noGrp="1"/>
          </p:cNvSpPr>
          <p:nvPr>
            <p:ph type="title"/>
          </p:nvPr>
        </p:nvSpPr>
        <p:spPr/>
        <p:txBody>
          <a:bodyPr/>
          <a:lstStyle/>
          <a:p>
            <a:endParaRPr lang="en-DK"/>
          </a:p>
        </p:txBody>
      </p:sp>
      <p:pic>
        <p:nvPicPr>
          <p:cNvPr id="3074" name="Picture 2" descr="Fig. 2">
            <a:extLst>
              <a:ext uri="{FF2B5EF4-FFF2-40B4-BE49-F238E27FC236}">
                <a16:creationId xmlns:a16="http://schemas.microsoft.com/office/drawing/2014/main" id="{0423E12F-3F0C-705D-386D-F1F51191DCA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06438" y="0"/>
            <a:ext cx="10777537" cy="685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4894125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365729-C95C-00A9-7425-5E822A93EC01}"/>
              </a:ext>
            </a:extLst>
          </p:cNvPr>
          <p:cNvSpPr>
            <a:spLocks noGrp="1"/>
          </p:cNvSpPr>
          <p:nvPr>
            <p:ph type="title"/>
          </p:nvPr>
        </p:nvSpPr>
        <p:spPr>
          <a:xfrm>
            <a:off x="644233" y="226575"/>
            <a:ext cx="11281066" cy="1325563"/>
          </a:xfrm>
        </p:spPr>
        <p:txBody>
          <a:bodyPr/>
          <a:lstStyle/>
          <a:p>
            <a:r>
              <a:rPr lang="en-GB" dirty="0"/>
              <a:t>Resident gut bacteria can affect patient responses to cancer immunotherapy</a:t>
            </a:r>
          </a:p>
        </p:txBody>
      </p:sp>
      <p:sp>
        <p:nvSpPr>
          <p:cNvPr id="4" name="TextBox 3">
            <a:extLst>
              <a:ext uri="{FF2B5EF4-FFF2-40B4-BE49-F238E27FC236}">
                <a16:creationId xmlns:a16="http://schemas.microsoft.com/office/drawing/2014/main" id="{3868CD8A-668D-E242-B665-02B8187758F8}"/>
              </a:ext>
            </a:extLst>
          </p:cNvPr>
          <p:cNvSpPr txBox="1"/>
          <p:nvPr/>
        </p:nvSpPr>
        <p:spPr>
          <a:xfrm>
            <a:off x="6381751" y="1717105"/>
            <a:ext cx="5463889" cy="5078313"/>
          </a:xfrm>
          <a:prstGeom prst="rect">
            <a:avLst/>
          </a:prstGeom>
          <a:noFill/>
        </p:spPr>
        <p:txBody>
          <a:bodyPr wrap="square" rtlCol="0">
            <a:spAutoFit/>
          </a:bodyPr>
          <a:lstStyle/>
          <a:p>
            <a:r>
              <a:rPr lang="en-GB" dirty="0"/>
              <a:t>In a series of back-to-back papers in Science:</a:t>
            </a:r>
          </a:p>
          <a:p>
            <a:pPr marL="742950" lvl="1" indent="-285750">
              <a:buFont typeface="Arial" panose="020B0604020202020204" pitchFamily="34" charset="0"/>
              <a:buChar char="•"/>
            </a:pPr>
            <a:r>
              <a:rPr lang="en-GB" dirty="0" err="1"/>
              <a:t>Routy</a:t>
            </a:r>
            <a:r>
              <a:rPr lang="en-GB" dirty="0"/>
              <a:t> et al. showed that </a:t>
            </a:r>
            <a:r>
              <a:rPr lang="en-GB" dirty="0" err="1"/>
              <a:t>abx</a:t>
            </a:r>
            <a:r>
              <a:rPr lang="en-GB" dirty="0"/>
              <a:t> consumption --&gt; poor response to cancer immunotherapy (immunotherapeutic PD1 blockade)</a:t>
            </a:r>
          </a:p>
          <a:p>
            <a:pPr marL="742950" lvl="1" indent="-285750">
              <a:buFont typeface="Arial" panose="020B0604020202020204" pitchFamily="34" charset="0"/>
              <a:buChar char="•"/>
            </a:pPr>
            <a:r>
              <a:rPr lang="en-GB" dirty="0"/>
              <a:t>Low levels of </a:t>
            </a:r>
            <a:r>
              <a:rPr lang="en-GB" i="1" dirty="0" err="1"/>
              <a:t>Akkermansia</a:t>
            </a:r>
            <a:r>
              <a:rPr lang="en-GB" i="1" dirty="0"/>
              <a:t> </a:t>
            </a:r>
            <a:r>
              <a:rPr lang="en-GB" i="1" dirty="0" err="1"/>
              <a:t>muciniphila</a:t>
            </a:r>
            <a:r>
              <a:rPr lang="en-GB" i="1" dirty="0"/>
              <a:t> </a:t>
            </a:r>
            <a:r>
              <a:rPr lang="en-GB" dirty="0"/>
              <a:t>in lung and kidney cancer patients </a:t>
            </a:r>
            <a:r>
              <a:rPr lang="en-GB" dirty="0">
                <a:sym typeface="Wingdings" pitchFamily="2" charset="2"/>
              </a:rPr>
              <a:t> oral supplementation of this bacteria to </a:t>
            </a:r>
            <a:r>
              <a:rPr lang="en-GB" dirty="0" err="1">
                <a:sym typeface="Wingdings" pitchFamily="2" charset="2"/>
              </a:rPr>
              <a:t>abx</a:t>
            </a:r>
            <a:r>
              <a:rPr lang="en-GB" dirty="0">
                <a:sym typeface="Wingdings" pitchFamily="2" charset="2"/>
              </a:rPr>
              <a:t>-treated mice restored response to immunotherapy</a:t>
            </a:r>
          </a:p>
          <a:p>
            <a:pPr marL="742950" lvl="1" indent="-285750">
              <a:buFont typeface="Arial" panose="020B0604020202020204" pitchFamily="34" charset="0"/>
              <a:buChar char="•"/>
            </a:pPr>
            <a:r>
              <a:rPr lang="en-GB" dirty="0"/>
              <a:t>Matson </a:t>
            </a:r>
            <a:r>
              <a:rPr lang="en-GB" i="1" dirty="0"/>
              <a:t>et al.</a:t>
            </a:r>
            <a:r>
              <a:rPr lang="en-GB" dirty="0"/>
              <a:t> and Gopalakrishnan </a:t>
            </a:r>
            <a:r>
              <a:rPr lang="en-GB" i="1" dirty="0"/>
              <a:t>et al.</a:t>
            </a:r>
            <a:r>
              <a:rPr lang="en-GB" dirty="0"/>
              <a:t> studied melanoma patients receiving PD-1 blockade and found a greater abundance of “good” bacteria in the guts of responding patients. </a:t>
            </a:r>
          </a:p>
          <a:p>
            <a:pPr marL="742950" lvl="1" indent="-285750">
              <a:buFont typeface="Arial" panose="020B0604020202020204" pitchFamily="34" charset="0"/>
              <a:buChar char="•"/>
            </a:pPr>
            <a:r>
              <a:rPr lang="en-GB" dirty="0"/>
              <a:t>Non-responders had an imbalance in gut flora composition, which correlated with impaired immune cell activity.</a:t>
            </a:r>
          </a:p>
          <a:p>
            <a:r>
              <a:rPr lang="en-GB" dirty="0"/>
              <a:t>	</a:t>
            </a:r>
            <a:endParaRPr lang="en-DK" dirty="0"/>
          </a:p>
        </p:txBody>
      </p:sp>
      <p:pic>
        <p:nvPicPr>
          <p:cNvPr id="6" name="Picture 5" descr="A screenshot of a computer&#10;&#10;AI-generated content may be incorrect.">
            <a:extLst>
              <a:ext uri="{FF2B5EF4-FFF2-40B4-BE49-F238E27FC236}">
                <a16:creationId xmlns:a16="http://schemas.microsoft.com/office/drawing/2014/main" id="{6748D2F5-0801-40F6-BD03-9352E59FC1D6}"/>
              </a:ext>
            </a:extLst>
          </p:cNvPr>
          <p:cNvPicPr>
            <a:picLocks noChangeAspect="1"/>
          </p:cNvPicPr>
          <p:nvPr/>
        </p:nvPicPr>
        <p:blipFill>
          <a:blip r:embed="rId3"/>
          <a:stretch>
            <a:fillRect/>
          </a:stretch>
        </p:blipFill>
        <p:spPr>
          <a:xfrm>
            <a:off x="644233" y="1446644"/>
            <a:ext cx="5683423" cy="1655911"/>
          </a:xfrm>
          <a:prstGeom prst="rect">
            <a:avLst/>
          </a:prstGeom>
        </p:spPr>
      </p:pic>
      <p:pic>
        <p:nvPicPr>
          <p:cNvPr id="8" name="Picture 7" descr="A screenshot of a cell phone&#10;&#10;AI-generated content may be incorrect.">
            <a:extLst>
              <a:ext uri="{FF2B5EF4-FFF2-40B4-BE49-F238E27FC236}">
                <a16:creationId xmlns:a16="http://schemas.microsoft.com/office/drawing/2014/main" id="{133EE286-EA2C-AE96-82A0-CA5C039CEAD5}"/>
              </a:ext>
            </a:extLst>
          </p:cNvPr>
          <p:cNvPicPr>
            <a:picLocks noChangeAspect="1"/>
          </p:cNvPicPr>
          <p:nvPr/>
        </p:nvPicPr>
        <p:blipFill>
          <a:blip r:embed="rId4"/>
          <a:stretch>
            <a:fillRect/>
          </a:stretch>
        </p:blipFill>
        <p:spPr>
          <a:xfrm>
            <a:off x="644233" y="3127640"/>
            <a:ext cx="5669391" cy="1641878"/>
          </a:xfrm>
          <a:prstGeom prst="rect">
            <a:avLst/>
          </a:prstGeom>
        </p:spPr>
      </p:pic>
      <p:pic>
        <p:nvPicPr>
          <p:cNvPr id="10" name="Picture 9" descr="A screenshot of a computer&#10;&#10;AI-generated content may be incorrect.">
            <a:extLst>
              <a:ext uri="{FF2B5EF4-FFF2-40B4-BE49-F238E27FC236}">
                <a16:creationId xmlns:a16="http://schemas.microsoft.com/office/drawing/2014/main" id="{4D5D29BC-F6ED-DBB3-6F06-C0FDE9F6C827}"/>
              </a:ext>
            </a:extLst>
          </p:cNvPr>
          <p:cNvPicPr>
            <a:picLocks noChangeAspect="1"/>
          </p:cNvPicPr>
          <p:nvPr/>
        </p:nvPicPr>
        <p:blipFill>
          <a:blip r:embed="rId5"/>
          <a:stretch>
            <a:fillRect/>
          </a:stretch>
        </p:blipFill>
        <p:spPr>
          <a:xfrm>
            <a:off x="644233" y="4795935"/>
            <a:ext cx="5655359" cy="1613812"/>
          </a:xfrm>
          <a:prstGeom prst="rect">
            <a:avLst/>
          </a:prstGeom>
        </p:spPr>
      </p:pic>
      <p:sp>
        <p:nvSpPr>
          <p:cNvPr id="11" name="TextBox 10">
            <a:extLst>
              <a:ext uri="{FF2B5EF4-FFF2-40B4-BE49-F238E27FC236}">
                <a16:creationId xmlns:a16="http://schemas.microsoft.com/office/drawing/2014/main" id="{B43A9A99-6B19-25D5-02A5-2C39F7FAC4D6}"/>
              </a:ext>
            </a:extLst>
          </p:cNvPr>
          <p:cNvSpPr txBox="1"/>
          <p:nvPr/>
        </p:nvSpPr>
        <p:spPr>
          <a:xfrm>
            <a:off x="3741949" y="6122252"/>
            <a:ext cx="2633131" cy="307777"/>
          </a:xfrm>
          <a:prstGeom prst="rect">
            <a:avLst/>
          </a:prstGeom>
          <a:noFill/>
        </p:spPr>
        <p:txBody>
          <a:bodyPr wrap="square" rtlCol="0">
            <a:spAutoFit/>
          </a:bodyPr>
          <a:lstStyle/>
          <a:p>
            <a:r>
              <a:rPr lang="en-GB" sz="1400" dirty="0">
                <a:hlinkClick r:id="rId6"/>
              </a:rPr>
              <a:t>DOI: 10.1126/science.aan4236</a:t>
            </a:r>
            <a:endParaRPr lang="en-DK" sz="1400" dirty="0"/>
          </a:p>
        </p:txBody>
      </p:sp>
      <p:sp>
        <p:nvSpPr>
          <p:cNvPr id="12" name="TextBox 11">
            <a:extLst>
              <a:ext uri="{FF2B5EF4-FFF2-40B4-BE49-F238E27FC236}">
                <a16:creationId xmlns:a16="http://schemas.microsoft.com/office/drawing/2014/main" id="{008ECBDF-E4D6-3199-95EE-E6457829A05F}"/>
              </a:ext>
            </a:extLst>
          </p:cNvPr>
          <p:cNvSpPr txBox="1"/>
          <p:nvPr/>
        </p:nvSpPr>
        <p:spPr>
          <a:xfrm>
            <a:off x="3741949" y="4484154"/>
            <a:ext cx="2585708" cy="307777"/>
          </a:xfrm>
          <a:prstGeom prst="rect">
            <a:avLst/>
          </a:prstGeom>
          <a:noFill/>
        </p:spPr>
        <p:txBody>
          <a:bodyPr wrap="none" rtlCol="0">
            <a:spAutoFit/>
          </a:bodyPr>
          <a:lstStyle/>
          <a:p>
            <a:r>
              <a:rPr lang="en-GB" sz="1400" dirty="0">
                <a:hlinkClick r:id="rId7"/>
              </a:rPr>
              <a:t>DOI: 10.1126/science.aao3290</a:t>
            </a:r>
            <a:endParaRPr lang="en-DK" sz="1400" dirty="0"/>
          </a:p>
        </p:txBody>
      </p:sp>
      <p:sp>
        <p:nvSpPr>
          <p:cNvPr id="13" name="TextBox 12">
            <a:extLst>
              <a:ext uri="{FF2B5EF4-FFF2-40B4-BE49-F238E27FC236}">
                <a16:creationId xmlns:a16="http://schemas.microsoft.com/office/drawing/2014/main" id="{44BBA3BE-BBEF-FEAA-F968-C6E54E2EBB37}"/>
              </a:ext>
            </a:extLst>
          </p:cNvPr>
          <p:cNvSpPr txBox="1"/>
          <p:nvPr/>
        </p:nvSpPr>
        <p:spPr>
          <a:xfrm>
            <a:off x="3741949" y="2804491"/>
            <a:ext cx="2585707" cy="307777"/>
          </a:xfrm>
          <a:prstGeom prst="rect">
            <a:avLst/>
          </a:prstGeom>
          <a:noFill/>
        </p:spPr>
        <p:txBody>
          <a:bodyPr wrap="square" rtlCol="0">
            <a:spAutoFit/>
          </a:bodyPr>
          <a:lstStyle/>
          <a:p>
            <a:r>
              <a:rPr lang="en-GB" sz="1400" u="sng" dirty="0">
                <a:hlinkClick r:id="rId8"/>
              </a:rPr>
              <a:t>DOI: 10.1126/science.aan3706</a:t>
            </a:r>
            <a:endParaRPr lang="en-DK" sz="1400" dirty="0"/>
          </a:p>
        </p:txBody>
      </p:sp>
    </p:spTree>
    <p:extLst>
      <p:ext uri="{BB962C8B-B14F-4D97-AF65-F5344CB8AC3E}">
        <p14:creationId xmlns:p14="http://schemas.microsoft.com/office/powerpoint/2010/main" val="404535426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1C260B-763F-7627-417F-691E3D5426E6}"/>
              </a:ext>
            </a:extLst>
          </p:cNvPr>
          <p:cNvSpPr>
            <a:spLocks noGrp="1"/>
          </p:cNvSpPr>
          <p:nvPr>
            <p:ph type="title"/>
          </p:nvPr>
        </p:nvSpPr>
        <p:spPr>
          <a:xfrm>
            <a:off x="767200" y="0"/>
            <a:ext cx="9366193" cy="1039488"/>
          </a:xfrm>
        </p:spPr>
        <p:txBody>
          <a:bodyPr>
            <a:normAutofit/>
          </a:bodyPr>
          <a:lstStyle/>
          <a:p>
            <a:r>
              <a:rPr lang="en-DK" dirty="0"/>
              <a:t>A genomic catalog of Earth’s microbiome</a:t>
            </a:r>
          </a:p>
        </p:txBody>
      </p:sp>
      <p:pic>
        <p:nvPicPr>
          <p:cNvPr id="5" name="Picture 4" descr="A screenshot of a website&#10;&#10;AI-generated content may be incorrect.">
            <a:extLst>
              <a:ext uri="{FF2B5EF4-FFF2-40B4-BE49-F238E27FC236}">
                <a16:creationId xmlns:a16="http://schemas.microsoft.com/office/drawing/2014/main" id="{9D285B95-9764-D8E8-20C6-3F1A7655FAB7}"/>
              </a:ext>
            </a:extLst>
          </p:cNvPr>
          <p:cNvPicPr>
            <a:picLocks noChangeAspect="1"/>
          </p:cNvPicPr>
          <p:nvPr/>
        </p:nvPicPr>
        <p:blipFill>
          <a:blip r:embed="rId3"/>
          <a:stretch>
            <a:fillRect/>
          </a:stretch>
        </p:blipFill>
        <p:spPr>
          <a:xfrm>
            <a:off x="767200" y="1071707"/>
            <a:ext cx="4851400" cy="1638300"/>
          </a:xfrm>
          <a:prstGeom prst="rect">
            <a:avLst/>
          </a:prstGeom>
        </p:spPr>
      </p:pic>
      <p:pic>
        <p:nvPicPr>
          <p:cNvPr id="7170" name="Picture 2" descr="Fig. 1">
            <a:extLst>
              <a:ext uri="{FF2B5EF4-FFF2-40B4-BE49-F238E27FC236}">
                <a16:creationId xmlns:a16="http://schemas.microsoft.com/office/drawing/2014/main" id="{DA43104C-61A9-C889-A689-EA4ECC23E7A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298334" y="2850368"/>
            <a:ext cx="9082818" cy="3940619"/>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4568068E-3436-504C-013B-AA9EF859B544}"/>
              </a:ext>
            </a:extLst>
          </p:cNvPr>
          <p:cNvSpPr txBox="1"/>
          <p:nvPr/>
        </p:nvSpPr>
        <p:spPr>
          <a:xfrm>
            <a:off x="6937091" y="6481594"/>
            <a:ext cx="3532909" cy="309393"/>
          </a:xfrm>
          <a:prstGeom prst="rect">
            <a:avLst/>
          </a:prstGeom>
          <a:noFill/>
        </p:spPr>
        <p:txBody>
          <a:bodyPr wrap="square">
            <a:spAutoFit/>
          </a:bodyPr>
          <a:lstStyle/>
          <a:p>
            <a:r>
              <a:rPr lang="en-GB" sz="1400" b="0" i="0" dirty="0">
                <a:solidFill>
                  <a:srgbClr val="222222"/>
                </a:solidFill>
                <a:effectLst/>
                <a:latin typeface="-apple-system"/>
                <a:hlinkClick r:id="rId5"/>
              </a:rPr>
              <a:t>https://doi.org/10.1038/s41587-020-0718-6</a:t>
            </a:r>
            <a:endParaRPr lang="en-GB" sz="1400" b="0" i="0" dirty="0">
              <a:solidFill>
                <a:srgbClr val="222222"/>
              </a:solidFill>
              <a:effectLst/>
              <a:latin typeface="-apple-system"/>
            </a:endParaRPr>
          </a:p>
        </p:txBody>
      </p:sp>
      <p:sp>
        <p:nvSpPr>
          <p:cNvPr id="8" name="TextBox 7">
            <a:extLst>
              <a:ext uri="{FF2B5EF4-FFF2-40B4-BE49-F238E27FC236}">
                <a16:creationId xmlns:a16="http://schemas.microsoft.com/office/drawing/2014/main" id="{3B6632BB-E2AA-0CE7-B7AA-D72251487ACC}"/>
              </a:ext>
            </a:extLst>
          </p:cNvPr>
          <p:cNvSpPr txBox="1"/>
          <p:nvPr/>
        </p:nvSpPr>
        <p:spPr>
          <a:xfrm>
            <a:off x="5846617" y="901146"/>
            <a:ext cx="6040583" cy="2369880"/>
          </a:xfrm>
          <a:prstGeom prst="rect">
            <a:avLst/>
          </a:prstGeom>
          <a:noFill/>
        </p:spPr>
        <p:txBody>
          <a:bodyPr wrap="square" rtlCol="0">
            <a:spAutoFit/>
          </a:bodyPr>
          <a:lstStyle/>
          <a:p>
            <a:pPr marL="285750" indent="-285750">
              <a:buFont typeface="Arial" panose="020B0604020202020204" pitchFamily="34" charset="0"/>
              <a:buChar char="•"/>
            </a:pPr>
            <a:r>
              <a:rPr lang="en-GB" sz="1600" dirty="0"/>
              <a:t>&gt;10,000 metagenomes collected from diverse habitats </a:t>
            </a:r>
            <a:r>
              <a:rPr lang="en-DK" sz="1600" dirty="0"/>
              <a:t>comprising host associated, aquatic, terrestrials, air and engineered microbiomes</a:t>
            </a:r>
            <a:endParaRPr lang="en-GB" sz="1600" dirty="0"/>
          </a:p>
          <a:p>
            <a:pPr marL="285750" indent="-285750">
              <a:buFont typeface="Arial" panose="020B0604020202020204" pitchFamily="34" charset="0"/>
              <a:buChar char="•"/>
            </a:pPr>
            <a:r>
              <a:rPr lang="en-GB" sz="1600" dirty="0"/>
              <a:t>52,515 metagenome-assembled genomes representing 12,556 novel candidate species from 135 different phyla</a:t>
            </a:r>
          </a:p>
          <a:p>
            <a:pPr marL="285750" indent="-285750">
              <a:buFont typeface="Arial" panose="020B0604020202020204" pitchFamily="34" charset="0"/>
              <a:buChar char="•"/>
            </a:pPr>
            <a:r>
              <a:rPr lang="en-GB" sz="1600" dirty="0"/>
              <a:t>Performing metabolic modelling, understanding secondary-metabolite biosynthetic potential and for resolving thousands of new host linkages to uncultivated viruses</a:t>
            </a:r>
          </a:p>
          <a:p>
            <a:pPr marL="285750" indent="-285750">
              <a:buFont typeface="Arial" panose="020B0604020202020204" pitchFamily="34" charset="0"/>
              <a:buChar char="•"/>
            </a:pPr>
            <a:endParaRPr lang="en-DK" sz="1600" dirty="0"/>
          </a:p>
        </p:txBody>
      </p:sp>
    </p:spTree>
    <p:extLst>
      <p:ext uri="{BB962C8B-B14F-4D97-AF65-F5344CB8AC3E}">
        <p14:creationId xmlns:p14="http://schemas.microsoft.com/office/powerpoint/2010/main" val="173476606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8282AB-8865-2DAB-B6FC-E0504B920FBF}"/>
              </a:ext>
            </a:extLst>
          </p:cNvPr>
          <p:cNvSpPr>
            <a:spLocks noGrp="1"/>
          </p:cNvSpPr>
          <p:nvPr>
            <p:ph type="title"/>
          </p:nvPr>
        </p:nvSpPr>
        <p:spPr>
          <a:xfrm>
            <a:off x="279506" y="208075"/>
            <a:ext cx="11912494" cy="1325563"/>
          </a:xfrm>
        </p:spPr>
        <p:txBody>
          <a:bodyPr>
            <a:normAutofit fontScale="90000"/>
          </a:bodyPr>
          <a:lstStyle/>
          <a:p>
            <a:r>
              <a:rPr lang="en-GB" dirty="0"/>
              <a:t>Antimicrobial resistance is a major threat to global health!</a:t>
            </a:r>
            <a:br>
              <a:rPr lang="en-GB" dirty="0"/>
            </a:br>
            <a:endParaRPr lang="en-DK" dirty="0"/>
          </a:p>
        </p:txBody>
      </p:sp>
      <p:pic>
        <p:nvPicPr>
          <p:cNvPr id="5122" name="Picture 2" descr="Fig. 1">
            <a:extLst>
              <a:ext uri="{FF2B5EF4-FFF2-40B4-BE49-F238E27FC236}">
                <a16:creationId xmlns:a16="http://schemas.microsoft.com/office/drawing/2014/main" id="{306129E8-681B-BC84-9D69-1CF02F872B7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447252" y="968828"/>
            <a:ext cx="6351019" cy="5467597"/>
          </a:xfrm>
          <a:prstGeom prst="rect">
            <a:avLst/>
          </a:prstGeom>
          <a:noFill/>
          <a:extLst>
            <a:ext uri="{909E8E84-426E-40DD-AFC4-6F175D3DCCD1}">
              <a14:hiddenFill xmlns:a14="http://schemas.microsoft.com/office/drawing/2010/main">
                <a:solidFill>
                  <a:srgbClr val="FFFFFF"/>
                </a:solidFill>
              </a14:hiddenFill>
            </a:ext>
          </a:extLst>
        </p:spPr>
      </p:pic>
      <p:pic>
        <p:nvPicPr>
          <p:cNvPr id="4" name="Picture 3" descr="A screenshot of a web page&#10;&#10;AI-generated content may be incorrect.">
            <a:extLst>
              <a:ext uri="{FF2B5EF4-FFF2-40B4-BE49-F238E27FC236}">
                <a16:creationId xmlns:a16="http://schemas.microsoft.com/office/drawing/2014/main" id="{D7ED1C8A-6016-3DF2-C87A-BE889D218625}"/>
              </a:ext>
            </a:extLst>
          </p:cNvPr>
          <p:cNvPicPr>
            <a:picLocks noChangeAspect="1"/>
          </p:cNvPicPr>
          <p:nvPr/>
        </p:nvPicPr>
        <p:blipFill>
          <a:blip r:embed="rId4"/>
          <a:stretch>
            <a:fillRect/>
          </a:stretch>
        </p:blipFill>
        <p:spPr>
          <a:xfrm>
            <a:off x="393729" y="1329717"/>
            <a:ext cx="4876800" cy="1676400"/>
          </a:xfrm>
          <a:prstGeom prst="rect">
            <a:avLst/>
          </a:prstGeom>
        </p:spPr>
      </p:pic>
      <p:sp>
        <p:nvSpPr>
          <p:cNvPr id="6" name="TextBox 5">
            <a:extLst>
              <a:ext uri="{FF2B5EF4-FFF2-40B4-BE49-F238E27FC236}">
                <a16:creationId xmlns:a16="http://schemas.microsoft.com/office/drawing/2014/main" id="{D7A9C659-EEBF-D504-D95B-EE85BAC79B54}"/>
              </a:ext>
            </a:extLst>
          </p:cNvPr>
          <p:cNvSpPr txBox="1"/>
          <p:nvPr/>
        </p:nvSpPr>
        <p:spPr>
          <a:xfrm>
            <a:off x="684675" y="3006117"/>
            <a:ext cx="3502785" cy="523220"/>
          </a:xfrm>
          <a:prstGeom prst="rect">
            <a:avLst/>
          </a:prstGeom>
          <a:noFill/>
        </p:spPr>
        <p:txBody>
          <a:bodyPr wrap="square">
            <a:spAutoFit/>
          </a:bodyPr>
          <a:lstStyle/>
          <a:p>
            <a:r>
              <a:rPr lang="en-GB" sz="1400" b="0" i="0" dirty="0">
                <a:solidFill>
                  <a:srgbClr val="222222"/>
                </a:solidFill>
                <a:effectLst/>
                <a:latin typeface="-apple-system"/>
                <a:hlinkClick r:id="rId5"/>
              </a:rPr>
              <a:t>https://doi.org/10.1038/s41467-022-34312-7</a:t>
            </a:r>
            <a:br>
              <a:rPr lang="en-GB" sz="1400" b="0" i="0" dirty="0">
                <a:solidFill>
                  <a:srgbClr val="222222"/>
                </a:solidFill>
                <a:effectLst/>
                <a:latin typeface="-apple-system"/>
              </a:rPr>
            </a:br>
            <a:endParaRPr lang="en-DK" sz="1400" dirty="0"/>
          </a:p>
        </p:txBody>
      </p:sp>
      <p:sp>
        <p:nvSpPr>
          <p:cNvPr id="7" name="TextBox 6">
            <a:extLst>
              <a:ext uri="{FF2B5EF4-FFF2-40B4-BE49-F238E27FC236}">
                <a16:creationId xmlns:a16="http://schemas.microsoft.com/office/drawing/2014/main" id="{2247C859-EE72-9B38-9A96-6BFAD4D3D326}"/>
              </a:ext>
            </a:extLst>
          </p:cNvPr>
          <p:cNvSpPr txBox="1"/>
          <p:nvPr/>
        </p:nvSpPr>
        <p:spPr>
          <a:xfrm>
            <a:off x="393729" y="3529337"/>
            <a:ext cx="4876800" cy="3046988"/>
          </a:xfrm>
          <a:prstGeom prst="rect">
            <a:avLst/>
          </a:prstGeom>
          <a:noFill/>
        </p:spPr>
        <p:txBody>
          <a:bodyPr wrap="square" rtlCol="0">
            <a:spAutoFit/>
          </a:bodyPr>
          <a:lstStyle/>
          <a:p>
            <a:pPr marL="285750" indent="-285750">
              <a:buFont typeface="Arial" panose="020B0604020202020204" pitchFamily="34" charset="0"/>
              <a:buChar char="•"/>
            </a:pPr>
            <a:r>
              <a:rPr lang="en-DK" sz="1600" dirty="0"/>
              <a:t>The global resistome based on sewage-based monitoring </a:t>
            </a:r>
          </a:p>
          <a:p>
            <a:pPr marL="285750" indent="-285750">
              <a:buFont typeface="Arial" panose="020B0604020202020204" pitchFamily="34" charset="0"/>
              <a:buChar char="•"/>
            </a:pPr>
            <a:endParaRPr lang="en-DK" sz="1600" dirty="0"/>
          </a:p>
          <a:p>
            <a:pPr marL="285750" indent="-285750">
              <a:buFont typeface="Arial" panose="020B0604020202020204" pitchFamily="34" charset="0"/>
              <a:buChar char="•"/>
            </a:pPr>
            <a:r>
              <a:rPr lang="en-GB" sz="1600" dirty="0"/>
              <a:t>Metagenomic samples revealed regional patterns reflecting taxonomical changes</a:t>
            </a:r>
          </a:p>
          <a:p>
            <a:pPr marL="285750" indent="-285750">
              <a:buFont typeface="Arial" panose="020B0604020202020204" pitchFamily="34" charset="0"/>
              <a:buChar char="•"/>
            </a:pPr>
            <a:endParaRPr lang="en-GB" sz="1600" dirty="0"/>
          </a:p>
          <a:p>
            <a:pPr marL="285750" indent="-285750">
              <a:buFont typeface="Arial" panose="020B0604020202020204" pitchFamily="34" charset="0"/>
              <a:buChar char="•"/>
            </a:pPr>
            <a:r>
              <a:rPr lang="en-GB" sz="1600" dirty="0"/>
              <a:t>Understanding the emergence, evolution, and transmission of individual antibiotic resistance genes (ARGs) is essential to develop sustainable strategies to fight this threat</a:t>
            </a:r>
          </a:p>
          <a:p>
            <a:pPr marL="285750" indent="-285750">
              <a:buFont typeface="Arial" panose="020B0604020202020204" pitchFamily="34" charset="0"/>
              <a:buChar char="•"/>
            </a:pPr>
            <a:endParaRPr lang="en-GB" sz="1600" dirty="0"/>
          </a:p>
          <a:p>
            <a:endParaRPr lang="en-DK" sz="1600" dirty="0"/>
          </a:p>
        </p:txBody>
      </p:sp>
    </p:spTree>
    <p:extLst>
      <p:ext uri="{BB962C8B-B14F-4D97-AF65-F5344CB8AC3E}">
        <p14:creationId xmlns:p14="http://schemas.microsoft.com/office/powerpoint/2010/main" val="118086926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3A64085-86C7-2F25-2D73-C9FA77DAB732}"/>
              </a:ext>
            </a:extLst>
          </p:cNvPr>
          <p:cNvSpPr>
            <a:spLocks noGrp="1"/>
          </p:cNvSpPr>
          <p:nvPr>
            <p:ph type="title"/>
          </p:nvPr>
        </p:nvSpPr>
        <p:spPr>
          <a:xfrm>
            <a:off x="484909" y="365125"/>
            <a:ext cx="11360727" cy="1325563"/>
          </a:xfrm>
        </p:spPr>
        <p:txBody>
          <a:bodyPr/>
          <a:lstStyle/>
          <a:p>
            <a:r>
              <a:rPr lang="en-GB" dirty="0"/>
              <a:t>Microbial community at the Deepwater Horizon oil spill site</a:t>
            </a:r>
            <a:endParaRPr lang="en-DK" dirty="0"/>
          </a:p>
        </p:txBody>
      </p:sp>
      <p:pic>
        <p:nvPicPr>
          <p:cNvPr id="6" name="Picture 5" descr="A screenshot of a computer&#10;&#10;AI-generated content may be incorrect.">
            <a:extLst>
              <a:ext uri="{FF2B5EF4-FFF2-40B4-BE49-F238E27FC236}">
                <a16:creationId xmlns:a16="http://schemas.microsoft.com/office/drawing/2014/main" id="{9E790896-823C-8786-2894-EABA738E6F1F}"/>
              </a:ext>
            </a:extLst>
          </p:cNvPr>
          <p:cNvPicPr>
            <a:picLocks noChangeAspect="1"/>
          </p:cNvPicPr>
          <p:nvPr/>
        </p:nvPicPr>
        <p:blipFill>
          <a:blip r:embed="rId3"/>
          <a:stretch>
            <a:fillRect/>
          </a:stretch>
        </p:blipFill>
        <p:spPr>
          <a:xfrm>
            <a:off x="484909" y="1621413"/>
            <a:ext cx="4140200" cy="1524000"/>
          </a:xfrm>
          <a:prstGeom prst="rect">
            <a:avLst/>
          </a:prstGeom>
        </p:spPr>
      </p:pic>
      <p:sp>
        <p:nvSpPr>
          <p:cNvPr id="8" name="TextBox 7">
            <a:extLst>
              <a:ext uri="{FF2B5EF4-FFF2-40B4-BE49-F238E27FC236}">
                <a16:creationId xmlns:a16="http://schemas.microsoft.com/office/drawing/2014/main" id="{D1134BA2-29B6-32C4-4E9A-C56FC9F999ED}"/>
              </a:ext>
            </a:extLst>
          </p:cNvPr>
          <p:cNvSpPr txBox="1"/>
          <p:nvPr/>
        </p:nvSpPr>
        <p:spPr>
          <a:xfrm>
            <a:off x="484909" y="3145413"/>
            <a:ext cx="4003964" cy="307777"/>
          </a:xfrm>
          <a:prstGeom prst="rect">
            <a:avLst/>
          </a:prstGeom>
          <a:noFill/>
        </p:spPr>
        <p:txBody>
          <a:bodyPr wrap="square">
            <a:spAutoFit/>
          </a:bodyPr>
          <a:lstStyle/>
          <a:p>
            <a:r>
              <a:rPr lang="en-GB" sz="1400" b="0" i="0" u="none" strike="noStrike" dirty="0">
                <a:solidFill>
                  <a:srgbClr val="006FB7"/>
                </a:solidFill>
                <a:effectLst/>
                <a:latin typeface="Source Sans Pro" panose="020B0503030403020204" pitchFamily="34" charset="0"/>
                <a:hlinkClick r:id="rId4"/>
              </a:rPr>
              <a:t>https://doi.org/10.1038/ismej.2013.254</a:t>
            </a:r>
            <a:endParaRPr lang="en-DK" sz="1400" dirty="0"/>
          </a:p>
        </p:txBody>
      </p:sp>
      <p:pic>
        <p:nvPicPr>
          <p:cNvPr id="8194" name="Picture 2" descr="Non-metric multidimensional scaling ordination of 16S rRNA gene iTag sequence data. (a) The main ordination shows sample similarity and the correlations between environmental variables and ordination axes. The three most abundant OTUs in the contaminated samples (uncultured Gammaproteobacterium, Colwellia and Rhodobacteraceae) are represented by arrows. Sample BP366 is indicated by a blue square. Samples that exceeded the EPA’s aquatic benchmark for PAHs are denoted by red circles. (b) For this same ordination, the concentrations of TPH, total nitrogen, DIN, nitrate and ammonium are indicated by bubble size and contour lines. (c) Rarified abundance of an uncultured Gammaproteobacterium OTU and a Colwellia OTU are shown for the same ordination, with bubble size and contour lines indicating abundance. P-values indicate the significance for the variable shown and are based on 999 permutations.">
            <a:extLst>
              <a:ext uri="{FF2B5EF4-FFF2-40B4-BE49-F238E27FC236}">
                <a16:creationId xmlns:a16="http://schemas.microsoft.com/office/drawing/2014/main" id="{BD82D36B-873B-2BCB-6391-85696FF31CF7}"/>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5929739" y="1454727"/>
            <a:ext cx="5844321" cy="4754130"/>
          </a:xfrm>
          <a:prstGeom prst="rect">
            <a:avLst/>
          </a:prstGeom>
          <a:noFill/>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FC78DED1-22D5-5B7B-5A66-79D54CC21CF2}"/>
              </a:ext>
            </a:extLst>
          </p:cNvPr>
          <p:cNvSpPr txBox="1"/>
          <p:nvPr/>
        </p:nvSpPr>
        <p:spPr>
          <a:xfrm>
            <a:off x="346363" y="3470565"/>
            <a:ext cx="5375563" cy="3293209"/>
          </a:xfrm>
          <a:prstGeom prst="rect">
            <a:avLst/>
          </a:prstGeom>
          <a:noFill/>
        </p:spPr>
        <p:txBody>
          <a:bodyPr wrap="square" rtlCol="0">
            <a:spAutoFit/>
          </a:bodyPr>
          <a:lstStyle/>
          <a:p>
            <a:pPr marL="285750" indent="-285750">
              <a:buFont typeface="Arial" panose="020B0604020202020204" pitchFamily="34" charset="0"/>
              <a:buChar char="•"/>
            </a:pPr>
            <a:r>
              <a:rPr lang="en-GB" sz="1600" dirty="0"/>
              <a:t>Metagenomic Analysis of sediment samples from 64 sites in the Gulf of Mexico, </a:t>
            </a:r>
            <a:r>
              <a:rPr lang="en-GB" sz="1600" dirty="0" err="1"/>
              <a:t>characteryzing</a:t>
            </a:r>
            <a:r>
              <a:rPr lang="en-GB" sz="1600" dirty="0"/>
              <a:t> microbial community's response to the oil spill</a:t>
            </a:r>
          </a:p>
          <a:p>
            <a:pPr marL="285750" indent="-285750">
              <a:buFont typeface="Arial" panose="020B0604020202020204" pitchFamily="34" charset="0"/>
              <a:buChar char="•"/>
            </a:pPr>
            <a:r>
              <a:rPr lang="en-GB" sz="1600" dirty="0"/>
              <a:t>Uncultured </a:t>
            </a:r>
            <a:r>
              <a:rPr lang="en-GB" sz="1600" i="1" dirty="0" err="1"/>
              <a:t>Gammaproteobacterium</a:t>
            </a:r>
            <a:r>
              <a:rPr lang="en-GB" sz="1600" dirty="0"/>
              <a:t> and </a:t>
            </a:r>
            <a:r>
              <a:rPr lang="en-GB" sz="1600" i="1" dirty="0" err="1"/>
              <a:t>Colwellia</a:t>
            </a:r>
            <a:r>
              <a:rPr lang="en-GB" sz="1600" dirty="0"/>
              <a:t> species were enriched in oil-impacted sediments (hydrocarbon degradation)</a:t>
            </a:r>
          </a:p>
          <a:p>
            <a:pPr marL="285750" indent="-285750">
              <a:buFont typeface="Arial" panose="020B0604020202020204" pitchFamily="34" charset="0"/>
              <a:buChar char="•"/>
            </a:pPr>
            <a:r>
              <a:rPr lang="en-GB" sz="1600" dirty="0"/>
              <a:t>An increase in genes associated with hydrocarbon degradation pathways (aliphatic and aromatic hydrocarbon breakdown), indicating adaptive microbial response to oil contamination</a:t>
            </a:r>
          </a:p>
          <a:p>
            <a:pPr marL="285750" indent="-285750">
              <a:buFont typeface="Arial" panose="020B0604020202020204" pitchFamily="34" charset="0"/>
              <a:buChar char="•"/>
            </a:pPr>
            <a:r>
              <a:rPr lang="en-GB" sz="1600" dirty="0"/>
              <a:t>The study emphasized the importance of microbial communities in natural bioremediation processes.</a:t>
            </a:r>
          </a:p>
          <a:p>
            <a:pPr marL="285750" indent="-285750">
              <a:buFont typeface="Arial" panose="020B0604020202020204" pitchFamily="34" charset="0"/>
              <a:buChar char="•"/>
            </a:pPr>
            <a:endParaRPr lang="en-DK" sz="1600" dirty="0"/>
          </a:p>
        </p:txBody>
      </p:sp>
    </p:spTree>
    <p:extLst>
      <p:ext uri="{BB962C8B-B14F-4D97-AF65-F5344CB8AC3E}">
        <p14:creationId xmlns:p14="http://schemas.microsoft.com/office/powerpoint/2010/main" val="227651022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76D69C-5B22-DCD5-8246-C3B9C996046B}"/>
              </a:ext>
            </a:extLst>
          </p:cNvPr>
          <p:cNvSpPr>
            <a:spLocks noGrp="1"/>
          </p:cNvSpPr>
          <p:nvPr>
            <p:ph type="title"/>
          </p:nvPr>
        </p:nvSpPr>
        <p:spPr>
          <a:xfrm>
            <a:off x="838200" y="0"/>
            <a:ext cx="10515600" cy="1325563"/>
          </a:xfrm>
        </p:spPr>
        <p:txBody>
          <a:bodyPr/>
          <a:lstStyle/>
          <a:p>
            <a:r>
              <a:rPr lang="en-DK" dirty="0"/>
              <a:t>Global ocean microbiome (Tara oceans)</a:t>
            </a:r>
          </a:p>
        </p:txBody>
      </p:sp>
      <p:sp>
        <p:nvSpPr>
          <p:cNvPr id="9" name="TextBox 8">
            <a:extLst>
              <a:ext uri="{FF2B5EF4-FFF2-40B4-BE49-F238E27FC236}">
                <a16:creationId xmlns:a16="http://schemas.microsoft.com/office/drawing/2014/main" id="{8B19BD36-B49A-BAC4-1153-4DF23973430E}"/>
              </a:ext>
            </a:extLst>
          </p:cNvPr>
          <p:cNvSpPr txBox="1"/>
          <p:nvPr/>
        </p:nvSpPr>
        <p:spPr>
          <a:xfrm>
            <a:off x="544368" y="3429000"/>
            <a:ext cx="5907233" cy="2862322"/>
          </a:xfrm>
          <a:prstGeom prst="rect">
            <a:avLst/>
          </a:prstGeom>
          <a:noFill/>
        </p:spPr>
        <p:txBody>
          <a:bodyPr wrap="square">
            <a:spAutoFit/>
          </a:bodyPr>
          <a:lstStyle/>
          <a:p>
            <a:pPr marL="285750" indent="-285750">
              <a:buFont typeface="Arial" panose="020B0604020202020204" pitchFamily="34" charset="0"/>
              <a:buChar char="•"/>
            </a:pPr>
            <a:r>
              <a:rPr lang="en-GB" dirty="0" err="1"/>
              <a:t>Characteryzed</a:t>
            </a:r>
            <a:r>
              <a:rPr lang="en-GB" dirty="0"/>
              <a:t> ~1,000 non-redundant microbial genomes from the TARA Oceans metagenomes</a:t>
            </a:r>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r>
              <a:rPr lang="en-GB" dirty="0"/>
              <a:t>Nitrogen fixation in the surface ocean impacts global marine nitrogen bioavailability and therefore the microbial primary productivity</a:t>
            </a:r>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r>
              <a:rPr lang="en-GB" dirty="0"/>
              <a:t>Non-cyanobacterial diazotrophs inhabiting surface waters of the open ocean, which correspond to lineages within the Proteobacteria and Planctomycetes</a:t>
            </a:r>
            <a:endParaRPr lang="en-DK" sz="1600" dirty="0"/>
          </a:p>
        </p:txBody>
      </p:sp>
      <p:pic>
        <p:nvPicPr>
          <p:cNvPr id="11" name="Picture 10" descr="A screenshot of a website&#10;&#10;AI-generated content may be incorrect.">
            <a:extLst>
              <a:ext uri="{FF2B5EF4-FFF2-40B4-BE49-F238E27FC236}">
                <a16:creationId xmlns:a16="http://schemas.microsoft.com/office/drawing/2014/main" id="{4DF999F6-563F-C573-34EE-8DECE6270E8A}"/>
              </a:ext>
            </a:extLst>
          </p:cNvPr>
          <p:cNvPicPr>
            <a:picLocks noChangeAspect="1"/>
          </p:cNvPicPr>
          <p:nvPr/>
        </p:nvPicPr>
        <p:blipFill>
          <a:blip r:embed="rId3"/>
          <a:stretch>
            <a:fillRect/>
          </a:stretch>
        </p:blipFill>
        <p:spPr>
          <a:xfrm>
            <a:off x="838200" y="1261501"/>
            <a:ext cx="4902200" cy="1714500"/>
          </a:xfrm>
          <a:prstGeom prst="rect">
            <a:avLst/>
          </a:prstGeom>
        </p:spPr>
      </p:pic>
      <p:sp>
        <p:nvSpPr>
          <p:cNvPr id="13" name="TextBox 12">
            <a:extLst>
              <a:ext uri="{FF2B5EF4-FFF2-40B4-BE49-F238E27FC236}">
                <a16:creationId xmlns:a16="http://schemas.microsoft.com/office/drawing/2014/main" id="{400BEC6C-9247-0065-3537-B52F6D04CE55}"/>
              </a:ext>
            </a:extLst>
          </p:cNvPr>
          <p:cNvSpPr txBox="1"/>
          <p:nvPr/>
        </p:nvSpPr>
        <p:spPr>
          <a:xfrm>
            <a:off x="782780" y="2988270"/>
            <a:ext cx="3429000" cy="307777"/>
          </a:xfrm>
          <a:prstGeom prst="rect">
            <a:avLst/>
          </a:prstGeom>
          <a:noFill/>
        </p:spPr>
        <p:txBody>
          <a:bodyPr wrap="square">
            <a:spAutoFit/>
          </a:bodyPr>
          <a:lstStyle/>
          <a:p>
            <a:r>
              <a:rPr lang="en-GB" sz="1400" b="0" i="0" dirty="0">
                <a:solidFill>
                  <a:srgbClr val="222222"/>
                </a:solidFill>
                <a:effectLst/>
                <a:latin typeface="-apple-system"/>
                <a:hlinkClick r:id="rId4"/>
              </a:rPr>
              <a:t>https://doi.org/10.1038/s41564-018-0176-9</a:t>
            </a:r>
            <a:endParaRPr lang="en-GB" sz="1400" b="0" i="0" dirty="0">
              <a:solidFill>
                <a:srgbClr val="222222"/>
              </a:solidFill>
              <a:effectLst/>
              <a:latin typeface="-apple-system"/>
            </a:endParaRPr>
          </a:p>
        </p:txBody>
      </p:sp>
      <p:pic>
        <p:nvPicPr>
          <p:cNvPr id="15" name="Picture 14" descr="A screenshot of a diagram&#10;&#10;AI-generated content may be incorrect.">
            <a:extLst>
              <a:ext uri="{FF2B5EF4-FFF2-40B4-BE49-F238E27FC236}">
                <a16:creationId xmlns:a16="http://schemas.microsoft.com/office/drawing/2014/main" id="{6E57706C-EDE5-5087-5D6D-3F585C7BF1BB}"/>
              </a:ext>
            </a:extLst>
          </p:cNvPr>
          <p:cNvPicPr>
            <a:picLocks noChangeAspect="1"/>
          </p:cNvPicPr>
          <p:nvPr/>
        </p:nvPicPr>
        <p:blipFill>
          <a:blip r:embed="rId5"/>
          <a:stretch>
            <a:fillRect/>
          </a:stretch>
        </p:blipFill>
        <p:spPr>
          <a:xfrm>
            <a:off x="6451601" y="1435677"/>
            <a:ext cx="5697557" cy="5057198"/>
          </a:xfrm>
          <a:prstGeom prst="rect">
            <a:avLst/>
          </a:prstGeom>
        </p:spPr>
      </p:pic>
    </p:spTree>
    <p:extLst>
      <p:ext uri="{BB962C8B-B14F-4D97-AF65-F5344CB8AC3E}">
        <p14:creationId xmlns:p14="http://schemas.microsoft.com/office/powerpoint/2010/main" val="154877791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19960F1-B1BB-E8E3-3228-E980DFF12D27}"/>
            </a:ext>
          </a:extLst>
        </p:cNvPr>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5A292AEA-2528-46C0-B426-95822B6141F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D8B7B198-E4DF-43CD-AD8C-1998843237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00"/>
          </a:p>
        </p:txBody>
      </p:sp>
      <p:sp>
        <p:nvSpPr>
          <p:cNvPr id="11" name="Freeform: Shape 10">
            <a:extLst>
              <a:ext uri="{FF2B5EF4-FFF2-40B4-BE49-F238E27FC236}">
                <a16:creationId xmlns:a16="http://schemas.microsoft.com/office/drawing/2014/main" id="{2BE67753-EA0E-4819-8D22-0B6600CF723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496934" y="3984"/>
            <a:ext cx="9376632" cy="6858000"/>
          </a:xfrm>
          <a:custGeom>
            <a:avLst/>
            <a:gdLst>
              <a:gd name="connsiteX0" fmla="*/ 1691615 w 9376632"/>
              <a:gd name="connsiteY0" fmla="*/ 0 h 6858000"/>
              <a:gd name="connsiteX1" fmla="*/ 7685017 w 9376632"/>
              <a:gd name="connsiteY1" fmla="*/ 0 h 6858000"/>
              <a:gd name="connsiteX2" fmla="*/ 7840634 w 9376632"/>
              <a:gd name="connsiteY2" fmla="*/ 134799 h 6858000"/>
              <a:gd name="connsiteX3" fmla="*/ 9376632 w 9376632"/>
              <a:gd name="connsiteY3" fmla="*/ 3605175 h 6858000"/>
              <a:gd name="connsiteX4" fmla="*/ 8158692 w 9376632"/>
              <a:gd name="connsiteY4" fmla="*/ 6757493 h 6858000"/>
              <a:gd name="connsiteX5" fmla="*/ 8062868 w 9376632"/>
              <a:gd name="connsiteY5" fmla="*/ 6858000 h 6858000"/>
              <a:gd name="connsiteX6" fmla="*/ 1313765 w 9376632"/>
              <a:gd name="connsiteY6" fmla="*/ 6858000 h 6858000"/>
              <a:gd name="connsiteX7" fmla="*/ 1217940 w 9376632"/>
              <a:gd name="connsiteY7" fmla="*/ 6757493 h 6858000"/>
              <a:gd name="connsiteX8" fmla="*/ 0 w 9376632"/>
              <a:gd name="connsiteY8" fmla="*/ 3605175 h 6858000"/>
              <a:gd name="connsiteX9" fmla="*/ 1535999 w 9376632"/>
              <a:gd name="connsiteY9" fmla="*/ 134799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376632" h="6858000">
                <a:moveTo>
                  <a:pt x="1691615" y="0"/>
                </a:moveTo>
                <a:lnTo>
                  <a:pt x="7685017" y="0"/>
                </a:lnTo>
                <a:lnTo>
                  <a:pt x="7840634" y="134799"/>
                </a:lnTo>
                <a:cubicBezTo>
                  <a:pt x="8784230" y="992423"/>
                  <a:pt x="9376632" y="2229618"/>
                  <a:pt x="9376632" y="3605175"/>
                </a:cubicBezTo>
                <a:cubicBezTo>
                  <a:pt x="9376632" y="4818903"/>
                  <a:pt x="8915419" y="5924908"/>
                  <a:pt x="8158692" y="6757493"/>
                </a:cubicBezTo>
                <a:lnTo>
                  <a:pt x="8062868" y="6858000"/>
                </a:lnTo>
                <a:lnTo>
                  <a:pt x="1313765" y="6858000"/>
                </a:lnTo>
                <a:lnTo>
                  <a:pt x="1217940" y="6757493"/>
                </a:lnTo>
                <a:cubicBezTo>
                  <a:pt x="461213" y="5924908"/>
                  <a:pt x="0" y="4818903"/>
                  <a:pt x="0" y="3605175"/>
                </a:cubicBezTo>
                <a:cubicBezTo>
                  <a:pt x="0" y="2229618"/>
                  <a:pt x="592403" y="992423"/>
                  <a:pt x="1535999" y="134799"/>
                </a:cubicBezTo>
                <a:close/>
              </a:path>
            </a:pathLst>
          </a:custGeom>
          <a:gradFill flip="none" rotWithShape="1">
            <a:gsLst>
              <a:gs pos="16000">
                <a:schemeClr val="accent6">
                  <a:alpha val="20000"/>
                </a:schemeClr>
              </a:gs>
              <a:gs pos="85000">
                <a:schemeClr val="accent1">
                  <a:alpha val="40000"/>
                </a:schemeClr>
              </a:gs>
            </a:gsLst>
            <a:lin ang="120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3" name="Group 12">
            <a:extLst>
              <a:ext uri="{FF2B5EF4-FFF2-40B4-BE49-F238E27FC236}">
                <a16:creationId xmlns:a16="http://schemas.microsoft.com/office/drawing/2014/main" id="{D76D63AC-0421-45EC-B383-E79A61A78C6B}"/>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303402" y="3985"/>
            <a:ext cx="9772765" cy="6858000"/>
            <a:chOff x="1303402" y="36937"/>
            <a:chExt cx="9772765" cy="6858000"/>
          </a:xfrm>
          <a:solidFill>
            <a:schemeClr val="bg1">
              <a:alpha val="30000"/>
            </a:schemeClr>
          </a:solidFill>
        </p:grpSpPr>
        <p:sp>
          <p:nvSpPr>
            <p:cNvPr id="14" name="Freeform: Shape 13">
              <a:extLst>
                <a:ext uri="{FF2B5EF4-FFF2-40B4-BE49-F238E27FC236}">
                  <a16:creationId xmlns:a16="http://schemas.microsoft.com/office/drawing/2014/main" id="{B997A32E-7032-4107-9C8B-99DB59EDD52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60551" y="36937"/>
              <a:ext cx="9313016" cy="6858000"/>
            </a:xfrm>
            <a:custGeom>
              <a:avLst/>
              <a:gdLst>
                <a:gd name="connsiteX0" fmla="*/ 6993556 w 9313016"/>
                <a:gd name="connsiteY0" fmla="*/ 0 h 6858000"/>
                <a:gd name="connsiteX1" fmla="*/ 7358516 w 9313016"/>
                <a:gd name="connsiteY1" fmla="*/ 0 h 6858000"/>
                <a:gd name="connsiteX2" fmla="*/ 7475006 w 9313016"/>
                <a:gd name="connsiteY2" fmla="*/ 82722 h 6858000"/>
                <a:gd name="connsiteX3" fmla="*/ 7816357 w 9313016"/>
                <a:gd name="connsiteY3" fmla="*/ 358482 h 6858000"/>
                <a:gd name="connsiteX4" fmla="*/ 8421752 w 9313016"/>
                <a:gd name="connsiteY4" fmla="*/ 995405 h 6858000"/>
                <a:gd name="connsiteX5" fmla="*/ 8897059 w 9313016"/>
                <a:gd name="connsiteY5" fmla="*/ 1737211 h 6858000"/>
                <a:gd name="connsiteX6" fmla="*/ 9206633 w 9313016"/>
                <a:gd name="connsiteY6" fmla="*/ 2564460 h 6858000"/>
                <a:gd name="connsiteX7" fmla="*/ 9286787 w 9313016"/>
                <a:gd name="connsiteY7" fmla="*/ 3000164 h 6858000"/>
                <a:gd name="connsiteX8" fmla="*/ 9312914 w 9313016"/>
                <a:gd name="connsiteY8" fmla="*/ 3442493 h 6858000"/>
                <a:gd name="connsiteX9" fmla="*/ 9190562 w 9313016"/>
                <a:gd name="connsiteY9" fmla="*/ 4316686 h 6858000"/>
                <a:gd name="connsiteX10" fmla="*/ 9043416 w 9313016"/>
                <a:gd name="connsiteY10" fmla="*/ 4734917 h 6858000"/>
                <a:gd name="connsiteX11" fmla="*/ 8809657 w 9313016"/>
                <a:gd name="connsiteY11" fmla="*/ 5128718 h 6858000"/>
                <a:gd name="connsiteX12" fmla="*/ 8645997 w 9313016"/>
                <a:gd name="connsiteY12" fmla="*/ 5297441 h 6858000"/>
                <a:gd name="connsiteX13" fmla="*/ 8457787 w 9313016"/>
                <a:gd name="connsiteY13" fmla="*/ 5433763 h 6858000"/>
                <a:gd name="connsiteX14" fmla="*/ 8260803 w 9313016"/>
                <a:gd name="connsiteY14" fmla="*/ 5541237 h 6858000"/>
                <a:gd name="connsiteX15" fmla="*/ 8066136 w 9313016"/>
                <a:gd name="connsiteY15" fmla="*/ 5635704 h 6858000"/>
                <a:gd name="connsiteX16" fmla="*/ 7698638 w 9313016"/>
                <a:gd name="connsiteY16" fmla="*/ 5837163 h 6858000"/>
                <a:gd name="connsiteX17" fmla="*/ 7370135 w 9313016"/>
                <a:gd name="connsiteY17" fmla="*/ 6090081 h 6858000"/>
                <a:gd name="connsiteX18" fmla="*/ 7218897 w 9313016"/>
                <a:gd name="connsiteY18" fmla="*/ 6235860 h 6858000"/>
                <a:gd name="connsiteX19" fmla="*/ 7070665 w 9313016"/>
                <a:gd name="connsiteY19" fmla="*/ 6387205 h 6858000"/>
                <a:gd name="connsiteX20" fmla="*/ 6779035 w 9313016"/>
                <a:gd name="connsiteY20" fmla="*/ 6697100 h 6858000"/>
                <a:gd name="connsiteX21" fmla="*/ 6631837 w 9313016"/>
                <a:gd name="connsiteY21" fmla="*/ 6852239 h 6858000"/>
                <a:gd name="connsiteX22" fmla="*/ 6626221 w 9313016"/>
                <a:gd name="connsiteY22" fmla="*/ 6858000 h 6858000"/>
                <a:gd name="connsiteX23" fmla="*/ 6424725 w 9313016"/>
                <a:gd name="connsiteY23" fmla="*/ 6858000 h 6858000"/>
                <a:gd name="connsiteX24" fmla="*/ 6527382 w 9313016"/>
                <a:gd name="connsiteY24" fmla="*/ 6756333 h 6858000"/>
                <a:gd name="connsiteX25" fmla="*/ 6674233 w 9313016"/>
                <a:gd name="connsiteY25" fmla="*/ 6603450 h 6858000"/>
                <a:gd name="connsiteX26" fmla="*/ 6965813 w 9313016"/>
                <a:gd name="connsiteY26" fmla="*/ 6292932 h 6858000"/>
                <a:gd name="connsiteX27" fmla="*/ 7112961 w 9313016"/>
                <a:gd name="connsiteY27" fmla="*/ 6137505 h 6858000"/>
                <a:gd name="connsiteX28" fmla="*/ 7264790 w 9313016"/>
                <a:gd name="connsiteY28" fmla="*/ 5983710 h 6858000"/>
                <a:gd name="connsiteX29" fmla="*/ 7974595 w 9313016"/>
                <a:gd name="connsiteY29" fmla="*/ 5470773 h 6858000"/>
                <a:gd name="connsiteX30" fmla="*/ 8331591 w 9313016"/>
                <a:gd name="connsiteY30" fmla="*/ 5254048 h 6858000"/>
                <a:gd name="connsiteX31" fmla="*/ 8599807 w 9313016"/>
                <a:gd name="connsiteY31" fmla="*/ 4980010 h 6858000"/>
                <a:gd name="connsiteX32" fmla="*/ 8766474 w 9313016"/>
                <a:gd name="connsiteY32" fmla="*/ 4631524 h 6858000"/>
                <a:gd name="connsiteX33" fmla="*/ 8865755 w 9313016"/>
                <a:gd name="connsiteY33" fmla="*/ 4244445 h 6858000"/>
                <a:gd name="connsiteX34" fmla="*/ 8882911 w 9313016"/>
                <a:gd name="connsiteY34" fmla="*/ 4145659 h 6858000"/>
                <a:gd name="connsiteX35" fmla="*/ 8897403 w 9313016"/>
                <a:gd name="connsiteY35" fmla="*/ 4046633 h 6858000"/>
                <a:gd name="connsiteX36" fmla="*/ 8908298 w 9313016"/>
                <a:gd name="connsiteY36" fmla="*/ 3947271 h 6858000"/>
                <a:gd name="connsiteX37" fmla="*/ 8916184 w 9313016"/>
                <a:gd name="connsiteY37" fmla="*/ 3847765 h 6858000"/>
                <a:gd name="connsiteX38" fmla="*/ 8920670 w 9313016"/>
                <a:gd name="connsiteY38" fmla="*/ 3449597 h 6858000"/>
                <a:gd name="connsiteX39" fmla="*/ 8914607 w 9313016"/>
                <a:gd name="connsiteY39" fmla="*/ 3350283 h 6858000"/>
                <a:gd name="connsiteX40" fmla="*/ 8905340 w 9313016"/>
                <a:gd name="connsiteY40" fmla="*/ 3251209 h 6858000"/>
                <a:gd name="connsiteX41" fmla="*/ 8893854 w 9313016"/>
                <a:gd name="connsiteY41" fmla="*/ 3152376 h 6858000"/>
                <a:gd name="connsiteX42" fmla="*/ 8879706 w 9313016"/>
                <a:gd name="connsiteY42" fmla="*/ 3053878 h 6858000"/>
                <a:gd name="connsiteX43" fmla="*/ 8797531 w 9313016"/>
                <a:gd name="connsiteY43" fmla="*/ 2663966 h 6858000"/>
                <a:gd name="connsiteX44" fmla="*/ 8520442 w 9313016"/>
                <a:gd name="connsiteY44" fmla="*/ 1911983 h 6858000"/>
                <a:gd name="connsiteX45" fmla="*/ 8332626 w 9313016"/>
                <a:gd name="connsiteY45" fmla="*/ 1553608 h 6858000"/>
                <a:gd name="connsiteX46" fmla="*/ 8116317 w 9313016"/>
                <a:gd name="connsiteY46" fmla="*/ 1208529 h 6858000"/>
                <a:gd name="connsiteX47" fmla="*/ 7873293 w 9313016"/>
                <a:gd name="connsiteY47" fmla="*/ 878284 h 6858000"/>
                <a:gd name="connsiteX48" fmla="*/ 7604337 w 9313016"/>
                <a:gd name="connsiteY48" fmla="*/ 565125 h 6858000"/>
                <a:gd name="connsiteX49" fmla="*/ 7311128 w 9313016"/>
                <a:gd name="connsiteY49" fmla="*/ 270591 h 6858000"/>
                <a:gd name="connsiteX50" fmla="*/ 1752019 w 9313016"/>
                <a:gd name="connsiteY50" fmla="*/ 0 h 6858000"/>
                <a:gd name="connsiteX51" fmla="*/ 2155804 w 9313016"/>
                <a:gd name="connsiteY51" fmla="*/ 0 h 6858000"/>
                <a:gd name="connsiteX52" fmla="*/ 2103975 w 9313016"/>
                <a:gd name="connsiteY52" fmla="*/ 40789 h 6858000"/>
                <a:gd name="connsiteX53" fmla="*/ 1656310 w 9313016"/>
                <a:gd name="connsiteY53" fmla="*/ 470035 h 6858000"/>
                <a:gd name="connsiteX54" fmla="*/ 806013 w 9313016"/>
                <a:gd name="connsiteY54" fmla="*/ 1841133 h 6858000"/>
                <a:gd name="connsiteX55" fmla="*/ 580685 w 9313016"/>
                <a:gd name="connsiteY55" fmla="*/ 2606364 h 6858000"/>
                <a:gd name="connsiteX56" fmla="*/ 503489 w 9313016"/>
                <a:gd name="connsiteY56" fmla="*/ 3397276 h 6858000"/>
                <a:gd name="connsiteX57" fmla="*/ 570135 w 9313016"/>
                <a:gd name="connsiteY57" fmla="*/ 4188235 h 6858000"/>
                <a:gd name="connsiteX58" fmla="*/ 783387 w 9313016"/>
                <a:gd name="connsiteY58" fmla="*/ 4953850 h 6858000"/>
                <a:gd name="connsiteX59" fmla="*/ 1628014 w 9313016"/>
                <a:gd name="connsiteY59" fmla="*/ 6308245 h 6858000"/>
                <a:gd name="connsiteX60" fmla="*/ 2235998 w 9313016"/>
                <a:gd name="connsiteY60" fmla="*/ 6844829 h 6858000"/>
                <a:gd name="connsiteX61" fmla="*/ 2255028 w 9313016"/>
                <a:gd name="connsiteY61" fmla="*/ 6858000 h 6858000"/>
                <a:gd name="connsiteX62" fmla="*/ 1578787 w 9313016"/>
                <a:gd name="connsiteY62" fmla="*/ 6858000 h 6858000"/>
                <a:gd name="connsiteX63" fmla="*/ 1465153 w 9313016"/>
                <a:gd name="connsiteY63" fmla="*/ 6759050 h 6858000"/>
                <a:gd name="connsiteX64" fmla="*/ 1303650 w 9313016"/>
                <a:gd name="connsiteY64" fmla="*/ 6604267 h 6858000"/>
                <a:gd name="connsiteX65" fmla="*/ 323708 w 9313016"/>
                <a:gd name="connsiteY65" fmla="*/ 5126365 h 6858000"/>
                <a:gd name="connsiteX66" fmla="*/ 872 w 9313016"/>
                <a:gd name="connsiteY66" fmla="*/ 3391228 h 6858000"/>
                <a:gd name="connsiteX67" fmla="*/ 105428 w 9313016"/>
                <a:gd name="connsiteY67" fmla="*/ 2511899 h 6858000"/>
                <a:gd name="connsiteX68" fmla="*/ 384933 w 9313016"/>
                <a:gd name="connsiteY68" fmla="*/ 1670971 h 6858000"/>
                <a:gd name="connsiteX69" fmla="*/ 1433593 w 9313016"/>
                <a:gd name="connsiteY69" fmla="*/ 256095 h 6858000"/>
                <a:gd name="connsiteX70" fmla="*/ 1602664 w 9313016"/>
                <a:gd name="connsiteY70" fmla="*/ 113704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Lst>
              <a:rect l="l" t="t" r="r" b="b"/>
              <a:pathLst>
                <a:path w="9313016" h="6858000">
                  <a:moveTo>
                    <a:pt x="6993556" y="0"/>
                  </a:moveTo>
                  <a:lnTo>
                    <a:pt x="7358516" y="0"/>
                  </a:lnTo>
                  <a:lnTo>
                    <a:pt x="7475006" y="82722"/>
                  </a:lnTo>
                  <a:cubicBezTo>
                    <a:pt x="7592423" y="169778"/>
                    <a:pt x="7706366" y="261748"/>
                    <a:pt x="7816357" y="358482"/>
                  </a:cubicBezTo>
                  <a:cubicBezTo>
                    <a:pt x="8036559" y="551589"/>
                    <a:pt x="8239655" y="764905"/>
                    <a:pt x="8421752" y="995405"/>
                  </a:cubicBezTo>
                  <a:cubicBezTo>
                    <a:pt x="8604736" y="1225282"/>
                    <a:pt x="8763567" y="1474646"/>
                    <a:pt x="8897059" y="1737211"/>
                  </a:cubicBezTo>
                  <a:cubicBezTo>
                    <a:pt x="9029909" y="2000162"/>
                    <a:pt x="9134317" y="2277990"/>
                    <a:pt x="9206633" y="2564460"/>
                  </a:cubicBezTo>
                  <a:cubicBezTo>
                    <a:pt x="9242322" y="2707791"/>
                    <a:pt x="9269041" y="2853474"/>
                    <a:pt x="9286787" y="3000164"/>
                  </a:cubicBezTo>
                  <a:cubicBezTo>
                    <a:pt x="9304977" y="3146856"/>
                    <a:pt x="9314097" y="3294698"/>
                    <a:pt x="9312914" y="3442493"/>
                  </a:cubicBezTo>
                  <a:cubicBezTo>
                    <a:pt x="9309906" y="3737987"/>
                    <a:pt x="9270717" y="4033288"/>
                    <a:pt x="9190562" y="4316686"/>
                  </a:cubicBezTo>
                  <a:cubicBezTo>
                    <a:pt x="9150486" y="4458240"/>
                    <a:pt x="9103951" y="4597587"/>
                    <a:pt x="9043416" y="4734917"/>
                  </a:cubicBezTo>
                  <a:cubicBezTo>
                    <a:pt x="8982980" y="4871817"/>
                    <a:pt x="8908740" y="5007131"/>
                    <a:pt x="8809657" y="5128718"/>
                  </a:cubicBezTo>
                  <a:cubicBezTo>
                    <a:pt x="8760312" y="5189247"/>
                    <a:pt x="8706137" y="5246945"/>
                    <a:pt x="8645997" y="5297441"/>
                  </a:cubicBezTo>
                  <a:cubicBezTo>
                    <a:pt x="8586252" y="5348274"/>
                    <a:pt x="8522809" y="5393730"/>
                    <a:pt x="8457787" y="5433763"/>
                  </a:cubicBezTo>
                  <a:cubicBezTo>
                    <a:pt x="8392816" y="5474132"/>
                    <a:pt x="8326219" y="5508213"/>
                    <a:pt x="8260803" y="5541237"/>
                  </a:cubicBezTo>
                  <a:cubicBezTo>
                    <a:pt x="8195289" y="5574071"/>
                    <a:pt x="8130023" y="5604838"/>
                    <a:pt x="8066136" y="5635704"/>
                  </a:cubicBezTo>
                  <a:cubicBezTo>
                    <a:pt x="7938313" y="5697433"/>
                    <a:pt x="7815222" y="5762186"/>
                    <a:pt x="7698638" y="5837163"/>
                  </a:cubicBezTo>
                  <a:cubicBezTo>
                    <a:pt x="7582449" y="5912381"/>
                    <a:pt x="7471881" y="5996094"/>
                    <a:pt x="7370135" y="6090081"/>
                  </a:cubicBezTo>
                  <a:cubicBezTo>
                    <a:pt x="7319460" y="6136593"/>
                    <a:pt x="7268881" y="6186082"/>
                    <a:pt x="7218897" y="6235860"/>
                  </a:cubicBezTo>
                  <a:cubicBezTo>
                    <a:pt x="7168763" y="6285493"/>
                    <a:pt x="7119665" y="6336229"/>
                    <a:pt x="7070665" y="6387205"/>
                  </a:cubicBezTo>
                  <a:cubicBezTo>
                    <a:pt x="6972715" y="6489208"/>
                    <a:pt x="6876195" y="6593131"/>
                    <a:pt x="6779035" y="6697100"/>
                  </a:cubicBezTo>
                  <a:cubicBezTo>
                    <a:pt x="6730379" y="6748989"/>
                    <a:pt x="6681528" y="6800878"/>
                    <a:pt x="6631837" y="6852239"/>
                  </a:cubicBezTo>
                  <a:lnTo>
                    <a:pt x="6626221" y="6858000"/>
                  </a:lnTo>
                  <a:lnTo>
                    <a:pt x="6424725" y="6858000"/>
                  </a:lnTo>
                  <a:lnTo>
                    <a:pt x="6527382" y="6756333"/>
                  </a:lnTo>
                  <a:cubicBezTo>
                    <a:pt x="6576726" y="6705932"/>
                    <a:pt x="6625480" y="6654811"/>
                    <a:pt x="6674233" y="6603450"/>
                  </a:cubicBezTo>
                  <a:cubicBezTo>
                    <a:pt x="6771788" y="6500920"/>
                    <a:pt x="6868309" y="6396757"/>
                    <a:pt x="6965813" y="6292932"/>
                  </a:cubicBezTo>
                  <a:lnTo>
                    <a:pt x="7112961" y="6137505"/>
                  </a:lnTo>
                  <a:cubicBezTo>
                    <a:pt x="7162354" y="6085808"/>
                    <a:pt x="7211945" y="6034640"/>
                    <a:pt x="7264790" y="5983710"/>
                  </a:cubicBezTo>
                  <a:cubicBezTo>
                    <a:pt x="7472373" y="5779130"/>
                    <a:pt x="7721610" y="5610648"/>
                    <a:pt x="7974595" y="5470773"/>
                  </a:cubicBezTo>
                  <a:cubicBezTo>
                    <a:pt x="8099903" y="5399395"/>
                    <a:pt x="8224127" y="5332529"/>
                    <a:pt x="8331591" y="5254048"/>
                  </a:cubicBezTo>
                  <a:cubicBezTo>
                    <a:pt x="8439351" y="5176047"/>
                    <a:pt x="8529660" y="5085949"/>
                    <a:pt x="8599807" y="4980010"/>
                  </a:cubicBezTo>
                  <a:cubicBezTo>
                    <a:pt x="8671187" y="4875128"/>
                    <a:pt x="8723982" y="4756086"/>
                    <a:pt x="8766474" y="4631524"/>
                  </a:cubicBezTo>
                  <a:cubicBezTo>
                    <a:pt x="8808968" y="4507010"/>
                    <a:pt x="8840615" y="4375872"/>
                    <a:pt x="8865755" y="4244445"/>
                  </a:cubicBezTo>
                  <a:cubicBezTo>
                    <a:pt x="8871375" y="4211468"/>
                    <a:pt x="8878129" y="4178731"/>
                    <a:pt x="8882911" y="4145659"/>
                  </a:cubicBezTo>
                  <a:lnTo>
                    <a:pt x="8897403" y="4046633"/>
                  </a:lnTo>
                  <a:lnTo>
                    <a:pt x="8908298" y="3947271"/>
                  </a:lnTo>
                  <a:cubicBezTo>
                    <a:pt x="8912389" y="3914247"/>
                    <a:pt x="8913425" y="3880886"/>
                    <a:pt x="8916184" y="3847765"/>
                  </a:cubicBezTo>
                  <a:cubicBezTo>
                    <a:pt x="8925797" y="3715091"/>
                    <a:pt x="8925945" y="3582127"/>
                    <a:pt x="8920670" y="3449597"/>
                  </a:cubicBezTo>
                  <a:lnTo>
                    <a:pt x="8914607" y="3350283"/>
                  </a:lnTo>
                  <a:cubicBezTo>
                    <a:pt x="8911995" y="3317211"/>
                    <a:pt x="8908348" y="3284233"/>
                    <a:pt x="8905340" y="3251209"/>
                  </a:cubicBezTo>
                  <a:cubicBezTo>
                    <a:pt x="8902628" y="3218185"/>
                    <a:pt x="8897551" y="3185305"/>
                    <a:pt x="8893854" y="3152376"/>
                  </a:cubicBezTo>
                  <a:cubicBezTo>
                    <a:pt x="8890305" y="3119399"/>
                    <a:pt x="8884932" y="3086662"/>
                    <a:pt x="8879706" y="3053878"/>
                  </a:cubicBezTo>
                  <a:cubicBezTo>
                    <a:pt x="8858707" y="2922835"/>
                    <a:pt x="8831249" y="2792705"/>
                    <a:pt x="8797531" y="2663966"/>
                  </a:cubicBezTo>
                  <a:cubicBezTo>
                    <a:pt x="8728616" y="2406777"/>
                    <a:pt x="8635497" y="2155109"/>
                    <a:pt x="8520442" y="1911983"/>
                  </a:cubicBezTo>
                  <a:cubicBezTo>
                    <a:pt x="8462667" y="1790541"/>
                    <a:pt x="8400112" y="1670923"/>
                    <a:pt x="8332626" y="1553608"/>
                  </a:cubicBezTo>
                  <a:cubicBezTo>
                    <a:pt x="8265683" y="1436006"/>
                    <a:pt x="8192973" y="1321188"/>
                    <a:pt x="8116317" y="1208529"/>
                  </a:cubicBezTo>
                  <a:cubicBezTo>
                    <a:pt x="8039811" y="1095776"/>
                    <a:pt x="7958079" y="986094"/>
                    <a:pt x="7873293" y="878284"/>
                  </a:cubicBezTo>
                  <a:cubicBezTo>
                    <a:pt x="7787814" y="771002"/>
                    <a:pt x="7697999" y="666551"/>
                    <a:pt x="7604337" y="565125"/>
                  </a:cubicBezTo>
                  <a:cubicBezTo>
                    <a:pt x="7510479" y="463891"/>
                    <a:pt x="7413367" y="364818"/>
                    <a:pt x="7311128" y="270591"/>
                  </a:cubicBezTo>
                  <a:close/>
                  <a:moveTo>
                    <a:pt x="1752019" y="0"/>
                  </a:moveTo>
                  <a:lnTo>
                    <a:pt x="2155804" y="0"/>
                  </a:lnTo>
                  <a:lnTo>
                    <a:pt x="2103975" y="40789"/>
                  </a:lnTo>
                  <a:cubicBezTo>
                    <a:pt x="1943592" y="173585"/>
                    <a:pt x="1793955" y="317500"/>
                    <a:pt x="1656310" y="470035"/>
                  </a:cubicBezTo>
                  <a:cubicBezTo>
                    <a:pt x="1288172" y="876939"/>
                    <a:pt x="1002998" y="1344708"/>
                    <a:pt x="806013" y="1841133"/>
                  </a:cubicBezTo>
                  <a:cubicBezTo>
                    <a:pt x="707818" y="2089538"/>
                    <a:pt x="630868" y="2345480"/>
                    <a:pt x="580685" y="2606364"/>
                  </a:cubicBezTo>
                  <a:cubicBezTo>
                    <a:pt x="530749" y="2867250"/>
                    <a:pt x="504868" y="3132119"/>
                    <a:pt x="503489" y="3397276"/>
                  </a:cubicBezTo>
                  <a:cubicBezTo>
                    <a:pt x="501467" y="3662434"/>
                    <a:pt x="524093" y="3927351"/>
                    <a:pt x="570135" y="4188235"/>
                  </a:cubicBezTo>
                  <a:cubicBezTo>
                    <a:pt x="615734" y="4449264"/>
                    <a:pt x="688642" y="4705493"/>
                    <a:pt x="783387" y="4953850"/>
                  </a:cubicBezTo>
                  <a:cubicBezTo>
                    <a:pt x="974357" y="5449796"/>
                    <a:pt x="1259630" y="5913773"/>
                    <a:pt x="1628014" y="6308245"/>
                  </a:cubicBezTo>
                  <a:cubicBezTo>
                    <a:pt x="1812182" y="6505481"/>
                    <a:pt x="2016215" y="6685052"/>
                    <a:pt x="2235998" y="6844829"/>
                  </a:cubicBezTo>
                  <a:lnTo>
                    <a:pt x="2255028" y="6858000"/>
                  </a:lnTo>
                  <a:lnTo>
                    <a:pt x="1578787" y="6858000"/>
                  </a:lnTo>
                  <a:lnTo>
                    <a:pt x="1465153" y="6759050"/>
                  </a:lnTo>
                  <a:cubicBezTo>
                    <a:pt x="1410086" y="6708726"/>
                    <a:pt x="1356236" y="6657104"/>
                    <a:pt x="1303650" y="6604267"/>
                  </a:cubicBezTo>
                  <a:cubicBezTo>
                    <a:pt x="883506" y="6181043"/>
                    <a:pt x="548150" y="5676072"/>
                    <a:pt x="323708" y="5126365"/>
                  </a:cubicBezTo>
                  <a:cubicBezTo>
                    <a:pt x="97737" y="4577139"/>
                    <a:pt x="-10958" y="3981927"/>
                    <a:pt x="872" y="3391228"/>
                  </a:cubicBezTo>
                  <a:cubicBezTo>
                    <a:pt x="5951" y="3095783"/>
                    <a:pt x="40506" y="2800528"/>
                    <a:pt x="105428" y="2511899"/>
                  </a:cubicBezTo>
                  <a:cubicBezTo>
                    <a:pt x="170104" y="2223317"/>
                    <a:pt x="262089" y="1940399"/>
                    <a:pt x="384933" y="1670971"/>
                  </a:cubicBezTo>
                  <a:cubicBezTo>
                    <a:pt x="629092" y="1131344"/>
                    <a:pt x="991955" y="646919"/>
                    <a:pt x="1433593" y="256095"/>
                  </a:cubicBezTo>
                  <a:cubicBezTo>
                    <a:pt x="1488791" y="207206"/>
                    <a:pt x="1545179" y="159733"/>
                    <a:pt x="1602664" y="113704"/>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5" name="Freeform: Shape 14">
              <a:extLst>
                <a:ext uri="{FF2B5EF4-FFF2-40B4-BE49-F238E27FC236}">
                  <a16:creationId xmlns:a16="http://schemas.microsoft.com/office/drawing/2014/main" id="{943BB27F-1470-42CA-91FF-D94BC691C8F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59468" y="36937"/>
              <a:ext cx="9065550" cy="6858000"/>
            </a:xfrm>
            <a:custGeom>
              <a:avLst/>
              <a:gdLst>
                <a:gd name="connsiteX0" fmla="*/ 1839951 w 9065550"/>
                <a:gd name="connsiteY0" fmla="*/ 0 h 6858000"/>
                <a:gd name="connsiteX1" fmla="*/ 6979427 w 9065550"/>
                <a:gd name="connsiteY1" fmla="*/ 0 h 6858000"/>
                <a:gd name="connsiteX2" fmla="*/ 6989586 w 9065550"/>
                <a:gd name="connsiteY2" fmla="*/ 6825 h 6858000"/>
                <a:gd name="connsiteX3" fmla="*/ 8932062 w 9065550"/>
                <a:gd name="connsiteY3" fmla="*/ 4580835 h 6858000"/>
                <a:gd name="connsiteX4" fmla="*/ 7166294 w 9065550"/>
                <a:gd name="connsiteY4" fmla="*/ 6259703 h 6858000"/>
                <a:gd name="connsiteX5" fmla="*/ 6868878 w 9065550"/>
                <a:gd name="connsiteY5" fmla="*/ 6564765 h 6858000"/>
                <a:gd name="connsiteX6" fmla="*/ 6591881 w 9065550"/>
                <a:gd name="connsiteY6" fmla="*/ 6858000 h 6858000"/>
                <a:gd name="connsiteX7" fmla="*/ 5184648 w 9065550"/>
                <a:gd name="connsiteY7" fmla="*/ 6858000 h 6858000"/>
                <a:gd name="connsiteX8" fmla="*/ 5244877 w 9065550"/>
                <a:gd name="connsiteY8" fmla="*/ 6817615 h 6858000"/>
                <a:gd name="connsiteX9" fmla="*/ 6033853 w 9065550"/>
                <a:gd name="connsiteY9" fmla="*/ 6069135 h 6858000"/>
                <a:gd name="connsiteX10" fmla="*/ 6480248 w 9065550"/>
                <a:gd name="connsiteY10" fmla="*/ 5607082 h 6858000"/>
                <a:gd name="connsiteX11" fmla="*/ 7551502 w 9065550"/>
                <a:gd name="connsiteY11" fmla="*/ 4859004 h 6858000"/>
                <a:gd name="connsiteX12" fmla="*/ 7844227 w 9065550"/>
                <a:gd name="connsiteY12" fmla="*/ 4683074 h 6858000"/>
                <a:gd name="connsiteX13" fmla="*/ 8005810 w 9065550"/>
                <a:gd name="connsiteY13" fmla="*/ 4330239 h 6858000"/>
                <a:gd name="connsiteX14" fmla="*/ 8016191 w 9065550"/>
                <a:gd name="connsiteY14" fmla="*/ 2956574 h 6858000"/>
                <a:gd name="connsiteX15" fmla="*/ 7346424 w 9065550"/>
                <a:gd name="connsiteY15" fmla="*/ 1636739 h 6858000"/>
                <a:gd name="connsiteX16" fmla="*/ 5995751 w 9065550"/>
                <a:gd name="connsiteY16" fmla="*/ 493319 h 6858000"/>
                <a:gd name="connsiteX17" fmla="*/ 4494836 w 9065550"/>
                <a:gd name="connsiteY17" fmla="*/ 75383 h 6858000"/>
                <a:gd name="connsiteX18" fmla="*/ 2002499 w 9065550"/>
                <a:gd name="connsiteY18" fmla="*/ 1094261 h 6858000"/>
                <a:gd name="connsiteX19" fmla="*/ 1241306 w 9065550"/>
                <a:gd name="connsiteY19" fmla="*/ 2206935 h 6858000"/>
                <a:gd name="connsiteX20" fmla="*/ 961736 w 9065550"/>
                <a:gd name="connsiteY20" fmla="*/ 3573719 h 6858000"/>
                <a:gd name="connsiteX21" fmla="*/ 1193878 w 9065550"/>
                <a:gd name="connsiteY21" fmla="*/ 4824208 h 6858000"/>
                <a:gd name="connsiteX22" fmla="*/ 1832096 w 9065550"/>
                <a:gd name="connsiteY22" fmla="*/ 5873050 h 6858000"/>
                <a:gd name="connsiteX23" fmla="*/ 3010752 w 9065550"/>
                <a:gd name="connsiteY23" fmla="*/ 6749475 h 6858000"/>
                <a:gd name="connsiteX24" fmla="*/ 3187037 w 9065550"/>
                <a:gd name="connsiteY24" fmla="*/ 6824756 h 6858000"/>
                <a:gd name="connsiteX25" fmla="*/ 3278211 w 9065550"/>
                <a:gd name="connsiteY25" fmla="*/ 6858000 h 6858000"/>
                <a:gd name="connsiteX26" fmla="*/ 1480830 w 9065550"/>
                <a:gd name="connsiteY26" fmla="*/ 6858000 h 6858000"/>
                <a:gd name="connsiteX27" fmla="*/ 1427607 w 9065550"/>
                <a:gd name="connsiteY27" fmla="*/ 6811515 h 6858000"/>
                <a:gd name="connsiteX28" fmla="*/ 1100739 w 9065550"/>
                <a:gd name="connsiteY28" fmla="*/ 6477651 h 6858000"/>
                <a:gd name="connsiteX29" fmla="*/ 0 w 9065550"/>
                <a:gd name="connsiteY29" fmla="*/ 3573620 h 6858000"/>
                <a:gd name="connsiteX30" fmla="*/ 1805513 w 9065550"/>
                <a:gd name="connsiteY30" fmla="*/ 241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9065550" h="6858000">
                  <a:moveTo>
                    <a:pt x="1839951" y="0"/>
                  </a:moveTo>
                  <a:lnTo>
                    <a:pt x="6979427" y="0"/>
                  </a:lnTo>
                  <a:lnTo>
                    <a:pt x="6989586" y="6825"/>
                  </a:lnTo>
                  <a:cubicBezTo>
                    <a:pt x="8438828" y="1031353"/>
                    <a:pt x="9439169" y="2823601"/>
                    <a:pt x="8932062" y="4580835"/>
                  </a:cubicBezTo>
                  <a:cubicBezTo>
                    <a:pt x="8592517" y="5757293"/>
                    <a:pt x="7979652" y="5458140"/>
                    <a:pt x="7166294" y="6259703"/>
                  </a:cubicBezTo>
                  <a:cubicBezTo>
                    <a:pt x="7064618" y="6359905"/>
                    <a:pt x="6966014" y="6462297"/>
                    <a:pt x="6868878" y="6564765"/>
                  </a:cubicBezTo>
                  <a:lnTo>
                    <a:pt x="6591881" y="6858000"/>
                  </a:lnTo>
                  <a:lnTo>
                    <a:pt x="5184648" y="6858000"/>
                  </a:lnTo>
                  <a:lnTo>
                    <a:pt x="5244877" y="6817615"/>
                  </a:lnTo>
                  <a:cubicBezTo>
                    <a:pt x="5481027" y="6649287"/>
                    <a:pt x="5723665" y="6398593"/>
                    <a:pt x="6033853" y="6069135"/>
                  </a:cubicBezTo>
                  <a:cubicBezTo>
                    <a:pt x="6175680" y="5918484"/>
                    <a:pt x="6322395" y="5762660"/>
                    <a:pt x="6480248" y="5607082"/>
                  </a:cubicBezTo>
                  <a:cubicBezTo>
                    <a:pt x="6893276" y="5200077"/>
                    <a:pt x="7273697" y="5002920"/>
                    <a:pt x="7551502" y="4859004"/>
                  </a:cubicBezTo>
                  <a:cubicBezTo>
                    <a:pt x="7687884" y="4788339"/>
                    <a:pt x="7795540" y="4732559"/>
                    <a:pt x="7844227" y="4683074"/>
                  </a:cubicBezTo>
                  <a:cubicBezTo>
                    <a:pt x="7898759" y="4627636"/>
                    <a:pt x="7956165" y="4502313"/>
                    <a:pt x="8005810" y="4330239"/>
                  </a:cubicBezTo>
                  <a:cubicBezTo>
                    <a:pt x="8132968" y="3889611"/>
                    <a:pt x="8136446" y="3427460"/>
                    <a:pt x="8016191" y="2956574"/>
                  </a:cubicBezTo>
                  <a:cubicBezTo>
                    <a:pt x="7900876" y="2505064"/>
                    <a:pt x="7669287" y="2048671"/>
                    <a:pt x="7346424" y="1636739"/>
                  </a:cubicBezTo>
                  <a:cubicBezTo>
                    <a:pt x="6979764" y="1168830"/>
                    <a:pt x="6512706" y="773489"/>
                    <a:pt x="5995751" y="493319"/>
                  </a:cubicBezTo>
                  <a:cubicBezTo>
                    <a:pt x="5491195" y="219884"/>
                    <a:pt x="4972174" y="75383"/>
                    <a:pt x="4494836" y="75383"/>
                  </a:cubicBezTo>
                  <a:cubicBezTo>
                    <a:pt x="3554318" y="75383"/>
                    <a:pt x="2669191" y="437197"/>
                    <a:pt x="2002499" y="1094261"/>
                  </a:cubicBezTo>
                  <a:cubicBezTo>
                    <a:pt x="1676360" y="1415667"/>
                    <a:pt x="1420225" y="1790023"/>
                    <a:pt x="1241306" y="2206935"/>
                  </a:cubicBezTo>
                  <a:cubicBezTo>
                    <a:pt x="1055782" y="2639169"/>
                    <a:pt x="961736" y="3099027"/>
                    <a:pt x="961736" y="3573719"/>
                  </a:cubicBezTo>
                  <a:cubicBezTo>
                    <a:pt x="961736" y="4005124"/>
                    <a:pt x="1039805" y="4425841"/>
                    <a:pt x="1193878" y="4824208"/>
                  </a:cubicBezTo>
                  <a:cubicBezTo>
                    <a:pt x="1342457" y="5208423"/>
                    <a:pt x="1557214" y="5561306"/>
                    <a:pt x="1832096" y="5873050"/>
                  </a:cubicBezTo>
                  <a:cubicBezTo>
                    <a:pt x="2157126" y="6241599"/>
                    <a:pt x="2564661" y="6544656"/>
                    <a:pt x="3010752" y="6749475"/>
                  </a:cubicBezTo>
                  <a:cubicBezTo>
                    <a:pt x="3069003" y="6776219"/>
                    <a:pt x="3127773" y="6801314"/>
                    <a:pt x="3187037" y="6824756"/>
                  </a:cubicBezTo>
                  <a:lnTo>
                    <a:pt x="3278211" y="6858000"/>
                  </a:lnTo>
                  <a:lnTo>
                    <a:pt x="1480830" y="6858000"/>
                  </a:lnTo>
                  <a:lnTo>
                    <a:pt x="1427607" y="6811515"/>
                  </a:lnTo>
                  <a:cubicBezTo>
                    <a:pt x="1312870" y="6705919"/>
                    <a:pt x="1203751" y="6594470"/>
                    <a:pt x="1100739" y="6477651"/>
                  </a:cubicBezTo>
                  <a:cubicBezTo>
                    <a:pt x="415045" y="5700097"/>
                    <a:pt x="0" y="4684635"/>
                    <a:pt x="0" y="3573620"/>
                  </a:cubicBezTo>
                  <a:cubicBezTo>
                    <a:pt x="0" y="2121118"/>
                    <a:pt x="709459" y="831902"/>
                    <a:pt x="1805513" y="24133"/>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6" name="Freeform: Shape 15">
              <a:extLst>
                <a:ext uri="{FF2B5EF4-FFF2-40B4-BE49-F238E27FC236}">
                  <a16:creationId xmlns:a16="http://schemas.microsoft.com/office/drawing/2014/main" id="{E997B002-17FD-47B3-A06A-76802FE15CE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48217" y="36937"/>
              <a:ext cx="9088051" cy="6858000"/>
            </a:xfrm>
            <a:custGeom>
              <a:avLst/>
              <a:gdLst>
                <a:gd name="connsiteX0" fmla="*/ 5158786 w 9088051"/>
                <a:gd name="connsiteY0" fmla="*/ 0 h 6858000"/>
                <a:gd name="connsiteX1" fmla="*/ 6996771 w 9088051"/>
                <a:gd name="connsiteY1" fmla="*/ 0 h 6858000"/>
                <a:gd name="connsiteX2" fmla="*/ 7006955 w 9088051"/>
                <a:gd name="connsiteY2" fmla="*/ 6825 h 6858000"/>
                <a:gd name="connsiteX3" fmla="*/ 8954230 w 9088051"/>
                <a:gd name="connsiteY3" fmla="*/ 4580835 h 6858000"/>
                <a:gd name="connsiteX4" fmla="*/ 7184080 w 9088051"/>
                <a:gd name="connsiteY4" fmla="*/ 6259703 h 6858000"/>
                <a:gd name="connsiteX5" fmla="*/ 6885926 w 9088051"/>
                <a:gd name="connsiteY5" fmla="*/ 6564765 h 6858000"/>
                <a:gd name="connsiteX6" fmla="*/ 6608241 w 9088051"/>
                <a:gd name="connsiteY6" fmla="*/ 6858000 h 6858000"/>
                <a:gd name="connsiteX7" fmla="*/ 5462870 w 9088051"/>
                <a:gd name="connsiteY7" fmla="*/ 6858000 h 6858000"/>
                <a:gd name="connsiteX8" fmla="*/ 5529056 w 9088051"/>
                <a:gd name="connsiteY8" fmla="*/ 6804645 h 6858000"/>
                <a:gd name="connsiteX9" fmla="*/ 6167613 w 9088051"/>
                <a:gd name="connsiteY9" fmla="*/ 6173667 h 6858000"/>
                <a:gd name="connsiteX10" fmla="*/ 6610973 w 9088051"/>
                <a:gd name="connsiteY10" fmla="*/ 5715860 h 6858000"/>
                <a:gd name="connsiteX11" fmla="*/ 7646083 w 9088051"/>
                <a:gd name="connsiteY11" fmla="*/ 4995842 h 6858000"/>
                <a:gd name="connsiteX12" fmla="*/ 7980054 w 9088051"/>
                <a:gd name="connsiteY12" fmla="*/ 4790095 h 6858000"/>
                <a:gd name="connsiteX13" fmla="*/ 8180437 w 9088051"/>
                <a:gd name="connsiteY13" fmla="*/ 4371964 h 6858000"/>
                <a:gd name="connsiteX14" fmla="*/ 8192058 w 9088051"/>
                <a:gd name="connsiteY14" fmla="*/ 2919242 h 6858000"/>
                <a:gd name="connsiteX15" fmla="*/ 7492638 w 9088051"/>
                <a:gd name="connsiteY15" fmla="*/ 1542845 h 6858000"/>
                <a:gd name="connsiteX16" fmla="*/ 6089097 w 9088051"/>
                <a:gd name="connsiteY16" fmla="*/ 357847 h 6858000"/>
                <a:gd name="connsiteX17" fmla="*/ 5288639 w 9088051"/>
                <a:gd name="connsiteY17" fmla="*/ 31627 h 6858000"/>
                <a:gd name="connsiteX18" fmla="*/ 1844517 w 9088051"/>
                <a:gd name="connsiteY18" fmla="*/ 0 h 6858000"/>
                <a:gd name="connsiteX19" fmla="*/ 3734467 w 9088051"/>
                <a:gd name="connsiteY19" fmla="*/ 0 h 6858000"/>
                <a:gd name="connsiteX20" fmla="*/ 3603618 w 9088051"/>
                <a:gd name="connsiteY20" fmla="*/ 28853 h 6858000"/>
                <a:gd name="connsiteX21" fmla="*/ 1892878 w 9088051"/>
                <a:gd name="connsiteY21" fmla="*/ 985434 h 6858000"/>
                <a:gd name="connsiteX22" fmla="*/ 1096045 w 9088051"/>
                <a:gd name="connsiteY22" fmla="*/ 2147349 h 6858000"/>
                <a:gd name="connsiteX23" fmla="*/ 803453 w 9088051"/>
                <a:gd name="connsiteY23" fmla="*/ 3573669 h 6858000"/>
                <a:gd name="connsiteX24" fmla="*/ 1046377 w 9088051"/>
                <a:gd name="connsiteY24" fmla="*/ 4878573 h 6858000"/>
                <a:gd name="connsiteX25" fmla="*/ 1714473 w 9088051"/>
                <a:gd name="connsiteY25" fmla="*/ 5973776 h 6858000"/>
                <a:gd name="connsiteX26" fmla="*/ 2776083 w 9088051"/>
                <a:gd name="connsiteY26" fmla="*/ 6804641 h 6858000"/>
                <a:gd name="connsiteX27" fmla="*/ 2884836 w 9088051"/>
                <a:gd name="connsiteY27" fmla="*/ 6858000 h 6858000"/>
                <a:gd name="connsiteX28" fmla="*/ 1484505 w 9088051"/>
                <a:gd name="connsiteY28" fmla="*/ 6858000 h 6858000"/>
                <a:gd name="connsiteX29" fmla="*/ 1431151 w 9088051"/>
                <a:gd name="connsiteY29" fmla="*/ 6811515 h 6858000"/>
                <a:gd name="connsiteX30" fmla="*/ 1103471 w 9088051"/>
                <a:gd name="connsiteY30" fmla="*/ 6477651 h 6858000"/>
                <a:gd name="connsiteX31" fmla="*/ 0 w 9088051"/>
                <a:gd name="connsiteY31" fmla="*/ 3573620 h 6858000"/>
                <a:gd name="connsiteX32" fmla="*/ 1809994 w 9088051"/>
                <a:gd name="connsiteY32" fmla="*/ 241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9088051" h="6858000">
                  <a:moveTo>
                    <a:pt x="5158786" y="0"/>
                  </a:moveTo>
                  <a:lnTo>
                    <a:pt x="6996771" y="0"/>
                  </a:lnTo>
                  <a:lnTo>
                    <a:pt x="7006955" y="6825"/>
                  </a:lnTo>
                  <a:cubicBezTo>
                    <a:pt x="8459794" y="1031353"/>
                    <a:pt x="9462596" y="2823601"/>
                    <a:pt x="8954230" y="4580835"/>
                  </a:cubicBezTo>
                  <a:cubicBezTo>
                    <a:pt x="8613842" y="5757293"/>
                    <a:pt x="7999457" y="5458140"/>
                    <a:pt x="7184080" y="6259703"/>
                  </a:cubicBezTo>
                  <a:cubicBezTo>
                    <a:pt x="7082152" y="6359905"/>
                    <a:pt x="6983303" y="6462297"/>
                    <a:pt x="6885926" y="6564765"/>
                  </a:cubicBezTo>
                  <a:lnTo>
                    <a:pt x="6608241" y="6858000"/>
                  </a:lnTo>
                  <a:lnTo>
                    <a:pt x="5462870" y="6858000"/>
                  </a:lnTo>
                  <a:lnTo>
                    <a:pt x="5529056" y="6804645"/>
                  </a:lnTo>
                  <a:cubicBezTo>
                    <a:pt x="5740217" y="6626505"/>
                    <a:pt x="5949382" y="6404876"/>
                    <a:pt x="6167613" y="6173667"/>
                  </a:cubicBezTo>
                  <a:cubicBezTo>
                    <a:pt x="6308782" y="6024091"/>
                    <a:pt x="6454799" y="5869390"/>
                    <a:pt x="6610973" y="5715860"/>
                  </a:cubicBezTo>
                  <a:cubicBezTo>
                    <a:pt x="7007847" y="5325741"/>
                    <a:pt x="7376733" y="5135074"/>
                    <a:pt x="7646083" y="4995842"/>
                  </a:cubicBezTo>
                  <a:cubicBezTo>
                    <a:pt x="7816858" y="4907561"/>
                    <a:pt x="7916545" y="4854514"/>
                    <a:pt x="7980054" y="4790095"/>
                  </a:cubicBezTo>
                  <a:cubicBezTo>
                    <a:pt x="8054629" y="4714405"/>
                    <a:pt x="8122031" y="4573758"/>
                    <a:pt x="8180437" y="4371964"/>
                  </a:cubicBezTo>
                  <a:cubicBezTo>
                    <a:pt x="8315441" y="3905228"/>
                    <a:pt x="8319381" y="3416431"/>
                    <a:pt x="8192058" y="2919242"/>
                  </a:cubicBezTo>
                  <a:cubicBezTo>
                    <a:pt x="8071251" y="2447381"/>
                    <a:pt x="7829388" y="1971467"/>
                    <a:pt x="7492638" y="1542845"/>
                  </a:cubicBezTo>
                  <a:cubicBezTo>
                    <a:pt x="7111829" y="1058099"/>
                    <a:pt x="6626484" y="648361"/>
                    <a:pt x="6089097" y="357847"/>
                  </a:cubicBezTo>
                  <a:cubicBezTo>
                    <a:pt x="5824244" y="214687"/>
                    <a:pt x="5554957" y="105262"/>
                    <a:pt x="5288639" y="31627"/>
                  </a:cubicBezTo>
                  <a:close/>
                  <a:moveTo>
                    <a:pt x="1844517" y="0"/>
                  </a:moveTo>
                  <a:lnTo>
                    <a:pt x="3734467" y="0"/>
                  </a:lnTo>
                  <a:lnTo>
                    <a:pt x="3603618" y="28853"/>
                  </a:lnTo>
                  <a:cubicBezTo>
                    <a:pt x="2962049" y="186733"/>
                    <a:pt x="2373277" y="513136"/>
                    <a:pt x="1892878" y="985434"/>
                  </a:cubicBezTo>
                  <a:cubicBezTo>
                    <a:pt x="1551428" y="1321091"/>
                    <a:pt x="1283341" y="1711990"/>
                    <a:pt x="1096045" y="2147349"/>
                  </a:cubicBezTo>
                  <a:cubicBezTo>
                    <a:pt x="901876" y="2598519"/>
                    <a:pt x="803453" y="3078432"/>
                    <a:pt x="803453" y="3573669"/>
                  </a:cubicBezTo>
                  <a:cubicBezTo>
                    <a:pt x="803453" y="4023717"/>
                    <a:pt x="885151" y="4462735"/>
                    <a:pt x="1046377" y="4878573"/>
                  </a:cubicBezTo>
                  <a:cubicBezTo>
                    <a:pt x="1201945" y="5279770"/>
                    <a:pt x="1426681" y="5648221"/>
                    <a:pt x="1714473" y="5973776"/>
                  </a:cubicBezTo>
                  <a:cubicBezTo>
                    <a:pt x="2012357" y="6310732"/>
                    <a:pt x="2376505" y="6595304"/>
                    <a:pt x="2776083" y="6804641"/>
                  </a:cubicBezTo>
                  <a:lnTo>
                    <a:pt x="2884836" y="6858000"/>
                  </a:lnTo>
                  <a:lnTo>
                    <a:pt x="1484505" y="6858000"/>
                  </a:lnTo>
                  <a:lnTo>
                    <a:pt x="1431151" y="6811515"/>
                  </a:lnTo>
                  <a:cubicBezTo>
                    <a:pt x="1316128" y="6705919"/>
                    <a:pt x="1206738" y="6594470"/>
                    <a:pt x="1103471" y="6477651"/>
                  </a:cubicBezTo>
                  <a:cubicBezTo>
                    <a:pt x="416075" y="5700097"/>
                    <a:pt x="0" y="4684635"/>
                    <a:pt x="0" y="3573620"/>
                  </a:cubicBezTo>
                  <a:cubicBezTo>
                    <a:pt x="0" y="2121118"/>
                    <a:pt x="711220" y="831902"/>
                    <a:pt x="1809994" y="24133"/>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7" name="Freeform: Shape 16">
              <a:extLst>
                <a:ext uri="{FF2B5EF4-FFF2-40B4-BE49-F238E27FC236}">
                  <a16:creationId xmlns:a16="http://schemas.microsoft.com/office/drawing/2014/main" id="{E401EA35-9D2E-43B7-860F-EBB8A6C3E08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29061" y="36937"/>
              <a:ext cx="9107210" cy="6858000"/>
            </a:xfrm>
            <a:custGeom>
              <a:avLst/>
              <a:gdLst>
                <a:gd name="connsiteX0" fmla="*/ 6184722 w 9107210"/>
                <a:gd name="connsiteY0" fmla="*/ 0 h 6858000"/>
                <a:gd name="connsiteX1" fmla="*/ 6985680 w 9107210"/>
                <a:gd name="connsiteY1" fmla="*/ 0 h 6858000"/>
                <a:gd name="connsiteX2" fmla="*/ 7324323 w 9107210"/>
                <a:gd name="connsiteY2" fmla="*/ 247136 h 6858000"/>
                <a:gd name="connsiteX3" fmla="*/ 7652712 w 9107210"/>
                <a:gd name="connsiteY3" fmla="*/ 528495 h 6858000"/>
                <a:gd name="connsiteX4" fmla="*/ 8236677 w 9107210"/>
                <a:gd name="connsiteY4" fmla="*/ 1166289 h 6858000"/>
                <a:gd name="connsiteX5" fmla="*/ 8704298 w 9107210"/>
                <a:gd name="connsiteY5" fmla="*/ 1897038 h 6858000"/>
                <a:gd name="connsiteX6" fmla="*/ 8885160 w 9107210"/>
                <a:gd name="connsiteY6" fmla="*/ 2294087 h 6858000"/>
                <a:gd name="connsiteX7" fmla="*/ 8924247 w 9107210"/>
                <a:gd name="connsiteY7" fmla="*/ 2396286 h 6858000"/>
                <a:gd name="connsiteX8" fmla="*/ 8960022 w 9107210"/>
                <a:gd name="connsiteY8" fmla="*/ 2499767 h 6858000"/>
                <a:gd name="connsiteX9" fmla="*/ 8991720 w 9107210"/>
                <a:gd name="connsiteY9" fmla="*/ 2604671 h 6858000"/>
                <a:gd name="connsiteX10" fmla="*/ 9019646 w 9107210"/>
                <a:gd name="connsiteY10" fmla="*/ 2710708 h 6858000"/>
                <a:gd name="connsiteX11" fmla="*/ 9105822 w 9107210"/>
                <a:gd name="connsiteY11" fmla="*/ 3582266 h 6858000"/>
                <a:gd name="connsiteX12" fmla="*/ 9057716 w 9107210"/>
                <a:gd name="connsiteY12" fmla="*/ 4017873 h 6858000"/>
                <a:gd name="connsiteX13" fmla="*/ 8945600 w 9107210"/>
                <a:gd name="connsiteY13" fmla="*/ 4439659 h 6858000"/>
                <a:gd name="connsiteX14" fmla="*/ 8796080 w 9107210"/>
                <a:gd name="connsiteY14" fmla="*/ 4847428 h 6858000"/>
                <a:gd name="connsiteX15" fmla="*/ 8702056 w 9107210"/>
                <a:gd name="connsiteY15" fmla="*/ 5050108 h 6858000"/>
                <a:gd name="connsiteX16" fmla="*/ 8581125 w 9107210"/>
                <a:gd name="connsiteY16" fmla="*/ 5247525 h 6858000"/>
                <a:gd name="connsiteX17" fmla="*/ 8426254 w 9107210"/>
                <a:gd name="connsiteY17" fmla="*/ 5429647 h 6858000"/>
                <a:gd name="connsiteX18" fmla="*/ 8337174 w 9107210"/>
                <a:gd name="connsiteY18" fmla="*/ 5510552 h 6858000"/>
                <a:gd name="connsiteX19" fmla="*/ 8243200 w 9107210"/>
                <a:gd name="connsiteY19" fmla="*/ 5582948 h 6858000"/>
                <a:gd name="connsiteX20" fmla="*/ 7868330 w 9107210"/>
                <a:gd name="connsiteY20" fmla="*/ 5811104 h 6858000"/>
                <a:gd name="connsiteX21" fmla="*/ 7538916 w 9107210"/>
                <a:gd name="connsiteY21" fmla="*/ 6018899 h 6858000"/>
                <a:gd name="connsiteX22" fmla="*/ 7391280 w 9107210"/>
                <a:gd name="connsiteY22" fmla="*/ 6134132 h 6858000"/>
                <a:gd name="connsiteX23" fmla="*/ 7252511 w 9107210"/>
                <a:gd name="connsiteY23" fmla="*/ 6259105 h 6858000"/>
                <a:gd name="connsiteX24" fmla="*/ 7185601 w 9107210"/>
                <a:gd name="connsiteY24" fmla="*/ 6325894 h 6858000"/>
                <a:gd name="connsiteX25" fmla="*/ 7116651 w 9107210"/>
                <a:gd name="connsiteY25" fmla="*/ 6397010 h 6858000"/>
                <a:gd name="connsiteX26" fmla="*/ 6978545 w 9107210"/>
                <a:gd name="connsiteY26" fmla="*/ 6541607 h 6858000"/>
                <a:gd name="connsiteX27" fmla="*/ 6693009 w 9107210"/>
                <a:gd name="connsiteY27" fmla="*/ 6832716 h 6858000"/>
                <a:gd name="connsiteX28" fmla="*/ 6667488 w 9107210"/>
                <a:gd name="connsiteY28" fmla="*/ 6858000 h 6858000"/>
                <a:gd name="connsiteX29" fmla="*/ 6056793 w 9107210"/>
                <a:gd name="connsiteY29" fmla="*/ 6858000 h 6858000"/>
                <a:gd name="connsiteX30" fmla="*/ 6077345 w 9107210"/>
                <a:gd name="connsiteY30" fmla="*/ 6835420 h 6858000"/>
                <a:gd name="connsiteX31" fmla="*/ 6208519 w 9107210"/>
                <a:gd name="connsiteY31" fmla="*/ 6683989 h 6858000"/>
                <a:gd name="connsiteX32" fmla="*/ 6340001 w 9107210"/>
                <a:gd name="connsiteY32" fmla="*/ 6529852 h 6858000"/>
                <a:gd name="connsiteX33" fmla="*/ 6611419 w 9107210"/>
                <a:gd name="connsiteY33" fmla="*/ 6219317 h 6858000"/>
                <a:gd name="connsiteX34" fmla="*/ 6757678 w 9107210"/>
                <a:gd name="connsiteY34" fmla="*/ 6068228 h 6858000"/>
                <a:gd name="connsiteX35" fmla="*/ 6833713 w 9107210"/>
                <a:gd name="connsiteY35" fmla="*/ 5994061 h 6858000"/>
                <a:gd name="connsiteX36" fmla="*/ 6915148 w 9107210"/>
                <a:gd name="connsiteY36" fmla="*/ 5918812 h 6858000"/>
                <a:gd name="connsiteX37" fmla="*/ 7276311 w 9107210"/>
                <a:gd name="connsiteY37" fmla="*/ 5650229 h 6858000"/>
                <a:gd name="connsiteX38" fmla="*/ 7664942 w 9107210"/>
                <a:gd name="connsiteY38" fmla="*/ 5445681 h 6858000"/>
                <a:gd name="connsiteX39" fmla="*/ 7848505 w 9107210"/>
                <a:gd name="connsiteY39" fmla="*/ 5358333 h 6858000"/>
                <a:gd name="connsiteX40" fmla="*/ 8011785 w 9107210"/>
                <a:gd name="connsiteY40" fmla="*/ 5267788 h 6858000"/>
                <a:gd name="connsiteX41" fmla="*/ 8260273 w 9107210"/>
                <a:gd name="connsiteY41" fmla="*/ 5034370 h 6858000"/>
                <a:gd name="connsiteX42" fmla="*/ 8417589 w 9107210"/>
                <a:gd name="connsiteY42" fmla="*/ 4714488 h 6858000"/>
                <a:gd name="connsiteX43" fmla="*/ 8495000 w 9107210"/>
                <a:gd name="connsiteY43" fmla="*/ 4346409 h 6858000"/>
                <a:gd name="connsiteX44" fmla="*/ 8508556 w 9107210"/>
                <a:gd name="connsiteY44" fmla="*/ 3971101 h 6858000"/>
                <a:gd name="connsiteX45" fmla="*/ 8483330 w 9107210"/>
                <a:gd name="connsiteY45" fmla="*/ 3600710 h 6858000"/>
                <a:gd name="connsiteX46" fmla="*/ 8425336 w 9107210"/>
                <a:gd name="connsiteY46" fmla="*/ 3236121 h 6858000"/>
                <a:gd name="connsiteX47" fmla="*/ 8334575 w 9107210"/>
                <a:gd name="connsiteY47" fmla="*/ 2877977 h 6858000"/>
                <a:gd name="connsiteX48" fmla="*/ 8087513 w 9107210"/>
                <a:gd name="connsiteY48" fmla="*/ 2174622 h 6858000"/>
                <a:gd name="connsiteX49" fmla="*/ 7723650 w 9107210"/>
                <a:gd name="connsiteY49" fmla="*/ 1507613 h 6858000"/>
                <a:gd name="connsiteX50" fmla="*/ 7501815 w 9107210"/>
                <a:gd name="connsiteY50" fmla="*/ 1192947 h 6858000"/>
                <a:gd name="connsiteX51" fmla="*/ 7254399 w 9107210"/>
                <a:gd name="connsiteY51" fmla="*/ 894361 h 6858000"/>
                <a:gd name="connsiteX52" fmla="*/ 6689339 w 9107210"/>
                <a:gd name="connsiteY52" fmla="*/ 354046 h 6858000"/>
                <a:gd name="connsiteX53" fmla="*/ 6206651 w 9107210"/>
                <a:gd name="connsiteY53" fmla="*/ 12626 h 6858000"/>
                <a:gd name="connsiteX54" fmla="*/ 1827105 w 9107210"/>
                <a:gd name="connsiteY54" fmla="*/ 0 h 6858000"/>
                <a:gd name="connsiteX55" fmla="*/ 2807607 w 9107210"/>
                <a:gd name="connsiteY55" fmla="*/ 0 h 6858000"/>
                <a:gd name="connsiteX56" fmla="*/ 2667958 w 9107210"/>
                <a:gd name="connsiteY56" fmla="*/ 88235 h 6858000"/>
                <a:gd name="connsiteX57" fmla="*/ 2354723 w 9107210"/>
                <a:gd name="connsiteY57" fmla="*/ 314947 h 6858000"/>
                <a:gd name="connsiteX58" fmla="*/ 2059963 w 9107210"/>
                <a:gd name="connsiteY58" fmla="*/ 561545 h 6858000"/>
                <a:gd name="connsiteX59" fmla="*/ 1780798 w 9107210"/>
                <a:gd name="connsiteY59" fmla="*/ 824425 h 6858000"/>
                <a:gd name="connsiteX60" fmla="*/ 954714 w 9107210"/>
                <a:gd name="connsiteY60" fmla="*/ 2094309 h 6858000"/>
                <a:gd name="connsiteX61" fmla="*/ 732676 w 9107210"/>
                <a:gd name="connsiteY61" fmla="*/ 2813646 h 6858000"/>
                <a:gd name="connsiteX62" fmla="*/ 673867 w 9107210"/>
                <a:gd name="connsiteY62" fmla="*/ 3183989 h 6858000"/>
                <a:gd name="connsiteX63" fmla="*/ 647621 w 9107210"/>
                <a:gd name="connsiteY63" fmla="*/ 3557281 h 6858000"/>
                <a:gd name="connsiteX64" fmla="*/ 653381 w 9107210"/>
                <a:gd name="connsiteY64" fmla="*/ 3931214 h 6858000"/>
                <a:gd name="connsiteX65" fmla="*/ 690428 w 9107210"/>
                <a:gd name="connsiteY65" fmla="*/ 4303719 h 6858000"/>
                <a:gd name="connsiteX66" fmla="*/ 871801 w 9107210"/>
                <a:gd name="connsiteY66" fmla="*/ 5033041 h 6858000"/>
                <a:gd name="connsiteX67" fmla="*/ 1197749 w 9107210"/>
                <a:gd name="connsiteY67" fmla="*/ 5718494 h 6858000"/>
                <a:gd name="connsiteX68" fmla="*/ 1411480 w 9107210"/>
                <a:gd name="connsiteY68" fmla="*/ 6036703 h 6858000"/>
                <a:gd name="connsiteX69" fmla="*/ 1530170 w 9107210"/>
                <a:gd name="connsiteY69" fmla="*/ 6188430 h 6858000"/>
                <a:gd name="connsiteX70" fmla="*/ 1657165 w 9107210"/>
                <a:gd name="connsiteY70" fmla="*/ 6335385 h 6858000"/>
                <a:gd name="connsiteX71" fmla="*/ 1931343 w 9107210"/>
                <a:gd name="connsiteY71" fmla="*/ 6612896 h 6858000"/>
                <a:gd name="connsiteX72" fmla="*/ 2220133 w 9107210"/>
                <a:gd name="connsiteY72" fmla="*/ 6858000 h 6858000"/>
                <a:gd name="connsiteX73" fmla="*/ 1539862 w 9107210"/>
                <a:gd name="connsiteY73" fmla="*/ 6858000 h 6858000"/>
                <a:gd name="connsiteX74" fmla="*/ 1307111 w 9107210"/>
                <a:gd name="connsiteY74" fmla="*/ 6648873 h 6858000"/>
                <a:gd name="connsiteX75" fmla="*/ 750258 w 9107210"/>
                <a:gd name="connsiteY75" fmla="*/ 5987570 h 6858000"/>
                <a:gd name="connsiteX76" fmla="*/ 335382 w 9107210"/>
                <a:gd name="connsiteY76" fmla="*/ 5229279 h 6858000"/>
                <a:gd name="connsiteX77" fmla="*/ 79351 w 9107210"/>
                <a:gd name="connsiteY77" fmla="*/ 4403854 h 6858000"/>
                <a:gd name="connsiteX78" fmla="*/ 16007 w 9107210"/>
                <a:gd name="connsiteY78" fmla="*/ 3975723 h 6858000"/>
                <a:gd name="connsiteX79" fmla="*/ 871 w 9107210"/>
                <a:gd name="connsiteY79" fmla="*/ 3543362 h 6858000"/>
                <a:gd name="connsiteX80" fmla="*/ 32519 w 9107210"/>
                <a:gd name="connsiteY80" fmla="*/ 3112085 h 6858000"/>
                <a:gd name="connsiteX81" fmla="*/ 108502 w 9107210"/>
                <a:gd name="connsiteY81" fmla="*/ 2686511 h 6858000"/>
                <a:gd name="connsiteX82" fmla="*/ 378239 w 9107210"/>
                <a:gd name="connsiteY82" fmla="*/ 1865955 h 6858000"/>
                <a:gd name="connsiteX83" fmla="*/ 1343701 w 9107210"/>
                <a:gd name="connsiteY83" fmla="*/ 431508 h 6858000"/>
                <a:gd name="connsiteX84" fmla="*/ 1661853 w 9107210"/>
                <a:gd name="connsiteY84" fmla="*/ 130268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Lst>
              <a:rect l="l" t="t" r="r" b="b"/>
              <a:pathLst>
                <a:path w="9107210" h="6858000">
                  <a:moveTo>
                    <a:pt x="6184722" y="0"/>
                  </a:moveTo>
                  <a:lnTo>
                    <a:pt x="6985680" y="0"/>
                  </a:lnTo>
                  <a:lnTo>
                    <a:pt x="7324323" y="247136"/>
                  </a:lnTo>
                  <a:cubicBezTo>
                    <a:pt x="7437502" y="336500"/>
                    <a:pt x="7547171" y="430254"/>
                    <a:pt x="7652712" y="528495"/>
                  </a:cubicBezTo>
                  <a:cubicBezTo>
                    <a:pt x="7863743" y="724929"/>
                    <a:pt x="8060097" y="937593"/>
                    <a:pt x="8236677" y="1166289"/>
                  </a:cubicBezTo>
                  <a:cubicBezTo>
                    <a:pt x="8413818" y="1394594"/>
                    <a:pt x="8570168" y="1639471"/>
                    <a:pt x="8704298" y="1897038"/>
                  </a:cubicBezTo>
                  <a:cubicBezTo>
                    <a:pt x="8770803" y="2026141"/>
                    <a:pt x="8830836" y="2158786"/>
                    <a:pt x="8885160" y="2294087"/>
                  </a:cubicBezTo>
                  <a:cubicBezTo>
                    <a:pt x="8898360" y="2328071"/>
                    <a:pt x="8912169" y="2361810"/>
                    <a:pt x="8924247" y="2396286"/>
                  </a:cubicBezTo>
                  <a:lnTo>
                    <a:pt x="8960022" y="2499767"/>
                  </a:lnTo>
                  <a:lnTo>
                    <a:pt x="8991720" y="2604671"/>
                  </a:lnTo>
                  <a:cubicBezTo>
                    <a:pt x="9002116" y="2639690"/>
                    <a:pt x="9010474" y="2675346"/>
                    <a:pt x="9019646" y="2710708"/>
                  </a:cubicBezTo>
                  <a:cubicBezTo>
                    <a:pt x="9089055" y="2995079"/>
                    <a:pt x="9113620" y="3289927"/>
                    <a:pt x="9105822" y="3582266"/>
                  </a:cubicBezTo>
                  <a:cubicBezTo>
                    <a:pt x="9101796" y="3728484"/>
                    <a:pt x="9085744" y="3874458"/>
                    <a:pt x="9057716" y="4017873"/>
                  </a:cubicBezTo>
                  <a:cubicBezTo>
                    <a:pt x="9029534" y="4161336"/>
                    <a:pt x="8990497" y="4302046"/>
                    <a:pt x="8945600" y="4439659"/>
                  </a:cubicBezTo>
                  <a:cubicBezTo>
                    <a:pt x="8900857" y="4577566"/>
                    <a:pt x="8852901" y="4711784"/>
                    <a:pt x="8796080" y="4847428"/>
                  </a:cubicBezTo>
                  <a:cubicBezTo>
                    <a:pt x="8767695" y="4915152"/>
                    <a:pt x="8737016" y="4982926"/>
                    <a:pt x="8702056" y="5050108"/>
                  </a:cubicBezTo>
                  <a:cubicBezTo>
                    <a:pt x="8666485" y="5116997"/>
                    <a:pt x="8627347" y="5183687"/>
                    <a:pt x="8581125" y="5247525"/>
                  </a:cubicBezTo>
                  <a:cubicBezTo>
                    <a:pt x="8535565" y="5311660"/>
                    <a:pt x="8483534" y="5373185"/>
                    <a:pt x="8426254" y="5429647"/>
                  </a:cubicBezTo>
                  <a:cubicBezTo>
                    <a:pt x="8397512" y="5457779"/>
                    <a:pt x="8367801" y="5484879"/>
                    <a:pt x="8337174" y="5510552"/>
                  </a:cubicBezTo>
                  <a:cubicBezTo>
                    <a:pt x="8306444" y="5536077"/>
                    <a:pt x="8274899" y="5560029"/>
                    <a:pt x="8243200" y="5582948"/>
                  </a:cubicBezTo>
                  <a:cubicBezTo>
                    <a:pt x="8115543" y="5674574"/>
                    <a:pt x="7986203" y="5743233"/>
                    <a:pt x="7868330" y="5811104"/>
                  </a:cubicBezTo>
                  <a:cubicBezTo>
                    <a:pt x="7749844" y="5878385"/>
                    <a:pt x="7640685" y="5945126"/>
                    <a:pt x="7538916" y="6018899"/>
                  </a:cubicBezTo>
                  <a:cubicBezTo>
                    <a:pt x="7487749" y="6055392"/>
                    <a:pt x="7438777" y="6093950"/>
                    <a:pt x="7391280" y="6134132"/>
                  </a:cubicBezTo>
                  <a:cubicBezTo>
                    <a:pt x="7343427" y="6173921"/>
                    <a:pt x="7297511" y="6215922"/>
                    <a:pt x="7252511" y="6259105"/>
                  </a:cubicBezTo>
                  <a:cubicBezTo>
                    <a:pt x="7229784" y="6280990"/>
                    <a:pt x="7208635" y="6302433"/>
                    <a:pt x="7185601" y="6325894"/>
                  </a:cubicBezTo>
                  <a:lnTo>
                    <a:pt x="7116651" y="6397010"/>
                  </a:lnTo>
                  <a:lnTo>
                    <a:pt x="6978545" y="6541607"/>
                  </a:lnTo>
                  <a:cubicBezTo>
                    <a:pt x="6885693" y="6638397"/>
                    <a:pt x="6789885" y="6734943"/>
                    <a:pt x="6693009" y="6832716"/>
                  </a:cubicBezTo>
                  <a:lnTo>
                    <a:pt x="6667488" y="6858000"/>
                  </a:lnTo>
                  <a:lnTo>
                    <a:pt x="6056793" y="6858000"/>
                  </a:lnTo>
                  <a:lnTo>
                    <a:pt x="6077345" y="6835420"/>
                  </a:lnTo>
                  <a:cubicBezTo>
                    <a:pt x="6121427" y="6785747"/>
                    <a:pt x="6164948" y="6735090"/>
                    <a:pt x="6208519" y="6683989"/>
                  </a:cubicBezTo>
                  <a:lnTo>
                    <a:pt x="6340001" y="6529852"/>
                  </a:lnTo>
                  <a:cubicBezTo>
                    <a:pt x="6428315" y="6426667"/>
                    <a:pt x="6516733" y="6321417"/>
                    <a:pt x="6611419" y="6219317"/>
                  </a:cubicBezTo>
                  <a:cubicBezTo>
                    <a:pt x="6658864" y="6168363"/>
                    <a:pt x="6707584" y="6117950"/>
                    <a:pt x="6757678" y="6068228"/>
                  </a:cubicBezTo>
                  <a:lnTo>
                    <a:pt x="6833713" y="5994061"/>
                  </a:lnTo>
                  <a:cubicBezTo>
                    <a:pt x="6859346" y="5969422"/>
                    <a:pt x="6887579" y="5943404"/>
                    <a:pt x="6915148" y="5918812"/>
                  </a:cubicBezTo>
                  <a:cubicBezTo>
                    <a:pt x="7026295" y="5819219"/>
                    <a:pt x="7148602" y="5729117"/>
                    <a:pt x="7276311" y="5650229"/>
                  </a:cubicBezTo>
                  <a:cubicBezTo>
                    <a:pt x="7403918" y="5571046"/>
                    <a:pt x="7537794" y="5505190"/>
                    <a:pt x="7664942" y="5445681"/>
                  </a:cubicBezTo>
                  <a:cubicBezTo>
                    <a:pt x="7728491" y="5416024"/>
                    <a:pt x="7790410" y="5387449"/>
                    <a:pt x="7848505" y="5358333"/>
                  </a:cubicBezTo>
                  <a:cubicBezTo>
                    <a:pt x="7906805" y="5329315"/>
                    <a:pt x="7961843" y="5300101"/>
                    <a:pt x="8011785" y="5267788"/>
                  </a:cubicBezTo>
                  <a:cubicBezTo>
                    <a:pt x="8112281" y="5203950"/>
                    <a:pt x="8193615" y="5128111"/>
                    <a:pt x="8260273" y="5034370"/>
                  </a:cubicBezTo>
                  <a:cubicBezTo>
                    <a:pt x="8326370" y="4940776"/>
                    <a:pt x="8378657" y="4831640"/>
                    <a:pt x="8417589" y="4714488"/>
                  </a:cubicBezTo>
                  <a:cubicBezTo>
                    <a:pt x="8456372" y="4597485"/>
                    <a:pt x="8481140" y="4471332"/>
                    <a:pt x="8495000" y="4346409"/>
                  </a:cubicBezTo>
                  <a:cubicBezTo>
                    <a:pt x="8508404" y="4221044"/>
                    <a:pt x="8511359" y="4095482"/>
                    <a:pt x="8508556" y="3971101"/>
                  </a:cubicBezTo>
                  <a:cubicBezTo>
                    <a:pt x="8504530" y="3846571"/>
                    <a:pt x="8495663" y="3723222"/>
                    <a:pt x="8483330" y="3600710"/>
                  </a:cubicBezTo>
                  <a:cubicBezTo>
                    <a:pt x="8470793" y="3478148"/>
                    <a:pt x="8451888" y="3356421"/>
                    <a:pt x="8425336" y="3236121"/>
                  </a:cubicBezTo>
                  <a:cubicBezTo>
                    <a:pt x="8399091" y="3115774"/>
                    <a:pt x="8367801" y="2996655"/>
                    <a:pt x="8334575" y="2877977"/>
                  </a:cubicBezTo>
                  <a:cubicBezTo>
                    <a:pt x="8268222" y="2640772"/>
                    <a:pt x="8190100" y="2404057"/>
                    <a:pt x="8087513" y="2174622"/>
                  </a:cubicBezTo>
                  <a:cubicBezTo>
                    <a:pt x="7985081" y="1945237"/>
                    <a:pt x="7863233" y="1721900"/>
                    <a:pt x="7723650" y="1507613"/>
                  </a:cubicBezTo>
                  <a:cubicBezTo>
                    <a:pt x="7653527" y="1400692"/>
                    <a:pt x="7579684" y="1295589"/>
                    <a:pt x="7501815" y="1192947"/>
                  </a:cubicBezTo>
                  <a:cubicBezTo>
                    <a:pt x="7423844" y="1090353"/>
                    <a:pt x="7340778" y="991103"/>
                    <a:pt x="7254399" y="894361"/>
                  </a:cubicBezTo>
                  <a:cubicBezTo>
                    <a:pt x="7082047" y="700485"/>
                    <a:pt x="6893083" y="519052"/>
                    <a:pt x="6689339" y="354046"/>
                  </a:cubicBezTo>
                  <a:cubicBezTo>
                    <a:pt x="6536914" y="229775"/>
                    <a:pt x="6375602" y="115325"/>
                    <a:pt x="6206651" y="12626"/>
                  </a:cubicBezTo>
                  <a:close/>
                  <a:moveTo>
                    <a:pt x="1827105" y="0"/>
                  </a:moveTo>
                  <a:lnTo>
                    <a:pt x="2807607" y="0"/>
                  </a:lnTo>
                  <a:lnTo>
                    <a:pt x="2667958" y="88235"/>
                  </a:lnTo>
                  <a:cubicBezTo>
                    <a:pt x="2560098" y="159777"/>
                    <a:pt x="2455754" y="235690"/>
                    <a:pt x="2354723" y="314947"/>
                  </a:cubicBezTo>
                  <a:cubicBezTo>
                    <a:pt x="2253464" y="394030"/>
                    <a:pt x="2156943" y="478181"/>
                    <a:pt x="2059963" y="561545"/>
                  </a:cubicBezTo>
                  <a:cubicBezTo>
                    <a:pt x="1962831" y="644811"/>
                    <a:pt x="1868297" y="731322"/>
                    <a:pt x="1780798" y="824425"/>
                  </a:cubicBezTo>
                  <a:cubicBezTo>
                    <a:pt x="1429010" y="1195013"/>
                    <a:pt x="1148011" y="1628455"/>
                    <a:pt x="954714" y="2094309"/>
                  </a:cubicBezTo>
                  <a:cubicBezTo>
                    <a:pt x="857938" y="2327186"/>
                    <a:pt x="783229" y="2568326"/>
                    <a:pt x="732676" y="2813646"/>
                  </a:cubicBezTo>
                  <a:cubicBezTo>
                    <a:pt x="707552" y="2936307"/>
                    <a:pt x="688085" y="3059952"/>
                    <a:pt x="673867" y="3183989"/>
                  </a:cubicBezTo>
                  <a:cubicBezTo>
                    <a:pt x="660056" y="3308075"/>
                    <a:pt x="651341" y="3432605"/>
                    <a:pt x="647621" y="3557281"/>
                  </a:cubicBezTo>
                  <a:cubicBezTo>
                    <a:pt x="644411" y="3681958"/>
                    <a:pt x="645329" y="3806733"/>
                    <a:pt x="653381" y="3931214"/>
                  </a:cubicBezTo>
                  <a:cubicBezTo>
                    <a:pt x="659852" y="4055792"/>
                    <a:pt x="672949" y="4179977"/>
                    <a:pt x="690428" y="4303719"/>
                  </a:cubicBezTo>
                  <a:cubicBezTo>
                    <a:pt x="726408" y="4551057"/>
                    <a:pt x="786440" y="4795835"/>
                    <a:pt x="871801" y="5033041"/>
                  </a:cubicBezTo>
                  <a:cubicBezTo>
                    <a:pt x="957007" y="5270247"/>
                    <a:pt x="1065962" y="5500322"/>
                    <a:pt x="1197749" y="5718494"/>
                  </a:cubicBezTo>
                  <a:cubicBezTo>
                    <a:pt x="1263846" y="5827433"/>
                    <a:pt x="1334937" y="5933813"/>
                    <a:pt x="1411480" y="6036703"/>
                  </a:cubicBezTo>
                  <a:cubicBezTo>
                    <a:pt x="1449548" y="6088295"/>
                    <a:pt x="1489451" y="6138609"/>
                    <a:pt x="1530170" y="6188430"/>
                  </a:cubicBezTo>
                  <a:cubicBezTo>
                    <a:pt x="1571447" y="6238055"/>
                    <a:pt x="1613644" y="6287336"/>
                    <a:pt x="1657165" y="6335385"/>
                  </a:cubicBezTo>
                  <a:cubicBezTo>
                    <a:pt x="1744079" y="6431708"/>
                    <a:pt x="1835644" y="6524282"/>
                    <a:pt x="1931343" y="6612896"/>
                  </a:cubicBezTo>
                  <a:lnTo>
                    <a:pt x="2220133" y="6858000"/>
                  </a:lnTo>
                  <a:lnTo>
                    <a:pt x="1539862" y="6858000"/>
                  </a:lnTo>
                  <a:lnTo>
                    <a:pt x="1307111" y="6648873"/>
                  </a:lnTo>
                  <a:cubicBezTo>
                    <a:pt x="1101839" y="6448063"/>
                    <a:pt x="913180" y="6225465"/>
                    <a:pt x="750258" y="5987570"/>
                  </a:cubicBezTo>
                  <a:cubicBezTo>
                    <a:pt x="587232" y="5749281"/>
                    <a:pt x="448261" y="5494813"/>
                    <a:pt x="335382" y="5229279"/>
                  </a:cubicBezTo>
                  <a:cubicBezTo>
                    <a:pt x="222298" y="4963793"/>
                    <a:pt x="137040" y="4686652"/>
                    <a:pt x="79351" y="4403854"/>
                  </a:cubicBezTo>
                  <a:cubicBezTo>
                    <a:pt x="50150" y="4262456"/>
                    <a:pt x="29767" y="4119385"/>
                    <a:pt x="16007" y="3975723"/>
                  </a:cubicBezTo>
                  <a:cubicBezTo>
                    <a:pt x="3930" y="3831964"/>
                    <a:pt x="-2441" y="3687614"/>
                    <a:pt x="871" y="3543362"/>
                  </a:cubicBezTo>
                  <a:cubicBezTo>
                    <a:pt x="3522" y="3399160"/>
                    <a:pt x="14172" y="3255105"/>
                    <a:pt x="32519" y="3112085"/>
                  </a:cubicBezTo>
                  <a:cubicBezTo>
                    <a:pt x="50508" y="2969014"/>
                    <a:pt x="76090" y="2826925"/>
                    <a:pt x="108502" y="2686511"/>
                  </a:cubicBezTo>
                  <a:cubicBezTo>
                    <a:pt x="173019" y="2405533"/>
                    <a:pt x="263474" y="2130703"/>
                    <a:pt x="378239" y="1865955"/>
                  </a:cubicBezTo>
                  <a:cubicBezTo>
                    <a:pt x="607922" y="1336607"/>
                    <a:pt x="935706" y="848228"/>
                    <a:pt x="1343701" y="431508"/>
                  </a:cubicBezTo>
                  <a:cubicBezTo>
                    <a:pt x="1446133" y="327783"/>
                    <a:pt x="1550910" y="225926"/>
                    <a:pt x="1661853" y="130268"/>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8" name="Freeform: Shape 17">
              <a:extLst>
                <a:ext uri="{FF2B5EF4-FFF2-40B4-BE49-F238E27FC236}">
                  <a16:creationId xmlns:a16="http://schemas.microsoft.com/office/drawing/2014/main" id="{F8C44827-3D81-4FF9-B4A5-5650D1B20A2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18434" y="36937"/>
              <a:ext cx="9747620" cy="6858000"/>
            </a:xfrm>
            <a:custGeom>
              <a:avLst/>
              <a:gdLst>
                <a:gd name="connsiteX0" fmla="*/ 7235453 w 9747620"/>
                <a:gd name="connsiteY0" fmla="*/ 0 h 6858000"/>
                <a:gd name="connsiteX1" fmla="*/ 7548130 w 9747620"/>
                <a:gd name="connsiteY1" fmla="*/ 0 h 6858000"/>
                <a:gd name="connsiteX2" fmla="*/ 7710334 w 9747620"/>
                <a:gd name="connsiteY2" fmla="*/ 111973 h 6858000"/>
                <a:gd name="connsiteX3" fmla="*/ 7889188 w 9747620"/>
                <a:gd name="connsiteY3" fmla="*/ 251542 h 6858000"/>
                <a:gd name="connsiteX4" fmla="*/ 8061828 w 9747620"/>
                <a:gd name="connsiteY4" fmla="*/ 398586 h 6858000"/>
                <a:gd name="connsiteX5" fmla="*/ 8145637 w 9747620"/>
                <a:gd name="connsiteY5" fmla="*/ 474218 h 6858000"/>
                <a:gd name="connsiteX6" fmla="*/ 8187242 w 9747620"/>
                <a:gd name="connsiteY6" fmla="*/ 512753 h 6858000"/>
                <a:gd name="connsiteX7" fmla="*/ 8228402 w 9747620"/>
                <a:gd name="connsiteY7" fmla="*/ 551575 h 6858000"/>
                <a:gd name="connsiteX8" fmla="*/ 8389211 w 9747620"/>
                <a:gd name="connsiteY8" fmla="*/ 710937 h 6858000"/>
                <a:gd name="connsiteX9" fmla="*/ 8467206 w 9747620"/>
                <a:gd name="connsiteY9" fmla="*/ 793088 h 6858000"/>
                <a:gd name="connsiteX10" fmla="*/ 8486791 w 9747620"/>
                <a:gd name="connsiteY10" fmla="*/ 814223 h 6858000"/>
                <a:gd name="connsiteX11" fmla="*/ 8505979 w 9747620"/>
                <a:gd name="connsiteY11" fmla="*/ 835409 h 6858000"/>
                <a:gd name="connsiteX12" fmla="*/ 8543509 w 9747620"/>
                <a:gd name="connsiteY12" fmla="*/ 877346 h 6858000"/>
                <a:gd name="connsiteX13" fmla="*/ 8690549 w 9747620"/>
                <a:gd name="connsiteY13" fmla="*/ 1048978 h 6858000"/>
                <a:gd name="connsiteX14" fmla="*/ 8761732 w 9747620"/>
                <a:gd name="connsiteY14" fmla="*/ 1137502 h 6858000"/>
                <a:gd name="connsiteX15" fmla="*/ 8796379 w 9747620"/>
                <a:gd name="connsiteY15" fmla="*/ 1182077 h 6858000"/>
                <a:gd name="connsiteX16" fmla="*/ 8830678 w 9747620"/>
                <a:gd name="connsiteY16" fmla="*/ 1226986 h 6858000"/>
                <a:gd name="connsiteX17" fmla="*/ 8963353 w 9747620"/>
                <a:gd name="connsiteY17" fmla="*/ 1410936 h 6858000"/>
                <a:gd name="connsiteX18" fmla="*/ 9026483 w 9747620"/>
                <a:gd name="connsiteY18" fmla="*/ 1505499 h 6858000"/>
                <a:gd name="connsiteX19" fmla="*/ 9057004 w 9747620"/>
                <a:gd name="connsiteY19" fmla="*/ 1552613 h 6858000"/>
                <a:gd name="connsiteX20" fmla="*/ 9087278 w 9747620"/>
                <a:gd name="connsiteY20" fmla="*/ 1600542 h 6858000"/>
                <a:gd name="connsiteX21" fmla="*/ 9202851 w 9747620"/>
                <a:gd name="connsiteY21" fmla="*/ 1795515 h 6858000"/>
                <a:gd name="connsiteX22" fmla="*/ 9257332 w 9747620"/>
                <a:gd name="connsiteY22" fmla="*/ 1894920 h 6858000"/>
                <a:gd name="connsiteX23" fmla="*/ 9283778 w 9747620"/>
                <a:gd name="connsiteY23" fmla="*/ 1945436 h 6858000"/>
                <a:gd name="connsiteX24" fmla="*/ 9309428 w 9747620"/>
                <a:gd name="connsiteY24" fmla="*/ 1996193 h 6858000"/>
                <a:gd name="connsiteX25" fmla="*/ 9405714 w 9747620"/>
                <a:gd name="connsiteY25" fmla="*/ 2202191 h 6858000"/>
                <a:gd name="connsiteX26" fmla="*/ 9566524 w 9747620"/>
                <a:gd name="connsiteY26" fmla="*/ 2627653 h 6858000"/>
                <a:gd name="connsiteX27" fmla="*/ 9583573 w 9747620"/>
                <a:gd name="connsiteY27" fmla="*/ 2682195 h 6858000"/>
                <a:gd name="connsiteX28" fmla="*/ 9591974 w 9747620"/>
                <a:gd name="connsiteY28" fmla="*/ 2709707 h 6858000"/>
                <a:gd name="connsiteX29" fmla="*/ 9600027 w 9747620"/>
                <a:gd name="connsiteY29" fmla="*/ 2737650 h 6858000"/>
                <a:gd name="connsiteX30" fmla="*/ 9629803 w 9747620"/>
                <a:gd name="connsiteY30" fmla="*/ 2847694 h 6858000"/>
                <a:gd name="connsiteX31" fmla="*/ 9679909 w 9747620"/>
                <a:gd name="connsiteY31" fmla="*/ 3070131 h 6858000"/>
                <a:gd name="connsiteX32" fmla="*/ 9690498 w 9747620"/>
                <a:gd name="connsiteY32" fmla="*/ 3126159 h 6858000"/>
                <a:gd name="connsiteX33" fmla="*/ 9700390 w 9747620"/>
                <a:gd name="connsiteY33" fmla="*/ 3181805 h 6858000"/>
                <a:gd name="connsiteX34" fmla="*/ 9709685 w 9747620"/>
                <a:gd name="connsiteY34" fmla="*/ 3243392 h 6858000"/>
                <a:gd name="connsiteX35" fmla="*/ 9713016 w 9747620"/>
                <a:gd name="connsiteY35" fmla="*/ 3267597 h 6858000"/>
                <a:gd name="connsiteX36" fmla="*/ 9716844 w 9747620"/>
                <a:gd name="connsiteY36" fmla="*/ 3294437 h 6858000"/>
                <a:gd name="connsiteX37" fmla="*/ 9720820 w 9747620"/>
                <a:gd name="connsiteY37" fmla="*/ 3324488 h 6858000"/>
                <a:gd name="connsiteX38" fmla="*/ 9722709 w 9747620"/>
                <a:gd name="connsiteY38" fmla="*/ 3340737 h 6858000"/>
                <a:gd name="connsiteX39" fmla="*/ 9724301 w 9747620"/>
                <a:gd name="connsiteY39" fmla="*/ 3356361 h 6858000"/>
                <a:gd name="connsiteX40" fmla="*/ 9730166 w 9747620"/>
                <a:gd name="connsiteY40" fmla="*/ 3412197 h 6858000"/>
                <a:gd name="connsiteX41" fmla="*/ 9735783 w 9747620"/>
                <a:gd name="connsiteY41" fmla="*/ 3468083 h 6858000"/>
                <a:gd name="connsiteX42" fmla="*/ 9739760 w 9747620"/>
                <a:gd name="connsiteY42" fmla="*/ 3524399 h 6858000"/>
                <a:gd name="connsiteX43" fmla="*/ 9741748 w 9747620"/>
                <a:gd name="connsiteY43" fmla="*/ 3552580 h 6858000"/>
                <a:gd name="connsiteX44" fmla="*/ 9742742 w 9747620"/>
                <a:gd name="connsiteY44" fmla="*/ 3566672 h 6858000"/>
                <a:gd name="connsiteX45" fmla="*/ 9743488 w 9747620"/>
                <a:gd name="connsiteY45" fmla="*/ 3581865 h 6858000"/>
                <a:gd name="connsiteX46" fmla="*/ 9744731 w 9747620"/>
                <a:gd name="connsiteY46" fmla="*/ 3611341 h 6858000"/>
                <a:gd name="connsiteX47" fmla="*/ 9745725 w 9747620"/>
                <a:gd name="connsiteY47" fmla="*/ 3639715 h 6858000"/>
                <a:gd name="connsiteX48" fmla="*/ 9747613 w 9747620"/>
                <a:gd name="connsiteY48" fmla="*/ 3753786 h 6858000"/>
                <a:gd name="connsiteX49" fmla="*/ 9740405 w 9747620"/>
                <a:gd name="connsiteY49" fmla="*/ 3984609 h 6858000"/>
                <a:gd name="connsiteX50" fmla="*/ 9736329 w 9747620"/>
                <a:gd name="connsiteY50" fmla="*/ 4038434 h 6858000"/>
                <a:gd name="connsiteX51" fmla="*/ 9731408 w 9747620"/>
                <a:gd name="connsiteY51" fmla="*/ 4099446 h 6858000"/>
                <a:gd name="connsiteX52" fmla="*/ 9717987 w 9747620"/>
                <a:gd name="connsiteY52" fmla="*/ 4213325 h 6858000"/>
                <a:gd name="connsiteX53" fmla="*/ 9716297 w 9747620"/>
                <a:gd name="connsiteY53" fmla="*/ 4227129 h 6858000"/>
                <a:gd name="connsiteX54" fmla="*/ 9714110 w 9747620"/>
                <a:gd name="connsiteY54" fmla="*/ 4240981 h 6858000"/>
                <a:gd name="connsiteX55" fmla="*/ 9709785 w 9747620"/>
                <a:gd name="connsiteY55" fmla="*/ 4268731 h 6858000"/>
                <a:gd name="connsiteX56" fmla="*/ 9701086 w 9747620"/>
                <a:gd name="connsiteY56" fmla="*/ 4324185 h 6858000"/>
                <a:gd name="connsiteX57" fmla="*/ 9698699 w 9747620"/>
                <a:gd name="connsiteY57" fmla="*/ 4338994 h 6858000"/>
                <a:gd name="connsiteX58" fmla="*/ 9695966 w 9747620"/>
                <a:gd name="connsiteY58" fmla="*/ 4355050 h 6858000"/>
                <a:gd name="connsiteX59" fmla="*/ 9690299 w 9747620"/>
                <a:gd name="connsiteY59" fmla="*/ 4385054 h 6858000"/>
                <a:gd name="connsiteX60" fmla="*/ 9679909 w 9747620"/>
                <a:gd name="connsiteY60" fmla="*/ 4437919 h 6858000"/>
                <a:gd name="connsiteX61" fmla="*/ 9673647 w 9747620"/>
                <a:gd name="connsiteY61" fmla="*/ 4468162 h 6858000"/>
                <a:gd name="connsiteX62" fmla="*/ 9667532 w 9747620"/>
                <a:gd name="connsiteY62" fmla="*/ 4496296 h 6858000"/>
                <a:gd name="connsiteX63" fmla="*/ 9654658 w 9747620"/>
                <a:gd name="connsiteY63" fmla="*/ 4552277 h 6858000"/>
                <a:gd name="connsiteX64" fmla="*/ 9625876 w 9747620"/>
                <a:gd name="connsiteY64" fmla="*/ 4664478 h 6858000"/>
                <a:gd name="connsiteX65" fmla="*/ 9552803 w 9747620"/>
                <a:gd name="connsiteY65" fmla="*/ 4888737 h 6858000"/>
                <a:gd name="connsiteX66" fmla="*/ 9452639 w 9747620"/>
                <a:gd name="connsiteY66" fmla="*/ 5110934 h 6858000"/>
                <a:gd name="connsiteX67" fmla="*/ 9388017 w 9747620"/>
                <a:gd name="connsiteY67" fmla="*/ 5220020 h 6858000"/>
                <a:gd name="connsiteX68" fmla="*/ 9370073 w 9747620"/>
                <a:gd name="connsiteY68" fmla="*/ 5246811 h 6858000"/>
                <a:gd name="connsiteX69" fmla="*/ 9360926 w 9747620"/>
                <a:gd name="connsiteY69" fmla="*/ 5260040 h 6858000"/>
                <a:gd name="connsiteX70" fmla="*/ 9351829 w 9747620"/>
                <a:gd name="connsiteY70" fmla="*/ 5272646 h 6858000"/>
                <a:gd name="connsiteX71" fmla="*/ 9313305 w 9747620"/>
                <a:gd name="connsiteY71" fmla="*/ 5323881 h 6858000"/>
                <a:gd name="connsiteX72" fmla="*/ 9130375 w 9747620"/>
                <a:gd name="connsiteY72" fmla="*/ 5510802 h 6858000"/>
                <a:gd name="connsiteX73" fmla="*/ 9028422 w 9747620"/>
                <a:gd name="connsiteY73" fmla="*/ 5588878 h 6858000"/>
                <a:gd name="connsiteX74" fmla="*/ 9002424 w 9747620"/>
                <a:gd name="connsiteY74" fmla="*/ 5606707 h 6858000"/>
                <a:gd name="connsiteX75" fmla="*/ 8976525 w 9747620"/>
                <a:gd name="connsiteY75" fmla="*/ 5623866 h 6858000"/>
                <a:gd name="connsiteX76" fmla="*/ 8924181 w 9747620"/>
                <a:gd name="connsiteY76" fmla="*/ 5656793 h 6858000"/>
                <a:gd name="connsiteX77" fmla="*/ 8717291 w 9747620"/>
                <a:gd name="connsiteY77" fmla="*/ 5771582 h 6858000"/>
                <a:gd name="connsiteX78" fmla="*/ 8617129 w 9747620"/>
                <a:gd name="connsiteY78" fmla="*/ 5823105 h 6858000"/>
                <a:gd name="connsiteX79" fmla="*/ 8518207 w 9747620"/>
                <a:gd name="connsiteY79" fmla="*/ 5873671 h 6858000"/>
                <a:gd name="connsiteX80" fmla="*/ 8150558 w 9747620"/>
                <a:gd name="connsiteY80" fmla="*/ 6086761 h 6858000"/>
                <a:gd name="connsiteX81" fmla="*/ 7979410 w 9747620"/>
                <a:gd name="connsiteY81" fmla="*/ 6207158 h 6858000"/>
                <a:gd name="connsiteX82" fmla="*/ 7938300 w 9747620"/>
                <a:gd name="connsiteY82" fmla="*/ 6238887 h 6858000"/>
                <a:gd name="connsiteX83" fmla="*/ 7897936 w 9747620"/>
                <a:gd name="connsiteY83" fmla="*/ 6271286 h 6858000"/>
                <a:gd name="connsiteX84" fmla="*/ 7858367 w 9747620"/>
                <a:gd name="connsiteY84" fmla="*/ 6304357 h 6858000"/>
                <a:gd name="connsiteX85" fmla="*/ 7819048 w 9747620"/>
                <a:gd name="connsiteY85" fmla="*/ 6338770 h 6858000"/>
                <a:gd name="connsiteX86" fmla="*/ 7778882 w 9747620"/>
                <a:gd name="connsiteY86" fmla="*/ 6374477 h 6858000"/>
                <a:gd name="connsiteX87" fmla="*/ 7739563 w 9747620"/>
                <a:gd name="connsiteY87" fmla="*/ 6410328 h 6858000"/>
                <a:gd name="connsiteX88" fmla="*/ 7660824 w 9747620"/>
                <a:gd name="connsiteY88" fmla="*/ 6484138 h 6858000"/>
                <a:gd name="connsiteX89" fmla="*/ 7502302 w 9747620"/>
                <a:gd name="connsiteY89" fmla="*/ 6636360 h 6858000"/>
                <a:gd name="connsiteX90" fmla="*/ 7273394 w 9747620"/>
                <a:gd name="connsiteY90" fmla="*/ 6858000 h 6858000"/>
                <a:gd name="connsiteX91" fmla="*/ 6780690 w 9747620"/>
                <a:gd name="connsiteY91" fmla="*/ 6858000 h 6858000"/>
                <a:gd name="connsiteX92" fmla="*/ 6854939 w 9747620"/>
                <a:gd name="connsiteY92" fmla="*/ 6783597 h 6858000"/>
                <a:gd name="connsiteX93" fmla="*/ 6932087 w 9747620"/>
                <a:gd name="connsiteY93" fmla="*/ 6705809 h 6858000"/>
                <a:gd name="connsiteX94" fmla="*/ 7241130 w 9747620"/>
                <a:gd name="connsiteY94" fmla="*/ 6390965 h 6858000"/>
                <a:gd name="connsiteX95" fmla="*/ 7397564 w 9747620"/>
                <a:gd name="connsiteY95" fmla="*/ 6233087 h 6858000"/>
                <a:gd name="connsiteX96" fmla="*/ 7478142 w 9747620"/>
                <a:gd name="connsiteY96" fmla="*/ 6153670 h 6858000"/>
                <a:gd name="connsiteX97" fmla="*/ 7519600 w 9747620"/>
                <a:gd name="connsiteY97" fmla="*/ 6113937 h 6858000"/>
                <a:gd name="connsiteX98" fmla="*/ 7561207 w 9747620"/>
                <a:gd name="connsiteY98" fmla="*/ 6075067 h 6858000"/>
                <a:gd name="connsiteX99" fmla="*/ 7604204 w 9747620"/>
                <a:gd name="connsiteY99" fmla="*/ 6035526 h 6858000"/>
                <a:gd name="connsiteX100" fmla="*/ 7648644 w 9747620"/>
                <a:gd name="connsiteY100" fmla="*/ 5996416 h 6858000"/>
                <a:gd name="connsiteX101" fmla="*/ 7693830 w 9747620"/>
                <a:gd name="connsiteY101" fmla="*/ 5958264 h 6858000"/>
                <a:gd name="connsiteX102" fmla="*/ 7739662 w 9747620"/>
                <a:gd name="connsiteY102" fmla="*/ 5921073 h 6858000"/>
                <a:gd name="connsiteX103" fmla="*/ 7928458 w 9747620"/>
                <a:gd name="connsiteY103" fmla="*/ 5781025 h 6858000"/>
                <a:gd name="connsiteX104" fmla="*/ 8325882 w 9747620"/>
                <a:gd name="connsiteY104" fmla="*/ 5537450 h 6858000"/>
                <a:gd name="connsiteX105" fmla="*/ 8424555 w 9747620"/>
                <a:gd name="connsiteY105" fmla="*/ 5484106 h 6858000"/>
                <a:gd name="connsiteX106" fmla="*/ 8521737 w 9747620"/>
                <a:gd name="connsiteY106" fmla="*/ 5431289 h 6858000"/>
                <a:gd name="connsiteX107" fmla="*/ 8702677 w 9747620"/>
                <a:gd name="connsiteY107" fmla="*/ 5325942 h 6858000"/>
                <a:gd name="connsiteX108" fmla="*/ 8743986 w 9747620"/>
                <a:gd name="connsiteY108" fmla="*/ 5298717 h 6858000"/>
                <a:gd name="connsiteX109" fmla="*/ 8764167 w 9747620"/>
                <a:gd name="connsiteY109" fmla="*/ 5284723 h 6858000"/>
                <a:gd name="connsiteX110" fmla="*/ 8783704 w 9747620"/>
                <a:gd name="connsiteY110" fmla="*/ 5270679 h 6858000"/>
                <a:gd name="connsiteX111" fmla="*/ 8856776 w 9747620"/>
                <a:gd name="connsiteY111" fmla="*/ 5212399 h 6858000"/>
                <a:gd name="connsiteX112" fmla="*/ 8979856 w 9747620"/>
                <a:gd name="connsiteY112" fmla="*/ 5082081 h 6858000"/>
                <a:gd name="connsiteX113" fmla="*/ 9006699 w 9747620"/>
                <a:gd name="connsiteY113" fmla="*/ 5044984 h 6858000"/>
                <a:gd name="connsiteX114" fmla="*/ 9013509 w 9747620"/>
                <a:gd name="connsiteY114" fmla="*/ 5035254 h 6858000"/>
                <a:gd name="connsiteX115" fmla="*/ 9019773 w 9747620"/>
                <a:gd name="connsiteY115" fmla="*/ 5025812 h 6858000"/>
                <a:gd name="connsiteX116" fmla="*/ 9032050 w 9747620"/>
                <a:gd name="connsiteY116" fmla="*/ 5006833 h 6858000"/>
                <a:gd name="connsiteX117" fmla="*/ 9077733 w 9747620"/>
                <a:gd name="connsiteY117" fmla="*/ 4926839 h 6858000"/>
                <a:gd name="connsiteX118" fmla="*/ 9154285 w 9747620"/>
                <a:gd name="connsiteY118" fmla="*/ 4750223 h 6858000"/>
                <a:gd name="connsiteX119" fmla="*/ 9213936 w 9747620"/>
                <a:gd name="connsiteY119" fmla="*/ 4559945 h 6858000"/>
                <a:gd name="connsiteX120" fmla="*/ 9238592 w 9747620"/>
                <a:gd name="connsiteY120" fmla="*/ 4461357 h 6858000"/>
                <a:gd name="connsiteX121" fmla="*/ 9249776 w 9747620"/>
                <a:gd name="connsiteY121" fmla="*/ 4411319 h 6858000"/>
                <a:gd name="connsiteX122" fmla="*/ 9255046 w 9747620"/>
                <a:gd name="connsiteY122" fmla="*/ 4386299 h 6858000"/>
                <a:gd name="connsiteX123" fmla="*/ 9259718 w 9747620"/>
                <a:gd name="connsiteY123" fmla="*/ 4363342 h 6858000"/>
                <a:gd name="connsiteX124" fmla="*/ 9269959 w 9747620"/>
                <a:gd name="connsiteY124" fmla="*/ 4309566 h 6858000"/>
                <a:gd name="connsiteX125" fmla="*/ 9274233 w 9747620"/>
                <a:gd name="connsiteY125" fmla="*/ 4286176 h 6858000"/>
                <a:gd name="connsiteX126" fmla="*/ 9276022 w 9747620"/>
                <a:gd name="connsiteY126" fmla="*/ 4275489 h 6858000"/>
                <a:gd name="connsiteX127" fmla="*/ 9277861 w 9747620"/>
                <a:gd name="connsiteY127" fmla="*/ 4263506 h 6858000"/>
                <a:gd name="connsiteX128" fmla="*/ 9286014 w 9747620"/>
                <a:gd name="connsiteY128" fmla="*/ 4211696 h 6858000"/>
                <a:gd name="connsiteX129" fmla="*/ 9290092 w 9747620"/>
                <a:gd name="connsiteY129" fmla="*/ 4185767 h 6858000"/>
                <a:gd name="connsiteX130" fmla="*/ 9292128 w 9747620"/>
                <a:gd name="connsiteY130" fmla="*/ 4172826 h 6858000"/>
                <a:gd name="connsiteX131" fmla="*/ 9293720 w 9747620"/>
                <a:gd name="connsiteY131" fmla="*/ 4159693 h 6858000"/>
                <a:gd name="connsiteX132" fmla="*/ 9305650 w 9747620"/>
                <a:gd name="connsiteY132" fmla="*/ 4057941 h 6858000"/>
                <a:gd name="connsiteX133" fmla="*/ 9309378 w 9747620"/>
                <a:gd name="connsiteY133" fmla="*/ 4010779 h 6858000"/>
                <a:gd name="connsiteX134" fmla="*/ 9313454 w 9747620"/>
                <a:gd name="connsiteY134" fmla="*/ 3956428 h 6858000"/>
                <a:gd name="connsiteX135" fmla="*/ 9320811 w 9747620"/>
                <a:gd name="connsiteY135" fmla="*/ 3753546 h 6858000"/>
                <a:gd name="connsiteX136" fmla="*/ 9319617 w 9747620"/>
                <a:gd name="connsiteY136" fmla="*/ 3650643 h 6858000"/>
                <a:gd name="connsiteX137" fmla="*/ 9318176 w 9747620"/>
                <a:gd name="connsiteY137" fmla="*/ 3600030 h 6858000"/>
                <a:gd name="connsiteX138" fmla="*/ 9317778 w 9747620"/>
                <a:gd name="connsiteY138" fmla="*/ 3588096 h 6858000"/>
                <a:gd name="connsiteX139" fmla="*/ 9316983 w 9747620"/>
                <a:gd name="connsiteY139" fmla="*/ 3575107 h 6858000"/>
                <a:gd name="connsiteX140" fmla="*/ 9315443 w 9747620"/>
                <a:gd name="connsiteY140" fmla="*/ 3549130 h 6858000"/>
                <a:gd name="connsiteX141" fmla="*/ 9312311 w 9747620"/>
                <a:gd name="connsiteY141" fmla="*/ 3497176 h 6858000"/>
                <a:gd name="connsiteX142" fmla="*/ 9307587 w 9747620"/>
                <a:gd name="connsiteY142" fmla="*/ 3445029 h 6858000"/>
                <a:gd name="connsiteX143" fmla="*/ 9302618 w 9747620"/>
                <a:gd name="connsiteY143" fmla="*/ 3392835 h 6858000"/>
                <a:gd name="connsiteX144" fmla="*/ 9301574 w 9747620"/>
                <a:gd name="connsiteY144" fmla="*/ 3381476 h 6858000"/>
                <a:gd name="connsiteX145" fmla="*/ 9300430 w 9747620"/>
                <a:gd name="connsiteY145" fmla="*/ 3370740 h 6858000"/>
                <a:gd name="connsiteX146" fmla="*/ 9297547 w 9747620"/>
                <a:gd name="connsiteY146" fmla="*/ 3346966 h 6858000"/>
                <a:gd name="connsiteX147" fmla="*/ 9294017 w 9747620"/>
                <a:gd name="connsiteY147" fmla="*/ 3320030 h 6858000"/>
                <a:gd name="connsiteX148" fmla="*/ 9290439 w 9747620"/>
                <a:gd name="connsiteY148" fmla="*/ 3290410 h 6858000"/>
                <a:gd name="connsiteX149" fmla="*/ 9284275 w 9747620"/>
                <a:gd name="connsiteY149" fmla="*/ 3244544 h 6858000"/>
                <a:gd name="connsiteX150" fmla="*/ 9275974 w 9747620"/>
                <a:gd name="connsiteY150" fmla="*/ 3193116 h 6858000"/>
                <a:gd name="connsiteX151" fmla="*/ 9267224 w 9747620"/>
                <a:gd name="connsiteY151" fmla="*/ 3142264 h 6858000"/>
                <a:gd name="connsiteX152" fmla="*/ 9225320 w 9747620"/>
                <a:gd name="connsiteY152" fmla="*/ 2939909 h 6858000"/>
                <a:gd name="connsiteX153" fmla="*/ 9200466 w 9747620"/>
                <a:gd name="connsiteY153" fmla="*/ 2839449 h 6858000"/>
                <a:gd name="connsiteX154" fmla="*/ 9193953 w 9747620"/>
                <a:gd name="connsiteY154" fmla="*/ 2814958 h 6858000"/>
                <a:gd name="connsiteX155" fmla="*/ 9186993 w 9747620"/>
                <a:gd name="connsiteY155" fmla="*/ 2790276 h 6858000"/>
                <a:gd name="connsiteX156" fmla="*/ 9172628 w 9747620"/>
                <a:gd name="connsiteY156" fmla="*/ 2740621 h 6858000"/>
                <a:gd name="connsiteX157" fmla="*/ 9035082 w 9747620"/>
                <a:gd name="connsiteY157" fmla="*/ 2347463 h 6858000"/>
                <a:gd name="connsiteX158" fmla="*/ 8952118 w 9747620"/>
                <a:gd name="connsiteY158" fmla="*/ 2155413 h 6858000"/>
                <a:gd name="connsiteX159" fmla="*/ 8929948 w 9747620"/>
                <a:gd name="connsiteY159" fmla="*/ 2107915 h 6858000"/>
                <a:gd name="connsiteX160" fmla="*/ 8907429 w 9747620"/>
                <a:gd name="connsiteY160" fmla="*/ 2060753 h 6858000"/>
                <a:gd name="connsiteX161" fmla="*/ 8860404 w 9747620"/>
                <a:gd name="connsiteY161" fmla="*/ 1966478 h 6858000"/>
                <a:gd name="connsiteX162" fmla="*/ 8760788 w 9747620"/>
                <a:gd name="connsiteY162" fmla="*/ 1780274 h 6858000"/>
                <a:gd name="connsiteX163" fmla="*/ 8734740 w 9747620"/>
                <a:gd name="connsiteY163" fmla="*/ 1734311 h 6858000"/>
                <a:gd name="connsiteX164" fmla="*/ 8708046 w 9747620"/>
                <a:gd name="connsiteY164" fmla="*/ 1687963 h 6858000"/>
                <a:gd name="connsiteX165" fmla="*/ 8654062 w 9747620"/>
                <a:gd name="connsiteY165" fmla="*/ 1597234 h 6858000"/>
                <a:gd name="connsiteX166" fmla="*/ 8540278 w 9747620"/>
                <a:gd name="connsiteY166" fmla="*/ 1418077 h 6858000"/>
                <a:gd name="connsiteX167" fmla="*/ 8510701 w 9747620"/>
                <a:gd name="connsiteY167" fmla="*/ 1373695 h 6858000"/>
                <a:gd name="connsiteX168" fmla="*/ 8480676 w 9747620"/>
                <a:gd name="connsiteY168" fmla="*/ 1329457 h 6858000"/>
                <a:gd name="connsiteX169" fmla="*/ 8419782 w 9747620"/>
                <a:gd name="connsiteY169" fmla="*/ 1242275 h 6858000"/>
                <a:gd name="connsiteX170" fmla="*/ 8292478 w 9747620"/>
                <a:gd name="connsiteY170" fmla="*/ 1069875 h 6858000"/>
                <a:gd name="connsiteX171" fmla="*/ 8259620 w 9747620"/>
                <a:gd name="connsiteY171" fmla="*/ 1027123 h 6858000"/>
                <a:gd name="connsiteX172" fmla="*/ 8243416 w 9747620"/>
                <a:gd name="connsiteY172" fmla="*/ 1006130 h 6858000"/>
                <a:gd name="connsiteX173" fmla="*/ 8227110 w 9747620"/>
                <a:gd name="connsiteY173" fmla="*/ 985473 h 6858000"/>
                <a:gd name="connsiteX174" fmla="*/ 8159604 w 9747620"/>
                <a:gd name="connsiteY174" fmla="*/ 902029 h 6858000"/>
                <a:gd name="connsiteX175" fmla="*/ 8020022 w 9747620"/>
                <a:gd name="connsiteY175" fmla="*/ 738209 h 6858000"/>
                <a:gd name="connsiteX176" fmla="*/ 7984182 w 9747620"/>
                <a:gd name="connsiteY176" fmla="*/ 697901 h 6858000"/>
                <a:gd name="connsiteX177" fmla="*/ 7948043 w 9747620"/>
                <a:gd name="connsiteY177" fmla="*/ 657976 h 6858000"/>
                <a:gd name="connsiteX178" fmla="*/ 7874324 w 9747620"/>
                <a:gd name="connsiteY178" fmla="*/ 578607 h 6858000"/>
                <a:gd name="connsiteX179" fmla="*/ 7723308 w 9747620"/>
                <a:gd name="connsiteY179" fmla="*/ 424085 h 6858000"/>
                <a:gd name="connsiteX180" fmla="*/ 7565532 w 9747620"/>
                <a:gd name="connsiteY180" fmla="*/ 275602 h 6858000"/>
                <a:gd name="connsiteX181" fmla="*/ 1832515 w 9747620"/>
                <a:gd name="connsiteY181" fmla="*/ 0 h 6858000"/>
                <a:gd name="connsiteX182" fmla="*/ 2158449 w 9747620"/>
                <a:gd name="connsiteY182" fmla="*/ 0 h 6858000"/>
                <a:gd name="connsiteX183" fmla="*/ 2108797 w 9747620"/>
                <a:gd name="connsiteY183" fmla="*/ 37845 h 6858000"/>
                <a:gd name="connsiteX184" fmla="*/ 1942830 w 9747620"/>
                <a:gd name="connsiteY184" fmla="*/ 177587 h 6858000"/>
                <a:gd name="connsiteX185" fmla="*/ 1633191 w 9747620"/>
                <a:gd name="connsiteY185" fmla="*/ 477909 h 6858000"/>
                <a:gd name="connsiteX186" fmla="*/ 702686 w 9747620"/>
                <a:gd name="connsiteY186" fmla="*/ 1889935 h 6858000"/>
                <a:gd name="connsiteX187" fmla="*/ 551769 w 9747620"/>
                <a:gd name="connsiteY187" fmla="*/ 2281416 h 6858000"/>
                <a:gd name="connsiteX188" fmla="*/ 438383 w 9747620"/>
                <a:gd name="connsiteY188" fmla="*/ 2682772 h 6858000"/>
                <a:gd name="connsiteX189" fmla="*/ 397124 w 9747620"/>
                <a:gd name="connsiteY189" fmla="*/ 2887044 h 6858000"/>
                <a:gd name="connsiteX190" fmla="*/ 365658 w 9747620"/>
                <a:gd name="connsiteY190" fmla="*/ 3093424 h 6858000"/>
                <a:gd name="connsiteX191" fmla="*/ 332105 w 9747620"/>
                <a:gd name="connsiteY191" fmla="*/ 3509828 h 6858000"/>
                <a:gd name="connsiteX192" fmla="*/ 383653 w 9747620"/>
                <a:gd name="connsiteY192" fmla="*/ 4346327 h 6858000"/>
                <a:gd name="connsiteX193" fmla="*/ 422327 w 9747620"/>
                <a:gd name="connsiteY193" fmla="*/ 4552900 h 6858000"/>
                <a:gd name="connsiteX194" fmla="*/ 472184 w 9747620"/>
                <a:gd name="connsiteY194" fmla="*/ 4757939 h 6858000"/>
                <a:gd name="connsiteX195" fmla="*/ 533078 w 9747620"/>
                <a:gd name="connsiteY195" fmla="*/ 4960916 h 6858000"/>
                <a:gd name="connsiteX196" fmla="*/ 604710 w 9747620"/>
                <a:gd name="connsiteY196" fmla="*/ 5160875 h 6858000"/>
                <a:gd name="connsiteX197" fmla="*/ 996766 w 9747620"/>
                <a:gd name="connsiteY197" fmla="*/ 5920640 h 6858000"/>
                <a:gd name="connsiteX198" fmla="*/ 1549183 w 9747620"/>
                <a:gd name="connsiteY198" fmla="*/ 6586417 h 6858000"/>
                <a:gd name="connsiteX199" fmla="*/ 1709890 w 9747620"/>
                <a:gd name="connsiteY199" fmla="*/ 6734063 h 6858000"/>
                <a:gd name="connsiteX200" fmla="*/ 1859761 w 9747620"/>
                <a:gd name="connsiteY200" fmla="*/ 6858000 h 6858000"/>
                <a:gd name="connsiteX201" fmla="*/ 1671798 w 9747620"/>
                <a:gd name="connsiteY201" fmla="*/ 6858000 h 6858000"/>
                <a:gd name="connsiteX202" fmla="*/ 1628044 w 9747620"/>
                <a:gd name="connsiteY202" fmla="*/ 6822717 h 6858000"/>
                <a:gd name="connsiteX203" fmla="*/ 1459756 w 9747620"/>
                <a:gd name="connsiteY203" fmla="*/ 6674223 h 6858000"/>
                <a:gd name="connsiteX204" fmla="*/ 402543 w 9747620"/>
                <a:gd name="connsiteY204" fmla="*/ 5241588 h 6858000"/>
                <a:gd name="connsiteX205" fmla="*/ 311923 w 9747620"/>
                <a:gd name="connsiteY205" fmla="*/ 5036741 h 6858000"/>
                <a:gd name="connsiteX206" fmla="*/ 232140 w 9747620"/>
                <a:gd name="connsiteY206" fmla="*/ 4827483 h 6858000"/>
                <a:gd name="connsiteX207" fmla="*/ 163392 w 9747620"/>
                <a:gd name="connsiteY207" fmla="*/ 4613913 h 6858000"/>
                <a:gd name="connsiteX208" fmla="*/ 106823 w 9747620"/>
                <a:gd name="connsiteY208" fmla="*/ 4396365 h 6858000"/>
                <a:gd name="connsiteX209" fmla="*/ 29326 w 9747620"/>
                <a:gd name="connsiteY209" fmla="*/ 3954702 h 6858000"/>
                <a:gd name="connsiteX210" fmla="*/ 8647 w 9747620"/>
                <a:gd name="connsiteY210" fmla="*/ 3730971 h 6858000"/>
                <a:gd name="connsiteX211" fmla="*/ 2880 w 9747620"/>
                <a:gd name="connsiteY211" fmla="*/ 3618674 h 6858000"/>
                <a:gd name="connsiteX212" fmla="*/ 296 w 9747620"/>
                <a:gd name="connsiteY212" fmla="*/ 3506425 h 6858000"/>
                <a:gd name="connsiteX213" fmla="*/ 20030 w 9747620"/>
                <a:gd name="connsiteY213" fmla="*/ 3056711 h 6858000"/>
                <a:gd name="connsiteX214" fmla="*/ 48664 w 9747620"/>
                <a:gd name="connsiteY214" fmla="*/ 2832980 h 6858000"/>
                <a:gd name="connsiteX215" fmla="*/ 89922 w 9747620"/>
                <a:gd name="connsiteY215" fmla="*/ 2610639 h 6858000"/>
                <a:gd name="connsiteX216" fmla="*/ 211163 w 9747620"/>
                <a:gd name="connsiteY216" fmla="*/ 2174343 h 6858000"/>
                <a:gd name="connsiteX217" fmla="*/ 379129 w 9747620"/>
                <a:gd name="connsiteY217" fmla="*/ 1754393 h 6858000"/>
                <a:gd name="connsiteX218" fmla="*/ 841424 w 9747620"/>
                <a:gd name="connsiteY218" fmla="*/ 976270 h 6858000"/>
                <a:gd name="connsiteX219" fmla="*/ 1130234 w 9747620"/>
                <a:gd name="connsiteY219" fmla="*/ 625768 h 6858000"/>
                <a:gd name="connsiteX220" fmla="*/ 1452897 w 9747620"/>
                <a:gd name="connsiteY220" fmla="*/ 305748 h 6858000"/>
                <a:gd name="connsiteX221" fmla="*/ 1805682 w 9747620"/>
                <a:gd name="connsiteY221" fmla="*/ 18752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Lst>
              <a:rect l="l" t="t" r="r" b="b"/>
              <a:pathLst>
                <a:path w="9747620" h="6858000">
                  <a:moveTo>
                    <a:pt x="7235453" y="0"/>
                  </a:moveTo>
                  <a:lnTo>
                    <a:pt x="7548130" y="0"/>
                  </a:lnTo>
                  <a:lnTo>
                    <a:pt x="7710334" y="111973"/>
                  </a:lnTo>
                  <a:cubicBezTo>
                    <a:pt x="7770781" y="157314"/>
                    <a:pt x="7830282" y="203517"/>
                    <a:pt x="7889188" y="251542"/>
                  </a:cubicBezTo>
                  <a:cubicBezTo>
                    <a:pt x="7947894" y="299470"/>
                    <a:pt x="8005557" y="348453"/>
                    <a:pt x="8061828" y="398586"/>
                  </a:cubicBezTo>
                  <a:cubicBezTo>
                    <a:pt x="8090013" y="423605"/>
                    <a:pt x="8117948" y="448816"/>
                    <a:pt x="8145637" y="474218"/>
                  </a:cubicBezTo>
                  <a:cubicBezTo>
                    <a:pt x="8159506" y="486918"/>
                    <a:pt x="8173375" y="499764"/>
                    <a:pt x="8187242" y="512753"/>
                  </a:cubicBezTo>
                  <a:lnTo>
                    <a:pt x="8228402" y="551575"/>
                  </a:lnTo>
                  <a:cubicBezTo>
                    <a:pt x="8283082" y="603577"/>
                    <a:pt x="8336569" y="656778"/>
                    <a:pt x="8389211" y="710937"/>
                  </a:cubicBezTo>
                  <a:cubicBezTo>
                    <a:pt x="8415458" y="738065"/>
                    <a:pt x="8441455" y="765432"/>
                    <a:pt x="8467206" y="793088"/>
                  </a:cubicBezTo>
                  <a:lnTo>
                    <a:pt x="8486791" y="814223"/>
                  </a:lnTo>
                  <a:lnTo>
                    <a:pt x="8505979" y="835409"/>
                  </a:lnTo>
                  <a:lnTo>
                    <a:pt x="8543509" y="877346"/>
                  </a:lnTo>
                  <a:cubicBezTo>
                    <a:pt x="8593418" y="933423"/>
                    <a:pt x="8642579" y="990601"/>
                    <a:pt x="8690549" y="1048978"/>
                  </a:cubicBezTo>
                  <a:cubicBezTo>
                    <a:pt x="8714558" y="1078168"/>
                    <a:pt x="8738368" y="1107644"/>
                    <a:pt x="8761732" y="1137502"/>
                  </a:cubicBezTo>
                  <a:lnTo>
                    <a:pt x="8796379" y="1182077"/>
                  </a:lnTo>
                  <a:lnTo>
                    <a:pt x="8830678" y="1226986"/>
                  </a:lnTo>
                  <a:cubicBezTo>
                    <a:pt x="8876112" y="1287185"/>
                    <a:pt x="8920304" y="1348532"/>
                    <a:pt x="8963353" y="1410936"/>
                  </a:cubicBezTo>
                  <a:cubicBezTo>
                    <a:pt x="8984727" y="1442137"/>
                    <a:pt x="9005954" y="1473915"/>
                    <a:pt x="9026483" y="1505499"/>
                  </a:cubicBezTo>
                  <a:lnTo>
                    <a:pt x="9057004" y="1552613"/>
                  </a:lnTo>
                  <a:cubicBezTo>
                    <a:pt x="9067245" y="1568525"/>
                    <a:pt x="9077336" y="1584534"/>
                    <a:pt x="9087278" y="1600542"/>
                  </a:cubicBezTo>
                  <a:cubicBezTo>
                    <a:pt x="9127145" y="1664766"/>
                    <a:pt x="9165966" y="1729613"/>
                    <a:pt x="9202851" y="1795515"/>
                  </a:cubicBezTo>
                  <a:cubicBezTo>
                    <a:pt x="9221342" y="1828491"/>
                    <a:pt x="9239437" y="1861417"/>
                    <a:pt x="9257332" y="1894920"/>
                  </a:cubicBezTo>
                  <a:lnTo>
                    <a:pt x="9283778" y="1945436"/>
                  </a:lnTo>
                  <a:lnTo>
                    <a:pt x="9309428" y="1996193"/>
                  </a:lnTo>
                  <a:cubicBezTo>
                    <a:pt x="9343280" y="2064013"/>
                    <a:pt x="9375491" y="2132695"/>
                    <a:pt x="9405714" y="2202191"/>
                  </a:cubicBezTo>
                  <a:cubicBezTo>
                    <a:pt x="9466260" y="2341183"/>
                    <a:pt x="9520493" y="2483053"/>
                    <a:pt x="9566524" y="2627653"/>
                  </a:cubicBezTo>
                  <a:cubicBezTo>
                    <a:pt x="9572289" y="2645675"/>
                    <a:pt x="9578056" y="2663792"/>
                    <a:pt x="9583573" y="2682195"/>
                  </a:cubicBezTo>
                  <a:lnTo>
                    <a:pt x="9591974" y="2709707"/>
                  </a:lnTo>
                  <a:lnTo>
                    <a:pt x="9600027" y="2737650"/>
                  </a:lnTo>
                  <a:cubicBezTo>
                    <a:pt x="9610416" y="2774171"/>
                    <a:pt x="9620358" y="2810884"/>
                    <a:pt x="9629803" y="2847694"/>
                  </a:cubicBezTo>
                  <a:cubicBezTo>
                    <a:pt x="9648692" y="2921312"/>
                    <a:pt x="9665196" y="2995506"/>
                    <a:pt x="9679909" y="3070131"/>
                  </a:cubicBezTo>
                  <a:cubicBezTo>
                    <a:pt x="9683587" y="3088775"/>
                    <a:pt x="9687118" y="3107418"/>
                    <a:pt x="9690498" y="3126159"/>
                  </a:cubicBezTo>
                  <a:lnTo>
                    <a:pt x="9700390" y="3181805"/>
                  </a:lnTo>
                  <a:cubicBezTo>
                    <a:pt x="9703670" y="3201120"/>
                    <a:pt x="9706952" y="3222112"/>
                    <a:pt x="9709685" y="3243392"/>
                  </a:cubicBezTo>
                  <a:lnTo>
                    <a:pt x="9713016" y="3267597"/>
                  </a:lnTo>
                  <a:lnTo>
                    <a:pt x="9716844" y="3294437"/>
                  </a:lnTo>
                  <a:cubicBezTo>
                    <a:pt x="9718186" y="3303926"/>
                    <a:pt x="9719527" y="3313895"/>
                    <a:pt x="9720820" y="3324488"/>
                  </a:cubicBezTo>
                  <a:lnTo>
                    <a:pt x="9722709" y="3340737"/>
                  </a:lnTo>
                  <a:lnTo>
                    <a:pt x="9724301" y="3356361"/>
                  </a:lnTo>
                  <a:lnTo>
                    <a:pt x="9730166" y="3412197"/>
                  </a:lnTo>
                  <a:cubicBezTo>
                    <a:pt x="9732005" y="3430842"/>
                    <a:pt x="9734291" y="3449342"/>
                    <a:pt x="9735783" y="3468083"/>
                  </a:cubicBezTo>
                  <a:lnTo>
                    <a:pt x="9739760" y="3524399"/>
                  </a:lnTo>
                  <a:lnTo>
                    <a:pt x="9741748" y="3552580"/>
                  </a:lnTo>
                  <a:lnTo>
                    <a:pt x="9742742" y="3566672"/>
                  </a:lnTo>
                  <a:lnTo>
                    <a:pt x="9743488" y="3581865"/>
                  </a:lnTo>
                  <a:lnTo>
                    <a:pt x="9744731" y="3611341"/>
                  </a:lnTo>
                  <a:lnTo>
                    <a:pt x="9745725" y="3639715"/>
                  </a:lnTo>
                  <a:cubicBezTo>
                    <a:pt x="9746868" y="3677579"/>
                    <a:pt x="9747514" y="3715587"/>
                    <a:pt x="9747613" y="3753786"/>
                  </a:cubicBezTo>
                  <a:cubicBezTo>
                    <a:pt x="9747763" y="3830232"/>
                    <a:pt x="9745675" y="3906870"/>
                    <a:pt x="9740405" y="3984609"/>
                  </a:cubicBezTo>
                  <a:lnTo>
                    <a:pt x="9736329" y="4038434"/>
                  </a:lnTo>
                  <a:cubicBezTo>
                    <a:pt x="9735087" y="4055976"/>
                    <a:pt x="9733794" y="4076346"/>
                    <a:pt x="9731408" y="4099446"/>
                  </a:cubicBezTo>
                  <a:lnTo>
                    <a:pt x="9717987" y="4213325"/>
                  </a:lnTo>
                  <a:cubicBezTo>
                    <a:pt x="9717441" y="4217926"/>
                    <a:pt x="9716943" y="4222527"/>
                    <a:pt x="9716297" y="4227129"/>
                  </a:cubicBezTo>
                  <a:lnTo>
                    <a:pt x="9714110" y="4240981"/>
                  </a:lnTo>
                  <a:lnTo>
                    <a:pt x="9709785" y="4268731"/>
                  </a:lnTo>
                  <a:lnTo>
                    <a:pt x="9701086" y="4324185"/>
                  </a:lnTo>
                  <a:lnTo>
                    <a:pt x="9698699" y="4338994"/>
                  </a:lnTo>
                  <a:lnTo>
                    <a:pt x="9695966" y="4355050"/>
                  </a:lnTo>
                  <a:cubicBezTo>
                    <a:pt x="9694077" y="4365547"/>
                    <a:pt x="9692188" y="4375516"/>
                    <a:pt x="9690299" y="4385054"/>
                  </a:cubicBezTo>
                  <a:lnTo>
                    <a:pt x="9679909" y="4437919"/>
                  </a:lnTo>
                  <a:cubicBezTo>
                    <a:pt x="9677871" y="4448320"/>
                    <a:pt x="9675735" y="4458097"/>
                    <a:pt x="9673647" y="4468162"/>
                  </a:cubicBezTo>
                  <a:lnTo>
                    <a:pt x="9667532" y="4496296"/>
                  </a:lnTo>
                  <a:cubicBezTo>
                    <a:pt x="9663406" y="4514941"/>
                    <a:pt x="9659081" y="4533585"/>
                    <a:pt x="9654658" y="4552277"/>
                  </a:cubicBezTo>
                  <a:cubicBezTo>
                    <a:pt x="9645760" y="4589613"/>
                    <a:pt x="9636265" y="4627045"/>
                    <a:pt x="9625876" y="4664478"/>
                  </a:cubicBezTo>
                  <a:cubicBezTo>
                    <a:pt x="9605048" y="4739247"/>
                    <a:pt x="9581088" y="4814303"/>
                    <a:pt x="9552803" y="4888737"/>
                  </a:cubicBezTo>
                  <a:cubicBezTo>
                    <a:pt x="9524668" y="4962930"/>
                    <a:pt x="9492109" y="5037459"/>
                    <a:pt x="9452639" y="5110934"/>
                  </a:cubicBezTo>
                  <a:cubicBezTo>
                    <a:pt x="9432905" y="5147695"/>
                    <a:pt x="9411431" y="5184169"/>
                    <a:pt x="9388017" y="5220020"/>
                  </a:cubicBezTo>
                  <a:cubicBezTo>
                    <a:pt x="9382201" y="5228982"/>
                    <a:pt x="9376236" y="5237945"/>
                    <a:pt x="9370073" y="5246811"/>
                  </a:cubicBezTo>
                  <a:lnTo>
                    <a:pt x="9360926" y="5260040"/>
                  </a:lnTo>
                  <a:lnTo>
                    <a:pt x="9351829" y="5272646"/>
                  </a:lnTo>
                  <a:cubicBezTo>
                    <a:pt x="9339700" y="5289468"/>
                    <a:pt x="9327174" y="5306387"/>
                    <a:pt x="9313305" y="5323881"/>
                  </a:cubicBezTo>
                  <a:cubicBezTo>
                    <a:pt x="9258625" y="5393042"/>
                    <a:pt x="9196489" y="5455445"/>
                    <a:pt x="9130375" y="5510802"/>
                  </a:cubicBezTo>
                  <a:cubicBezTo>
                    <a:pt x="9097319" y="5538505"/>
                    <a:pt x="9063268" y="5564530"/>
                    <a:pt x="9028422" y="5588878"/>
                  </a:cubicBezTo>
                  <a:cubicBezTo>
                    <a:pt x="9019723" y="5595109"/>
                    <a:pt x="9011074" y="5600909"/>
                    <a:pt x="9002424" y="5606707"/>
                  </a:cubicBezTo>
                  <a:cubicBezTo>
                    <a:pt x="8993774" y="5612603"/>
                    <a:pt x="8985124" y="5618211"/>
                    <a:pt x="8976525" y="5623866"/>
                  </a:cubicBezTo>
                  <a:cubicBezTo>
                    <a:pt x="8959277" y="5635130"/>
                    <a:pt x="8941629" y="5646201"/>
                    <a:pt x="8924181" y="5656793"/>
                  </a:cubicBezTo>
                  <a:cubicBezTo>
                    <a:pt x="8854291" y="5699259"/>
                    <a:pt x="8784946" y="5736451"/>
                    <a:pt x="8717291" y="5771582"/>
                  </a:cubicBezTo>
                  <a:lnTo>
                    <a:pt x="8617129" y="5823105"/>
                  </a:lnTo>
                  <a:lnTo>
                    <a:pt x="8518207" y="5873671"/>
                  </a:lnTo>
                  <a:cubicBezTo>
                    <a:pt x="8391200" y="5939188"/>
                    <a:pt x="8267922" y="6009788"/>
                    <a:pt x="8150558" y="6086761"/>
                  </a:cubicBezTo>
                  <a:cubicBezTo>
                    <a:pt x="8091901" y="6125248"/>
                    <a:pt x="8034736" y="6165317"/>
                    <a:pt x="7979410" y="6207158"/>
                  </a:cubicBezTo>
                  <a:cubicBezTo>
                    <a:pt x="7965739" y="6217750"/>
                    <a:pt x="7951771" y="6228103"/>
                    <a:pt x="7938300" y="6238887"/>
                  </a:cubicBezTo>
                  <a:lnTo>
                    <a:pt x="7897936" y="6271286"/>
                  </a:lnTo>
                  <a:lnTo>
                    <a:pt x="7858367" y="6304357"/>
                  </a:lnTo>
                  <a:lnTo>
                    <a:pt x="7819048" y="6338770"/>
                  </a:lnTo>
                  <a:cubicBezTo>
                    <a:pt x="7804882" y="6351232"/>
                    <a:pt x="7792105" y="6362591"/>
                    <a:pt x="7778882" y="6374477"/>
                  </a:cubicBezTo>
                  <a:lnTo>
                    <a:pt x="7739563" y="6410328"/>
                  </a:lnTo>
                  <a:cubicBezTo>
                    <a:pt x="7713366" y="6434485"/>
                    <a:pt x="7687168" y="6459120"/>
                    <a:pt x="7660824" y="6484138"/>
                  </a:cubicBezTo>
                  <a:lnTo>
                    <a:pt x="7502302" y="6636360"/>
                  </a:lnTo>
                  <a:lnTo>
                    <a:pt x="7273394" y="6858000"/>
                  </a:lnTo>
                  <a:lnTo>
                    <a:pt x="6780690" y="6858000"/>
                  </a:lnTo>
                  <a:lnTo>
                    <a:pt x="6854939" y="6783597"/>
                  </a:lnTo>
                  <a:cubicBezTo>
                    <a:pt x="6880688" y="6757810"/>
                    <a:pt x="6906338" y="6732265"/>
                    <a:pt x="6932087" y="6705809"/>
                  </a:cubicBezTo>
                  <a:lnTo>
                    <a:pt x="7241130" y="6390965"/>
                  </a:lnTo>
                  <a:lnTo>
                    <a:pt x="7397564" y="6233087"/>
                  </a:lnTo>
                  <a:cubicBezTo>
                    <a:pt x="7424009" y="6206679"/>
                    <a:pt x="7450802" y="6180175"/>
                    <a:pt x="7478142" y="6153670"/>
                  </a:cubicBezTo>
                  <a:lnTo>
                    <a:pt x="7519600" y="6113937"/>
                  </a:lnTo>
                  <a:cubicBezTo>
                    <a:pt x="7533469" y="6100805"/>
                    <a:pt x="7547934" y="6087288"/>
                    <a:pt x="7561207" y="6075067"/>
                  </a:cubicBezTo>
                  <a:lnTo>
                    <a:pt x="7604204" y="6035526"/>
                  </a:lnTo>
                  <a:lnTo>
                    <a:pt x="7648644" y="5996416"/>
                  </a:lnTo>
                  <a:cubicBezTo>
                    <a:pt x="7663608" y="5983570"/>
                    <a:pt x="7678768" y="5971013"/>
                    <a:pt x="7693830" y="5958264"/>
                  </a:cubicBezTo>
                  <a:cubicBezTo>
                    <a:pt x="7708942" y="5945611"/>
                    <a:pt x="7724352" y="5933485"/>
                    <a:pt x="7739662" y="5921073"/>
                  </a:cubicBezTo>
                  <a:cubicBezTo>
                    <a:pt x="7801154" y="5872088"/>
                    <a:pt x="7864234" y="5825502"/>
                    <a:pt x="7928458" y="5781025"/>
                  </a:cubicBezTo>
                  <a:cubicBezTo>
                    <a:pt x="8057005" y="5692164"/>
                    <a:pt x="8190077" y="5611500"/>
                    <a:pt x="8325882" y="5537450"/>
                  </a:cubicBezTo>
                  <a:lnTo>
                    <a:pt x="8424555" y="5484106"/>
                  </a:lnTo>
                  <a:lnTo>
                    <a:pt x="8521737" y="5431289"/>
                  </a:lnTo>
                  <a:cubicBezTo>
                    <a:pt x="8585315" y="5396349"/>
                    <a:pt x="8646456" y="5361840"/>
                    <a:pt x="8702677" y="5325942"/>
                  </a:cubicBezTo>
                  <a:cubicBezTo>
                    <a:pt x="8716795" y="5316931"/>
                    <a:pt x="8730365" y="5308017"/>
                    <a:pt x="8743986" y="5298717"/>
                  </a:cubicBezTo>
                  <a:cubicBezTo>
                    <a:pt x="8750747" y="5294069"/>
                    <a:pt x="8757606" y="5289420"/>
                    <a:pt x="8764167" y="5284723"/>
                  </a:cubicBezTo>
                  <a:cubicBezTo>
                    <a:pt x="8770778" y="5280074"/>
                    <a:pt x="8777440" y="5275377"/>
                    <a:pt x="8783704" y="5270679"/>
                  </a:cubicBezTo>
                  <a:cubicBezTo>
                    <a:pt x="8809155" y="5251987"/>
                    <a:pt x="8833611" y="5232577"/>
                    <a:pt x="8856776" y="5212399"/>
                  </a:cubicBezTo>
                  <a:cubicBezTo>
                    <a:pt x="8903104" y="5172043"/>
                    <a:pt x="8944463" y="5128668"/>
                    <a:pt x="8979856" y="5082081"/>
                  </a:cubicBezTo>
                  <a:cubicBezTo>
                    <a:pt x="8988555" y="5070722"/>
                    <a:pt x="8997602" y="5057973"/>
                    <a:pt x="9006699" y="5044984"/>
                  </a:cubicBezTo>
                  <a:lnTo>
                    <a:pt x="9013509" y="5035254"/>
                  </a:lnTo>
                  <a:lnTo>
                    <a:pt x="9019773" y="5025812"/>
                  </a:lnTo>
                  <a:cubicBezTo>
                    <a:pt x="9023997" y="5019629"/>
                    <a:pt x="9028073" y="5013254"/>
                    <a:pt x="9032050" y="5006833"/>
                  </a:cubicBezTo>
                  <a:cubicBezTo>
                    <a:pt x="9048206" y="4981238"/>
                    <a:pt x="9063417" y="4954542"/>
                    <a:pt x="9077733" y="4926839"/>
                  </a:cubicBezTo>
                  <a:cubicBezTo>
                    <a:pt x="9106415" y="4871434"/>
                    <a:pt x="9131469" y="4812050"/>
                    <a:pt x="9154285" y="4750223"/>
                  </a:cubicBezTo>
                  <a:cubicBezTo>
                    <a:pt x="9176904" y="4688586"/>
                    <a:pt x="9196537" y="4625032"/>
                    <a:pt x="9213936" y="4559945"/>
                  </a:cubicBezTo>
                  <a:cubicBezTo>
                    <a:pt x="9222635" y="4527402"/>
                    <a:pt x="9230887" y="4494523"/>
                    <a:pt x="9238592" y="4461357"/>
                  </a:cubicBezTo>
                  <a:cubicBezTo>
                    <a:pt x="9242419" y="4444773"/>
                    <a:pt x="9246147" y="4428094"/>
                    <a:pt x="9249776" y="4411319"/>
                  </a:cubicBezTo>
                  <a:lnTo>
                    <a:pt x="9255046" y="4386299"/>
                  </a:lnTo>
                  <a:lnTo>
                    <a:pt x="9259718" y="4363342"/>
                  </a:lnTo>
                  <a:lnTo>
                    <a:pt x="9269959" y="4309566"/>
                  </a:lnTo>
                  <a:lnTo>
                    <a:pt x="9274233" y="4286176"/>
                  </a:lnTo>
                  <a:lnTo>
                    <a:pt x="9276022" y="4275489"/>
                  </a:lnTo>
                  <a:lnTo>
                    <a:pt x="9277861" y="4263506"/>
                  </a:lnTo>
                  <a:lnTo>
                    <a:pt x="9286014" y="4211696"/>
                  </a:lnTo>
                  <a:lnTo>
                    <a:pt x="9290092" y="4185767"/>
                  </a:lnTo>
                  <a:lnTo>
                    <a:pt x="9292128" y="4172826"/>
                  </a:lnTo>
                  <a:cubicBezTo>
                    <a:pt x="9292774" y="4168464"/>
                    <a:pt x="9293173" y="4164055"/>
                    <a:pt x="9293720" y="4159693"/>
                  </a:cubicBezTo>
                  <a:lnTo>
                    <a:pt x="9305650" y="4057941"/>
                  </a:lnTo>
                  <a:cubicBezTo>
                    <a:pt x="9306991" y="4045048"/>
                    <a:pt x="9308085" y="4029328"/>
                    <a:pt x="9309378" y="4010779"/>
                  </a:cubicBezTo>
                  <a:lnTo>
                    <a:pt x="9313454" y="3956428"/>
                  </a:lnTo>
                  <a:cubicBezTo>
                    <a:pt x="9318326" y="3889806"/>
                    <a:pt x="9320611" y="3821796"/>
                    <a:pt x="9320811" y="3753546"/>
                  </a:cubicBezTo>
                  <a:cubicBezTo>
                    <a:pt x="9320910" y="3719373"/>
                    <a:pt x="9320513" y="3685056"/>
                    <a:pt x="9319617" y="3650643"/>
                  </a:cubicBezTo>
                  <a:lnTo>
                    <a:pt x="9318176" y="3600030"/>
                  </a:lnTo>
                  <a:lnTo>
                    <a:pt x="9317778" y="3588096"/>
                  </a:lnTo>
                  <a:lnTo>
                    <a:pt x="9316983" y="3575107"/>
                  </a:lnTo>
                  <a:lnTo>
                    <a:pt x="9315443" y="3549130"/>
                  </a:lnTo>
                  <a:lnTo>
                    <a:pt x="9312311" y="3497176"/>
                  </a:lnTo>
                  <a:cubicBezTo>
                    <a:pt x="9311118" y="3479825"/>
                    <a:pt x="9309129" y="3462427"/>
                    <a:pt x="9307587" y="3445029"/>
                  </a:cubicBezTo>
                  <a:lnTo>
                    <a:pt x="9302618" y="3392835"/>
                  </a:lnTo>
                  <a:lnTo>
                    <a:pt x="9301574" y="3381476"/>
                  </a:lnTo>
                  <a:lnTo>
                    <a:pt x="9300430" y="3370740"/>
                  </a:lnTo>
                  <a:lnTo>
                    <a:pt x="9297547" y="3346966"/>
                  </a:lnTo>
                  <a:lnTo>
                    <a:pt x="9294017" y="3320030"/>
                  </a:lnTo>
                  <a:lnTo>
                    <a:pt x="9290439" y="3290410"/>
                  </a:lnTo>
                  <a:cubicBezTo>
                    <a:pt x="9288849" y="3275745"/>
                    <a:pt x="9286761" y="3260934"/>
                    <a:pt x="9284275" y="3244544"/>
                  </a:cubicBezTo>
                  <a:lnTo>
                    <a:pt x="9275974" y="3193116"/>
                  </a:lnTo>
                  <a:cubicBezTo>
                    <a:pt x="9273189" y="3176197"/>
                    <a:pt x="9270256" y="3159230"/>
                    <a:pt x="9267224" y="3142264"/>
                  </a:cubicBezTo>
                  <a:cubicBezTo>
                    <a:pt x="9255146" y="3074493"/>
                    <a:pt x="9240929" y="3007057"/>
                    <a:pt x="9225320" y="2939909"/>
                  </a:cubicBezTo>
                  <a:cubicBezTo>
                    <a:pt x="9217465" y="2906311"/>
                    <a:pt x="9209214" y="2872809"/>
                    <a:pt x="9200466" y="2839449"/>
                  </a:cubicBezTo>
                  <a:lnTo>
                    <a:pt x="9193953" y="2814958"/>
                  </a:lnTo>
                  <a:lnTo>
                    <a:pt x="9186993" y="2790276"/>
                  </a:lnTo>
                  <a:cubicBezTo>
                    <a:pt x="9182471" y="2773836"/>
                    <a:pt x="9177599" y="2757252"/>
                    <a:pt x="9172628" y="2740621"/>
                  </a:cubicBezTo>
                  <a:cubicBezTo>
                    <a:pt x="9133110" y="2607859"/>
                    <a:pt x="9087527" y="2476533"/>
                    <a:pt x="9035082" y="2347463"/>
                  </a:cubicBezTo>
                  <a:cubicBezTo>
                    <a:pt x="9008836" y="2282951"/>
                    <a:pt x="8981298" y="2218870"/>
                    <a:pt x="8952118" y="2155413"/>
                  </a:cubicBezTo>
                  <a:lnTo>
                    <a:pt x="8929948" y="2107915"/>
                  </a:lnTo>
                  <a:lnTo>
                    <a:pt x="8907429" y="2060753"/>
                  </a:lnTo>
                  <a:cubicBezTo>
                    <a:pt x="8892170" y="2029408"/>
                    <a:pt x="8876411" y="1997726"/>
                    <a:pt x="8860404" y="1966478"/>
                  </a:cubicBezTo>
                  <a:cubicBezTo>
                    <a:pt x="8828243" y="1903931"/>
                    <a:pt x="8795336" y="1841670"/>
                    <a:pt x="8760788" y="1780274"/>
                  </a:cubicBezTo>
                  <a:lnTo>
                    <a:pt x="8734740" y="1734311"/>
                  </a:lnTo>
                  <a:lnTo>
                    <a:pt x="8708046" y="1687963"/>
                  </a:lnTo>
                  <a:cubicBezTo>
                    <a:pt x="8690300" y="1657337"/>
                    <a:pt x="8672455" y="1627334"/>
                    <a:pt x="8654062" y="1597234"/>
                  </a:cubicBezTo>
                  <a:cubicBezTo>
                    <a:pt x="8617575" y="1536988"/>
                    <a:pt x="8579398" y="1477365"/>
                    <a:pt x="8540278" y="1418077"/>
                  </a:cubicBezTo>
                  <a:lnTo>
                    <a:pt x="8510701" y="1373695"/>
                  </a:lnTo>
                  <a:lnTo>
                    <a:pt x="8480676" y="1329457"/>
                  </a:lnTo>
                  <a:cubicBezTo>
                    <a:pt x="8460643" y="1300269"/>
                    <a:pt x="8440411" y="1271224"/>
                    <a:pt x="8419782" y="1242275"/>
                  </a:cubicBezTo>
                  <a:cubicBezTo>
                    <a:pt x="8378476" y="1184425"/>
                    <a:pt x="8335923" y="1127006"/>
                    <a:pt x="8292478" y="1069875"/>
                  </a:cubicBezTo>
                  <a:lnTo>
                    <a:pt x="8259620" y="1027123"/>
                  </a:lnTo>
                  <a:lnTo>
                    <a:pt x="8243416" y="1006130"/>
                  </a:lnTo>
                  <a:lnTo>
                    <a:pt x="8227110" y="985473"/>
                  </a:lnTo>
                  <a:cubicBezTo>
                    <a:pt x="8204890" y="957483"/>
                    <a:pt x="8182422" y="929684"/>
                    <a:pt x="8159604" y="902029"/>
                  </a:cubicBezTo>
                  <a:cubicBezTo>
                    <a:pt x="8114170" y="846671"/>
                    <a:pt x="8067494" y="792177"/>
                    <a:pt x="8020022" y="738209"/>
                  </a:cubicBezTo>
                  <a:lnTo>
                    <a:pt x="7984182" y="697901"/>
                  </a:lnTo>
                  <a:lnTo>
                    <a:pt x="7948043" y="657976"/>
                  </a:lnTo>
                  <a:cubicBezTo>
                    <a:pt x="7923636" y="631328"/>
                    <a:pt x="7899079" y="604823"/>
                    <a:pt x="7874324" y="578607"/>
                  </a:cubicBezTo>
                  <a:cubicBezTo>
                    <a:pt x="7824714" y="526221"/>
                    <a:pt x="7774608" y="474458"/>
                    <a:pt x="7723308" y="424085"/>
                  </a:cubicBezTo>
                  <a:cubicBezTo>
                    <a:pt x="7672157" y="373808"/>
                    <a:pt x="7619168" y="324153"/>
                    <a:pt x="7565532" y="275602"/>
                  </a:cubicBezTo>
                  <a:close/>
                  <a:moveTo>
                    <a:pt x="1832515" y="0"/>
                  </a:moveTo>
                  <a:lnTo>
                    <a:pt x="2158449" y="0"/>
                  </a:lnTo>
                  <a:lnTo>
                    <a:pt x="2108797" y="37845"/>
                  </a:lnTo>
                  <a:cubicBezTo>
                    <a:pt x="2052253" y="83168"/>
                    <a:pt x="1996914" y="129778"/>
                    <a:pt x="1942830" y="177587"/>
                  </a:cubicBezTo>
                  <a:cubicBezTo>
                    <a:pt x="1834563" y="273109"/>
                    <a:pt x="1731317" y="373472"/>
                    <a:pt x="1633191" y="477909"/>
                  </a:cubicBezTo>
                  <a:cubicBezTo>
                    <a:pt x="1240290" y="896038"/>
                    <a:pt x="927123" y="1375900"/>
                    <a:pt x="702686" y="1889935"/>
                  </a:cubicBezTo>
                  <a:cubicBezTo>
                    <a:pt x="646565" y="2018192"/>
                    <a:pt x="596210" y="2149182"/>
                    <a:pt x="551769" y="2281416"/>
                  </a:cubicBezTo>
                  <a:cubicBezTo>
                    <a:pt x="507429" y="2413700"/>
                    <a:pt x="469451" y="2547613"/>
                    <a:pt x="438383" y="2682772"/>
                  </a:cubicBezTo>
                  <a:cubicBezTo>
                    <a:pt x="423122" y="2750111"/>
                    <a:pt x="409203" y="2818553"/>
                    <a:pt x="397124" y="2887044"/>
                  </a:cubicBezTo>
                  <a:cubicBezTo>
                    <a:pt x="385144" y="2955581"/>
                    <a:pt x="374357" y="3024359"/>
                    <a:pt x="365658" y="3093424"/>
                  </a:cubicBezTo>
                  <a:cubicBezTo>
                    <a:pt x="347813" y="3231506"/>
                    <a:pt x="336727" y="3370260"/>
                    <a:pt x="332105" y="3509828"/>
                  </a:cubicBezTo>
                  <a:cubicBezTo>
                    <a:pt x="322311" y="3788822"/>
                    <a:pt x="339660" y="4068628"/>
                    <a:pt x="383653" y="4346327"/>
                  </a:cubicBezTo>
                  <a:cubicBezTo>
                    <a:pt x="394539" y="4415489"/>
                    <a:pt x="407464" y="4484267"/>
                    <a:pt x="422327" y="4552900"/>
                  </a:cubicBezTo>
                  <a:cubicBezTo>
                    <a:pt x="437041" y="4621534"/>
                    <a:pt x="453693" y="4689881"/>
                    <a:pt x="472184" y="4757939"/>
                  </a:cubicBezTo>
                  <a:cubicBezTo>
                    <a:pt x="490677" y="4825949"/>
                    <a:pt x="511007" y="4893673"/>
                    <a:pt x="533078" y="4960916"/>
                  </a:cubicBezTo>
                  <a:cubicBezTo>
                    <a:pt x="555249" y="5028208"/>
                    <a:pt x="578662" y="5095022"/>
                    <a:pt x="604710" y="5160875"/>
                  </a:cubicBezTo>
                  <a:cubicBezTo>
                    <a:pt x="707358" y="5425298"/>
                    <a:pt x="838443" y="5680902"/>
                    <a:pt x="996766" y="5920640"/>
                  </a:cubicBezTo>
                  <a:cubicBezTo>
                    <a:pt x="1154790" y="6160571"/>
                    <a:pt x="1340404" y="6384350"/>
                    <a:pt x="1549183" y="6586417"/>
                  </a:cubicBezTo>
                  <a:cubicBezTo>
                    <a:pt x="1601365" y="6636982"/>
                    <a:pt x="1654970" y="6686208"/>
                    <a:pt x="1709890" y="6734063"/>
                  </a:cubicBezTo>
                  <a:lnTo>
                    <a:pt x="1859761" y="6858000"/>
                  </a:lnTo>
                  <a:lnTo>
                    <a:pt x="1671798" y="6858000"/>
                  </a:lnTo>
                  <a:lnTo>
                    <a:pt x="1628044" y="6822717"/>
                  </a:lnTo>
                  <a:cubicBezTo>
                    <a:pt x="1570828" y="6774460"/>
                    <a:pt x="1514710" y="6724955"/>
                    <a:pt x="1459756" y="6674223"/>
                  </a:cubicBezTo>
                  <a:cubicBezTo>
                    <a:pt x="1019931" y="6268363"/>
                    <a:pt x="658296" y="5781216"/>
                    <a:pt x="402543" y="5241588"/>
                  </a:cubicBezTo>
                  <a:cubicBezTo>
                    <a:pt x="370231" y="5174103"/>
                    <a:pt x="340306" y="5105661"/>
                    <a:pt x="311923" y="5036741"/>
                  </a:cubicBezTo>
                  <a:cubicBezTo>
                    <a:pt x="283539" y="4967771"/>
                    <a:pt x="256895" y="4897986"/>
                    <a:pt x="232140" y="4827483"/>
                  </a:cubicBezTo>
                  <a:cubicBezTo>
                    <a:pt x="207334" y="4756981"/>
                    <a:pt x="184368" y="4685758"/>
                    <a:pt x="163392" y="4613913"/>
                  </a:cubicBezTo>
                  <a:cubicBezTo>
                    <a:pt x="142514" y="4542020"/>
                    <a:pt x="123624" y="4469360"/>
                    <a:pt x="106823" y="4396365"/>
                  </a:cubicBezTo>
                  <a:cubicBezTo>
                    <a:pt x="73120" y="4250902"/>
                    <a:pt x="47371" y="4103281"/>
                    <a:pt x="29326" y="3954702"/>
                  </a:cubicBezTo>
                  <a:cubicBezTo>
                    <a:pt x="20478" y="3880365"/>
                    <a:pt x="13320" y="3805789"/>
                    <a:pt x="8647" y="3730971"/>
                  </a:cubicBezTo>
                  <a:cubicBezTo>
                    <a:pt x="6311" y="3693587"/>
                    <a:pt x="4322" y="3656106"/>
                    <a:pt x="2880" y="3618674"/>
                  </a:cubicBezTo>
                  <a:cubicBezTo>
                    <a:pt x="1539" y="3581146"/>
                    <a:pt x="694" y="3543809"/>
                    <a:pt x="296" y="3506425"/>
                  </a:cubicBezTo>
                  <a:cubicBezTo>
                    <a:pt x="-1543" y="3356649"/>
                    <a:pt x="5217" y="3206200"/>
                    <a:pt x="20030" y="3056711"/>
                  </a:cubicBezTo>
                  <a:cubicBezTo>
                    <a:pt x="27686" y="2981942"/>
                    <a:pt x="36931" y="2907317"/>
                    <a:pt x="48664" y="2832980"/>
                  </a:cubicBezTo>
                  <a:cubicBezTo>
                    <a:pt x="60395" y="2758642"/>
                    <a:pt x="73716" y="2684784"/>
                    <a:pt x="89922" y="2610639"/>
                  </a:cubicBezTo>
                  <a:cubicBezTo>
                    <a:pt x="121736" y="2462826"/>
                    <a:pt x="162645" y="2317220"/>
                    <a:pt x="211163" y="2174343"/>
                  </a:cubicBezTo>
                  <a:cubicBezTo>
                    <a:pt x="259778" y="2031468"/>
                    <a:pt x="315601" y="1891517"/>
                    <a:pt x="379129" y="1754393"/>
                  </a:cubicBezTo>
                  <a:cubicBezTo>
                    <a:pt x="505540" y="1480433"/>
                    <a:pt x="660930" y="1219318"/>
                    <a:pt x="841424" y="976270"/>
                  </a:cubicBezTo>
                  <a:cubicBezTo>
                    <a:pt x="931498" y="854627"/>
                    <a:pt x="1028182" y="737777"/>
                    <a:pt x="1130234" y="625768"/>
                  </a:cubicBezTo>
                  <a:cubicBezTo>
                    <a:pt x="1232486" y="513855"/>
                    <a:pt x="1340157" y="407117"/>
                    <a:pt x="1452897" y="305748"/>
                  </a:cubicBezTo>
                  <a:cubicBezTo>
                    <a:pt x="1565736" y="204380"/>
                    <a:pt x="1683596" y="108665"/>
                    <a:pt x="1805682" y="18752"/>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9" name="Freeform: Shape 18">
              <a:extLst>
                <a:ext uri="{FF2B5EF4-FFF2-40B4-BE49-F238E27FC236}">
                  <a16:creationId xmlns:a16="http://schemas.microsoft.com/office/drawing/2014/main" id="{F613D97F-F6DF-4D32-AD91-209A80E7A23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08320" y="36937"/>
              <a:ext cx="9767847" cy="6858000"/>
            </a:xfrm>
            <a:custGeom>
              <a:avLst/>
              <a:gdLst>
                <a:gd name="connsiteX0" fmla="*/ 7151367 w 9767847"/>
                <a:gd name="connsiteY0" fmla="*/ 0 h 6858000"/>
                <a:gd name="connsiteX1" fmla="*/ 7881247 w 9767847"/>
                <a:gd name="connsiteY1" fmla="*/ 0 h 6858000"/>
                <a:gd name="connsiteX2" fmla="*/ 7990553 w 9767847"/>
                <a:gd name="connsiteY2" fmla="*/ 81317 h 6858000"/>
                <a:gd name="connsiteX3" fmla="*/ 9767847 w 9767847"/>
                <a:gd name="connsiteY3" fmla="*/ 3649031 h 6858000"/>
                <a:gd name="connsiteX4" fmla="*/ 8652597 w 9767847"/>
                <a:gd name="connsiteY4" fmla="*/ 6590005 h 6858000"/>
                <a:gd name="connsiteX5" fmla="*/ 8395306 w 9767847"/>
                <a:gd name="connsiteY5" fmla="*/ 6858000 h 6858000"/>
                <a:gd name="connsiteX6" fmla="*/ 6762603 w 9767847"/>
                <a:gd name="connsiteY6" fmla="*/ 6858000 h 6858000"/>
                <a:gd name="connsiteX7" fmla="*/ 6765962 w 9767847"/>
                <a:gd name="connsiteY7" fmla="*/ 6854844 h 6858000"/>
                <a:gd name="connsiteX8" fmla="*/ 6804586 w 9767847"/>
                <a:gd name="connsiteY8" fmla="*/ 6817103 h 6858000"/>
                <a:gd name="connsiteX9" fmla="*/ 6881735 w 9767847"/>
                <a:gd name="connsiteY9" fmla="*/ 6741197 h 6858000"/>
                <a:gd name="connsiteX10" fmla="*/ 6958883 w 9767847"/>
                <a:gd name="connsiteY10" fmla="*/ 6664822 h 6858000"/>
                <a:gd name="connsiteX11" fmla="*/ 7267925 w 9767847"/>
                <a:gd name="connsiteY11" fmla="*/ 6355694 h 6858000"/>
                <a:gd name="connsiteX12" fmla="*/ 7424360 w 9767847"/>
                <a:gd name="connsiteY12" fmla="*/ 6200685 h 6858000"/>
                <a:gd name="connsiteX13" fmla="*/ 7504938 w 9767847"/>
                <a:gd name="connsiteY13" fmla="*/ 6122708 h 6858000"/>
                <a:gd name="connsiteX14" fmla="*/ 7546396 w 9767847"/>
                <a:gd name="connsiteY14" fmla="*/ 6083697 h 6858000"/>
                <a:gd name="connsiteX15" fmla="*/ 7588002 w 9767847"/>
                <a:gd name="connsiteY15" fmla="*/ 6045532 h 6858000"/>
                <a:gd name="connsiteX16" fmla="*/ 7631000 w 9767847"/>
                <a:gd name="connsiteY16" fmla="*/ 6006709 h 6858000"/>
                <a:gd name="connsiteX17" fmla="*/ 7675440 w 9767847"/>
                <a:gd name="connsiteY17" fmla="*/ 5968309 h 6858000"/>
                <a:gd name="connsiteX18" fmla="*/ 7720626 w 9767847"/>
                <a:gd name="connsiteY18" fmla="*/ 5930851 h 6858000"/>
                <a:gd name="connsiteX19" fmla="*/ 7766458 w 9767847"/>
                <a:gd name="connsiteY19" fmla="*/ 5894334 h 6858000"/>
                <a:gd name="connsiteX20" fmla="*/ 7955254 w 9767847"/>
                <a:gd name="connsiteY20" fmla="*/ 5756828 h 6858000"/>
                <a:gd name="connsiteX21" fmla="*/ 8352678 w 9767847"/>
                <a:gd name="connsiteY21" fmla="*/ 5517630 h 6858000"/>
                <a:gd name="connsiteX22" fmla="*/ 8451350 w 9767847"/>
                <a:gd name="connsiteY22" fmla="*/ 5465254 h 6858000"/>
                <a:gd name="connsiteX23" fmla="*/ 8548532 w 9767847"/>
                <a:gd name="connsiteY23" fmla="*/ 5413395 h 6858000"/>
                <a:gd name="connsiteX24" fmla="*/ 8729473 w 9767847"/>
                <a:gd name="connsiteY24" fmla="*/ 5309961 h 6858000"/>
                <a:gd name="connsiteX25" fmla="*/ 8770781 w 9767847"/>
                <a:gd name="connsiteY25" fmla="*/ 5283232 h 6858000"/>
                <a:gd name="connsiteX26" fmla="*/ 8790964 w 9767847"/>
                <a:gd name="connsiteY26" fmla="*/ 5269492 h 6858000"/>
                <a:gd name="connsiteX27" fmla="*/ 8810499 w 9767847"/>
                <a:gd name="connsiteY27" fmla="*/ 5255703 h 6858000"/>
                <a:gd name="connsiteX28" fmla="*/ 8883571 w 9767847"/>
                <a:gd name="connsiteY28" fmla="*/ 5198479 h 6858000"/>
                <a:gd name="connsiteX29" fmla="*/ 9006651 w 9767847"/>
                <a:gd name="connsiteY29" fmla="*/ 5070527 h 6858000"/>
                <a:gd name="connsiteX30" fmla="*/ 9033494 w 9767847"/>
                <a:gd name="connsiteY30" fmla="*/ 5034105 h 6858000"/>
                <a:gd name="connsiteX31" fmla="*/ 9040305 w 9767847"/>
                <a:gd name="connsiteY31" fmla="*/ 5024551 h 6858000"/>
                <a:gd name="connsiteX32" fmla="*/ 9046568 w 9767847"/>
                <a:gd name="connsiteY32" fmla="*/ 5015281 h 6858000"/>
                <a:gd name="connsiteX33" fmla="*/ 9058846 w 9767847"/>
                <a:gd name="connsiteY33" fmla="*/ 4996645 h 6858000"/>
                <a:gd name="connsiteX34" fmla="*/ 9104529 w 9767847"/>
                <a:gd name="connsiteY34" fmla="*/ 4918105 h 6858000"/>
                <a:gd name="connsiteX35" fmla="*/ 9181081 w 9767847"/>
                <a:gd name="connsiteY35" fmla="*/ 4744694 h 6858000"/>
                <a:gd name="connsiteX36" fmla="*/ 9240731 w 9767847"/>
                <a:gd name="connsiteY36" fmla="*/ 4557872 h 6858000"/>
                <a:gd name="connsiteX37" fmla="*/ 9265388 w 9767847"/>
                <a:gd name="connsiteY37" fmla="*/ 4461073 h 6858000"/>
                <a:gd name="connsiteX38" fmla="*/ 9276571 w 9767847"/>
                <a:gd name="connsiteY38" fmla="*/ 4411943 h 6858000"/>
                <a:gd name="connsiteX39" fmla="*/ 9281841 w 9767847"/>
                <a:gd name="connsiteY39" fmla="*/ 4387379 h 6858000"/>
                <a:gd name="connsiteX40" fmla="*/ 9286513 w 9767847"/>
                <a:gd name="connsiteY40" fmla="*/ 4364838 h 6858000"/>
                <a:gd name="connsiteX41" fmla="*/ 9296754 w 9767847"/>
                <a:gd name="connsiteY41" fmla="*/ 4312038 h 6858000"/>
                <a:gd name="connsiteX42" fmla="*/ 9301029 w 9767847"/>
                <a:gd name="connsiteY42" fmla="*/ 4289074 h 6858000"/>
                <a:gd name="connsiteX43" fmla="*/ 9302818 w 9767847"/>
                <a:gd name="connsiteY43" fmla="*/ 4278581 h 6858000"/>
                <a:gd name="connsiteX44" fmla="*/ 9304658 w 9767847"/>
                <a:gd name="connsiteY44" fmla="*/ 4266816 h 6858000"/>
                <a:gd name="connsiteX45" fmla="*/ 9312810 w 9767847"/>
                <a:gd name="connsiteY45" fmla="*/ 4215945 h 6858000"/>
                <a:gd name="connsiteX46" fmla="*/ 9316887 w 9767847"/>
                <a:gd name="connsiteY46" fmla="*/ 4190486 h 6858000"/>
                <a:gd name="connsiteX47" fmla="*/ 9318923 w 9767847"/>
                <a:gd name="connsiteY47" fmla="*/ 4177780 h 6858000"/>
                <a:gd name="connsiteX48" fmla="*/ 9320515 w 9767847"/>
                <a:gd name="connsiteY48" fmla="*/ 4164886 h 6858000"/>
                <a:gd name="connsiteX49" fmla="*/ 9332445 w 9767847"/>
                <a:gd name="connsiteY49" fmla="*/ 4064981 h 6858000"/>
                <a:gd name="connsiteX50" fmla="*/ 9336173 w 9767847"/>
                <a:gd name="connsiteY50" fmla="*/ 4018676 h 6858000"/>
                <a:gd name="connsiteX51" fmla="*/ 9340199 w 9767847"/>
                <a:gd name="connsiteY51" fmla="*/ 3965171 h 6858000"/>
                <a:gd name="connsiteX52" fmla="*/ 9347557 w 9767847"/>
                <a:gd name="connsiteY52" fmla="*/ 3765972 h 6858000"/>
                <a:gd name="connsiteX53" fmla="*/ 9346364 w 9767847"/>
                <a:gd name="connsiteY53" fmla="*/ 3664938 h 6858000"/>
                <a:gd name="connsiteX54" fmla="*/ 9344921 w 9767847"/>
                <a:gd name="connsiteY54" fmla="*/ 3615243 h 6858000"/>
                <a:gd name="connsiteX55" fmla="*/ 9344524 w 9767847"/>
                <a:gd name="connsiteY55" fmla="*/ 3603526 h 6858000"/>
                <a:gd name="connsiteX56" fmla="*/ 9343728 w 9767847"/>
                <a:gd name="connsiteY56" fmla="*/ 3590774 h 6858000"/>
                <a:gd name="connsiteX57" fmla="*/ 9342188 w 9767847"/>
                <a:gd name="connsiteY57" fmla="*/ 3565268 h 6858000"/>
                <a:gd name="connsiteX58" fmla="*/ 9339056 w 9767847"/>
                <a:gd name="connsiteY58" fmla="*/ 3514256 h 6858000"/>
                <a:gd name="connsiteX59" fmla="*/ 9334334 w 9767847"/>
                <a:gd name="connsiteY59" fmla="*/ 3463057 h 6858000"/>
                <a:gd name="connsiteX60" fmla="*/ 9329363 w 9767847"/>
                <a:gd name="connsiteY60" fmla="*/ 3411810 h 6858000"/>
                <a:gd name="connsiteX61" fmla="*/ 9328319 w 9767847"/>
                <a:gd name="connsiteY61" fmla="*/ 3400657 h 6858000"/>
                <a:gd name="connsiteX62" fmla="*/ 9327177 w 9767847"/>
                <a:gd name="connsiteY62" fmla="*/ 3390116 h 6858000"/>
                <a:gd name="connsiteX63" fmla="*/ 9324293 w 9767847"/>
                <a:gd name="connsiteY63" fmla="*/ 3366774 h 6858000"/>
                <a:gd name="connsiteX64" fmla="*/ 9320763 w 9767847"/>
                <a:gd name="connsiteY64" fmla="*/ 3340329 h 6858000"/>
                <a:gd name="connsiteX65" fmla="*/ 9317184 w 9767847"/>
                <a:gd name="connsiteY65" fmla="*/ 3311245 h 6858000"/>
                <a:gd name="connsiteX66" fmla="*/ 9311021 w 9767847"/>
                <a:gd name="connsiteY66" fmla="*/ 3266211 h 6858000"/>
                <a:gd name="connsiteX67" fmla="*/ 9302719 w 9767847"/>
                <a:gd name="connsiteY67" fmla="*/ 3215717 h 6858000"/>
                <a:gd name="connsiteX68" fmla="*/ 9293970 w 9767847"/>
                <a:gd name="connsiteY68" fmla="*/ 3165789 h 6858000"/>
                <a:gd name="connsiteX69" fmla="*/ 9252065 w 9767847"/>
                <a:gd name="connsiteY69" fmla="*/ 2967107 h 6858000"/>
                <a:gd name="connsiteX70" fmla="*/ 9227211 w 9767847"/>
                <a:gd name="connsiteY70" fmla="*/ 2868473 h 6858000"/>
                <a:gd name="connsiteX71" fmla="*/ 9220699 w 9767847"/>
                <a:gd name="connsiteY71" fmla="*/ 2844426 h 6858000"/>
                <a:gd name="connsiteX72" fmla="*/ 9213740 w 9767847"/>
                <a:gd name="connsiteY72" fmla="*/ 2820191 h 6858000"/>
                <a:gd name="connsiteX73" fmla="*/ 9199374 w 9767847"/>
                <a:gd name="connsiteY73" fmla="*/ 2771438 h 6858000"/>
                <a:gd name="connsiteX74" fmla="*/ 9061829 w 9767847"/>
                <a:gd name="connsiteY74" fmla="*/ 2385418 h 6858000"/>
                <a:gd name="connsiteX75" fmla="*/ 8978865 w 9767847"/>
                <a:gd name="connsiteY75" fmla="*/ 2196855 h 6858000"/>
                <a:gd name="connsiteX76" fmla="*/ 8956694 w 9767847"/>
                <a:gd name="connsiteY76" fmla="*/ 2150219 h 6858000"/>
                <a:gd name="connsiteX77" fmla="*/ 8934176 w 9767847"/>
                <a:gd name="connsiteY77" fmla="*/ 2103914 h 6858000"/>
                <a:gd name="connsiteX78" fmla="*/ 8887151 w 9767847"/>
                <a:gd name="connsiteY78" fmla="*/ 2011350 h 6858000"/>
                <a:gd name="connsiteX79" fmla="*/ 8787533 w 9767847"/>
                <a:gd name="connsiteY79" fmla="*/ 1828527 h 6858000"/>
                <a:gd name="connsiteX80" fmla="*/ 8761485 w 9767847"/>
                <a:gd name="connsiteY80" fmla="*/ 1783398 h 6858000"/>
                <a:gd name="connsiteX81" fmla="*/ 8734791 w 9767847"/>
                <a:gd name="connsiteY81" fmla="*/ 1737893 h 6858000"/>
                <a:gd name="connsiteX82" fmla="*/ 8680808 w 9767847"/>
                <a:gd name="connsiteY82" fmla="*/ 1648812 h 6858000"/>
                <a:gd name="connsiteX83" fmla="*/ 8567024 w 9767847"/>
                <a:gd name="connsiteY83" fmla="*/ 1472906 h 6858000"/>
                <a:gd name="connsiteX84" fmla="*/ 8537446 w 9767847"/>
                <a:gd name="connsiteY84" fmla="*/ 1429330 h 6858000"/>
                <a:gd name="connsiteX85" fmla="*/ 8507423 w 9767847"/>
                <a:gd name="connsiteY85" fmla="*/ 1385896 h 6858000"/>
                <a:gd name="connsiteX86" fmla="*/ 8446529 w 9767847"/>
                <a:gd name="connsiteY86" fmla="*/ 1300295 h 6858000"/>
                <a:gd name="connsiteX87" fmla="*/ 8319224 w 9767847"/>
                <a:gd name="connsiteY87" fmla="*/ 1131026 h 6858000"/>
                <a:gd name="connsiteX88" fmla="*/ 8286366 w 9767847"/>
                <a:gd name="connsiteY88" fmla="*/ 1089050 h 6858000"/>
                <a:gd name="connsiteX89" fmla="*/ 8270161 w 9767847"/>
                <a:gd name="connsiteY89" fmla="*/ 1068439 h 6858000"/>
                <a:gd name="connsiteX90" fmla="*/ 8253856 w 9767847"/>
                <a:gd name="connsiteY90" fmla="*/ 1048156 h 6858000"/>
                <a:gd name="connsiteX91" fmla="*/ 8186352 w 9767847"/>
                <a:gd name="connsiteY91" fmla="*/ 966275 h 6858000"/>
                <a:gd name="connsiteX92" fmla="*/ 8046768 w 9767847"/>
                <a:gd name="connsiteY92" fmla="*/ 805429 h 6858000"/>
                <a:gd name="connsiteX93" fmla="*/ 8010927 w 9767847"/>
                <a:gd name="connsiteY93" fmla="*/ 765853 h 6858000"/>
                <a:gd name="connsiteX94" fmla="*/ 7974788 w 9767847"/>
                <a:gd name="connsiteY94" fmla="*/ 726653 h 6858000"/>
                <a:gd name="connsiteX95" fmla="*/ 7901070 w 9767847"/>
                <a:gd name="connsiteY95" fmla="*/ 648724 h 6858000"/>
                <a:gd name="connsiteX96" fmla="*/ 7750054 w 9767847"/>
                <a:gd name="connsiteY96" fmla="*/ 497008 h 6858000"/>
                <a:gd name="connsiteX97" fmla="*/ 7592277 w 9767847"/>
                <a:gd name="connsiteY97" fmla="*/ 351221 h 6858000"/>
                <a:gd name="connsiteX98" fmla="*/ 7257734 w 9767847"/>
                <a:gd name="connsiteY98" fmla="*/ 76964 h 6858000"/>
                <a:gd name="connsiteX99" fmla="*/ 1886601 w 9767847"/>
                <a:gd name="connsiteY99" fmla="*/ 0 h 6858000"/>
                <a:gd name="connsiteX100" fmla="*/ 2292926 w 9767847"/>
                <a:gd name="connsiteY100" fmla="*/ 0 h 6858000"/>
                <a:gd name="connsiteX101" fmla="*/ 2135542 w 9767847"/>
                <a:gd name="connsiteY101" fmla="*/ 117781 h 6858000"/>
                <a:gd name="connsiteX102" fmla="*/ 1969576 w 9767847"/>
                <a:gd name="connsiteY102" fmla="*/ 254986 h 6858000"/>
                <a:gd name="connsiteX103" fmla="*/ 1659938 w 9767847"/>
                <a:gd name="connsiteY103" fmla="*/ 549855 h 6858000"/>
                <a:gd name="connsiteX104" fmla="*/ 729383 w 9767847"/>
                <a:gd name="connsiteY104" fmla="*/ 1936480 h 6858000"/>
                <a:gd name="connsiteX105" fmla="*/ 578465 w 9767847"/>
                <a:gd name="connsiteY105" fmla="*/ 2320807 h 6858000"/>
                <a:gd name="connsiteX106" fmla="*/ 465080 w 9767847"/>
                <a:gd name="connsiteY106" fmla="*/ 2714875 h 6858000"/>
                <a:gd name="connsiteX107" fmla="*/ 423820 w 9767847"/>
                <a:gd name="connsiteY107" fmla="*/ 2915436 h 6858000"/>
                <a:gd name="connsiteX108" fmla="*/ 392355 w 9767847"/>
                <a:gd name="connsiteY108" fmla="*/ 3118071 h 6858000"/>
                <a:gd name="connsiteX109" fmla="*/ 358801 w 9767847"/>
                <a:gd name="connsiteY109" fmla="*/ 3526915 h 6858000"/>
                <a:gd name="connsiteX110" fmla="*/ 410350 w 9767847"/>
                <a:gd name="connsiteY110" fmla="*/ 4348226 h 6858000"/>
                <a:gd name="connsiteX111" fmla="*/ 449022 w 9767847"/>
                <a:gd name="connsiteY111" fmla="*/ 4551049 h 6858000"/>
                <a:gd name="connsiteX112" fmla="*/ 498882 w 9767847"/>
                <a:gd name="connsiteY112" fmla="*/ 4752365 h 6858000"/>
                <a:gd name="connsiteX113" fmla="*/ 559775 w 9767847"/>
                <a:gd name="connsiteY113" fmla="*/ 4951657 h 6858000"/>
                <a:gd name="connsiteX114" fmla="*/ 631406 w 9767847"/>
                <a:gd name="connsiteY114" fmla="*/ 5147986 h 6858000"/>
                <a:gd name="connsiteX115" fmla="*/ 1023461 w 9767847"/>
                <a:gd name="connsiteY115" fmla="*/ 5893957 h 6858000"/>
                <a:gd name="connsiteX116" fmla="*/ 1575880 w 9767847"/>
                <a:gd name="connsiteY116" fmla="*/ 6547646 h 6858000"/>
                <a:gd name="connsiteX117" fmla="*/ 1905228 w 9767847"/>
                <a:gd name="connsiteY117" fmla="*/ 6829468 h 6858000"/>
                <a:gd name="connsiteX118" fmla="*/ 1944230 w 9767847"/>
                <a:gd name="connsiteY118" fmla="*/ 6858000 h 6858000"/>
                <a:gd name="connsiteX119" fmla="*/ 1372541 w 9767847"/>
                <a:gd name="connsiteY119" fmla="*/ 6858000 h 6858000"/>
                <a:gd name="connsiteX120" fmla="*/ 1115251 w 9767847"/>
                <a:gd name="connsiteY120" fmla="*/ 6590005 h 6858000"/>
                <a:gd name="connsiteX121" fmla="*/ 0 w 9767847"/>
                <a:gd name="connsiteY121" fmla="*/ 3649031 h 6858000"/>
                <a:gd name="connsiteX122" fmla="*/ 1777294 w 9767847"/>
                <a:gd name="connsiteY122" fmla="*/ 81317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Lst>
              <a:rect l="l" t="t" r="r" b="b"/>
              <a:pathLst>
                <a:path w="9767847" h="6858000">
                  <a:moveTo>
                    <a:pt x="7151367" y="0"/>
                  </a:moveTo>
                  <a:lnTo>
                    <a:pt x="7881247" y="0"/>
                  </a:lnTo>
                  <a:lnTo>
                    <a:pt x="7990553" y="81317"/>
                  </a:lnTo>
                  <a:cubicBezTo>
                    <a:pt x="9075991" y="929334"/>
                    <a:pt x="9767847" y="2212695"/>
                    <a:pt x="9767847" y="3649031"/>
                  </a:cubicBezTo>
                  <a:cubicBezTo>
                    <a:pt x="9767847" y="4766182"/>
                    <a:pt x="9349317" y="5790792"/>
                    <a:pt x="8652597" y="6590005"/>
                  </a:cubicBezTo>
                  <a:lnTo>
                    <a:pt x="8395306" y="6858000"/>
                  </a:lnTo>
                  <a:lnTo>
                    <a:pt x="6762603" y="6858000"/>
                  </a:lnTo>
                  <a:lnTo>
                    <a:pt x="6765962" y="6854844"/>
                  </a:lnTo>
                  <a:cubicBezTo>
                    <a:pt x="6779036" y="6842703"/>
                    <a:pt x="6791663" y="6829621"/>
                    <a:pt x="6804586" y="6817103"/>
                  </a:cubicBezTo>
                  <a:lnTo>
                    <a:pt x="6881735" y="6741197"/>
                  </a:lnTo>
                  <a:cubicBezTo>
                    <a:pt x="6907435" y="6715881"/>
                    <a:pt x="6933134" y="6690798"/>
                    <a:pt x="6958883" y="6664822"/>
                  </a:cubicBezTo>
                  <a:lnTo>
                    <a:pt x="7267925" y="6355694"/>
                  </a:lnTo>
                  <a:lnTo>
                    <a:pt x="7424360" y="6200685"/>
                  </a:lnTo>
                  <a:cubicBezTo>
                    <a:pt x="7450754" y="6174802"/>
                    <a:pt x="7477598" y="6148731"/>
                    <a:pt x="7504938" y="6122708"/>
                  </a:cubicBezTo>
                  <a:lnTo>
                    <a:pt x="7546396" y="6083697"/>
                  </a:lnTo>
                  <a:cubicBezTo>
                    <a:pt x="7560264" y="6070803"/>
                    <a:pt x="7574780" y="6057532"/>
                    <a:pt x="7588002" y="6045532"/>
                  </a:cubicBezTo>
                  <a:lnTo>
                    <a:pt x="7631000" y="6006709"/>
                  </a:lnTo>
                  <a:lnTo>
                    <a:pt x="7675440" y="5968309"/>
                  </a:lnTo>
                  <a:cubicBezTo>
                    <a:pt x="7690404" y="5955698"/>
                    <a:pt x="7705564" y="5943321"/>
                    <a:pt x="7720626" y="5930851"/>
                  </a:cubicBezTo>
                  <a:cubicBezTo>
                    <a:pt x="7735738" y="5918427"/>
                    <a:pt x="7751197" y="5906521"/>
                    <a:pt x="7766458" y="5894334"/>
                  </a:cubicBezTo>
                  <a:cubicBezTo>
                    <a:pt x="7827949" y="5846192"/>
                    <a:pt x="7890979" y="5800499"/>
                    <a:pt x="7955254" y="5756828"/>
                  </a:cubicBezTo>
                  <a:cubicBezTo>
                    <a:pt x="8083800" y="5669534"/>
                    <a:pt x="8216872" y="5590336"/>
                    <a:pt x="8352678" y="5517630"/>
                  </a:cubicBezTo>
                  <a:lnTo>
                    <a:pt x="8451350" y="5465254"/>
                  </a:lnTo>
                  <a:lnTo>
                    <a:pt x="8548532" y="5413395"/>
                  </a:lnTo>
                  <a:cubicBezTo>
                    <a:pt x="8612110" y="5379090"/>
                    <a:pt x="8673251" y="5345208"/>
                    <a:pt x="8729473" y="5309961"/>
                  </a:cubicBezTo>
                  <a:cubicBezTo>
                    <a:pt x="8743591" y="5301115"/>
                    <a:pt x="8757161" y="5292361"/>
                    <a:pt x="8770781" y="5283232"/>
                  </a:cubicBezTo>
                  <a:cubicBezTo>
                    <a:pt x="8777591" y="5278667"/>
                    <a:pt x="8784451" y="5274103"/>
                    <a:pt x="8790964" y="5269492"/>
                  </a:cubicBezTo>
                  <a:cubicBezTo>
                    <a:pt x="8797574" y="5264879"/>
                    <a:pt x="8804235" y="5260314"/>
                    <a:pt x="8810499" y="5255703"/>
                  </a:cubicBezTo>
                  <a:cubicBezTo>
                    <a:pt x="8835999" y="5237303"/>
                    <a:pt x="8860407" y="5218291"/>
                    <a:pt x="8883571" y="5198479"/>
                  </a:cubicBezTo>
                  <a:cubicBezTo>
                    <a:pt x="8929900" y="5158856"/>
                    <a:pt x="8971258" y="5116315"/>
                    <a:pt x="9006651" y="5070527"/>
                  </a:cubicBezTo>
                  <a:cubicBezTo>
                    <a:pt x="9015351" y="5059328"/>
                    <a:pt x="9024398" y="5046857"/>
                    <a:pt x="9033494" y="5034105"/>
                  </a:cubicBezTo>
                  <a:lnTo>
                    <a:pt x="9040305" y="5024551"/>
                  </a:lnTo>
                  <a:lnTo>
                    <a:pt x="9046568" y="5015281"/>
                  </a:lnTo>
                  <a:cubicBezTo>
                    <a:pt x="9050743" y="5009163"/>
                    <a:pt x="9054819" y="5002952"/>
                    <a:pt x="9058846" y="4996645"/>
                  </a:cubicBezTo>
                  <a:cubicBezTo>
                    <a:pt x="9075002" y="4971517"/>
                    <a:pt x="9090212" y="4945305"/>
                    <a:pt x="9104529" y="4918105"/>
                  </a:cubicBezTo>
                  <a:cubicBezTo>
                    <a:pt x="9133211" y="4863752"/>
                    <a:pt x="9158313" y="4805447"/>
                    <a:pt x="9181081" y="4744694"/>
                  </a:cubicBezTo>
                  <a:cubicBezTo>
                    <a:pt x="9203748" y="4684178"/>
                    <a:pt x="9223383" y="4621778"/>
                    <a:pt x="9240731" y="4557872"/>
                  </a:cubicBezTo>
                  <a:cubicBezTo>
                    <a:pt x="9249481" y="4525966"/>
                    <a:pt x="9257682" y="4493684"/>
                    <a:pt x="9265388" y="4461073"/>
                  </a:cubicBezTo>
                  <a:cubicBezTo>
                    <a:pt x="9269215" y="4444744"/>
                    <a:pt x="9272943" y="4428367"/>
                    <a:pt x="9276571" y="4411943"/>
                  </a:cubicBezTo>
                  <a:lnTo>
                    <a:pt x="9281841" y="4387379"/>
                  </a:lnTo>
                  <a:lnTo>
                    <a:pt x="9286513" y="4364838"/>
                  </a:lnTo>
                  <a:lnTo>
                    <a:pt x="9296754" y="4312038"/>
                  </a:lnTo>
                  <a:lnTo>
                    <a:pt x="9301029" y="4289074"/>
                  </a:lnTo>
                  <a:lnTo>
                    <a:pt x="9302818" y="4278581"/>
                  </a:lnTo>
                  <a:lnTo>
                    <a:pt x="9304658" y="4266816"/>
                  </a:lnTo>
                  <a:lnTo>
                    <a:pt x="9312810" y="4215945"/>
                  </a:lnTo>
                  <a:lnTo>
                    <a:pt x="9316887" y="4190486"/>
                  </a:lnTo>
                  <a:lnTo>
                    <a:pt x="9318923" y="4177780"/>
                  </a:lnTo>
                  <a:cubicBezTo>
                    <a:pt x="9319570" y="4173546"/>
                    <a:pt x="9319969" y="4169169"/>
                    <a:pt x="9320515" y="4164886"/>
                  </a:cubicBezTo>
                  <a:lnTo>
                    <a:pt x="9332445" y="4064981"/>
                  </a:lnTo>
                  <a:cubicBezTo>
                    <a:pt x="9333836" y="4052370"/>
                    <a:pt x="9334880" y="4036888"/>
                    <a:pt x="9336173" y="4018676"/>
                  </a:cubicBezTo>
                  <a:lnTo>
                    <a:pt x="9340199" y="3965171"/>
                  </a:lnTo>
                  <a:cubicBezTo>
                    <a:pt x="9345071" y="3899806"/>
                    <a:pt x="9347358" y="3832983"/>
                    <a:pt x="9347557" y="3765972"/>
                  </a:cubicBezTo>
                  <a:cubicBezTo>
                    <a:pt x="9347656" y="3732420"/>
                    <a:pt x="9347209" y="3698773"/>
                    <a:pt x="9346364" y="3664938"/>
                  </a:cubicBezTo>
                  <a:lnTo>
                    <a:pt x="9344921" y="3615243"/>
                  </a:lnTo>
                  <a:lnTo>
                    <a:pt x="9344524" y="3603526"/>
                  </a:lnTo>
                  <a:lnTo>
                    <a:pt x="9343728" y="3590774"/>
                  </a:lnTo>
                  <a:lnTo>
                    <a:pt x="9342188" y="3565268"/>
                  </a:lnTo>
                  <a:lnTo>
                    <a:pt x="9339056" y="3514256"/>
                  </a:lnTo>
                  <a:cubicBezTo>
                    <a:pt x="9337914" y="3497221"/>
                    <a:pt x="9335874" y="3480138"/>
                    <a:pt x="9334334" y="3463057"/>
                  </a:cubicBezTo>
                  <a:lnTo>
                    <a:pt x="9329363" y="3411810"/>
                  </a:lnTo>
                  <a:lnTo>
                    <a:pt x="9328319" y="3400657"/>
                  </a:lnTo>
                  <a:lnTo>
                    <a:pt x="9327177" y="3390116"/>
                  </a:lnTo>
                  <a:lnTo>
                    <a:pt x="9324293" y="3366774"/>
                  </a:lnTo>
                  <a:lnTo>
                    <a:pt x="9320763" y="3340329"/>
                  </a:lnTo>
                  <a:lnTo>
                    <a:pt x="9317184" y="3311245"/>
                  </a:lnTo>
                  <a:cubicBezTo>
                    <a:pt x="9315594" y="3296893"/>
                    <a:pt x="9313506" y="3282306"/>
                    <a:pt x="9311021" y="3266211"/>
                  </a:cubicBezTo>
                  <a:lnTo>
                    <a:pt x="9302719" y="3215717"/>
                  </a:lnTo>
                  <a:cubicBezTo>
                    <a:pt x="9299936" y="3199059"/>
                    <a:pt x="9297003" y="3182400"/>
                    <a:pt x="9293970" y="3165789"/>
                  </a:cubicBezTo>
                  <a:cubicBezTo>
                    <a:pt x="9281891" y="3099295"/>
                    <a:pt x="9267674" y="3033084"/>
                    <a:pt x="9252065" y="2967107"/>
                  </a:cubicBezTo>
                  <a:cubicBezTo>
                    <a:pt x="9244261" y="2934167"/>
                    <a:pt x="9235959" y="2901273"/>
                    <a:pt x="9227211" y="2868473"/>
                  </a:cubicBezTo>
                  <a:lnTo>
                    <a:pt x="9220699" y="2844426"/>
                  </a:lnTo>
                  <a:lnTo>
                    <a:pt x="9213740" y="2820191"/>
                  </a:lnTo>
                  <a:cubicBezTo>
                    <a:pt x="9209216" y="2804049"/>
                    <a:pt x="9204345" y="2787768"/>
                    <a:pt x="9199374" y="2771438"/>
                  </a:cubicBezTo>
                  <a:cubicBezTo>
                    <a:pt x="9159855" y="2641086"/>
                    <a:pt x="9114272" y="2512099"/>
                    <a:pt x="9061829" y="2385418"/>
                  </a:cubicBezTo>
                  <a:cubicBezTo>
                    <a:pt x="9035582" y="2322077"/>
                    <a:pt x="9008043" y="2259160"/>
                    <a:pt x="8978865" y="2196855"/>
                  </a:cubicBezTo>
                  <a:lnTo>
                    <a:pt x="8956694" y="2150219"/>
                  </a:lnTo>
                  <a:lnTo>
                    <a:pt x="8934176" y="2103914"/>
                  </a:lnTo>
                  <a:cubicBezTo>
                    <a:pt x="8918915" y="2073091"/>
                    <a:pt x="8903157" y="2042032"/>
                    <a:pt x="8887151" y="2011350"/>
                  </a:cubicBezTo>
                  <a:cubicBezTo>
                    <a:pt x="8854988" y="1949891"/>
                    <a:pt x="8822082" y="1888810"/>
                    <a:pt x="8787533" y="1828527"/>
                  </a:cubicBezTo>
                  <a:lnTo>
                    <a:pt x="8761485" y="1783398"/>
                  </a:lnTo>
                  <a:lnTo>
                    <a:pt x="8734791" y="1737893"/>
                  </a:lnTo>
                  <a:cubicBezTo>
                    <a:pt x="8717047" y="1707823"/>
                    <a:pt x="8699200" y="1678363"/>
                    <a:pt x="8680808" y="1648812"/>
                  </a:cubicBezTo>
                  <a:cubicBezTo>
                    <a:pt x="8644322" y="1589658"/>
                    <a:pt x="8606194" y="1531118"/>
                    <a:pt x="8567024" y="1472906"/>
                  </a:cubicBezTo>
                  <a:lnTo>
                    <a:pt x="8537446" y="1429330"/>
                  </a:lnTo>
                  <a:lnTo>
                    <a:pt x="8507423" y="1385896"/>
                  </a:lnTo>
                  <a:cubicBezTo>
                    <a:pt x="8487390" y="1357284"/>
                    <a:pt x="8467158" y="1328719"/>
                    <a:pt x="8446529" y="1300295"/>
                  </a:cubicBezTo>
                  <a:cubicBezTo>
                    <a:pt x="8405271" y="1243496"/>
                    <a:pt x="8362718" y="1187120"/>
                    <a:pt x="8319224" y="1131026"/>
                  </a:cubicBezTo>
                  <a:lnTo>
                    <a:pt x="8286366" y="1089050"/>
                  </a:lnTo>
                  <a:lnTo>
                    <a:pt x="8270161" y="1068439"/>
                  </a:lnTo>
                  <a:lnTo>
                    <a:pt x="8253856" y="1048156"/>
                  </a:lnTo>
                  <a:cubicBezTo>
                    <a:pt x="8231636" y="1020675"/>
                    <a:pt x="8209117" y="993381"/>
                    <a:pt x="8186352" y="966275"/>
                  </a:cubicBezTo>
                  <a:cubicBezTo>
                    <a:pt x="8140917" y="911922"/>
                    <a:pt x="8094240" y="858417"/>
                    <a:pt x="8046768" y="805429"/>
                  </a:cubicBezTo>
                  <a:lnTo>
                    <a:pt x="8010927" y="765853"/>
                  </a:lnTo>
                  <a:lnTo>
                    <a:pt x="7974788" y="726653"/>
                  </a:lnTo>
                  <a:cubicBezTo>
                    <a:pt x="7950382" y="700489"/>
                    <a:pt x="7925824" y="674465"/>
                    <a:pt x="7901070" y="648724"/>
                  </a:cubicBezTo>
                  <a:cubicBezTo>
                    <a:pt x="7851510" y="597289"/>
                    <a:pt x="7801404" y="546514"/>
                    <a:pt x="7750054" y="497008"/>
                  </a:cubicBezTo>
                  <a:cubicBezTo>
                    <a:pt x="7698902" y="447644"/>
                    <a:pt x="7645913" y="398938"/>
                    <a:pt x="7592277" y="351221"/>
                  </a:cubicBezTo>
                  <a:cubicBezTo>
                    <a:pt x="7484856" y="255786"/>
                    <a:pt x="7373308" y="164304"/>
                    <a:pt x="7257734" y="76964"/>
                  </a:cubicBezTo>
                  <a:close/>
                  <a:moveTo>
                    <a:pt x="1886601" y="0"/>
                  </a:moveTo>
                  <a:lnTo>
                    <a:pt x="2292926" y="0"/>
                  </a:lnTo>
                  <a:lnTo>
                    <a:pt x="2135542" y="117781"/>
                  </a:lnTo>
                  <a:cubicBezTo>
                    <a:pt x="2078998" y="162280"/>
                    <a:pt x="2023659" y="208045"/>
                    <a:pt x="1969576" y="254986"/>
                  </a:cubicBezTo>
                  <a:cubicBezTo>
                    <a:pt x="1861309" y="348820"/>
                    <a:pt x="1758064" y="447314"/>
                    <a:pt x="1659938" y="549855"/>
                  </a:cubicBezTo>
                  <a:cubicBezTo>
                    <a:pt x="1266987" y="960346"/>
                    <a:pt x="953820" y="1431495"/>
                    <a:pt x="729383" y="1936480"/>
                  </a:cubicBezTo>
                  <a:cubicBezTo>
                    <a:pt x="673260" y="2062362"/>
                    <a:pt x="622855" y="2190972"/>
                    <a:pt x="578465" y="2320807"/>
                  </a:cubicBezTo>
                  <a:cubicBezTo>
                    <a:pt x="534125" y="2450687"/>
                    <a:pt x="496147" y="2582216"/>
                    <a:pt x="465080" y="2714875"/>
                  </a:cubicBezTo>
                  <a:cubicBezTo>
                    <a:pt x="449769" y="2780991"/>
                    <a:pt x="435850" y="2848191"/>
                    <a:pt x="423820" y="2915436"/>
                  </a:cubicBezTo>
                  <a:cubicBezTo>
                    <a:pt x="411840" y="2982731"/>
                    <a:pt x="401054" y="3050260"/>
                    <a:pt x="392355" y="3118071"/>
                  </a:cubicBezTo>
                  <a:cubicBezTo>
                    <a:pt x="374509" y="3253646"/>
                    <a:pt x="363424" y="3389880"/>
                    <a:pt x="358801" y="3526915"/>
                  </a:cubicBezTo>
                  <a:cubicBezTo>
                    <a:pt x="349009" y="3800843"/>
                    <a:pt x="366357" y="4075570"/>
                    <a:pt x="410350" y="4348226"/>
                  </a:cubicBezTo>
                  <a:cubicBezTo>
                    <a:pt x="421286" y="4416132"/>
                    <a:pt x="434209" y="4483660"/>
                    <a:pt x="449022" y="4551049"/>
                  </a:cubicBezTo>
                  <a:cubicBezTo>
                    <a:pt x="463737" y="4618436"/>
                    <a:pt x="480389" y="4685588"/>
                    <a:pt x="498882" y="4752365"/>
                  </a:cubicBezTo>
                  <a:cubicBezTo>
                    <a:pt x="517373" y="4819141"/>
                    <a:pt x="537704" y="4885635"/>
                    <a:pt x="559775" y="4951657"/>
                  </a:cubicBezTo>
                  <a:cubicBezTo>
                    <a:pt x="581946" y="5017775"/>
                    <a:pt x="605358" y="5083375"/>
                    <a:pt x="631406" y="5147986"/>
                  </a:cubicBezTo>
                  <a:cubicBezTo>
                    <a:pt x="734055" y="5407608"/>
                    <a:pt x="865188" y="5658570"/>
                    <a:pt x="1023461" y="5893957"/>
                  </a:cubicBezTo>
                  <a:cubicBezTo>
                    <a:pt x="1181487" y="6129578"/>
                    <a:pt x="1367051" y="6349247"/>
                    <a:pt x="1575880" y="6547646"/>
                  </a:cubicBezTo>
                  <a:cubicBezTo>
                    <a:pt x="1680269" y="6646916"/>
                    <a:pt x="1790338" y="6740939"/>
                    <a:pt x="1905228" y="6829468"/>
                  </a:cubicBezTo>
                  <a:lnTo>
                    <a:pt x="1944230" y="6858000"/>
                  </a:lnTo>
                  <a:lnTo>
                    <a:pt x="1372541" y="6858000"/>
                  </a:lnTo>
                  <a:lnTo>
                    <a:pt x="1115251" y="6590005"/>
                  </a:lnTo>
                  <a:cubicBezTo>
                    <a:pt x="418530" y="5790792"/>
                    <a:pt x="0" y="4766182"/>
                    <a:pt x="0" y="3649031"/>
                  </a:cubicBezTo>
                  <a:cubicBezTo>
                    <a:pt x="0" y="2212695"/>
                    <a:pt x="691856" y="929334"/>
                    <a:pt x="1777294" y="81317"/>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0" name="Freeform: Shape 19">
              <a:extLst>
                <a:ext uri="{FF2B5EF4-FFF2-40B4-BE49-F238E27FC236}">
                  <a16:creationId xmlns:a16="http://schemas.microsoft.com/office/drawing/2014/main" id="{82B0ED5C-927D-4C5F-8F27-1B403820B97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03402" y="36937"/>
              <a:ext cx="9767847" cy="6858000"/>
            </a:xfrm>
            <a:custGeom>
              <a:avLst/>
              <a:gdLst>
                <a:gd name="connsiteX0" fmla="*/ 7145704 w 9767847"/>
                <a:gd name="connsiteY0" fmla="*/ 0 h 6858000"/>
                <a:gd name="connsiteX1" fmla="*/ 7875738 w 9767847"/>
                <a:gd name="connsiteY1" fmla="*/ 0 h 6858000"/>
                <a:gd name="connsiteX2" fmla="*/ 7990553 w 9767847"/>
                <a:gd name="connsiteY2" fmla="*/ 85415 h 6858000"/>
                <a:gd name="connsiteX3" fmla="*/ 9767847 w 9767847"/>
                <a:gd name="connsiteY3" fmla="*/ 3653129 h 6858000"/>
                <a:gd name="connsiteX4" fmla="*/ 8652597 w 9767847"/>
                <a:gd name="connsiteY4" fmla="*/ 6594103 h 6858000"/>
                <a:gd name="connsiteX5" fmla="*/ 8399240 w 9767847"/>
                <a:gd name="connsiteY5" fmla="*/ 6858000 h 6858000"/>
                <a:gd name="connsiteX6" fmla="*/ 6766926 w 9767847"/>
                <a:gd name="connsiteY6" fmla="*/ 6858000 h 6858000"/>
                <a:gd name="connsiteX7" fmla="*/ 6804586 w 9767847"/>
                <a:gd name="connsiteY7" fmla="*/ 6821201 h 6858000"/>
                <a:gd name="connsiteX8" fmla="*/ 6881735 w 9767847"/>
                <a:gd name="connsiteY8" fmla="*/ 6745295 h 6858000"/>
                <a:gd name="connsiteX9" fmla="*/ 6958883 w 9767847"/>
                <a:gd name="connsiteY9" fmla="*/ 6668920 h 6858000"/>
                <a:gd name="connsiteX10" fmla="*/ 7267925 w 9767847"/>
                <a:gd name="connsiteY10" fmla="*/ 6359792 h 6858000"/>
                <a:gd name="connsiteX11" fmla="*/ 7424360 w 9767847"/>
                <a:gd name="connsiteY11" fmla="*/ 6204783 h 6858000"/>
                <a:gd name="connsiteX12" fmla="*/ 7504938 w 9767847"/>
                <a:gd name="connsiteY12" fmla="*/ 6126806 h 6858000"/>
                <a:gd name="connsiteX13" fmla="*/ 7546396 w 9767847"/>
                <a:gd name="connsiteY13" fmla="*/ 6087795 h 6858000"/>
                <a:gd name="connsiteX14" fmla="*/ 7588002 w 9767847"/>
                <a:gd name="connsiteY14" fmla="*/ 6049630 h 6858000"/>
                <a:gd name="connsiteX15" fmla="*/ 7631000 w 9767847"/>
                <a:gd name="connsiteY15" fmla="*/ 6010807 h 6858000"/>
                <a:gd name="connsiteX16" fmla="*/ 7675440 w 9767847"/>
                <a:gd name="connsiteY16" fmla="*/ 5972407 h 6858000"/>
                <a:gd name="connsiteX17" fmla="*/ 7720626 w 9767847"/>
                <a:gd name="connsiteY17" fmla="*/ 5934949 h 6858000"/>
                <a:gd name="connsiteX18" fmla="*/ 7766458 w 9767847"/>
                <a:gd name="connsiteY18" fmla="*/ 5898432 h 6858000"/>
                <a:gd name="connsiteX19" fmla="*/ 7955254 w 9767847"/>
                <a:gd name="connsiteY19" fmla="*/ 5760926 h 6858000"/>
                <a:gd name="connsiteX20" fmla="*/ 8352678 w 9767847"/>
                <a:gd name="connsiteY20" fmla="*/ 5521728 h 6858000"/>
                <a:gd name="connsiteX21" fmla="*/ 8451350 w 9767847"/>
                <a:gd name="connsiteY21" fmla="*/ 5469352 h 6858000"/>
                <a:gd name="connsiteX22" fmla="*/ 8548532 w 9767847"/>
                <a:gd name="connsiteY22" fmla="*/ 5417493 h 6858000"/>
                <a:gd name="connsiteX23" fmla="*/ 8729473 w 9767847"/>
                <a:gd name="connsiteY23" fmla="*/ 5314059 h 6858000"/>
                <a:gd name="connsiteX24" fmla="*/ 8770781 w 9767847"/>
                <a:gd name="connsiteY24" fmla="*/ 5287330 h 6858000"/>
                <a:gd name="connsiteX25" fmla="*/ 8790964 w 9767847"/>
                <a:gd name="connsiteY25" fmla="*/ 5273590 h 6858000"/>
                <a:gd name="connsiteX26" fmla="*/ 8810499 w 9767847"/>
                <a:gd name="connsiteY26" fmla="*/ 5259801 h 6858000"/>
                <a:gd name="connsiteX27" fmla="*/ 8883571 w 9767847"/>
                <a:gd name="connsiteY27" fmla="*/ 5202577 h 6858000"/>
                <a:gd name="connsiteX28" fmla="*/ 9006651 w 9767847"/>
                <a:gd name="connsiteY28" fmla="*/ 5074625 h 6858000"/>
                <a:gd name="connsiteX29" fmla="*/ 9033494 w 9767847"/>
                <a:gd name="connsiteY29" fmla="*/ 5038203 h 6858000"/>
                <a:gd name="connsiteX30" fmla="*/ 9040305 w 9767847"/>
                <a:gd name="connsiteY30" fmla="*/ 5028649 h 6858000"/>
                <a:gd name="connsiteX31" fmla="*/ 9046568 w 9767847"/>
                <a:gd name="connsiteY31" fmla="*/ 5019379 h 6858000"/>
                <a:gd name="connsiteX32" fmla="*/ 9058846 w 9767847"/>
                <a:gd name="connsiteY32" fmla="*/ 5000743 h 6858000"/>
                <a:gd name="connsiteX33" fmla="*/ 9104529 w 9767847"/>
                <a:gd name="connsiteY33" fmla="*/ 4922203 h 6858000"/>
                <a:gd name="connsiteX34" fmla="*/ 9181081 w 9767847"/>
                <a:gd name="connsiteY34" fmla="*/ 4748792 h 6858000"/>
                <a:gd name="connsiteX35" fmla="*/ 9240731 w 9767847"/>
                <a:gd name="connsiteY35" fmla="*/ 4561970 h 6858000"/>
                <a:gd name="connsiteX36" fmla="*/ 9265388 w 9767847"/>
                <a:gd name="connsiteY36" fmla="*/ 4465171 h 6858000"/>
                <a:gd name="connsiteX37" fmla="*/ 9276571 w 9767847"/>
                <a:gd name="connsiteY37" fmla="*/ 4416041 h 6858000"/>
                <a:gd name="connsiteX38" fmla="*/ 9281841 w 9767847"/>
                <a:gd name="connsiteY38" fmla="*/ 4391477 h 6858000"/>
                <a:gd name="connsiteX39" fmla="*/ 9286513 w 9767847"/>
                <a:gd name="connsiteY39" fmla="*/ 4368936 h 6858000"/>
                <a:gd name="connsiteX40" fmla="*/ 9296754 w 9767847"/>
                <a:gd name="connsiteY40" fmla="*/ 4316136 h 6858000"/>
                <a:gd name="connsiteX41" fmla="*/ 9301029 w 9767847"/>
                <a:gd name="connsiteY41" fmla="*/ 4293172 h 6858000"/>
                <a:gd name="connsiteX42" fmla="*/ 9302818 w 9767847"/>
                <a:gd name="connsiteY42" fmla="*/ 4282679 h 6858000"/>
                <a:gd name="connsiteX43" fmla="*/ 9304658 w 9767847"/>
                <a:gd name="connsiteY43" fmla="*/ 4270914 h 6858000"/>
                <a:gd name="connsiteX44" fmla="*/ 9312810 w 9767847"/>
                <a:gd name="connsiteY44" fmla="*/ 4220043 h 6858000"/>
                <a:gd name="connsiteX45" fmla="*/ 9316887 w 9767847"/>
                <a:gd name="connsiteY45" fmla="*/ 4194584 h 6858000"/>
                <a:gd name="connsiteX46" fmla="*/ 9318923 w 9767847"/>
                <a:gd name="connsiteY46" fmla="*/ 4181878 h 6858000"/>
                <a:gd name="connsiteX47" fmla="*/ 9320515 w 9767847"/>
                <a:gd name="connsiteY47" fmla="*/ 4168984 h 6858000"/>
                <a:gd name="connsiteX48" fmla="*/ 9332445 w 9767847"/>
                <a:gd name="connsiteY48" fmla="*/ 4069079 h 6858000"/>
                <a:gd name="connsiteX49" fmla="*/ 9336173 w 9767847"/>
                <a:gd name="connsiteY49" fmla="*/ 4022774 h 6858000"/>
                <a:gd name="connsiteX50" fmla="*/ 9340199 w 9767847"/>
                <a:gd name="connsiteY50" fmla="*/ 3969269 h 6858000"/>
                <a:gd name="connsiteX51" fmla="*/ 9347557 w 9767847"/>
                <a:gd name="connsiteY51" fmla="*/ 3770070 h 6858000"/>
                <a:gd name="connsiteX52" fmla="*/ 9346364 w 9767847"/>
                <a:gd name="connsiteY52" fmla="*/ 3669036 h 6858000"/>
                <a:gd name="connsiteX53" fmla="*/ 9344921 w 9767847"/>
                <a:gd name="connsiteY53" fmla="*/ 3619341 h 6858000"/>
                <a:gd name="connsiteX54" fmla="*/ 9344524 w 9767847"/>
                <a:gd name="connsiteY54" fmla="*/ 3607624 h 6858000"/>
                <a:gd name="connsiteX55" fmla="*/ 9343728 w 9767847"/>
                <a:gd name="connsiteY55" fmla="*/ 3594872 h 6858000"/>
                <a:gd name="connsiteX56" fmla="*/ 9342188 w 9767847"/>
                <a:gd name="connsiteY56" fmla="*/ 3569366 h 6858000"/>
                <a:gd name="connsiteX57" fmla="*/ 9339056 w 9767847"/>
                <a:gd name="connsiteY57" fmla="*/ 3518354 h 6858000"/>
                <a:gd name="connsiteX58" fmla="*/ 9334334 w 9767847"/>
                <a:gd name="connsiteY58" fmla="*/ 3467155 h 6858000"/>
                <a:gd name="connsiteX59" fmla="*/ 9329363 w 9767847"/>
                <a:gd name="connsiteY59" fmla="*/ 3415908 h 6858000"/>
                <a:gd name="connsiteX60" fmla="*/ 9328319 w 9767847"/>
                <a:gd name="connsiteY60" fmla="*/ 3404755 h 6858000"/>
                <a:gd name="connsiteX61" fmla="*/ 9327177 w 9767847"/>
                <a:gd name="connsiteY61" fmla="*/ 3394214 h 6858000"/>
                <a:gd name="connsiteX62" fmla="*/ 9324293 w 9767847"/>
                <a:gd name="connsiteY62" fmla="*/ 3370872 h 6858000"/>
                <a:gd name="connsiteX63" fmla="*/ 9320763 w 9767847"/>
                <a:gd name="connsiteY63" fmla="*/ 3344427 h 6858000"/>
                <a:gd name="connsiteX64" fmla="*/ 9317184 w 9767847"/>
                <a:gd name="connsiteY64" fmla="*/ 3315343 h 6858000"/>
                <a:gd name="connsiteX65" fmla="*/ 9311021 w 9767847"/>
                <a:gd name="connsiteY65" fmla="*/ 3270309 h 6858000"/>
                <a:gd name="connsiteX66" fmla="*/ 9302719 w 9767847"/>
                <a:gd name="connsiteY66" fmla="*/ 3219815 h 6858000"/>
                <a:gd name="connsiteX67" fmla="*/ 9293970 w 9767847"/>
                <a:gd name="connsiteY67" fmla="*/ 3169887 h 6858000"/>
                <a:gd name="connsiteX68" fmla="*/ 9252065 w 9767847"/>
                <a:gd name="connsiteY68" fmla="*/ 2971205 h 6858000"/>
                <a:gd name="connsiteX69" fmla="*/ 9227211 w 9767847"/>
                <a:gd name="connsiteY69" fmla="*/ 2872571 h 6858000"/>
                <a:gd name="connsiteX70" fmla="*/ 9220699 w 9767847"/>
                <a:gd name="connsiteY70" fmla="*/ 2848524 h 6858000"/>
                <a:gd name="connsiteX71" fmla="*/ 9213740 w 9767847"/>
                <a:gd name="connsiteY71" fmla="*/ 2824289 h 6858000"/>
                <a:gd name="connsiteX72" fmla="*/ 9199374 w 9767847"/>
                <a:gd name="connsiteY72" fmla="*/ 2775536 h 6858000"/>
                <a:gd name="connsiteX73" fmla="*/ 9061829 w 9767847"/>
                <a:gd name="connsiteY73" fmla="*/ 2389515 h 6858000"/>
                <a:gd name="connsiteX74" fmla="*/ 8978865 w 9767847"/>
                <a:gd name="connsiteY74" fmla="*/ 2200953 h 6858000"/>
                <a:gd name="connsiteX75" fmla="*/ 8956694 w 9767847"/>
                <a:gd name="connsiteY75" fmla="*/ 2154317 h 6858000"/>
                <a:gd name="connsiteX76" fmla="*/ 8934176 w 9767847"/>
                <a:gd name="connsiteY76" fmla="*/ 2108012 h 6858000"/>
                <a:gd name="connsiteX77" fmla="*/ 8887151 w 9767847"/>
                <a:gd name="connsiteY77" fmla="*/ 2015448 h 6858000"/>
                <a:gd name="connsiteX78" fmla="*/ 8787533 w 9767847"/>
                <a:gd name="connsiteY78" fmla="*/ 1832625 h 6858000"/>
                <a:gd name="connsiteX79" fmla="*/ 8761485 w 9767847"/>
                <a:gd name="connsiteY79" fmla="*/ 1787496 h 6858000"/>
                <a:gd name="connsiteX80" fmla="*/ 8734791 w 9767847"/>
                <a:gd name="connsiteY80" fmla="*/ 1741991 h 6858000"/>
                <a:gd name="connsiteX81" fmla="*/ 8680808 w 9767847"/>
                <a:gd name="connsiteY81" fmla="*/ 1652910 h 6858000"/>
                <a:gd name="connsiteX82" fmla="*/ 8567024 w 9767847"/>
                <a:gd name="connsiteY82" fmla="*/ 1477004 h 6858000"/>
                <a:gd name="connsiteX83" fmla="*/ 8537446 w 9767847"/>
                <a:gd name="connsiteY83" fmla="*/ 1433428 h 6858000"/>
                <a:gd name="connsiteX84" fmla="*/ 8507423 w 9767847"/>
                <a:gd name="connsiteY84" fmla="*/ 1389994 h 6858000"/>
                <a:gd name="connsiteX85" fmla="*/ 8446529 w 9767847"/>
                <a:gd name="connsiteY85" fmla="*/ 1304393 h 6858000"/>
                <a:gd name="connsiteX86" fmla="*/ 8319224 w 9767847"/>
                <a:gd name="connsiteY86" fmla="*/ 1135124 h 6858000"/>
                <a:gd name="connsiteX87" fmla="*/ 8286366 w 9767847"/>
                <a:gd name="connsiteY87" fmla="*/ 1093148 h 6858000"/>
                <a:gd name="connsiteX88" fmla="*/ 8270161 w 9767847"/>
                <a:gd name="connsiteY88" fmla="*/ 1072538 h 6858000"/>
                <a:gd name="connsiteX89" fmla="*/ 8253856 w 9767847"/>
                <a:gd name="connsiteY89" fmla="*/ 1052254 h 6858000"/>
                <a:gd name="connsiteX90" fmla="*/ 8186352 w 9767847"/>
                <a:gd name="connsiteY90" fmla="*/ 970373 h 6858000"/>
                <a:gd name="connsiteX91" fmla="*/ 8046768 w 9767847"/>
                <a:gd name="connsiteY91" fmla="*/ 809527 h 6858000"/>
                <a:gd name="connsiteX92" fmla="*/ 8010927 w 9767847"/>
                <a:gd name="connsiteY92" fmla="*/ 769951 h 6858000"/>
                <a:gd name="connsiteX93" fmla="*/ 7974788 w 9767847"/>
                <a:gd name="connsiteY93" fmla="*/ 730751 h 6858000"/>
                <a:gd name="connsiteX94" fmla="*/ 7901070 w 9767847"/>
                <a:gd name="connsiteY94" fmla="*/ 652823 h 6858000"/>
                <a:gd name="connsiteX95" fmla="*/ 7750054 w 9767847"/>
                <a:gd name="connsiteY95" fmla="*/ 501106 h 6858000"/>
                <a:gd name="connsiteX96" fmla="*/ 7592277 w 9767847"/>
                <a:gd name="connsiteY96" fmla="*/ 355319 h 6858000"/>
                <a:gd name="connsiteX97" fmla="*/ 7257734 w 9767847"/>
                <a:gd name="connsiteY97" fmla="*/ 81062 h 6858000"/>
                <a:gd name="connsiteX98" fmla="*/ 1892109 w 9767847"/>
                <a:gd name="connsiteY98" fmla="*/ 0 h 6858000"/>
                <a:gd name="connsiteX99" fmla="*/ 2298402 w 9767847"/>
                <a:gd name="connsiteY99" fmla="*/ 0 h 6858000"/>
                <a:gd name="connsiteX100" fmla="*/ 2135542 w 9767847"/>
                <a:gd name="connsiteY100" fmla="*/ 121879 h 6858000"/>
                <a:gd name="connsiteX101" fmla="*/ 1969576 w 9767847"/>
                <a:gd name="connsiteY101" fmla="*/ 259084 h 6858000"/>
                <a:gd name="connsiteX102" fmla="*/ 1659938 w 9767847"/>
                <a:gd name="connsiteY102" fmla="*/ 553953 h 6858000"/>
                <a:gd name="connsiteX103" fmla="*/ 729383 w 9767847"/>
                <a:gd name="connsiteY103" fmla="*/ 1940578 h 6858000"/>
                <a:gd name="connsiteX104" fmla="*/ 578465 w 9767847"/>
                <a:gd name="connsiteY104" fmla="*/ 2324905 h 6858000"/>
                <a:gd name="connsiteX105" fmla="*/ 465080 w 9767847"/>
                <a:gd name="connsiteY105" fmla="*/ 2718973 h 6858000"/>
                <a:gd name="connsiteX106" fmla="*/ 423820 w 9767847"/>
                <a:gd name="connsiteY106" fmla="*/ 2919535 h 6858000"/>
                <a:gd name="connsiteX107" fmla="*/ 392355 w 9767847"/>
                <a:gd name="connsiteY107" fmla="*/ 3122169 h 6858000"/>
                <a:gd name="connsiteX108" fmla="*/ 358801 w 9767847"/>
                <a:gd name="connsiteY108" fmla="*/ 3531013 h 6858000"/>
                <a:gd name="connsiteX109" fmla="*/ 410350 w 9767847"/>
                <a:gd name="connsiteY109" fmla="*/ 4352324 h 6858000"/>
                <a:gd name="connsiteX110" fmla="*/ 449022 w 9767847"/>
                <a:gd name="connsiteY110" fmla="*/ 4555147 h 6858000"/>
                <a:gd name="connsiteX111" fmla="*/ 498882 w 9767847"/>
                <a:gd name="connsiteY111" fmla="*/ 4756463 h 6858000"/>
                <a:gd name="connsiteX112" fmla="*/ 559775 w 9767847"/>
                <a:gd name="connsiteY112" fmla="*/ 4955755 h 6858000"/>
                <a:gd name="connsiteX113" fmla="*/ 631406 w 9767847"/>
                <a:gd name="connsiteY113" fmla="*/ 5152084 h 6858000"/>
                <a:gd name="connsiteX114" fmla="*/ 1023461 w 9767847"/>
                <a:gd name="connsiteY114" fmla="*/ 5898055 h 6858000"/>
                <a:gd name="connsiteX115" fmla="*/ 1575880 w 9767847"/>
                <a:gd name="connsiteY115" fmla="*/ 6551744 h 6858000"/>
                <a:gd name="connsiteX116" fmla="*/ 1905228 w 9767847"/>
                <a:gd name="connsiteY116" fmla="*/ 6833566 h 6858000"/>
                <a:gd name="connsiteX117" fmla="*/ 1938629 w 9767847"/>
                <a:gd name="connsiteY117" fmla="*/ 6858000 h 6858000"/>
                <a:gd name="connsiteX118" fmla="*/ 1368607 w 9767847"/>
                <a:gd name="connsiteY118" fmla="*/ 6858000 h 6858000"/>
                <a:gd name="connsiteX119" fmla="*/ 1115251 w 9767847"/>
                <a:gd name="connsiteY119" fmla="*/ 6594103 h 6858000"/>
                <a:gd name="connsiteX120" fmla="*/ 0 w 9767847"/>
                <a:gd name="connsiteY120" fmla="*/ 3653129 h 6858000"/>
                <a:gd name="connsiteX121" fmla="*/ 1777294 w 9767847"/>
                <a:gd name="connsiteY121" fmla="*/ 85415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Lst>
              <a:rect l="l" t="t" r="r" b="b"/>
              <a:pathLst>
                <a:path w="9767847" h="6858000">
                  <a:moveTo>
                    <a:pt x="7145704" y="0"/>
                  </a:moveTo>
                  <a:lnTo>
                    <a:pt x="7875738" y="0"/>
                  </a:lnTo>
                  <a:lnTo>
                    <a:pt x="7990553" y="85415"/>
                  </a:lnTo>
                  <a:cubicBezTo>
                    <a:pt x="9075991" y="933432"/>
                    <a:pt x="9767847" y="2216793"/>
                    <a:pt x="9767847" y="3653129"/>
                  </a:cubicBezTo>
                  <a:cubicBezTo>
                    <a:pt x="9767847" y="4770280"/>
                    <a:pt x="9349317" y="5794890"/>
                    <a:pt x="8652597" y="6594103"/>
                  </a:cubicBezTo>
                  <a:lnTo>
                    <a:pt x="8399240" y="6858000"/>
                  </a:lnTo>
                  <a:lnTo>
                    <a:pt x="6766926" y="6858000"/>
                  </a:lnTo>
                  <a:lnTo>
                    <a:pt x="6804586" y="6821201"/>
                  </a:lnTo>
                  <a:lnTo>
                    <a:pt x="6881735" y="6745295"/>
                  </a:lnTo>
                  <a:cubicBezTo>
                    <a:pt x="6907435" y="6719979"/>
                    <a:pt x="6933134" y="6694896"/>
                    <a:pt x="6958883" y="6668920"/>
                  </a:cubicBezTo>
                  <a:lnTo>
                    <a:pt x="7267925" y="6359792"/>
                  </a:lnTo>
                  <a:lnTo>
                    <a:pt x="7424360" y="6204783"/>
                  </a:lnTo>
                  <a:cubicBezTo>
                    <a:pt x="7450754" y="6178900"/>
                    <a:pt x="7477598" y="6152829"/>
                    <a:pt x="7504938" y="6126806"/>
                  </a:cubicBezTo>
                  <a:lnTo>
                    <a:pt x="7546396" y="6087795"/>
                  </a:lnTo>
                  <a:cubicBezTo>
                    <a:pt x="7560264" y="6074901"/>
                    <a:pt x="7574780" y="6061630"/>
                    <a:pt x="7588002" y="6049630"/>
                  </a:cubicBezTo>
                  <a:lnTo>
                    <a:pt x="7631000" y="6010807"/>
                  </a:lnTo>
                  <a:lnTo>
                    <a:pt x="7675440" y="5972407"/>
                  </a:lnTo>
                  <a:cubicBezTo>
                    <a:pt x="7690404" y="5959796"/>
                    <a:pt x="7705564" y="5947419"/>
                    <a:pt x="7720626" y="5934949"/>
                  </a:cubicBezTo>
                  <a:cubicBezTo>
                    <a:pt x="7735738" y="5922525"/>
                    <a:pt x="7751197" y="5910619"/>
                    <a:pt x="7766458" y="5898432"/>
                  </a:cubicBezTo>
                  <a:cubicBezTo>
                    <a:pt x="7827949" y="5850290"/>
                    <a:pt x="7890979" y="5804597"/>
                    <a:pt x="7955254" y="5760926"/>
                  </a:cubicBezTo>
                  <a:cubicBezTo>
                    <a:pt x="8083800" y="5673632"/>
                    <a:pt x="8216872" y="5594434"/>
                    <a:pt x="8352678" y="5521728"/>
                  </a:cubicBezTo>
                  <a:lnTo>
                    <a:pt x="8451350" y="5469352"/>
                  </a:lnTo>
                  <a:lnTo>
                    <a:pt x="8548532" y="5417493"/>
                  </a:lnTo>
                  <a:cubicBezTo>
                    <a:pt x="8612110" y="5383188"/>
                    <a:pt x="8673251" y="5349306"/>
                    <a:pt x="8729473" y="5314059"/>
                  </a:cubicBezTo>
                  <a:cubicBezTo>
                    <a:pt x="8743591" y="5305213"/>
                    <a:pt x="8757161" y="5296459"/>
                    <a:pt x="8770781" y="5287330"/>
                  </a:cubicBezTo>
                  <a:cubicBezTo>
                    <a:pt x="8777591" y="5282765"/>
                    <a:pt x="8784451" y="5278201"/>
                    <a:pt x="8790964" y="5273590"/>
                  </a:cubicBezTo>
                  <a:cubicBezTo>
                    <a:pt x="8797574" y="5268977"/>
                    <a:pt x="8804235" y="5264412"/>
                    <a:pt x="8810499" y="5259801"/>
                  </a:cubicBezTo>
                  <a:cubicBezTo>
                    <a:pt x="8835999" y="5241401"/>
                    <a:pt x="8860407" y="5222389"/>
                    <a:pt x="8883571" y="5202577"/>
                  </a:cubicBezTo>
                  <a:cubicBezTo>
                    <a:pt x="8929900" y="5162954"/>
                    <a:pt x="8971258" y="5120413"/>
                    <a:pt x="9006651" y="5074625"/>
                  </a:cubicBezTo>
                  <a:cubicBezTo>
                    <a:pt x="9015351" y="5063426"/>
                    <a:pt x="9024398" y="5050955"/>
                    <a:pt x="9033494" y="5038203"/>
                  </a:cubicBezTo>
                  <a:lnTo>
                    <a:pt x="9040305" y="5028649"/>
                  </a:lnTo>
                  <a:lnTo>
                    <a:pt x="9046568" y="5019379"/>
                  </a:lnTo>
                  <a:cubicBezTo>
                    <a:pt x="9050743" y="5013261"/>
                    <a:pt x="9054819" y="5007050"/>
                    <a:pt x="9058846" y="5000743"/>
                  </a:cubicBezTo>
                  <a:cubicBezTo>
                    <a:pt x="9075002" y="4975615"/>
                    <a:pt x="9090212" y="4949403"/>
                    <a:pt x="9104529" y="4922203"/>
                  </a:cubicBezTo>
                  <a:cubicBezTo>
                    <a:pt x="9133211" y="4867850"/>
                    <a:pt x="9158313" y="4809545"/>
                    <a:pt x="9181081" y="4748792"/>
                  </a:cubicBezTo>
                  <a:cubicBezTo>
                    <a:pt x="9203748" y="4688276"/>
                    <a:pt x="9223383" y="4625876"/>
                    <a:pt x="9240731" y="4561970"/>
                  </a:cubicBezTo>
                  <a:cubicBezTo>
                    <a:pt x="9249481" y="4530064"/>
                    <a:pt x="9257682" y="4497782"/>
                    <a:pt x="9265388" y="4465171"/>
                  </a:cubicBezTo>
                  <a:cubicBezTo>
                    <a:pt x="9269215" y="4448842"/>
                    <a:pt x="9272943" y="4432465"/>
                    <a:pt x="9276571" y="4416041"/>
                  </a:cubicBezTo>
                  <a:lnTo>
                    <a:pt x="9281841" y="4391477"/>
                  </a:lnTo>
                  <a:lnTo>
                    <a:pt x="9286513" y="4368936"/>
                  </a:lnTo>
                  <a:lnTo>
                    <a:pt x="9296754" y="4316136"/>
                  </a:lnTo>
                  <a:lnTo>
                    <a:pt x="9301029" y="4293172"/>
                  </a:lnTo>
                  <a:lnTo>
                    <a:pt x="9302818" y="4282679"/>
                  </a:lnTo>
                  <a:lnTo>
                    <a:pt x="9304658" y="4270914"/>
                  </a:lnTo>
                  <a:lnTo>
                    <a:pt x="9312810" y="4220043"/>
                  </a:lnTo>
                  <a:lnTo>
                    <a:pt x="9316887" y="4194584"/>
                  </a:lnTo>
                  <a:lnTo>
                    <a:pt x="9318923" y="4181878"/>
                  </a:lnTo>
                  <a:cubicBezTo>
                    <a:pt x="9319570" y="4177644"/>
                    <a:pt x="9319969" y="4173267"/>
                    <a:pt x="9320515" y="4168984"/>
                  </a:cubicBezTo>
                  <a:lnTo>
                    <a:pt x="9332445" y="4069079"/>
                  </a:lnTo>
                  <a:cubicBezTo>
                    <a:pt x="9333836" y="4056468"/>
                    <a:pt x="9334880" y="4040986"/>
                    <a:pt x="9336173" y="4022774"/>
                  </a:cubicBezTo>
                  <a:lnTo>
                    <a:pt x="9340199" y="3969269"/>
                  </a:lnTo>
                  <a:cubicBezTo>
                    <a:pt x="9345071" y="3903904"/>
                    <a:pt x="9347358" y="3837081"/>
                    <a:pt x="9347557" y="3770070"/>
                  </a:cubicBezTo>
                  <a:cubicBezTo>
                    <a:pt x="9347656" y="3736518"/>
                    <a:pt x="9347209" y="3702871"/>
                    <a:pt x="9346364" y="3669036"/>
                  </a:cubicBezTo>
                  <a:lnTo>
                    <a:pt x="9344921" y="3619341"/>
                  </a:lnTo>
                  <a:lnTo>
                    <a:pt x="9344524" y="3607624"/>
                  </a:lnTo>
                  <a:lnTo>
                    <a:pt x="9343728" y="3594872"/>
                  </a:lnTo>
                  <a:lnTo>
                    <a:pt x="9342188" y="3569366"/>
                  </a:lnTo>
                  <a:lnTo>
                    <a:pt x="9339056" y="3518354"/>
                  </a:lnTo>
                  <a:cubicBezTo>
                    <a:pt x="9337914" y="3501319"/>
                    <a:pt x="9335874" y="3484236"/>
                    <a:pt x="9334334" y="3467155"/>
                  </a:cubicBezTo>
                  <a:lnTo>
                    <a:pt x="9329363" y="3415908"/>
                  </a:lnTo>
                  <a:lnTo>
                    <a:pt x="9328319" y="3404755"/>
                  </a:lnTo>
                  <a:lnTo>
                    <a:pt x="9327177" y="3394214"/>
                  </a:lnTo>
                  <a:lnTo>
                    <a:pt x="9324293" y="3370872"/>
                  </a:lnTo>
                  <a:lnTo>
                    <a:pt x="9320763" y="3344427"/>
                  </a:lnTo>
                  <a:lnTo>
                    <a:pt x="9317184" y="3315343"/>
                  </a:lnTo>
                  <a:cubicBezTo>
                    <a:pt x="9315594" y="3300991"/>
                    <a:pt x="9313506" y="3286404"/>
                    <a:pt x="9311021" y="3270309"/>
                  </a:cubicBezTo>
                  <a:lnTo>
                    <a:pt x="9302719" y="3219815"/>
                  </a:lnTo>
                  <a:cubicBezTo>
                    <a:pt x="9299936" y="3203157"/>
                    <a:pt x="9297003" y="3186498"/>
                    <a:pt x="9293970" y="3169887"/>
                  </a:cubicBezTo>
                  <a:cubicBezTo>
                    <a:pt x="9281891" y="3103393"/>
                    <a:pt x="9267674" y="3037182"/>
                    <a:pt x="9252065" y="2971205"/>
                  </a:cubicBezTo>
                  <a:cubicBezTo>
                    <a:pt x="9244261" y="2938265"/>
                    <a:pt x="9235959" y="2905371"/>
                    <a:pt x="9227211" y="2872571"/>
                  </a:cubicBezTo>
                  <a:lnTo>
                    <a:pt x="9220699" y="2848524"/>
                  </a:lnTo>
                  <a:lnTo>
                    <a:pt x="9213740" y="2824289"/>
                  </a:lnTo>
                  <a:cubicBezTo>
                    <a:pt x="9209216" y="2808147"/>
                    <a:pt x="9204345" y="2791866"/>
                    <a:pt x="9199374" y="2775536"/>
                  </a:cubicBezTo>
                  <a:cubicBezTo>
                    <a:pt x="9159855" y="2645184"/>
                    <a:pt x="9114272" y="2516197"/>
                    <a:pt x="9061829" y="2389515"/>
                  </a:cubicBezTo>
                  <a:cubicBezTo>
                    <a:pt x="9035582" y="2326175"/>
                    <a:pt x="9008043" y="2263258"/>
                    <a:pt x="8978865" y="2200953"/>
                  </a:cubicBezTo>
                  <a:lnTo>
                    <a:pt x="8956694" y="2154317"/>
                  </a:lnTo>
                  <a:lnTo>
                    <a:pt x="8934176" y="2108012"/>
                  </a:lnTo>
                  <a:cubicBezTo>
                    <a:pt x="8918915" y="2077189"/>
                    <a:pt x="8903157" y="2046130"/>
                    <a:pt x="8887151" y="2015448"/>
                  </a:cubicBezTo>
                  <a:cubicBezTo>
                    <a:pt x="8854988" y="1953989"/>
                    <a:pt x="8822082" y="1892908"/>
                    <a:pt x="8787533" y="1832625"/>
                  </a:cubicBezTo>
                  <a:lnTo>
                    <a:pt x="8761485" y="1787496"/>
                  </a:lnTo>
                  <a:lnTo>
                    <a:pt x="8734791" y="1741991"/>
                  </a:lnTo>
                  <a:cubicBezTo>
                    <a:pt x="8717047" y="1711921"/>
                    <a:pt x="8699200" y="1682461"/>
                    <a:pt x="8680808" y="1652910"/>
                  </a:cubicBezTo>
                  <a:cubicBezTo>
                    <a:pt x="8644322" y="1593756"/>
                    <a:pt x="8606194" y="1535216"/>
                    <a:pt x="8567024" y="1477004"/>
                  </a:cubicBezTo>
                  <a:lnTo>
                    <a:pt x="8537446" y="1433428"/>
                  </a:lnTo>
                  <a:lnTo>
                    <a:pt x="8507423" y="1389994"/>
                  </a:lnTo>
                  <a:cubicBezTo>
                    <a:pt x="8487390" y="1361382"/>
                    <a:pt x="8467158" y="1332817"/>
                    <a:pt x="8446529" y="1304393"/>
                  </a:cubicBezTo>
                  <a:cubicBezTo>
                    <a:pt x="8405271" y="1247595"/>
                    <a:pt x="8362718" y="1191218"/>
                    <a:pt x="8319224" y="1135124"/>
                  </a:cubicBezTo>
                  <a:lnTo>
                    <a:pt x="8286366" y="1093148"/>
                  </a:lnTo>
                  <a:lnTo>
                    <a:pt x="8270161" y="1072538"/>
                  </a:lnTo>
                  <a:lnTo>
                    <a:pt x="8253856" y="1052254"/>
                  </a:lnTo>
                  <a:cubicBezTo>
                    <a:pt x="8231636" y="1024773"/>
                    <a:pt x="8209117" y="997479"/>
                    <a:pt x="8186352" y="970373"/>
                  </a:cubicBezTo>
                  <a:cubicBezTo>
                    <a:pt x="8140917" y="916020"/>
                    <a:pt x="8094240" y="862515"/>
                    <a:pt x="8046768" y="809527"/>
                  </a:cubicBezTo>
                  <a:lnTo>
                    <a:pt x="8010927" y="769951"/>
                  </a:lnTo>
                  <a:lnTo>
                    <a:pt x="7974788" y="730751"/>
                  </a:lnTo>
                  <a:cubicBezTo>
                    <a:pt x="7950382" y="704587"/>
                    <a:pt x="7925824" y="678563"/>
                    <a:pt x="7901070" y="652823"/>
                  </a:cubicBezTo>
                  <a:cubicBezTo>
                    <a:pt x="7851510" y="601387"/>
                    <a:pt x="7801404" y="550612"/>
                    <a:pt x="7750054" y="501106"/>
                  </a:cubicBezTo>
                  <a:cubicBezTo>
                    <a:pt x="7698902" y="451742"/>
                    <a:pt x="7645913" y="403036"/>
                    <a:pt x="7592277" y="355319"/>
                  </a:cubicBezTo>
                  <a:cubicBezTo>
                    <a:pt x="7484856" y="259884"/>
                    <a:pt x="7373308" y="168402"/>
                    <a:pt x="7257734" y="81062"/>
                  </a:cubicBezTo>
                  <a:close/>
                  <a:moveTo>
                    <a:pt x="1892109" y="0"/>
                  </a:moveTo>
                  <a:lnTo>
                    <a:pt x="2298402" y="0"/>
                  </a:lnTo>
                  <a:lnTo>
                    <a:pt x="2135542" y="121879"/>
                  </a:lnTo>
                  <a:cubicBezTo>
                    <a:pt x="2078998" y="166378"/>
                    <a:pt x="2023659" y="212143"/>
                    <a:pt x="1969576" y="259084"/>
                  </a:cubicBezTo>
                  <a:cubicBezTo>
                    <a:pt x="1861309" y="352918"/>
                    <a:pt x="1758064" y="451412"/>
                    <a:pt x="1659938" y="553953"/>
                  </a:cubicBezTo>
                  <a:cubicBezTo>
                    <a:pt x="1266987" y="964444"/>
                    <a:pt x="953820" y="1435593"/>
                    <a:pt x="729383" y="1940578"/>
                  </a:cubicBezTo>
                  <a:cubicBezTo>
                    <a:pt x="673260" y="2066459"/>
                    <a:pt x="622855" y="2195070"/>
                    <a:pt x="578465" y="2324905"/>
                  </a:cubicBezTo>
                  <a:cubicBezTo>
                    <a:pt x="534125" y="2454785"/>
                    <a:pt x="496147" y="2586314"/>
                    <a:pt x="465080" y="2718973"/>
                  </a:cubicBezTo>
                  <a:cubicBezTo>
                    <a:pt x="449769" y="2785089"/>
                    <a:pt x="435850" y="2852289"/>
                    <a:pt x="423820" y="2919535"/>
                  </a:cubicBezTo>
                  <a:cubicBezTo>
                    <a:pt x="411840" y="2986829"/>
                    <a:pt x="401054" y="3054358"/>
                    <a:pt x="392355" y="3122169"/>
                  </a:cubicBezTo>
                  <a:cubicBezTo>
                    <a:pt x="374509" y="3257744"/>
                    <a:pt x="363424" y="3393978"/>
                    <a:pt x="358801" y="3531013"/>
                  </a:cubicBezTo>
                  <a:cubicBezTo>
                    <a:pt x="349009" y="3804941"/>
                    <a:pt x="366357" y="4079668"/>
                    <a:pt x="410350" y="4352324"/>
                  </a:cubicBezTo>
                  <a:cubicBezTo>
                    <a:pt x="421286" y="4420230"/>
                    <a:pt x="434209" y="4487758"/>
                    <a:pt x="449022" y="4555147"/>
                  </a:cubicBezTo>
                  <a:cubicBezTo>
                    <a:pt x="463737" y="4622534"/>
                    <a:pt x="480389" y="4689686"/>
                    <a:pt x="498882" y="4756463"/>
                  </a:cubicBezTo>
                  <a:cubicBezTo>
                    <a:pt x="517373" y="4823239"/>
                    <a:pt x="537704" y="4889733"/>
                    <a:pt x="559775" y="4955755"/>
                  </a:cubicBezTo>
                  <a:cubicBezTo>
                    <a:pt x="581946" y="5021873"/>
                    <a:pt x="605358" y="5087473"/>
                    <a:pt x="631406" y="5152084"/>
                  </a:cubicBezTo>
                  <a:cubicBezTo>
                    <a:pt x="734055" y="5411706"/>
                    <a:pt x="865188" y="5662668"/>
                    <a:pt x="1023461" y="5898055"/>
                  </a:cubicBezTo>
                  <a:cubicBezTo>
                    <a:pt x="1181487" y="6133676"/>
                    <a:pt x="1367051" y="6353345"/>
                    <a:pt x="1575880" y="6551744"/>
                  </a:cubicBezTo>
                  <a:cubicBezTo>
                    <a:pt x="1680269" y="6651014"/>
                    <a:pt x="1790338" y="6745037"/>
                    <a:pt x="1905228" y="6833566"/>
                  </a:cubicBezTo>
                  <a:lnTo>
                    <a:pt x="1938629" y="6858000"/>
                  </a:lnTo>
                  <a:lnTo>
                    <a:pt x="1368607" y="6858000"/>
                  </a:lnTo>
                  <a:lnTo>
                    <a:pt x="1115251" y="6594103"/>
                  </a:lnTo>
                  <a:cubicBezTo>
                    <a:pt x="418530" y="5794890"/>
                    <a:pt x="0" y="4770280"/>
                    <a:pt x="0" y="3653129"/>
                  </a:cubicBezTo>
                  <a:cubicBezTo>
                    <a:pt x="0" y="2216793"/>
                    <a:pt x="691856" y="933432"/>
                    <a:pt x="1777294" y="85415"/>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solidFill>
                  <a:schemeClr val="lt1"/>
                </a:solidFill>
              </a:endParaRPr>
            </a:p>
          </p:txBody>
        </p:sp>
      </p:grpSp>
      <p:sp>
        <p:nvSpPr>
          <p:cNvPr id="2" name="Title 1">
            <a:extLst>
              <a:ext uri="{FF2B5EF4-FFF2-40B4-BE49-F238E27FC236}">
                <a16:creationId xmlns:a16="http://schemas.microsoft.com/office/drawing/2014/main" id="{7225C38A-2803-AD9A-F314-369620F37C18}"/>
              </a:ext>
            </a:extLst>
          </p:cNvPr>
          <p:cNvSpPr>
            <a:spLocks noGrp="1"/>
          </p:cNvSpPr>
          <p:nvPr>
            <p:ph type="title"/>
          </p:nvPr>
        </p:nvSpPr>
        <p:spPr>
          <a:xfrm>
            <a:off x="3502731" y="1542402"/>
            <a:ext cx="5186842" cy="2387918"/>
          </a:xfrm>
        </p:spPr>
        <p:txBody>
          <a:bodyPr vert="horz" lIns="91440" tIns="45720" rIns="91440" bIns="45720" rtlCol="0" anchor="b">
            <a:normAutofit/>
          </a:bodyPr>
          <a:lstStyle/>
          <a:p>
            <a:pPr algn="ctr"/>
            <a:r>
              <a:rPr lang="en-US" kern="1200" dirty="0">
                <a:solidFill>
                  <a:schemeClr val="tx2"/>
                </a:solidFill>
                <a:latin typeface="+mj-lt"/>
                <a:ea typeface="+mj-ea"/>
                <a:cs typeface="+mj-cs"/>
              </a:rPr>
              <a:t>What is metagenomics?</a:t>
            </a:r>
          </a:p>
        </p:txBody>
      </p:sp>
      <p:grpSp>
        <p:nvGrpSpPr>
          <p:cNvPr id="22" name="Group 21">
            <a:extLst>
              <a:ext uri="{FF2B5EF4-FFF2-40B4-BE49-F238E27FC236}">
                <a16:creationId xmlns:a16="http://schemas.microsoft.com/office/drawing/2014/main" id="{87F87F1B-42BA-4AC7-A4E2-41544DDB2CE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305" y="-4155"/>
            <a:ext cx="2514948" cy="2174333"/>
            <a:chOff x="-305" y="-4155"/>
            <a:chExt cx="2514948" cy="2174333"/>
          </a:xfrm>
        </p:grpSpPr>
        <p:sp>
          <p:nvSpPr>
            <p:cNvPr id="23" name="Freeform: Shape 22">
              <a:extLst>
                <a:ext uri="{FF2B5EF4-FFF2-40B4-BE49-F238E27FC236}">
                  <a16:creationId xmlns:a16="http://schemas.microsoft.com/office/drawing/2014/main" id="{68B53067-4E48-4E71-A6A9-A8CAABAFBF6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14948" cy="2170178"/>
            </a:xfrm>
            <a:custGeom>
              <a:avLst/>
              <a:gdLst>
                <a:gd name="connsiteX0" fmla="*/ 2466091 w 2514948"/>
                <a:gd name="connsiteY0" fmla="*/ 0 h 2170178"/>
                <a:gd name="connsiteX1" fmla="*/ 2514948 w 2514948"/>
                <a:gd name="connsiteY1" fmla="*/ 0 h 2170178"/>
                <a:gd name="connsiteX2" fmla="*/ 2512286 w 2514948"/>
                <a:gd name="connsiteY2" fmla="*/ 12375 h 2170178"/>
                <a:gd name="connsiteX3" fmla="*/ 2394961 w 2514948"/>
                <a:gd name="connsiteY3" fmla="*/ 368660 h 2170178"/>
                <a:gd name="connsiteX4" fmla="*/ 2289734 w 2514948"/>
                <a:gd name="connsiteY4" fmla="*/ 598078 h 2170178"/>
                <a:gd name="connsiteX5" fmla="*/ 2163747 w 2514948"/>
                <a:gd name="connsiteY5" fmla="*/ 819078 h 2170178"/>
                <a:gd name="connsiteX6" fmla="*/ 1852241 w 2514948"/>
                <a:gd name="connsiteY6" fmla="*/ 1228932 h 2170178"/>
                <a:gd name="connsiteX7" fmla="*/ 1668235 w 2514948"/>
                <a:gd name="connsiteY7" fmla="*/ 1413844 h 2170178"/>
                <a:gd name="connsiteX8" fmla="*/ 1619510 w 2514948"/>
                <a:gd name="connsiteY8" fmla="*/ 1457722 h 2170178"/>
                <a:gd name="connsiteX9" fmla="*/ 1569835 w 2514948"/>
                <a:gd name="connsiteY9" fmla="*/ 1500704 h 2170178"/>
                <a:gd name="connsiteX10" fmla="*/ 1467169 w 2514948"/>
                <a:gd name="connsiteY10" fmla="*/ 1583266 h 2170178"/>
                <a:gd name="connsiteX11" fmla="*/ 1018393 w 2514948"/>
                <a:gd name="connsiteY11" fmla="*/ 1867576 h 2170178"/>
                <a:gd name="connsiteX12" fmla="*/ 255857 w 2514948"/>
                <a:gd name="connsiteY12" fmla="*/ 2133049 h 2170178"/>
                <a:gd name="connsiteX13" fmla="*/ 0 w 2514948"/>
                <a:gd name="connsiteY13" fmla="*/ 2170178 h 2170178"/>
                <a:gd name="connsiteX14" fmla="*/ 0 w 2514948"/>
                <a:gd name="connsiteY14" fmla="*/ 1940056 h 2170178"/>
                <a:gd name="connsiteX15" fmla="*/ 201609 w 2514948"/>
                <a:gd name="connsiteY15" fmla="*/ 1902856 h 2170178"/>
                <a:gd name="connsiteX16" fmla="*/ 440974 w 2514948"/>
                <a:gd name="connsiteY16" fmla="*/ 1838472 h 2170178"/>
                <a:gd name="connsiteX17" fmla="*/ 674558 w 2514948"/>
                <a:gd name="connsiteY17" fmla="*/ 1756359 h 2170178"/>
                <a:gd name="connsiteX18" fmla="*/ 901222 w 2514948"/>
                <a:gd name="connsiteY18" fmla="*/ 1657142 h 2170178"/>
                <a:gd name="connsiteX19" fmla="*/ 1330943 w 2514948"/>
                <a:gd name="connsiteY19" fmla="*/ 1413396 h 2170178"/>
                <a:gd name="connsiteX20" fmla="*/ 1432566 w 2514948"/>
                <a:gd name="connsiteY20" fmla="*/ 1343193 h 2170178"/>
                <a:gd name="connsiteX21" fmla="*/ 1482527 w 2514948"/>
                <a:gd name="connsiteY21" fmla="*/ 1306926 h 2170178"/>
                <a:gd name="connsiteX22" fmla="*/ 1531821 w 2514948"/>
                <a:gd name="connsiteY22" fmla="*/ 1269765 h 2170178"/>
                <a:gd name="connsiteX23" fmla="*/ 1721986 w 2514948"/>
                <a:gd name="connsiteY23" fmla="*/ 1112073 h 2170178"/>
                <a:gd name="connsiteX24" fmla="*/ 2061460 w 2514948"/>
                <a:gd name="connsiteY24" fmla="*/ 754336 h 2170178"/>
                <a:gd name="connsiteX25" fmla="*/ 2206218 w 2514948"/>
                <a:gd name="connsiteY25" fmla="*/ 554827 h 2170178"/>
                <a:gd name="connsiteX26" fmla="*/ 2329455 w 2514948"/>
                <a:gd name="connsiteY26" fmla="*/ 341886 h 2170178"/>
                <a:gd name="connsiteX27" fmla="*/ 2356757 w 2514948"/>
                <a:gd name="connsiteY27" fmla="*/ 286815 h 2170178"/>
                <a:gd name="connsiteX28" fmla="*/ 2370030 w 2514948"/>
                <a:gd name="connsiteY28" fmla="*/ 259056 h 2170178"/>
                <a:gd name="connsiteX29" fmla="*/ 2382637 w 2514948"/>
                <a:gd name="connsiteY29" fmla="*/ 231028 h 2170178"/>
                <a:gd name="connsiteX30" fmla="*/ 2406716 w 2514948"/>
                <a:gd name="connsiteY30" fmla="*/ 174525 h 2170178"/>
                <a:gd name="connsiteX31" fmla="*/ 2429278 w 2514948"/>
                <a:gd name="connsiteY31" fmla="*/ 117393 h 2170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2514948" h="2170178">
                  <a:moveTo>
                    <a:pt x="2466091" y="0"/>
                  </a:moveTo>
                  <a:lnTo>
                    <a:pt x="2514948" y="0"/>
                  </a:lnTo>
                  <a:lnTo>
                    <a:pt x="2512286" y="12375"/>
                  </a:lnTo>
                  <a:cubicBezTo>
                    <a:pt x="2481760" y="133161"/>
                    <a:pt x="2442526" y="252239"/>
                    <a:pt x="2394961" y="368660"/>
                  </a:cubicBezTo>
                  <a:cubicBezTo>
                    <a:pt x="2363109" y="446208"/>
                    <a:pt x="2328603" y="523039"/>
                    <a:pt x="2289734" y="598078"/>
                  </a:cubicBezTo>
                  <a:cubicBezTo>
                    <a:pt x="2251436" y="673387"/>
                    <a:pt x="2209251" y="747083"/>
                    <a:pt x="2163747" y="819078"/>
                  </a:cubicBezTo>
                  <a:cubicBezTo>
                    <a:pt x="2072646" y="962979"/>
                    <a:pt x="1968652" y="1100611"/>
                    <a:pt x="1852241" y="1228932"/>
                  </a:cubicBezTo>
                  <a:cubicBezTo>
                    <a:pt x="1793748" y="1292868"/>
                    <a:pt x="1732698" y="1354923"/>
                    <a:pt x="1668235" y="1413844"/>
                  </a:cubicBezTo>
                  <a:cubicBezTo>
                    <a:pt x="1652214" y="1428709"/>
                    <a:pt x="1636100" y="1443395"/>
                    <a:pt x="1619510" y="1457722"/>
                  </a:cubicBezTo>
                  <a:cubicBezTo>
                    <a:pt x="1603015" y="1472140"/>
                    <a:pt x="1586805" y="1486825"/>
                    <a:pt x="1569835" y="1500704"/>
                  </a:cubicBezTo>
                  <a:cubicBezTo>
                    <a:pt x="1536276" y="1528911"/>
                    <a:pt x="1501865" y="1556223"/>
                    <a:pt x="1467169" y="1583266"/>
                  </a:cubicBezTo>
                  <a:cubicBezTo>
                    <a:pt x="1327719" y="1690722"/>
                    <a:pt x="1177085" y="1785910"/>
                    <a:pt x="1018393" y="1867576"/>
                  </a:cubicBezTo>
                  <a:cubicBezTo>
                    <a:pt x="780425" y="1990142"/>
                    <a:pt x="522567" y="2080875"/>
                    <a:pt x="255857" y="2133049"/>
                  </a:cubicBezTo>
                  <a:lnTo>
                    <a:pt x="0" y="2170178"/>
                  </a:lnTo>
                  <a:lnTo>
                    <a:pt x="0" y="1940056"/>
                  </a:lnTo>
                  <a:lnTo>
                    <a:pt x="201609" y="1902856"/>
                  </a:lnTo>
                  <a:cubicBezTo>
                    <a:pt x="282186" y="1884231"/>
                    <a:pt x="362102" y="1863008"/>
                    <a:pt x="440974" y="1838472"/>
                  </a:cubicBezTo>
                  <a:cubicBezTo>
                    <a:pt x="519848" y="1814027"/>
                    <a:pt x="597771" y="1786627"/>
                    <a:pt x="674558" y="1756359"/>
                  </a:cubicBezTo>
                  <a:cubicBezTo>
                    <a:pt x="751250" y="1726003"/>
                    <a:pt x="826900" y="1692870"/>
                    <a:pt x="901222" y="1657142"/>
                  </a:cubicBezTo>
                  <a:cubicBezTo>
                    <a:pt x="1049865" y="1585774"/>
                    <a:pt x="1193581" y="1504376"/>
                    <a:pt x="1330943" y="1413396"/>
                  </a:cubicBezTo>
                  <a:cubicBezTo>
                    <a:pt x="1365165" y="1390563"/>
                    <a:pt x="1399293" y="1367370"/>
                    <a:pt x="1432566" y="1343193"/>
                  </a:cubicBezTo>
                  <a:cubicBezTo>
                    <a:pt x="1449441" y="1331373"/>
                    <a:pt x="1465936" y="1319104"/>
                    <a:pt x="1482527" y="1306926"/>
                  </a:cubicBezTo>
                  <a:cubicBezTo>
                    <a:pt x="1499210" y="1294837"/>
                    <a:pt x="1515611" y="1282391"/>
                    <a:pt x="1531821" y="1269765"/>
                  </a:cubicBezTo>
                  <a:cubicBezTo>
                    <a:pt x="1596947" y="1219350"/>
                    <a:pt x="1660652" y="1167055"/>
                    <a:pt x="1721986" y="1112073"/>
                  </a:cubicBezTo>
                  <a:cubicBezTo>
                    <a:pt x="1844940" y="1002469"/>
                    <a:pt x="1958983" y="882926"/>
                    <a:pt x="2061460" y="754336"/>
                  </a:cubicBezTo>
                  <a:cubicBezTo>
                    <a:pt x="2112652" y="690042"/>
                    <a:pt x="2161094" y="623510"/>
                    <a:pt x="2206218" y="554827"/>
                  </a:cubicBezTo>
                  <a:cubicBezTo>
                    <a:pt x="2250583" y="485787"/>
                    <a:pt x="2292484" y="415046"/>
                    <a:pt x="2329455" y="341886"/>
                  </a:cubicBezTo>
                  <a:cubicBezTo>
                    <a:pt x="2339030" y="323709"/>
                    <a:pt x="2347941" y="305261"/>
                    <a:pt x="2356757" y="286815"/>
                  </a:cubicBezTo>
                  <a:lnTo>
                    <a:pt x="2370030" y="259056"/>
                  </a:lnTo>
                  <a:lnTo>
                    <a:pt x="2382637" y="231028"/>
                  </a:lnTo>
                  <a:cubicBezTo>
                    <a:pt x="2390885" y="212312"/>
                    <a:pt x="2399227" y="193598"/>
                    <a:pt x="2406716" y="174525"/>
                  </a:cubicBezTo>
                  <a:cubicBezTo>
                    <a:pt x="2414206" y="155452"/>
                    <a:pt x="2422453" y="136646"/>
                    <a:pt x="2429278" y="11739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Freeform: Shape 23">
              <a:extLst>
                <a:ext uri="{FF2B5EF4-FFF2-40B4-BE49-F238E27FC236}">
                  <a16:creationId xmlns:a16="http://schemas.microsoft.com/office/drawing/2014/main" id="{06D1A0D3-4BB8-41D9-9CE7-2884C83F448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4155"/>
              <a:ext cx="2493062" cy="1947896"/>
            </a:xfrm>
            <a:custGeom>
              <a:avLst/>
              <a:gdLst>
                <a:gd name="connsiteX0" fmla="*/ 1896911 w 2493062"/>
                <a:gd name="connsiteY0" fmla="*/ 0 h 1947896"/>
                <a:gd name="connsiteX1" fmla="*/ 2493062 w 2493062"/>
                <a:gd name="connsiteY1" fmla="*/ 0 h 1947896"/>
                <a:gd name="connsiteX2" fmla="*/ 2435315 w 2493062"/>
                <a:gd name="connsiteY2" fmla="*/ 178165 h 1947896"/>
                <a:gd name="connsiteX3" fmla="*/ 93066 w 2493062"/>
                <a:gd name="connsiteY3" fmla="*/ 1935859 h 1947896"/>
                <a:gd name="connsiteX4" fmla="*/ 0 w 2493062"/>
                <a:gd name="connsiteY4" fmla="*/ 1947896 h 1947896"/>
                <a:gd name="connsiteX5" fmla="*/ 0 w 2493062"/>
                <a:gd name="connsiteY5" fmla="*/ 1404756 h 1947896"/>
                <a:gd name="connsiteX6" fmla="*/ 17392 w 2493062"/>
                <a:gd name="connsiteY6" fmla="*/ 1402364 h 1947896"/>
                <a:gd name="connsiteX7" fmla="*/ 464249 w 2493062"/>
                <a:gd name="connsiteY7" fmla="*/ 1281208 h 1947896"/>
                <a:gd name="connsiteX8" fmla="*/ 1260556 w 2493062"/>
                <a:gd name="connsiteY8" fmla="*/ 833835 h 1947896"/>
                <a:gd name="connsiteX9" fmla="*/ 1807924 w 2493062"/>
                <a:gd name="connsiteY9" fmla="*/ 193222 h 1947896"/>
                <a:gd name="connsiteX10" fmla="*/ 1874357 w 2493062"/>
                <a:gd name="connsiteY10" fmla="*/ 58333 h 1947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3062" h="1947896">
                  <a:moveTo>
                    <a:pt x="1896911" y="0"/>
                  </a:moveTo>
                  <a:lnTo>
                    <a:pt x="2493062" y="0"/>
                  </a:lnTo>
                  <a:lnTo>
                    <a:pt x="2435315" y="178165"/>
                  </a:lnTo>
                  <a:cubicBezTo>
                    <a:pt x="2088122" y="1071812"/>
                    <a:pt x="1129732" y="1758033"/>
                    <a:pt x="93066" y="1935859"/>
                  </a:cubicBezTo>
                  <a:lnTo>
                    <a:pt x="0" y="1947896"/>
                  </a:lnTo>
                  <a:lnTo>
                    <a:pt x="0" y="1404756"/>
                  </a:lnTo>
                  <a:lnTo>
                    <a:pt x="17392" y="1402364"/>
                  </a:lnTo>
                  <a:cubicBezTo>
                    <a:pt x="167719" y="1375030"/>
                    <a:pt x="318070" y="1334398"/>
                    <a:pt x="464249" y="1281208"/>
                  </a:cubicBezTo>
                  <a:cubicBezTo>
                    <a:pt x="753480" y="1176081"/>
                    <a:pt x="1028869" y="1021346"/>
                    <a:pt x="1260556" y="833835"/>
                  </a:cubicBezTo>
                  <a:cubicBezTo>
                    <a:pt x="1491960" y="646594"/>
                    <a:pt x="1681177" y="425056"/>
                    <a:pt x="1807924" y="193222"/>
                  </a:cubicBezTo>
                  <a:cubicBezTo>
                    <a:pt x="1832328" y="148578"/>
                    <a:pt x="1854477" y="103599"/>
                    <a:pt x="1874357" y="5833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Freeform: Shape 24">
              <a:extLst>
                <a:ext uri="{FF2B5EF4-FFF2-40B4-BE49-F238E27FC236}">
                  <a16:creationId xmlns:a16="http://schemas.microsoft.com/office/drawing/2014/main" id="{81E20F06-3B09-4B89-A36B-AB8BFBCCA5D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01089" cy="1972702"/>
            </a:xfrm>
            <a:custGeom>
              <a:avLst/>
              <a:gdLst>
                <a:gd name="connsiteX0" fmla="*/ 2318728 w 2501089"/>
                <a:gd name="connsiteY0" fmla="*/ 0 h 1972702"/>
                <a:gd name="connsiteX1" fmla="*/ 2501089 w 2501089"/>
                <a:gd name="connsiteY1" fmla="*/ 0 h 1972702"/>
                <a:gd name="connsiteX2" fmla="*/ 2453909 w 2501089"/>
                <a:gd name="connsiteY2" fmla="*/ 167837 h 1972702"/>
                <a:gd name="connsiteX3" fmla="*/ 2361125 w 2501089"/>
                <a:gd name="connsiteY3" fmla="*/ 392084 h 1972702"/>
                <a:gd name="connsiteX4" fmla="*/ 1768255 w 2501089"/>
                <a:gd name="connsiteY4" fmla="*/ 1167644 h 1972702"/>
                <a:gd name="connsiteX5" fmla="*/ 1375125 w 2501089"/>
                <a:gd name="connsiteY5" fmla="*/ 1471474 h 1972702"/>
                <a:gd name="connsiteX6" fmla="*/ 935735 w 2501089"/>
                <a:gd name="connsiteY6" fmla="*/ 1712713 h 1972702"/>
                <a:gd name="connsiteX7" fmla="*/ 212353 w 2501089"/>
                <a:gd name="connsiteY7" fmla="*/ 1940294 h 1972702"/>
                <a:gd name="connsiteX8" fmla="*/ 0 w 2501089"/>
                <a:gd name="connsiteY8" fmla="*/ 1972702 h 1972702"/>
                <a:gd name="connsiteX9" fmla="*/ 0 w 2501089"/>
                <a:gd name="connsiteY9" fmla="*/ 1732181 h 1972702"/>
                <a:gd name="connsiteX10" fmla="*/ 161195 w 2501089"/>
                <a:gd name="connsiteY10" fmla="*/ 1706590 h 1972702"/>
                <a:gd name="connsiteX11" fmla="*/ 388463 w 2501089"/>
                <a:gd name="connsiteY11" fmla="*/ 1652268 h 1972702"/>
                <a:gd name="connsiteX12" fmla="*/ 826716 w 2501089"/>
                <a:gd name="connsiteY12" fmla="*/ 1493950 h 1972702"/>
                <a:gd name="connsiteX13" fmla="*/ 1609847 w 2501089"/>
                <a:gd name="connsiteY13" fmla="*/ 1007535 h 1972702"/>
                <a:gd name="connsiteX14" fmla="*/ 1929982 w 2501089"/>
                <a:gd name="connsiteY14" fmla="*/ 682930 h 1972702"/>
                <a:gd name="connsiteX15" fmla="*/ 2183093 w 2501089"/>
                <a:gd name="connsiteY15" fmla="*/ 310149 h 1972702"/>
                <a:gd name="connsiteX16" fmla="*/ 2280286 w 2501089"/>
                <a:gd name="connsiteY16" fmla="*/ 108435 h 19727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01089" h="1972702">
                  <a:moveTo>
                    <a:pt x="2318728" y="0"/>
                  </a:moveTo>
                  <a:lnTo>
                    <a:pt x="2501089" y="0"/>
                  </a:lnTo>
                  <a:lnTo>
                    <a:pt x="2453909" y="167837"/>
                  </a:lnTo>
                  <a:cubicBezTo>
                    <a:pt x="2427555" y="244153"/>
                    <a:pt x="2396627" y="319103"/>
                    <a:pt x="2361125" y="392084"/>
                  </a:cubicBezTo>
                  <a:cubicBezTo>
                    <a:pt x="2218453" y="684005"/>
                    <a:pt x="2011698" y="945211"/>
                    <a:pt x="1768255" y="1167644"/>
                  </a:cubicBezTo>
                  <a:cubicBezTo>
                    <a:pt x="1646250" y="1278860"/>
                    <a:pt x="1514385" y="1380316"/>
                    <a:pt x="1375125" y="1471474"/>
                  </a:cubicBezTo>
                  <a:cubicBezTo>
                    <a:pt x="1235677" y="1562542"/>
                    <a:pt x="1088928" y="1643672"/>
                    <a:pt x="935735" y="1712713"/>
                  </a:cubicBezTo>
                  <a:cubicBezTo>
                    <a:pt x="705659" y="1815533"/>
                    <a:pt x="462359" y="1892212"/>
                    <a:pt x="212353" y="1940294"/>
                  </a:cubicBezTo>
                  <a:lnTo>
                    <a:pt x="0" y="1972702"/>
                  </a:lnTo>
                  <a:lnTo>
                    <a:pt x="0" y="1732181"/>
                  </a:lnTo>
                  <a:lnTo>
                    <a:pt x="161195" y="1706590"/>
                  </a:lnTo>
                  <a:cubicBezTo>
                    <a:pt x="237638" y="1691378"/>
                    <a:pt x="313477" y="1673222"/>
                    <a:pt x="388463" y="1652268"/>
                  </a:cubicBezTo>
                  <a:cubicBezTo>
                    <a:pt x="538529" y="1610539"/>
                    <a:pt x="684898" y="1556543"/>
                    <a:pt x="826716" y="1493950"/>
                  </a:cubicBezTo>
                  <a:cubicBezTo>
                    <a:pt x="1111207" y="1370107"/>
                    <a:pt x="1376832" y="1205881"/>
                    <a:pt x="1609847" y="1007535"/>
                  </a:cubicBezTo>
                  <a:cubicBezTo>
                    <a:pt x="1725975" y="908049"/>
                    <a:pt x="1833571" y="799519"/>
                    <a:pt x="1929982" y="682930"/>
                  </a:cubicBezTo>
                  <a:cubicBezTo>
                    <a:pt x="2026581" y="566520"/>
                    <a:pt x="2111806" y="441692"/>
                    <a:pt x="2183093" y="310149"/>
                  </a:cubicBezTo>
                  <a:cubicBezTo>
                    <a:pt x="2218738" y="244422"/>
                    <a:pt x="2251396" y="177150"/>
                    <a:pt x="2280286" y="10843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800"/>
            </a:p>
          </p:txBody>
        </p:sp>
        <p:sp>
          <p:nvSpPr>
            <p:cNvPr id="26" name="Freeform: Shape 25">
              <a:extLst>
                <a:ext uri="{FF2B5EF4-FFF2-40B4-BE49-F238E27FC236}">
                  <a16:creationId xmlns:a16="http://schemas.microsoft.com/office/drawing/2014/main" id="{DAE6C3D7-7D5B-4926-877D-45F117BB6BF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2491105" cy="1943661"/>
            </a:xfrm>
            <a:custGeom>
              <a:avLst/>
              <a:gdLst>
                <a:gd name="connsiteX0" fmla="*/ 1995408 w 2491105"/>
                <a:gd name="connsiteY0" fmla="*/ 0 h 1943661"/>
                <a:gd name="connsiteX1" fmla="*/ 2491105 w 2491105"/>
                <a:gd name="connsiteY1" fmla="*/ 0 h 1943661"/>
                <a:gd name="connsiteX2" fmla="*/ 2434705 w 2491105"/>
                <a:gd name="connsiteY2" fmla="*/ 174009 h 1943661"/>
                <a:gd name="connsiteX3" fmla="*/ 92457 w 2491105"/>
                <a:gd name="connsiteY3" fmla="*/ 1931703 h 1943661"/>
                <a:gd name="connsiteX4" fmla="*/ 0 w 2491105"/>
                <a:gd name="connsiteY4" fmla="*/ 1943661 h 1943661"/>
                <a:gd name="connsiteX5" fmla="*/ 0 w 2491105"/>
                <a:gd name="connsiteY5" fmla="*/ 1491489 h 1943661"/>
                <a:gd name="connsiteX6" fmla="*/ 34107 w 2491105"/>
                <a:gd name="connsiteY6" fmla="*/ 1486836 h 1943661"/>
                <a:gd name="connsiteX7" fmla="*/ 497577 w 2491105"/>
                <a:gd name="connsiteY7" fmla="*/ 1360598 h 1943661"/>
                <a:gd name="connsiteX8" fmla="*/ 1321566 w 2491105"/>
                <a:gd name="connsiteY8" fmla="*/ 897645 h 1943661"/>
                <a:gd name="connsiteX9" fmla="*/ 1891495 w 2491105"/>
                <a:gd name="connsiteY9" fmla="*/ 230078 h 1943661"/>
                <a:gd name="connsiteX10" fmla="*/ 1961469 w 2491105"/>
                <a:gd name="connsiteY10" fmla="*/ 87885 h 1943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1105" h="1943661">
                  <a:moveTo>
                    <a:pt x="1995408" y="0"/>
                  </a:moveTo>
                  <a:lnTo>
                    <a:pt x="2491105" y="0"/>
                  </a:lnTo>
                  <a:lnTo>
                    <a:pt x="2434705" y="174009"/>
                  </a:lnTo>
                  <a:cubicBezTo>
                    <a:pt x="2087512" y="1067655"/>
                    <a:pt x="1129122" y="1753877"/>
                    <a:pt x="92457" y="1931703"/>
                  </a:cubicBezTo>
                  <a:lnTo>
                    <a:pt x="0" y="1943661"/>
                  </a:lnTo>
                  <a:lnTo>
                    <a:pt x="0" y="1491489"/>
                  </a:lnTo>
                  <a:lnTo>
                    <a:pt x="34107" y="1486836"/>
                  </a:lnTo>
                  <a:cubicBezTo>
                    <a:pt x="189055" y="1458696"/>
                    <a:pt x="343908" y="1416565"/>
                    <a:pt x="497577" y="1360598"/>
                  </a:cubicBezTo>
                  <a:cubicBezTo>
                    <a:pt x="796856" y="1251889"/>
                    <a:pt x="1081725" y="1091781"/>
                    <a:pt x="1321566" y="897645"/>
                  </a:cubicBezTo>
                  <a:cubicBezTo>
                    <a:pt x="1565577" y="700195"/>
                    <a:pt x="1757355" y="475523"/>
                    <a:pt x="1891495" y="230078"/>
                  </a:cubicBezTo>
                  <a:cubicBezTo>
                    <a:pt x="1917197" y="183033"/>
                    <a:pt x="1940526" y="135619"/>
                    <a:pt x="1961469" y="8788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grpSp>
        <p:nvGrpSpPr>
          <p:cNvPr id="28" name="Group 27">
            <a:extLst>
              <a:ext uri="{FF2B5EF4-FFF2-40B4-BE49-F238E27FC236}">
                <a16:creationId xmlns:a16="http://schemas.microsoft.com/office/drawing/2014/main" id="{967346A5-7569-4F15-AB5D-BE3DADF192C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10800000">
            <a:off x="9685727" y="4683666"/>
            <a:ext cx="2514948" cy="2174333"/>
            <a:chOff x="-305" y="-4155"/>
            <a:chExt cx="2514948" cy="2174333"/>
          </a:xfrm>
        </p:grpSpPr>
        <p:sp>
          <p:nvSpPr>
            <p:cNvPr id="29" name="Freeform: Shape 28">
              <a:extLst>
                <a:ext uri="{FF2B5EF4-FFF2-40B4-BE49-F238E27FC236}">
                  <a16:creationId xmlns:a16="http://schemas.microsoft.com/office/drawing/2014/main" id="{E1951533-A568-4765-AB1F-F71D9AFDEA9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14948" cy="2170178"/>
            </a:xfrm>
            <a:custGeom>
              <a:avLst/>
              <a:gdLst>
                <a:gd name="connsiteX0" fmla="*/ 2466091 w 2514948"/>
                <a:gd name="connsiteY0" fmla="*/ 0 h 2170178"/>
                <a:gd name="connsiteX1" fmla="*/ 2514948 w 2514948"/>
                <a:gd name="connsiteY1" fmla="*/ 0 h 2170178"/>
                <a:gd name="connsiteX2" fmla="*/ 2512286 w 2514948"/>
                <a:gd name="connsiteY2" fmla="*/ 12375 h 2170178"/>
                <a:gd name="connsiteX3" fmla="*/ 2394961 w 2514948"/>
                <a:gd name="connsiteY3" fmla="*/ 368660 h 2170178"/>
                <a:gd name="connsiteX4" fmla="*/ 2289734 w 2514948"/>
                <a:gd name="connsiteY4" fmla="*/ 598078 h 2170178"/>
                <a:gd name="connsiteX5" fmla="*/ 2163747 w 2514948"/>
                <a:gd name="connsiteY5" fmla="*/ 819078 h 2170178"/>
                <a:gd name="connsiteX6" fmla="*/ 1852241 w 2514948"/>
                <a:gd name="connsiteY6" fmla="*/ 1228932 h 2170178"/>
                <a:gd name="connsiteX7" fmla="*/ 1668235 w 2514948"/>
                <a:gd name="connsiteY7" fmla="*/ 1413844 h 2170178"/>
                <a:gd name="connsiteX8" fmla="*/ 1619510 w 2514948"/>
                <a:gd name="connsiteY8" fmla="*/ 1457722 h 2170178"/>
                <a:gd name="connsiteX9" fmla="*/ 1569835 w 2514948"/>
                <a:gd name="connsiteY9" fmla="*/ 1500704 h 2170178"/>
                <a:gd name="connsiteX10" fmla="*/ 1467169 w 2514948"/>
                <a:gd name="connsiteY10" fmla="*/ 1583266 h 2170178"/>
                <a:gd name="connsiteX11" fmla="*/ 1018393 w 2514948"/>
                <a:gd name="connsiteY11" fmla="*/ 1867576 h 2170178"/>
                <a:gd name="connsiteX12" fmla="*/ 255857 w 2514948"/>
                <a:gd name="connsiteY12" fmla="*/ 2133049 h 2170178"/>
                <a:gd name="connsiteX13" fmla="*/ 0 w 2514948"/>
                <a:gd name="connsiteY13" fmla="*/ 2170178 h 2170178"/>
                <a:gd name="connsiteX14" fmla="*/ 0 w 2514948"/>
                <a:gd name="connsiteY14" fmla="*/ 1940056 h 2170178"/>
                <a:gd name="connsiteX15" fmla="*/ 201609 w 2514948"/>
                <a:gd name="connsiteY15" fmla="*/ 1902856 h 2170178"/>
                <a:gd name="connsiteX16" fmla="*/ 440974 w 2514948"/>
                <a:gd name="connsiteY16" fmla="*/ 1838472 h 2170178"/>
                <a:gd name="connsiteX17" fmla="*/ 674558 w 2514948"/>
                <a:gd name="connsiteY17" fmla="*/ 1756359 h 2170178"/>
                <a:gd name="connsiteX18" fmla="*/ 901222 w 2514948"/>
                <a:gd name="connsiteY18" fmla="*/ 1657142 h 2170178"/>
                <a:gd name="connsiteX19" fmla="*/ 1330943 w 2514948"/>
                <a:gd name="connsiteY19" fmla="*/ 1413396 h 2170178"/>
                <a:gd name="connsiteX20" fmla="*/ 1432566 w 2514948"/>
                <a:gd name="connsiteY20" fmla="*/ 1343193 h 2170178"/>
                <a:gd name="connsiteX21" fmla="*/ 1482527 w 2514948"/>
                <a:gd name="connsiteY21" fmla="*/ 1306926 h 2170178"/>
                <a:gd name="connsiteX22" fmla="*/ 1531821 w 2514948"/>
                <a:gd name="connsiteY22" fmla="*/ 1269765 h 2170178"/>
                <a:gd name="connsiteX23" fmla="*/ 1721986 w 2514948"/>
                <a:gd name="connsiteY23" fmla="*/ 1112073 h 2170178"/>
                <a:gd name="connsiteX24" fmla="*/ 2061460 w 2514948"/>
                <a:gd name="connsiteY24" fmla="*/ 754336 h 2170178"/>
                <a:gd name="connsiteX25" fmla="*/ 2206218 w 2514948"/>
                <a:gd name="connsiteY25" fmla="*/ 554827 h 2170178"/>
                <a:gd name="connsiteX26" fmla="*/ 2329455 w 2514948"/>
                <a:gd name="connsiteY26" fmla="*/ 341886 h 2170178"/>
                <a:gd name="connsiteX27" fmla="*/ 2356757 w 2514948"/>
                <a:gd name="connsiteY27" fmla="*/ 286815 h 2170178"/>
                <a:gd name="connsiteX28" fmla="*/ 2370030 w 2514948"/>
                <a:gd name="connsiteY28" fmla="*/ 259056 h 2170178"/>
                <a:gd name="connsiteX29" fmla="*/ 2382637 w 2514948"/>
                <a:gd name="connsiteY29" fmla="*/ 231028 h 2170178"/>
                <a:gd name="connsiteX30" fmla="*/ 2406716 w 2514948"/>
                <a:gd name="connsiteY30" fmla="*/ 174525 h 2170178"/>
                <a:gd name="connsiteX31" fmla="*/ 2429278 w 2514948"/>
                <a:gd name="connsiteY31" fmla="*/ 117393 h 2170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2514948" h="2170178">
                  <a:moveTo>
                    <a:pt x="2466091" y="0"/>
                  </a:moveTo>
                  <a:lnTo>
                    <a:pt x="2514948" y="0"/>
                  </a:lnTo>
                  <a:lnTo>
                    <a:pt x="2512286" y="12375"/>
                  </a:lnTo>
                  <a:cubicBezTo>
                    <a:pt x="2481760" y="133161"/>
                    <a:pt x="2442526" y="252239"/>
                    <a:pt x="2394961" y="368660"/>
                  </a:cubicBezTo>
                  <a:cubicBezTo>
                    <a:pt x="2363109" y="446208"/>
                    <a:pt x="2328603" y="523039"/>
                    <a:pt x="2289734" y="598078"/>
                  </a:cubicBezTo>
                  <a:cubicBezTo>
                    <a:pt x="2251436" y="673387"/>
                    <a:pt x="2209251" y="747083"/>
                    <a:pt x="2163747" y="819078"/>
                  </a:cubicBezTo>
                  <a:cubicBezTo>
                    <a:pt x="2072646" y="962979"/>
                    <a:pt x="1968652" y="1100611"/>
                    <a:pt x="1852241" y="1228932"/>
                  </a:cubicBezTo>
                  <a:cubicBezTo>
                    <a:pt x="1793748" y="1292868"/>
                    <a:pt x="1732698" y="1354923"/>
                    <a:pt x="1668235" y="1413844"/>
                  </a:cubicBezTo>
                  <a:cubicBezTo>
                    <a:pt x="1652214" y="1428709"/>
                    <a:pt x="1636100" y="1443395"/>
                    <a:pt x="1619510" y="1457722"/>
                  </a:cubicBezTo>
                  <a:cubicBezTo>
                    <a:pt x="1603015" y="1472140"/>
                    <a:pt x="1586805" y="1486825"/>
                    <a:pt x="1569835" y="1500704"/>
                  </a:cubicBezTo>
                  <a:cubicBezTo>
                    <a:pt x="1536276" y="1528911"/>
                    <a:pt x="1501865" y="1556223"/>
                    <a:pt x="1467169" y="1583266"/>
                  </a:cubicBezTo>
                  <a:cubicBezTo>
                    <a:pt x="1327719" y="1690722"/>
                    <a:pt x="1177085" y="1785910"/>
                    <a:pt x="1018393" y="1867576"/>
                  </a:cubicBezTo>
                  <a:cubicBezTo>
                    <a:pt x="780425" y="1990142"/>
                    <a:pt x="522567" y="2080875"/>
                    <a:pt x="255857" y="2133049"/>
                  </a:cubicBezTo>
                  <a:lnTo>
                    <a:pt x="0" y="2170178"/>
                  </a:lnTo>
                  <a:lnTo>
                    <a:pt x="0" y="1940056"/>
                  </a:lnTo>
                  <a:lnTo>
                    <a:pt x="201609" y="1902856"/>
                  </a:lnTo>
                  <a:cubicBezTo>
                    <a:pt x="282186" y="1884231"/>
                    <a:pt x="362102" y="1863008"/>
                    <a:pt x="440974" y="1838472"/>
                  </a:cubicBezTo>
                  <a:cubicBezTo>
                    <a:pt x="519848" y="1814027"/>
                    <a:pt x="597771" y="1786627"/>
                    <a:pt x="674558" y="1756359"/>
                  </a:cubicBezTo>
                  <a:cubicBezTo>
                    <a:pt x="751250" y="1726003"/>
                    <a:pt x="826900" y="1692870"/>
                    <a:pt x="901222" y="1657142"/>
                  </a:cubicBezTo>
                  <a:cubicBezTo>
                    <a:pt x="1049865" y="1585774"/>
                    <a:pt x="1193581" y="1504376"/>
                    <a:pt x="1330943" y="1413396"/>
                  </a:cubicBezTo>
                  <a:cubicBezTo>
                    <a:pt x="1365165" y="1390563"/>
                    <a:pt x="1399293" y="1367370"/>
                    <a:pt x="1432566" y="1343193"/>
                  </a:cubicBezTo>
                  <a:cubicBezTo>
                    <a:pt x="1449441" y="1331373"/>
                    <a:pt x="1465936" y="1319104"/>
                    <a:pt x="1482527" y="1306926"/>
                  </a:cubicBezTo>
                  <a:cubicBezTo>
                    <a:pt x="1499210" y="1294837"/>
                    <a:pt x="1515611" y="1282391"/>
                    <a:pt x="1531821" y="1269765"/>
                  </a:cubicBezTo>
                  <a:cubicBezTo>
                    <a:pt x="1596947" y="1219350"/>
                    <a:pt x="1660652" y="1167055"/>
                    <a:pt x="1721986" y="1112073"/>
                  </a:cubicBezTo>
                  <a:cubicBezTo>
                    <a:pt x="1844940" y="1002469"/>
                    <a:pt x="1958983" y="882926"/>
                    <a:pt x="2061460" y="754336"/>
                  </a:cubicBezTo>
                  <a:cubicBezTo>
                    <a:pt x="2112652" y="690042"/>
                    <a:pt x="2161094" y="623510"/>
                    <a:pt x="2206218" y="554827"/>
                  </a:cubicBezTo>
                  <a:cubicBezTo>
                    <a:pt x="2250583" y="485787"/>
                    <a:pt x="2292484" y="415046"/>
                    <a:pt x="2329455" y="341886"/>
                  </a:cubicBezTo>
                  <a:cubicBezTo>
                    <a:pt x="2339030" y="323709"/>
                    <a:pt x="2347941" y="305261"/>
                    <a:pt x="2356757" y="286815"/>
                  </a:cubicBezTo>
                  <a:lnTo>
                    <a:pt x="2370030" y="259056"/>
                  </a:lnTo>
                  <a:lnTo>
                    <a:pt x="2382637" y="231028"/>
                  </a:lnTo>
                  <a:cubicBezTo>
                    <a:pt x="2390885" y="212312"/>
                    <a:pt x="2399227" y="193598"/>
                    <a:pt x="2406716" y="174525"/>
                  </a:cubicBezTo>
                  <a:cubicBezTo>
                    <a:pt x="2414206" y="155452"/>
                    <a:pt x="2422453" y="136646"/>
                    <a:pt x="2429278" y="11739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Freeform: Shape 29">
              <a:extLst>
                <a:ext uri="{FF2B5EF4-FFF2-40B4-BE49-F238E27FC236}">
                  <a16:creationId xmlns:a16="http://schemas.microsoft.com/office/drawing/2014/main" id="{A7214F52-4F3F-4C96-A62E-F1401D6C04F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4155"/>
              <a:ext cx="2493062" cy="1947896"/>
            </a:xfrm>
            <a:custGeom>
              <a:avLst/>
              <a:gdLst>
                <a:gd name="connsiteX0" fmla="*/ 1896911 w 2493062"/>
                <a:gd name="connsiteY0" fmla="*/ 0 h 1947896"/>
                <a:gd name="connsiteX1" fmla="*/ 2493062 w 2493062"/>
                <a:gd name="connsiteY1" fmla="*/ 0 h 1947896"/>
                <a:gd name="connsiteX2" fmla="*/ 2435315 w 2493062"/>
                <a:gd name="connsiteY2" fmla="*/ 178165 h 1947896"/>
                <a:gd name="connsiteX3" fmla="*/ 93066 w 2493062"/>
                <a:gd name="connsiteY3" fmla="*/ 1935859 h 1947896"/>
                <a:gd name="connsiteX4" fmla="*/ 0 w 2493062"/>
                <a:gd name="connsiteY4" fmla="*/ 1947896 h 1947896"/>
                <a:gd name="connsiteX5" fmla="*/ 0 w 2493062"/>
                <a:gd name="connsiteY5" fmla="*/ 1404756 h 1947896"/>
                <a:gd name="connsiteX6" fmla="*/ 17392 w 2493062"/>
                <a:gd name="connsiteY6" fmla="*/ 1402364 h 1947896"/>
                <a:gd name="connsiteX7" fmla="*/ 464249 w 2493062"/>
                <a:gd name="connsiteY7" fmla="*/ 1281208 h 1947896"/>
                <a:gd name="connsiteX8" fmla="*/ 1260556 w 2493062"/>
                <a:gd name="connsiteY8" fmla="*/ 833835 h 1947896"/>
                <a:gd name="connsiteX9" fmla="*/ 1807924 w 2493062"/>
                <a:gd name="connsiteY9" fmla="*/ 193222 h 1947896"/>
                <a:gd name="connsiteX10" fmla="*/ 1874357 w 2493062"/>
                <a:gd name="connsiteY10" fmla="*/ 58333 h 1947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3062" h="1947896">
                  <a:moveTo>
                    <a:pt x="1896911" y="0"/>
                  </a:moveTo>
                  <a:lnTo>
                    <a:pt x="2493062" y="0"/>
                  </a:lnTo>
                  <a:lnTo>
                    <a:pt x="2435315" y="178165"/>
                  </a:lnTo>
                  <a:cubicBezTo>
                    <a:pt x="2088122" y="1071812"/>
                    <a:pt x="1129732" y="1758033"/>
                    <a:pt x="93066" y="1935859"/>
                  </a:cubicBezTo>
                  <a:lnTo>
                    <a:pt x="0" y="1947896"/>
                  </a:lnTo>
                  <a:lnTo>
                    <a:pt x="0" y="1404756"/>
                  </a:lnTo>
                  <a:lnTo>
                    <a:pt x="17392" y="1402364"/>
                  </a:lnTo>
                  <a:cubicBezTo>
                    <a:pt x="167719" y="1375030"/>
                    <a:pt x="318070" y="1334398"/>
                    <a:pt x="464249" y="1281208"/>
                  </a:cubicBezTo>
                  <a:cubicBezTo>
                    <a:pt x="753480" y="1176081"/>
                    <a:pt x="1028869" y="1021346"/>
                    <a:pt x="1260556" y="833835"/>
                  </a:cubicBezTo>
                  <a:cubicBezTo>
                    <a:pt x="1491960" y="646594"/>
                    <a:pt x="1681177" y="425056"/>
                    <a:pt x="1807924" y="193222"/>
                  </a:cubicBezTo>
                  <a:cubicBezTo>
                    <a:pt x="1832328" y="148578"/>
                    <a:pt x="1854477" y="103599"/>
                    <a:pt x="1874357" y="5833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Freeform: Shape 30">
              <a:extLst>
                <a:ext uri="{FF2B5EF4-FFF2-40B4-BE49-F238E27FC236}">
                  <a16:creationId xmlns:a16="http://schemas.microsoft.com/office/drawing/2014/main" id="{023146A1-291C-4FA0-AB5B-EB04D423981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01089" cy="1972702"/>
            </a:xfrm>
            <a:custGeom>
              <a:avLst/>
              <a:gdLst>
                <a:gd name="connsiteX0" fmla="*/ 2318728 w 2501089"/>
                <a:gd name="connsiteY0" fmla="*/ 0 h 1972702"/>
                <a:gd name="connsiteX1" fmla="*/ 2501089 w 2501089"/>
                <a:gd name="connsiteY1" fmla="*/ 0 h 1972702"/>
                <a:gd name="connsiteX2" fmla="*/ 2453909 w 2501089"/>
                <a:gd name="connsiteY2" fmla="*/ 167837 h 1972702"/>
                <a:gd name="connsiteX3" fmla="*/ 2361125 w 2501089"/>
                <a:gd name="connsiteY3" fmla="*/ 392084 h 1972702"/>
                <a:gd name="connsiteX4" fmla="*/ 1768255 w 2501089"/>
                <a:gd name="connsiteY4" fmla="*/ 1167644 h 1972702"/>
                <a:gd name="connsiteX5" fmla="*/ 1375125 w 2501089"/>
                <a:gd name="connsiteY5" fmla="*/ 1471474 h 1972702"/>
                <a:gd name="connsiteX6" fmla="*/ 935735 w 2501089"/>
                <a:gd name="connsiteY6" fmla="*/ 1712713 h 1972702"/>
                <a:gd name="connsiteX7" fmla="*/ 212353 w 2501089"/>
                <a:gd name="connsiteY7" fmla="*/ 1940294 h 1972702"/>
                <a:gd name="connsiteX8" fmla="*/ 0 w 2501089"/>
                <a:gd name="connsiteY8" fmla="*/ 1972702 h 1972702"/>
                <a:gd name="connsiteX9" fmla="*/ 0 w 2501089"/>
                <a:gd name="connsiteY9" fmla="*/ 1732181 h 1972702"/>
                <a:gd name="connsiteX10" fmla="*/ 161195 w 2501089"/>
                <a:gd name="connsiteY10" fmla="*/ 1706590 h 1972702"/>
                <a:gd name="connsiteX11" fmla="*/ 388463 w 2501089"/>
                <a:gd name="connsiteY11" fmla="*/ 1652268 h 1972702"/>
                <a:gd name="connsiteX12" fmla="*/ 826716 w 2501089"/>
                <a:gd name="connsiteY12" fmla="*/ 1493950 h 1972702"/>
                <a:gd name="connsiteX13" fmla="*/ 1609847 w 2501089"/>
                <a:gd name="connsiteY13" fmla="*/ 1007535 h 1972702"/>
                <a:gd name="connsiteX14" fmla="*/ 1929982 w 2501089"/>
                <a:gd name="connsiteY14" fmla="*/ 682930 h 1972702"/>
                <a:gd name="connsiteX15" fmla="*/ 2183093 w 2501089"/>
                <a:gd name="connsiteY15" fmla="*/ 310149 h 1972702"/>
                <a:gd name="connsiteX16" fmla="*/ 2280286 w 2501089"/>
                <a:gd name="connsiteY16" fmla="*/ 108435 h 19727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01089" h="1972702">
                  <a:moveTo>
                    <a:pt x="2318728" y="0"/>
                  </a:moveTo>
                  <a:lnTo>
                    <a:pt x="2501089" y="0"/>
                  </a:lnTo>
                  <a:lnTo>
                    <a:pt x="2453909" y="167837"/>
                  </a:lnTo>
                  <a:cubicBezTo>
                    <a:pt x="2427555" y="244153"/>
                    <a:pt x="2396627" y="319103"/>
                    <a:pt x="2361125" y="392084"/>
                  </a:cubicBezTo>
                  <a:cubicBezTo>
                    <a:pt x="2218453" y="684005"/>
                    <a:pt x="2011698" y="945211"/>
                    <a:pt x="1768255" y="1167644"/>
                  </a:cubicBezTo>
                  <a:cubicBezTo>
                    <a:pt x="1646250" y="1278860"/>
                    <a:pt x="1514385" y="1380316"/>
                    <a:pt x="1375125" y="1471474"/>
                  </a:cubicBezTo>
                  <a:cubicBezTo>
                    <a:pt x="1235677" y="1562542"/>
                    <a:pt x="1088928" y="1643672"/>
                    <a:pt x="935735" y="1712713"/>
                  </a:cubicBezTo>
                  <a:cubicBezTo>
                    <a:pt x="705659" y="1815533"/>
                    <a:pt x="462359" y="1892212"/>
                    <a:pt x="212353" y="1940294"/>
                  </a:cubicBezTo>
                  <a:lnTo>
                    <a:pt x="0" y="1972702"/>
                  </a:lnTo>
                  <a:lnTo>
                    <a:pt x="0" y="1732181"/>
                  </a:lnTo>
                  <a:lnTo>
                    <a:pt x="161195" y="1706590"/>
                  </a:lnTo>
                  <a:cubicBezTo>
                    <a:pt x="237638" y="1691378"/>
                    <a:pt x="313477" y="1673222"/>
                    <a:pt x="388463" y="1652268"/>
                  </a:cubicBezTo>
                  <a:cubicBezTo>
                    <a:pt x="538529" y="1610539"/>
                    <a:pt x="684898" y="1556543"/>
                    <a:pt x="826716" y="1493950"/>
                  </a:cubicBezTo>
                  <a:cubicBezTo>
                    <a:pt x="1111207" y="1370107"/>
                    <a:pt x="1376832" y="1205881"/>
                    <a:pt x="1609847" y="1007535"/>
                  </a:cubicBezTo>
                  <a:cubicBezTo>
                    <a:pt x="1725975" y="908049"/>
                    <a:pt x="1833571" y="799519"/>
                    <a:pt x="1929982" y="682930"/>
                  </a:cubicBezTo>
                  <a:cubicBezTo>
                    <a:pt x="2026581" y="566520"/>
                    <a:pt x="2111806" y="441692"/>
                    <a:pt x="2183093" y="310149"/>
                  </a:cubicBezTo>
                  <a:cubicBezTo>
                    <a:pt x="2218738" y="244422"/>
                    <a:pt x="2251396" y="177150"/>
                    <a:pt x="2280286" y="10843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800"/>
            </a:p>
          </p:txBody>
        </p:sp>
        <p:sp>
          <p:nvSpPr>
            <p:cNvPr id="32" name="Freeform: Shape 31">
              <a:extLst>
                <a:ext uri="{FF2B5EF4-FFF2-40B4-BE49-F238E27FC236}">
                  <a16:creationId xmlns:a16="http://schemas.microsoft.com/office/drawing/2014/main" id="{62977932-2B03-4899-8306-5002CEE68E2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2491105" cy="1943661"/>
            </a:xfrm>
            <a:custGeom>
              <a:avLst/>
              <a:gdLst>
                <a:gd name="connsiteX0" fmla="*/ 1995408 w 2491105"/>
                <a:gd name="connsiteY0" fmla="*/ 0 h 1943661"/>
                <a:gd name="connsiteX1" fmla="*/ 2491105 w 2491105"/>
                <a:gd name="connsiteY1" fmla="*/ 0 h 1943661"/>
                <a:gd name="connsiteX2" fmla="*/ 2434705 w 2491105"/>
                <a:gd name="connsiteY2" fmla="*/ 174009 h 1943661"/>
                <a:gd name="connsiteX3" fmla="*/ 92457 w 2491105"/>
                <a:gd name="connsiteY3" fmla="*/ 1931703 h 1943661"/>
                <a:gd name="connsiteX4" fmla="*/ 0 w 2491105"/>
                <a:gd name="connsiteY4" fmla="*/ 1943661 h 1943661"/>
                <a:gd name="connsiteX5" fmla="*/ 0 w 2491105"/>
                <a:gd name="connsiteY5" fmla="*/ 1491489 h 1943661"/>
                <a:gd name="connsiteX6" fmla="*/ 34107 w 2491105"/>
                <a:gd name="connsiteY6" fmla="*/ 1486836 h 1943661"/>
                <a:gd name="connsiteX7" fmla="*/ 497577 w 2491105"/>
                <a:gd name="connsiteY7" fmla="*/ 1360598 h 1943661"/>
                <a:gd name="connsiteX8" fmla="*/ 1321566 w 2491105"/>
                <a:gd name="connsiteY8" fmla="*/ 897645 h 1943661"/>
                <a:gd name="connsiteX9" fmla="*/ 1891495 w 2491105"/>
                <a:gd name="connsiteY9" fmla="*/ 230078 h 1943661"/>
                <a:gd name="connsiteX10" fmla="*/ 1961469 w 2491105"/>
                <a:gd name="connsiteY10" fmla="*/ 87885 h 1943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1105" h="1943661">
                  <a:moveTo>
                    <a:pt x="1995408" y="0"/>
                  </a:moveTo>
                  <a:lnTo>
                    <a:pt x="2491105" y="0"/>
                  </a:lnTo>
                  <a:lnTo>
                    <a:pt x="2434705" y="174009"/>
                  </a:lnTo>
                  <a:cubicBezTo>
                    <a:pt x="2087512" y="1067655"/>
                    <a:pt x="1129122" y="1753877"/>
                    <a:pt x="92457" y="1931703"/>
                  </a:cubicBezTo>
                  <a:lnTo>
                    <a:pt x="0" y="1943661"/>
                  </a:lnTo>
                  <a:lnTo>
                    <a:pt x="0" y="1491489"/>
                  </a:lnTo>
                  <a:lnTo>
                    <a:pt x="34107" y="1486836"/>
                  </a:lnTo>
                  <a:cubicBezTo>
                    <a:pt x="189055" y="1458696"/>
                    <a:pt x="343908" y="1416565"/>
                    <a:pt x="497577" y="1360598"/>
                  </a:cubicBezTo>
                  <a:cubicBezTo>
                    <a:pt x="796856" y="1251889"/>
                    <a:pt x="1081725" y="1091781"/>
                    <a:pt x="1321566" y="897645"/>
                  </a:cubicBezTo>
                  <a:cubicBezTo>
                    <a:pt x="1565577" y="700195"/>
                    <a:pt x="1757355" y="475523"/>
                    <a:pt x="1891495" y="230078"/>
                  </a:cubicBezTo>
                  <a:cubicBezTo>
                    <a:pt x="1917197" y="183033"/>
                    <a:pt x="1940526" y="135619"/>
                    <a:pt x="1961469" y="8788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Tree>
    <p:extLst>
      <p:ext uri="{BB962C8B-B14F-4D97-AF65-F5344CB8AC3E}">
        <p14:creationId xmlns:p14="http://schemas.microsoft.com/office/powerpoint/2010/main" val="152292296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3FC9CE-127D-D690-3558-A9C1383FD15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66CB329-7BF2-57E6-064A-CF135147D23A}"/>
              </a:ext>
            </a:extLst>
          </p:cNvPr>
          <p:cNvSpPr>
            <a:spLocks noGrp="1"/>
          </p:cNvSpPr>
          <p:nvPr>
            <p:ph type="title"/>
          </p:nvPr>
        </p:nvSpPr>
        <p:spPr>
          <a:xfrm>
            <a:off x="838200" y="43666"/>
            <a:ext cx="10515600" cy="1325563"/>
          </a:xfrm>
        </p:spPr>
        <p:txBody>
          <a:bodyPr/>
          <a:lstStyle/>
          <a:p>
            <a:r>
              <a:rPr lang="en-DK" dirty="0"/>
              <a:t>Microbiome definition</a:t>
            </a:r>
          </a:p>
        </p:txBody>
      </p:sp>
      <p:grpSp>
        <p:nvGrpSpPr>
          <p:cNvPr id="14" name="Group 13">
            <a:extLst>
              <a:ext uri="{FF2B5EF4-FFF2-40B4-BE49-F238E27FC236}">
                <a16:creationId xmlns:a16="http://schemas.microsoft.com/office/drawing/2014/main" id="{94300B7E-941B-EA8D-4C91-F9746DFE3EB2}"/>
              </a:ext>
            </a:extLst>
          </p:cNvPr>
          <p:cNvGrpSpPr/>
          <p:nvPr/>
        </p:nvGrpSpPr>
        <p:grpSpPr>
          <a:xfrm>
            <a:off x="3103417" y="1184563"/>
            <a:ext cx="5507182" cy="5507182"/>
            <a:chOff x="3103417" y="1184563"/>
            <a:chExt cx="5507182" cy="5507182"/>
          </a:xfrm>
        </p:grpSpPr>
        <p:pic>
          <p:nvPicPr>
            <p:cNvPr id="6146" name="Picture 2" descr="1,500+ Microbiome Stock Illustrations, Royalty-Free Vector Graphics &amp; Clip  Art - iStock | Gut microbiome, Skin microbiome, Microbiome woman">
              <a:extLst>
                <a:ext uri="{FF2B5EF4-FFF2-40B4-BE49-F238E27FC236}">
                  <a16:creationId xmlns:a16="http://schemas.microsoft.com/office/drawing/2014/main" id="{1EE1188F-ED3E-7F60-A080-E89D1113C85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103417" y="1184563"/>
              <a:ext cx="5507182" cy="5507182"/>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9" descr="Virus">
              <a:extLst>
                <a:ext uri="{FF2B5EF4-FFF2-40B4-BE49-F238E27FC236}">
                  <a16:creationId xmlns:a16="http://schemas.microsoft.com/office/drawing/2014/main" id="{5215208D-6680-FF0C-6642-62B0473929D2}"/>
                </a:ext>
              </a:extLst>
            </p:cNvPr>
            <p:cNvPicPr>
              <a:picLocks noChangeAspect="1"/>
            </p:cNvPicPr>
            <p:nvPr/>
          </p:nvPicPr>
          <p:blipFill>
            <a:blip r:embed="rId4"/>
            <a:stretch>
              <a:fillRect/>
            </a:stretch>
          </p:blipFill>
          <p:spPr>
            <a:xfrm>
              <a:off x="6613359" y="3092935"/>
              <a:ext cx="369332" cy="369332"/>
            </a:xfrm>
            <a:prstGeom prst="rect">
              <a:avLst/>
            </a:prstGeom>
          </p:spPr>
        </p:pic>
        <p:pic>
          <p:nvPicPr>
            <p:cNvPr id="12" name="Picture 11" descr="Virus">
              <a:extLst>
                <a:ext uri="{FF2B5EF4-FFF2-40B4-BE49-F238E27FC236}">
                  <a16:creationId xmlns:a16="http://schemas.microsoft.com/office/drawing/2014/main" id="{33909467-114E-62A6-7DB6-7CB38A26F110}"/>
                </a:ext>
              </a:extLst>
            </p:cNvPr>
            <p:cNvPicPr>
              <a:picLocks noChangeAspect="1"/>
            </p:cNvPicPr>
            <p:nvPr/>
          </p:nvPicPr>
          <p:blipFill>
            <a:blip r:embed="rId4"/>
            <a:stretch>
              <a:fillRect/>
            </a:stretch>
          </p:blipFill>
          <p:spPr>
            <a:xfrm>
              <a:off x="4499448" y="2037278"/>
              <a:ext cx="369332" cy="369332"/>
            </a:xfrm>
            <a:prstGeom prst="rect">
              <a:avLst/>
            </a:prstGeom>
          </p:spPr>
        </p:pic>
        <p:pic>
          <p:nvPicPr>
            <p:cNvPr id="13" name="Picture 12" descr="Virus">
              <a:extLst>
                <a:ext uri="{FF2B5EF4-FFF2-40B4-BE49-F238E27FC236}">
                  <a16:creationId xmlns:a16="http://schemas.microsoft.com/office/drawing/2014/main" id="{862A8746-B2D2-47C7-6DB6-1FDB5FAE8D3B}"/>
                </a:ext>
              </a:extLst>
            </p:cNvPr>
            <p:cNvPicPr>
              <a:picLocks noChangeAspect="1"/>
            </p:cNvPicPr>
            <p:nvPr/>
          </p:nvPicPr>
          <p:blipFill>
            <a:blip r:embed="rId4"/>
            <a:stretch>
              <a:fillRect/>
            </a:stretch>
          </p:blipFill>
          <p:spPr>
            <a:xfrm rot="19207075">
              <a:off x="4036414" y="3582188"/>
              <a:ext cx="369332" cy="369332"/>
            </a:xfrm>
            <a:prstGeom prst="rect">
              <a:avLst/>
            </a:prstGeom>
          </p:spPr>
        </p:pic>
      </p:grpSp>
    </p:spTree>
    <p:extLst>
      <p:ext uri="{BB962C8B-B14F-4D97-AF65-F5344CB8AC3E}">
        <p14:creationId xmlns:p14="http://schemas.microsoft.com/office/powerpoint/2010/main" val="402880051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A6ACF9-B90D-C710-AF06-A897EC8FB91F}"/>
              </a:ext>
            </a:extLst>
          </p:cNvPr>
          <p:cNvSpPr>
            <a:spLocks noGrp="1"/>
          </p:cNvSpPr>
          <p:nvPr>
            <p:ph type="title"/>
          </p:nvPr>
        </p:nvSpPr>
        <p:spPr>
          <a:xfrm>
            <a:off x="838200" y="43666"/>
            <a:ext cx="10515600" cy="1325563"/>
          </a:xfrm>
        </p:spPr>
        <p:txBody>
          <a:bodyPr/>
          <a:lstStyle/>
          <a:p>
            <a:r>
              <a:rPr lang="en-DK" dirty="0"/>
              <a:t>Microbiome definition</a:t>
            </a:r>
          </a:p>
        </p:txBody>
      </p:sp>
      <p:sp>
        <p:nvSpPr>
          <p:cNvPr id="4" name="TextBox 3">
            <a:extLst>
              <a:ext uri="{FF2B5EF4-FFF2-40B4-BE49-F238E27FC236}">
                <a16:creationId xmlns:a16="http://schemas.microsoft.com/office/drawing/2014/main" id="{48769A3B-5D9E-E7D0-D526-1268F30B0B71}"/>
              </a:ext>
            </a:extLst>
          </p:cNvPr>
          <p:cNvSpPr txBox="1"/>
          <p:nvPr/>
        </p:nvSpPr>
        <p:spPr>
          <a:xfrm>
            <a:off x="949038" y="1954833"/>
            <a:ext cx="2175164" cy="2031325"/>
          </a:xfrm>
          <a:prstGeom prst="rect">
            <a:avLst/>
          </a:prstGeom>
          <a:noFill/>
        </p:spPr>
        <p:txBody>
          <a:bodyPr wrap="square" rtlCol="0">
            <a:spAutoFit/>
          </a:bodyPr>
          <a:lstStyle/>
          <a:p>
            <a:r>
              <a:rPr lang="en-DK" dirty="0"/>
              <a:t>Inhabitants:</a:t>
            </a:r>
          </a:p>
          <a:p>
            <a:pPr marL="285750" indent="-285750">
              <a:buFont typeface="Arial" panose="020B0604020202020204" pitchFamily="34" charset="0"/>
              <a:buChar char="•"/>
            </a:pPr>
            <a:r>
              <a:rPr lang="en-DK" dirty="0"/>
              <a:t>Bacteria</a:t>
            </a:r>
          </a:p>
          <a:p>
            <a:pPr marL="285750" indent="-285750">
              <a:buFont typeface="Arial" panose="020B0604020202020204" pitchFamily="34" charset="0"/>
              <a:buChar char="•"/>
            </a:pPr>
            <a:r>
              <a:rPr lang="en-DK" dirty="0"/>
              <a:t>Archaea</a:t>
            </a:r>
          </a:p>
          <a:p>
            <a:pPr marL="285750" indent="-285750">
              <a:buFont typeface="Arial" panose="020B0604020202020204" pitchFamily="34" charset="0"/>
              <a:buChar char="•"/>
            </a:pPr>
            <a:r>
              <a:rPr lang="en-DK" dirty="0"/>
              <a:t>Fungi</a:t>
            </a:r>
          </a:p>
          <a:p>
            <a:pPr marL="285750" indent="-285750">
              <a:buFont typeface="Arial" panose="020B0604020202020204" pitchFamily="34" charset="0"/>
              <a:buChar char="•"/>
            </a:pPr>
            <a:r>
              <a:rPr lang="en-DK" dirty="0"/>
              <a:t>Viruses</a:t>
            </a:r>
          </a:p>
          <a:p>
            <a:pPr marL="285750" indent="-285750">
              <a:buFont typeface="Arial" panose="020B0604020202020204" pitchFamily="34" charset="0"/>
              <a:buChar char="•"/>
            </a:pPr>
            <a:r>
              <a:rPr lang="en-DK" dirty="0"/>
              <a:t>Protozoa</a:t>
            </a:r>
          </a:p>
          <a:p>
            <a:pPr marL="285750" indent="-285750">
              <a:buFont typeface="Arial" panose="020B0604020202020204" pitchFamily="34" charset="0"/>
              <a:buChar char="•"/>
            </a:pPr>
            <a:r>
              <a:rPr lang="en-DK" dirty="0"/>
              <a:t>…</a:t>
            </a:r>
          </a:p>
        </p:txBody>
      </p:sp>
      <p:sp>
        <p:nvSpPr>
          <p:cNvPr id="5" name="TextBox 4">
            <a:extLst>
              <a:ext uri="{FF2B5EF4-FFF2-40B4-BE49-F238E27FC236}">
                <a16:creationId xmlns:a16="http://schemas.microsoft.com/office/drawing/2014/main" id="{5C09A294-C945-E9F9-B338-B6EF07B8CEBD}"/>
              </a:ext>
            </a:extLst>
          </p:cNvPr>
          <p:cNvSpPr txBox="1"/>
          <p:nvPr/>
        </p:nvSpPr>
        <p:spPr>
          <a:xfrm>
            <a:off x="949037" y="1074120"/>
            <a:ext cx="8021783" cy="369332"/>
          </a:xfrm>
          <a:prstGeom prst="rect">
            <a:avLst/>
          </a:prstGeom>
          <a:noFill/>
        </p:spPr>
        <p:txBody>
          <a:bodyPr wrap="square" rtlCol="0">
            <a:spAutoFit/>
          </a:bodyPr>
          <a:lstStyle/>
          <a:p>
            <a:r>
              <a:rPr lang="en-DK" dirty="0"/>
              <a:t>Microbiome refers to an microbial community in an specific environment</a:t>
            </a:r>
          </a:p>
        </p:txBody>
      </p:sp>
      <p:sp>
        <p:nvSpPr>
          <p:cNvPr id="6" name="TextBox 5">
            <a:extLst>
              <a:ext uri="{FF2B5EF4-FFF2-40B4-BE49-F238E27FC236}">
                <a16:creationId xmlns:a16="http://schemas.microsoft.com/office/drawing/2014/main" id="{5CFCF3C9-1D6F-68B0-A820-340A61AB5F3B}"/>
              </a:ext>
            </a:extLst>
          </p:cNvPr>
          <p:cNvSpPr txBox="1"/>
          <p:nvPr/>
        </p:nvSpPr>
        <p:spPr>
          <a:xfrm>
            <a:off x="949037" y="4155153"/>
            <a:ext cx="2576945" cy="2031325"/>
          </a:xfrm>
          <a:prstGeom prst="rect">
            <a:avLst/>
          </a:prstGeom>
          <a:noFill/>
        </p:spPr>
        <p:txBody>
          <a:bodyPr wrap="square" rtlCol="0">
            <a:spAutoFit/>
          </a:bodyPr>
          <a:lstStyle/>
          <a:p>
            <a:r>
              <a:rPr lang="en-DK" dirty="0"/>
              <a:t>Environment:</a:t>
            </a:r>
          </a:p>
          <a:p>
            <a:pPr marL="285750" indent="-285750">
              <a:buFont typeface="Arial" panose="020B0604020202020204" pitchFamily="34" charset="0"/>
              <a:buChar char="•"/>
            </a:pPr>
            <a:r>
              <a:rPr lang="en-DK" dirty="0"/>
              <a:t>Soil</a:t>
            </a:r>
          </a:p>
          <a:p>
            <a:pPr marL="285750" indent="-285750">
              <a:buFont typeface="Arial" panose="020B0604020202020204" pitchFamily="34" charset="0"/>
              <a:buChar char="•"/>
            </a:pPr>
            <a:r>
              <a:rPr lang="en-DK" dirty="0"/>
              <a:t>Ocean</a:t>
            </a:r>
          </a:p>
          <a:p>
            <a:pPr marL="285750" indent="-285750">
              <a:buFont typeface="Arial" panose="020B0604020202020204" pitchFamily="34" charset="0"/>
              <a:buChar char="•"/>
            </a:pPr>
            <a:r>
              <a:rPr lang="en-DK" dirty="0"/>
              <a:t>Wastewater plant</a:t>
            </a:r>
          </a:p>
          <a:p>
            <a:pPr marL="285750" indent="-285750">
              <a:buFont typeface="Arial" panose="020B0604020202020204" pitchFamily="34" charset="0"/>
              <a:buChar char="•"/>
            </a:pPr>
            <a:r>
              <a:rPr lang="en-DK" dirty="0"/>
              <a:t>Gut</a:t>
            </a:r>
          </a:p>
          <a:p>
            <a:pPr marL="285750" indent="-285750">
              <a:buFont typeface="Arial" panose="020B0604020202020204" pitchFamily="34" charset="0"/>
              <a:buChar char="•"/>
            </a:pPr>
            <a:r>
              <a:rPr lang="en-DK" dirty="0"/>
              <a:t>Skin</a:t>
            </a:r>
          </a:p>
          <a:p>
            <a:pPr marL="285750" indent="-285750">
              <a:buFont typeface="Arial" panose="020B0604020202020204" pitchFamily="34" charset="0"/>
              <a:buChar char="•"/>
            </a:pPr>
            <a:r>
              <a:rPr lang="en-DK" dirty="0"/>
              <a:t>…</a:t>
            </a:r>
          </a:p>
        </p:txBody>
      </p:sp>
      <p:sp>
        <p:nvSpPr>
          <p:cNvPr id="7" name="TextBox 6">
            <a:extLst>
              <a:ext uri="{FF2B5EF4-FFF2-40B4-BE49-F238E27FC236}">
                <a16:creationId xmlns:a16="http://schemas.microsoft.com/office/drawing/2014/main" id="{C13AAE1B-A5D1-1C25-2C1B-2A5F66CB5BF8}"/>
              </a:ext>
            </a:extLst>
          </p:cNvPr>
          <p:cNvSpPr txBox="1"/>
          <p:nvPr/>
        </p:nvSpPr>
        <p:spPr>
          <a:xfrm>
            <a:off x="8735292" y="1800273"/>
            <a:ext cx="2770909" cy="1477328"/>
          </a:xfrm>
          <a:prstGeom prst="rect">
            <a:avLst/>
          </a:prstGeom>
          <a:noFill/>
        </p:spPr>
        <p:txBody>
          <a:bodyPr wrap="square" rtlCol="0">
            <a:spAutoFit/>
          </a:bodyPr>
          <a:lstStyle/>
          <a:p>
            <a:r>
              <a:rPr lang="en-DK" dirty="0"/>
              <a:t>Organism products:</a:t>
            </a:r>
          </a:p>
          <a:p>
            <a:pPr marL="285750" indent="-285750">
              <a:buFont typeface="Arial" panose="020B0604020202020204" pitchFamily="34" charset="0"/>
              <a:buChar char="•"/>
            </a:pPr>
            <a:r>
              <a:rPr lang="en-DK" dirty="0"/>
              <a:t>Genes</a:t>
            </a:r>
          </a:p>
          <a:p>
            <a:pPr marL="285750" indent="-285750">
              <a:buFont typeface="Arial" panose="020B0604020202020204" pitchFamily="34" charset="0"/>
              <a:buChar char="•"/>
            </a:pPr>
            <a:r>
              <a:rPr lang="en-DK" dirty="0"/>
              <a:t>Proteins</a:t>
            </a:r>
          </a:p>
          <a:p>
            <a:pPr marL="285750" indent="-285750">
              <a:buFont typeface="Arial" panose="020B0604020202020204" pitchFamily="34" charset="0"/>
              <a:buChar char="•"/>
            </a:pPr>
            <a:r>
              <a:rPr lang="en-DK" dirty="0"/>
              <a:t>Pathways</a:t>
            </a:r>
          </a:p>
          <a:p>
            <a:pPr marL="285750" indent="-285750">
              <a:buFont typeface="Arial" panose="020B0604020202020204" pitchFamily="34" charset="0"/>
              <a:buChar char="•"/>
            </a:pPr>
            <a:r>
              <a:rPr lang="en-DK" dirty="0"/>
              <a:t>Metabolites</a:t>
            </a:r>
          </a:p>
        </p:txBody>
      </p:sp>
      <p:sp>
        <p:nvSpPr>
          <p:cNvPr id="8" name="TextBox 7">
            <a:extLst>
              <a:ext uri="{FF2B5EF4-FFF2-40B4-BE49-F238E27FC236}">
                <a16:creationId xmlns:a16="http://schemas.microsoft.com/office/drawing/2014/main" id="{0567C149-E08A-15F2-43F8-C308AA1B5A39}"/>
              </a:ext>
            </a:extLst>
          </p:cNvPr>
          <p:cNvSpPr txBox="1"/>
          <p:nvPr/>
        </p:nvSpPr>
        <p:spPr>
          <a:xfrm>
            <a:off x="8735292" y="4063753"/>
            <a:ext cx="2743201" cy="2031325"/>
          </a:xfrm>
          <a:prstGeom prst="rect">
            <a:avLst/>
          </a:prstGeom>
          <a:noFill/>
        </p:spPr>
        <p:txBody>
          <a:bodyPr wrap="square" rtlCol="0">
            <a:spAutoFit/>
          </a:bodyPr>
          <a:lstStyle/>
          <a:p>
            <a:r>
              <a:rPr lang="en-DK" dirty="0"/>
              <a:t>In contrast to a monoculture (all cells belong to one organism), in a microbiome we have cells of many different organisms </a:t>
            </a:r>
            <a:r>
              <a:rPr lang="en-DK" dirty="0">
                <a:sym typeface="Wingdings" pitchFamily="2" charset="2"/>
              </a:rPr>
              <a:t> microbial community</a:t>
            </a:r>
            <a:endParaRPr lang="en-DK" dirty="0"/>
          </a:p>
        </p:txBody>
      </p:sp>
      <p:grpSp>
        <p:nvGrpSpPr>
          <p:cNvPr id="14" name="Group 13">
            <a:extLst>
              <a:ext uri="{FF2B5EF4-FFF2-40B4-BE49-F238E27FC236}">
                <a16:creationId xmlns:a16="http://schemas.microsoft.com/office/drawing/2014/main" id="{96410335-7C0A-EC5E-BAE0-AD2F15249762}"/>
              </a:ext>
            </a:extLst>
          </p:cNvPr>
          <p:cNvGrpSpPr/>
          <p:nvPr/>
        </p:nvGrpSpPr>
        <p:grpSpPr>
          <a:xfrm>
            <a:off x="3009900" y="1443452"/>
            <a:ext cx="5168900" cy="5122448"/>
            <a:chOff x="3103417" y="1184563"/>
            <a:chExt cx="5507182" cy="5507182"/>
          </a:xfrm>
        </p:grpSpPr>
        <p:pic>
          <p:nvPicPr>
            <p:cNvPr id="6146" name="Picture 2" descr="1,500+ Microbiome Stock Illustrations, Royalty-Free Vector Graphics &amp; Clip  Art - iStock | Gut microbiome, Skin microbiome, Microbiome woman">
              <a:extLst>
                <a:ext uri="{FF2B5EF4-FFF2-40B4-BE49-F238E27FC236}">
                  <a16:creationId xmlns:a16="http://schemas.microsoft.com/office/drawing/2014/main" id="{FA55E980-3FD9-73F6-B886-05847539D0A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103417" y="1184563"/>
              <a:ext cx="5507182" cy="5507182"/>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9" descr="Virus">
              <a:extLst>
                <a:ext uri="{FF2B5EF4-FFF2-40B4-BE49-F238E27FC236}">
                  <a16:creationId xmlns:a16="http://schemas.microsoft.com/office/drawing/2014/main" id="{7C6EDF92-8405-988F-5459-97E6AD6C0540}"/>
                </a:ext>
              </a:extLst>
            </p:cNvPr>
            <p:cNvPicPr>
              <a:picLocks noChangeAspect="1"/>
            </p:cNvPicPr>
            <p:nvPr/>
          </p:nvPicPr>
          <p:blipFill>
            <a:blip r:embed="rId4"/>
            <a:stretch>
              <a:fillRect/>
            </a:stretch>
          </p:blipFill>
          <p:spPr>
            <a:xfrm>
              <a:off x="6613359" y="3092935"/>
              <a:ext cx="369332" cy="369332"/>
            </a:xfrm>
            <a:prstGeom prst="rect">
              <a:avLst/>
            </a:prstGeom>
          </p:spPr>
        </p:pic>
        <p:pic>
          <p:nvPicPr>
            <p:cNvPr id="12" name="Picture 11" descr="Virus">
              <a:extLst>
                <a:ext uri="{FF2B5EF4-FFF2-40B4-BE49-F238E27FC236}">
                  <a16:creationId xmlns:a16="http://schemas.microsoft.com/office/drawing/2014/main" id="{5435778A-4E3F-EEEA-BF19-3E488C0A65BD}"/>
                </a:ext>
              </a:extLst>
            </p:cNvPr>
            <p:cNvPicPr>
              <a:picLocks noChangeAspect="1"/>
            </p:cNvPicPr>
            <p:nvPr/>
          </p:nvPicPr>
          <p:blipFill>
            <a:blip r:embed="rId4"/>
            <a:stretch>
              <a:fillRect/>
            </a:stretch>
          </p:blipFill>
          <p:spPr>
            <a:xfrm>
              <a:off x="4499448" y="2037278"/>
              <a:ext cx="369332" cy="369332"/>
            </a:xfrm>
            <a:prstGeom prst="rect">
              <a:avLst/>
            </a:prstGeom>
          </p:spPr>
        </p:pic>
        <p:pic>
          <p:nvPicPr>
            <p:cNvPr id="13" name="Picture 12" descr="Virus">
              <a:extLst>
                <a:ext uri="{FF2B5EF4-FFF2-40B4-BE49-F238E27FC236}">
                  <a16:creationId xmlns:a16="http://schemas.microsoft.com/office/drawing/2014/main" id="{43CEA990-F107-4A3A-3835-DA0A904A3E06}"/>
                </a:ext>
              </a:extLst>
            </p:cNvPr>
            <p:cNvPicPr>
              <a:picLocks noChangeAspect="1"/>
            </p:cNvPicPr>
            <p:nvPr/>
          </p:nvPicPr>
          <p:blipFill>
            <a:blip r:embed="rId4"/>
            <a:stretch>
              <a:fillRect/>
            </a:stretch>
          </p:blipFill>
          <p:spPr>
            <a:xfrm rot="19207075">
              <a:off x="4036414" y="3582188"/>
              <a:ext cx="369332" cy="369332"/>
            </a:xfrm>
            <a:prstGeom prst="rect">
              <a:avLst/>
            </a:prstGeom>
          </p:spPr>
        </p:pic>
      </p:grpSp>
    </p:spTree>
    <p:extLst>
      <p:ext uri="{BB962C8B-B14F-4D97-AF65-F5344CB8AC3E}">
        <p14:creationId xmlns:p14="http://schemas.microsoft.com/office/powerpoint/2010/main" val="177732837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8837100-9D0F-9772-25FC-7B5B06C1E9E7}"/>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A7A00650-474D-1517-DBED-10F69EF61C04}"/>
              </a:ext>
            </a:extLst>
          </p:cNvPr>
          <p:cNvPicPr>
            <a:picLocks noChangeAspect="1"/>
          </p:cNvPicPr>
          <p:nvPr/>
        </p:nvPicPr>
        <p:blipFill>
          <a:blip r:embed="rId2">
            <a:duotone>
              <a:schemeClr val="bg2">
                <a:shade val="45000"/>
                <a:satMod val="135000"/>
              </a:schemeClr>
              <a:prstClr val="white"/>
            </a:duotone>
          </a:blip>
          <a:srcRect t="15730"/>
          <a:stretch>
            <a:fillRect/>
          </a:stretch>
        </p:blipFill>
        <p:spPr>
          <a:xfrm>
            <a:off x="20" y="10"/>
            <a:ext cx="12191980" cy="6857990"/>
          </a:xfrm>
          <a:prstGeom prst="rect">
            <a:avLst/>
          </a:prstGeom>
        </p:spPr>
      </p:pic>
      <p:sp>
        <p:nvSpPr>
          <p:cNvPr id="11" name="Rectangle 10">
            <a:extLst>
              <a:ext uri="{FF2B5EF4-FFF2-40B4-BE49-F238E27FC236}">
                <a16:creationId xmlns:a16="http://schemas.microsoft.com/office/drawing/2014/main" id="{1406C47C-5AD3-A886-C085-59304A3372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gradFill>
            <a:gsLst>
              <a:gs pos="10000">
                <a:schemeClr val="bg2">
                  <a:alpha val="68000"/>
                </a:schemeClr>
              </a:gs>
              <a:gs pos="85000">
                <a:schemeClr val="bg2">
                  <a:alpha val="97000"/>
                </a:schemeClr>
              </a:gs>
            </a:gsLst>
            <a:path path="circle">
              <a:fillToRect l="50000" t="50000" r="50000" b="50000"/>
            </a:path>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16B3564-2302-A7C1-5EA0-517D4126E2DA}"/>
              </a:ext>
            </a:extLst>
          </p:cNvPr>
          <p:cNvSpPr>
            <a:spLocks noGrp="1"/>
          </p:cNvSpPr>
          <p:nvPr>
            <p:ph type="title"/>
          </p:nvPr>
        </p:nvSpPr>
        <p:spPr>
          <a:xfrm>
            <a:off x="838200" y="173739"/>
            <a:ext cx="10515600" cy="1325563"/>
          </a:xfrm>
        </p:spPr>
        <p:txBody>
          <a:bodyPr vert="horz" lIns="91440" tIns="45720" rIns="91440" bIns="45720" rtlCol="0" anchor="ctr">
            <a:normAutofit/>
          </a:bodyPr>
          <a:lstStyle/>
          <a:p>
            <a:r>
              <a:rPr lang="en-US" dirty="0"/>
              <a:t>What a microbiome study usually answer?</a:t>
            </a:r>
          </a:p>
        </p:txBody>
      </p:sp>
    </p:spTree>
    <p:extLst>
      <p:ext uri="{BB962C8B-B14F-4D97-AF65-F5344CB8AC3E}">
        <p14:creationId xmlns:p14="http://schemas.microsoft.com/office/powerpoint/2010/main" val="340917690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0F506D42-F026-9382-1C26-DDF56598096E}"/>
              </a:ext>
            </a:extLst>
          </p:cNvPr>
          <p:cNvPicPr>
            <a:picLocks noChangeAspect="1"/>
          </p:cNvPicPr>
          <p:nvPr/>
        </p:nvPicPr>
        <p:blipFill>
          <a:blip r:embed="rId2">
            <a:duotone>
              <a:schemeClr val="bg2">
                <a:shade val="45000"/>
                <a:satMod val="135000"/>
              </a:schemeClr>
              <a:prstClr val="white"/>
            </a:duotone>
          </a:blip>
          <a:srcRect t="15730"/>
          <a:stretch>
            <a:fillRect/>
          </a:stretch>
        </p:blipFill>
        <p:spPr>
          <a:xfrm>
            <a:off x="20" y="10"/>
            <a:ext cx="12191980" cy="6857990"/>
          </a:xfrm>
          <a:prstGeom prst="rect">
            <a:avLst/>
          </a:prstGeom>
        </p:spPr>
      </p:pic>
      <p:sp>
        <p:nvSpPr>
          <p:cNvPr id="11" name="Rectangle 10">
            <a:extLst>
              <a:ext uri="{FF2B5EF4-FFF2-40B4-BE49-F238E27FC236}">
                <a16:creationId xmlns:a16="http://schemas.microsoft.com/office/drawing/2014/main" id="{B50AB553-2A96-4A92-96F2-93548E09695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gradFill>
            <a:gsLst>
              <a:gs pos="10000">
                <a:schemeClr val="bg2">
                  <a:alpha val="68000"/>
                </a:schemeClr>
              </a:gs>
              <a:gs pos="85000">
                <a:schemeClr val="bg2">
                  <a:alpha val="97000"/>
                </a:schemeClr>
              </a:gs>
            </a:gsLst>
            <a:path path="circle">
              <a:fillToRect l="50000" t="50000" r="50000" b="50000"/>
            </a:path>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F425A618-08B0-CD39-EED9-097FD49C3650}"/>
              </a:ext>
            </a:extLst>
          </p:cNvPr>
          <p:cNvSpPr>
            <a:spLocks noGrp="1"/>
          </p:cNvSpPr>
          <p:nvPr>
            <p:ph type="title"/>
          </p:nvPr>
        </p:nvSpPr>
        <p:spPr>
          <a:xfrm>
            <a:off x="838200" y="173739"/>
            <a:ext cx="10515600" cy="1325563"/>
          </a:xfrm>
        </p:spPr>
        <p:txBody>
          <a:bodyPr vert="horz" lIns="91440" tIns="45720" rIns="91440" bIns="45720" rtlCol="0" anchor="ctr">
            <a:normAutofit/>
          </a:bodyPr>
          <a:lstStyle/>
          <a:p>
            <a:r>
              <a:rPr lang="en-US" dirty="0"/>
              <a:t>What a microbiome study usually answer</a:t>
            </a:r>
          </a:p>
        </p:txBody>
      </p:sp>
      <p:graphicFrame>
        <p:nvGraphicFramePr>
          <p:cNvPr id="6" name="TextBox 3">
            <a:extLst>
              <a:ext uri="{FF2B5EF4-FFF2-40B4-BE49-F238E27FC236}">
                <a16:creationId xmlns:a16="http://schemas.microsoft.com/office/drawing/2014/main" id="{CF5928EC-1CA9-B124-ED24-06AA0BFCD5F9}"/>
              </a:ext>
            </a:extLst>
          </p:cNvPr>
          <p:cNvGraphicFramePr/>
          <p:nvPr>
            <p:extLst>
              <p:ext uri="{D42A27DB-BD31-4B8C-83A1-F6EECF244321}">
                <p14:modId xmlns:p14="http://schemas.microsoft.com/office/powerpoint/2010/main" val="1781693898"/>
              </p:ext>
            </p:extLst>
          </p:nvPr>
        </p:nvGraphicFramePr>
        <p:xfrm>
          <a:off x="838200" y="1579418"/>
          <a:ext cx="10515600" cy="459754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23049951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5E8D3B17-7638-DFD3-18E4-8A6D611749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8D50A91-3176-5927-2A2F-BEBBAFB98FBE}"/>
              </a:ext>
            </a:extLst>
          </p:cNvPr>
          <p:cNvSpPr>
            <a:spLocks noGrp="1"/>
          </p:cNvSpPr>
          <p:nvPr>
            <p:ph type="title"/>
          </p:nvPr>
        </p:nvSpPr>
        <p:spPr>
          <a:xfrm>
            <a:off x="5568534" y="603504"/>
            <a:ext cx="5916169" cy="1527048"/>
          </a:xfrm>
        </p:spPr>
        <p:txBody>
          <a:bodyPr anchor="b">
            <a:normAutofit/>
          </a:bodyPr>
          <a:lstStyle/>
          <a:p>
            <a:r>
              <a:rPr lang="en-DK" dirty="0"/>
              <a:t>What is Metagenomics?</a:t>
            </a:r>
          </a:p>
        </p:txBody>
      </p:sp>
      <p:pic>
        <p:nvPicPr>
          <p:cNvPr id="5" name="Picture 4" descr="Microscopic view of cells">
            <a:extLst>
              <a:ext uri="{FF2B5EF4-FFF2-40B4-BE49-F238E27FC236}">
                <a16:creationId xmlns:a16="http://schemas.microsoft.com/office/drawing/2014/main" id="{EA9BCD2A-FB0B-80F5-0F95-6CDBF774ADA5}"/>
              </a:ext>
            </a:extLst>
          </p:cNvPr>
          <p:cNvPicPr>
            <a:picLocks noChangeAspect="1"/>
          </p:cNvPicPr>
          <p:nvPr/>
        </p:nvPicPr>
        <p:blipFill>
          <a:blip r:embed="rId3"/>
          <a:srcRect l="20350" r="25950"/>
          <a:stretch>
            <a:fillRect/>
          </a:stretch>
        </p:blipFill>
        <p:spPr>
          <a:xfrm>
            <a:off x="20" y="10"/>
            <a:ext cx="4910308" cy="6857990"/>
          </a:xfrm>
          <a:prstGeom prst="rect">
            <a:avLst/>
          </a:prstGeom>
        </p:spPr>
      </p:pic>
      <p:sp>
        <p:nvSpPr>
          <p:cNvPr id="3" name="Content Placeholder 2">
            <a:extLst>
              <a:ext uri="{FF2B5EF4-FFF2-40B4-BE49-F238E27FC236}">
                <a16:creationId xmlns:a16="http://schemas.microsoft.com/office/drawing/2014/main" id="{5E8778BC-5756-6E85-FDCE-6B109645A13A}"/>
              </a:ext>
            </a:extLst>
          </p:cNvPr>
          <p:cNvSpPr>
            <a:spLocks noGrp="1"/>
          </p:cNvSpPr>
          <p:nvPr>
            <p:ph idx="1"/>
          </p:nvPr>
        </p:nvSpPr>
        <p:spPr>
          <a:xfrm>
            <a:off x="5568533" y="2214282"/>
            <a:ext cx="5916169" cy="4095078"/>
          </a:xfrm>
        </p:spPr>
        <p:txBody>
          <a:bodyPr>
            <a:normAutofit/>
          </a:bodyPr>
          <a:lstStyle/>
          <a:p>
            <a:r>
              <a:rPr lang="en-DK" sz="1800" dirty="0"/>
              <a:t>Study of the genetic material sampled directly from the environment (fecal, skin, soil, marine,… samples)</a:t>
            </a:r>
          </a:p>
          <a:p>
            <a:r>
              <a:rPr lang="en-DK" sz="1800" dirty="0"/>
              <a:t>No need of culturing organisms – many of the organisms that we characterize can not even be cultured – we can study all the organisms in the microbial community</a:t>
            </a:r>
          </a:p>
          <a:p>
            <a:r>
              <a:rPr lang="en-DK" sz="1800" dirty="0"/>
              <a:t>Uses </a:t>
            </a:r>
            <a:r>
              <a:rPr lang="en-GB" sz="1800" dirty="0"/>
              <a:t>high-throughput DNA sequencing technology to </a:t>
            </a:r>
            <a:r>
              <a:rPr lang="en-GB" sz="1800" dirty="0" err="1"/>
              <a:t>analyze</a:t>
            </a:r>
            <a:r>
              <a:rPr lang="en-GB" sz="1800" dirty="0"/>
              <a:t> microbial diversity, taxonomic and functional profiles, and microbial interactions</a:t>
            </a:r>
          </a:p>
        </p:txBody>
      </p:sp>
    </p:spTree>
    <p:extLst>
      <p:ext uri="{BB962C8B-B14F-4D97-AF65-F5344CB8AC3E}">
        <p14:creationId xmlns:p14="http://schemas.microsoft.com/office/powerpoint/2010/main" val="204243567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68BFAE-68E9-FDA4-5A72-61FB79F2574B}"/>
              </a:ext>
            </a:extLst>
          </p:cNvPr>
          <p:cNvSpPr>
            <a:spLocks noGrp="1"/>
          </p:cNvSpPr>
          <p:nvPr>
            <p:ph type="title"/>
          </p:nvPr>
        </p:nvSpPr>
        <p:spPr>
          <a:xfrm>
            <a:off x="838200" y="-842"/>
            <a:ext cx="10515600" cy="1325563"/>
          </a:xfrm>
        </p:spPr>
        <p:txBody>
          <a:bodyPr/>
          <a:lstStyle/>
          <a:p>
            <a:r>
              <a:rPr lang="en-DK" dirty="0"/>
              <a:t>Experimental design</a:t>
            </a:r>
          </a:p>
        </p:txBody>
      </p:sp>
      <p:pic>
        <p:nvPicPr>
          <p:cNvPr id="3" name="Picture 2">
            <a:extLst>
              <a:ext uri="{FF2B5EF4-FFF2-40B4-BE49-F238E27FC236}">
                <a16:creationId xmlns:a16="http://schemas.microsoft.com/office/drawing/2014/main" id="{C0957DF4-0212-CA53-BD45-CB8B9C3D4596}"/>
              </a:ext>
            </a:extLst>
          </p:cNvPr>
          <p:cNvPicPr>
            <a:picLocks noChangeAspect="1"/>
          </p:cNvPicPr>
          <p:nvPr/>
        </p:nvPicPr>
        <p:blipFill>
          <a:blip r:embed="rId3"/>
          <a:stretch>
            <a:fillRect/>
          </a:stretch>
        </p:blipFill>
        <p:spPr>
          <a:xfrm>
            <a:off x="8264235" y="1803260"/>
            <a:ext cx="2695240" cy="2129240"/>
          </a:xfrm>
          <a:prstGeom prst="rect">
            <a:avLst/>
          </a:prstGeom>
        </p:spPr>
      </p:pic>
      <p:pic>
        <p:nvPicPr>
          <p:cNvPr id="4" name="Picture 2" descr="1,500+ Microbiome Stock Illustrations, Royalty-Free Vector Graphics &amp; Clip  Art - iStock | Gut microbiome, Skin microbiome, Microbiome woman">
            <a:extLst>
              <a:ext uri="{FF2B5EF4-FFF2-40B4-BE49-F238E27FC236}">
                <a16:creationId xmlns:a16="http://schemas.microsoft.com/office/drawing/2014/main" id="{270E7F32-5878-C308-F287-2858E2EE195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26029" y="2168359"/>
            <a:ext cx="1617517" cy="1617517"/>
          </a:xfrm>
          <a:prstGeom prst="rect">
            <a:avLst/>
          </a:prstGeom>
          <a:noFill/>
          <a:ln>
            <a:solidFill>
              <a:schemeClr val="accent1"/>
            </a:solidFill>
          </a:ln>
          <a:extLst>
            <a:ext uri="{909E8E84-426E-40DD-AFC4-6F175D3DCCD1}">
              <a14:hiddenFill xmlns:a14="http://schemas.microsoft.com/office/drawing/2010/main">
                <a:solidFill>
                  <a:srgbClr val="FFFFFF"/>
                </a:solidFill>
              </a14:hiddenFill>
            </a:ext>
          </a:extLst>
        </p:spPr>
      </p:pic>
      <p:sp>
        <p:nvSpPr>
          <p:cNvPr id="5" name="Right Arrow 4">
            <a:extLst>
              <a:ext uri="{FF2B5EF4-FFF2-40B4-BE49-F238E27FC236}">
                <a16:creationId xmlns:a16="http://schemas.microsoft.com/office/drawing/2014/main" id="{D8508C72-1D4A-E441-E5B2-F84BAC4C9ACA}"/>
              </a:ext>
            </a:extLst>
          </p:cNvPr>
          <p:cNvSpPr/>
          <p:nvPr/>
        </p:nvSpPr>
        <p:spPr>
          <a:xfrm>
            <a:off x="2043546" y="2867880"/>
            <a:ext cx="561109" cy="33250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6" name="TextBox 5">
            <a:extLst>
              <a:ext uri="{FF2B5EF4-FFF2-40B4-BE49-F238E27FC236}">
                <a16:creationId xmlns:a16="http://schemas.microsoft.com/office/drawing/2014/main" id="{5878C3FC-04E2-5282-1DD2-F94DA56468FD}"/>
              </a:ext>
            </a:extLst>
          </p:cNvPr>
          <p:cNvSpPr txBox="1"/>
          <p:nvPr/>
        </p:nvSpPr>
        <p:spPr>
          <a:xfrm>
            <a:off x="5887139" y="1065179"/>
            <a:ext cx="1955563" cy="1200329"/>
          </a:xfrm>
          <a:prstGeom prst="rect">
            <a:avLst/>
          </a:prstGeom>
          <a:noFill/>
        </p:spPr>
        <p:txBody>
          <a:bodyPr wrap="square" rtlCol="0">
            <a:spAutoFit/>
          </a:bodyPr>
          <a:lstStyle/>
          <a:p>
            <a:r>
              <a:rPr lang="en-DK" b="1" dirty="0"/>
              <a:t>DNA Extraction</a:t>
            </a:r>
          </a:p>
          <a:p>
            <a:r>
              <a:rPr lang="en-DK" dirty="0"/>
              <a:t>Kits to lyse the cells and release the DNA</a:t>
            </a:r>
          </a:p>
        </p:txBody>
      </p:sp>
      <p:sp>
        <p:nvSpPr>
          <p:cNvPr id="7" name="TextBox 6">
            <a:extLst>
              <a:ext uri="{FF2B5EF4-FFF2-40B4-BE49-F238E27FC236}">
                <a16:creationId xmlns:a16="http://schemas.microsoft.com/office/drawing/2014/main" id="{4A093191-604C-DC55-7298-739A9AC07B67}"/>
              </a:ext>
            </a:extLst>
          </p:cNvPr>
          <p:cNvSpPr txBox="1"/>
          <p:nvPr/>
        </p:nvSpPr>
        <p:spPr>
          <a:xfrm>
            <a:off x="2442166" y="1083447"/>
            <a:ext cx="1955572" cy="1200329"/>
          </a:xfrm>
          <a:prstGeom prst="rect">
            <a:avLst/>
          </a:prstGeom>
          <a:noFill/>
        </p:spPr>
        <p:txBody>
          <a:bodyPr wrap="square" rtlCol="0">
            <a:spAutoFit/>
          </a:bodyPr>
          <a:lstStyle/>
          <a:p>
            <a:r>
              <a:rPr lang="en-DK" b="1" dirty="0"/>
              <a:t>DNA Sampling</a:t>
            </a:r>
          </a:p>
          <a:p>
            <a:r>
              <a:rPr lang="en-DK" dirty="0"/>
              <a:t>spatula, swabs, filtration units, soil cores,…</a:t>
            </a:r>
          </a:p>
        </p:txBody>
      </p:sp>
      <p:sp>
        <p:nvSpPr>
          <p:cNvPr id="8" name="TextBox 7">
            <a:extLst>
              <a:ext uri="{FF2B5EF4-FFF2-40B4-BE49-F238E27FC236}">
                <a16:creationId xmlns:a16="http://schemas.microsoft.com/office/drawing/2014/main" id="{D5C72E17-CBF6-BF30-2EC1-19E5B988BB41}"/>
              </a:ext>
            </a:extLst>
          </p:cNvPr>
          <p:cNvSpPr txBox="1"/>
          <p:nvPr/>
        </p:nvSpPr>
        <p:spPr>
          <a:xfrm>
            <a:off x="4238449" y="1083447"/>
            <a:ext cx="1648691" cy="1200329"/>
          </a:xfrm>
          <a:prstGeom prst="rect">
            <a:avLst/>
          </a:prstGeom>
          <a:noFill/>
        </p:spPr>
        <p:txBody>
          <a:bodyPr wrap="square" rtlCol="0">
            <a:spAutoFit/>
          </a:bodyPr>
          <a:lstStyle/>
          <a:p>
            <a:r>
              <a:rPr lang="en-DK" b="1" dirty="0"/>
              <a:t>DNA Storage</a:t>
            </a:r>
          </a:p>
          <a:p>
            <a:r>
              <a:rPr lang="en-DK" dirty="0"/>
              <a:t>freezing, preservation buffers,…</a:t>
            </a:r>
          </a:p>
        </p:txBody>
      </p:sp>
      <p:sp>
        <p:nvSpPr>
          <p:cNvPr id="12" name="TextBox 11">
            <a:extLst>
              <a:ext uri="{FF2B5EF4-FFF2-40B4-BE49-F238E27FC236}">
                <a16:creationId xmlns:a16="http://schemas.microsoft.com/office/drawing/2014/main" id="{255E1334-4942-3F1C-E726-032CFBF69B0A}"/>
              </a:ext>
            </a:extLst>
          </p:cNvPr>
          <p:cNvSpPr txBox="1"/>
          <p:nvPr/>
        </p:nvSpPr>
        <p:spPr>
          <a:xfrm>
            <a:off x="8264234" y="926679"/>
            <a:ext cx="2951373" cy="923330"/>
          </a:xfrm>
          <a:prstGeom prst="rect">
            <a:avLst/>
          </a:prstGeom>
          <a:noFill/>
        </p:spPr>
        <p:txBody>
          <a:bodyPr wrap="square" rtlCol="0">
            <a:spAutoFit/>
          </a:bodyPr>
          <a:lstStyle/>
          <a:p>
            <a:r>
              <a:rPr lang="en-DK" b="1" dirty="0"/>
              <a:t>DNA Sequencing</a:t>
            </a:r>
          </a:p>
          <a:p>
            <a:r>
              <a:rPr lang="en-GB" dirty="0"/>
              <a:t>library prep: fragmentation, end repair, adapter ligation</a:t>
            </a:r>
            <a:endParaRPr lang="en-DK" dirty="0"/>
          </a:p>
        </p:txBody>
      </p:sp>
      <p:pic>
        <p:nvPicPr>
          <p:cNvPr id="13" name="Picture 12">
            <a:extLst>
              <a:ext uri="{FF2B5EF4-FFF2-40B4-BE49-F238E27FC236}">
                <a16:creationId xmlns:a16="http://schemas.microsoft.com/office/drawing/2014/main" id="{9B21B2C6-C3D6-9AA8-3E04-2FF33B5BCF7A}"/>
              </a:ext>
            </a:extLst>
          </p:cNvPr>
          <p:cNvPicPr>
            <a:picLocks noChangeAspect="1"/>
          </p:cNvPicPr>
          <p:nvPr/>
        </p:nvPicPr>
        <p:blipFill>
          <a:blip r:embed="rId5"/>
          <a:stretch>
            <a:fillRect/>
          </a:stretch>
        </p:blipFill>
        <p:spPr>
          <a:xfrm>
            <a:off x="4430414" y="2279911"/>
            <a:ext cx="1281722" cy="1840956"/>
          </a:xfrm>
          <a:prstGeom prst="rect">
            <a:avLst/>
          </a:prstGeom>
        </p:spPr>
      </p:pic>
      <p:pic>
        <p:nvPicPr>
          <p:cNvPr id="15" name="Picture 14">
            <a:extLst>
              <a:ext uri="{FF2B5EF4-FFF2-40B4-BE49-F238E27FC236}">
                <a16:creationId xmlns:a16="http://schemas.microsoft.com/office/drawing/2014/main" id="{AC2893E1-B6D0-C1C4-2F56-1A3F7500DA73}"/>
              </a:ext>
            </a:extLst>
          </p:cNvPr>
          <p:cNvPicPr>
            <a:picLocks noChangeAspect="1"/>
          </p:cNvPicPr>
          <p:nvPr/>
        </p:nvPicPr>
        <p:blipFill>
          <a:blip r:embed="rId6"/>
          <a:stretch>
            <a:fillRect/>
          </a:stretch>
        </p:blipFill>
        <p:spPr>
          <a:xfrm>
            <a:off x="2095500" y="4682539"/>
            <a:ext cx="2576615" cy="1819886"/>
          </a:xfrm>
          <a:prstGeom prst="rect">
            <a:avLst/>
          </a:prstGeom>
        </p:spPr>
      </p:pic>
      <p:sp>
        <p:nvSpPr>
          <p:cNvPr id="16" name="TextBox 15">
            <a:extLst>
              <a:ext uri="{FF2B5EF4-FFF2-40B4-BE49-F238E27FC236}">
                <a16:creationId xmlns:a16="http://schemas.microsoft.com/office/drawing/2014/main" id="{F7D29B56-383D-8D23-6D89-5AB556E86C94}"/>
              </a:ext>
            </a:extLst>
          </p:cNvPr>
          <p:cNvSpPr txBox="1"/>
          <p:nvPr/>
        </p:nvSpPr>
        <p:spPr>
          <a:xfrm>
            <a:off x="58866" y="5070331"/>
            <a:ext cx="2351841" cy="1477328"/>
          </a:xfrm>
          <a:prstGeom prst="rect">
            <a:avLst/>
          </a:prstGeom>
          <a:noFill/>
        </p:spPr>
        <p:txBody>
          <a:bodyPr wrap="square" rtlCol="0">
            <a:spAutoFit/>
          </a:bodyPr>
          <a:lstStyle/>
          <a:p>
            <a:pPr algn="ctr"/>
            <a:r>
              <a:rPr lang="en-US" sz="1800" dirty="0">
                <a:latin typeface="Calibri" charset="0"/>
                <a:ea typeface="Calibri" charset="0"/>
                <a:cs typeface="Calibri" charset="0"/>
              </a:rPr>
              <a:t>Taxonomical and functional characterization of the sequenced reads (</a:t>
            </a:r>
            <a:r>
              <a:rPr lang="en-US" sz="1800" dirty="0" err="1">
                <a:latin typeface="Calibri" charset="0"/>
                <a:ea typeface="Calibri" charset="0"/>
                <a:cs typeface="Calibri" charset="0"/>
              </a:rPr>
              <a:t>fastQ</a:t>
            </a:r>
            <a:r>
              <a:rPr lang="en-US" sz="1800" dirty="0">
                <a:latin typeface="Calibri" charset="0"/>
                <a:ea typeface="Calibri" charset="0"/>
                <a:cs typeface="Calibri" charset="0"/>
              </a:rPr>
              <a:t> files)</a:t>
            </a:r>
          </a:p>
        </p:txBody>
      </p:sp>
      <p:pic>
        <p:nvPicPr>
          <p:cNvPr id="17" name="Picture 16">
            <a:extLst>
              <a:ext uri="{FF2B5EF4-FFF2-40B4-BE49-F238E27FC236}">
                <a16:creationId xmlns:a16="http://schemas.microsoft.com/office/drawing/2014/main" id="{749279C6-15BE-97D0-5731-D87244EB0BFF}"/>
              </a:ext>
            </a:extLst>
          </p:cNvPr>
          <p:cNvPicPr>
            <a:picLocks noChangeAspect="1"/>
          </p:cNvPicPr>
          <p:nvPr/>
        </p:nvPicPr>
        <p:blipFill rotWithShape="1">
          <a:blip r:embed="rId7"/>
          <a:srcRect l="53837" r="-139"/>
          <a:stretch/>
        </p:blipFill>
        <p:spPr>
          <a:xfrm>
            <a:off x="6911217" y="4664652"/>
            <a:ext cx="3304057" cy="1773467"/>
          </a:xfrm>
          <a:prstGeom prst="rect">
            <a:avLst/>
          </a:prstGeom>
        </p:spPr>
      </p:pic>
      <p:sp>
        <p:nvSpPr>
          <p:cNvPr id="18" name="TextBox 17">
            <a:extLst>
              <a:ext uri="{FF2B5EF4-FFF2-40B4-BE49-F238E27FC236}">
                <a16:creationId xmlns:a16="http://schemas.microsoft.com/office/drawing/2014/main" id="{CE87839E-7546-A955-F4A5-6DE5F42D1D90}"/>
              </a:ext>
            </a:extLst>
          </p:cNvPr>
          <p:cNvSpPr txBox="1"/>
          <p:nvPr/>
        </p:nvSpPr>
        <p:spPr>
          <a:xfrm>
            <a:off x="7018188" y="4368034"/>
            <a:ext cx="3090115" cy="369332"/>
          </a:xfrm>
          <a:prstGeom prst="rect">
            <a:avLst/>
          </a:prstGeom>
          <a:noFill/>
        </p:spPr>
        <p:txBody>
          <a:bodyPr wrap="square" rtlCol="0">
            <a:spAutoFit/>
          </a:bodyPr>
          <a:lstStyle/>
          <a:p>
            <a:pPr algn="ctr"/>
            <a:r>
              <a:rPr lang="en-US" sz="1800" dirty="0">
                <a:latin typeface="Calibri" charset="0"/>
                <a:ea typeface="Calibri" charset="0"/>
                <a:cs typeface="Calibri" charset="0"/>
              </a:rPr>
              <a:t>Microbiome abundances</a:t>
            </a:r>
          </a:p>
        </p:txBody>
      </p:sp>
      <p:sp>
        <p:nvSpPr>
          <p:cNvPr id="20" name="Right Arrow 19">
            <a:extLst>
              <a:ext uri="{FF2B5EF4-FFF2-40B4-BE49-F238E27FC236}">
                <a16:creationId xmlns:a16="http://schemas.microsoft.com/office/drawing/2014/main" id="{DFE4BD5E-654E-B2FC-B3C0-060CFEDC30E5}"/>
              </a:ext>
            </a:extLst>
          </p:cNvPr>
          <p:cNvSpPr/>
          <p:nvPr/>
        </p:nvSpPr>
        <p:spPr>
          <a:xfrm>
            <a:off x="5780809" y="5385130"/>
            <a:ext cx="561109" cy="33250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pic>
        <p:nvPicPr>
          <p:cNvPr id="8196" name="Picture 4" descr="What is Microsoft Azure? A Beginners Guide for Organisations">
            <a:extLst>
              <a:ext uri="{FF2B5EF4-FFF2-40B4-BE49-F238E27FC236}">
                <a16:creationId xmlns:a16="http://schemas.microsoft.com/office/drawing/2014/main" id="{57D35678-A4D8-DA8F-1827-E72BD066AF36}"/>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3917790" y="4918253"/>
            <a:ext cx="1059102" cy="595745"/>
          </a:xfrm>
          <a:prstGeom prst="rect">
            <a:avLst/>
          </a:prstGeom>
          <a:noFill/>
          <a:extLst>
            <a:ext uri="{909E8E84-426E-40DD-AFC4-6F175D3DCCD1}">
              <a14:hiddenFill xmlns:a14="http://schemas.microsoft.com/office/drawing/2010/main">
                <a:solidFill>
                  <a:srgbClr val="FFFFFF"/>
                </a:solidFill>
              </a14:hiddenFill>
            </a:ext>
          </a:extLst>
        </p:spPr>
      </p:pic>
      <p:pic>
        <p:nvPicPr>
          <p:cNvPr id="8198" name="Picture 6" descr="Ijms 23 02181 g001">
            <a:extLst>
              <a:ext uri="{FF2B5EF4-FFF2-40B4-BE49-F238E27FC236}">
                <a16:creationId xmlns:a16="http://schemas.microsoft.com/office/drawing/2014/main" id="{4237EA8E-4884-E1CB-8846-97F3F2C274A7}"/>
              </a:ext>
            </a:extLst>
          </p:cNvPr>
          <p:cNvPicPr>
            <a:picLocks noChangeAspect="1" noChangeArrowheads="1"/>
          </p:cNvPicPr>
          <p:nvPr/>
        </p:nvPicPr>
        <p:blipFill rotWithShape="1">
          <a:blip r:embed="rId9">
            <a:extLst>
              <a:ext uri="{28A0092B-C50C-407E-A947-70E740481C1C}">
                <a14:useLocalDpi xmlns:a14="http://schemas.microsoft.com/office/drawing/2010/main" val="0"/>
              </a:ext>
            </a:extLst>
          </a:blip>
          <a:srcRect l="5617" t="33068" r="74730" b="50000"/>
          <a:stretch>
            <a:fillRect/>
          </a:stretch>
        </p:blipFill>
        <p:spPr bwMode="auto">
          <a:xfrm>
            <a:off x="6118396" y="3185372"/>
            <a:ext cx="1617518" cy="917567"/>
          </a:xfrm>
          <a:prstGeom prst="rect">
            <a:avLst/>
          </a:prstGeom>
          <a:noFill/>
          <a:extLst>
            <a:ext uri="{909E8E84-426E-40DD-AFC4-6F175D3DCCD1}">
              <a14:hiddenFill xmlns:a14="http://schemas.microsoft.com/office/drawing/2010/main">
                <a:solidFill>
                  <a:srgbClr val="FFFFFF"/>
                </a:solidFill>
              </a14:hiddenFill>
            </a:ext>
          </a:extLst>
        </p:spPr>
      </p:pic>
      <p:sp>
        <p:nvSpPr>
          <p:cNvPr id="21" name="Right Arrow 20">
            <a:extLst>
              <a:ext uri="{FF2B5EF4-FFF2-40B4-BE49-F238E27FC236}">
                <a16:creationId xmlns:a16="http://schemas.microsoft.com/office/drawing/2014/main" id="{ABE164FC-0FAF-42F6-974B-3AA9570EF50E}"/>
              </a:ext>
            </a:extLst>
          </p:cNvPr>
          <p:cNvSpPr/>
          <p:nvPr/>
        </p:nvSpPr>
        <p:spPr>
          <a:xfrm>
            <a:off x="11215613" y="2673984"/>
            <a:ext cx="561109" cy="33250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pic>
        <p:nvPicPr>
          <p:cNvPr id="8202" name="Picture 10" descr="Metagenomics: Host DNA Removal or Not?">
            <a:extLst>
              <a:ext uri="{FF2B5EF4-FFF2-40B4-BE49-F238E27FC236}">
                <a16:creationId xmlns:a16="http://schemas.microsoft.com/office/drawing/2014/main" id="{D3524854-1DEA-D579-C38D-D1F950CFA9D0}"/>
              </a:ext>
            </a:extLst>
          </p:cNvPr>
          <p:cNvPicPr>
            <a:picLocks noChangeAspect="1" noChangeArrowheads="1"/>
          </p:cNvPicPr>
          <p:nvPr/>
        </p:nvPicPr>
        <p:blipFill rotWithShape="1">
          <a:blip r:embed="rId10">
            <a:extLst>
              <a:ext uri="{28A0092B-C50C-407E-A947-70E740481C1C}">
                <a14:useLocalDpi xmlns:a14="http://schemas.microsoft.com/office/drawing/2010/main" val="0"/>
              </a:ext>
            </a:extLst>
          </a:blip>
          <a:srcRect l="14546" t="25939" r="76117" b="54446"/>
          <a:stretch>
            <a:fillRect/>
          </a:stretch>
        </p:blipFill>
        <p:spPr bwMode="auto">
          <a:xfrm>
            <a:off x="3285298" y="2434345"/>
            <a:ext cx="635561" cy="746726"/>
          </a:xfrm>
          <a:prstGeom prst="rect">
            <a:avLst/>
          </a:prstGeom>
          <a:noFill/>
          <a:extLst>
            <a:ext uri="{909E8E84-426E-40DD-AFC4-6F175D3DCCD1}">
              <a14:hiddenFill xmlns:a14="http://schemas.microsoft.com/office/drawing/2010/main">
                <a:solidFill>
                  <a:srgbClr val="FFFFFF"/>
                </a:solidFill>
              </a14:hiddenFill>
            </a:ext>
          </a:extLst>
        </p:spPr>
      </p:pic>
      <p:pic>
        <p:nvPicPr>
          <p:cNvPr id="22" name="Picture 14" descr="Metagenomics: Host DNA Removal or Not?">
            <a:extLst>
              <a:ext uri="{FF2B5EF4-FFF2-40B4-BE49-F238E27FC236}">
                <a16:creationId xmlns:a16="http://schemas.microsoft.com/office/drawing/2014/main" id="{DDDF007F-EB2A-FCDB-2452-EB73F39314F4}"/>
              </a:ext>
            </a:extLst>
          </p:cNvPr>
          <p:cNvPicPr>
            <a:picLocks noChangeAspect="1" noChangeArrowheads="1"/>
          </p:cNvPicPr>
          <p:nvPr/>
        </p:nvPicPr>
        <p:blipFill rotWithShape="1">
          <a:blip r:embed="rId10">
            <a:extLst>
              <a:ext uri="{28A0092B-C50C-407E-A947-70E740481C1C}">
                <a14:useLocalDpi xmlns:a14="http://schemas.microsoft.com/office/drawing/2010/main" val="0"/>
              </a:ext>
            </a:extLst>
          </a:blip>
          <a:srcRect l="60082" t="15003" r="8692" b="53768"/>
          <a:stretch>
            <a:fillRect/>
          </a:stretch>
        </p:blipFill>
        <p:spPr bwMode="auto">
          <a:xfrm>
            <a:off x="2744104" y="3170939"/>
            <a:ext cx="1335136" cy="746726"/>
          </a:xfrm>
          <a:prstGeom prst="rect">
            <a:avLst/>
          </a:prstGeom>
          <a:noFill/>
          <a:extLst>
            <a:ext uri="{909E8E84-426E-40DD-AFC4-6F175D3DCCD1}">
              <a14:hiddenFill xmlns:a14="http://schemas.microsoft.com/office/drawing/2010/main">
                <a:solidFill>
                  <a:srgbClr val="FFFFFF"/>
                </a:solidFill>
              </a14:hiddenFill>
            </a:ext>
          </a:extLst>
        </p:spPr>
      </p:pic>
      <p:sp>
        <p:nvSpPr>
          <p:cNvPr id="23" name="Right Arrow 22">
            <a:extLst>
              <a:ext uri="{FF2B5EF4-FFF2-40B4-BE49-F238E27FC236}">
                <a16:creationId xmlns:a16="http://schemas.microsoft.com/office/drawing/2014/main" id="{7BEC7C29-2CBB-F732-7555-4D86A6E97C16}"/>
              </a:ext>
            </a:extLst>
          </p:cNvPr>
          <p:cNvSpPr/>
          <p:nvPr/>
        </p:nvSpPr>
        <p:spPr>
          <a:xfrm>
            <a:off x="7597854" y="2701625"/>
            <a:ext cx="561109" cy="332509"/>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pic>
        <p:nvPicPr>
          <p:cNvPr id="8208" name="Picture 16" descr="Evaluation of methods for the reduction of contaminating host reads when  performing shotgun metagenomic sequencing of the milk microbiome |  Scientific Reports">
            <a:extLst>
              <a:ext uri="{FF2B5EF4-FFF2-40B4-BE49-F238E27FC236}">
                <a16:creationId xmlns:a16="http://schemas.microsoft.com/office/drawing/2014/main" id="{11CFE9FA-FAC9-3878-41A2-71FA0148E3F6}"/>
              </a:ext>
            </a:extLst>
          </p:cNvPr>
          <p:cNvPicPr>
            <a:picLocks noChangeAspect="1" noChangeArrowheads="1"/>
          </p:cNvPicPr>
          <p:nvPr/>
        </p:nvPicPr>
        <p:blipFill rotWithShape="1">
          <a:blip r:embed="rId11">
            <a:extLst>
              <a:ext uri="{28A0092B-C50C-407E-A947-70E740481C1C}">
                <a14:useLocalDpi xmlns:a14="http://schemas.microsoft.com/office/drawing/2010/main" val="0"/>
              </a:ext>
            </a:extLst>
          </a:blip>
          <a:srcRect l="58332" t="38146" r="37452" b="51685"/>
          <a:stretch>
            <a:fillRect/>
          </a:stretch>
        </p:blipFill>
        <p:spPr bwMode="auto">
          <a:xfrm>
            <a:off x="2744104" y="2434346"/>
            <a:ext cx="403201" cy="746726"/>
          </a:xfrm>
          <a:prstGeom prst="rect">
            <a:avLst/>
          </a:prstGeom>
          <a:noFill/>
          <a:extLst>
            <a:ext uri="{909E8E84-426E-40DD-AFC4-6F175D3DCCD1}">
              <a14:hiddenFill xmlns:a14="http://schemas.microsoft.com/office/drawing/2010/main">
                <a:solidFill>
                  <a:srgbClr val="FFFFFF"/>
                </a:solidFill>
              </a14:hiddenFill>
            </a:ext>
          </a:extLst>
        </p:spPr>
      </p:pic>
      <p:pic>
        <p:nvPicPr>
          <p:cNvPr id="24" name="Picture 23">
            <a:extLst>
              <a:ext uri="{FF2B5EF4-FFF2-40B4-BE49-F238E27FC236}">
                <a16:creationId xmlns:a16="http://schemas.microsoft.com/office/drawing/2014/main" id="{C9D92988-482E-1804-CFBB-AD0FE869C724}"/>
              </a:ext>
            </a:extLst>
          </p:cNvPr>
          <p:cNvPicPr>
            <a:picLocks noChangeAspect="1"/>
          </p:cNvPicPr>
          <p:nvPr/>
        </p:nvPicPr>
        <p:blipFill>
          <a:blip r:embed="rId12"/>
          <a:stretch>
            <a:fillRect/>
          </a:stretch>
        </p:blipFill>
        <p:spPr>
          <a:xfrm>
            <a:off x="6296891" y="2343361"/>
            <a:ext cx="1090328" cy="817746"/>
          </a:xfrm>
          <a:prstGeom prst="rect">
            <a:avLst/>
          </a:prstGeom>
        </p:spPr>
      </p:pic>
      <p:cxnSp>
        <p:nvCxnSpPr>
          <p:cNvPr id="26" name="Straight Connector 25">
            <a:extLst>
              <a:ext uri="{FF2B5EF4-FFF2-40B4-BE49-F238E27FC236}">
                <a16:creationId xmlns:a16="http://schemas.microsoft.com/office/drawing/2014/main" id="{3E88A317-1231-C775-AA97-F99F0E91B879}"/>
              </a:ext>
            </a:extLst>
          </p:cNvPr>
          <p:cNvCxnSpPr/>
          <p:nvPr/>
        </p:nvCxnSpPr>
        <p:spPr>
          <a:xfrm>
            <a:off x="4238449" y="1932063"/>
            <a:ext cx="0" cy="2274262"/>
          </a:xfrm>
          <a:prstGeom prst="line">
            <a:avLst/>
          </a:prstGeom>
          <a:ln>
            <a:prstDash val="sysDash"/>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047A8E67-2951-A965-D4F1-1DCD0DFCDD16}"/>
              </a:ext>
            </a:extLst>
          </p:cNvPr>
          <p:cNvCxnSpPr/>
          <p:nvPr/>
        </p:nvCxnSpPr>
        <p:spPr>
          <a:xfrm>
            <a:off x="5887140" y="1921430"/>
            <a:ext cx="0" cy="2274262"/>
          </a:xfrm>
          <a:prstGeom prst="line">
            <a:avLst/>
          </a:prstGeom>
          <a:ln>
            <a:prstDash val="sysDash"/>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72165181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7FF47CB7-972F-479F-A36D-9E72D26EC8D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Freeform: Shape 10">
            <a:extLst>
              <a:ext uri="{FF2B5EF4-FFF2-40B4-BE49-F238E27FC236}">
                <a16:creationId xmlns:a16="http://schemas.microsoft.com/office/drawing/2014/main" id="{0D153B68-5844-490D-8E67-F616D6D721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1766176" cy="2061837"/>
          </a:xfrm>
          <a:custGeom>
            <a:avLst/>
            <a:gdLst>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18446 w 10768629"/>
              <a:gd name="connsiteY143" fmla="*/ 1726895 h 1978172"/>
              <a:gd name="connsiteX144" fmla="*/ 4813657 w 10768629"/>
              <a:gd name="connsiteY144" fmla="*/ 1730706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18446 w 10768629"/>
              <a:gd name="connsiteY143" fmla="*/ 1726895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40853 w 10768629"/>
              <a:gd name="connsiteY141" fmla="*/ 1657958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232341 w 10768629"/>
              <a:gd name="connsiteY179" fmla="*/ 1785942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232341 w 10768629"/>
              <a:gd name="connsiteY179" fmla="*/ 1785942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9462 w 10768629"/>
              <a:gd name="connsiteY48" fmla="*/ 987106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0257 w 10768629"/>
              <a:gd name="connsiteY182" fmla="*/ 1789615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84330 h 1978172"/>
              <a:gd name="connsiteX182" fmla="*/ 1120257 w 10768629"/>
              <a:gd name="connsiteY182" fmla="*/ 1789615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Lst>
            <a:rect l="l" t="t" r="r" b="b"/>
            <a:pathLst>
              <a:path w="10768629" h="1978172">
                <a:moveTo>
                  <a:pt x="0" y="0"/>
                </a:moveTo>
                <a:lnTo>
                  <a:pt x="10768629" y="0"/>
                </a:lnTo>
                <a:lnTo>
                  <a:pt x="10733254" y="31439"/>
                </a:lnTo>
                <a:lnTo>
                  <a:pt x="10727085" y="37910"/>
                </a:lnTo>
                <a:cubicBezTo>
                  <a:pt x="10712973" y="56080"/>
                  <a:pt x="10699457" y="78430"/>
                  <a:pt x="10675953" y="68623"/>
                </a:cubicBezTo>
                <a:cubicBezTo>
                  <a:pt x="10685972" y="89202"/>
                  <a:pt x="10641629" y="69781"/>
                  <a:pt x="10637091" y="90361"/>
                </a:cubicBezTo>
                <a:cubicBezTo>
                  <a:pt x="10635214" y="107005"/>
                  <a:pt x="10621323" y="104993"/>
                  <a:pt x="10610971" y="110764"/>
                </a:cubicBezTo>
                <a:cubicBezTo>
                  <a:pt x="10603980" y="127568"/>
                  <a:pt x="10551417" y="141180"/>
                  <a:pt x="10532872" y="138028"/>
                </a:cubicBezTo>
                <a:cubicBezTo>
                  <a:pt x="10480300" y="119072"/>
                  <a:pt x="10440532" y="186296"/>
                  <a:pt x="10398558" y="172911"/>
                </a:cubicBezTo>
                <a:cubicBezTo>
                  <a:pt x="10387708" y="174114"/>
                  <a:pt x="10378792" y="177646"/>
                  <a:pt x="10371128" y="182609"/>
                </a:cubicBezTo>
                <a:lnTo>
                  <a:pt x="10352178" y="199976"/>
                </a:lnTo>
                <a:lnTo>
                  <a:pt x="10351815" y="211879"/>
                </a:lnTo>
                <a:lnTo>
                  <a:pt x="10337471" y="218661"/>
                </a:lnTo>
                <a:lnTo>
                  <a:pt x="10334625" y="222351"/>
                </a:lnTo>
                <a:cubicBezTo>
                  <a:pt x="10321108" y="225227"/>
                  <a:pt x="10278615" y="228401"/>
                  <a:pt x="10256365" y="235917"/>
                </a:cubicBezTo>
                <a:cubicBezTo>
                  <a:pt x="10218136" y="258033"/>
                  <a:pt x="10224552" y="209685"/>
                  <a:pt x="10201127" y="267448"/>
                </a:cubicBezTo>
                <a:cubicBezTo>
                  <a:pt x="10121320" y="273476"/>
                  <a:pt x="10040763" y="345580"/>
                  <a:pt x="9961218" y="326720"/>
                </a:cubicBezTo>
                <a:cubicBezTo>
                  <a:pt x="9980173" y="341621"/>
                  <a:pt x="9883038" y="318484"/>
                  <a:pt x="9859715" y="355698"/>
                </a:cubicBezTo>
                <a:cubicBezTo>
                  <a:pt x="9812822" y="367758"/>
                  <a:pt x="9752089" y="383830"/>
                  <a:pt x="9679867" y="399081"/>
                </a:cubicBezTo>
                <a:cubicBezTo>
                  <a:pt x="9618357" y="415668"/>
                  <a:pt x="9525492" y="446315"/>
                  <a:pt x="9490654" y="455225"/>
                </a:cubicBezTo>
                <a:lnTo>
                  <a:pt x="9470837" y="452539"/>
                </a:lnTo>
                <a:lnTo>
                  <a:pt x="9469082" y="454891"/>
                </a:lnTo>
                <a:cubicBezTo>
                  <a:pt x="9460057" y="461184"/>
                  <a:pt x="9453495" y="461729"/>
                  <a:pt x="9448038" y="459733"/>
                </a:cubicBezTo>
                <a:lnTo>
                  <a:pt x="9396821" y="455795"/>
                </a:lnTo>
                <a:lnTo>
                  <a:pt x="9392197" y="459796"/>
                </a:lnTo>
                <a:lnTo>
                  <a:pt x="9347994" y="464462"/>
                </a:lnTo>
                <a:cubicBezTo>
                  <a:pt x="9347959" y="465155"/>
                  <a:pt x="9347925" y="465846"/>
                  <a:pt x="9347889" y="466539"/>
                </a:cubicBezTo>
                <a:cubicBezTo>
                  <a:pt x="9346648" y="471307"/>
                  <a:pt x="9343831" y="475025"/>
                  <a:pt x="9337639" y="476654"/>
                </a:cubicBezTo>
                <a:cubicBezTo>
                  <a:pt x="9354547" y="503661"/>
                  <a:pt x="9307720" y="510631"/>
                  <a:pt x="9287964" y="513052"/>
                </a:cubicBezTo>
                <a:cubicBezTo>
                  <a:pt x="9269905" y="526173"/>
                  <a:pt x="9245386" y="544358"/>
                  <a:pt x="9229283" y="555377"/>
                </a:cubicBezTo>
                <a:lnTo>
                  <a:pt x="9220274" y="557502"/>
                </a:lnTo>
                <a:cubicBezTo>
                  <a:pt x="9220250" y="557668"/>
                  <a:pt x="9220226" y="557835"/>
                  <a:pt x="9220202" y="558001"/>
                </a:cubicBezTo>
                <a:cubicBezTo>
                  <a:pt x="9218468" y="559434"/>
                  <a:pt x="9215591" y="560497"/>
                  <a:pt x="9210908" y="561147"/>
                </a:cubicBezTo>
                <a:lnTo>
                  <a:pt x="9186374" y="565502"/>
                </a:lnTo>
                <a:lnTo>
                  <a:pt x="9181058" y="569943"/>
                </a:lnTo>
                <a:lnTo>
                  <a:pt x="9167549" y="584727"/>
                </a:lnTo>
                <a:lnTo>
                  <a:pt x="9149110" y="598906"/>
                </a:lnTo>
                <a:cubicBezTo>
                  <a:pt x="9133575" y="594395"/>
                  <a:pt x="9087390" y="636567"/>
                  <a:pt x="9078556" y="644039"/>
                </a:cubicBezTo>
                <a:lnTo>
                  <a:pt x="8996399" y="690055"/>
                </a:lnTo>
                <a:cubicBezTo>
                  <a:pt x="8913147" y="777045"/>
                  <a:pt x="8867993" y="772591"/>
                  <a:pt x="8803791" y="813860"/>
                </a:cubicBezTo>
                <a:cubicBezTo>
                  <a:pt x="8745270" y="819906"/>
                  <a:pt x="8690049" y="823612"/>
                  <a:pt x="8636202" y="848463"/>
                </a:cubicBezTo>
                <a:cubicBezTo>
                  <a:pt x="8594799" y="860014"/>
                  <a:pt x="8568613" y="864779"/>
                  <a:pt x="8555372" y="883171"/>
                </a:cubicBezTo>
                <a:lnTo>
                  <a:pt x="8507229" y="901665"/>
                </a:lnTo>
                <a:lnTo>
                  <a:pt x="8428473" y="927985"/>
                </a:lnTo>
                <a:cubicBezTo>
                  <a:pt x="8428287" y="929817"/>
                  <a:pt x="8428100" y="931648"/>
                  <a:pt x="8427914" y="933480"/>
                </a:cubicBezTo>
                <a:lnTo>
                  <a:pt x="8420327" y="941984"/>
                </a:lnTo>
                <a:lnTo>
                  <a:pt x="8394729" y="948347"/>
                </a:lnTo>
                <a:lnTo>
                  <a:pt x="8380548" y="987916"/>
                </a:lnTo>
                <a:lnTo>
                  <a:pt x="8375330" y="965444"/>
                </a:lnTo>
                <a:cubicBezTo>
                  <a:pt x="8372375" y="964202"/>
                  <a:pt x="8344433" y="977378"/>
                  <a:pt x="8340796" y="980522"/>
                </a:cubicBezTo>
                <a:cubicBezTo>
                  <a:pt x="8328292" y="982128"/>
                  <a:pt x="8319237" y="991089"/>
                  <a:pt x="8304438" y="996739"/>
                </a:cubicBezTo>
                <a:cubicBezTo>
                  <a:pt x="8297193" y="1005683"/>
                  <a:pt x="8289328" y="1014568"/>
                  <a:pt x="8280929" y="1023089"/>
                </a:cubicBezTo>
                <a:lnTo>
                  <a:pt x="8275760" y="1027772"/>
                </a:lnTo>
                <a:lnTo>
                  <a:pt x="8275478" y="1027605"/>
                </a:lnTo>
                <a:cubicBezTo>
                  <a:pt x="8273970" y="1028076"/>
                  <a:pt x="8251461" y="1029408"/>
                  <a:pt x="8249003" y="1032033"/>
                </a:cubicBezTo>
                <a:lnTo>
                  <a:pt x="8203836" y="1037347"/>
                </a:lnTo>
                <a:cubicBezTo>
                  <a:pt x="8172789" y="1049890"/>
                  <a:pt x="8148166" y="1034625"/>
                  <a:pt x="8122936" y="1063113"/>
                </a:cubicBezTo>
                <a:cubicBezTo>
                  <a:pt x="8093850" y="1074757"/>
                  <a:pt x="8066781" y="1075350"/>
                  <a:pt x="8043658" y="1092746"/>
                </a:cubicBezTo>
                <a:cubicBezTo>
                  <a:pt x="8032157" y="1089174"/>
                  <a:pt x="8022145" y="1089998"/>
                  <a:pt x="8015351" y="1105478"/>
                </a:cubicBezTo>
                <a:cubicBezTo>
                  <a:pt x="7987544" y="1113006"/>
                  <a:pt x="7977708" y="1099152"/>
                  <a:pt x="7963145" y="1119346"/>
                </a:cubicBezTo>
                <a:cubicBezTo>
                  <a:pt x="7942622" y="1098880"/>
                  <a:pt x="7943760" y="1109516"/>
                  <a:pt x="7938145" y="1120225"/>
                </a:cubicBezTo>
                <a:lnTo>
                  <a:pt x="7937238" y="1121204"/>
                </a:lnTo>
                <a:lnTo>
                  <a:pt x="7934398" y="1118240"/>
                </a:lnTo>
                <a:lnTo>
                  <a:pt x="7918248" y="1124371"/>
                </a:lnTo>
                <a:lnTo>
                  <a:pt x="7914119" y="1127653"/>
                </a:lnTo>
                <a:cubicBezTo>
                  <a:pt x="7911201" y="1129547"/>
                  <a:pt x="7909169" y="1130331"/>
                  <a:pt x="7907658" y="1130350"/>
                </a:cubicBezTo>
                <a:lnTo>
                  <a:pt x="7907434" y="1130103"/>
                </a:lnTo>
                <a:lnTo>
                  <a:pt x="7901508" y="1133245"/>
                </a:lnTo>
                <a:cubicBezTo>
                  <a:pt x="7891644" y="1139271"/>
                  <a:pt x="7882185" y="1145815"/>
                  <a:pt x="7873287" y="1152609"/>
                </a:cubicBezTo>
                <a:cubicBezTo>
                  <a:pt x="7864672" y="1141906"/>
                  <a:pt x="7845199" y="1159242"/>
                  <a:pt x="7834833" y="1153868"/>
                </a:cubicBezTo>
                <a:lnTo>
                  <a:pt x="7828661" y="1139994"/>
                </a:lnTo>
                <a:lnTo>
                  <a:pt x="7823966" y="1143178"/>
                </a:lnTo>
                <a:lnTo>
                  <a:pt x="7815078" y="1151776"/>
                </a:lnTo>
                <a:cubicBezTo>
                  <a:pt x="7813692" y="1152943"/>
                  <a:pt x="7812687" y="1153116"/>
                  <a:pt x="7812026" y="1151522"/>
                </a:cubicBezTo>
                <a:cubicBezTo>
                  <a:pt x="7806555" y="1153054"/>
                  <a:pt x="7788673" y="1159989"/>
                  <a:pt x="7782249" y="1160970"/>
                </a:cubicBezTo>
                <a:lnTo>
                  <a:pt x="7773476" y="1157414"/>
                </a:lnTo>
                <a:lnTo>
                  <a:pt x="7769600" y="1157365"/>
                </a:lnTo>
                <a:lnTo>
                  <a:pt x="7752631" y="1172815"/>
                </a:lnTo>
                <a:lnTo>
                  <a:pt x="7739392" y="1192062"/>
                </a:lnTo>
                <a:lnTo>
                  <a:pt x="7677677" y="1216394"/>
                </a:lnTo>
                <a:lnTo>
                  <a:pt x="7586920" y="1261888"/>
                </a:lnTo>
                <a:cubicBezTo>
                  <a:pt x="7556723" y="1298911"/>
                  <a:pt x="7489187" y="1284518"/>
                  <a:pt x="7486100" y="1292563"/>
                </a:cubicBezTo>
                <a:cubicBezTo>
                  <a:pt x="7454875" y="1308356"/>
                  <a:pt x="7453335" y="1326361"/>
                  <a:pt x="7411323" y="1340732"/>
                </a:cubicBezTo>
                <a:cubicBezTo>
                  <a:pt x="7372519" y="1390006"/>
                  <a:pt x="7288617" y="1403664"/>
                  <a:pt x="7240698" y="1438832"/>
                </a:cubicBezTo>
                <a:cubicBezTo>
                  <a:pt x="7206467" y="1417136"/>
                  <a:pt x="7227555" y="1441678"/>
                  <a:pt x="7197675" y="1447530"/>
                </a:cubicBezTo>
                <a:cubicBezTo>
                  <a:pt x="7211601" y="1474927"/>
                  <a:pt x="7159483" y="1444981"/>
                  <a:pt x="7164788" y="1480293"/>
                </a:cubicBezTo>
                <a:cubicBezTo>
                  <a:pt x="7159184" y="1480240"/>
                  <a:pt x="7153584" y="1479075"/>
                  <a:pt x="7147929" y="1477641"/>
                </a:cubicBezTo>
                <a:lnTo>
                  <a:pt x="7144965" y="1476908"/>
                </a:lnTo>
                <a:lnTo>
                  <a:pt x="7134299" y="1479969"/>
                </a:lnTo>
                <a:lnTo>
                  <a:pt x="7129809" y="1473339"/>
                </a:lnTo>
                <a:lnTo>
                  <a:pt x="7112688" y="1472575"/>
                </a:lnTo>
                <a:cubicBezTo>
                  <a:pt x="7106506" y="1473449"/>
                  <a:pt x="7100123" y="1475741"/>
                  <a:pt x="7093470" y="1480300"/>
                </a:cubicBezTo>
                <a:cubicBezTo>
                  <a:pt x="7079039" y="1501274"/>
                  <a:pt x="7048991" y="1495718"/>
                  <a:pt x="7025034" y="1506934"/>
                </a:cubicBezTo>
                <a:lnTo>
                  <a:pt x="7014783" y="1515868"/>
                </a:lnTo>
                <a:lnTo>
                  <a:pt x="6979706" y="1523511"/>
                </a:lnTo>
                <a:lnTo>
                  <a:pt x="6977890" y="1525793"/>
                </a:lnTo>
                <a:cubicBezTo>
                  <a:pt x="6971996" y="1527914"/>
                  <a:pt x="6959488" y="1529941"/>
                  <a:pt x="6944339" y="1536237"/>
                </a:cubicBezTo>
                <a:lnTo>
                  <a:pt x="6886996" y="1563569"/>
                </a:lnTo>
                <a:lnTo>
                  <a:pt x="6874510" y="1558469"/>
                </a:lnTo>
                <a:lnTo>
                  <a:pt x="6871943" y="1554651"/>
                </a:lnTo>
                <a:lnTo>
                  <a:pt x="6856174" y="1562024"/>
                </a:lnTo>
                <a:lnTo>
                  <a:pt x="6842321" y="1560554"/>
                </a:lnTo>
                <a:lnTo>
                  <a:pt x="6832713" y="1569357"/>
                </a:lnTo>
                <a:lnTo>
                  <a:pt x="6816351" y="1571495"/>
                </a:lnTo>
                <a:cubicBezTo>
                  <a:pt x="6810216" y="1571510"/>
                  <a:pt x="6803310" y="1571324"/>
                  <a:pt x="6795800" y="1572010"/>
                </a:cubicBezTo>
                <a:lnTo>
                  <a:pt x="6777546" y="1568661"/>
                </a:lnTo>
                <a:lnTo>
                  <a:pt x="6751528" y="1574143"/>
                </a:lnTo>
                <a:cubicBezTo>
                  <a:pt x="6731455" y="1578562"/>
                  <a:pt x="6712054" y="1582098"/>
                  <a:pt x="6691966" y="1582255"/>
                </a:cubicBezTo>
                <a:cubicBezTo>
                  <a:pt x="6677921" y="1590738"/>
                  <a:pt x="6663787" y="1595441"/>
                  <a:pt x="6646941" y="1588471"/>
                </a:cubicBezTo>
                <a:cubicBezTo>
                  <a:pt x="6605135" y="1597971"/>
                  <a:pt x="6598373" y="1612583"/>
                  <a:pt x="6568576" y="1606488"/>
                </a:cubicBezTo>
                <a:cubicBezTo>
                  <a:pt x="6562510" y="1614734"/>
                  <a:pt x="6558067" y="1619360"/>
                  <a:pt x="6554358" y="1621701"/>
                </a:cubicBezTo>
                <a:cubicBezTo>
                  <a:pt x="6543227" y="1628727"/>
                  <a:pt x="6538724" y="1615196"/>
                  <a:pt x="6516968" y="1617195"/>
                </a:cubicBezTo>
                <a:cubicBezTo>
                  <a:pt x="6493173" y="1617368"/>
                  <a:pt x="6528193" y="1598652"/>
                  <a:pt x="6506479" y="1602227"/>
                </a:cubicBezTo>
                <a:cubicBezTo>
                  <a:pt x="6486674" y="1613929"/>
                  <a:pt x="6478484" y="1593997"/>
                  <a:pt x="6458436" y="1607332"/>
                </a:cubicBezTo>
                <a:cubicBezTo>
                  <a:pt x="6471168" y="1620800"/>
                  <a:pt x="6410323" y="1615478"/>
                  <a:pt x="6414786" y="1628815"/>
                </a:cubicBezTo>
                <a:cubicBezTo>
                  <a:pt x="6385942" y="1615041"/>
                  <a:pt x="6386569" y="1640238"/>
                  <a:pt x="6357085" y="1640846"/>
                </a:cubicBezTo>
                <a:cubicBezTo>
                  <a:pt x="6341163" y="1636809"/>
                  <a:pt x="6331497" y="1637754"/>
                  <a:pt x="6322636" y="1648213"/>
                </a:cubicBezTo>
                <a:cubicBezTo>
                  <a:pt x="6248448" y="1627802"/>
                  <a:pt x="6286748" y="1654976"/>
                  <a:pt x="6226172" y="1654676"/>
                </a:cubicBezTo>
                <a:lnTo>
                  <a:pt x="6221217" y="1654506"/>
                </a:lnTo>
                <a:lnTo>
                  <a:pt x="6204956" y="1664280"/>
                </a:lnTo>
                <a:cubicBezTo>
                  <a:pt x="6204728" y="1665114"/>
                  <a:pt x="6204498" y="1665947"/>
                  <a:pt x="6204270" y="1666782"/>
                </a:cubicBezTo>
                <a:lnTo>
                  <a:pt x="6143810" y="1661963"/>
                </a:lnTo>
                <a:lnTo>
                  <a:pt x="6136560" y="1665728"/>
                </a:lnTo>
                <a:lnTo>
                  <a:pt x="6096155" y="1656951"/>
                </a:lnTo>
                <a:lnTo>
                  <a:pt x="6075812" y="1655422"/>
                </a:lnTo>
                <a:lnTo>
                  <a:pt x="6039495" y="1649680"/>
                </a:lnTo>
                <a:lnTo>
                  <a:pt x="6036523" y="1652121"/>
                </a:lnTo>
                <a:lnTo>
                  <a:pt x="6029328" y="1649904"/>
                </a:lnTo>
                <a:lnTo>
                  <a:pt x="6024075" y="1652779"/>
                </a:lnTo>
                <a:lnTo>
                  <a:pt x="6018085" y="1652030"/>
                </a:lnTo>
                <a:cubicBezTo>
                  <a:pt x="6006658" y="1653831"/>
                  <a:pt x="5968194" y="1662035"/>
                  <a:pt x="5955513" y="1663584"/>
                </a:cubicBezTo>
                <a:lnTo>
                  <a:pt x="5941996" y="1661326"/>
                </a:lnTo>
                <a:lnTo>
                  <a:pt x="5931789" y="1669915"/>
                </a:lnTo>
                <a:lnTo>
                  <a:pt x="5888686" y="1672175"/>
                </a:lnTo>
                <a:lnTo>
                  <a:pt x="5873794" y="1665454"/>
                </a:lnTo>
                <a:lnTo>
                  <a:pt x="5860022" y="1660635"/>
                </a:lnTo>
                <a:lnTo>
                  <a:pt x="5858237" y="1660649"/>
                </a:lnTo>
                <a:lnTo>
                  <a:pt x="5840319" y="1660798"/>
                </a:lnTo>
                <a:lnTo>
                  <a:pt x="5806984" y="1661075"/>
                </a:lnTo>
                <a:cubicBezTo>
                  <a:pt x="5785708" y="1661533"/>
                  <a:pt x="5764126" y="1662974"/>
                  <a:pt x="5742351" y="1667489"/>
                </a:cubicBezTo>
                <a:cubicBezTo>
                  <a:pt x="5659069" y="1645168"/>
                  <a:pt x="5615134" y="1706361"/>
                  <a:pt x="5521171" y="1671626"/>
                </a:cubicBezTo>
                <a:cubicBezTo>
                  <a:pt x="5491803" y="1671296"/>
                  <a:pt x="5498089" y="1662666"/>
                  <a:pt x="5457384" y="1683952"/>
                </a:cubicBezTo>
                <a:cubicBezTo>
                  <a:pt x="5356959" y="1699287"/>
                  <a:pt x="5078905" y="1774579"/>
                  <a:pt x="4950070" y="1748401"/>
                </a:cubicBezTo>
                <a:cubicBezTo>
                  <a:pt x="4918276" y="1752255"/>
                  <a:pt x="4891043" y="1756936"/>
                  <a:pt x="4872172" y="1757222"/>
                </a:cubicBezTo>
                <a:lnTo>
                  <a:pt x="4809524" y="1761033"/>
                </a:lnTo>
                <a:cubicBezTo>
                  <a:pt x="4791324" y="1772975"/>
                  <a:pt x="4777258" y="1754591"/>
                  <a:pt x="4759058" y="1766533"/>
                </a:cubicBezTo>
                <a:cubicBezTo>
                  <a:pt x="4747481" y="1770744"/>
                  <a:pt x="4734604" y="1772921"/>
                  <a:pt x="4719749" y="1771811"/>
                </a:cubicBezTo>
                <a:cubicBezTo>
                  <a:pt x="4671168" y="1780243"/>
                  <a:pt x="4634134" y="1775931"/>
                  <a:pt x="4568686" y="1786141"/>
                </a:cubicBezTo>
                <a:cubicBezTo>
                  <a:pt x="4544667" y="1777910"/>
                  <a:pt x="4432547" y="1778168"/>
                  <a:pt x="4418751" y="1796932"/>
                </a:cubicBezTo>
                <a:cubicBezTo>
                  <a:pt x="4403360" y="1801488"/>
                  <a:pt x="4385278" y="1795746"/>
                  <a:pt x="4378377" y="1815528"/>
                </a:cubicBezTo>
                <a:cubicBezTo>
                  <a:pt x="4366870" y="1839461"/>
                  <a:pt x="4337372" y="1814003"/>
                  <a:pt x="4320575" y="1832722"/>
                </a:cubicBezTo>
                <a:cubicBezTo>
                  <a:pt x="4277898" y="1857053"/>
                  <a:pt x="4243945" y="1846759"/>
                  <a:pt x="4211935" y="1860177"/>
                </a:cubicBezTo>
                <a:cubicBezTo>
                  <a:pt x="4181519" y="1859584"/>
                  <a:pt x="4171342" y="1859762"/>
                  <a:pt x="4101228" y="1868717"/>
                </a:cubicBezTo>
                <a:cubicBezTo>
                  <a:pt x="4080159" y="1876188"/>
                  <a:pt x="4039427" y="1877381"/>
                  <a:pt x="3973223" y="1881015"/>
                </a:cubicBezTo>
                <a:cubicBezTo>
                  <a:pt x="3971330" y="1884974"/>
                  <a:pt x="3952843" y="1879225"/>
                  <a:pt x="3900992" y="1880603"/>
                </a:cubicBezTo>
                <a:cubicBezTo>
                  <a:pt x="3849141" y="1881981"/>
                  <a:pt x="3740060" y="1895686"/>
                  <a:pt x="3662119" y="1889285"/>
                </a:cubicBezTo>
                <a:cubicBezTo>
                  <a:pt x="3565155" y="1881322"/>
                  <a:pt x="3613412" y="1915150"/>
                  <a:pt x="3496919" y="1873180"/>
                </a:cubicBezTo>
                <a:cubicBezTo>
                  <a:pt x="3488062" y="1895719"/>
                  <a:pt x="3474293" y="1876288"/>
                  <a:pt x="3449433" y="1889681"/>
                </a:cubicBezTo>
                <a:cubicBezTo>
                  <a:pt x="3406553" y="1891629"/>
                  <a:pt x="3413217" y="1897797"/>
                  <a:pt x="3369766" y="1916653"/>
                </a:cubicBezTo>
                <a:cubicBezTo>
                  <a:pt x="3338805" y="1929531"/>
                  <a:pt x="3289487" y="1928617"/>
                  <a:pt x="3269672" y="1938036"/>
                </a:cubicBezTo>
                <a:lnTo>
                  <a:pt x="3224897" y="1943733"/>
                </a:lnTo>
                <a:cubicBezTo>
                  <a:pt x="3188693" y="1949271"/>
                  <a:pt x="3178540" y="1909145"/>
                  <a:pt x="3161463" y="1946591"/>
                </a:cubicBezTo>
                <a:lnTo>
                  <a:pt x="3112044" y="1935614"/>
                </a:lnTo>
                <a:lnTo>
                  <a:pt x="3069716" y="1930463"/>
                </a:lnTo>
                <a:cubicBezTo>
                  <a:pt x="3049937" y="1924285"/>
                  <a:pt x="3047816" y="1925644"/>
                  <a:pt x="3005773" y="1915878"/>
                </a:cubicBezTo>
                <a:cubicBezTo>
                  <a:pt x="2978838" y="1921092"/>
                  <a:pt x="2967972" y="1927319"/>
                  <a:pt x="2897201" y="1926772"/>
                </a:cubicBezTo>
                <a:lnTo>
                  <a:pt x="2783891" y="1931749"/>
                </a:lnTo>
                <a:cubicBezTo>
                  <a:pt x="2753098" y="1932794"/>
                  <a:pt x="2731621" y="1915151"/>
                  <a:pt x="2712447" y="1933044"/>
                </a:cubicBezTo>
                <a:cubicBezTo>
                  <a:pt x="2621923" y="1990472"/>
                  <a:pt x="2637976" y="1949546"/>
                  <a:pt x="2560151" y="1963609"/>
                </a:cubicBezTo>
                <a:cubicBezTo>
                  <a:pt x="2472084" y="1973456"/>
                  <a:pt x="2423631" y="1962133"/>
                  <a:pt x="2367221" y="1971884"/>
                </a:cubicBezTo>
                <a:cubicBezTo>
                  <a:pt x="2355331" y="1950582"/>
                  <a:pt x="2295649" y="1950006"/>
                  <a:pt x="2272130" y="1961162"/>
                </a:cubicBezTo>
                <a:cubicBezTo>
                  <a:pt x="2229336" y="1964326"/>
                  <a:pt x="2232627" y="1943953"/>
                  <a:pt x="2189404" y="1978172"/>
                </a:cubicBezTo>
                <a:cubicBezTo>
                  <a:pt x="2153824" y="1968017"/>
                  <a:pt x="2114605" y="1969166"/>
                  <a:pt x="2077704" y="1965002"/>
                </a:cubicBezTo>
                <a:cubicBezTo>
                  <a:pt x="2053064" y="1962036"/>
                  <a:pt x="2051584" y="1971011"/>
                  <a:pt x="2033299" y="1969042"/>
                </a:cubicBezTo>
                <a:cubicBezTo>
                  <a:pt x="2015014" y="1967073"/>
                  <a:pt x="1998956" y="1958903"/>
                  <a:pt x="1967996" y="1953187"/>
                </a:cubicBezTo>
                <a:cubicBezTo>
                  <a:pt x="1924117" y="1970917"/>
                  <a:pt x="1915668" y="1940297"/>
                  <a:pt x="1855805" y="1926082"/>
                </a:cubicBezTo>
                <a:cubicBezTo>
                  <a:pt x="1830663" y="1943732"/>
                  <a:pt x="1810564" y="1935694"/>
                  <a:pt x="1790957" y="1919460"/>
                </a:cubicBezTo>
                <a:cubicBezTo>
                  <a:pt x="1732588" y="1924884"/>
                  <a:pt x="1679506" y="1900619"/>
                  <a:pt x="1613978" y="1891581"/>
                </a:cubicBezTo>
                <a:cubicBezTo>
                  <a:pt x="1542961" y="1912227"/>
                  <a:pt x="1506863" y="1865666"/>
                  <a:pt x="1436831" y="1856201"/>
                </a:cubicBezTo>
                <a:cubicBezTo>
                  <a:pt x="1409149" y="1862955"/>
                  <a:pt x="1416370" y="1829853"/>
                  <a:pt x="1357365" y="1832140"/>
                </a:cubicBezTo>
                <a:cubicBezTo>
                  <a:pt x="1285880" y="1811785"/>
                  <a:pt x="1273193" y="1786872"/>
                  <a:pt x="1232341" y="1785942"/>
                </a:cubicBezTo>
                <a:cubicBezTo>
                  <a:pt x="1223903" y="1792798"/>
                  <a:pt x="1160576" y="1793911"/>
                  <a:pt x="1162595" y="1784330"/>
                </a:cubicBezTo>
                <a:cubicBezTo>
                  <a:pt x="1153167" y="1787110"/>
                  <a:pt x="1122206" y="1805077"/>
                  <a:pt x="1120257" y="1789615"/>
                </a:cubicBezTo>
                <a:cubicBezTo>
                  <a:pt x="1073149" y="1786750"/>
                  <a:pt x="1034361" y="1768718"/>
                  <a:pt x="991903" y="1786741"/>
                </a:cubicBezTo>
                <a:cubicBezTo>
                  <a:pt x="966383" y="1781126"/>
                  <a:pt x="949501" y="1800915"/>
                  <a:pt x="883960" y="1809389"/>
                </a:cubicBezTo>
                <a:cubicBezTo>
                  <a:pt x="836064" y="1808194"/>
                  <a:pt x="826980" y="1826610"/>
                  <a:pt x="766531" y="1805053"/>
                </a:cubicBezTo>
                <a:cubicBezTo>
                  <a:pt x="732778" y="1801141"/>
                  <a:pt x="694055" y="1787044"/>
                  <a:pt x="669779" y="1800537"/>
                </a:cubicBezTo>
                <a:cubicBezTo>
                  <a:pt x="645252" y="1794709"/>
                  <a:pt x="563495" y="1813232"/>
                  <a:pt x="523898" y="1811085"/>
                </a:cubicBezTo>
                <a:cubicBezTo>
                  <a:pt x="457555" y="1798530"/>
                  <a:pt x="395227" y="1824052"/>
                  <a:pt x="360251" y="1830735"/>
                </a:cubicBezTo>
                <a:cubicBezTo>
                  <a:pt x="313564" y="1825583"/>
                  <a:pt x="298281" y="1811622"/>
                  <a:pt x="255207" y="1818275"/>
                </a:cubicBezTo>
                <a:cubicBezTo>
                  <a:pt x="206572" y="1839769"/>
                  <a:pt x="160277" y="1836800"/>
                  <a:pt x="101803" y="1870647"/>
                </a:cubicBezTo>
                <a:cubicBezTo>
                  <a:pt x="85849" y="1910002"/>
                  <a:pt x="27997" y="1845258"/>
                  <a:pt x="25397" y="1888443"/>
                </a:cubicBezTo>
                <a:cubicBezTo>
                  <a:pt x="19096" y="1881154"/>
                  <a:pt x="11260" y="1878398"/>
                  <a:pt x="2370" y="1878311"/>
                </a:cubicBezTo>
                <a:lnTo>
                  <a:pt x="0" y="1878785"/>
                </a:lnTo>
                <a:lnTo>
                  <a:pt x="0" y="0"/>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A1E5B660-1F1C-686C-2328-6FF0A8B7143F}"/>
              </a:ext>
            </a:extLst>
          </p:cNvPr>
          <p:cNvSpPr>
            <a:spLocks noGrp="1"/>
          </p:cNvSpPr>
          <p:nvPr>
            <p:ph type="title"/>
          </p:nvPr>
        </p:nvSpPr>
        <p:spPr>
          <a:xfrm>
            <a:off x="1137034" y="609597"/>
            <a:ext cx="9392421" cy="1330841"/>
          </a:xfrm>
        </p:spPr>
        <p:txBody>
          <a:bodyPr>
            <a:normAutofit/>
          </a:bodyPr>
          <a:lstStyle/>
          <a:p>
            <a:r>
              <a:rPr lang="en-DK" dirty="0"/>
              <a:t>Sample collection</a:t>
            </a:r>
          </a:p>
        </p:txBody>
      </p:sp>
      <p:sp>
        <p:nvSpPr>
          <p:cNvPr id="3" name="Content Placeholder 2">
            <a:extLst>
              <a:ext uri="{FF2B5EF4-FFF2-40B4-BE49-F238E27FC236}">
                <a16:creationId xmlns:a16="http://schemas.microsoft.com/office/drawing/2014/main" id="{A0C4DAEB-20BB-AF4C-92AB-721AC7D2220E}"/>
              </a:ext>
            </a:extLst>
          </p:cNvPr>
          <p:cNvSpPr>
            <a:spLocks noGrp="1"/>
          </p:cNvSpPr>
          <p:nvPr>
            <p:ph idx="1"/>
          </p:nvPr>
        </p:nvSpPr>
        <p:spPr>
          <a:xfrm>
            <a:off x="730868" y="2159373"/>
            <a:ext cx="7732583" cy="4050041"/>
          </a:xfrm>
        </p:spPr>
        <p:txBody>
          <a:bodyPr>
            <a:noAutofit/>
          </a:bodyPr>
          <a:lstStyle/>
          <a:p>
            <a:r>
              <a:rPr lang="en-GB" sz="1800" dirty="0"/>
              <a:t>To obtain a </a:t>
            </a:r>
            <a:r>
              <a:rPr lang="en-GB" sz="1800" b="1" dirty="0"/>
              <a:t>representative and uncontaminated snapshot of a microbial community</a:t>
            </a:r>
            <a:r>
              <a:rPr lang="en-GB" sz="1800" dirty="0"/>
              <a:t> in a specific environment (e.g., gut, soil, water, skin,…)</a:t>
            </a:r>
          </a:p>
          <a:p>
            <a:r>
              <a:rPr lang="en-GB" sz="1800" b="1" dirty="0"/>
              <a:t>Sterile tools </a:t>
            </a:r>
            <a:r>
              <a:rPr lang="en-GB" sz="1800" dirty="0"/>
              <a:t>and containers need to be used</a:t>
            </a:r>
          </a:p>
          <a:p>
            <a:r>
              <a:rPr lang="en-GB" sz="1800" dirty="0"/>
              <a:t>Microbial DNA can degrade rapidly. A good preservation ensures the microbial community structure remains as close to in situ as possible.</a:t>
            </a:r>
          </a:p>
          <a:p>
            <a:pPr lvl="1"/>
            <a:r>
              <a:rPr lang="en-DK" sz="1800" b="1" dirty="0"/>
              <a:t>Freezing</a:t>
            </a:r>
            <a:r>
              <a:rPr lang="en-DK" sz="1800" dirty="0"/>
              <a:t> (-20 to -80C) for long-term storage</a:t>
            </a:r>
          </a:p>
          <a:p>
            <a:pPr lvl="1"/>
            <a:r>
              <a:rPr lang="en-DK" sz="1800" dirty="0"/>
              <a:t>Preservation buffers if freezing is delayed</a:t>
            </a:r>
          </a:p>
          <a:p>
            <a:r>
              <a:rPr lang="en-GB" sz="1800" dirty="0"/>
              <a:t>For sample transportation use </a:t>
            </a:r>
            <a:r>
              <a:rPr lang="en-GB" sz="1800" b="1" dirty="0"/>
              <a:t>cold chain logistics </a:t>
            </a:r>
            <a:r>
              <a:rPr lang="en-GB" sz="1800" dirty="0"/>
              <a:t>(ice packs, dry ice, liquid nitrogen)</a:t>
            </a:r>
          </a:p>
          <a:p>
            <a:r>
              <a:rPr lang="en-GB" sz="1800" b="1" dirty="0"/>
              <a:t>Label</a:t>
            </a:r>
            <a:r>
              <a:rPr lang="en-GB" sz="1800" dirty="0"/>
              <a:t> clearly with metadata: time, location, environmental conditions, etc.</a:t>
            </a:r>
          </a:p>
          <a:p>
            <a:pPr lvl="1"/>
            <a:r>
              <a:rPr lang="en-GB" sz="1800" dirty="0"/>
              <a:t>Important for downstream analysis and reproducibility</a:t>
            </a:r>
          </a:p>
          <a:p>
            <a:endParaRPr lang="en-DK" sz="1800" dirty="0"/>
          </a:p>
        </p:txBody>
      </p:sp>
      <p:sp>
        <p:nvSpPr>
          <p:cNvPr id="13" name="Freeform: Shape 12">
            <a:extLst>
              <a:ext uri="{FF2B5EF4-FFF2-40B4-BE49-F238E27FC236}">
                <a16:creationId xmlns:a16="http://schemas.microsoft.com/office/drawing/2014/main" id="{9A0D773F-7A7D-4DBB-9DEA-86BB8B8F4BC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5381624" y="6209414"/>
            <a:ext cx="6810375" cy="648586"/>
          </a:xfrm>
          <a:custGeom>
            <a:avLst/>
            <a:gdLst>
              <a:gd name="connsiteX0" fmla="*/ 0 w 10753706"/>
              <a:gd name="connsiteY0" fmla="*/ 0 h 1027260"/>
              <a:gd name="connsiteX1" fmla="*/ 10753706 w 10753706"/>
              <a:gd name="connsiteY1" fmla="*/ 0 h 1027260"/>
              <a:gd name="connsiteX2" fmla="*/ 10748809 w 10753706"/>
              <a:gd name="connsiteY2" fmla="*/ 2522 h 1027260"/>
              <a:gd name="connsiteX3" fmla="*/ 10725330 w 10753706"/>
              <a:gd name="connsiteY3" fmla="*/ 11977 h 1027260"/>
              <a:gd name="connsiteX4" fmla="*/ 10615423 w 10753706"/>
              <a:gd name="connsiteY4" fmla="*/ 52967 h 1027260"/>
              <a:gd name="connsiteX5" fmla="*/ 10533936 w 10753706"/>
              <a:gd name="connsiteY5" fmla="*/ 53095 h 1027260"/>
              <a:gd name="connsiteX6" fmla="*/ 10466876 w 10753706"/>
              <a:gd name="connsiteY6" fmla="*/ 45180 h 1027260"/>
              <a:gd name="connsiteX7" fmla="*/ 10355090 w 10753706"/>
              <a:gd name="connsiteY7" fmla="*/ 89741 h 1027260"/>
              <a:gd name="connsiteX8" fmla="*/ 10087145 w 10753706"/>
              <a:gd name="connsiteY8" fmla="*/ 66115 h 1027260"/>
              <a:gd name="connsiteX9" fmla="*/ 10015902 w 10753706"/>
              <a:gd name="connsiteY9" fmla="*/ 76178 h 1027260"/>
              <a:gd name="connsiteX10" fmla="*/ 9806005 w 10753706"/>
              <a:gd name="connsiteY10" fmla="*/ 102435 h 1027260"/>
              <a:gd name="connsiteX11" fmla="*/ 9602583 w 10753706"/>
              <a:gd name="connsiteY11" fmla="*/ 179170 h 1027260"/>
              <a:gd name="connsiteX12" fmla="*/ 9469719 w 10753706"/>
              <a:gd name="connsiteY12" fmla="*/ 174721 h 1027260"/>
              <a:gd name="connsiteX13" fmla="*/ 9408692 w 10753706"/>
              <a:gd name="connsiteY13" fmla="*/ 189513 h 1027260"/>
              <a:gd name="connsiteX14" fmla="*/ 9364151 w 10753706"/>
              <a:gd name="connsiteY14" fmla="*/ 194072 h 1027260"/>
              <a:gd name="connsiteX15" fmla="*/ 9337751 w 10753706"/>
              <a:gd name="connsiteY15" fmla="*/ 197579 h 1027260"/>
              <a:gd name="connsiteX16" fmla="*/ 9297166 w 10753706"/>
              <a:gd name="connsiteY16" fmla="*/ 216558 h 1027260"/>
              <a:gd name="connsiteX17" fmla="*/ 9123859 w 10753706"/>
              <a:gd name="connsiteY17" fmla="*/ 237356 h 1027260"/>
              <a:gd name="connsiteX18" fmla="*/ 8950741 w 10753706"/>
              <a:gd name="connsiteY18" fmla="*/ 238020 h 1027260"/>
              <a:gd name="connsiteX19" fmla="*/ 8718236 w 10753706"/>
              <a:gd name="connsiteY19" fmla="*/ 303148 h 1027260"/>
              <a:gd name="connsiteX20" fmla="*/ 8694011 w 10753706"/>
              <a:gd name="connsiteY20" fmla="*/ 308812 h 1027260"/>
              <a:gd name="connsiteX21" fmla="*/ 8611976 w 10753706"/>
              <a:gd name="connsiteY21" fmla="*/ 324819 h 1027260"/>
              <a:gd name="connsiteX22" fmla="*/ 8562074 w 10753706"/>
              <a:gd name="connsiteY22" fmla="*/ 337971 h 1027260"/>
              <a:gd name="connsiteX23" fmla="*/ 8501724 w 10753706"/>
              <a:gd name="connsiteY23" fmla="*/ 360865 h 1027260"/>
              <a:gd name="connsiteX24" fmla="*/ 8504489 w 10753706"/>
              <a:gd name="connsiteY24" fmla="*/ 364790 h 1027260"/>
              <a:gd name="connsiteX25" fmla="*/ 8492774 w 10753706"/>
              <a:gd name="connsiteY25" fmla="*/ 366181 h 1027260"/>
              <a:gd name="connsiteX26" fmla="*/ 8466405 w 10753706"/>
              <a:gd name="connsiteY26" fmla="*/ 368724 h 1027260"/>
              <a:gd name="connsiteX27" fmla="*/ 8427069 w 10753706"/>
              <a:gd name="connsiteY27" fmla="*/ 387211 h 1027260"/>
              <a:gd name="connsiteX28" fmla="*/ 8387766 w 10753706"/>
              <a:gd name="connsiteY28" fmla="*/ 377161 h 1027260"/>
              <a:gd name="connsiteX29" fmla="*/ 8315874 w 10753706"/>
              <a:gd name="connsiteY29" fmla="*/ 395527 h 1027260"/>
              <a:gd name="connsiteX30" fmla="*/ 8274474 w 10753706"/>
              <a:gd name="connsiteY30" fmla="*/ 405112 h 1027260"/>
              <a:gd name="connsiteX31" fmla="*/ 8234664 w 10753706"/>
              <a:gd name="connsiteY31" fmla="*/ 410219 h 1027260"/>
              <a:gd name="connsiteX32" fmla="*/ 8211268 w 10753706"/>
              <a:gd name="connsiteY32" fmla="*/ 416791 h 1027260"/>
              <a:gd name="connsiteX33" fmla="*/ 8188615 w 10753706"/>
              <a:gd name="connsiteY33" fmla="*/ 421755 h 1027260"/>
              <a:gd name="connsiteX34" fmla="*/ 8179981 w 10753706"/>
              <a:gd name="connsiteY34" fmla="*/ 420402 h 1027260"/>
              <a:gd name="connsiteX35" fmla="*/ 8179307 w 10753706"/>
              <a:gd name="connsiteY35" fmla="*/ 422516 h 1027260"/>
              <a:gd name="connsiteX36" fmla="*/ 8147929 w 10753706"/>
              <a:gd name="connsiteY36" fmla="*/ 450302 h 1027260"/>
              <a:gd name="connsiteX37" fmla="*/ 8089136 w 10753706"/>
              <a:gd name="connsiteY37" fmla="*/ 465283 h 1027260"/>
              <a:gd name="connsiteX38" fmla="*/ 8049973 w 10753706"/>
              <a:gd name="connsiteY38" fmla="*/ 454121 h 1027260"/>
              <a:gd name="connsiteX39" fmla="*/ 7965913 w 10753706"/>
              <a:gd name="connsiteY39" fmla="*/ 464415 h 1027260"/>
              <a:gd name="connsiteX40" fmla="*/ 7945093 w 10753706"/>
              <a:gd name="connsiteY40" fmla="*/ 464798 h 1027260"/>
              <a:gd name="connsiteX41" fmla="*/ 7935335 w 10753706"/>
              <a:gd name="connsiteY41" fmla="*/ 462442 h 1027260"/>
              <a:gd name="connsiteX42" fmla="*/ 7904779 w 10753706"/>
              <a:gd name="connsiteY42" fmla="*/ 471429 h 1027260"/>
              <a:gd name="connsiteX43" fmla="*/ 7855604 w 10753706"/>
              <a:gd name="connsiteY43" fmla="*/ 480199 h 1027260"/>
              <a:gd name="connsiteX44" fmla="*/ 7832630 w 10753706"/>
              <a:gd name="connsiteY44" fmla="*/ 485371 h 1027260"/>
              <a:gd name="connsiteX45" fmla="*/ 7812438 w 10753706"/>
              <a:gd name="connsiteY45" fmla="*/ 485391 h 1027260"/>
              <a:gd name="connsiteX46" fmla="*/ 7701399 w 10753706"/>
              <a:gd name="connsiteY46" fmla="*/ 495197 h 1027260"/>
              <a:gd name="connsiteX47" fmla="*/ 7674778 w 10753706"/>
              <a:gd name="connsiteY47" fmla="*/ 494723 h 1027260"/>
              <a:gd name="connsiteX48" fmla="*/ 7660445 w 10753706"/>
              <a:gd name="connsiteY48" fmla="*/ 490194 h 1027260"/>
              <a:gd name="connsiteX49" fmla="*/ 7651781 w 10753706"/>
              <a:gd name="connsiteY49" fmla="*/ 493084 h 1027260"/>
              <a:gd name="connsiteX50" fmla="*/ 7584807 w 10753706"/>
              <a:gd name="connsiteY50" fmla="*/ 499490 h 1027260"/>
              <a:gd name="connsiteX51" fmla="*/ 7541324 w 10753706"/>
              <a:gd name="connsiteY51" fmla="*/ 504184 h 1027260"/>
              <a:gd name="connsiteX52" fmla="*/ 7541756 w 10753706"/>
              <a:gd name="connsiteY52" fmla="*/ 512184 h 1027260"/>
              <a:gd name="connsiteX53" fmla="*/ 7503906 w 10753706"/>
              <a:gd name="connsiteY53" fmla="*/ 518551 h 1027260"/>
              <a:gd name="connsiteX54" fmla="*/ 7460411 w 10753706"/>
              <a:gd name="connsiteY54" fmla="*/ 517415 h 1027260"/>
              <a:gd name="connsiteX55" fmla="*/ 7460116 w 10753706"/>
              <a:gd name="connsiteY55" fmla="*/ 517548 h 1027260"/>
              <a:gd name="connsiteX56" fmla="*/ 7297810 w 10753706"/>
              <a:gd name="connsiteY56" fmla="*/ 563947 h 1027260"/>
              <a:gd name="connsiteX57" fmla="*/ 6946388 w 10753706"/>
              <a:gd name="connsiteY57" fmla="*/ 665244 h 1027260"/>
              <a:gd name="connsiteX58" fmla="*/ 6741704 w 10753706"/>
              <a:gd name="connsiteY58" fmla="*/ 679365 h 1027260"/>
              <a:gd name="connsiteX59" fmla="*/ 6624680 w 10753706"/>
              <a:gd name="connsiteY59" fmla="*/ 677674 h 1027260"/>
              <a:gd name="connsiteX60" fmla="*/ 6605700 w 10753706"/>
              <a:gd name="connsiteY60" fmla="*/ 683566 h 1027260"/>
              <a:gd name="connsiteX61" fmla="*/ 6576922 w 10753706"/>
              <a:gd name="connsiteY61" fmla="*/ 683030 h 1027260"/>
              <a:gd name="connsiteX62" fmla="*/ 6405123 w 10753706"/>
              <a:gd name="connsiteY62" fmla="*/ 721946 h 1027260"/>
              <a:gd name="connsiteX63" fmla="*/ 6368938 w 10753706"/>
              <a:gd name="connsiteY63" fmla="*/ 717341 h 1027260"/>
              <a:gd name="connsiteX64" fmla="*/ 6295102 w 10753706"/>
              <a:gd name="connsiteY64" fmla="*/ 729508 h 1027260"/>
              <a:gd name="connsiteX65" fmla="*/ 6202084 w 10753706"/>
              <a:gd name="connsiteY65" fmla="*/ 767091 h 1027260"/>
              <a:gd name="connsiteX66" fmla="*/ 6067157 w 10753706"/>
              <a:gd name="connsiteY66" fmla="*/ 790339 h 1027260"/>
              <a:gd name="connsiteX67" fmla="*/ 6061443 w 10753706"/>
              <a:gd name="connsiteY67" fmla="*/ 796151 h 1027260"/>
              <a:gd name="connsiteX68" fmla="*/ 6051406 w 10753706"/>
              <a:gd name="connsiteY68" fmla="*/ 800684 h 1027260"/>
              <a:gd name="connsiteX69" fmla="*/ 6049097 w 10753706"/>
              <a:gd name="connsiteY69" fmla="*/ 800636 h 1027260"/>
              <a:gd name="connsiteX70" fmla="*/ 6034222 w 10753706"/>
              <a:gd name="connsiteY70" fmla="*/ 804110 h 1027260"/>
              <a:gd name="connsiteX71" fmla="*/ 6033121 w 10753706"/>
              <a:gd name="connsiteY71" fmla="*/ 806078 h 1027260"/>
              <a:gd name="connsiteX72" fmla="*/ 6023593 w 10753706"/>
              <a:gd name="connsiteY72" fmla="*/ 808842 h 1027260"/>
              <a:gd name="connsiteX73" fmla="*/ 6006639 w 10753706"/>
              <a:gd name="connsiteY73" fmla="*/ 815304 h 1027260"/>
              <a:gd name="connsiteX74" fmla="*/ 6001762 w 10753706"/>
              <a:gd name="connsiteY74" fmla="*/ 815557 h 1027260"/>
              <a:gd name="connsiteX75" fmla="*/ 5973534 w 10753706"/>
              <a:gd name="connsiteY75" fmla="*/ 823815 h 1027260"/>
              <a:gd name="connsiteX76" fmla="*/ 5972336 w 10753706"/>
              <a:gd name="connsiteY76" fmla="*/ 823476 h 1027260"/>
              <a:gd name="connsiteX77" fmla="*/ 5960841 w 10753706"/>
              <a:gd name="connsiteY77" fmla="*/ 823819 h 1027260"/>
              <a:gd name="connsiteX78" fmla="*/ 5940719 w 10753706"/>
              <a:gd name="connsiteY78" fmla="*/ 825514 h 1027260"/>
              <a:gd name="connsiteX79" fmla="*/ 5884298 w 10753706"/>
              <a:gd name="connsiteY79" fmla="*/ 823806 h 1027260"/>
              <a:gd name="connsiteX80" fmla="*/ 5854779 w 10753706"/>
              <a:gd name="connsiteY80" fmla="*/ 832365 h 1027260"/>
              <a:gd name="connsiteX81" fmla="*/ 5848382 w 10753706"/>
              <a:gd name="connsiteY81" fmla="*/ 833844 h 1027260"/>
              <a:gd name="connsiteX82" fmla="*/ 5848066 w 10753706"/>
              <a:gd name="connsiteY82" fmla="*/ 833772 h 1027260"/>
              <a:gd name="connsiteX83" fmla="*/ 5840944 w 10753706"/>
              <a:gd name="connsiteY83" fmla="*/ 835132 h 1027260"/>
              <a:gd name="connsiteX84" fmla="*/ 5836719 w 10753706"/>
              <a:gd name="connsiteY84" fmla="*/ 836539 h 1027260"/>
              <a:gd name="connsiteX85" fmla="*/ 5824311 w 10753706"/>
              <a:gd name="connsiteY85" fmla="*/ 839408 h 1027260"/>
              <a:gd name="connsiteX86" fmla="*/ 5818788 w 10753706"/>
              <a:gd name="connsiteY86" fmla="*/ 839727 h 1027260"/>
              <a:gd name="connsiteX87" fmla="*/ 5763953 w 10753706"/>
              <a:gd name="connsiteY87" fmla="*/ 834282 h 1027260"/>
              <a:gd name="connsiteX88" fmla="*/ 5667748 w 10753706"/>
              <a:gd name="connsiteY88" fmla="*/ 840211 h 1027260"/>
              <a:gd name="connsiteX89" fmla="*/ 5573108 w 10753706"/>
              <a:gd name="connsiteY89" fmla="*/ 847611 h 1027260"/>
              <a:gd name="connsiteX90" fmla="*/ 5539137 w 10753706"/>
              <a:gd name="connsiteY90" fmla="*/ 851033 h 1027260"/>
              <a:gd name="connsiteX91" fmla="*/ 5510651 w 10753706"/>
              <a:gd name="connsiteY91" fmla="*/ 844215 h 1027260"/>
              <a:gd name="connsiteX92" fmla="*/ 5457331 w 10753706"/>
              <a:gd name="connsiteY92" fmla="*/ 839159 h 1027260"/>
              <a:gd name="connsiteX93" fmla="*/ 5410613 w 10753706"/>
              <a:gd name="connsiteY93" fmla="*/ 834358 h 1027260"/>
              <a:gd name="connsiteX94" fmla="*/ 5370040 w 10753706"/>
              <a:gd name="connsiteY94" fmla="*/ 862127 h 1027260"/>
              <a:gd name="connsiteX95" fmla="*/ 5318778 w 10753706"/>
              <a:gd name="connsiteY95" fmla="*/ 855310 h 1027260"/>
              <a:gd name="connsiteX96" fmla="*/ 5298645 w 10753706"/>
              <a:gd name="connsiteY96" fmla="*/ 855171 h 1027260"/>
              <a:gd name="connsiteX97" fmla="*/ 5253828 w 10753706"/>
              <a:gd name="connsiteY97" fmla="*/ 859670 h 1027260"/>
              <a:gd name="connsiteX98" fmla="*/ 5216955 w 10753706"/>
              <a:gd name="connsiteY98" fmla="*/ 866245 h 1027260"/>
              <a:gd name="connsiteX99" fmla="*/ 5214344 w 10753706"/>
              <a:gd name="connsiteY99" fmla="*/ 868102 h 1027260"/>
              <a:gd name="connsiteX100" fmla="*/ 5195561 w 10753706"/>
              <a:gd name="connsiteY100" fmla="*/ 869949 h 1027260"/>
              <a:gd name="connsiteX101" fmla="*/ 5182555 w 10753706"/>
              <a:gd name="connsiteY101" fmla="*/ 873542 h 1027260"/>
              <a:gd name="connsiteX102" fmla="*/ 5172552 w 10753706"/>
              <a:gd name="connsiteY102" fmla="*/ 878801 h 1027260"/>
              <a:gd name="connsiteX103" fmla="*/ 5027993 w 10753706"/>
              <a:gd name="connsiteY103" fmla="*/ 889666 h 1027260"/>
              <a:gd name="connsiteX104" fmla="*/ 4939844 w 10753706"/>
              <a:gd name="connsiteY104" fmla="*/ 934802 h 1027260"/>
              <a:gd name="connsiteX105" fmla="*/ 4792576 w 10753706"/>
              <a:gd name="connsiteY105" fmla="*/ 934820 h 1027260"/>
              <a:gd name="connsiteX106" fmla="*/ 4602423 w 10753706"/>
              <a:gd name="connsiteY106" fmla="*/ 958063 h 1027260"/>
              <a:gd name="connsiteX107" fmla="*/ 4290656 w 10753706"/>
              <a:gd name="connsiteY107" fmla="*/ 969152 h 1027260"/>
              <a:gd name="connsiteX108" fmla="*/ 3952334 w 10753706"/>
              <a:gd name="connsiteY108" fmla="*/ 954043 h 1027260"/>
              <a:gd name="connsiteX109" fmla="*/ 3858560 w 10753706"/>
              <a:gd name="connsiteY109" fmla="*/ 948781 h 1027260"/>
              <a:gd name="connsiteX110" fmla="*/ 3846597 w 10753706"/>
              <a:gd name="connsiteY110" fmla="*/ 948382 h 1027260"/>
              <a:gd name="connsiteX111" fmla="*/ 3736044 w 10753706"/>
              <a:gd name="connsiteY111" fmla="*/ 947759 h 1027260"/>
              <a:gd name="connsiteX112" fmla="*/ 3713136 w 10753706"/>
              <a:gd name="connsiteY112" fmla="*/ 946963 h 1027260"/>
              <a:gd name="connsiteX113" fmla="*/ 3695939 w 10753706"/>
              <a:gd name="connsiteY113" fmla="*/ 943639 h 1027260"/>
              <a:gd name="connsiteX114" fmla="*/ 3694125 w 10753706"/>
              <a:gd name="connsiteY114" fmla="*/ 940567 h 1027260"/>
              <a:gd name="connsiteX115" fmla="*/ 3681925 w 10753706"/>
              <a:gd name="connsiteY115" fmla="*/ 939706 h 1027260"/>
              <a:gd name="connsiteX116" fmla="*/ 3679204 w 10753706"/>
              <a:gd name="connsiteY116" fmla="*/ 938926 h 1027260"/>
              <a:gd name="connsiteX117" fmla="*/ 3615656 w 10753706"/>
              <a:gd name="connsiteY117" fmla="*/ 940320 h 1027260"/>
              <a:gd name="connsiteX118" fmla="*/ 3567983 w 10753706"/>
              <a:gd name="connsiteY118" fmla="*/ 935596 h 1027260"/>
              <a:gd name="connsiteX119" fmla="*/ 3422423 w 10753706"/>
              <a:gd name="connsiteY119" fmla="*/ 932129 h 1027260"/>
              <a:gd name="connsiteX120" fmla="*/ 3310925 w 10753706"/>
              <a:gd name="connsiteY120" fmla="*/ 911072 h 1027260"/>
              <a:gd name="connsiteX121" fmla="*/ 3139421 w 10753706"/>
              <a:gd name="connsiteY121" fmla="*/ 934151 h 1027260"/>
              <a:gd name="connsiteX122" fmla="*/ 2996922 w 10753706"/>
              <a:gd name="connsiteY122" fmla="*/ 927537 h 1027260"/>
              <a:gd name="connsiteX123" fmla="*/ 2982785 w 10753706"/>
              <a:gd name="connsiteY123" fmla="*/ 931453 h 1027260"/>
              <a:gd name="connsiteX124" fmla="*/ 2967478 w 10753706"/>
              <a:gd name="connsiteY124" fmla="*/ 933397 h 1027260"/>
              <a:gd name="connsiteX125" fmla="*/ 2948552 w 10753706"/>
              <a:gd name="connsiteY125" fmla="*/ 932961 h 1027260"/>
              <a:gd name="connsiteX126" fmla="*/ 2944404 w 10753706"/>
              <a:gd name="connsiteY126" fmla="*/ 934452 h 1027260"/>
              <a:gd name="connsiteX127" fmla="*/ 2908608 w 10753706"/>
              <a:gd name="connsiteY127" fmla="*/ 937205 h 1027260"/>
              <a:gd name="connsiteX128" fmla="*/ 2904443 w 10753706"/>
              <a:gd name="connsiteY128" fmla="*/ 936455 h 1027260"/>
              <a:gd name="connsiteX129" fmla="*/ 2868935 w 10753706"/>
              <a:gd name="connsiteY129" fmla="*/ 938022 h 1027260"/>
              <a:gd name="connsiteX130" fmla="*/ 2868586 w 10753706"/>
              <a:gd name="connsiteY130" fmla="*/ 937487 h 1027260"/>
              <a:gd name="connsiteX131" fmla="*/ 2859191 w 10753706"/>
              <a:gd name="connsiteY131" fmla="*/ 935503 h 1027260"/>
              <a:gd name="connsiteX132" fmla="*/ 2840915 w 10753706"/>
              <a:gd name="connsiteY132" fmla="*/ 932977 h 1027260"/>
              <a:gd name="connsiteX133" fmla="*/ 2763509 w 10753706"/>
              <a:gd name="connsiteY133" fmla="*/ 921850 h 1027260"/>
              <a:gd name="connsiteX134" fmla="*/ 2756121 w 10753706"/>
              <a:gd name="connsiteY134" fmla="*/ 921864 h 1027260"/>
              <a:gd name="connsiteX135" fmla="*/ 2755998 w 10753706"/>
              <a:gd name="connsiteY135" fmla="*/ 921739 h 1027260"/>
              <a:gd name="connsiteX136" fmla="*/ 2748255 w 10753706"/>
              <a:gd name="connsiteY136" fmla="*/ 921505 h 1027260"/>
              <a:gd name="connsiteX137" fmla="*/ 2694601 w 10753706"/>
              <a:gd name="connsiteY137" fmla="*/ 915575 h 1027260"/>
              <a:gd name="connsiteX138" fmla="*/ 2635357 w 10753706"/>
              <a:gd name="connsiteY138" fmla="*/ 910976 h 1027260"/>
              <a:gd name="connsiteX139" fmla="*/ 2601047 w 10753706"/>
              <a:gd name="connsiteY139" fmla="*/ 910263 h 1027260"/>
              <a:gd name="connsiteX140" fmla="*/ 2507482 w 10753706"/>
              <a:gd name="connsiteY140" fmla="*/ 906211 h 1027260"/>
              <a:gd name="connsiteX141" fmla="*/ 2413884 w 10753706"/>
              <a:gd name="connsiteY141" fmla="*/ 900545 h 1027260"/>
              <a:gd name="connsiteX142" fmla="*/ 2368912 w 10753706"/>
              <a:gd name="connsiteY142" fmla="*/ 888755 h 1027260"/>
              <a:gd name="connsiteX143" fmla="*/ 2349490 w 10753706"/>
              <a:gd name="connsiteY143" fmla="*/ 889719 h 1027260"/>
              <a:gd name="connsiteX144" fmla="*/ 2344290 w 10753706"/>
              <a:gd name="connsiteY144" fmla="*/ 890584 h 1027260"/>
              <a:gd name="connsiteX145" fmla="*/ 2336488 w 10753706"/>
              <a:gd name="connsiteY145" fmla="*/ 891058 h 1027260"/>
              <a:gd name="connsiteX146" fmla="*/ 2329015 w 10753706"/>
              <a:gd name="connsiteY146" fmla="*/ 891627 h 1027260"/>
              <a:gd name="connsiteX147" fmla="*/ 2293898 w 10753706"/>
              <a:gd name="connsiteY147" fmla="*/ 896431 h 1027260"/>
              <a:gd name="connsiteX148" fmla="*/ 2243927 w 10753706"/>
              <a:gd name="connsiteY148" fmla="*/ 888076 h 1027260"/>
              <a:gd name="connsiteX149" fmla="*/ 2223920 w 10753706"/>
              <a:gd name="connsiteY149" fmla="*/ 887331 h 1027260"/>
              <a:gd name="connsiteX150" fmla="*/ 2213081 w 10753706"/>
              <a:gd name="connsiteY150" fmla="*/ 886302 h 1027260"/>
              <a:gd name="connsiteX151" fmla="*/ 2212307 w 10753706"/>
              <a:gd name="connsiteY151" fmla="*/ 885829 h 1027260"/>
              <a:gd name="connsiteX152" fmla="*/ 2152321 w 10753706"/>
              <a:gd name="connsiteY152" fmla="*/ 894418 h 1027260"/>
              <a:gd name="connsiteX153" fmla="*/ 2140985 w 10753706"/>
              <a:gd name="connsiteY153" fmla="*/ 895968 h 1027260"/>
              <a:gd name="connsiteX154" fmla="*/ 2121210 w 10753706"/>
              <a:gd name="connsiteY154" fmla="*/ 899354 h 1027260"/>
              <a:gd name="connsiteX155" fmla="*/ 2119146 w 10753706"/>
              <a:gd name="connsiteY155" fmla="*/ 899033 h 1027260"/>
              <a:gd name="connsiteX156" fmla="*/ 2105666 w 10753706"/>
              <a:gd name="connsiteY156" fmla="*/ 902240 h 1027260"/>
              <a:gd name="connsiteX157" fmla="*/ 2094924 w 10753706"/>
              <a:gd name="connsiteY157" fmla="*/ 907203 h 1027260"/>
              <a:gd name="connsiteX158" fmla="*/ 1949478 w 10753706"/>
              <a:gd name="connsiteY158" fmla="*/ 913748 h 1027260"/>
              <a:gd name="connsiteX159" fmla="*/ 1749684 w 10753706"/>
              <a:gd name="connsiteY159" fmla="*/ 942223 h 1027260"/>
              <a:gd name="connsiteX160" fmla="*/ 1585576 w 10753706"/>
              <a:gd name="connsiteY160" fmla="*/ 954170 h 1027260"/>
              <a:gd name="connsiteX161" fmla="*/ 1476250 w 10753706"/>
              <a:gd name="connsiteY161" fmla="*/ 950653 h 1027260"/>
              <a:gd name="connsiteX162" fmla="*/ 1433927 w 10753706"/>
              <a:gd name="connsiteY162" fmla="*/ 959926 h 1027260"/>
              <a:gd name="connsiteX163" fmla="*/ 1414893 w 10753706"/>
              <a:gd name="connsiteY163" fmla="*/ 957671 h 1027260"/>
              <a:gd name="connsiteX164" fmla="*/ 1411585 w 10753706"/>
              <a:gd name="connsiteY164" fmla="*/ 957179 h 1027260"/>
              <a:gd name="connsiteX165" fmla="*/ 1398896 w 10753706"/>
              <a:gd name="connsiteY165" fmla="*/ 957460 h 1027260"/>
              <a:gd name="connsiteX166" fmla="*/ 1394632 w 10753706"/>
              <a:gd name="connsiteY166" fmla="*/ 954725 h 1027260"/>
              <a:gd name="connsiteX167" fmla="*/ 1375043 w 10753706"/>
              <a:gd name="connsiteY167" fmla="*/ 953132 h 1027260"/>
              <a:gd name="connsiteX168" fmla="*/ 1351876 w 10753706"/>
              <a:gd name="connsiteY168" fmla="*/ 954436 h 1027260"/>
              <a:gd name="connsiteX169" fmla="*/ 1242676 w 10753706"/>
              <a:gd name="connsiteY169" fmla="*/ 963767 h 1027260"/>
              <a:gd name="connsiteX170" fmla="*/ 1205993 w 10753706"/>
              <a:gd name="connsiteY170" fmla="*/ 974080 h 1027260"/>
              <a:gd name="connsiteX171" fmla="*/ 1052221 w 10753706"/>
              <a:gd name="connsiteY171" fmla="*/ 963954 h 1027260"/>
              <a:gd name="connsiteX172" fmla="*/ 968270 w 10753706"/>
              <a:gd name="connsiteY172" fmla="*/ 964761 h 1027260"/>
              <a:gd name="connsiteX173" fmla="*/ 874493 w 10753706"/>
              <a:gd name="connsiteY173" fmla="*/ 998122 h 1027260"/>
              <a:gd name="connsiteX174" fmla="*/ 814411 w 10753706"/>
              <a:gd name="connsiteY174" fmla="*/ 1007391 h 1027260"/>
              <a:gd name="connsiteX175" fmla="*/ 688604 w 10753706"/>
              <a:gd name="connsiteY175" fmla="*/ 1015631 h 1027260"/>
              <a:gd name="connsiteX176" fmla="*/ 618171 w 10753706"/>
              <a:gd name="connsiteY176" fmla="*/ 1027260 h 1027260"/>
              <a:gd name="connsiteX177" fmla="*/ 570379 w 10753706"/>
              <a:gd name="connsiteY177" fmla="*/ 1023487 h 1027260"/>
              <a:gd name="connsiteX178" fmla="*/ 482519 w 10753706"/>
              <a:gd name="connsiteY178" fmla="*/ 1002108 h 1027260"/>
              <a:gd name="connsiteX179" fmla="*/ 475319 w 10753706"/>
              <a:gd name="connsiteY179" fmla="*/ 1009922 h 1027260"/>
              <a:gd name="connsiteX180" fmla="*/ 431104 w 10753706"/>
              <a:gd name="connsiteY180" fmla="*/ 1009317 h 1027260"/>
              <a:gd name="connsiteX181" fmla="*/ 363782 w 10753706"/>
              <a:gd name="connsiteY181" fmla="*/ 1007585 h 1027260"/>
              <a:gd name="connsiteX182" fmla="*/ 325533 w 10753706"/>
              <a:gd name="connsiteY182" fmla="*/ 1008502 h 1027260"/>
              <a:gd name="connsiteX183" fmla="*/ 220429 w 10753706"/>
              <a:gd name="connsiteY183" fmla="*/ 1008927 h 1027260"/>
              <a:gd name="connsiteX184" fmla="*/ 114676 w 10753706"/>
              <a:gd name="connsiteY184" fmla="*/ 1007765 h 1027260"/>
              <a:gd name="connsiteX185" fmla="*/ 13470 w 10753706"/>
              <a:gd name="connsiteY185" fmla="*/ 998544 h 1027260"/>
              <a:gd name="connsiteX186" fmla="*/ 0 w 10753706"/>
              <a:gd name="connsiteY186" fmla="*/ 997355 h 10272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Lst>
            <a:rect l="l" t="t" r="r" b="b"/>
            <a:pathLst>
              <a:path w="10753706" h="1027260">
                <a:moveTo>
                  <a:pt x="0" y="0"/>
                </a:moveTo>
                <a:lnTo>
                  <a:pt x="10753706" y="0"/>
                </a:lnTo>
                <a:lnTo>
                  <a:pt x="10748809" y="2522"/>
                </a:lnTo>
                <a:cubicBezTo>
                  <a:pt x="10744031" y="4644"/>
                  <a:pt x="10737551" y="7204"/>
                  <a:pt x="10725330" y="11977"/>
                </a:cubicBezTo>
                <a:cubicBezTo>
                  <a:pt x="10700888" y="21523"/>
                  <a:pt x="10652058" y="39304"/>
                  <a:pt x="10615423" y="52967"/>
                </a:cubicBezTo>
                <a:cubicBezTo>
                  <a:pt x="10598524" y="49017"/>
                  <a:pt x="10550674" y="61360"/>
                  <a:pt x="10533936" y="53095"/>
                </a:cubicBezTo>
                <a:cubicBezTo>
                  <a:pt x="10519435" y="55674"/>
                  <a:pt x="10480156" y="49393"/>
                  <a:pt x="10466876" y="45180"/>
                </a:cubicBezTo>
                <a:cubicBezTo>
                  <a:pt x="10443145" y="68059"/>
                  <a:pt x="10382269" y="71294"/>
                  <a:pt x="10355090" y="89741"/>
                </a:cubicBezTo>
                <a:cubicBezTo>
                  <a:pt x="10286222" y="95376"/>
                  <a:pt x="10146285" y="63529"/>
                  <a:pt x="10087145" y="66115"/>
                </a:cubicBezTo>
                <a:cubicBezTo>
                  <a:pt x="10067575" y="79584"/>
                  <a:pt x="10043111" y="68921"/>
                  <a:pt x="10015902" y="76178"/>
                </a:cubicBezTo>
                <a:cubicBezTo>
                  <a:pt x="9952302" y="84628"/>
                  <a:pt x="9893286" y="103337"/>
                  <a:pt x="9806005" y="102435"/>
                </a:cubicBezTo>
                <a:cubicBezTo>
                  <a:pt x="9782247" y="141133"/>
                  <a:pt x="9674787" y="151643"/>
                  <a:pt x="9602583" y="179170"/>
                </a:cubicBezTo>
                <a:cubicBezTo>
                  <a:pt x="9557658" y="187584"/>
                  <a:pt x="9478290" y="154235"/>
                  <a:pt x="9469719" y="174721"/>
                </a:cubicBezTo>
                <a:cubicBezTo>
                  <a:pt x="9443779" y="165070"/>
                  <a:pt x="9431317" y="185692"/>
                  <a:pt x="9408692" y="189513"/>
                </a:cubicBezTo>
                <a:cubicBezTo>
                  <a:pt x="9387154" y="183843"/>
                  <a:pt x="9380475" y="191089"/>
                  <a:pt x="9364151" y="194072"/>
                </a:cubicBezTo>
                <a:cubicBezTo>
                  <a:pt x="9354686" y="190222"/>
                  <a:pt x="9340485" y="191782"/>
                  <a:pt x="9337751" y="197579"/>
                </a:cubicBezTo>
                <a:cubicBezTo>
                  <a:pt x="9349566" y="209270"/>
                  <a:pt x="9297468" y="207714"/>
                  <a:pt x="9297166" y="216558"/>
                </a:cubicBezTo>
                <a:cubicBezTo>
                  <a:pt x="9269057" y="220999"/>
                  <a:pt x="9139630" y="221783"/>
                  <a:pt x="9123859" y="237356"/>
                </a:cubicBezTo>
                <a:cubicBezTo>
                  <a:pt x="9068176" y="249209"/>
                  <a:pt x="8975349" y="235349"/>
                  <a:pt x="8950741" y="238020"/>
                </a:cubicBezTo>
                <a:cubicBezTo>
                  <a:pt x="8916265" y="215428"/>
                  <a:pt x="8822808" y="292026"/>
                  <a:pt x="8718236" y="303148"/>
                </a:cubicBezTo>
                <a:cubicBezTo>
                  <a:pt x="8703111" y="302060"/>
                  <a:pt x="8695551" y="302792"/>
                  <a:pt x="8694011" y="308812"/>
                </a:cubicBezTo>
                <a:cubicBezTo>
                  <a:pt x="8661810" y="312764"/>
                  <a:pt x="8637956" y="329628"/>
                  <a:pt x="8611976" y="324819"/>
                </a:cubicBezTo>
                <a:cubicBezTo>
                  <a:pt x="8621849" y="336388"/>
                  <a:pt x="8562809" y="325917"/>
                  <a:pt x="8562074" y="337971"/>
                </a:cubicBezTo>
                <a:cubicBezTo>
                  <a:pt x="8543699" y="343978"/>
                  <a:pt x="8511321" y="356396"/>
                  <a:pt x="8501724" y="360865"/>
                </a:cubicBezTo>
                <a:lnTo>
                  <a:pt x="8504489" y="364790"/>
                </a:lnTo>
                <a:lnTo>
                  <a:pt x="8492774" y="366181"/>
                </a:lnTo>
                <a:lnTo>
                  <a:pt x="8466405" y="368724"/>
                </a:lnTo>
                <a:cubicBezTo>
                  <a:pt x="8455454" y="372229"/>
                  <a:pt x="8440175" y="385805"/>
                  <a:pt x="8427069" y="387211"/>
                </a:cubicBezTo>
                <a:cubicBezTo>
                  <a:pt x="8400442" y="392215"/>
                  <a:pt x="8397079" y="382989"/>
                  <a:pt x="8387766" y="377161"/>
                </a:cubicBezTo>
                <a:cubicBezTo>
                  <a:pt x="8369233" y="378548"/>
                  <a:pt x="8334756" y="390869"/>
                  <a:pt x="8315874" y="395527"/>
                </a:cubicBezTo>
                <a:cubicBezTo>
                  <a:pt x="8306664" y="400500"/>
                  <a:pt x="8272845" y="393679"/>
                  <a:pt x="8274474" y="405112"/>
                </a:cubicBezTo>
                <a:cubicBezTo>
                  <a:pt x="8255483" y="406194"/>
                  <a:pt x="8244963" y="408376"/>
                  <a:pt x="8234664" y="410219"/>
                </a:cubicBezTo>
                <a:lnTo>
                  <a:pt x="8211268" y="416791"/>
                </a:lnTo>
                <a:cubicBezTo>
                  <a:pt x="8204720" y="419941"/>
                  <a:pt x="8197411" y="422004"/>
                  <a:pt x="8188615" y="421755"/>
                </a:cubicBezTo>
                <a:lnTo>
                  <a:pt x="8179981" y="420402"/>
                </a:lnTo>
                <a:lnTo>
                  <a:pt x="8179307" y="422516"/>
                </a:lnTo>
                <a:cubicBezTo>
                  <a:pt x="8179027" y="425797"/>
                  <a:pt x="8175790" y="448341"/>
                  <a:pt x="8147929" y="450302"/>
                </a:cubicBezTo>
                <a:cubicBezTo>
                  <a:pt x="8130300" y="457967"/>
                  <a:pt x="8114933" y="461015"/>
                  <a:pt x="8089136" y="465283"/>
                </a:cubicBezTo>
                <a:cubicBezTo>
                  <a:pt x="8072810" y="465920"/>
                  <a:pt x="8069376" y="451569"/>
                  <a:pt x="8049973" y="454121"/>
                </a:cubicBezTo>
                <a:cubicBezTo>
                  <a:pt x="7974508" y="471465"/>
                  <a:pt x="8006050" y="447139"/>
                  <a:pt x="7965913" y="464415"/>
                </a:cubicBezTo>
                <a:cubicBezTo>
                  <a:pt x="7958234" y="466025"/>
                  <a:pt x="7951405" y="465800"/>
                  <a:pt x="7945093" y="464798"/>
                </a:cubicBezTo>
                <a:lnTo>
                  <a:pt x="7935335" y="462442"/>
                </a:lnTo>
                <a:lnTo>
                  <a:pt x="7904779" y="471429"/>
                </a:lnTo>
                <a:cubicBezTo>
                  <a:pt x="7889387" y="474999"/>
                  <a:pt x="7872867" y="477951"/>
                  <a:pt x="7855604" y="480199"/>
                </a:cubicBezTo>
                <a:cubicBezTo>
                  <a:pt x="7850005" y="476378"/>
                  <a:pt x="7838628" y="483595"/>
                  <a:pt x="7832630" y="485371"/>
                </a:cubicBezTo>
                <a:cubicBezTo>
                  <a:pt x="7831473" y="482645"/>
                  <a:pt x="7816623" y="482661"/>
                  <a:pt x="7812438" y="485391"/>
                </a:cubicBezTo>
                <a:cubicBezTo>
                  <a:pt x="7709470" y="505049"/>
                  <a:pt x="7759426" y="473956"/>
                  <a:pt x="7701399" y="495197"/>
                </a:cubicBezTo>
                <a:cubicBezTo>
                  <a:pt x="7690986" y="496989"/>
                  <a:pt x="7682397" y="496365"/>
                  <a:pt x="7674778" y="494723"/>
                </a:cubicBezTo>
                <a:lnTo>
                  <a:pt x="7660445" y="490194"/>
                </a:lnTo>
                <a:lnTo>
                  <a:pt x="7651781" y="493084"/>
                </a:lnTo>
                <a:cubicBezTo>
                  <a:pt x="7616113" y="496548"/>
                  <a:pt x="7603273" y="491735"/>
                  <a:pt x="7584807" y="499490"/>
                </a:cubicBezTo>
                <a:cubicBezTo>
                  <a:pt x="7549256" y="490212"/>
                  <a:pt x="7563949" y="500167"/>
                  <a:pt x="7541324" y="504184"/>
                </a:cubicBezTo>
                <a:cubicBezTo>
                  <a:pt x="7523851" y="508307"/>
                  <a:pt x="7559546" y="509825"/>
                  <a:pt x="7541756" y="512184"/>
                </a:cubicBezTo>
                <a:cubicBezTo>
                  <a:pt x="7520963" y="510864"/>
                  <a:pt x="7525755" y="520497"/>
                  <a:pt x="7503906" y="518551"/>
                </a:cubicBezTo>
                <a:cubicBezTo>
                  <a:pt x="7505924" y="510774"/>
                  <a:pt x="7464361" y="523683"/>
                  <a:pt x="7460411" y="517415"/>
                </a:cubicBezTo>
                <a:lnTo>
                  <a:pt x="7460116" y="517548"/>
                </a:lnTo>
                <a:cubicBezTo>
                  <a:pt x="7447785" y="530928"/>
                  <a:pt x="7310141" y="550568"/>
                  <a:pt x="7297810" y="563947"/>
                </a:cubicBezTo>
                <a:cubicBezTo>
                  <a:pt x="7221791" y="605698"/>
                  <a:pt x="7039072" y="646008"/>
                  <a:pt x="6946388" y="665244"/>
                </a:cubicBezTo>
                <a:cubicBezTo>
                  <a:pt x="6853704" y="684480"/>
                  <a:pt x="6804875" y="677485"/>
                  <a:pt x="6741704" y="679365"/>
                </a:cubicBezTo>
                <a:lnTo>
                  <a:pt x="6624680" y="677674"/>
                </a:lnTo>
                <a:lnTo>
                  <a:pt x="6605700" y="683566"/>
                </a:lnTo>
                <a:cubicBezTo>
                  <a:pt x="6603309" y="685184"/>
                  <a:pt x="6599550" y="685647"/>
                  <a:pt x="6576922" y="683030"/>
                </a:cubicBezTo>
                <a:cubicBezTo>
                  <a:pt x="6527275" y="698355"/>
                  <a:pt x="6440981" y="702347"/>
                  <a:pt x="6405123" y="721946"/>
                </a:cubicBezTo>
                <a:cubicBezTo>
                  <a:pt x="6407963" y="715467"/>
                  <a:pt x="6383450" y="712913"/>
                  <a:pt x="6368938" y="717341"/>
                </a:cubicBezTo>
                <a:cubicBezTo>
                  <a:pt x="6377914" y="692119"/>
                  <a:pt x="6315316" y="744281"/>
                  <a:pt x="6295102" y="729508"/>
                </a:cubicBezTo>
                <a:cubicBezTo>
                  <a:pt x="6300358" y="744473"/>
                  <a:pt x="6240070" y="776254"/>
                  <a:pt x="6202084" y="767091"/>
                </a:cubicBezTo>
                <a:cubicBezTo>
                  <a:pt x="6152826" y="774744"/>
                  <a:pt x="6122010" y="790367"/>
                  <a:pt x="6067157" y="790339"/>
                </a:cubicBezTo>
                <a:cubicBezTo>
                  <a:pt x="6066310" y="792484"/>
                  <a:pt x="6064283" y="794403"/>
                  <a:pt x="6061443" y="796151"/>
                </a:cubicBezTo>
                <a:lnTo>
                  <a:pt x="6051406" y="800684"/>
                </a:lnTo>
                <a:lnTo>
                  <a:pt x="6049097" y="800636"/>
                </a:lnTo>
                <a:cubicBezTo>
                  <a:pt x="6040408" y="801393"/>
                  <a:pt x="6036299" y="802645"/>
                  <a:pt x="6034222" y="804110"/>
                </a:cubicBezTo>
                <a:lnTo>
                  <a:pt x="6033121" y="806078"/>
                </a:lnTo>
                <a:lnTo>
                  <a:pt x="6023593" y="808842"/>
                </a:lnTo>
                <a:lnTo>
                  <a:pt x="6006639" y="815304"/>
                </a:lnTo>
                <a:lnTo>
                  <a:pt x="6001762" y="815557"/>
                </a:lnTo>
                <a:lnTo>
                  <a:pt x="5973534" y="823815"/>
                </a:lnTo>
                <a:lnTo>
                  <a:pt x="5972336" y="823476"/>
                </a:lnTo>
                <a:cubicBezTo>
                  <a:pt x="5969004" y="822901"/>
                  <a:pt x="5965329" y="822833"/>
                  <a:pt x="5960841" y="823819"/>
                </a:cubicBezTo>
                <a:cubicBezTo>
                  <a:pt x="5955860" y="815655"/>
                  <a:pt x="5953515" y="821882"/>
                  <a:pt x="5940719" y="825514"/>
                </a:cubicBezTo>
                <a:cubicBezTo>
                  <a:pt x="5930130" y="813644"/>
                  <a:pt x="5900943" y="827979"/>
                  <a:pt x="5884298" y="823806"/>
                </a:cubicBezTo>
                <a:cubicBezTo>
                  <a:pt x="5875133" y="826741"/>
                  <a:pt x="5865250" y="829630"/>
                  <a:pt x="5854779" y="832365"/>
                </a:cubicBezTo>
                <a:lnTo>
                  <a:pt x="5848382" y="833844"/>
                </a:lnTo>
                <a:lnTo>
                  <a:pt x="5848066" y="833772"/>
                </a:lnTo>
                <a:cubicBezTo>
                  <a:pt x="5846273" y="833879"/>
                  <a:pt x="5844018" y="834284"/>
                  <a:pt x="5840944" y="835132"/>
                </a:cubicBezTo>
                <a:lnTo>
                  <a:pt x="5836719" y="836539"/>
                </a:lnTo>
                <a:lnTo>
                  <a:pt x="5824311" y="839408"/>
                </a:lnTo>
                <a:lnTo>
                  <a:pt x="5818788" y="839727"/>
                </a:lnTo>
                <a:cubicBezTo>
                  <a:pt x="5797008" y="838594"/>
                  <a:pt x="5786883" y="822081"/>
                  <a:pt x="5763953" y="834282"/>
                </a:cubicBezTo>
                <a:cubicBezTo>
                  <a:pt x="5726813" y="837521"/>
                  <a:pt x="5699446" y="830949"/>
                  <a:pt x="5667748" y="840211"/>
                </a:cubicBezTo>
                <a:cubicBezTo>
                  <a:pt x="5632959" y="843205"/>
                  <a:pt x="5601436" y="842280"/>
                  <a:pt x="5573108" y="847611"/>
                </a:cubicBezTo>
                <a:cubicBezTo>
                  <a:pt x="5560030" y="845832"/>
                  <a:pt x="5549547" y="851598"/>
                  <a:pt x="5539137" y="851033"/>
                </a:cubicBezTo>
                <a:cubicBezTo>
                  <a:pt x="5528728" y="850467"/>
                  <a:pt x="5529256" y="837509"/>
                  <a:pt x="5510651" y="844215"/>
                </a:cubicBezTo>
                <a:cubicBezTo>
                  <a:pt x="5494241" y="833607"/>
                  <a:pt x="5466101" y="839171"/>
                  <a:pt x="5457331" y="839159"/>
                </a:cubicBezTo>
                <a:lnTo>
                  <a:pt x="5410613" y="834358"/>
                </a:lnTo>
                <a:lnTo>
                  <a:pt x="5370040" y="862127"/>
                </a:lnTo>
                <a:cubicBezTo>
                  <a:pt x="5357863" y="856469"/>
                  <a:pt x="5319115" y="868069"/>
                  <a:pt x="5318778" y="855310"/>
                </a:cubicBezTo>
                <a:cubicBezTo>
                  <a:pt x="5303920" y="857760"/>
                  <a:pt x="5296727" y="863736"/>
                  <a:pt x="5298645" y="855171"/>
                </a:cubicBezTo>
                <a:cubicBezTo>
                  <a:pt x="5287819" y="855897"/>
                  <a:pt x="5267444" y="857825"/>
                  <a:pt x="5253828" y="859670"/>
                </a:cubicBezTo>
                <a:lnTo>
                  <a:pt x="5216955" y="866245"/>
                </a:lnTo>
                <a:lnTo>
                  <a:pt x="5214344" y="868102"/>
                </a:lnTo>
                <a:cubicBezTo>
                  <a:pt x="5210778" y="868719"/>
                  <a:pt x="5200859" y="869042"/>
                  <a:pt x="5195561" y="869949"/>
                </a:cubicBezTo>
                <a:lnTo>
                  <a:pt x="5182555" y="873542"/>
                </a:lnTo>
                <a:cubicBezTo>
                  <a:pt x="5178496" y="875023"/>
                  <a:pt x="5175066" y="876746"/>
                  <a:pt x="5172552" y="878801"/>
                </a:cubicBezTo>
                <a:cubicBezTo>
                  <a:pt x="5121406" y="873797"/>
                  <a:pt x="5080096" y="886529"/>
                  <a:pt x="5027993" y="889666"/>
                </a:cubicBezTo>
                <a:cubicBezTo>
                  <a:pt x="4999924" y="877115"/>
                  <a:pt x="4946973" y="919452"/>
                  <a:pt x="4939844" y="934802"/>
                </a:cubicBezTo>
                <a:cubicBezTo>
                  <a:pt x="4895154" y="940701"/>
                  <a:pt x="4844006" y="928240"/>
                  <a:pt x="4792576" y="934820"/>
                </a:cubicBezTo>
                <a:lnTo>
                  <a:pt x="4602423" y="958063"/>
                </a:lnTo>
                <a:cubicBezTo>
                  <a:pt x="4488530" y="967131"/>
                  <a:pt x="4399004" y="969822"/>
                  <a:pt x="4290656" y="969152"/>
                </a:cubicBezTo>
                <a:cubicBezTo>
                  <a:pt x="4182308" y="968482"/>
                  <a:pt x="4046938" y="971167"/>
                  <a:pt x="3952334" y="954043"/>
                </a:cubicBezTo>
                <a:lnTo>
                  <a:pt x="3858560" y="948781"/>
                </a:lnTo>
                <a:lnTo>
                  <a:pt x="3846597" y="948382"/>
                </a:lnTo>
                <a:cubicBezTo>
                  <a:pt x="3807516" y="956616"/>
                  <a:pt x="3767475" y="941640"/>
                  <a:pt x="3736044" y="947759"/>
                </a:cubicBezTo>
                <a:cubicBezTo>
                  <a:pt x="3727323" y="948128"/>
                  <a:pt x="3719828" y="947771"/>
                  <a:pt x="3713136" y="946963"/>
                </a:cubicBezTo>
                <a:lnTo>
                  <a:pt x="3695939" y="943639"/>
                </a:lnTo>
                <a:lnTo>
                  <a:pt x="3694125" y="940567"/>
                </a:lnTo>
                <a:lnTo>
                  <a:pt x="3681925" y="939706"/>
                </a:lnTo>
                <a:lnTo>
                  <a:pt x="3679204" y="938926"/>
                </a:lnTo>
                <a:cubicBezTo>
                  <a:pt x="3668160" y="939028"/>
                  <a:pt x="3634193" y="940875"/>
                  <a:pt x="3615656" y="940320"/>
                </a:cubicBezTo>
                <a:cubicBezTo>
                  <a:pt x="3582626" y="936974"/>
                  <a:pt x="3593904" y="949140"/>
                  <a:pt x="3567983" y="935596"/>
                </a:cubicBezTo>
                <a:cubicBezTo>
                  <a:pt x="3504185" y="939048"/>
                  <a:pt x="3482818" y="922224"/>
                  <a:pt x="3422423" y="932129"/>
                </a:cubicBezTo>
                <a:cubicBezTo>
                  <a:pt x="3369166" y="933413"/>
                  <a:pt x="3329486" y="910108"/>
                  <a:pt x="3310925" y="911072"/>
                </a:cubicBezTo>
                <a:cubicBezTo>
                  <a:pt x="3261363" y="909787"/>
                  <a:pt x="3198415" y="933574"/>
                  <a:pt x="3139421" y="934151"/>
                </a:cubicBezTo>
                <a:cubicBezTo>
                  <a:pt x="3088799" y="931012"/>
                  <a:pt x="3038941" y="938464"/>
                  <a:pt x="2996922" y="927537"/>
                </a:cubicBezTo>
                <a:cubicBezTo>
                  <a:pt x="2992673" y="929234"/>
                  <a:pt x="2987900" y="930498"/>
                  <a:pt x="2982785" y="931453"/>
                </a:cubicBezTo>
                <a:lnTo>
                  <a:pt x="2967478" y="933397"/>
                </a:lnTo>
                <a:lnTo>
                  <a:pt x="2948552" y="932961"/>
                </a:lnTo>
                <a:lnTo>
                  <a:pt x="2944404" y="934452"/>
                </a:lnTo>
                <a:lnTo>
                  <a:pt x="2908608" y="937205"/>
                </a:lnTo>
                <a:lnTo>
                  <a:pt x="2904443" y="936455"/>
                </a:lnTo>
                <a:lnTo>
                  <a:pt x="2868935" y="938022"/>
                </a:lnTo>
                <a:lnTo>
                  <a:pt x="2868586" y="937487"/>
                </a:lnTo>
                <a:cubicBezTo>
                  <a:pt x="2866994" y="936327"/>
                  <a:pt x="2864292" y="935538"/>
                  <a:pt x="2859191" y="935503"/>
                </a:cubicBezTo>
                <a:cubicBezTo>
                  <a:pt x="2869075" y="927418"/>
                  <a:pt x="2856828" y="932364"/>
                  <a:pt x="2840915" y="932977"/>
                </a:cubicBezTo>
                <a:lnTo>
                  <a:pt x="2763509" y="921850"/>
                </a:lnTo>
                <a:lnTo>
                  <a:pt x="2756121" y="921864"/>
                </a:lnTo>
                <a:cubicBezTo>
                  <a:pt x="2756081" y="921822"/>
                  <a:pt x="2756039" y="921781"/>
                  <a:pt x="2755998" y="921739"/>
                </a:cubicBezTo>
                <a:cubicBezTo>
                  <a:pt x="2754445" y="921476"/>
                  <a:pt x="2752036" y="921380"/>
                  <a:pt x="2748255" y="921505"/>
                </a:cubicBezTo>
                <a:lnTo>
                  <a:pt x="2694601" y="915575"/>
                </a:lnTo>
                <a:cubicBezTo>
                  <a:pt x="2671223" y="919874"/>
                  <a:pt x="2666972" y="913376"/>
                  <a:pt x="2635357" y="910976"/>
                </a:cubicBezTo>
                <a:cubicBezTo>
                  <a:pt x="2621906" y="915051"/>
                  <a:pt x="2611315" y="913542"/>
                  <a:pt x="2601047" y="910263"/>
                </a:cubicBezTo>
                <a:cubicBezTo>
                  <a:pt x="2570084" y="912074"/>
                  <a:pt x="2542135" y="907435"/>
                  <a:pt x="2507482" y="906211"/>
                </a:cubicBezTo>
                <a:cubicBezTo>
                  <a:pt x="2469706" y="911437"/>
                  <a:pt x="2450920" y="901812"/>
                  <a:pt x="2413884" y="900545"/>
                </a:cubicBezTo>
                <a:cubicBezTo>
                  <a:pt x="2381338" y="909664"/>
                  <a:pt x="2387753" y="892438"/>
                  <a:pt x="2368912" y="888755"/>
                </a:cubicBezTo>
                <a:lnTo>
                  <a:pt x="2349490" y="889719"/>
                </a:lnTo>
                <a:lnTo>
                  <a:pt x="2344290" y="890584"/>
                </a:lnTo>
                <a:cubicBezTo>
                  <a:pt x="2340673" y="891041"/>
                  <a:pt x="2338228" y="891167"/>
                  <a:pt x="2336488" y="891058"/>
                </a:cubicBezTo>
                <a:lnTo>
                  <a:pt x="2329015" y="891627"/>
                </a:lnTo>
                <a:cubicBezTo>
                  <a:pt x="2316843" y="893039"/>
                  <a:pt x="2305064" y="894669"/>
                  <a:pt x="2293898" y="896431"/>
                </a:cubicBezTo>
                <a:cubicBezTo>
                  <a:pt x="2282637" y="890404"/>
                  <a:pt x="2242346" y="900851"/>
                  <a:pt x="2243927" y="888076"/>
                </a:cubicBezTo>
                <a:cubicBezTo>
                  <a:pt x="2228778" y="890081"/>
                  <a:pt x="2220725" y="895845"/>
                  <a:pt x="2223920" y="887331"/>
                </a:cubicBezTo>
                <a:cubicBezTo>
                  <a:pt x="2218877" y="887756"/>
                  <a:pt x="2215583" y="887254"/>
                  <a:pt x="2213081" y="886302"/>
                </a:cubicBezTo>
                <a:lnTo>
                  <a:pt x="2212307" y="885829"/>
                </a:lnTo>
                <a:lnTo>
                  <a:pt x="2152321" y="894418"/>
                </a:lnTo>
                <a:lnTo>
                  <a:pt x="2140985" y="895968"/>
                </a:lnTo>
                <a:lnTo>
                  <a:pt x="2121210" y="899354"/>
                </a:lnTo>
                <a:lnTo>
                  <a:pt x="2119146" y="899033"/>
                </a:lnTo>
                <a:lnTo>
                  <a:pt x="2105666" y="902240"/>
                </a:lnTo>
                <a:cubicBezTo>
                  <a:pt x="2101407" y="903601"/>
                  <a:pt x="2097735" y="905221"/>
                  <a:pt x="2094924" y="907203"/>
                </a:cubicBezTo>
                <a:cubicBezTo>
                  <a:pt x="2044793" y="900664"/>
                  <a:pt x="2001785" y="912168"/>
                  <a:pt x="1949478" y="913748"/>
                </a:cubicBezTo>
                <a:cubicBezTo>
                  <a:pt x="1891937" y="919585"/>
                  <a:pt x="1810334" y="935486"/>
                  <a:pt x="1749684" y="942223"/>
                </a:cubicBezTo>
                <a:lnTo>
                  <a:pt x="1585576" y="954170"/>
                </a:lnTo>
                <a:cubicBezTo>
                  <a:pt x="1549165" y="943719"/>
                  <a:pt x="1511425" y="950847"/>
                  <a:pt x="1476250" y="950653"/>
                </a:cubicBezTo>
                <a:cubicBezTo>
                  <a:pt x="1488515" y="961596"/>
                  <a:pt x="1432660" y="946795"/>
                  <a:pt x="1433927" y="959926"/>
                </a:cubicBezTo>
                <a:cubicBezTo>
                  <a:pt x="1427485" y="959475"/>
                  <a:pt x="1421205" y="958623"/>
                  <a:pt x="1414893" y="957671"/>
                </a:cubicBezTo>
                <a:lnTo>
                  <a:pt x="1411585" y="957179"/>
                </a:lnTo>
                <a:lnTo>
                  <a:pt x="1398896" y="957460"/>
                </a:lnTo>
                <a:lnTo>
                  <a:pt x="1394632" y="954725"/>
                </a:lnTo>
                <a:lnTo>
                  <a:pt x="1375043" y="953132"/>
                </a:lnTo>
                <a:cubicBezTo>
                  <a:pt x="1367813" y="952970"/>
                  <a:pt x="1360155" y="953305"/>
                  <a:pt x="1351876" y="954436"/>
                </a:cubicBezTo>
                <a:cubicBezTo>
                  <a:pt x="1325912" y="963028"/>
                  <a:pt x="1274459" y="952492"/>
                  <a:pt x="1242676" y="963767"/>
                </a:cubicBezTo>
                <a:cubicBezTo>
                  <a:pt x="1230276" y="966918"/>
                  <a:pt x="1216715" y="977098"/>
                  <a:pt x="1205993" y="974080"/>
                </a:cubicBezTo>
                <a:cubicBezTo>
                  <a:pt x="1174251" y="974112"/>
                  <a:pt x="1086982" y="964420"/>
                  <a:pt x="1052221" y="963954"/>
                </a:cubicBezTo>
                <a:cubicBezTo>
                  <a:pt x="1038515" y="970622"/>
                  <a:pt x="1009522" y="962342"/>
                  <a:pt x="968270" y="964761"/>
                </a:cubicBezTo>
                <a:cubicBezTo>
                  <a:pt x="943437" y="973698"/>
                  <a:pt x="900136" y="991017"/>
                  <a:pt x="874493" y="998122"/>
                </a:cubicBezTo>
                <a:cubicBezTo>
                  <a:pt x="848849" y="1005226"/>
                  <a:pt x="853424" y="1009427"/>
                  <a:pt x="814411" y="1007391"/>
                </a:cubicBezTo>
                <a:cubicBezTo>
                  <a:pt x="765926" y="1022821"/>
                  <a:pt x="732885" y="1009859"/>
                  <a:pt x="688604" y="1015631"/>
                </a:cubicBezTo>
                <a:cubicBezTo>
                  <a:pt x="638045" y="1020877"/>
                  <a:pt x="677999" y="1011556"/>
                  <a:pt x="618171" y="1027260"/>
                </a:cubicBezTo>
                <a:cubicBezTo>
                  <a:pt x="609680" y="1023165"/>
                  <a:pt x="583253" y="1020277"/>
                  <a:pt x="570379" y="1023487"/>
                </a:cubicBezTo>
                <a:cubicBezTo>
                  <a:pt x="543992" y="1022523"/>
                  <a:pt x="505183" y="1001686"/>
                  <a:pt x="482519" y="1002108"/>
                </a:cubicBezTo>
                <a:cubicBezTo>
                  <a:pt x="464011" y="1002285"/>
                  <a:pt x="495211" y="1007995"/>
                  <a:pt x="475319" y="1009922"/>
                </a:cubicBezTo>
                <a:cubicBezTo>
                  <a:pt x="450818" y="1011135"/>
                  <a:pt x="454804" y="1022539"/>
                  <a:pt x="431104" y="1009317"/>
                </a:cubicBezTo>
                <a:cubicBezTo>
                  <a:pt x="406857" y="1014651"/>
                  <a:pt x="399686" y="1008456"/>
                  <a:pt x="363782" y="1007585"/>
                </a:cubicBezTo>
                <a:cubicBezTo>
                  <a:pt x="350440" y="1012231"/>
                  <a:pt x="338145" y="1011245"/>
                  <a:pt x="325533" y="1008502"/>
                </a:cubicBezTo>
                <a:cubicBezTo>
                  <a:pt x="291944" y="1011745"/>
                  <a:pt x="259251" y="1008497"/>
                  <a:pt x="220429" y="1008927"/>
                </a:cubicBezTo>
                <a:cubicBezTo>
                  <a:pt x="180594" y="1015852"/>
                  <a:pt x="156150" y="1007265"/>
                  <a:pt x="114676" y="1007765"/>
                </a:cubicBezTo>
                <a:cubicBezTo>
                  <a:pt x="85718" y="1006195"/>
                  <a:pt x="43316" y="1001491"/>
                  <a:pt x="13470" y="998544"/>
                </a:cubicBezTo>
                <a:lnTo>
                  <a:pt x="0" y="997355"/>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6" name="Picture 10" descr="Metagenomics: Host DNA Removal or Not?">
            <a:extLst>
              <a:ext uri="{FF2B5EF4-FFF2-40B4-BE49-F238E27FC236}">
                <a16:creationId xmlns:a16="http://schemas.microsoft.com/office/drawing/2014/main" id="{1EF0AD1C-827A-0299-2A0D-DBFF98668722}"/>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4546" t="25939" r="76117" b="54446"/>
          <a:stretch>
            <a:fillRect/>
          </a:stretch>
        </p:blipFill>
        <p:spPr bwMode="auto">
          <a:xfrm>
            <a:off x="10233636" y="1940438"/>
            <a:ext cx="1163635" cy="1367165"/>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14" descr="Metagenomics: Host DNA Removal or Not?">
            <a:extLst>
              <a:ext uri="{FF2B5EF4-FFF2-40B4-BE49-F238E27FC236}">
                <a16:creationId xmlns:a16="http://schemas.microsoft.com/office/drawing/2014/main" id="{36ACF489-045E-F2BA-F183-8874C675320C}"/>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60082" t="15003" r="8692" b="53768"/>
          <a:stretch>
            <a:fillRect/>
          </a:stretch>
        </p:blipFill>
        <p:spPr bwMode="auto">
          <a:xfrm>
            <a:off x="9194318" y="3428999"/>
            <a:ext cx="2444473" cy="1367165"/>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16" descr="Evaluation of methods for the reduction of contaminating host reads when  performing shotgun metagenomic sequencing of the milk microbiome |  Scientific Reports">
            <a:extLst>
              <a:ext uri="{FF2B5EF4-FFF2-40B4-BE49-F238E27FC236}">
                <a16:creationId xmlns:a16="http://schemas.microsoft.com/office/drawing/2014/main" id="{C9BCAE8C-4DD1-F528-5BA6-AC8D15B22001}"/>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8332" t="38146" r="37452" b="51685"/>
          <a:stretch>
            <a:fillRect/>
          </a:stretch>
        </p:blipFill>
        <p:spPr bwMode="auto">
          <a:xfrm>
            <a:off x="9194318" y="2107921"/>
            <a:ext cx="738212" cy="136716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67163369"/>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3191425D-A7CD-ED76-9397-7FFEAA75C222}"/>
            </a:ext>
          </a:extLst>
        </p:cNvPr>
        <p:cNvGrpSpPr/>
        <p:nvPr/>
      </p:nvGrpSpPr>
      <p:grpSpPr>
        <a:xfrm>
          <a:off x="0" y="0"/>
          <a:ext cx="0" cy="0"/>
          <a:chOff x="0" y="0"/>
          <a:chExt cx="0" cy="0"/>
        </a:xfrm>
      </p:grpSpPr>
      <p:sp useBgFill="1">
        <p:nvSpPr>
          <p:cNvPr id="18" name="Rectangle 17">
            <a:extLst>
              <a:ext uri="{FF2B5EF4-FFF2-40B4-BE49-F238E27FC236}">
                <a16:creationId xmlns:a16="http://schemas.microsoft.com/office/drawing/2014/main" id="{61293230-B0F6-45B1-96D1-13D18E24299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3">
            <a:extLst>
              <a:ext uri="{FF2B5EF4-FFF2-40B4-BE49-F238E27FC236}">
                <a16:creationId xmlns:a16="http://schemas.microsoft.com/office/drawing/2014/main" id="{9781AC64-DB84-F8FC-A3C3-61AC4BFD21E0}"/>
              </a:ext>
            </a:extLst>
          </p:cNvPr>
          <p:cNvSpPr>
            <a:spLocks noGrp="1"/>
          </p:cNvSpPr>
          <p:nvPr>
            <p:ph type="title"/>
          </p:nvPr>
        </p:nvSpPr>
        <p:spPr>
          <a:xfrm>
            <a:off x="1075893" y="121885"/>
            <a:ext cx="6463301" cy="1322888"/>
          </a:xfrm>
        </p:spPr>
        <p:txBody>
          <a:bodyPr>
            <a:normAutofit/>
          </a:bodyPr>
          <a:lstStyle/>
          <a:p>
            <a:r>
              <a:rPr lang="en-DK" dirty="0"/>
              <a:t>DNA Extraction</a:t>
            </a:r>
          </a:p>
        </p:txBody>
      </p:sp>
      <p:sp>
        <p:nvSpPr>
          <p:cNvPr id="20" name="Freeform: Shape 19">
            <a:extLst>
              <a:ext uri="{FF2B5EF4-FFF2-40B4-BE49-F238E27FC236}">
                <a16:creationId xmlns:a16="http://schemas.microsoft.com/office/drawing/2014/main" id="{2B573B51-C170-49C0-A3D9-8D99730C45A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4589924" y="2"/>
            <a:ext cx="7602076" cy="470844"/>
          </a:xfrm>
          <a:custGeom>
            <a:avLst/>
            <a:gdLst>
              <a:gd name="connsiteX0" fmla="*/ 9683888 w 9683888"/>
              <a:gd name="connsiteY0" fmla="*/ 0 h 743457"/>
              <a:gd name="connsiteX1" fmla="*/ 0 w 9683888"/>
              <a:gd name="connsiteY1" fmla="*/ 0 h 743457"/>
              <a:gd name="connsiteX2" fmla="*/ 0 w 9683888"/>
              <a:gd name="connsiteY2" fmla="*/ 365878 h 743457"/>
              <a:gd name="connsiteX3" fmla="*/ 11844 w 9683888"/>
              <a:gd name="connsiteY3" fmla="*/ 367909 h 743457"/>
              <a:gd name="connsiteX4" fmla="*/ 106208 w 9683888"/>
              <a:gd name="connsiteY4" fmla="*/ 385974 h 743457"/>
              <a:gd name="connsiteX5" fmla="*/ 183667 w 9683888"/>
              <a:gd name="connsiteY5" fmla="*/ 399162 h 743457"/>
              <a:gd name="connsiteX6" fmla="*/ 292430 w 9683888"/>
              <a:gd name="connsiteY6" fmla="*/ 390408 h 743457"/>
              <a:gd name="connsiteX7" fmla="*/ 386942 w 9683888"/>
              <a:gd name="connsiteY7" fmla="*/ 395582 h 743457"/>
              <a:gd name="connsiteX8" fmla="*/ 485751 w 9683888"/>
              <a:gd name="connsiteY8" fmla="*/ 408404 h 743457"/>
              <a:gd name="connsiteX9" fmla="*/ 604107 w 9683888"/>
              <a:gd name="connsiteY9" fmla="*/ 418647 h 743457"/>
              <a:gd name="connsiteX10" fmla="*/ 694081 w 9683888"/>
              <a:gd name="connsiteY10" fmla="*/ 449524 h 743457"/>
              <a:gd name="connsiteX11" fmla="*/ 762452 w 9683888"/>
              <a:gd name="connsiteY11" fmla="*/ 456090 h 743457"/>
              <a:gd name="connsiteX12" fmla="*/ 987872 w 9683888"/>
              <a:gd name="connsiteY12" fmla="*/ 481862 h 743457"/>
              <a:gd name="connsiteX13" fmla="*/ 1077163 w 9683888"/>
              <a:gd name="connsiteY13" fmla="*/ 524467 h 743457"/>
              <a:gd name="connsiteX14" fmla="*/ 1258716 w 9683888"/>
              <a:gd name="connsiteY14" fmla="*/ 587975 h 743457"/>
              <a:gd name="connsiteX15" fmla="*/ 1298056 w 9683888"/>
              <a:gd name="connsiteY15" fmla="*/ 595413 h 743457"/>
              <a:gd name="connsiteX16" fmla="*/ 1327017 w 9683888"/>
              <a:gd name="connsiteY16" fmla="*/ 617412 h 743457"/>
              <a:gd name="connsiteX17" fmla="*/ 1347909 w 9683888"/>
              <a:gd name="connsiteY17" fmla="*/ 620209 h 743457"/>
              <a:gd name="connsiteX18" fmla="*/ 1421792 w 9683888"/>
              <a:gd name="connsiteY18" fmla="*/ 626139 h 743457"/>
              <a:gd name="connsiteX19" fmla="*/ 1519789 w 9683888"/>
              <a:gd name="connsiteY19" fmla="*/ 645011 h 743457"/>
              <a:gd name="connsiteX20" fmla="*/ 1620886 w 9683888"/>
              <a:gd name="connsiteY20" fmla="*/ 687715 h 743457"/>
              <a:gd name="connsiteX21" fmla="*/ 1676745 w 9683888"/>
              <a:gd name="connsiteY21" fmla="*/ 690130 h 743457"/>
              <a:gd name="connsiteX22" fmla="*/ 1832228 w 9683888"/>
              <a:gd name="connsiteY22" fmla="*/ 690860 h 743457"/>
              <a:gd name="connsiteX23" fmla="*/ 1980464 w 9683888"/>
              <a:gd name="connsiteY23" fmla="*/ 704858 h 743457"/>
              <a:gd name="connsiteX24" fmla="*/ 2051150 w 9683888"/>
              <a:gd name="connsiteY24" fmla="*/ 711187 h 743457"/>
              <a:gd name="connsiteX25" fmla="*/ 2162824 w 9683888"/>
              <a:gd name="connsiteY25" fmla="*/ 709178 h 743457"/>
              <a:gd name="connsiteX26" fmla="*/ 2259859 w 9683888"/>
              <a:gd name="connsiteY26" fmla="*/ 718188 h 743457"/>
              <a:gd name="connsiteX27" fmla="*/ 2378290 w 9683888"/>
              <a:gd name="connsiteY27" fmla="*/ 738748 h 743457"/>
              <a:gd name="connsiteX28" fmla="*/ 2407828 w 9683888"/>
              <a:gd name="connsiteY28" fmla="*/ 743457 h 743457"/>
              <a:gd name="connsiteX29" fmla="*/ 2428936 w 9683888"/>
              <a:gd name="connsiteY29" fmla="*/ 734697 h 743457"/>
              <a:gd name="connsiteX30" fmla="*/ 2646106 w 9683888"/>
              <a:gd name="connsiteY30" fmla="*/ 660204 h 743457"/>
              <a:gd name="connsiteX31" fmla="*/ 2799920 w 9683888"/>
              <a:gd name="connsiteY31" fmla="*/ 630451 h 743457"/>
              <a:gd name="connsiteX32" fmla="*/ 2953556 w 9683888"/>
              <a:gd name="connsiteY32" fmla="*/ 607173 h 743457"/>
              <a:gd name="connsiteX33" fmla="*/ 3009839 w 9683888"/>
              <a:gd name="connsiteY33" fmla="*/ 601743 h 743457"/>
              <a:gd name="connsiteX34" fmla="*/ 3115016 w 9683888"/>
              <a:gd name="connsiteY34" fmla="*/ 584982 h 743457"/>
              <a:gd name="connsiteX35" fmla="*/ 3185844 w 9683888"/>
              <a:gd name="connsiteY35" fmla="*/ 595356 h 743457"/>
              <a:gd name="connsiteX36" fmla="*/ 3246013 w 9683888"/>
              <a:gd name="connsiteY36" fmla="*/ 592418 h 743457"/>
              <a:gd name="connsiteX37" fmla="*/ 3313565 w 9683888"/>
              <a:gd name="connsiteY37" fmla="*/ 574138 h 743457"/>
              <a:gd name="connsiteX38" fmla="*/ 3414143 w 9683888"/>
              <a:gd name="connsiteY38" fmla="*/ 553730 h 743457"/>
              <a:gd name="connsiteX39" fmla="*/ 3552895 w 9683888"/>
              <a:gd name="connsiteY39" fmla="*/ 548563 h 743457"/>
              <a:gd name="connsiteX40" fmla="*/ 3753012 w 9683888"/>
              <a:gd name="connsiteY40" fmla="*/ 599520 h 743457"/>
              <a:gd name="connsiteX41" fmla="*/ 3804392 w 9683888"/>
              <a:gd name="connsiteY41" fmla="*/ 604131 h 743457"/>
              <a:gd name="connsiteX42" fmla="*/ 3916696 w 9683888"/>
              <a:gd name="connsiteY42" fmla="*/ 606540 h 743457"/>
              <a:gd name="connsiteX43" fmla="*/ 4063849 w 9683888"/>
              <a:gd name="connsiteY43" fmla="*/ 604058 h 743457"/>
              <a:gd name="connsiteX44" fmla="*/ 4172179 w 9683888"/>
              <a:gd name="connsiteY44" fmla="*/ 592355 h 743457"/>
              <a:gd name="connsiteX45" fmla="*/ 4276294 w 9683888"/>
              <a:gd name="connsiteY45" fmla="*/ 587119 h 743457"/>
              <a:gd name="connsiteX46" fmla="*/ 4411090 w 9683888"/>
              <a:gd name="connsiteY46" fmla="*/ 575600 h 743457"/>
              <a:gd name="connsiteX47" fmla="*/ 4540465 w 9683888"/>
              <a:gd name="connsiteY47" fmla="*/ 567464 h 743457"/>
              <a:gd name="connsiteX48" fmla="*/ 4545352 w 9683888"/>
              <a:gd name="connsiteY48" fmla="*/ 555554 h 743457"/>
              <a:gd name="connsiteX49" fmla="*/ 4564014 w 9683888"/>
              <a:gd name="connsiteY49" fmla="*/ 553660 h 743457"/>
              <a:gd name="connsiteX50" fmla="*/ 4568602 w 9683888"/>
              <a:gd name="connsiteY50" fmla="*/ 550913 h 743457"/>
              <a:gd name="connsiteX51" fmla="*/ 4595289 w 9683888"/>
              <a:gd name="connsiteY51" fmla="*/ 537407 h 743457"/>
              <a:gd name="connsiteX52" fmla="*/ 4739026 w 9683888"/>
              <a:gd name="connsiteY52" fmla="*/ 532483 h 743457"/>
              <a:gd name="connsiteX53" fmla="*/ 5061335 w 9683888"/>
              <a:gd name="connsiteY53" fmla="*/ 545635 h 743457"/>
              <a:gd name="connsiteX54" fmla="*/ 5338634 w 9683888"/>
              <a:gd name="connsiteY54" fmla="*/ 595754 h 743457"/>
              <a:gd name="connsiteX55" fmla="*/ 5529430 w 9683888"/>
              <a:gd name="connsiteY55" fmla="*/ 606335 h 743457"/>
              <a:gd name="connsiteX56" fmla="*/ 5604039 w 9683888"/>
              <a:gd name="connsiteY56" fmla="*/ 607676 h 743457"/>
              <a:gd name="connsiteX57" fmla="*/ 5625281 w 9683888"/>
              <a:gd name="connsiteY57" fmla="*/ 617253 h 743457"/>
              <a:gd name="connsiteX58" fmla="*/ 5628138 w 9683888"/>
              <a:gd name="connsiteY58" fmla="*/ 615483 h 743457"/>
              <a:gd name="connsiteX59" fmla="*/ 5653593 w 9683888"/>
              <a:gd name="connsiteY59" fmla="*/ 617873 h 743457"/>
              <a:gd name="connsiteX60" fmla="*/ 5658658 w 9683888"/>
              <a:gd name="connsiteY60" fmla="*/ 624279 h 743457"/>
              <a:gd name="connsiteX61" fmla="*/ 5675963 w 9683888"/>
              <a:gd name="connsiteY61" fmla="*/ 627762 h 743457"/>
              <a:gd name="connsiteX62" fmla="*/ 5709625 w 9683888"/>
              <a:gd name="connsiteY62" fmla="*/ 639593 h 743457"/>
              <a:gd name="connsiteX63" fmla="*/ 5716324 w 9683888"/>
              <a:gd name="connsiteY63" fmla="*/ 637148 h 743457"/>
              <a:gd name="connsiteX64" fmla="*/ 5767720 w 9683888"/>
              <a:gd name="connsiteY64" fmla="*/ 647737 h 743457"/>
              <a:gd name="connsiteX65" fmla="*/ 5768619 w 9683888"/>
              <a:gd name="connsiteY65" fmla="*/ 645671 h 743457"/>
              <a:gd name="connsiteX66" fmla="*/ 5858696 w 9683888"/>
              <a:gd name="connsiteY66" fmla="*/ 628099 h 743457"/>
              <a:gd name="connsiteX67" fmla="*/ 5935260 w 9683888"/>
              <a:gd name="connsiteY67" fmla="*/ 596904 h 743457"/>
              <a:gd name="connsiteX68" fmla="*/ 5946176 w 9683888"/>
              <a:gd name="connsiteY68" fmla="*/ 597874 h 743457"/>
              <a:gd name="connsiteX69" fmla="*/ 5946447 w 9683888"/>
              <a:gd name="connsiteY69" fmla="*/ 597396 h 743457"/>
              <a:gd name="connsiteX70" fmla="*/ 5958069 w 9683888"/>
              <a:gd name="connsiteY70" fmla="*/ 597432 h 743457"/>
              <a:gd name="connsiteX71" fmla="*/ 5966081 w 9683888"/>
              <a:gd name="connsiteY71" fmla="*/ 599643 h 743457"/>
              <a:gd name="connsiteX72" fmla="*/ 5987259 w 9683888"/>
              <a:gd name="connsiteY72" fmla="*/ 601523 h 743457"/>
              <a:gd name="connsiteX73" fmla="*/ 5994905 w 9683888"/>
              <a:gd name="connsiteY73" fmla="*/ 598873 h 743457"/>
              <a:gd name="connsiteX74" fmla="*/ 6054803 w 9683888"/>
              <a:gd name="connsiteY74" fmla="*/ 541202 h 743457"/>
              <a:gd name="connsiteX75" fmla="*/ 6188672 w 9683888"/>
              <a:gd name="connsiteY75" fmla="*/ 496389 h 743457"/>
              <a:gd name="connsiteX76" fmla="*/ 6323280 w 9683888"/>
              <a:gd name="connsiteY76" fmla="*/ 458013 h 743457"/>
              <a:gd name="connsiteX77" fmla="*/ 6457257 w 9683888"/>
              <a:gd name="connsiteY77" fmla="*/ 414621 h 743457"/>
              <a:gd name="connsiteX78" fmla="*/ 6530019 w 9683888"/>
              <a:gd name="connsiteY78" fmla="*/ 423168 h 743457"/>
              <a:gd name="connsiteX79" fmla="*/ 6626800 w 9683888"/>
              <a:gd name="connsiteY79" fmla="*/ 375078 h 743457"/>
              <a:gd name="connsiteX80" fmla="*/ 6689231 w 9683888"/>
              <a:gd name="connsiteY80" fmla="*/ 353501 h 743457"/>
              <a:gd name="connsiteX81" fmla="*/ 6726440 w 9683888"/>
              <a:gd name="connsiteY81" fmla="*/ 340276 h 743457"/>
              <a:gd name="connsiteX82" fmla="*/ 6835228 w 9683888"/>
              <a:gd name="connsiteY82" fmla="*/ 329393 h 743457"/>
              <a:gd name="connsiteX83" fmla="*/ 7039363 w 9683888"/>
              <a:gd name="connsiteY83" fmla="*/ 370823 h 743457"/>
              <a:gd name="connsiteX84" fmla="*/ 7095156 w 9683888"/>
              <a:gd name="connsiteY84" fmla="*/ 366075 h 743457"/>
              <a:gd name="connsiteX85" fmla="*/ 7187061 w 9683888"/>
              <a:gd name="connsiteY85" fmla="*/ 383876 h 743457"/>
              <a:gd name="connsiteX86" fmla="*/ 7295039 w 9683888"/>
              <a:gd name="connsiteY86" fmla="*/ 355046 h 743457"/>
              <a:gd name="connsiteX87" fmla="*/ 7373651 w 9683888"/>
              <a:gd name="connsiteY87" fmla="*/ 322299 h 743457"/>
              <a:gd name="connsiteX88" fmla="*/ 7418964 w 9683888"/>
              <a:gd name="connsiteY88" fmla="*/ 308685 h 743457"/>
              <a:gd name="connsiteX89" fmla="*/ 7450568 w 9683888"/>
              <a:gd name="connsiteY89" fmla="*/ 293511 h 743457"/>
              <a:gd name="connsiteX90" fmla="*/ 7538380 w 9683888"/>
              <a:gd name="connsiteY90" fmla="*/ 283235 h 743457"/>
              <a:gd name="connsiteX91" fmla="*/ 7786348 w 9683888"/>
              <a:gd name="connsiteY91" fmla="*/ 225377 h 743457"/>
              <a:gd name="connsiteX92" fmla="*/ 7849534 w 9683888"/>
              <a:gd name="connsiteY92" fmla="*/ 245434 h 743457"/>
              <a:gd name="connsiteX93" fmla="*/ 7981165 w 9683888"/>
              <a:gd name="connsiteY93" fmla="*/ 222252 h 743457"/>
              <a:gd name="connsiteX94" fmla="*/ 8171882 w 9683888"/>
              <a:gd name="connsiteY94" fmla="*/ 222497 h 743457"/>
              <a:gd name="connsiteX95" fmla="*/ 8242270 w 9683888"/>
              <a:gd name="connsiteY95" fmla="*/ 180535 h 743457"/>
              <a:gd name="connsiteX96" fmla="*/ 8490152 w 9683888"/>
              <a:gd name="connsiteY96" fmla="*/ 209193 h 743457"/>
              <a:gd name="connsiteX97" fmla="*/ 8622272 w 9683888"/>
              <a:gd name="connsiteY97" fmla="*/ 188859 h 743457"/>
              <a:gd name="connsiteX98" fmla="*/ 8738606 w 9683888"/>
              <a:gd name="connsiteY98" fmla="*/ 208945 h 743457"/>
              <a:gd name="connsiteX99" fmla="*/ 8831307 w 9683888"/>
              <a:gd name="connsiteY99" fmla="*/ 207738 h 743457"/>
              <a:gd name="connsiteX100" fmla="*/ 8891432 w 9683888"/>
              <a:gd name="connsiteY100" fmla="*/ 184510 h 743457"/>
              <a:gd name="connsiteX101" fmla="*/ 8946980 w 9683888"/>
              <a:gd name="connsiteY101" fmla="*/ 145578 h 743457"/>
              <a:gd name="connsiteX102" fmla="*/ 9107760 w 9683888"/>
              <a:gd name="connsiteY102" fmla="*/ 128052 h 743457"/>
              <a:gd name="connsiteX103" fmla="*/ 9195623 w 9683888"/>
              <a:gd name="connsiteY103" fmla="*/ 100212 h 743457"/>
              <a:gd name="connsiteX104" fmla="*/ 9256898 w 9683888"/>
              <a:gd name="connsiteY104" fmla="*/ 73900 h 743457"/>
              <a:gd name="connsiteX105" fmla="*/ 9351740 w 9683888"/>
              <a:gd name="connsiteY105" fmla="*/ 80439 h 743457"/>
              <a:gd name="connsiteX106" fmla="*/ 9539796 w 9683888"/>
              <a:gd name="connsiteY106" fmla="*/ 87069 h 743457"/>
              <a:gd name="connsiteX107" fmla="*/ 9619109 w 9683888"/>
              <a:gd name="connsiteY107" fmla="*/ 39994 h 7434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Lst>
            <a:rect l="l" t="t" r="r" b="b"/>
            <a:pathLst>
              <a:path w="9683888" h="743457">
                <a:moveTo>
                  <a:pt x="9683888" y="0"/>
                </a:moveTo>
                <a:lnTo>
                  <a:pt x="0" y="0"/>
                </a:lnTo>
                <a:lnTo>
                  <a:pt x="0" y="365878"/>
                </a:lnTo>
                <a:lnTo>
                  <a:pt x="11844" y="367909"/>
                </a:lnTo>
                <a:cubicBezTo>
                  <a:pt x="50423" y="374387"/>
                  <a:pt x="87879" y="380746"/>
                  <a:pt x="106208" y="385974"/>
                </a:cubicBezTo>
                <a:cubicBezTo>
                  <a:pt x="119919" y="389979"/>
                  <a:pt x="149687" y="402128"/>
                  <a:pt x="183667" y="399162"/>
                </a:cubicBezTo>
                <a:cubicBezTo>
                  <a:pt x="228274" y="394575"/>
                  <a:pt x="256969" y="398315"/>
                  <a:pt x="292430" y="390408"/>
                </a:cubicBezTo>
                <a:cubicBezTo>
                  <a:pt x="325377" y="395694"/>
                  <a:pt x="374510" y="420053"/>
                  <a:pt x="386942" y="395582"/>
                </a:cubicBezTo>
                <a:cubicBezTo>
                  <a:pt x="400429" y="416427"/>
                  <a:pt x="451168" y="399411"/>
                  <a:pt x="485751" y="408404"/>
                </a:cubicBezTo>
                <a:cubicBezTo>
                  <a:pt x="520399" y="423586"/>
                  <a:pt x="570416" y="404235"/>
                  <a:pt x="604107" y="418647"/>
                </a:cubicBezTo>
                <a:cubicBezTo>
                  <a:pt x="633631" y="425521"/>
                  <a:pt x="672063" y="446364"/>
                  <a:pt x="694081" y="449524"/>
                </a:cubicBezTo>
                <a:cubicBezTo>
                  <a:pt x="700528" y="463278"/>
                  <a:pt x="713487" y="450700"/>
                  <a:pt x="762452" y="456090"/>
                </a:cubicBezTo>
                <a:cubicBezTo>
                  <a:pt x="811417" y="461479"/>
                  <a:pt x="935420" y="470466"/>
                  <a:pt x="987872" y="481862"/>
                </a:cubicBezTo>
                <a:cubicBezTo>
                  <a:pt x="1018493" y="475799"/>
                  <a:pt x="1019470" y="516810"/>
                  <a:pt x="1077163" y="524467"/>
                </a:cubicBezTo>
                <a:cubicBezTo>
                  <a:pt x="1124222" y="535807"/>
                  <a:pt x="1202940" y="574855"/>
                  <a:pt x="1258716" y="587975"/>
                </a:cubicBezTo>
                <a:cubicBezTo>
                  <a:pt x="1274181" y="586466"/>
                  <a:pt x="1286859" y="589632"/>
                  <a:pt x="1298056" y="595413"/>
                </a:cubicBezTo>
                <a:lnTo>
                  <a:pt x="1327017" y="617412"/>
                </a:lnTo>
                <a:lnTo>
                  <a:pt x="1347909" y="620209"/>
                </a:lnTo>
                <a:cubicBezTo>
                  <a:pt x="1377004" y="628445"/>
                  <a:pt x="1394712" y="616344"/>
                  <a:pt x="1421792" y="626139"/>
                </a:cubicBezTo>
                <a:cubicBezTo>
                  <a:pt x="1466260" y="647543"/>
                  <a:pt x="1506099" y="610975"/>
                  <a:pt x="1519789" y="645011"/>
                </a:cubicBezTo>
                <a:cubicBezTo>
                  <a:pt x="1556219" y="665699"/>
                  <a:pt x="1578776" y="668950"/>
                  <a:pt x="1620886" y="687715"/>
                </a:cubicBezTo>
                <a:cubicBezTo>
                  <a:pt x="1658228" y="693647"/>
                  <a:pt x="1636224" y="694371"/>
                  <a:pt x="1676745" y="690130"/>
                </a:cubicBezTo>
                <a:cubicBezTo>
                  <a:pt x="1713709" y="697532"/>
                  <a:pt x="1774627" y="701403"/>
                  <a:pt x="1832228" y="690860"/>
                </a:cubicBezTo>
                <a:cubicBezTo>
                  <a:pt x="1866586" y="689181"/>
                  <a:pt x="1949046" y="755765"/>
                  <a:pt x="1980464" y="704858"/>
                </a:cubicBezTo>
                <a:cubicBezTo>
                  <a:pt x="2001472" y="716610"/>
                  <a:pt x="2020758" y="710467"/>
                  <a:pt x="2051150" y="711187"/>
                </a:cubicBezTo>
                <a:cubicBezTo>
                  <a:pt x="2081543" y="711907"/>
                  <a:pt x="2117567" y="736153"/>
                  <a:pt x="2162824" y="709178"/>
                </a:cubicBezTo>
                <a:cubicBezTo>
                  <a:pt x="2219712" y="701824"/>
                  <a:pt x="2181421" y="742368"/>
                  <a:pt x="2259859" y="718188"/>
                </a:cubicBezTo>
                <a:cubicBezTo>
                  <a:pt x="2296623" y="733933"/>
                  <a:pt x="2337412" y="741012"/>
                  <a:pt x="2378290" y="738748"/>
                </a:cubicBezTo>
                <a:cubicBezTo>
                  <a:pt x="2380041" y="725410"/>
                  <a:pt x="2399659" y="741017"/>
                  <a:pt x="2407828" y="743457"/>
                </a:cubicBezTo>
                <a:cubicBezTo>
                  <a:pt x="2406113" y="735180"/>
                  <a:pt x="2421642" y="728742"/>
                  <a:pt x="2428936" y="734697"/>
                </a:cubicBezTo>
                <a:cubicBezTo>
                  <a:pt x="2468648" y="720822"/>
                  <a:pt x="2584275" y="677579"/>
                  <a:pt x="2646106" y="660204"/>
                </a:cubicBezTo>
                <a:cubicBezTo>
                  <a:pt x="2706894" y="652346"/>
                  <a:pt x="2738390" y="612318"/>
                  <a:pt x="2799920" y="630451"/>
                </a:cubicBezTo>
                <a:cubicBezTo>
                  <a:pt x="2856798" y="622940"/>
                  <a:pt x="2902940" y="602232"/>
                  <a:pt x="2953556" y="607173"/>
                </a:cubicBezTo>
                <a:cubicBezTo>
                  <a:pt x="2970626" y="593247"/>
                  <a:pt x="2988095" y="586399"/>
                  <a:pt x="3009839" y="601743"/>
                </a:cubicBezTo>
                <a:cubicBezTo>
                  <a:pt x="3046166" y="594868"/>
                  <a:pt x="3085682" y="586046"/>
                  <a:pt x="3115016" y="584982"/>
                </a:cubicBezTo>
                <a:cubicBezTo>
                  <a:pt x="3144992" y="587935"/>
                  <a:pt x="3158740" y="599045"/>
                  <a:pt x="3185844" y="595356"/>
                </a:cubicBezTo>
                <a:cubicBezTo>
                  <a:pt x="3209939" y="576197"/>
                  <a:pt x="3221731" y="614583"/>
                  <a:pt x="3246013" y="592418"/>
                </a:cubicBezTo>
                <a:cubicBezTo>
                  <a:pt x="3228976" y="565486"/>
                  <a:pt x="3320172" y="599686"/>
                  <a:pt x="3313565" y="574138"/>
                </a:cubicBezTo>
                <a:cubicBezTo>
                  <a:pt x="3341586" y="564515"/>
                  <a:pt x="3371901" y="555346"/>
                  <a:pt x="3414143" y="553730"/>
                </a:cubicBezTo>
                <a:cubicBezTo>
                  <a:pt x="3463229" y="557630"/>
                  <a:pt x="3476532" y="539673"/>
                  <a:pt x="3552895" y="548563"/>
                </a:cubicBezTo>
                <a:cubicBezTo>
                  <a:pt x="3620356" y="561042"/>
                  <a:pt x="3688830" y="574962"/>
                  <a:pt x="3753012" y="599520"/>
                </a:cubicBezTo>
                <a:cubicBezTo>
                  <a:pt x="3769580" y="615048"/>
                  <a:pt x="3777112" y="602961"/>
                  <a:pt x="3804392" y="604131"/>
                </a:cubicBezTo>
                <a:cubicBezTo>
                  <a:pt x="3831672" y="605301"/>
                  <a:pt x="3878076" y="605222"/>
                  <a:pt x="3916696" y="606540"/>
                </a:cubicBezTo>
                <a:cubicBezTo>
                  <a:pt x="3970533" y="603881"/>
                  <a:pt x="3981244" y="618066"/>
                  <a:pt x="4063849" y="604058"/>
                </a:cubicBezTo>
                <a:cubicBezTo>
                  <a:pt x="4074473" y="605185"/>
                  <a:pt x="4134611" y="589365"/>
                  <a:pt x="4172179" y="592355"/>
                </a:cubicBezTo>
                <a:cubicBezTo>
                  <a:pt x="4180554" y="576172"/>
                  <a:pt x="4255433" y="602075"/>
                  <a:pt x="4276294" y="587119"/>
                </a:cubicBezTo>
                <a:cubicBezTo>
                  <a:pt x="4326119" y="586973"/>
                  <a:pt x="4361692" y="573867"/>
                  <a:pt x="4411090" y="575600"/>
                </a:cubicBezTo>
                <a:cubicBezTo>
                  <a:pt x="4465125" y="575500"/>
                  <a:pt x="4518088" y="570805"/>
                  <a:pt x="4540465" y="567464"/>
                </a:cubicBezTo>
                <a:lnTo>
                  <a:pt x="4545352" y="555554"/>
                </a:lnTo>
                <a:lnTo>
                  <a:pt x="4564014" y="553660"/>
                </a:lnTo>
                <a:lnTo>
                  <a:pt x="4568602" y="550913"/>
                </a:lnTo>
                <a:cubicBezTo>
                  <a:pt x="4577353" y="545618"/>
                  <a:pt x="4586105" y="540734"/>
                  <a:pt x="4595289" y="537407"/>
                </a:cubicBezTo>
                <a:cubicBezTo>
                  <a:pt x="4623104" y="537511"/>
                  <a:pt x="4660764" y="533229"/>
                  <a:pt x="4739026" y="532483"/>
                </a:cubicBezTo>
                <a:cubicBezTo>
                  <a:pt x="4806238" y="527255"/>
                  <a:pt x="4944577" y="524439"/>
                  <a:pt x="5061335" y="545635"/>
                </a:cubicBezTo>
                <a:cubicBezTo>
                  <a:pt x="5167156" y="553533"/>
                  <a:pt x="5251789" y="586167"/>
                  <a:pt x="5338634" y="595754"/>
                </a:cubicBezTo>
                <a:cubicBezTo>
                  <a:pt x="5415763" y="589622"/>
                  <a:pt x="5434719" y="609365"/>
                  <a:pt x="5529430" y="606335"/>
                </a:cubicBezTo>
                <a:cubicBezTo>
                  <a:pt x="5534498" y="613561"/>
                  <a:pt x="5597157" y="603269"/>
                  <a:pt x="5604039" y="607676"/>
                </a:cubicBezTo>
                <a:lnTo>
                  <a:pt x="5625281" y="617253"/>
                </a:lnTo>
                <a:lnTo>
                  <a:pt x="5628138" y="615483"/>
                </a:lnTo>
                <a:cubicBezTo>
                  <a:pt x="5640641" y="612245"/>
                  <a:pt x="5648217" y="613966"/>
                  <a:pt x="5653593" y="617873"/>
                </a:cubicBezTo>
                <a:lnTo>
                  <a:pt x="5658658" y="624279"/>
                </a:lnTo>
                <a:lnTo>
                  <a:pt x="5675963" y="627762"/>
                </a:lnTo>
                <a:lnTo>
                  <a:pt x="5709625" y="639593"/>
                </a:lnTo>
                <a:lnTo>
                  <a:pt x="5716324" y="637148"/>
                </a:lnTo>
                <a:lnTo>
                  <a:pt x="5767720" y="647737"/>
                </a:lnTo>
                <a:lnTo>
                  <a:pt x="5768619" y="645671"/>
                </a:lnTo>
                <a:cubicBezTo>
                  <a:pt x="5776130" y="642927"/>
                  <a:pt x="5830922" y="636226"/>
                  <a:pt x="5858696" y="628099"/>
                </a:cubicBezTo>
                <a:lnTo>
                  <a:pt x="5935260" y="596904"/>
                </a:lnTo>
                <a:lnTo>
                  <a:pt x="5946176" y="597874"/>
                </a:lnTo>
                <a:lnTo>
                  <a:pt x="5946447" y="597396"/>
                </a:lnTo>
                <a:cubicBezTo>
                  <a:pt x="5948934" y="596546"/>
                  <a:pt x="5952567" y="596468"/>
                  <a:pt x="5958069" y="597432"/>
                </a:cubicBezTo>
                <a:lnTo>
                  <a:pt x="5966081" y="599643"/>
                </a:lnTo>
                <a:lnTo>
                  <a:pt x="5987259" y="601523"/>
                </a:lnTo>
                <a:lnTo>
                  <a:pt x="5994905" y="598873"/>
                </a:lnTo>
                <a:cubicBezTo>
                  <a:pt x="6020610" y="579716"/>
                  <a:pt x="6016968" y="560235"/>
                  <a:pt x="6054803" y="541202"/>
                </a:cubicBezTo>
                <a:cubicBezTo>
                  <a:pt x="6108247" y="527358"/>
                  <a:pt x="6130976" y="484538"/>
                  <a:pt x="6188672" y="496389"/>
                </a:cubicBezTo>
                <a:cubicBezTo>
                  <a:pt x="6238659" y="483279"/>
                  <a:pt x="6277194" y="458153"/>
                  <a:pt x="6323280" y="458013"/>
                </a:cubicBezTo>
                <a:cubicBezTo>
                  <a:pt x="6368044" y="444385"/>
                  <a:pt x="6422801" y="420428"/>
                  <a:pt x="6457257" y="414621"/>
                </a:cubicBezTo>
                <a:cubicBezTo>
                  <a:pt x="6483424" y="410645"/>
                  <a:pt x="6508964" y="423228"/>
                  <a:pt x="6530019" y="423168"/>
                </a:cubicBezTo>
                <a:cubicBezTo>
                  <a:pt x="6558276" y="416578"/>
                  <a:pt x="6600264" y="386690"/>
                  <a:pt x="6626800" y="375078"/>
                </a:cubicBezTo>
                <a:cubicBezTo>
                  <a:pt x="6664418" y="400828"/>
                  <a:pt x="6655535" y="354302"/>
                  <a:pt x="6689231" y="353501"/>
                </a:cubicBezTo>
                <a:cubicBezTo>
                  <a:pt x="6708837" y="361122"/>
                  <a:pt x="6719642" y="359485"/>
                  <a:pt x="6726440" y="340276"/>
                </a:cubicBezTo>
                <a:cubicBezTo>
                  <a:pt x="6818329" y="378763"/>
                  <a:pt x="6765502" y="328183"/>
                  <a:pt x="6835228" y="329393"/>
                </a:cubicBezTo>
                <a:cubicBezTo>
                  <a:pt x="6897464" y="335048"/>
                  <a:pt x="6962224" y="329085"/>
                  <a:pt x="7039363" y="370823"/>
                </a:cubicBezTo>
                <a:cubicBezTo>
                  <a:pt x="7056368" y="384567"/>
                  <a:pt x="7070539" y="363899"/>
                  <a:pt x="7095156" y="366075"/>
                </a:cubicBezTo>
                <a:cubicBezTo>
                  <a:pt x="7119772" y="368250"/>
                  <a:pt x="7153748" y="385714"/>
                  <a:pt x="7187061" y="383876"/>
                </a:cubicBezTo>
                <a:cubicBezTo>
                  <a:pt x="7242115" y="377604"/>
                  <a:pt x="7270954" y="334249"/>
                  <a:pt x="7295039" y="355046"/>
                </a:cubicBezTo>
                <a:cubicBezTo>
                  <a:pt x="7320104" y="344159"/>
                  <a:pt x="7343179" y="301443"/>
                  <a:pt x="7373651" y="322299"/>
                </a:cubicBezTo>
                <a:cubicBezTo>
                  <a:pt x="7367160" y="298575"/>
                  <a:pt x="7410095" y="329040"/>
                  <a:pt x="7418964" y="308685"/>
                </a:cubicBezTo>
                <a:cubicBezTo>
                  <a:pt x="7424243" y="291807"/>
                  <a:pt x="7438503" y="297117"/>
                  <a:pt x="7450568" y="293511"/>
                </a:cubicBezTo>
                <a:cubicBezTo>
                  <a:pt x="7461276" y="277652"/>
                  <a:pt x="7519437" y="275664"/>
                  <a:pt x="7538380" y="283235"/>
                </a:cubicBezTo>
                <a:cubicBezTo>
                  <a:pt x="7594343" y="271879"/>
                  <a:pt x="7734488" y="231676"/>
                  <a:pt x="7786348" y="225377"/>
                </a:cubicBezTo>
                <a:cubicBezTo>
                  <a:pt x="7797693" y="277094"/>
                  <a:pt x="7847327" y="236176"/>
                  <a:pt x="7849534" y="245434"/>
                </a:cubicBezTo>
                <a:cubicBezTo>
                  <a:pt x="7894253" y="231282"/>
                  <a:pt x="7937937" y="238796"/>
                  <a:pt x="7981165" y="222252"/>
                </a:cubicBezTo>
                <a:cubicBezTo>
                  <a:pt x="8066564" y="234459"/>
                  <a:pt x="8127007" y="235277"/>
                  <a:pt x="8171882" y="222497"/>
                </a:cubicBezTo>
                <a:cubicBezTo>
                  <a:pt x="8183092" y="205785"/>
                  <a:pt x="8217423" y="177145"/>
                  <a:pt x="8242270" y="180535"/>
                </a:cubicBezTo>
                <a:cubicBezTo>
                  <a:pt x="8294138" y="178846"/>
                  <a:pt x="8410926" y="208334"/>
                  <a:pt x="8490152" y="209193"/>
                </a:cubicBezTo>
                <a:cubicBezTo>
                  <a:pt x="8558493" y="195433"/>
                  <a:pt x="8564727" y="233466"/>
                  <a:pt x="8622272" y="188859"/>
                </a:cubicBezTo>
                <a:cubicBezTo>
                  <a:pt x="8659556" y="191317"/>
                  <a:pt x="8666988" y="178214"/>
                  <a:pt x="8738606" y="208945"/>
                </a:cubicBezTo>
                <a:cubicBezTo>
                  <a:pt x="8769507" y="208543"/>
                  <a:pt x="8800406" y="224019"/>
                  <a:pt x="8831307" y="207738"/>
                </a:cubicBezTo>
                <a:cubicBezTo>
                  <a:pt x="8836477" y="191612"/>
                  <a:pt x="8870109" y="182455"/>
                  <a:pt x="8891432" y="184510"/>
                </a:cubicBezTo>
                <a:cubicBezTo>
                  <a:pt x="8876795" y="135260"/>
                  <a:pt x="8938553" y="173381"/>
                  <a:pt x="8946980" y="145578"/>
                </a:cubicBezTo>
                <a:cubicBezTo>
                  <a:pt x="9010957" y="156064"/>
                  <a:pt x="9046552" y="157746"/>
                  <a:pt x="9107760" y="128052"/>
                </a:cubicBezTo>
                <a:cubicBezTo>
                  <a:pt x="9135191" y="151813"/>
                  <a:pt x="9184204" y="114911"/>
                  <a:pt x="9195623" y="100212"/>
                </a:cubicBezTo>
                <a:cubicBezTo>
                  <a:pt x="9222736" y="85917"/>
                  <a:pt x="9230892" y="98248"/>
                  <a:pt x="9256898" y="73900"/>
                </a:cubicBezTo>
                <a:cubicBezTo>
                  <a:pt x="9276443" y="63724"/>
                  <a:pt x="9334001" y="80454"/>
                  <a:pt x="9351740" y="80439"/>
                </a:cubicBezTo>
                <a:cubicBezTo>
                  <a:pt x="9398889" y="82633"/>
                  <a:pt x="9473718" y="102566"/>
                  <a:pt x="9539796" y="87069"/>
                </a:cubicBezTo>
                <a:cubicBezTo>
                  <a:pt x="9565852" y="70987"/>
                  <a:pt x="9591569" y="56211"/>
                  <a:pt x="9619109" y="39994"/>
                </a:cubicBez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5" name="Content Placeholder 4">
            <a:extLst>
              <a:ext uri="{FF2B5EF4-FFF2-40B4-BE49-F238E27FC236}">
                <a16:creationId xmlns:a16="http://schemas.microsoft.com/office/drawing/2014/main" id="{EA789BD0-4A31-AB11-521B-076AA5582F68}"/>
              </a:ext>
            </a:extLst>
          </p:cNvPr>
          <p:cNvSpPr>
            <a:spLocks noGrp="1"/>
          </p:cNvSpPr>
          <p:nvPr>
            <p:ph idx="1"/>
          </p:nvPr>
        </p:nvSpPr>
        <p:spPr>
          <a:xfrm>
            <a:off x="736363" y="1444774"/>
            <a:ext cx="7142363" cy="3361125"/>
          </a:xfrm>
        </p:spPr>
        <p:txBody>
          <a:bodyPr>
            <a:noAutofit/>
          </a:bodyPr>
          <a:lstStyle/>
          <a:p>
            <a:r>
              <a:rPr lang="en-GB" sz="1800" dirty="0"/>
              <a:t>To obtain </a:t>
            </a:r>
            <a:r>
              <a:rPr lang="en-GB" sz="1800" b="1" dirty="0"/>
              <a:t>high-quality, unbiased, and inhibitor-free DNA</a:t>
            </a:r>
            <a:r>
              <a:rPr lang="en-GB" sz="1800" dirty="0"/>
              <a:t> from a complex matrix (e.g., soil, </a:t>
            </a:r>
            <a:r>
              <a:rPr lang="en-GB" sz="1800" dirty="0" err="1"/>
              <a:t>feces</a:t>
            </a:r>
            <a:r>
              <a:rPr lang="en-GB" sz="1800" dirty="0"/>
              <a:t>, water)</a:t>
            </a:r>
          </a:p>
          <a:p>
            <a:r>
              <a:rPr lang="en-GB" sz="1800" dirty="0"/>
              <a:t>Isolate </a:t>
            </a:r>
            <a:r>
              <a:rPr lang="en-GB" sz="1800" b="1" dirty="0"/>
              <a:t>total microbial DNA</a:t>
            </a:r>
            <a:r>
              <a:rPr lang="en-GB" sz="1800" dirty="0"/>
              <a:t> from all organisms in a sample (bacteria, archaea, fungi, viruses—depending on context)</a:t>
            </a:r>
          </a:p>
          <a:p>
            <a:r>
              <a:rPr lang="en-GB" sz="1800" dirty="0"/>
              <a:t>Steps:</a:t>
            </a:r>
          </a:p>
          <a:p>
            <a:pPr lvl="1"/>
            <a:r>
              <a:rPr lang="en-GB" sz="1800" b="1" dirty="0"/>
              <a:t>Cell Lysis: </a:t>
            </a:r>
            <a:r>
              <a:rPr lang="en-GB" sz="1800" dirty="0"/>
              <a:t>The goal is to </a:t>
            </a:r>
            <a:r>
              <a:rPr lang="en-GB" sz="1800" b="1" dirty="0"/>
              <a:t>lyse all types</a:t>
            </a:r>
            <a:r>
              <a:rPr lang="en-GB" sz="1800" dirty="0"/>
              <a:t> of microbes, including tough ones like Gram-positive bacteria or spores.</a:t>
            </a:r>
          </a:p>
          <a:p>
            <a:pPr lvl="2"/>
            <a:r>
              <a:rPr lang="en-GB" sz="1400" dirty="0"/>
              <a:t>Mechanical disruption (Bead beating)</a:t>
            </a:r>
          </a:p>
          <a:p>
            <a:pPr lvl="2"/>
            <a:r>
              <a:rPr lang="en-GB" sz="1400" dirty="0"/>
              <a:t>Chemical/enzymatic lysis (detergent/</a:t>
            </a:r>
            <a:r>
              <a:rPr lang="en-GB" sz="1400" dirty="0" err="1"/>
              <a:t>enzyms</a:t>
            </a:r>
            <a:r>
              <a:rPr lang="en-GB" sz="1400" dirty="0"/>
              <a:t> (lysozyme, proteinase K, </a:t>
            </a:r>
            <a:r>
              <a:rPr lang="en-GB" sz="1400" dirty="0" err="1"/>
              <a:t>Rnase</a:t>
            </a:r>
            <a:r>
              <a:rPr lang="en-GB" sz="1400" dirty="0"/>
              <a:t>)</a:t>
            </a:r>
          </a:p>
          <a:p>
            <a:pPr marL="457200" lvl="1" indent="0">
              <a:buNone/>
            </a:pPr>
            <a:r>
              <a:rPr lang="en-GB" sz="1800" dirty="0"/>
              <a:t>Kits are preferred in metagenomics for consistency, ease, and reduced contamination risk (e.g., Qiagen, </a:t>
            </a:r>
            <a:r>
              <a:rPr lang="en-GB" sz="1800" dirty="0" err="1"/>
              <a:t>Zymo</a:t>
            </a:r>
            <a:r>
              <a:rPr lang="en-GB" sz="1800" dirty="0"/>
              <a:t>, MoBio/</a:t>
            </a:r>
            <a:r>
              <a:rPr lang="en-GB" sz="1800" dirty="0" err="1"/>
              <a:t>DNeasy</a:t>
            </a:r>
            <a:r>
              <a:rPr lang="en-GB" sz="1800" dirty="0"/>
              <a:t>)</a:t>
            </a:r>
            <a:endParaRPr lang="en-GB" sz="1800" b="1" dirty="0"/>
          </a:p>
          <a:p>
            <a:pPr lvl="1"/>
            <a:r>
              <a:rPr lang="en-GB" sz="1800" b="1" dirty="0"/>
              <a:t>Contaminant Removal: </a:t>
            </a:r>
            <a:r>
              <a:rPr lang="en-GB" sz="1800" dirty="0"/>
              <a:t>Use specialized kits with inhibitor removal steps (e.g., </a:t>
            </a:r>
            <a:r>
              <a:rPr lang="en-GB" sz="1800" dirty="0" err="1"/>
              <a:t>PowerSoil</a:t>
            </a:r>
            <a:r>
              <a:rPr lang="en-GB" sz="1800" dirty="0"/>
              <a:t> DNA Kit)</a:t>
            </a:r>
            <a:endParaRPr lang="en-GB" sz="1800" b="1" dirty="0"/>
          </a:p>
          <a:p>
            <a:pPr lvl="1"/>
            <a:r>
              <a:rPr lang="en-GB" sz="1800" b="1" dirty="0"/>
              <a:t>DNA Purification: </a:t>
            </a:r>
            <a:r>
              <a:rPr lang="en-GB" sz="1800" dirty="0"/>
              <a:t>remove proteins, RNA, lipids, and inhibitors</a:t>
            </a:r>
          </a:p>
          <a:p>
            <a:pPr lvl="1"/>
            <a:r>
              <a:rPr lang="en-GB" sz="1800" b="1" dirty="0"/>
              <a:t>Quantification &amp; Quality Check</a:t>
            </a:r>
            <a:endParaRPr lang="en-GB" sz="1800" dirty="0"/>
          </a:p>
          <a:p>
            <a:endParaRPr lang="en-DK" sz="1800" dirty="0"/>
          </a:p>
        </p:txBody>
      </p:sp>
      <p:pic>
        <p:nvPicPr>
          <p:cNvPr id="12" name="Picture 11">
            <a:extLst>
              <a:ext uri="{FF2B5EF4-FFF2-40B4-BE49-F238E27FC236}">
                <a16:creationId xmlns:a16="http://schemas.microsoft.com/office/drawing/2014/main" id="{FAB3387C-E23E-B817-5002-A520B138DA80}"/>
              </a:ext>
            </a:extLst>
          </p:cNvPr>
          <p:cNvPicPr>
            <a:picLocks noChangeAspect="1"/>
          </p:cNvPicPr>
          <p:nvPr/>
        </p:nvPicPr>
        <p:blipFill>
          <a:blip r:embed="rId2"/>
          <a:stretch>
            <a:fillRect/>
          </a:stretch>
        </p:blipFill>
        <p:spPr>
          <a:xfrm>
            <a:off x="9148334" y="2524873"/>
            <a:ext cx="1869750" cy="1402313"/>
          </a:xfrm>
          <a:prstGeom prst="rect">
            <a:avLst/>
          </a:prstGeom>
        </p:spPr>
      </p:pic>
      <p:pic>
        <p:nvPicPr>
          <p:cNvPr id="10" name="Picture 6" descr="Ijms 23 02181 g001">
            <a:extLst>
              <a:ext uri="{FF2B5EF4-FFF2-40B4-BE49-F238E27FC236}">
                <a16:creationId xmlns:a16="http://schemas.microsoft.com/office/drawing/2014/main" id="{BA838264-3A59-6853-5114-3C7A72A0A2B3}"/>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617" t="33068" r="74730" b="50000"/>
          <a:stretch>
            <a:fillRect/>
          </a:stretch>
        </p:blipFill>
        <p:spPr bwMode="auto">
          <a:xfrm>
            <a:off x="8744622" y="3952670"/>
            <a:ext cx="2868561" cy="1624955"/>
          </a:xfrm>
          <a:prstGeom prst="rect">
            <a:avLst/>
          </a:prstGeom>
          <a:noFill/>
          <a:extLst>
            <a:ext uri="{909E8E84-426E-40DD-AFC4-6F175D3DCCD1}">
              <a14:hiddenFill xmlns:a14="http://schemas.microsoft.com/office/drawing/2010/main">
                <a:solidFill>
                  <a:srgbClr val="FFFFFF"/>
                </a:solidFill>
              </a14:hiddenFill>
            </a:ext>
          </a:extLst>
        </p:spPr>
      </p:pic>
      <p:sp>
        <p:nvSpPr>
          <p:cNvPr id="22" name="Freeform: Shape 21">
            <a:extLst>
              <a:ext uri="{FF2B5EF4-FFF2-40B4-BE49-F238E27FC236}">
                <a16:creationId xmlns:a16="http://schemas.microsoft.com/office/drawing/2014/main" id="{CC7BCC73-A901-44EB-B0E7-879E19267A6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5779827"/>
            <a:ext cx="10680562" cy="1078174"/>
          </a:xfrm>
          <a:custGeom>
            <a:avLst/>
            <a:gdLst>
              <a:gd name="connsiteX0" fmla="*/ 3617689 w 10680562"/>
              <a:gd name="connsiteY0" fmla="*/ 0 h 1605023"/>
              <a:gd name="connsiteX1" fmla="*/ 3635901 w 10680562"/>
              <a:gd name="connsiteY1" fmla="*/ 7738 h 1605023"/>
              <a:gd name="connsiteX2" fmla="*/ 3690891 w 10680562"/>
              <a:gd name="connsiteY2" fmla="*/ 7049 h 1605023"/>
              <a:gd name="connsiteX3" fmla="*/ 3832247 w 10680562"/>
              <a:gd name="connsiteY3" fmla="*/ 13937 h 1605023"/>
              <a:gd name="connsiteX4" fmla="*/ 3999111 w 10680562"/>
              <a:gd name="connsiteY4" fmla="*/ 44624 h 1605023"/>
              <a:gd name="connsiteX5" fmla="*/ 4034676 w 10680562"/>
              <a:gd name="connsiteY5" fmla="*/ 48775 h 1605023"/>
              <a:gd name="connsiteX6" fmla="*/ 4065394 w 10680562"/>
              <a:gd name="connsiteY6" fmla="*/ 42879 h 1605023"/>
              <a:gd name="connsiteX7" fmla="*/ 4072648 w 10680562"/>
              <a:gd name="connsiteY7" fmla="*/ 33262 h 1605023"/>
              <a:gd name="connsiteX8" fmla="*/ 4092232 w 10680562"/>
              <a:gd name="connsiteY8" fmla="*/ 34026 h 1605023"/>
              <a:gd name="connsiteX9" fmla="*/ 4097470 w 10680562"/>
              <a:gd name="connsiteY9" fmla="*/ 32252 h 1605023"/>
              <a:gd name="connsiteX10" fmla="*/ 4127488 w 10680562"/>
              <a:gd name="connsiteY10" fmla="*/ 24056 h 1605023"/>
              <a:gd name="connsiteX11" fmla="*/ 4190803 w 10680562"/>
              <a:gd name="connsiteY11" fmla="*/ 55685 h 1605023"/>
              <a:gd name="connsiteX12" fmla="*/ 4269333 w 10680562"/>
              <a:gd name="connsiteY12" fmla="*/ 54186 h 1605023"/>
              <a:gd name="connsiteX13" fmla="*/ 4481486 w 10680562"/>
              <a:gd name="connsiteY13" fmla="*/ 116915 h 1605023"/>
              <a:gd name="connsiteX14" fmla="*/ 4651418 w 10680562"/>
              <a:gd name="connsiteY14" fmla="*/ 150071 h 1605023"/>
              <a:gd name="connsiteX15" fmla="*/ 4863575 w 10680562"/>
              <a:gd name="connsiteY15" fmla="*/ 175458 h 1605023"/>
              <a:gd name="connsiteX16" fmla="*/ 5013635 w 10680562"/>
              <a:gd name="connsiteY16" fmla="*/ 213928 h 1605023"/>
              <a:gd name="connsiteX17" fmla="*/ 5203044 w 10680562"/>
              <a:gd name="connsiteY17" fmla="*/ 228946 h 1605023"/>
              <a:gd name="connsiteX18" fmla="*/ 5207070 w 10680562"/>
              <a:gd name="connsiteY18" fmla="*/ 235105 h 1605023"/>
              <a:gd name="connsiteX19" fmla="*/ 5224253 w 10680562"/>
              <a:gd name="connsiteY19" fmla="*/ 240320 h 1605023"/>
              <a:gd name="connsiteX20" fmla="*/ 5256736 w 10680562"/>
              <a:gd name="connsiteY20" fmla="*/ 254811 h 1605023"/>
              <a:gd name="connsiteX21" fmla="*/ 5264095 w 10680562"/>
              <a:gd name="connsiteY21" fmla="*/ 253567 h 1605023"/>
              <a:gd name="connsiteX22" fmla="*/ 5315084 w 10680562"/>
              <a:gd name="connsiteY22" fmla="*/ 269264 h 1605023"/>
              <a:gd name="connsiteX23" fmla="*/ 5316393 w 10680562"/>
              <a:gd name="connsiteY23" fmla="*/ 267603 h 1605023"/>
              <a:gd name="connsiteX24" fmla="*/ 5333427 w 10680562"/>
              <a:gd name="connsiteY24" fmla="*/ 263823 h 1605023"/>
              <a:gd name="connsiteX25" fmla="*/ 5364589 w 10680562"/>
              <a:gd name="connsiteY25" fmla="*/ 260882 h 1605023"/>
              <a:gd name="connsiteX26" fmla="*/ 5443973 w 10680562"/>
              <a:gd name="connsiteY26" fmla="*/ 230866 h 1605023"/>
              <a:gd name="connsiteX27" fmla="*/ 5497201 w 10680562"/>
              <a:gd name="connsiteY27" fmla="*/ 247023 h 1605023"/>
              <a:gd name="connsiteX28" fmla="*/ 5508269 w 10680562"/>
              <a:gd name="connsiteY28" fmla="*/ 249256 h 1605023"/>
              <a:gd name="connsiteX29" fmla="*/ 5508636 w 10680562"/>
              <a:gd name="connsiteY29" fmla="*/ 248880 h 1605023"/>
              <a:gd name="connsiteX30" fmla="*/ 5520606 w 10680562"/>
              <a:gd name="connsiteY30" fmla="*/ 250400 h 1605023"/>
              <a:gd name="connsiteX31" fmla="*/ 5528451 w 10680562"/>
              <a:gd name="connsiteY31" fmla="*/ 253330 h 1605023"/>
              <a:gd name="connsiteX32" fmla="*/ 5549923 w 10680562"/>
              <a:gd name="connsiteY32" fmla="*/ 257662 h 1605023"/>
              <a:gd name="connsiteX33" fmla="*/ 5558295 w 10680562"/>
              <a:gd name="connsiteY33" fmla="*/ 256364 h 1605023"/>
              <a:gd name="connsiteX34" fmla="*/ 5664799 w 10680562"/>
              <a:gd name="connsiteY34" fmla="*/ 278924 h 1605023"/>
              <a:gd name="connsiteX35" fmla="*/ 5796160 w 10680562"/>
              <a:gd name="connsiteY35" fmla="*/ 307979 h 1605023"/>
              <a:gd name="connsiteX36" fmla="*/ 5897647 w 10680562"/>
              <a:gd name="connsiteY36" fmla="*/ 339431 h 1605023"/>
              <a:gd name="connsiteX37" fmla="*/ 5978838 w 10680562"/>
              <a:gd name="connsiteY37" fmla="*/ 367970 h 1605023"/>
              <a:gd name="connsiteX38" fmla="*/ 6050367 w 10680562"/>
              <a:gd name="connsiteY38" fmla="*/ 386341 h 1605023"/>
              <a:gd name="connsiteX39" fmla="*/ 6140609 w 10680562"/>
              <a:gd name="connsiteY39" fmla="*/ 385135 h 1605023"/>
              <a:gd name="connsiteX40" fmla="*/ 6302950 w 10680562"/>
              <a:gd name="connsiteY40" fmla="*/ 448183 h 1605023"/>
              <a:gd name="connsiteX41" fmla="*/ 6308533 w 10680562"/>
              <a:gd name="connsiteY41" fmla="*/ 448551 h 1605023"/>
              <a:gd name="connsiteX42" fmla="*/ 6340278 w 10680562"/>
              <a:gd name="connsiteY42" fmla="*/ 468555 h 1605023"/>
              <a:gd name="connsiteX43" fmla="*/ 6341685 w 10680562"/>
              <a:gd name="connsiteY43" fmla="*/ 467587 h 1605023"/>
              <a:gd name="connsiteX44" fmla="*/ 6354862 w 10680562"/>
              <a:gd name="connsiteY44" fmla="*/ 467794 h 1605023"/>
              <a:gd name="connsiteX45" fmla="*/ 6377840 w 10680562"/>
              <a:gd name="connsiteY45" fmla="*/ 471024 h 1605023"/>
              <a:gd name="connsiteX46" fmla="*/ 6442804 w 10680562"/>
              <a:gd name="connsiteY46" fmla="*/ 463091 h 1605023"/>
              <a:gd name="connsiteX47" fmla="*/ 6476009 w 10680562"/>
              <a:gd name="connsiteY47" fmla="*/ 483807 h 1605023"/>
              <a:gd name="connsiteX48" fmla="*/ 6483237 w 10680562"/>
              <a:gd name="connsiteY48" fmla="*/ 487308 h 1605023"/>
              <a:gd name="connsiteX49" fmla="*/ 6483605 w 10680562"/>
              <a:gd name="connsiteY49" fmla="*/ 487102 h 1605023"/>
              <a:gd name="connsiteX50" fmla="*/ 6491673 w 10680562"/>
              <a:gd name="connsiteY50" fmla="*/ 490243 h 1605023"/>
              <a:gd name="connsiteX51" fmla="*/ 6496411 w 10680562"/>
              <a:gd name="connsiteY51" fmla="*/ 493689 h 1605023"/>
              <a:gd name="connsiteX52" fmla="*/ 6510429 w 10680562"/>
              <a:gd name="connsiteY52" fmla="*/ 500479 h 1605023"/>
              <a:gd name="connsiteX53" fmla="*/ 6516750 w 10680562"/>
              <a:gd name="connsiteY53" fmla="*/ 500983 h 1605023"/>
              <a:gd name="connsiteX54" fmla="*/ 6580199 w 10680562"/>
              <a:gd name="connsiteY54" fmla="*/ 483318 h 1605023"/>
              <a:gd name="connsiteX55" fmla="*/ 6690237 w 10680562"/>
              <a:gd name="connsiteY55" fmla="*/ 493051 h 1605023"/>
              <a:gd name="connsiteX56" fmla="*/ 6798356 w 10680562"/>
              <a:gd name="connsiteY56" fmla="*/ 506748 h 1605023"/>
              <a:gd name="connsiteX57" fmla="*/ 6837102 w 10680562"/>
              <a:gd name="connsiteY57" fmla="*/ 513677 h 1605023"/>
              <a:gd name="connsiteX58" fmla="*/ 6907934 w 10680562"/>
              <a:gd name="connsiteY58" fmla="*/ 517339 h 1605023"/>
              <a:gd name="connsiteX59" fmla="*/ 6941474 w 10680562"/>
              <a:gd name="connsiteY59" fmla="*/ 513632 h 1605023"/>
              <a:gd name="connsiteX60" fmla="*/ 6942754 w 10680562"/>
              <a:gd name="connsiteY60" fmla="*/ 514394 h 1605023"/>
              <a:gd name="connsiteX61" fmla="*/ 6946363 w 10680562"/>
              <a:gd name="connsiteY61" fmla="*/ 511066 h 1605023"/>
              <a:gd name="connsiteX62" fmla="*/ 6952592 w 10680562"/>
              <a:gd name="connsiteY62" fmla="*/ 510252 h 1605023"/>
              <a:gd name="connsiteX63" fmla="*/ 6968398 w 10680562"/>
              <a:gd name="connsiteY63" fmla="*/ 513946 h 1605023"/>
              <a:gd name="connsiteX64" fmla="*/ 6974142 w 10680562"/>
              <a:gd name="connsiteY64" fmla="*/ 516310 h 1605023"/>
              <a:gd name="connsiteX65" fmla="*/ 6982971 w 10680562"/>
              <a:gd name="connsiteY65" fmla="*/ 517694 h 1605023"/>
              <a:gd name="connsiteX66" fmla="*/ 6983252 w 10680562"/>
              <a:gd name="connsiteY66" fmla="*/ 517416 h 1605023"/>
              <a:gd name="connsiteX67" fmla="*/ 6991400 w 10680562"/>
              <a:gd name="connsiteY67" fmla="*/ 519321 h 1605023"/>
              <a:gd name="connsiteX68" fmla="*/ 7030460 w 10680562"/>
              <a:gd name="connsiteY68" fmla="*/ 532556 h 1605023"/>
              <a:gd name="connsiteX69" fmla="*/ 7089916 w 10680562"/>
              <a:gd name="connsiteY69" fmla="*/ 511503 h 1605023"/>
              <a:gd name="connsiteX70" fmla="*/ 7113059 w 10680562"/>
              <a:gd name="connsiteY70" fmla="*/ 509904 h 1605023"/>
              <a:gd name="connsiteX71" fmla="*/ 7125755 w 10680562"/>
              <a:gd name="connsiteY71" fmla="*/ 507393 h 1605023"/>
              <a:gd name="connsiteX72" fmla="*/ 7126765 w 10680562"/>
              <a:gd name="connsiteY72" fmla="*/ 506166 h 1605023"/>
              <a:gd name="connsiteX73" fmla="*/ 7164175 w 10680562"/>
              <a:gd name="connsiteY73" fmla="*/ 519011 h 1605023"/>
              <a:gd name="connsiteX74" fmla="*/ 7169654 w 10680562"/>
              <a:gd name="connsiteY74" fmla="*/ 518219 h 1605023"/>
              <a:gd name="connsiteX75" fmla="*/ 7193386 w 10680562"/>
              <a:gd name="connsiteY75" fmla="*/ 529788 h 1605023"/>
              <a:gd name="connsiteX76" fmla="*/ 7205997 w 10680562"/>
              <a:gd name="connsiteY76" fmla="*/ 534060 h 1605023"/>
              <a:gd name="connsiteX77" fmla="*/ 7208842 w 10680562"/>
              <a:gd name="connsiteY77" fmla="*/ 538783 h 1605023"/>
              <a:gd name="connsiteX78" fmla="*/ 7227817 w 10680562"/>
              <a:gd name="connsiteY78" fmla="*/ 543304 h 1605023"/>
              <a:gd name="connsiteX79" fmla="*/ 7230267 w 10680562"/>
              <a:gd name="connsiteY79" fmla="*/ 542497 h 1605023"/>
              <a:gd name="connsiteX80" fmla="*/ 7244913 w 10680562"/>
              <a:gd name="connsiteY80" fmla="*/ 551160 h 1605023"/>
              <a:gd name="connsiteX81" fmla="*/ 7255970 w 10680562"/>
              <a:gd name="connsiteY81" fmla="*/ 564383 h 1605023"/>
              <a:gd name="connsiteX82" fmla="*/ 7421156 w 10680562"/>
              <a:gd name="connsiteY82" fmla="*/ 584155 h 1605023"/>
              <a:gd name="connsiteX83" fmla="*/ 7553166 w 10680562"/>
              <a:gd name="connsiteY83" fmla="*/ 653085 h 1605023"/>
              <a:gd name="connsiteX84" fmla="*/ 7643092 w 10680562"/>
              <a:gd name="connsiteY84" fmla="*/ 662482 h 1605023"/>
              <a:gd name="connsiteX85" fmla="*/ 7896429 w 10680562"/>
              <a:gd name="connsiteY85" fmla="*/ 689054 h 1605023"/>
              <a:gd name="connsiteX86" fmla="*/ 7954620 w 10680562"/>
              <a:gd name="connsiteY86" fmla="*/ 689481 h 1605023"/>
              <a:gd name="connsiteX87" fmla="*/ 8000803 w 10680562"/>
              <a:gd name="connsiteY87" fmla="*/ 714583 h 1605023"/>
              <a:gd name="connsiteX88" fmla="*/ 8023216 w 10680562"/>
              <a:gd name="connsiteY88" fmla="*/ 709000 h 1605023"/>
              <a:gd name="connsiteX89" fmla="*/ 8027136 w 10680562"/>
              <a:gd name="connsiteY89" fmla="*/ 707765 h 1605023"/>
              <a:gd name="connsiteX90" fmla="*/ 8041622 w 10680562"/>
              <a:gd name="connsiteY90" fmla="*/ 708731 h 1605023"/>
              <a:gd name="connsiteX91" fmla="*/ 8047209 w 10680562"/>
              <a:gd name="connsiteY91" fmla="*/ 701624 h 1605023"/>
              <a:gd name="connsiteX92" fmla="*/ 8070088 w 10680562"/>
              <a:gd name="connsiteY92" fmla="*/ 697789 h 1605023"/>
              <a:gd name="connsiteX93" fmla="*/ 8096332 w 10680562"/>
              <a:gd name="connsiteY93" fmla="*/ 701624 h 1605023"/>
              <a:gd name="connsiteX94" fmla="*/ 8219225 w 10680562"/>
              <a:gd name="connsiteY94" fmla="*/ 728069 h 1605023"/>
              <a:gd name="connsiteX95" fmla="*/ 8293793 w 10680562"/>
              <a:gd name="connsiteY95" fmla="*/ 739200 h 1605023"/>
              <a:gd name="connsiteX96" fmla="*/ 8323753 w 10680562"/>
              <a:gd name="connsiteY96" fmla="*/ 736063 h 1605023"/>
              <a:gd name="connsiteX97" fmla="*/ 8364496 w 10680562"/>
              <a:gd name="connsiteY97" fmla="*/ 736635 h 1605023"/>
              <a:gd name="connsiteX98" fmla="*/ 8437662 w 10680562"/>
              <a:gd name="connsiteY98" fmla="*/ 731942 h 1605023"/>
              <a:gd name="connsiteX99" fmla="*/ 8533764 w 10680562"/>
              <a:gd name="connsiteY99" fmla="*/ 735554 h 1605023"/>
              <a:gd name="connsiteX100" fmla="*/ 8596769 w 10680562"/>
              <a:gd name="connsiteY100" fmla="*/ 769632 h 1605023"/>
              <a:gd name="connsiteX101" fmla="*/ 8604035 w 10680562"/>
              <a:gd name="connsiteY101" fmla="*/ 764982 h 1605023"/>
              <a:gd name="connsiteX102" fmla="*/ 8650929 w 10680562"/>
              <a:gd name="connsiteY102" fmla="*/ 773164 h 1605023"/>
              <a:gd name="connsiteX103" fmla="*/ 8806497 w 10680562"/>
              <a:gd name="connsiteY103" fmla="*/ 839707 h 1605023"/>
              <a:gd name="connsiteX104" fmla="*/ 8898377 w 10680562"/>
              <a:gd name="connsiteY104" fmla="*/ 854651 h 1605023"/>
              <a:gd name="connsiteX105" fmla="*/ 8932389 w 10680562"/>
              <a:gd name="connsiteY105" fmla="*/ 853846 h 1605023"/>
              <a:gd name="connsiteX106" fmla="*/ 8989288 w 10680562"/>
              <a:gd name="connsiteY106" fmla="*/ 852877 h 1605023"/>
              <a:gd name="connsiteX107" fmla="*/ 9035275 w 10680562"/>
              <a:gd name="connsiteY107" fmla="*/ 837110 h 1605023"/>
              <a:gd name="connsiteX108" fmla="*/ 9138626 w 10680562"/>
              <a:gd name="connsiteY108" fmla="*/ 862106 h 1605023"/>
              <a:gd name="connsiteX109" fmla="*/ 9216298 w 10680562"/>
              <a:gd name="connsiteY109" fmla="*/ 858754 h 1605023"/>
              <a:gd name="connsiteX110" fmla="*/ 9259941 w 10680562"/>
              <a:gd name="connsiteY110" fmla="*/ 861843 h 1605023"/>
              <a:gd name="connsiteX111" fmla="*/ 9380407 w 10680562"/>
              <a:gd name="connsiteY111" fmla="*/ 864825 h 1605023"/>
              <a:gd name="connsiteX112" fmla="*/ 9490772 w 10680562"/>
              <a:gd name="connsiteY112" fmla="*/ 901190 h 1605023"/>
              <a:gd name="connsiteX113" fmla="*/ 9584982 w 10680562"/>
              <a:gd name="connsiteY113" fmla="*/ 935980 h 1605023"/>
              <a:gd name="connsiteX114" fmla="*/ 9759797 w 10680562"/>
              <a:gd name="connsiteY114" fmla="*/ 1010923 h 1605023"/>
              <a:gd name="connsiteX115" fmla="*/ 9834455 w 10680562"/>
              <a:gd name="connsiteY115" fmla="*/ 1082908 h 1605023"/>
              <a:gd name="connsiteX116" fmla="*/ 9939504 w 10680562"/>
              <a:gd name="connsiteY116" fmla="*/ 1110614 h 1605023"/>
              <a:gd name="connsiteX117" fmla="*/ 10077001 w 10680562"/>
              <a:gd name="connsiteY117" fmla="*/ 1160906 h 1605023"/>
              <a:gd name="connsiteX118" fmla="*/ 10178431 w 10680562"/>
              <a:gd name="connsiteY118" fmla="*/ 1244920 h 1605023"/>
              <a:gd name="connsiteX119" fmla="*/ 10248658 w 10680562"/>
              <a:gd name="connsiteY119" fmla="*/ 1309335 h 1605023"/>
              <a:gd name="connsiteX120" fmla="*/ 10414709 w 10680562"/>
              <a:gd name="connsiteY120" fmla="*/ 1388645 h 1605023"/>
              <a:gd name="connsiteX121" fmla="*/ 10592469 w 10680562"/>
              <a:gd name="connsiteY121" fmla="*/ 1543828 h 1605023"/>
              <a:gd name="connsiteX122" fmla="*/ 10674941 w 10680562"/>
              <a:gd name="connsiteY122" fmla="*/ 1597388 h 1605023"/>
              <a:gd name="connsiteX123" fmla="*/ 10680562 w 10680562"/>
              <a:gd name="connsiteY123" fmla="*/ 1605023 h 1605023"/>
              <a:gd name="connsiteX124" fmla="*/ 0 w 10680562"/>
              <a:gd name="connsiteY124" fmla="*/ 1605023 h 1605023"/>
              <a:gd name="connsiteX125" fmla="*/ 0 w 10680562"/>
              <a:gd name="connsiteY125" fmla="*/ 415048 h 1605023"/>
              <a:gd name="connsiteX126" fmla="*/ 9656 w 10680562"/>
              <a:gd name="connsiteY126" fmla="*/ 416044 h 1605023"/>
              <a:gd name="connsiteX127" fmla="*/ 179196 w 10680562"/>
              <a:gd name="connsiteY127" fmla="*/ 423071 h 1605023"/>
              <a:gd name="connsiteX128" fmla="*/ 250912 w 10680562"/>
              <a:gd name="connsiteY128" fmla="*/ 408617 h 1605023"/>
              <a:gd name="connsiteX129" fmla="*/ 291375 w 10680562"/>
              <a:gd name="connsiteY129" fmla="*/ 403710 h 1605023"/>
              <a:gd name="connsiteX130" fmla="*/ 320542 w 10680562"/>
              <a:gd name="connsiteY130" fmla="*/ 396592 h 1605023"/>
              <a:gd name="connsiteX131" fmla="*/ 522426 w 10680562"/>
              <a:gd name="connsiteY131" fmla="*/ 407158 h 1605023"/>
              <a:gd name="connsiteX132" fmla="*/ 549068 w 10680562"/>
              <a:gd name="connsiteY132" fmla="*/ 407418 h 1605023"/>
              <a:gd name="connsiteX133" fmla="*/ 571100 w 10680562"/>
              <a:gd name="connsiteY133" fmla="*/ 400562 h 1605023"/>
              <a:gd name="connsiteX134" fmla="*/ 575457 w 10680562"/>
              <a:gd name="connsiteY134" fmla="*/ 392801 h 1605023"/>
              <a:gd name="connsiteX135" fmla="*/ 589968 w 10680562"/>
              <a:gd name="connsiteY135" fmla="*/ 391807 h 1605023"/>
              <a:gd name="connsiteX136" fmla="*/ 593649 w 10680562"/>
              <a:gd name="connsiteY136" fmla="*/ 390062 h 1605023"/>
              <a:gd name="connsiteX137" fmla="*/ 614928 w 10680562"/>
              <a:gd name="connsiteY137" fmla="*/ 381544 h 1605023"/>
              <a:gd name="connsiteX138" fmla="*/ 722580 w 10680562"/>
              <a:gd name="connsiteY138" fmla="*/ 392722 h 1605023"/>
              <a:gd name="connsiteX139" fmla="*/ 946884 w 10680562"/>
              <a:gd name="connsiteY139" fmla="*/ 411854 h 1605023"/>
              <a:gd name="connsiteX140" fmla="*/ 1210905 w 10680562"/>
              <a:gd name="connsiteY140" fmla="*/ 432414 h 1605023"/>
              <a:gd name="connsiteX141" fmla="*/ 1377854 w 10680562"/>
              <a:gd name="connsiteY141" fmla="*/ 429745 h 1605023"/>
              <a:gd name="connsiteX142" fmla="*/ 1391004 w 10680562"/>
              <a:gd name="connsiteY142" fmla="*/ 441307 h 1605023"/>
              <a:gd name="connsiteX143" fmla="*/ 1406953 w 10680562"/>
              <a:gd name="connsiteY143" fmla="*/ 447889 h 1605023"/>
              <a:gd name="connsiteX144" fmla="*/ 1409246 w 10680562"/>
              <a:gd name="connsiteY144" fmla="*/ 446765 h 1605023"/>
              <a:gd name="connsiteX145" fmla="*/ 1428800 w 10680562"/>
              <a:gd name="connsiteY145" fmla="*/ 448677 h 1605023"/>
              <a:gd name="connsiteX146" fmla="*/ 1432402 w 10680562"/>
              <a:gd name="connsiteY146" fmla="*/ 452956 h 1605023"/>
              <a:gd name="connsiteX147" fmla="*/ 1606578 w 10680562"/>
              <a:gd name="connsiteY147" fmla="*/ 430870 h 1605023"/>
              <a:gd name="connsiteX148" fmla="*/ 1647476 w 10680562"/>
              <a:gd name="connsiteY148" fmla="*/ 438687 h 1605023"/>
              <a:gd name="connsiteX149" fmla="*/ 1655866 w 10680562"/>
              <a:gd name="connsiteY149" fmla="*/ 439472 h 1605023"/>
              <a:gd name="connsiteX150" fmla="*/ 1656096 w 10680562"/>
              <a:gd name="connsiteY150" fmla="*/ 439162 h 1605023"/>
              <a:gd name="connsiteX151" fmla="*/ 1670708 w 10680562"/>
              <a:gd name="connsiteY151" fmla="*/ 412530 h 1605023"/>
              <a:gd name="connsiteX152" fmla="*/ 1737953 w 10680562"/>
              <a:gd name="connsiteY152" fmla="*/ 399496 h 1605023"/>
              <a:gd name="connsiteX153" fmla="*/ 1848192 w 10680562"/>
              <a:gd name="connsiteY153" fmla="*/ 376032 h 1605023"/>
              <a:gd name="connsiteX154" fmla="*/ 1954077 w 10680562"/>
              <a:gd name="connsiteY154" fmla="*/ 352621 h 1605023"/>
              <a:gd name="connsiteX155" fmla="*/ 1993047 w 10680562"/>
              <a:gd name="connsiteY155" fmla="*/ 346068 h 1605023"/>
              <a:gd name="connsiteX156" fmla="*/ 2059719 w 10680562"/>
              <a:gd name="connsiteY156" fmla="*/ 325903 h 1605023"/>
              <a:gd name="connsiteX157" fmla="*/ 2088528 w 10680562"/>
              <a:gd name="connsiteY157" fmla="*/ 311409 h 1605023"/>
              <a:gd name="connsiteX158" fmla="*/ 2090087 w 10680562"/>
              <a:gd name="connsiteY158" fmla="*/ 311676 h 1605023"/>
              <a:gd name="connsiteX159" fmla="*/ 2091700 w 10680562"/>
              <a:gd name="connsiteY159" fmla="*/ 307455 h 1605023"/>
              <a:gd name="connsiteX160" fmla="*/ 2096989 w 10680562"/>
              <a:gd name="connsiteY160" fmla="*/ 304649 h 1605023"/>
              <a:gd name="connsiteX161" fmla="*/ 2113325 w 10680562"/>
              <a:gd name="connsiteY161" fmla="*/ 302764 h 1605023"/>
              <a:gd name="connsiteX162" fmla="*/ 2119780 w 10680562"/>
              <a:gd name="connsiteY162" fmla="*/ 303007 h 1605023"/>
              <a:gd name="connsiteX163" fmla="*/ 2128562 w 10680562"/>
              <a:gd name="connsiteY163" fmla="*/ 301336 h 1605023"/>
              <a:gd name="connsiteX164" fmla="*/ 2128679 w 10680562"/>
              <a:gd name="connsiteY164" fmla="*/ 300991 h 1605023"/>
              <a:gd name="connsiteX165" fmla="*/ 2179558 w 10680562"/>
              <a:gd name="connsiteY165" fmla="*/ 299095 h 1605023"/>
              <a:gd name="connsiteX166" fmla="*/ 2223277 w 10680562"/>
              <a:gd name="connsiteY166" fmla="*/ 260239 h 1605023"/>
              <a:gd name="connsiteX167" fmla="*/ 2243644 w 10680562"/>
              <a:gd name="connsiteY167" fmla="*/ 251110 h 1605023"/>
              <a:gd name="connsiteX168" fmla="*/ 2253986 w 10680562"/>
              <a:gd name="connsiteY168" fmla="*/ 244616 h 1605023"/>
              <a:gd name="connsiteX169" fmla="*/ 2254285 w 10680562"/>
              <a:gd name="connsiteY169" fmla="*/ 243167 h 1605023"/>
              <a:gd name="connsiteX170" fmla="*/ 2295037 w 10680562"/>
              <a:gd name="connsiteY170" fmla="*/ 242433 h 1605023"/>
              <a:gd name="connsiteX171" fmla="*/ 2299648 w 10680562"/>
              <a:gd name="connsiteY171" fmla="*/ 239896 h 1605023"/>
              <a:gd name="connsiteX172" fmla="*/ 2327237 w 10680562"/>
              <a:gd name="connsiteY172" fmla="*/ 242539 h 1605023"/>
              <a:gd name="connsiteX173" fmla="*/ 2340943 w 10680562"/>
              <a:gd name="connsiteY173" fmla="*/ 242239 h 1605023"/>
              <a:gd name="connsiteX174" fmla="*/ 2345943 w 10680562"/>
              <a:gd name="connsiteY174" fmla="*/ 245589 h 1605023"/>
              <a:gd name="connsiteX175" fmla="*/ 2365602 w 10680562"/>
              <a:gd name="connsiteY175" fmla="*/ 243403 h 1605023"/>
              <a:gd name="connsiteX176" fmla="*/ 2367433 w 10680562"/>
              <a:gd name="connsiteY176" fmla="*/ 241858 h 1605023"/>
              <a:gd name="connsiteX177" fmla="*/ 2385231 w 10680562"/>
              <a:gd name="connsiteY177" fmla="*/ 244873 h 1605023"/>
              <a:gd name="connsiteX178" fmla="*/ 2402059 w 10680562"/>
              <a:gd name="connsiteY178" fmla="*/ 253223 h 1605023"/>
              <a:gd name="connsiteX179" fmla="*/ 2719020 w 10680562"/>
              <a:gd name="connsiteY179" fmla="*/ 235271 h 1605023"/>
              <a:gd name="connsiteX180" fmla="*/ 2877308 w 10680562"/>
              <a:gd name="connsiteY180" fmla="*/ 208630 h 1605023"/>
              <a:gd name="connsiteX181" fmla="*/ 3051375 w 10680562"/>
              <a:gd name="connsiteY181" fmla="*/ 154110 h 1605023"/>
              <a:gd name="connsiteX182" fmla="*/ 3104837 w 10680562"/>
              <a:gd name="connsiteY182" fmla="*/ 135199 h 1605023"/>
              <a:gd name="connsiteX183" fmla="*/ 3159836 w 10680562"/>
              <a:gd name="connsiteY183" fmla="*/ 142694 h 1605023"/>
              <a:gd name="connsiteX184" fmla="*/ 3177510 w 10680562"/>
              <a:gd name="connsiteY184" fmla="*/ 130186 h 1605023"/>
              <a:gd name="connsiteX185" fmla="*/ 3180470 w 10680562"/>
              <a:gd name="connsiteY185" fmla="*/ 127764 h 1605023"/>
              <a:gd name="connsiteX186" fmla="*/ 3194216 w 10680562"/>
              <a:gd name="connsiteY186" fmla="*/ 123837 h 1605023"/>
              <a:gd name="connsiteX187" fmla="*/ 3214710 w 10680562"/>
              <a:gd name="connsiteY187" fmla="*/ 104451 h 1605023"/>
              <a:gd name="connsiteX188" fmla="*/ 3240671 w 10680562"/>
              <a:gd name="connsiteY188" fmla="*/ 99232 h 1605023"/>
              <a:gd name="connsiteX189" fmla="*/ 3366544 w 10680562"/>
              <a:gd name="connsiteY189" fmla="*/ 82506 h 1605023"/>
              <a:gd name="connsiteX190" fmla="*/ 3440424 w 10680562"/>
              <a:gd name="connsiteY190" fmla="*/ 67891 h 1605023"/>
              <a:gd name="connsiteX191" fmla="*/ 3466248 w 10680562"/>
              <a:gd name="connsiteY191" fmla="*/ 55103 h 1605023"/>
              <a:gd name="connsiteX192" fmla="*/ 3503820 w 10680562"/>
              <a:gd name="connsiteY192" fmla="*/ 42110 h 1605023"/>
              <a:gd name="connsiteX193" fmla="*/ 3568389 w 10680562"/>
              <a:gd name="connsiteY193" fmla="*/ 13576 h 1605023"/>
              <a:gd name="connsiteX194" fmla="*/ 3604089 w 10680562"/>
              <a:gd name="connsiteY194" fmla="*/ 6980 h 160502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Lst>
            <a:rect l="l" t="t" r="r" b="b"/>
            <a:pathLst>
              <a:path w="10680562" h="1605023">
                <a:moveTo>
                  <a:pt x="3617689" y="0"/>
                </a:moveTo>
                <a:lnTo>
                  <a:pt x="3635901" y="7738"/>
                </a:lnTo>
                <a:cubicBezTo>
                  <a:pt x="3636815" y="-13593"/>
                  <a:pt x="3674070" y="21953"/>
                  <a:pt x="3690891" y="7049"/>
                </a:cubicBezTo>
                <a:cubicBezTo>
                  <a:pt x="3723615" y="8082"/>
                  <a:pt x="3780877" y="7675"/>
                  <a:pt x="3832247" y="13937"/>
                </a:cubicBezTo>
                <a:cubicBezTo>
                  <a:pt x="3878761" y="52737"/>
                  <a:pt x="3960967" y="15082"/>
                  <a:pt x="3999111" y="44624"/>
                </a:cubicBezTo>
                <a:cubicBezTo>
                  <a:pt x="4011661" y="48427"/>
                  <a:pt x="4023440" y="49464"/>
                  <a:pt x="4034676" y="48775"/>
                </a:cubicBezTo>
                <a:lnTo>
                  <a:pt x="4065394" y="42879"/>
                </a:lnTo>
                <a:lnTo>
                  <a:pt x="4072648" y="33262"/>
                </a:lnTo>
                <a:lnTo>
                  <a:pt x="4092232" y="34026"/>
                </a:lnTo>
                <a:lnTo>
                  <a:pt x="4097470" y="32252"/>
                </a:lnTo>
                <a:cubicBezTo>
                  <a:pt x="4107476" y="28819"/>
                  <a:pt x="4117405" y="25741"/>
                  <a:pt x="4127488" y="24056"/>
                </a:cubicBezTo>
                <a:cubicBezTo>
                  <a:pt x="4122379" y="69900"/>
                  <a:pt x="4212421" y="17287"/>
                  <a:pt x="4190803" y="55685"/>
                </a:cubicBezTo>
                <a:cubicBezTo>
                  <a:pt x="4245322" y="54405"/>
                  <a:pt x="4210442" y="91290"/>
                  <a:pt x="4269333" y="54186"/>
                </a:cubicBezTo>
                <a:cubicBezTo>
                  <a:pt x="4360007" y="84494"/>
                  <a:pt x="4405441" y="66275"/>
                  <a:pt x="4481486" y="116915"/>
                </a:cubicBezTo>
                <a:cubicBezTo>
                  <a:pt x="4469366" y="96298"/>
                  <a:pt x="4624978" y="141388"/>
                  <a:pt x="4651418" y="150071"/>
                </a:cubicBezTo>
                <a:lnTo>
                  <a:pt x="4863575" y="175458"/>
                </a:lnTo>
                <a:cubicBezTo>
                  <a:pt x="4867452" y="182323"/>
                  <a:pt x="5007365" y="209256"/>
                  <a:pt x="5013635" y="213928"/>
                </a:cubicBezTo>
                <a:lnTo>
                  <a:pt x="5203044" y="228946"/>
                </a:lnTo>
                <a:lnTo>
                  <a:pt x="5207070" y="235105"/>
                </a:lnTo>
                <a:lnTo>
                  <a:pt x="5224253" y="240320"/>
                </a:lnTo>
                <a:lnTo>
                  <a:pt x="5256736" y="254811"/>
                </a:lnTo>
                <a:lnTo>
                  <a:pt x="5264095" y="253567"/>
                </a:lnTo>
                <a:lnTo>
                  <a:pt x="5315084" y="269264"/>
                </a:lnTo>
                <a:lnTo>
                  <a:pt x="5316393" y="267603"/>
                </a:lnTo>
                <a:cubicBezTo>
                  <a:pt x="5320500" y="264235"/>
                  <a:pt x="5325719" y="262424"/>
                  <a:pt x="5333427" y="263823"/>
                </a:cubicBezTo>
                <a:cubicBezTo>
                  <a:pt x="5330520" y="234164"/>
                  <a:pt x="5341605" y="254143"/>
                  <a:pt x="5364589" y="260882"/>
                </a:cubicBezTo>
                <a:cubicBezTo>
                  <a:pt x="5365199" y="216323"/>
                  <a:pt x="5425089" y="252089"/>
                  <a:pt x="5443973" y="230866"/>
                </a:cubicBezTo>
                <a:cubicBezTo>
                  <a:pt x="5460840" y="236821"/>
                  <a:pt x="5478689" y="242307"/>
                  <a:pt x="5497201" y="247023"/>
                </a:cubicBezTo>
                <a:lnTo>
                  <a:pt x="5508269" y="249256"/>
                </a:lnTo>
                <a:lnTo>
                  <a:pt x="5508636" y="248880"/>
                </a:lnTo>
                <a:cubicBezTo>
                  <a:pt x="5511356" y="248469"/>
                  <a:pt x="5515116" y="248867"/>
                  <a:pt x="5520606" y="250400"/>
                </a:cubicBezTo>
                <a:lnTo>
                  <a:pt x="5528451" y="253330"/>
                </a:lnTo>
                <a:lnTo>
                  <a:pt x="5549923" y="257662"/>
                </a:lnTo>
                <a:lnTo>
                  <a:pt x="5558295" y="256364"/>
                </a:lnTo>
                <a:lnTo>
                  <a:pt x="5664799" y="278924"/>
                </a:lnTo>
                <a:lnTo>
                  <a:pt x="5796160" y="307979"/>
                </a:lnTo>
                <a:lnTo>
                  <a:pt x="5897647" y="339431"/>
                </a:lnTo>
                <a:cubicBezTo>
                  <a:pt x="5894921" y="322560"/>
                  <a:pt x="5962532" y="357207"/>
                  <a:pt x="5978838" y="367970"/>
                </a:cubicBezTo>
                <a:cubicBezTo>
                  <a:pt x="6035145" y="375765"/>
                  <a:pt x="6006578" y="380813"/>
                  <a:pt x="6050367" y="386341"/>
                </a:cubicBezTo>
                <a:cubicBezTo>
                  <a:pt x="6051161" y="391932"/>
                  <a:pt x="6137489" y="380709"/>
                  <a:pt x="6140609" y="385135"/>
                </a:cubicBezTo>
                <a:cubicBezTo>
                  <a:pt x="6205928" y="424013"/>
                  <a:pt x="6248816" y="452185"/>
                  <a:pt x="6302950" y="448183"/>
                </a:cubicBezTo>
                <a:lnTo>
                  <a:pt x="6308533" y="448551"/>
                </a:lnTo>
                <a:lnTo>
                  <a:pt x="6340278" y="468555"/>
                </a:lnTo>
                <a:lnTo>
                  <a:pt x="6341685" y="467587"/>
                </a:lnTo>
                <a:cubicBezTo>
                  <a:pt x="6345560" y="465876"/>
                  <a:pt x="6349786" y="465470"/>
                  <a:pt x="6354862" y="467794"/>
                </a:cubicBezTo>
                <a:cubicBezTo>
                  <a:pt x="6361260" y="446013"/>
                  <a:pt x="6363438" y="462250"/>
                  <a:pt x="6377840" y="471024"/>
                </a:cubicBezTo>
                <a:cubicBezTo>
                  <a:pt x="6390990" y="439154"/>
                  <a:pt x="6423334" y="475084"/>
                  <a:pt x="6442804" y="463091"/>
                </a:cubicBezTo>
                <a:cubicBezTo>
                  <a:pt x="6453090" y="470255"/>
                  <a:pt x="6464204" y="477252"/>
                  <a:pt x="6476009" y="483807"/>
                </a:cubicBezTo>
                <a:lnTo>
                  <a:pt x="6483237" y="487308"/>
                </a:lnTo>
                <a:lnTo>
                  <a:pt x="6483605" y="487102"/>
                </a:lnTo>
                <a:cubicBezTo>
                  <a:pt x="6485654" y="487272"/>
                  <a:pt x="6488212" y="488201"/>
                  <a:pt x="6491673" y="490243"/>
                </a:cubicBezTo>
                <a:lnTo>
                  <a:pt x="6496411" y="493689"/>
                </a:lnTo>
                <a:lnTo>
                  <a:pt x="6510429" y="500479"/>
                </a:lnTo>
                <a:lnTo>
                  <a:pt x="6516750" y="500983"/>
                </a:lnTo>
                <a:cubicBezTo>
                  <a:pt x="6541864" y="496675"/>
                  <a:pt x="6554866" y="452619"/>
                  <a:pt x="6580199" y="483318"/>
                </a:cubicBezTo>
                <a:cubicBezTo>
                  <a:pt x="6622601" y="489571"/>
                  <a:pt x="6654587" y="470617"/>
                  <a:pt x="6690237" y="493051"/>
                </a:cubicBezTo>
                <a:cubicBezTo>
                  <a:pt x="6729957" y="498806"/>
                  <a:pt x="6766252" y="494451"/>
                  <a:pt x="6798356" y="506748"/>
                </a:cubicBezTo>
                <a:cubicBezTo>
                  <a:pt x="6813529" y="501270"/>
                  <a:pt x="6826992" y="500232"/>
                  <a:pt x="6837102" y="513677"/>
                </a:cubicBezTo>
                <a:cubicBezTo>
                  <a:pt x="6874837" y="515764"/>
                  <a:pt x="6887115" y="500833"/>
                  <a:pt x="6907934" y="517339"/>
                </a:cubicBezTo>
                <a:cubicBezTo>
                  <a:pt x="6934086" y="494196"/>
                  <a:pt x="6933260" y="504492"/>
                  <a:pt x="6941474" y="513632"/>
                </a:cubicBezTo>
                <a:lnTo>
                  <a:pt x="6942754" y="514394"/>
                </a:lnTo>
                <a:lnTo>
                  <a:pt x="6946363" y="511066"/>
                </a:lnTo>
                <a:lnTo>
                  <a:pt x="6952592" y="510252"/>
                </a:lnTo>
                <a:lnTo>
                  <a:pt x="6968398" y="513946"/>
                </a:lnTo>
                <a:lnTo>
                  <a:pt x="6974142" y="516310"/>
                </a:lnTo>
                <a:cubicBezTo>
                  <a:pt x="6978173" y="517574"/>
                  <a:pt x="6980948" y="517948"/>
                  <a:pt x="6982971" y="517694"/>
                </a:cubicBezTo>
                <a:lnTo>
                  <a:pt x="6983252" y="517416"/>
                </a:lnTo>
                <a:lnTo>
                  <a:pt x="6991400" y="519321"/>
                </a:lnTo>
                <a:cubicBezTo>
                  <a:pt x="7005004" y="523242"/>
                  <a:pt x="7018100" y="527732"/>
                  <a:pt x="7030460" y="532556"/>
                </a:cubicBezTo>
                <a:cubicBezTo>
                  <a:pt x="7044917" y="516932"/>
                  <a:pt x="7088472" y="545083"/>
                  <a:pt x="7089916" y="511503"/>
                </a:cubicBezTo>
                <a:cubicBezTo>
                  <a:pt x="7106785" y="517039"/>
                  <a:pt x="7114554" y="532321"/>
                  <a:pt x="7113059" y="509904"/>
                </a:cubicBezTo>
                <a:cubicBezTo>
                  <a:pt x="7118735" y="511110"/>
                  <a:pt x="7122641" y="509850"/>
                  <a:pt x="7125755" y="507393"/>
                </a:cubicBezTo>
                <a:lnTo>
                  <a:pt x="7126765" y="506166"/>
                </a:lnTo>
                <a:lnTo>
                  <a:pt x="7164175" y="519011"/>
                </a:lnTo>
                <a:lnTo>
                  <a:pt x="7169654" y="518219"/>
                </a:lnTo>
                <a:lnTo>
                  <a:pt x="7193386" y="529788"/>
                </a:lnTo>
                <a:lnTo>
                  <a:pt x="7205997" y="534060"/>
                </a:lnTo>
                <a:lnTo>
                  <a:pt x="7208842" y="538783"/>
                </a:lnTo>
                <a:cubicBezTo>
                  <a:pt x="7212314" y="541931"/>
                  <a:pt x="7217803" y="543928"/>
                  <a:pt x="7227817" y="543304"/>
                </a:cubicBezTo>
                <a:lnTo>
                  <a:pt x="7230267" y="542497"/>
                </a:lnTo>
                <a:lnTo>
                  <a:pt x="7244913" y="551160"/>
                </a:lnTo>
                <a:cubicBezTo>
                  <a:pt x="7249453" y="554807"/>
                  <a:pt x="7253253" y="559130"/>
                  <a:pt x="7255970" y="564383"/>
                </a:cubicBezTo>
                <a:cubicBezTo>
                  <a:pt x="7315146" y="548103"/>
                  <a:pt x="7361553" y="579076"/>
                  <a:pt x="7421156" y="584155"/>
                </a:cubicBezTo>
                <a:cubicBezTo>
                  <a:pt x="7465612" y="613750"/>
                  <a:pt x="7546249" y="613142"/>
                  <a:pt x="7553166" y="653085"/>
                </a:cubicBezTo>
                <a:cubicBezTo>
                  <a:pt x="7562552" y="609214"/>
                  <a:pt x="7673998" y="724531"/>
                  <a:pt x="7643092" y="662482"/>
                </a:cubicBezTo>
                <a:lnTo>
                  <a:pt x="7896429" y="689054"/>
                </a:lnTo>
                <a:cubicBezTo>
                  <a:pt x="7940867" y="662251"/>
                  <a:pt x="7914217" y="689365"/>
                  <a:pt x="7954620" y="689481"/>
                </a:cubicBezTo>
                <a:cubicBezTo>
                  <a:pt x="7937756" y="718000"/>
                  <a:pt x="8005608" y="680123"/>
                  <a:pt x="8000803" y="714583"/>
                </a:cubicBezTo>
                <a:cubicBezTo>
                  <a:pt x="8008309" y="713512"/>
                  <a:pt x="8015731" y="711389"/>
                  <a:pt x="8023216" y="709000"/>
                </a:cubicBezTo>
                <a:lnTo>
                  <a:pt x="8027136" y="707765"/>
                </a:lnTo>
                <a:lnTo>
                  <a:pt x="8041622" y="708731"/>
                </a:lnTo>
                <a:lnTo>
                  <a:pt x="8047209" y="701624"/>
                </a:lnTo>
                <a:lnTo>
                  <a:pt x="8070088" y="697789"/>
                </a:lnTo>
                <a:cubicBezTo>
                  <a:pt x="8078424" y="697492"/>
                  <a:pt x="8087123" y="698508"/>
                  <a:pt x="8096332" y="701624"/>
                </a:cubicBezTo>
                <a:cubicBezTo>
                  <a:pt x="8123926" y="724651"/>
                  <a:pt x="8185640" y="697894"/>
                  <a:pt x="8219225" y="728069"/>
                </a:cubicBezTo>
                <a:cubicBezTo>
                  <a:pt x="8232644" y="736562"/>
                  <a:pt x="8280723" y="746936"/>
                  <a:pt x="8293793" y="739200"/>
                </a:cubicBezTo>
                <a:cubicBezTo>
                  <a:pt x="8304636" y="739365"/>
                  <a:pt x="8314843" y="745516"/>
                  <a:pt x="8323753" y="736063"/>
                </a:cubicBezTo>
                <a:cubicBezTo>
                  <a:pt x="8336542" y="725164"/>
                  <a:pt x="8363344" y="752699"/>
                  <a:pt x="8364496" y="736635"/>
                </a:cubicBezTo>
                <a:cubicBezTo>
                  <a:pt x="8383724" y="755702"/>
                  <a:pt x="8414211" y="733717"/>
                  <a:pt x="8437662" y="731942"/>
                </a:cubicBezTo>
                <a:cubicBezTo>
                  <a:pt x="8451685" y="749699"/>
                  <a:pt x="8487061" y="728469"/>
                  <a:pt x="8533764" y="735554"/>
                </a:cubicBezTo>
                <a:cubicBezTo>
                  <a:pt x="8548878" y="755832"/>
                  <a:pt x="8565301" y="740114"/>
                  <a:pt x="8596769" y="769632"/>
                </a:cubicBezTo>
                <a:cubicBezTo>
                  <a:pt x="8598880" y="767829"/>
                  <a:pt x="8601326" y="766261"/>
                  <a:pt x="8604035" y="764982"/>
                </a:cubicBezTo>
                <a:cubicBezTo>
                  <a:pt x="8619777" y="757551"/>
                  <a:pt x="8640772" y="761213"/>
                  <a:pt x="8650929" y="773164"/>
                </a:cubicBezTo>
                <a:cubicBezTo>
                  <a:pt x="8702615" y="814545"/>
                  <a:pt x="8757170" y="823762"/>
                  <a:pt x="8806497" y="839707"/>
                </a:cubicBezTo>
                <a:cubicBezTo>
                  <a:pt x="8863157" y="854381"/>
                  <a:pt x="8833749" y="812347"/>
                  <a:pt x="8898377" y="854651"/>
                </a:cubicBezTo>
                <a:cubicBezTo>
                  <a:pt x="8909161" y="844048"/>
                  <a:pt x="8918437" y="845186"/>
                  <a:pt x="8932389" y="853846"/>
                </a:cubicBezTo>
                <a:cubicBezTo>
                  <a:pt x="8960146" y="860074"/>
                  <a:pt x="8965550" y="829338"/>
                  <a:pt x="8989288" y="852877"/>
                </a:cubicBezTo>
                <a:cubicBezTo>
                  <a:pt x="8988278" y="835633"/>
                  <a:pt x="9043995" y="856467"/>
                  <a:pt x="9035275" y="837110"/>
                </a:cubicBezTo>
                <a:cubicBezTo>
                  <a:pt x="9060165" y="838647"/>
                  <a:pt x="9108456" y="858499"/>
                  <a:pt x="9138626" y="862106"/>
                </a:cubicBezTo>
                <a:cubicBezTo>
                  <a:pt x="9165080" y="876547"/>
                  <a:pt x="9174888" y="860404"/>
                  <a:pt x="9216298" y="858754"/>
                </a:cubicBezTo>
                <a:cubicBezTo>
                  <a:pt x="9230418" y="871192"/>
                  <a:pt x="9244774" y="868822"/>
                  <a:pt x="9259941" y="861843"/>
                </a:cubicBezTo>
                <a:cubicBezTo>
                  <a:pt x="9297647" y="870955"/>
                  <a:pt x="9335980" y="863006"/>
                  <a:pt x="9380407" y="864825"/>
                </a:cubicBezTo>
                <a:cubicBezTo>
                  <a:pt x="9424338" y="883720"/>
                  <a:pt x="9443322" y="899138"/>
                  <a:pt x="9490772" y="901190"/>
                </a:cubicBezTo>
                <a:cubicBezTo>
                  <a:pt x="9530410" y="933396"/>
                  <a:pt x="9546422" y="928548"/>
                  <a:pt x="9584982" y="935980"/>
                </a:cubicBezTo>
                <a:cubicBezTo>
                  <a:pt x="9629819" y="954269"/>
                  <a:pt x="9718219" y="986435"/>
                  <a:pt x="9759797" y="1010923"/>
                </a:cubicBezTo>
                <a:cubicBezTo>
                  <a:pt x="9801376" y="1035410"/>
                  <a:pt x="9804503" y="1066293"/>
                  <a:pt x="9834455" y="1082908"/>
                </a:cubicBezTo>
                <a:cubicBezTo>
                  <a:pt x="9864406" y="1099522"/>
                  <a:pt x="9891608" y="1087791"/>
                  <a:pt x="9939504" y="1110614"/>
                </a:cubicBezTo>
                <a:cubicBezTo>
                  <a:pt x="9978150" y="1098522"/>
                  <a:pt x="10034187" y="1166580"/>
                  <a:pt x="10077001" y="1160906"/>
                </a:cubicBezTo>
                <a:cubicBezTo>
                  <a:pt x="10084861" y="1190721"/>
                  <a:pt x="10164307" y="1234884"/>
                  <a:pt x="10178431" y="1244920"/>
                </a:cubicBezTo>
                <a:cubicBezTo>
                  <a:pt x="10210316" y="1215779"/>
                  <a:pt x="10222273" y="1306394"/>
                  <a:pt x="10248658" y="1309335"/>
                </a:cubicBezTo>
                <a:lnTo>
                  <a:pt x="10414709" y="1388645"/>
                </a:lnTo>
                <a:cubicBezTo>
                  <a:pt x="10473963" y="1440373"/>
                  <a:pt x="10538857" y="1454568"/>
                  <a:pt x="10592469" y="1543828"/>
                </a:cubicBezTo>
                <a:cubicBezTo>
                  <a:pt x="10651538" y="1531501"/>
                  <a:pt x="10660082" y="1567462"/>
                  <a:pt x="10674941" y="1597388"/>
                </a:cubicBezTo>
                <a:lnTo>
                  <a:pt x="10680562" y="1605023"/>
                </a:lnTo>
                <a:lnTo>
                  <a:pt x="0" y="1605023"/>
                </a:lnTo>
                <a:lnTo>
                  <a:pt x="0" y="415048"/>
                </a:lnTo>
                <a:lnTo>
                  <a:pt x="9656" y="416044"/>
                </a:lnTo>
                <a:cubicBezTo>
                  <a:pt x="66794" y="420549"/>
                  <a:pt x="142962" y="423374"/>
                  <a:pt x="179196" y="423071"/>
                </a:cubicBezTo>
                <a:cubicBezTo>
                  <a:pt x="202136" y="418172"/>
                  <a:pt x="228694" y="392385"/>
                  <a:pt x="250912" y="408617"/>
                </a:cubicBezTo>
                <a:cubicBezTo>
                  <a:pt x="249389" y="392611"/>
                  <a:pt x="280512" y="416185"/>
                  <a:pt x="291375" y="403710"/>
                </a:cubicBezTo>
                <a:cubicBezTo>
                  <a:pt x="298635" y="393187"/>
                  <a:pt x="309770" y="397885"/>
                  <a:pt x="320542" y="396592"/>
                </a:cubicBezTo>
                <a:cubicBezTo>
                  <a:pt x="359051" y="397166"/>
                  <a:pt x="484339" y="405354"/>
                  <a:pt x="522426" y="407158"/>
                </a:cubicBezTo>
                <a:cubicBezTo>
                  <a:pt x="532069" y="408997"/>
                  <a:pt x="540856" y="408831"/>
                  <a:pt x="549068" y="407418"/>
                </a:cubicBezTo>
                <a:lnTo>
                  <a:pt x="571100" y="400562"/>
                </a:lnTo>
                <a:lnTo>
                  <a:pt x="575457" y="392801"/>
                </a:lnTo>
                <a:lnTo>
                  <a:pt x="589968" y="391807"/>
                </a:lnTo>
                <a:lnTo>
                  <a:pt x="593649" y="390062"/>
                </a:lnTo>
                <a:cubicBezTo>
                  <a:pt x="600667" y="386700"/>
                  <a:pt x="607669" y="383607"/>
                  <a:pt x="614928" y="381544"/>
                </a:cubicBezTo>
                <a:cubicBezTo>
                  <a:pt x="636416" y="381988"/>
                  <a:pt x="667253" y="387671"/>
                  <a:pt x="722580" y="392722"/>
                </a:cubicBezTo>
                <a:cubicBezTo>
                  <a:pt x="792539" y="408114"/>
                  <a:pt x="885615" y="380106"/>
                  <a:pt x="946884" y="411854"/>
                </a:cubicBezTo>
                <a:cubicBezTo>
                  <a:pt x="1028270" y="418469"/>
                  <a:pt x="1139077" y="429433"/>
                  <a:pt x="1210905" y="432414"/>
                </a:cubicBezTo>
                <a:cubicBezTo>
                  <a:pt x="1270803" y="429423"/>
                  <a:pt x="1321921" y="453757"/>
                  <a:pt x="1377854" y="429745"/>
                </a:cubicBezTo>
                <a:cubicBezTo>
                  <a:pt x="1381419" y="434564"/>
                  <a:pt x="1385901" y="438319"/>
                  <a:pt x="1391004" y="441307"/>
                </a:cubicBezTo>
                <a:lnTo>
                  <a:pt x="1406953" y="447889"/>
                </a:lnTo>
                <a:lnTo>
                  <a:pt x="1409246" y="446765"/>
                </a:lnTo>
                <a:cubicBezTo>
                  <a:pt x="1419066" y="444804"/>
                  <a:pt x="1424836" y="446037"/>
                  <a:pt x="1428800" y="448677"/>
                </a:cubicBezTo>
                <a:lnTo>
                  <a:pt x="1432402" y="452956"/>
                </a:lnTo>
                <a:lnTo>
                  <a:pt x="1606578" y="430870"/>
                </a:lnTo>
                <a:cubicBezTo>
                  <a:pt x="1619625" y="433971"/>
                  <a:pt x="1633347" y="436643"/>
                  <a:pt x="1647476" y="438687"/>
                </a:cubicBezTo>
                <a:lnTo>
                  <a:pt x="1655866" y="439472"/>
                </a:lnTo>
                <a:lnTo>
                  <a:pt x="1656096" y="439162"/>
                </a:lnTo>
                <a:cubicBezTo>
                  <a:pt x="1658061" y="438636"/>
                  <a:pt x="1666503" y="411823"/>
                  <a:pt x="1670708" y="412530"/>
                </a:cubicBezTo>
                <a:lnTo>
                  <a:pt x="1737953" y="399496"/>
                </a:lnTo>
                <a:lnTo>
                  <a:pt x="1848192" y="376032"/>
                </a:lnTo>
                <a:cubicBezTo>
                  <a:pt x="1887458" y="368088"/>
                  <a:pt x="1918458" y="352092"/>
                  <a:pt x="1954077" y="352621"/>
                </a:cubicBezTo>
                <a:cubicBezTo>
                  <a:pt x="1965180" y="342609"/>
                  <a:pt x="1976973" y="337201"/>
                  <a:pt x="1993047" y="346068"/>
                </a:cubicBezTo>
                <a:cubicBezTo>
                  <a:pt x="2028636" y="335449"/>
                  <a:pt x="2032293" y="317806"/>
                  <a:pt x="2059719" y="325903"/>
                </a:cubicBezTo>
                <a:cubicBezTo>
                  <a:pt x="2071905" y="296194"/>
                  <a:pt x="2076373" y="305826"/>
                  <a:pt x="2088528" y="311409"/>
                </a:cubicBezTo>
                <a:lnTo>
                  <a:pt x="2090087" y="311676"/>
                </a:lnTo>
                <a:lnTo>
                  <a:pt x="2091700" y="307455"/>
                </a:lnTo>
                <a:lnTo>
                  <a:pt x="2096989" y="304649"/>
                </a:lnTo>
                <a:lnTo>
                  <a:pt x="2113325" y="302764"/>
                </a:lnTo>
                <a:lnTo>
                  <a:pt x="2119780" y="303007"/>
                </a:lnTo>
                <a:cubicBezTo>
                  <a:pt x="2124111" y="302819"/>
                  <a:pt x="2126840" y="302239"/>
                  <a:pt x="2128562" y="301336"/>
                </a:cubicBezTo>
                <a:cubicBezTo>
                  <a:pt x="2128600" y="301221"/>
                  <a:pt x="2128640" y="301107"/>
                  <a:pt x="2128679" y="300991"/>
                </a:cubicBezTo>
                <a:lnTo>
                  <a:pt x="2179558" y="299095"/>
                </a:lnTo>
                <a:cubicBezTo>
                  <a:pt x="2184857" y="280099"/>
                  <a:pt x="2238998" y="291238"/>
                  <a:pt x="2223277" y="260239"/>
                </a:cubicBezTo>
                <a:cubicBezTo>
                  <a:pt x="2241523" y="259676"/>
                  <a:pt x="2256386" y="270988"/>
                  <a:pt x="2243644" y="251110"/>
                </a:cubicBezTo>
                <a:cubicBezTo>
                  <a:pt x="2249448" y="250324"/>
                  <a:pt x="2252382" y="247882"/>
                  <a:pt x="2253986" y="244616"/>
                </a:cubicBezTo>
                <a:lnTo>
                  <a:pt x="2254285" y="243167"/>
                </a:lnTo>
                <a:lnTo>
                  <a:pt x="2295037" y="242433"/>
                </a:lnTo>
                <a:lnTo>
                  <a:pt x="2299648" y="239896"/>
                </a:lnTo>
                <a:lnTo>
                  <a:pt x="2327237" y="242539"/>
                </a:lnTo>
                <a:lnTo>
                  <a:pt x="2340943" y="242239"/>
                </a:lnTo>
                <a:lnTo>
                  <a:pt x="2345943" y="245589"/>
                </a:lnTo>
                <a:cubicBezTo>
                  <a:pt x="2350718" y="247299"/>
                  <a:pt x="2356754" y="247292"/>
                  <a:pt x="2365602" y="243403"/>
                </a:cubicBezTo>
                <a:lnTo>
                  <a:pt x="2367433" y="241858"/>
                </a:lnTo>
                <a:lnTo>
                  <a:pt x="2385231" y="244873"/>
                </a:lnTo>
                <a:cubicBezTo>
                  <a:pt x="2391237" y="246682"/>
                  <a:pt x="2396907" y="249351"/>
                  <a:pt x="2402059" y="253223"/>
                </a:cubicBezTo>
                <a:cubicBezTo>
                  <a:pt x="2457690" y="251623"/>
                  <a:pt x="2639813" y="242704"/>
                  <a:pt x="2719020" y="235271"/>
                </a:cubicBezTo>
                <a:cubicBezTo>
                  <a:pt x="2762954" y="229515"/>
                  <a:pt x="2821915" y="222156"/>
                  <a:pt x="2877308" y="208630"/>
                </a:cubicBezTo>
                <a:cubicBezTo>
                  <a:pt x="2947949" y="226393"/>
                  <a:pt x="2978035" y="153757"/>
                  <a:pt x="3051375" y="154110"/>
                </a:cubicBezTo>
                <a:cubicBezTo>
                  <a:pt x="3078434" y="115011"/>
                  <a:pt x="3067807" y="148493"/>
                  <a:pt x="3104837" y="135199"/>
                </a:cubicBezTo>
                <a:cubicBezTo>
                  <a:pt x="3103880" y="166713"/>
                  <a:pt x="3146743" y="109780"/>
                  <a:pt x="3159836" y="142694"/>
                </a:cubicBezTo>
                <a:cubicBezTo>
                  <a:pt x="3166160" y="139232"/>
                  <a:pt x="3171875" y="134841"/>
                  <a:pt x="3177510" y="130186"/>
                </a:cubicBezTo>
                <a:lnTo>
                  <a:pt x="3180470" y="127764"/>
                </a:lnTo>
                <a:lnTo>
                  <a:pt x="3194216" y="123837"/>
                </a:lnTo>
                <a:lnTo>
                  <a:pt x="3214710" y="104451"/>
                </a:lnTo>
                <a:cubicBezTo>
                  <a:pt x="3222186" y="101416"/>
                  <a:pt x="3230663" y="99454"/>
                  <a:pt x="3240671" y="99232"/>
                </a:cubicBezTo>
                <a:cubicBezTo>
                  <a:pt x="3277606" y="111009"/>
                  <a:pt x="3320498" y="66221"/>
                  <a:pt x="3366544" y="82506"/>
                </a:cubicBezTo>
                <a:cubicBezTo>
                  <a:pt x="3383134" y="85775"/>
                  <a:pt x="3432393" y="79256"/>
                  <a:pt x="3440424" y="67891"/>
                </a:cubicBezTo>
                <a:cubicBezTo>
                  <a:pt x="3450432" y="64444"/>
                  <a:pt x="3462892" y="66649"/>
                  <a:pt x="3466248" y="55103"/>
                </a:cubicBezTo>
                <a:cubicBezTo>
                  <a:pt x="3472418" y="40954"/>
                  <a:pt x="3510917" y="57092"/>
                  <a:pt x="3503820" y="42110"/>
                </a:cubicBezTo>
                <a:lnTo>
                  <a:pt x="3568389" y="13576"/>
                </a:lnTo>
                <a:cubicBezTo>
                  <a:pt x="3579310" y="19318"/>
                  <a:pt x="3590168" y="14433"/>
                  <a:pt x="3604089" y="6980"/>
                </a:cubicBez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311C5203-7F98-29EA-477A-29994EA5E064}"/>
              </a:ext>
            </a:extLst>
          </p:cNvPr>
          <p:cNvSpPr txBox="1"/>
          <p:nvPr/>
        </p:nvSpPr>
        <p:spPr>
          <a:xfrm>
            <a:off x="8364449" y="1322888"/>
            <a:ext cx="3628905" cy="954107"/>
          </a:xfrm>
          <a:prstGeom prst="rect">
            <a:avLst/>
          </a:prstGeom>
          <a:noFill/>
        </p:spPr>
        <p:txBody>
          <a:bodyPr wrap="square">
            <a:spAutoFit/>
          </a:bodyPr>
          <a:lstStyle/>
          <a:p>
            <a:r>
              <a:rPr lang="en-GB" sz="1400" dirty="0"/>
              <a:t>Common DNA extraction kits:</a:t>
            </a:r>
          </a:p>
          <a:p>
            <a:pPr marL="285750" indent="-285750">
              <a:buFont typeface="Arial" panose="020B0604020202020204" pitchFamily="34" charset="0"/>
              <a:buChar char="•"/>
            </a:pPr>
            <a:r>
              <a:rPr lang="en-GB" sz="1400" dirty="0"/>
              <a:t>QIAGEN </a:t>
            </a:r>
            <a:r>
              <a:rPr lang="en-GB" sz="1400" dirty="0" err="1"/>
              <a:t>DNeasy</a:t>
            </a:r>
            <a:r>
              <a:rPr lang="en-GB" sz="1400" dirty="0"/>
              <a:t> </a:t>
            </a:r>
            <a:r>
              <a:rPr lang="en-GB" sz="1400" dirty="0" err="1"/>
              <a:t>PowerSoil</a:t>
            </a:r>
            <a:r>
              <a:rPr lang="en-GB" sz="1400" dirty="0"/>
              <a:t> Pro Kit</a:t>
            </a:r>
          </a:p>
          <a:p>
            <a:pPr marL="285750" indent="-285750">
              <a:buFont typeface="Arial" panose="020B0604020202020204" pitchFamily="34" charset="0"/>
              <a:buChar char="•"/>
            </a:pPr>
            <a:r>
              <a:rPr lang="en-GB" sz="1400" dirty="0"/>
              <a:t>QIAGEN </a:t>
            </a:r>
            <a:r>
              <a:rPr lang="en-GB" sz="1400" dirty="0" err="1"/>
              <a:t>QIAamp</a:t>
            </a:r>
            <a:r>
              <a:rPr lang="en-GB" sz="1400" dirty="0"/>
              <a:t> </a:t>
            </a:r>
            <a:r>
              <a:rPr lang="en-GB" sz="1400" dirty="0" err="1"/>
              <a:t>PowerFecal</a:t>
            </a:r>
            <a:r>
              <a:rPr lang="en-GB" sz="1400" dirty="0"/>
              <a:t> Pro DNA Kit</a:t>
            </a:r>
          </a:p>
          <a:p>
            <a:pPr marL="285750" indent="-285750">
              <a:buFont typeface="Arial" panose="020B0604020202020204" pitchFamily="34" charset="0"/>
              <a:buChar char="•"/>
            </a:pPr>
            <a:r>
              <a:rPr lang="en-GB" sz="1400" dirty="0" err="1"/>
              <a:t>ZymoBIOMICS</a:t>
            </a:r>
            <a:r>
              <a:rPr lang="en-GB" sz="1400" dirty="0"/>
              <a:t> DNA Miniprep Kit</a:t>
            </a:r>
            <a:endParaRPr lang="en-DK" sz="1400" dirty="0"/>
          </a:p>
        </p:txBody>
      </p:sp>
    </p:spTree>
    <p:extLst>
      <p:ext uri="{BB962C8B-B14F-4D97-AF65-F5344CB8AC3E}">
        <p14:creationId xmlns:p14="http://schemas.microsoft.com/office/powerpoint/2010/main" val="179731152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7" name="Rectangle 16">
            <a:extLst>
              <a:ext uri="{FF2B5EF4-FFF2-40B4-BE49-F238E27FC236}">
                <a16:creationId xmlns:a16="http://schemas.microsoft.com/office/drawing/2014/main" id="{7FF47CB7-972F-479F-A36D-9E72D26EC8D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Freeform: Shape 18">
            <a:extLst>
              <a:ext uri="{FF2B5EF4-FFF2-40B4-BE49-F238E27FC236}">
                <a16:creationId xmlns:a16="http://schemas.microsoft.com/office/drawing/2014/main" id="{0D153B68-5844-490D-8E67-F616D6D721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1766176" cy="2061837"/>
          </a:xfrm>
          <a:custGeom>
            <a:avLst/>
            <a:gdLst>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18446 w 10768629"/>
              <a:gd name="connsiteY143" fmla="*/ 1726895 h 1978172"/>
              <a:gd name="connsiteX144" fmla="*/ 4813657 w 10768629"/>
              <a:gd name="connsiteY144" fmla="*/ 1730706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18446 w 10768629"/>
              <a:gd name="connsiteY143" fmla="*/ 1726895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45936 w 10768629"/>
              <a:gd name="connsiteY142" fmla="*/ 1713743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9437 w 10768629"/>
              <a:gd name="connsiteY140" fmla="*/ 1636968 h 1978172"/>
              <a:gd name="connsiteX141" fmla="*/ 5440853 w 10768629"/>
              <a:gd name="connsiteY141" fmla="*/ 1657958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40853 w 10768629"/>
              <a:gd name="connsiteY141" fmla="*/ 1657958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38835 w 10768629"/>
              <a:gd name="connsiteY164" fmla="*/ 1920210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32568 w 10768629"/>
              <a:gd name="connsiteY178" fmla="*/ 1793149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186881 w 10768629"/>
              <a:gd name="connsiteY179" fmla="*/ 1768613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232341 w 10768629"/>
              <a:gd name="connsiteY179" fmla="*/ 1785942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1967996 w 10768629"/>
              <a:gd name="connsiteY173" fmla="*/ 1953187 h 1978172"/>
              <a:gd name="connsiteX174" fmla="*/ 1855805 w 10768629"/>
              <a:gd name="connsiteY174" fmla="*/ 1926082 h 1978172"/>
              <a:gd name="connsiteX175" fmla="*/ 1790957 w 10768629"/>
              <a:gd name="connsiteY175" fmla="*/ 1919460 h 1978172"/>
              <a:gd name="connsiteX176" fmla="*/ 1613978 w 10768629"/>
              <a:gd name="connsiteY176" fmla="*/ 1891581 h 1978172"/>
              <a:gd name="connsiteX177" fmla="*/ 1436831 w 10768629"/>
              <a:gd name="connsiteY177" fmla="*/ 1856201 h 1978172"/>
              <a:gd name="connsiteX178" fmla="*/ 1357365 w 10768629"/>
              <a:gd name="connsiteY178" fmla="*/ 1832140 h 1978172"/>
              <a:gd name="connsiteX179" fmla="*/ 1232341 w 10768629"/>
              <a:gd name="connsiteY179" fmla="*/ 1785942 h 1978172"/>
              <a:gd name="connsiteX180" fmla="*/ 1162595 w 10768629"/>
              <a:gd name="connsiteY180" fmla="*/ 1758337 h 1978172"/>
              <a:gd name="connsiteX181" fmla="*/ 1128523 w 10768629"/>
              <a:gd name="connsiteY181" fmla="*/ 1763621 h 1978172"/>
              <a:gd name="connsiteX182" fmla="*/ 991903 w 10768629"/>
              <a:gd name="connsiteY182" fmla="*/ 1786741 h 1978172"/>
              <a:gd name="connsiteX183" fmla="*/ 883960 w 10768629"/>
              <a:gd name="connsiteY183" fmla="*/ 1822386 h 1978172"/>
              <a:gd name="connsiteX184" fmla="*/ 766531 w 10768629"/>
              <a:gd name="connsiteY184" fmla="*/ 1805053 h 1978172"/>
              <a:gd name="connsiteX185" fmla="*/ 669779 w 10768629"/>
              <a:gd name="connsiteY185" fmla="*/ 1800537 h 1978172"/>
              <a:gd name="connsiteX186" fmla="*/ 523898 w 10768629"/>
              <a:gd name="connsiteY186" fmla="*/ 1811085 h 1978172"/>
              <a:gd name="connsiteX187" fmla="*/ 360251 w 10768629"/>
              <a:gd name="connsiteY187" fmla="*/ 1830735 h 1978172"/>
              <a:gd name="connsiteX188" fmla="*/ 255207 w 10768629"/>
              <a:gd name="connsiteY188" fmla="*/ 1818275 h 1978172"/>
              <a:gd name="connsiteX189" fmla="*/ 101803 w 10768629"/>
              <a:gd name="connsiteY189" fmla="*/ 1870647 h 1978172"/>
              <a:gd name="connsiteX190" fmla="*/ 25397 w 10768629"/>
              <a:gd name="connsiteY190" fmla="*/ 1888443 h 1978172"/>
              <a:gd name="connsiteX191" fmla="*/ 2370 w 10768629"/>
              <a:gd name="connsiteY191" fmla="*/ 1878311 h 1978172"/>
              <a:gd name="connsiteX192" fmla="*/ 0 w 10768629"/>
              <a:gd name="connsiteY192" fmla="*/ 1878785 h 1978172"/>
              <a:gd name="connsiteX193" fmla="*/ 0 w 10768629"/>
              <a:gd name="connsiteY193"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115176 w 10768629"/>
              <a:gd name="connsiteY163" fmla="*/ 1943459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57504 w 10768629"/>
              <a:gd name="connsiteY162" fmla="*/ 1957276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90336 w 10768629"/>
              <a:gd name="connsiteY159" fmla="*/ 1925039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76289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407128 w 10768629"/>
              <a:gd name="connsiteY46" fmla="*/ 961344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9462 w 10768629"/>
              <a:gd name="connsiteY48" fmla="*/ 987106 h 1978172"/>
              <a:gd name="connsiteX49" fmla="*/ 8369725 w 10768629"/>
              <a:gd name="connsiteY49" fmla="*/ 989186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9462 w 10768629"/>
              <a:gd name="connsiteY48" fmla="*/ 987106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79948 w 10768629"/>
              <a:gd name="connsiteY35" fmla="*/ 576062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316893 w 10768629"/>
              <a:gd name="connsiteY28" fmla="*/ 491390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69666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43525 w 10768629"/>
              <a:gd name="connsiteY78" fmla="*/ 1179064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85942 w 10768629"/>
              <a:gd name="connsiteY79" fmla="*/ 1233723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07190 w 10768629"/>
              <a:gd name="connsiteY82" fmla="*/ 1314737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5361 w 10768629"/>
              <a:gd name="connsiteY152" fmla="*/ 1894711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20200 w 10768629"/>
              <a:gd name="connsiteY151" fmla="*/ 1873173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22386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8523 w 10768629"/>
              <a:gd name="connsiteY182" fmla="*/ 1763621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58337 h 1978172"/>
              <a:gd name="connsiteX182" fmla="*/ 1120257 w 10768629"/>
              <a:gd name="connsiteY182" fmla="*/ 1789615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 name="connsiteX0" fmla="*/ 0 w 10768629"/>
              <a:gd name="connsiteY0" fmla="*/ 0 h 1978172"/>
              <a:gd name="connsiteX1" fmla="*/ 10768629 w 10768629"/>
              <a:gd name="connsiteY1" fmla="*/ 0 h 1978172"/>
              <a:gd name="connsiteX2" fmla="*/ 10733254 w 10768629"/>
              <a:gd name="connsiteY2" fmla="*/ 31439 h 1978172"/>
              <a:gd name="connsiteX3" fmla="*/ 10727085 w 10768629"/>
              <a:gd name="connsiteY3" fmla="*/ 37910 h 1978172"/>
              <a:gd name="connsiteX4" fmla="*/ 10675953 w 10768629"/>
              <a:gd name="connsiteY4" fmla="*/ 68623 h 1978172"/>
              <a:gd name="connsiteX5" fmla="*/ 10637091 w 10768629"/>
              <a:gd name="connsiteY5" fmla="*/ 90361 h 1978172"/>
              <a:gd name="connsiteX6" fmla="*/ 10610971 w 10768629"/>
              <a:gd name="connsiteY6" fmla="*/ 110764 h 1978172"/>
              <a:gd name="connsiteX7" fmla="*/ 10532872 w 10768629"/>
              <a:gd name="connsiteY7" fmla="*/ 138028 h 1978172"/>
              <a:gd name="connsiteX8" fmla="*/ 10398558 w 10768629"/>
              <a:gd name="connsiteY8" fmla="*/ 172911 h 1978172"/>
              <a:gd name="connsiteX9" fmla="*/ 10371128 w 10768629"/>
              <a:gd name="connsiteY9" fmla="*/ 182609 h 1978172"/>
              <a:gd name="connsiteX10" fmla="*/ 10352178 w 10768629"/>
              <a:gd name="connsiteY10" fmla="*/ 199976 h 1978172"/>
              <a:gd name="connsiteX11" fmla="*/ 10351815 w 10768629"/>
              <a:gd name="connsiteY11" fmla="*/ 211879 h 1978172"/>
              <a:gd name="connsiteX12" fmla="*/ 10337471 w 10768629"/>
              <a:gd name="connsiteY12" fmla="*/ 218661 h 1978172"/>
              <a:gd name="connsiteX13" fmla="*/ 10334625 w 10768629"/>
              <a:gd name="connsiteY13" fmla="*/ 222351 h 1978172"/>
              <a:gd name="connsiteX14" fmla="*/ 10256365 w 10768629"/>
              <a:gd name="connsiteY14" fmla="*/ 235917 h 1978172"/>
              <a:gd name="connsiteX15" fmla="*/ 10201127 w 10768629"/>
              <a:gd name="connsiteY15" fmla="*/ 267448 h 1978172"/>
              <a:gd name="connsiteX16" fmla="*/ 9961218 w 10768629"/>
              <a:gd name="connsiteY16" fmla="*/ 326720 h 1978172"/>
              <a:gd name="connsiteX17" fmla="*/ 9859715 w 10768629"/>
              <a:gd name="connsiteY17" fmla="*/ 355698 h 1978172"/>
              <a:gd name="connsiteX18" fmla="*/ 9679867 w 10768629"/>
              <a:gd name="connsiteY18" fmla="*/ 399081 h 1978172"/>
              <a:gd name="connsiteX19" fmla="*/ 9490654 w 10768629"/>
              <a:gd name="connsiteY19" fmla="*/ 455225 h 1978172"/>
              <a:gd name="connsiteX20" fmla="*/ 9470837 w 10768629"/>
              <a:gd name="connsiteY20" fmla="*/ 452539 h 1978172"/>
              <a:gd name="connsiteX21" fmla="*/ 9469082 w 10768629"/>
              <a:gd name="connsiteY21" fmla="*/ 454891 h 1978172"/>
              <a:gd name="connsiteX22" fmla="*/ 9448038 w 10768629"/>
              <a:gd name="connsiteY22" fmla="*/ 459733 h 1978172"/>
              <a:gd name="connsiteX23" fmla="*/ 9396821 w 10768629"/>
              <a:gd name="connsiteY23" fmla="*/ 455795 h 1978172"/>
              <a:gd name="connsiteX24" fmla="*/ 9392197 w 10768629"/>
              <a:gd name="connsiteY24" fmla="*/ 459796 h 1978172"/>
              <a:gd name="connsiteX25" fmla="*/ 9347994 w 10768629"/>
              <a:gd name="connsiteY25" fmla="*/ 464462 h 1978172"/>
              <a:gd name="connsiteX26" fmla="*/ 9347889 w 10768629"/>
              <a:gd name="connsiteY26" fmla="*/ 466539 h 1978172"/>
              <a:gd name="connsiteX27" fmla="*/ 9337639 w 10768629"/>
              <a:gd name="connsiteY27" fmla="*/ 476654 h 1978172"/>
              <a:gd name="connsiteX28" fmla="*/ 9287964 w 10768629"/>
              <a:gd name="connsiteY28" fmla="*/ 513052 h 1978172"/>
              <a:gd name="connsiteX29" fmla="*/ 9229283 w 10768629"/>
              <a:gd name="connsiteY29" fmla="*/ 555377 h 1978172"/>
              <a:gd name="connsiteX30" fmla="*/ 9220274 w 10768629"/>
              <a:gd name="connsiteY30" fmla="*/ 557502 h 1978172"/>
              <a:gd name="connsiteX31" fmla="*/ 9220202 w 10768629"/>
              <a:gd name="connsiteY31" fmla="*/ 558001 h 1978172"/>
              <a:gd name="connsiteX32" fmla="*/ 9210908 w 10768629"/>
              <a:gd name="connsiteY32" fmla="*/ 561147 h 1978172"/>
              <a:gd name="connsiteX33" fmla="*/ 9186374 w 10768629"/>
              <a:gd name="connsiteY33" fmla="*/ 565502 h 1978172"/>
              <a:gd name="connsiteX34" fmla="*/ 9181058 w 10768629"/>
              <a:gd name="connsiteY34" fmla="*/ 569943 h 1978172"/>
              <a:gd name="connsiteX35" fmla="*/ 9167549 w 10768629"/>
              <a:gd name="connsiteY35" fmla="*/ 584727 h 1978172"/>
              <a:gd name="connsiteX36" fmla="*/ 9149110 w 10768629"/>
              <a:gd name="connsiteY36" fmla="*/ 598906 h 1978172"/>
              <a:gd name="connsiteX37" fmla="*/ 9078556 w 10768629"/>
              <a:gd name="connsiteY37" fmla="*/ 644039 h 1978172"/>
              <a:gd name="connsiteX38" fmla="*/ 8996399 w 10768629"/>
              <a:gd name="connsiteY38" fmla="*/ 690055 h 1978172"/>
              <a:gd name="connsiteX39" fmla="*/ 8803791 w 10768629"/>
              <a:gd name="connsiteY39" fmla="*/ 813860 h 1978172"/>
              <a:gd name="connsiteX40" fmla="*/ 8636202 w 10768629"/>
              <a:gd name="connsiteY40" fmla="*/ 848463 h 1978172"/>
              <a:gd name="connsiteX41" fmla="*/ 8555372 w 10768629"/>
              <a:gd name="connsiteY41" fmla="*/ 883171 h 1978172"/>
              <a:gd name="connsiteX42" fmla="*/ 8507229 w 10768629"/>
              <a:gd name="connsiteY42" fmla="*/ 901665 h 1978172"/>
              <a:gd name="connsiteX43" fmla="*/ 8428473 w 10768629"/>
              <a:gd name="connsiteY43" fmla="*/ 927985 h 1978172"/>
              <a:gd name="connsiteX44" fmla="*/ 8427914 w 10768629"/>
              <a:gd name="connsiteY44" fmla="*/ 933480 h 1978172"/>
              <a:gd name="connsiteX45" fmla="*/ 8420327 w 10768629"/>
              <a:gd name="connsiteY45" fmla="*/ 941984 h 1978172"/>
              <a:gd name="connsiteX46" fmla="*/ 8394729 w 10768629"/>
              <a:gd name="connsiteY46" fmla="*/ 948347 h 1978172"/>
              <a:gd name="connsiteX47" fmla="*/ 8380548 w 10768629"/>
              <a:gd name="connsiteY47" fmla="*/ 987916 h 1978172"/>
              <a:gd name="connsiteX48" fmla="*/ 8375330 w 10768629"/>
              <a:gd name="connsiteY48" fmla="*/ 965444 h 1978172"/>
              <a:gd name="connsiteX49" fmla="*/ 8340796 w 10768629"/>
              <a:gd name="connsiteY49" fmla="*/ 980522 h 1978172"/>
              <a:gd name="connsiteX50" fmla="*/ 8304438 w 10768629"/>
              <a:gd name="connsiteY50" fmla="*/ 996739 h 1978172"/>
              <a:gd name="connsiteX51" fmla="*/ 8280929 w 10768629"/>
              <a:gd name="connsiteY51" fmla="*/ 1023089 h 1978172"/>
              <a:gd name="connsiteX52" fmla="*/ 8275760 w 10768629"/>
              <a:gd name="connsiteY52" fmla="*/ 1027772 h 1978172"/>
              <a:gd name="connsiteX53" fmla="*/ 8275478 w 10768629"/>
              <a:gd name="connsiteY53" fmla="*/ 1027605 h 1978172"/>
              <a:gd name="connsiteX54" fmla="*/ 8249003 w 10768629"/>
              <a:gd name="connsiteY54" fmla="*/ 1032033 h 1978172"/>
              <a:gd name="connsiteX55" fmla="*/ 8203836 w 10768629"/>
              <a:gd name="connsiteY55" fmla="*/ 1037347 h 1978172"/>
              <a:gd name="connsiteX56" fmla="*/ 8122936 w 10768629"/>
              <a:gd name="connsiteY56" fmla="*/ 1063113 h 1978172"/>
              <a:gd name="connsiteX57" fmla="*/ 8043658 w 10768629"/>
              <a:gd name="connsiteY57" fmla="*/ 1092746 h 1978172"/>
              <a:gd name="connsiteX58" fmla="*/ 8015351 w 10768629"/>
              <a:gd name="connsiteY58" fmla="*/ 1105478 h 1978172"/>
              <a:gd name="connsiteX59" fmla="*/ 7963145 w 10768629"/>
              <a:gd name="connsiteY59" fmla="*/ 1119346 h 1978172"/>
              <a:gd name="connsiteX60" fmla="*/ 7938145 w 10768629"/>
              <a:gd name="connsiteY60" fmla="*/ 1120225 h 1978172"/>
              <a:gd name="connsiteX61" fmla="*/ 7937238 w 10768629"/>
              <a:gd name="connsiteY61" fmla="*/ 1121204 h 1978172"/>
              <a:gd name="connsiteX62" fmla="*/ 7934398 w 10768629"/>
              <a:gd name="connsiteY62" fmla="*/ 1118240 h 1978172"/>
              <a:gd name="connsiteX63" fmla="*/ 7918248 w 10768629"/>
              <a:gd name="connsiteY63" fmla="*/ 1124371 h 1978172"/>
              <a:gd name="connsiteX64" fmla="*/ 7914119 w 10768629"/>
              <a:gd name="connsiteY64" fmla="*/ 1127653 h 1978172"/>
              <a:gd name="connsiteX65" fmla="*/ 7907658 w 10768629"/>
              <a:gd name="connsiteY65" fmla="*/ 1130350 h 1978172"/>
              <a:gd name="connsiteX66" fmla="*/ 7907434 w 10768629"/>
              <a:gd name="connsiteY66" fmla="*/ 1130103 h 1978172"/>
              <a:gd name="connsiteX67" fmla="*/ 7901508 w 10768629"/>
              <a:gd name="connsiteY67" fmla="*/ 1133245 h 1978172"/>
              <a:gd name="connsiteX68" fmla="*/ 7873287 w 10768629"/>
              <a:gd name="connsiteY68" fmla="*/ 1152609 h 1978172"/>
              <a:gd name="connsiteX69" fmla="*/ 7834833 w 10768629"/>
              <a:gd name="connsiteY69" fmla="*/ 1153868 h 1978172"/>
              <a:gd name="connsiteX70" fmla="*/ 7828661 w 10768629"/>
              <a:gd name="connsiteY70" fmla="*/ 1139994 h 1978172"/>
              <a:gd name="connsiteX71" fmla="*/ 7823966 w 10768629"/>
              <a:gd name="connsiteY71" fmla="*/ 1143178 h 1978172"/>
              <a:gd name="connsiteX72" fmla="*/ 7815078 w 10768629"/>
              <a:gd name="connsiteY72" fmla="*/ 1151776 h 1978172"/>
              <a:gd name="connsiteX73" fmla="*/ 7812026 w 10768629"/>
              <a:gd name="connsiteY73" fmla="*/ 1151522 h 1978172"/>
              <a:gd name="connsiteX74" fmla="*/ 7782249 w 10768629"/>
              <a:gd name="connsiteY74" fmla="*/ 1160970 h 1978172"/>
              <a:gd name="connsiteX75" fmla="*/ 7773476 w 10768629"/>
              <a:gd name="connsiteY75" fmla="*/ 1157414 h 1978172"/>
              <a:gd name="connsiteX76" fmla="*/ 7769600 w 10768629"/>
              <a:gd name="connsiteY76" fmla="*/ 1157365 h 1978172"/>
              <a:gd name="connsiteX77" fmla="*/ 7752631 w 10768629"/>
              <a:gd name="connsiteY77" fmla="*/ 1172815 h 1978172"/>
              <a:gd name="connsiteX78" fmla="*/ 7739392 w 10768629"/>
              <a:gd name="connsiteY78" fmla="*/ 1192062 h 1978172"/>
              <a:gd name="connsiteX79" fmla="*/ 7677677 w 10768629"/>
              <a:gd name="connsiteY79" fmla="*/ 1216394 h 1978172"/>
              <a:gd name="connsiteX80" fmla="*/ 7586920 w 10768629"/>
              <a:gd name="connsiteY80" fmla="*/ 1261888 h 1978172"/>
              <a:gd name="connsiteX81" fmla="*/ 7486100 w 10768629"/>
              <a:gd name="connsiteY81" fmla="*/ 1292563 h 1978172"/>
              <a:gd name="connsiteX82" fmla="*/ 7411323 w 10768629"/>
              <a:gd name="connsiteY82" fmla="*/ 1340732 h 1978172"/>
              <a:gd name="connsiteX83" fmla="*/ 7240698 w 10768629"/>
              <a:gd name="connsiteY83" fmla="*/ 1438832 h 1978172"/>
              <a:gd name="connsiteX84" fmla="*/ 7197675 w 10768629"/>
              <a:gd name="connsiteY84" fmla="*/ 1447530 h 1978172"/>
              <a:gd name="connsiteX85" fmla="*/ 7164788 w 10768629"/>
              <a:gd name="connsiteY85" fmla="*/ 1480293 h 1978172"/>
              <a:gd name="connsiteX86" fmla="*/ 7147929 w 10768629"/>
              <a:gd name="connsiteY86" fmla="*/ 1477641 h 1978172"/>
              <a:gd name="connsiteX87" fmla="*/ 7144965 w 10768629"/>
              <a:gd name="connsiteY87" fmla="*/ 1476908 h 1978172"/>
              <a:gd name="connsiteX88" fmla="*/ 7134299 w 10768629"/>
              <a:gd name="connsiteY88" fmla="*/ 1479969 h 1978172"/>
              <a:gd name="connsiteX89" fmla="*/ 7129809 w 10768629"/>
              <a:gd name="connsiteY89" fmla="*/ 1473339 h 1978172"/>
              <a:gd name="connsiteX90" fmla="*/ 7112688 w 10768629"/>
              <a:gd name="connsiteY90" fmla="*/ 1472575 h 1978172"/>
              <a:gd name="connsiteX91" fmla="*/ 7093470 w 10768629"/>
              <a:gd name="connsiteY91" fmla="*/ 1480300 h 1978172"/>
              <a:gd name="connsiteX92" fmla="*/ 7025034 w 10768629"/>
              <a:gd name="connsiteY92" fmla="*/ 1506934 h 1978172"/>
              <a:gd name="connsiteX93" fmla="*/ 7014783 w 10768629"/>
              <a:gd name="connsiteY93" fmla="*/ 1515868 h 1978172"/>
              <a:gd name="connsiteX94" fmla="*/ 6979706 w 10768629"/>
              <a:gd name="connsiteY94" fmla="*/ 1523511 h 1978172"/>
              <a:gd name="connsiteX95" fmla="*/ 6977890 w 10768629"/>
              <a:gd name="connsiteY95" fmla="*/ 1525793 h 1978172"/>
              <a:gd name="connsiteX96" fmla="*/ 6944339 w 10768629"/>
              <a:gd name="connsiteY96" fmla="*/ 1536237 h 1978172"/>
              <a:gd name="connsiteX97" fmla="*/ 6886996 w 10768629"/>
              <a:gd name="connsiteY97" fmla="*/ 1563569 h 1978172"/>
              <a:gd name="connsiteX98" fmla="*/ 6874510 w 10768629"/>
              <a:gd name="connsiteY98" fmla="*/ 1558469 h 1978172"/>
              <a:gd name="connsiteX99" fmla="*/ 6871943 w 10768629"/>
              <a:gd name="connsiteY99" fmla="*/ 1554651 h 1978172"/>
              <a:gd name="connsiteX100" fmla="*/ 6856174 w 10768629"/>
              <a:gd name="connsiteY100" fmla="*/ 1562024 h 1978172"/>
              <a:gd name="connsiteX101" fmla="*/ 6842321 w 10768629"/>
              <a:gd name="connsiteY101" fmla="*/ 1560554 h 1978172"/>
              <a:gd name="connsiteX102" fmla="*/ 6832713 w 10768629"/>
              <a:gd name="connsiteY102" fmla="*/ 1569357 h 1978172"/>
              <a:gd name="connsiteX103" fmla="*/ 6816351 w 10768629"/>
              <a:gd name="connsiteY103" fmla="*/ 1571495 h 1978172"/>
              <a:gd name="connsiteX104" fmla="*/ 6795800 w 10768629"/>
              <a:gd name="connsiteY104" fmla="*/ 1572010 h 1978172"/>
              <a:gd name="connsiteX105" fmla="*/ 6777546 w 10768629"/>
              <a:gd name="connsiteY105" fmla="*/ 1568661 h 1978172"/>
              <a:gd name="connsiteX106" fmla="*/ 6751528 w 10768629"/>
              <a:gd name="connsiteY106" fmla="*/ 1574143 h 1978172"/>
              <a:gd name="connsiteX107" fmla="*/ 6691966 w 10768629"/>
              <a:gd name="connsiteY107" fmla="*/ 1582255 h 1978172"/>
              <a:gd name="connsiteX108" fmla="*/ 6646941 w 10768629"/>
              <a:gd name="connsiteY108" fmla="*/ 1588471 h 1978172"/>
              <a:gd name="connsiteX109" fmla="*/ 6568576 w 10768629"/>
              <a:gd name="connsiteY109" fmla="*/ 1606488 h 1978172"/>
              <a:gd name="connsiteX110" fmla="*/ 6554358 w 10768629"/>
              <a:gd name="connsiteY110" fmla="*/ 1621701 h 1978172"/>
              <a:gd name="connsiteX111" fmla="*/ 6516968 w 10768629"/>
              <a:gd name="connsiteY111" fmla="*/ 1617195 h 1978172"/>
              <a:gd name="connsiteX112" fmla="*/ 6506479 w 10768629"/>
              <a:gd name="connsiteY112" fmla="*/ 1602227 h 1978172"/>
              <a:gd name="connsiteX113" fmla="*/ 6458436 w 10768629"/>
              <a:gd name="connsiteY113" fmla="*/ 1607332 h 1978172"/>
              <a:gd name="connsiteX114" fmla="*/ 6414786 w 10768629"/>
              <a:gd name="connsiteY114" fmla="*/ 1628815 h 1978172"/>
              <a:gd name="connsiteX115" fmla="*/ 6357085 w 10768629"/>
              <a:gd name="connsiteY115" fmla="*/ 1640846 h 1978172"/>
              <a:gd name="connsiteX116" fmla="*/ 6322636 w 10768629"/>
              <a:gd name="connsiteY116" fmla="*/ 1648213 h 1978172"/>
              <a:gd name="connsiteX117" fmla="*/ 6226172 w 10768629"/>
              <a:gd name="connsiteY117" fmla="*/ 1654676 h 1978172"/>
              <a:gd name="connsiteX118" fmla="*/ 6221217 w 10768629"/>
              <a:gd name="connsiteY118" fmla="*/ 1654506 h 1978172"/>
              <a:gd name="connsiteX119" fmla="*/ 6204956 w 10768629"/>
              <a:gd name="connsiteY119" fmla="*/ 1664280 h 1978172"/>
              <a:gd name="connsiteX120" fmla="*/ 6204270 w 10768629"/>
              <a:gd name="connsiteY120" fmla="*/ 1666782 h 1978172"/>
              <a:gd name="connsiteX121" fmla="*/ 6143810 w 10768629"/>
              <a:gd name="connsiteY121" fmla="*/ 1661963 h 1978172"/>
              <a:gd name="connsiteX122" fmla="*/ 6136560 w 10768629"/>
              <a:gd name="connsiteY122" fmla="*/ 1665728 h 1978172"/>
              <a:gd name="connsiteX123" fmla="*/ 6096155 w 10768629"/>
              <a:gd name="connsiteY123" fmla="*/ 1656951 h 1978172"/>
              <a:gd name="connsiteX124" fmla="*/ 6075812 w 10768629"/>
              <a:gd name="connsiteY124" fmla="*/ 1655422 h 1978172"/>
              <a:gd name="connsiteX125" fmla="*/ 6039495 w 10768629"/>
              <a:gd name="connsiteY125" fmla="*/ 1649680 h 1978172"/>
              <a:gd name="connsiteX126" fmla="*/ 6036523 w 10768629"/>
              <a:gd name="connsiteY126" fmla="*/ 1652121 h 1978172"/>
              <a:gd name="connsiteX127" fmla="*/ 6029328 w 10768629"/>
              <a:gd name="connsiteY127" fmla="*/ 1649904 h 1978172"/>
              <a:gd name="connsiteX128" fmla="*/ 6024075 w 10768629"/>
              <a:gd name="connsiteY128" fmla="*/ 1652779 h 1978172"/>
              <a:gd name="connsiteX129" fmla="*/ 6018085 w 10768629"/>
              <a:gd name="connsiteY129" fmla="*/ 1652030 h 1978172"/>
              <a:gd name="connsiteX130" fmla="*/ 5955513 w 10768629"/>
              <a:gd name="connsiteY130" fmla="*/ 1663584 h 1978172"/>
              <a:gd name="connsiteX131" fmla="*/ 5941996 w 10768629"/>
              <a:gd name="connsiteY131" fmla="*/ 1661326 h 1978172"/>
              <a:gd name="connsiteX132" fmla="*/ 5931789 w 10768629"/>
              <a:gd name="connsiteY132" fmla="*/ 1669915 h 1978172"/>
              <a:gd name="connsiteX133" fmla="*/ 5888686 w 10768629"/>
              <a:gd name="connsiteY133" fmla="*/ 1672175 h 1978172"/>
              <a:gd name="connsiteX134" fmla="*/ 5873794 w 10768629"/>
              <a:gd name="connsiteY134" fmla="*/ 1665454 h 1978172"/>
              <a:gd name="connsiteX135" fmla="*/ 5860022 w 10768629"/>
              <a:gd name="connsiteY135" fmla="*/ 1660635 h 1978172"/>
              <a:gd name="connsiteX136" fmla="*/ 5858237 w 10768629"/>
              <a:gd name="connsiteY136" fmla="*/ 1660649 h 1978172"/>
              <a:gd name="connsiteX137" fmla="*/ 5840319 w 10768629"/>
              <a:gd name="connsiteY137" fmla="*/ 1660798 h 1978172"/>
              <a:gd name="connsiteX138" fmla="*/ 5806984 w 10768629"/>
              <a:gd name="connsiteY138" fmla="*/ 1661075 h 1978172"/>
              <a:gd name="connsiteX139" fmla="*/ 5742351 w 10768629"/>
              <a:gd name="connsiteY139" fmla="*/ 1667489 h 1978172"/>
              <a:gd name="connsiteX140" fmla="*/ 5521171 w 10768629"/>
              <a:gd name="connsiteY140" fmla="*/ 1671626 h 1978172"/>
              <a:gd name="connsiteX141" fmla="*/ 5457384 w 10768629"/>
              <a:gd name="connsiteY141" fmla="*/ 1683952 h 1978172"/>
              <a:gd name="connsiteX142" fmla="*/ 4950070 w 10768629"/>
              <a:gd name="connsiteY142" fmla="*/ 1748401 h 1978172"/>
              <a:gd name="connsiteX143" fmla="*/ 4872172 w 10768629"/>
              <a:gd name="connsiteY143" fmla="*/ 1757222 h 1978172"/>
              <a:gd name="connsiteX144" fmla="*/ 4809524 w 10768629"/>
              <a:gd name="connsiteY144" fmla="*/ 1761033 h 1978172"/>
              <a:gd name="connsiteX145" fmla="*/ 4759058 w 10768629"/>
              <a:gd name="connsiteY145" fmla="*/ 1766533 h 1978172"/>
              <a:gd name="connsiteX146" fmla="*/ 4719749 w 10768629"/>
              <a:gd name="connsiteY146" fmla="*/ 1771811 h 1978172"/>
              <a:gd name="connsiteX147" fmla="*/ 4568686 w 10768629"/>
              <a:gd name="connsiteY147" fmla="*/ 1786141 h 1978172"/>
              <a:gd name="connsiteX148" fmla="*/ 4418751 w 10768629"/>
              <a:gd name="connsiteY148" fmla="*/ 1796932 h 1978172"/>
              <a:gd name="connsiteX149" fmla="*/ 4378377 w 10768629"/>
              <a:gd name="connsiteY149" fmla="*/ 1815528 h 1978172"/>
              <a:gd name="connsiteX150" fmla="*/ 4320575 w 10768629"/>
              <a:gd name="connsiteY150" fmla="*/ 1832722 h 1978172"/>
              <a:gd name="connsiteX151" fmla="*/ 4211935 w 10768629"/>
              <a:gd name="connsiteY151" fmla="*/ 1860177 h 1978172"/>
              <a:gd name="connsiteX152" fmla="*/ 4101228 w 10768629"/>
              <a:gd name="connsiteY152" fmla="*/ 1868717 h 1978172"/>
              <a:gd name="connsiteX153" fmla="*/ 3973223 w 10768629"/>
              <a:gd name="connsiteY153" fmla="*/ 1881015 h 1978172"/>
              <a:gd name="connsiteX154" fmla="*/ 3900992 w 10768629"/>
              <a:gd name="connsiteY154" fmla="*/ 1880603 h 1978172"/>
              <a:gd name="connsiteX155" fmla="*/ 3662119 w 10768629"/>
              <a:gd name="connsiteY155" fmla="*/ 1889285 h 1978172"/>
              <a:gd name="connsiteX156" fmla="*/ 3496919 w 10768629"/>
              <a:gd name="connsiteY156" fmla="*/ 1873180 h 1978172"/>
              <a:gd name="connsiteX157" fmla="*/ 3449433 w 10768629"/>
              <a:gd name="connsiteY157" fmla="*/ 1889681 h 1978172"/>
              <a:gd name="connsiteX158" fmla="*/ 3369766 w 10768629"/>
              <a:gd name="connsiteY158" fmla="*/ 1916653 h 1978172"/>
              <a:gd name="connsiteX159" fmla="*/ 3269672 w 10768629"/>
              <a:gd name="connsiteY159" fmla="*/ 1938036 h 1978172"/>
              <a:gd name="connsiteX160" fmla="*/ 3224897 w 10768629"/>
              <a:gd name="connsiteY160" fmla="*/ 1943733 h 1978172"/>
              <a:gd name="connsiteX161" fmla="*/ 3161463 w 10768629"/>
              <a:gd name="connsiteY161" fmla="*/ 1946591 h 1978172"/>
              <a:gd name="connsiteX162" fmla="*/ 3112044 w 10768629"/>
              <a:gd name="connsiteY162" fmla="*/ 1935614 h 1978172"/>
              <a:gd name="connsiteX163" fmla="*/ 3069716 w 10768629"/>
              <a:gd name="connsiteY163" fmla="*/ 1930463 h 1978172"/>
              <a:gd name="connsiteX164" fmla="*/ 3005773 w 10768629"/>
              <a:gd name="connsiteY164" fmla="*/ 1915878 h 1978172"/>
              <a:gd name="connsiteX165" fmla="*/ 2897201 w 10768629"/>
              <a:gd name="connsiteY165" fmla="*/ 1926772 h 1978172"/>
              <a:gd name="connsiteX166" fmla="*/ 2783891 w 10768629"/>
              <a:gd name="connsiteY166" fmla="*/ 1931749 h 1978172"/>
              <a:gd name="connsiteX167" fmla="*/ 2712447 w 10768629"/>
              <a:gd name="connsiteY167" fmla="*/ 1933044 h 1978172"/>
              <a:gd name="connsiteX168" fmla="*/ 2560151 w 10768629"/>
              <a:gd name="connsiteY168" fmla="*/ 1963609 h 1978172"/>
              <a:gd name="connsiteX169" fmla="*/ 2367221 w 10768629"/>
              <a:gd name="connsiteY169" fmla="*/ 1971884 h 1978172"/>
              <a:gd name="connsiteX170" fmla="*/ 2272130 w 10768629"/>
              <a:gd name="connsiteY170" fmla="*/ 1961162 h 1978172"/>
              <a:gd name="connsiteX171" fmla="*/ 2189404 w 10768629"/>
              <a:gd name="connsiteY171" fmla="*/ 1978172 h 1978172"/>
              <a:gd name="connsiteX172" fmla="*/ 2077704 w 10768629"/>
              <a:gd name="connsiteY172" fmla="*/ 1965002 h 1978172"/>
              <a:gd name="connsiteX173" fmla="*/ 2033299 w 10768629"/>
              <a:gd name="connsiteY173" fmla="*/ 1969042 h 1978172"/>
              <a:gd name="connsiteX174" fmla="*/ 1967996 w 10768629"/>
              <a:gd name="connsiteY174" fmla="*/ 1953187 h 1978172"/>
              <a:gd name="connsiteX175" fmla="*/ 1855805 w 10768629"/>
              <a:gd name="connsiteY175" fmla="*/ 1926082 h 1978172"/>
              <a:gd name="connsiteX176" fmla="*/ 1790957 w 10768629"/>
              <a:gd name="connsiteY176" fmla="*/ 1919460 h 1978172"/>
              <a:gd name="connsiteX177" fmla="*/ 1613978 w 10768629"/>
              <a:gd name="connsiteY177" fmla="*/ 1891581 h 1978172"/>
              <a:gd name="connsiteX178" fmla="*/ 1436831 w 10768629"/>
              <a:gd name="connsiteY178" fmla="*/ 1856201 h 1978172"/>
              <a:gd name="connsiteX179" fmla="*/ 1357365 w 10768629"/>
              <a:gd name="connsiteY179" fmla="*/ 1832140 h 1978172"/>
              <a:gd name="connsiteX180" fmla="*/ 1232341 w 10768629"/>
              <a:gd name="connsiteY180" fmla="*/ 1785942 h 1978172"/>
              <a:gd name="connsiteX181" fmla="*/ 1162595 w 10768629"/>
              <a:gd name="connsiteY181" fmla="*/ 1784330 h 1978172"/>
              <a:gd name="connsiteX182" fmla="*/ 1120257 w 10768629"/>
              <a:gd name="connsiteY182" fmla="*/ 1789615 h 1978172"/>
              <a:gd name="connsiteX183" fmla="*/ 991903 w 10768629"/>
              <a:gd name="connsiteY183" fmla="*/ 1786741 h 1978172"/>
              <a:gd name="connsiteX184" fmla="*/ 883960 w 10768629"/>
              <a:gd name="connsiteY184" fmla="*/ 1809389 h 1978172"/>
              <a:gd name="connsiteX185" fmla="*/ 766531 w 10768629"/>
              <a:gd name="connsiteY185" fmla="*/ 1805053 h 1978172"/>
              <a:gd name="connsiteX186" fmla="*/ 669779 w 10768629"/>
              <a:gd name="connsiteY186" fmla="*/ 1800537 h 1978172"/>
              <a:gd name="connsiteX187" fmla="*/ 523898 w 10768629"/>
              <a:gd name="connsiteY187" fmla="*/ 1811085 h 1978172"/>
              <a:gd name="connsiteX188" fmla="*/ 360251 w 10768629"/>
              <a:gd name="connsiteY188" fmla="*/ 1830735 h 1978172"/>
              <a:gd name="connsiteX189" fmla="*/ 255207 w 10768629"/>
              <a:gd name="connsiteY189" fmla="*/ 1818275 h 1978172"/>
              <a:gd name="connsiteX190" fmla="*/ 101803 w 10768629"/>
              <a:gd name="connsiteY190" fmla="*/ 1870647 h 1978172"/>
              <a:gd name="connsiteX191" fmla="*/ 25397 w 10768629"/>
              <a:gd name="connsiteY191" fmla="*/ 1888443 h 1978172"/>
              <a:gd name="connsiteX192" fmla="*/ 2370 w 10768629"/>
              <a:gd name="connsiteY192" fmla="*/ 1878311 h 1978172"/>
              <a:gd name="connsiteX193" fmla="*/ 0 w 10768629"/>
              <a:gd name="connsiteY193" fmla="*/ 1878785 h 1978172"/>
              <a:gd name="connsiteX194" fmla="*/ 0 w 10768629"/>
              <a:gd name="connsiteY194" fmla="*/ 0 h 197817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Lst>
            <a:rect l="l" t="t" r="r" b="b"/>
            <a:pathLst>
              <a:path w="10768629" h="1978172">
                <a:moveTo>
                  <a:pt x="0" y="0"/>
                </a:moveTo>
                <a:lnTo>
                  <a:pt x="10768629" y="0"/>
                </a:lnTo>
                <a:lnTo>
                  <a:pt x="10733254" y="31439"/>
                </a:lnTo>
                <a:lnTo>
                  <a:pt x="10727085" y="37910"/>
                </a:lnTo>
                <a:cubicBezTo>
                  <a:pt x="10712973" y="56080"/>
                  <a:pt x="10699457" y="78430"/>
                  <a:pt x="10675953" y="68623"/>
                </a:cubicBezTo>
                <a:cubicBezTo>
                  <a:pt x="10685972" y="89202"/>
                  <a:pt x="10641629" y="69781"/>
                  <a:pt x="10637091" y="90361"/>
                </a:cubicBezTo>
                <a:cubicBezTo>
                  <a:pt x="10635214" y="107005"/>
                  <a:pt x="10621323" y="104993"/>
                  <a:pt x="10610971" y="110764"/>
                </a:cubicBezTo>
                <a:cubicBezTo>
                  <a:pt x="10603980" y="127568"/>
                  <a:pt x="10551417" y="141180"/>
                  <a:pt x="10532872" y="138028"/>
                </a:cubicBezTo>
                <a:cubicBezTo>
                  <a:pt x="10480300" y="119072"/>
                  <a:pt x="10440532" y="186296"/>
                  <a:pt x="10398558" y="172911"/>
                </a:cubicBezTo>
                <a:cubicBezTo>
                  <a:pt x="10387708" y="174114"/>
                  <a:pt x="10378792" y="177646"/>
                  <a:pt x="10371128" y="182609"/>
                </a:cubicBezTo>
                <a:lnTo>
                  <a:pt x="10352178" y="199976"/>
                </a:lnTo>
                <a:lnTo>
                  <a:pt x="10351815" y="211879"/>
                </a:lnTo>
                <a:lnTo>
                  <a:pt x="10337471" y="218661"/>
                </a:lnTo>
                <a:lnTo>
                  <a:pt x="10334625" y="222351"/>
                </a:lnTo>
                <a:cubicBezTo>
                  <a:pt x="10321108" y="225227"/>
                  <a:pt x="10278615" y="228401"/>
                  <a:pt x="10256365" y="235917"/>
                </a:cubicBezTo>
                <a:cubicBezTo>
                  <a:pt x="10218136" y="258033"/>
                  <a:pt x="10224552" y="209685"/>
                  <a:pt x="10201127" y="267448"/>
                </a:cubicBezTo>
                <a:cubicBezTo>
                  <a:pt x="10121320" y="273476"/>
                  <a:pt x="10040763" y="345580"/>
                  <a:pt x="9961218" y="326720"/>
                </a:cubicBezTo>
                <a:cubicBezTo>
                  <a:pt x="9980173" y="341621"/>
                  <a:pt x="9883038" y="318484"/>
                  <a:pt x="9859715" y="355698"/>
                </a:cubicBezTo>
                <a:cubicBezTo>
                  <a:pt x="9812822" y="367758"/>
                  <a:pt x="9752089" y="383830"/>
                  <a:pt x="9679867" y="399081"/>
                </a:cubicBezTo>
                <a:cubicBezTo>
                  <a:pt x="9618357" y="415668"/>
                  <a:pt x="9525492" y="446315"/>
                  <a:pt x="9490654" y="455225"/>
                </a:cubicBezTo>
                <a:lnTo>
                  <a:pt x="9470837" y="452539"/>
                </a:lnTo>
                <a:lnTo>
                  <a:pt x="9469082" y="454891"/>
                </a:lnTo>
                <a:cubicBezTo>
                  <a:pt x="9460057" y="461184"/>
                  <a:pt x="9453495" y="461729"/>
                  <a:pt x="9448038" y="459733"/>
                </a:cubicBezTo>
                <a:lnTo>
                  <a:pt x="9396821" y="455795"/>
                </a:lnTo>
                <a:lnTo>
                  <a:pt x="9392197" y="459796"/>
                </a:lnTo>
                <a:lnTo>
                  <a:pt x="9347994" y="464462"/>
                </a:lnTo>
                <a:cubicBezTo>
                  <a:pt x="9347959" y="465155"/>
                  <a:pt x="9347925" y="465846"/>
                  <a:pt x="9347889" y="466539"/>
                </a:cubicBezTo>
                <a:cubicBezTo>
                  <a:pt x="9346648" y="471307"/>
                  <a:pt x="9343831" y="475025"/>
                  <a:pt x="9337639" y="476654"/>
                </a:cubicBezTo>
                <a:cubicBezTo>
                  <a:pt x="9354547" y="503661"/>
                  <a:pt x="9307720" y="510631"/>
                  <a:pt x="9287964" y="513052"/>
                </a:cubicBezTo>
                <a:cubicBezTo>
                  <a:pt x="9269905" y="526173"/>
                  <a:pt x="9245386" y="544358"/>
                  <a:pt x="9229283" y="555377"/>
                </a:cubicBezTo>
                <a:lnTo>
                  <a:pt x="9220274" y="557502"/>
                </a:lnTo>
                <a:cubicBezTo>
                  <a:pt x="9220250" y="557668"/>
                  <a:pt x="9220226" y="557835"/>
                  <a:pt x="9220202" y="558001"/>
                </a:cubicBezTo>
                <a:cubicBezTo>
                  <a:pt x="9218468" y="559434"/>
                  <a:pt x="9215591" y="560497"/>
                  <a:pt x="9210908" y="561147"/>
                </a:cubicBezTo>
                <a:lnTo>
                  <a:pt x="9186374" y="565502"/>
                </a:lnTo>
                <a:lnTo>
                  <a:pt x="9181058" y="569943"/>
                </a:lnTo>
                <a:lnTo>
                  <a:pt x="9167549" y="584727"/>
                </a:lnTo>
                <a:lnTo>
                  <a:pt x="9149110" y="598906"/>
                </a:lnTo>
                <a:cubicBezTo>
                  <a:pt x="9133575" y="594395"/>
                  <a:pt x="9087390" y="636567"/>
                  <a:pt x="9078556" y="644039"/>
                </a:cubicBezTo>
                <a:lnTo>
                  <a:pt x="8996399" y="690055"/>
                </a:lnTo>
                <a:cubicBezTo>
                  <a:pt x="8913147" y="777045"/>
                  <a:pt x="8867993" y="772591"/>
                  <a:pt x="8803791" y="813860"/>
                </a:cubicBezTo>
                <a:cubicBezTo>
                  <a:pt x="8745270" y="819906"/>
                  <a:pt x="8690049" y="823612"/>
                  <a:pt x="8636202" y="848463"/>
                </a:cubicBezTo>
                <a:cubicBezTo>
                  <a:pt x="8594799" y="860014"/>
                  <a:pt x="8568613" y="864779"/>
                  <a:pt x="8555372" y="883171"/>
                </a:cubicBezTo>
                <a:lnTo>
                  <a:pt x="8507229" y="901665"/>
                </a:lnTo>
                <a:lnTo>
                  <a:pt x="8428473" y="927985"/>
                </a:lnTo>
                <a:cubicBezTo>
                  <a:pt x="8428287" y="929817"/>
                  <a:pt x="8428100" y="931648"/>
                  <a:pt x="8427914" y="933480"/>
                </a:cubicBezTo>
                <a:lnTo>
                  <a:pt x="8420327" y="941984"/>
                </a:lnTo>
                <a:lnTo>
                  <a:pt x="8394729" y="948347"/>
                </a:lnTo>
                <a:lnTo>
                  <a:pt x="8380548" y="987916"/>
                </a:lnTo>
                <a:lnTo>
                  <a:pt x="8375330" y="965444"/>
                </a:lnTo>
                <a:cubicBezTo>
                  <a:pt x="8372375" y="964202"/>
                  <a:pt x="8344433" y="977378"/>
                  <a:pt x="8340796" y="980522"/>
                </a:cubicBezTo>
                <a:cubicBezTo>
                  <a:pt x="8328292" y="982128"/>
                  <a:pt x="8319237" y="991089"/>
                  <a:pt x="8304438" y="996739"/>
                </a:cubicBezTo>
                <a:cubicBezTo>
                  <a:pt x="8297193" y="1005683"/>
                  <a:pt x="8289328" y="1014568"/>
                  <a:pt x="8280929" y="1023089"/>
                </a:cubicBezTo>
                <a:lnTo>
                  <a:pt x="8275760" y="1027772"/>
                </a:lnTo>
                <a:lnTo>
                  <a:pt x="8275478" y="1027605"/>
                </a:lnTo>
                <a:cubicBezTo>
                  <a:pt x="8273970" y="1028076"/>
                  <a:pt x="8251461" y="1029408"/>
                  <a:pt x="8249003" y="1032033"/>
                </a:cubicBezTo>
                <a:lnTo>
                  <a:pt x="8203836" y="1037347"/>
                </a:lnTo>
                <a:cubicBezTo>
                  <a:pt x="8172789" y="1049890"/>
                  <a:pt x="8148166" y="1034625"/>
                  <a:pt x="8122936" y="1063113"/>
                </a:cubicBezTo>
                <a:cubicBezTo>
                  <a:pt x="8093850" y="1074757"/>
                  <a:pt x="8066781" y="1075350"/>
                  <a:pt x="8043658" y="1092746"/>
                </a:cubicBezTo>
                <a:cubicBezTo>
                  <a:pt x="8032157" y="1089174"/>
                  <a:pt x="8022145" y="1089998"/>
                  <a:pt x="8015351" y="1105478"/>
                </a:cubicBezTo>
                <a:cubicBezTo>
                  <a:pt x="7987544" y="1113006"/>
                  <a:pt x="7977708" y="1099152"/>
                  <a:pt x="7963145" y="1119346"/>
                </a:cubicBezTo>
                <a:cubicBezTo>
                  <a:pt x="7942622" y="1098880"/>
                  <a:pt x="7943760" y="1109516"/>
                  <a:pt x="7938145" y="1120225"/>
                </a:cubicBezTo>
                <a:lnTo>
                  <a:pt x="7937238" y="1121204"/>
                </a:lnTo>
                <a:lnTo>
                  <a:pt x="7934398" y="1118240"/>
                </a:lnTo>
                <a:lnTo>
                  <a:pt x="7918248" y="1124371"/>
                </a:lnTo>
                <a:lnTo>
                  <a:pt x="7914119" y="1127653"/>
                </a:lnTo>
                <a:cubicBezTo>
                  <a:pt x="7911201" y="1129547"/>
                  <a:pt x="7909169" y="1130331"/>
                  <a:pt x="7907658" y="1130350"/>
                </a:cubicBezTo>
                <a:lnTo>
                  <a:pt x="7907434" y="1130103"/>
                </a:lnTo>
                <a:lnTo>
                  <a:pt x="7901508" y="1133245"/>
                </a:lnTo>
                <a:cubicBezTo>
                  <a:pt x="7891644" y="1139271"/>
                  <a:pt x="7882185" y="1145815"/>
                  <a:pt x="7873287" y="1152609"/>
                </a:cubicBezTo>
                <a:cubicBezTo>
                  <a:pt x="7864672" y="1141906"/>
                  <a:pt x="7845199" y="1159242"/>
                  <a:pt x="7834833" y="1153868"/>
                </a:cubicBezTo>
                <a:lnTo>
                  <a:pt x="7828661" y="1139994"/>
                </a:lnTo>
                <a:lnTo>
                  <a:pt x="7823966" y="1143178"/>
                </a:lnTo>
                <a:lnTo>
                  <a:pt x="7815078" y="1151776"/>
                </a:lnTo>
                <a:cubicBezTo>
                  <a:pt x="7813692" y="1152943"/>
                  <a:pt x="7812687" y="1153116"/>
                  <a:pt x="7812026" y="1151522"/>
                </a:cubicBezTo>
                <a:cubicBezTo>
                  <a:pt x="7806555" y="1153054"/>
                  <a:pt x="7788673" y="1159989"/>
                  <a:pt x="7782249" y="1160970"/>
                </a:cubicBezTo>
                <a:lnTo>
                  <a:pt x="7773476" y="1157414"/>
                </a:lnTo>
                <a:lnTo>
                  <a:pt x="7769600" y="1157365"/>
                </a:lnTo>
                <a:lnTo>
                  <a:pt x="7752631" y="1172815"/>
                </a:lnTo>
                <a:lnTo>
                  <a:pt x="7739392" y="1192062"/>
                </a:lnTo>
                <a:lnTo>
                  <a:pt x="7677677" y="1216394"/>
                </a:lnTo>
                <a:lnTo>
                  <a:pt x="7586920" y="1261888"/>
                </a:lnTo>
                <a:cubicBezTo>
                  <a:pt x="7556723" y="1298911"/>
                  <a:pt x="7489187" y="1284518"/>
                  <a:pt x="7486100" y="1292563"/>
                </a:cubicBezTo>
                <a:cubicBezTo>
                  <a:pt x="7454875" y="1308356"/>
                  <a:pt x="7453335" y="1326361"/>
                  <a:pt x="7411323" y="1340732"/>
                </a:cubicBezTo>
                <a:cubicBezTo>
                  <a:pt x="7372519" y="1390006"/>
                  <a:pt x="7288617" y="1403664"/>
                  <a:pt x="7240698" y="1438832"/>
                </a:cubicBezTo>
                <a:cubicBezTo>
                  <a:pt x="7206467" y="1417136"/>
                  <a:pt x="7227555" y="1441678"/>
                  <a:pt x="7197675" y="1447530"/>
                </a:cubicBezTo>
                <a:cubicBezTo>
                  <a:pt x="7211601" y="1474927"/>
                  <a:pt x="7159483" y="1444981"/>
                  <a:pt x="7164788" y="1480293"/>
                </a:cubicBezTo>
                <a:cubicBezTo>
                  <a:pt x="7159184" y="1480240"/>
                  <a:pt x="7153584" y="1479075"/>
                  <a:pt x="7147929" y="1477641"/>
                </a:cubicBezTo>
                <a:lnTo>
                  <a:pt x="7144965" y="1476908"/>
                </a:lnTo>
                <a:lnTo>
                  <a:pt x="7134299" y="1479969"/>
                </a:lnTo>
                <a:lnTo>
                  <a:pt x="7129809" y="1473339"/>
                </a:lnTo>
                <a:lnTo>
                  <a:pt x="7112688" y="1472575"/>
                </a:lnTo>
                <a:cubicBezTo>
                  <a:pt x="7106506" y="1473449"/>
                  <a:pt x="7100123" y="1475741"/>
                  <a:pt x="7093470" y="1480300"/>
                </a:cubicBezTo>
                <a:cubicBezTo>
                  <a:pt x="7079039" y="1501274"/>
                  <a:pt x="7048991" y="1495718"/>
                  <a:pt x="7025034" y="1506934"/>
                </a:cubicBezTo>
                <a:lnTo>
                  <a:pt x="7014783" y="1515868"/>
                </a:lnTo>
                <a:lnTo>
                  <a:pt x="6979706" y="1523511"/>
                </a:lnTo>
                <a:lnTo>
                  <a:pt x="6977890" y="1525793"/>
                </a:lnTo>
                <a:cubicBezTo>
                  <a:pt x="6971996" y="1527914"/>
                  <a:pt x="6959488" y="1529941"/>
                  <a:pt x="6944339" y="1536237"/>
                </a:cubicBezTo>
                <a:lnTo>
                  <a:pt x="6886996" y="1563569"/>
                </a:lnTo>
                <a:lnTo>
                  <a:pt x="6874510" y="1558469"/>
                </a:lnTo>
                <a:lnTo>
                  <a:pt x="6871943" y="1554651"/>
                </a:lnTo>
                <a:lnTo>
                  <a:pt x="6856174" y="1562024"/>
                </a:lnTo>
                <a:lnTo>
                  <a:pt x="6842321" y="1560554"/>
                </a:lnTo>
                <a:lnTo>
                  <a:pt x="6832713" y="1569357"/>
                </a:lnTo>
                <a:lnTo>
                  <a:pt x="6816351" y="1571495"/>
                </a:lnTo>
                <a:cubicBezTo>
                  <a:pt x="6810216" y="1571510"/>
                  <a:pt x="6803310" y="1571324"/>
                  <a:pt x="6795800" y="1572010"/>
                </a:cubicBezTo>
                <a:lnTo>
                  <a:pt x="6777546" y="1568661"/>
                </a:lnTo>
                <a:lnTo>
                  <a:pt x="6751528" y="1574143"/>
                </a:lnTo>
                <a:cubicBezTo>
                  <a:pt x="6731455" y="1578562"/>
                  <a:pt x="6712054" y="1582098"/>
                  <a:pt x="6691966" y="1582255"/>
                </a:cubicBezTo>
                <a:cubicBezTo>
                  <a:pt x="6677921" y="1590738"/>
                  <a:pt x="6663787" y="1595441"/>
                  <a:pt x="6646941" y="1588471"/>
                </a:cubicBezTo>
                <a:cubicBezTo>
                  <a:pt x="6605135" y="1597971"/>
                  <a:pt x="6598373" y="1612583"/>
                  <a:pt x="6568576" y="1606488"/>
                </a:cubicBezTo>
                <a:cubicBezTo>
                  <a:pt x="6562510" y="1614734"/>
                  <a:pt x="6558067" y="1619360"/>
                  <a:pt x="6554358" y="1621701"/>
                </a:cubicBezTo>
                <a:cubicBezTo>
                  <a:pt x="6543227" y="1628727"/>
                  <a:pt x="6538724" y="1615196"/>
                  <a:pt x="6516968" y="1617195"/>
                </a:cubicBezTo>
                <a:cubicBezTo>
                  <a:pt x="6493173" y="1617368"/>
                  <a:pt x="6528193" y="1598652"/>
                  <a:pt x="6506479" y="1602227"/>
                </a:cubicBezTo>
                <a:cubicBezTo>
                  <a:pt x="6486674" y="1613929"/>
                  <a:pt x="6478484" y="1593997"/>
                  <a:pt x="6458436" y="1607332"/>
                </a:cubicBezTo>
                <a:cubicBezTo>
                  <a:pt x="6471168" y="1620800"/>
                  <a:pt x="6410323" y="1615478"/>
                  <a:pt x="6414786" y="1628815"/>
                </a:cubicBezTo>
                <a:cubicBezTo>
                  <a:pt x="6385942" y="1615041"/>
                  <a:pt x="6386569" y="1640238"/>
                  <a:pt x="6357085" y="1640846"/>
                </a:cubicBezTo>
                <a:cubicBezTo>
                  <a:pt x="6341163" y="1636809"/>
                  <a:pt x="6331497" y="1637754"/>
                  <a:pt x="6322636" y="1648213"/>
                </a:cubicBezTo>
                <a:cubicBezTo>
                  <a:pt x="6248448" y="1627802"/>
                  <a:pt x="6286748" y="1654976"/>
                  <a:pt x="6226172" y="1654676"/>
                </a:cubicBezTo>
                <a:lnTo>
                  <a:pt x="6221217" y="1654506"/>
                </a:lnTo>
                <a:lnTo>
                  <a:pt x="6204956" y="1664280"/>
                </a:lnTo>
                <a:cubicBezTo>
                  <a:pt x="6204728" y="1665114"/>
                  <a:pt x="6204498" y="1665947"/>
                  <a:pt x="6204270" y="1666782"/>
                </a:cubicBezTo>
                <a:lnTo>
                  <a:pt x="6143810" y="1661963"/>
                </a:lnTo>
                <a:lnTo>
                  <a:pt x="6136560" y="1665728"/>
                </a:lnTo>
                <a:lnTo>
                  <a:pt x="6096155" y="1656951"/>
                </a:lnTo>
                <a:lnTo>
                  <a:pt x="6075812" y="1655422"/>
                </a:lnTo>
                <a:lnTo>
                  <a:pt x="6039495" y="1649680"/>
                </a:lnTo>
                <a:lnTo>
                  <a:pt x="6036523" y="1652121"/>
                </a:lnTo>
                <a:lnTo>
                  <a:pt x="6029328" y="1649904"/>
                </a:lnTo>
                <a:lnTo>
                  <a:pt x="6024075" y="1652779"/>
                </a:lnTo>
                <a:lnTo>
                  <a:pt x="6018085" y="1652030"/>
                </a:lnTo>
                <a:cubicBezTo>
                  <a:pt x="6006658" y="1653831"/>
                  <a:pt x="5968194" y="1662035"/>
                  <a:pt x="5955513" y="1663584"/>
                </a:cubicBezTo>
                <a:lnTo>
                  <a:pt x="5941996" y="1661326"/>
                </a:lnTo>
                <a:lnTo>
                  <a:pt x="5931789" y="1669915"/>
                </a:lnTo>
                <a:lnTo>
                  <a:pt x="5888686" y="1672175"/>
                </a:lnTo>
                <a:lnTo>
                  <a:pt x="5873794" y="1665454"/>
                </a:lnTo>
                <a:lnTo>
                  <a:pt x="5860022" y="1660635"/>
                </a:lnTo>
                <a:lnTo>
                  <a:pt x="5858237" y="1660649"/>
                </a:lnTo>
                <a:lnTo>
                  <a:pt x="5840319" y="1660798"/>
                </a:lnTo>
                <a:lnTo>
                  <a:pt x="5806984" y="1661075"/>
                </a:lnTo>
                <a:cubicBezTo>
                  <a:pt x="5785708" y="1661533"/>
                  <a:pt x="5764126" y="1662974"/>
                  <a:pt x="5742351" y="1667489"/>
                </a:cubicBezTo>
                <a:cubicBezTo>
                  <a:pt x="5659069" y="1645168"/>
                  <a:pt x="5615134" y="1706361"/>
                  <a:pt x="5521171" y="1671626"/>
                </a:cubicBezTo>
                <a:cubicBezTo>
                  <a:pt x="5491803" y="1671296"/>
                  <a:pt x="5498089" y="1662666"/>
                  <a:pt x="5457384" y="1683952"/>
                </a:cubicBezTo>
                <a:cubicBezTo>
                  <a:pt x="5356959" y="1699287"/>
                  <a:pt x="5078905" y="1774579"/>
                  <a:pt x="4950070" y="1748401"/>
                </a:cubicBezTo>
                <a:cubicBezTo>
                  <a:pt x="4918276" y="1752255"/>
                  <a:pt x="4891043" y="1756936"/>
                  <a:pt x="4872172" y="1757222"/>
                </a:cubicBezTo>
                <a:lnTo>
                  <a:pt x="4809524" y="1761033"/>
                </a:lnTo>
                <a:cubicBezTo>
                  <a:pt x="4791324" y="1772975"/>
                  <a:pt x="4777258" y="1754591"/>
                  <a:pt x="4759058" y="1766533"/>
                </a:cubicBezTo>
                <a:cubicBezTo>
                  <a:pt x="4747481" y="1770744"/>
                  <a:pt x="4734604" y="1772921"/>
                  <a:pt x="4719749" y="1771811"/>
                </a:cubicBezTo>
                <a:cubicBezTo>
                  <a:pt x="4671168" y="1780243"/>
                  <a:pt x="4634134" y="1775931"/>
                  <a:pt x="4568686" y="1786141"/>
                </a:cubicBezTo>
                <a:cubicBezTo>
                  <a:pt x="4544667" y="1777910"/>
                  <a:pt x="4432547" y="1778168"/>
                  <a:pt x="4418751" y="1796932"/>
                </a:cubicBezTo>
                <a:cubicBezTo>
                  <a:pt x="4403360" y="1801488"/>
                  <a:pt x="4385278" y="1795746"/>
                  <a:pt x="4378377" y="1815528"/>
                </a:cubicBezTo>
                <a:cubicBezTo>
                  <a:pt x="4366870" y="1839461"/>
                  <a:pt x="4337372" y="1814003"/>
                  <a:pt x="4320575" y="1832722"/>
                </a:cubicBezTo>
                <a:cubicBezTo>
                  <a:pt x="4277898" y="1857053"/>
                  <a:pt x="4243945" y="1846759"/>
                  <a:pt x="4211935" y="1860177"/>
                </a:cubicBezTo>
                <a:cubicBezTo>
                  <a:pt x="4181519" y="1859584"/>
                  <a:pt x="4171342" y="1859762"/>
                  <a:pt x="4101228" y="1868717"/>
                </a:cubicBezTo>
                <a:cubicBezTo>
                  <a:pt x="4080159" y="1876188"/>
                  <a:pt x="4039427" y="1877381"/>
                  <a:pt x="3973223" y="1881015"/>
                </a:cubicBezTo>
                <a:cubicBezTo>
                  <a:pt x="3971330" y="1884974"/>
                  <a:pt x="3952843" y="1879225"/>
                  <a:pt x="3900992" y="1880603"/>
                </a:cubicBezTo>
                <a:cubicBezTo>
                  <a:pt x="3849141" y="1881981"/>
                  <a:pt x="3740060" y="1895686"/>
                  <a:pt x="3662119" y="1889285"/>
                </a:cubicBezTo>
                <a:cubicBezTo>
                  <a:pt x="3565155" y="1881322"/>
                  <a:pt x="3613412" y="1915150"/>
                  <a:pt x="3496919" y="1873180"/>
                </a:cubicBezTo>
                <a:cubicBezTo>
                  <a:pt x="3488062" y="1895719"/>
                  <a:pt x="3474293" y="1876288"/>
                  <a:pt x="3449433" y="1889681"/>
                </a:cubicBezTo>
                <a:cubicBezTo>
                  <a:pt x="3406553" y="1891629"/>
                  <a:pt x="3413217" y="1897797"/>
                  <a:pt x="3369766" y="1916653"/>
                </a:cubicBezTo>
                <a:cubicBezTo>
                  <a:pt x="3338805" y="1929531"/>
                  <a:pt x="3289487" y="1928617"/>
                  <a:pt x="3269672" y="1938036"/>
                </a:cubicBezTo>
                <a:lnTo>
                  <a:pt x="3224897" y="1943733"/>
                </a:lnTo>
                <a:cubicBezTo>
                  <a:pt x="3188693" y="1949271"/>
                  <a:pt x="3178540" y="1909145"/>
                  <a:pt x="3161463" y="1946591"/>
                </a:cubicBezTo>
                <a:lnTo>
                  <a:pt x="3112044" y="1935614"/>
                </a:lnTo>
                <a:lnTo>
                  <a:pt x="3069716" y="1930463"/>
                </a:lnTo>
                <a:cubicBezTo>
                  <a:pt x="3049937" y="1924285"/>
                  <a:pt x="3047816" y="1925644"/>
                  <a:pt x="3005773" y="1915878"/>
                </a:cubicBezTo>
                <a:cubicBezTo>
                  <a:pt x="2978838" y="1921092"/>
                  <a:pt x="2967972" y="1927319"/>
                  <a:pt x="2897201" y="1926772"/>
                </a:cubicBezTo>
                <a:lnTo>
                  <a:pt x="2783891" y="1931749"/>
                </a:lnTo>
                <a:cubicBezTo>
                  <a:pt x="2753098" y="1932794"/>
                  <a:pt x="2731621" y="1915151"/>
                  <a:pt x="2712447" y="1933044"/>
                </a:cubicBezTo>
                <a:cubicBezTo>
                  <a:pt x="2621923" y="1990472"/>
                  <a:pt x="2637976" y="1949546"/>
                  <a:pt x="2560151" y="1963609"/>
                </a:cubicBezTo>
                <a:cubicBezTo>
                  <a:pt x="2472084" y="1973456"/>
                  <a:pt x="2423631" y="1962133"/>
                  <a:pt x="2367221" y="1971884"/>
                </a:cubicBezTo>
                <a:cubicBezTo>
                  <a:pt x="2355331" y="1950582"/>
                  <a:pt x="2295649" y="1950006"/>
                  <a:pt x="2272130" y="1961162"/>
                </a:cubicBezTo>
                <a:cubicBezTo>
                  <a:pt x="2229336" y="1964326"/>
                  <a:pt x="2232627" y="1943953"/>
                  <a:pt x="2189404" y="1978172"/>
                </a:cubicBezTo>
                <a:cubicBezTo>
                  <a:pt x="2153824" y="1968017"/>
                  <a:pt x="2114605" y="1969166"/>
                  <a:pt x="2077704" y="1965002"/>
                </a:cubicBezTo>
                <a:cubicBezTo>
                  <a:pt x="2053064" y="1962036"/>
                  <a:pt x="2051584" y="1971011"/>
                  <a:pt x="2033299" y="1969042"/>
                </a:cubicBezTo>
                <a:cubicBezTo>
                  <a:pt x="2015014" y="1967073"/>
                  <a:pt x="1998956" y="1958903"/>
                  <a:pt x="1967996" y="1953187"/>
                </a:cubicBezTo>
                <a:cubicBezTo>
                  <a:pt x="1924117" y="1970917"/>
                  <a:pt x="1915668" y="1940297"/>
                  <a:pt x="1855805" y="1926082"/>
                </a:cubicBezTo>
                <a:cubicBezTo>
                  <a:pt x="1830663" y="1943732"/>
                  <a:pt x="1810564" y="1935694"/>
                  <a:pt x="1790957" y="1919460"/>
                </a:cubicBezTo>
                <a:cubicBezTo>
                  <a:pt x="1732588" y="1924884"/>
                  <a:pt x="1679506" y="1900619"/>
                  <a:pt x="1613978" y="1891581"/>
                </a:cubicBezTo>
                <a:cubicBezTo>
                  <a:pt x="1542961" y="1912227"/>
                  <a:pt x="1506863" y="1865666"/>
                  <a:pt x="1436831" y="1856201"/>
                </a:cubicBezTo>
                <a:cubicBezTo>
                  <a:pt x="1409149" y="1862955"/>
                  <a:pt x="1416370" y="1829853"/>
                  <a:pt x="1357365" y="1832140"/>
                </a:cubicBezTo>
                <a:cubicBezTo>
                  <a:pt x="1285880" y="1811785"/>
                  <a:pt x="1273193" y="1786872"/>
                  <a:pt x="1232341" y="1785942"/>
                </a:cubicBezTo>
                <a:cubicBezTo>
                  <a:pt x="1223903" y="1792798"/>
                  <a:pt x="1160576" y="1793911"/>
                  <a:pt x="1162595" y="1784330"/>
                </a:cubicBezTo>
                <a:cubicBezTo>
                  <a:pt x="1153167" y="1787110"/>
                  <a:pt x="1122206" y="1805077"/>
                  <a:pt x="1120257" y="1789615"/>
                </a:cubicBezTo>
                <a:cubicBezTo>
                  <a:pt x="1073149" y="1786750"/>
                  <a:pt x="1034361" y="1768718"/>
                  <a:pt x="991903" y="1786741"/>
                </a:cubicBezTo>
                <a:cubicBezTo>
                  <a:pt x="966383" y="1781126"/>
                  <a:pt x="949501" y="1800915"/>
                  <a:pt x="883960" y="1809389"/>
                </a:cubicBezTo>
                <a:cubicBezTo>
                  <a:pt x="836064" y="1808194"/>
                  <a:pt x="826980" y="1826610"/>
                  <a:pt x="766531" y="1805053"/>
                </a:cubicBezTo>
                <a:cubicBezTo>
                  <a:pt x="732778" y="1801141"/>
                  <a:pt x="694055" y="1787044"/>
                  <a:pt x="669779" y="1800537"/>
                </a:cubicBezTo>
                <a:cubicBezTo>
                  <a:pt x="645252" y="1794709"/>
                  <a:pt x="563495" y="1813232"/>
                  <a:pt x="523898" y="1811085"/>
                </a:cubicBezTo>
                <a:cubicBezTo>
                  <a:pt x="457555" y="1798530"/>
                  <a:pt x="395227" y="1824052"/>
                  <a:pt x="360251" y="1830735"/>
                </a:cubicBezTo>
                <a:cubicBezTo>
                  <a:pt x="313564" y="1825583"/>
                  <a:pt x="298281" y="1811622"/>
                  <a:pt x="255207" y="1818275"/>
                </a:cubicBezTo>
                <a:cubicBezTo>
                  <a:pt x="206572" y="1839769"/>
                  <a:pt x="160277" y="1836800"/>
                  <a:pt x="101803" y="1870647"/>
                </a:cubicBezTo>
                <a:cubicBezTo>
                  <a:pt x="85849" y="1910002"/>
                  <a:pt x="27997" y="1845258"/>
                  <a:pt x="25397" y="1888443"/>
                </a:cubicBezTo>
                <a:cubicBezTo>
                  <a:pt x="19096" y="1881154"/>
                  <a:pt x="11260" y="1878398"/>
                  <a:pt x="2370" y="1878311"/>
                </a:cubicBezTo>
                <a:lnTo>
                  <a:pt x="0" y="1878785"/>
                </a:lnTo>
                <a:lnTo>
                  <a:pt x="0" y="0"/>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DE2F06A7-D3C4-4D76-2FCF-CFA279E8239A}"/>
              </a:ext>
            </a:extLst>
          </p:cNvPr>
          <p:cNvSpPr>
            <a:spLocks noGrp="1"/>
          </p:cNvSpPr>
          <p:nvPr>
            <p:ph type="title"/>
          </p:nvPr>
        </p:nvSpPr>
        <p:spPr>
          <a:xfrm>
            <a:off x="1137034" y="609597"/>
            <a:ext cx="9392421" cy="1330841"/>
          </a:xfrm>
        </p:spPr>
        <p:txBody>
          <a:bodyPr>
            <a:normAutofit/>
          </a:bodyPr>
          <a:lstStyle/>
          <a:p>
            <a:r>
              <a:rPr lang="en-DK"/>
              <a:t>Sequencing</a:t>
            </a:r>
          </a:p>
        </p:txBody>
      </p:sp>
      <p:sp>
        <p:nvSpPr>
          <p:cNvPr id="3" name="Content Placeholder 2">
            <a:extLst>
              <a:ext uri="{FF2B5EF4-FFF2-40B4-BE49-F238E27FC236}">
                <a16:creationId xmlns:a16="http://schemas.microsoft.com/office/drawing/2014/main" id="{052F8F6C-223E-37FC-05D7-F53A283465CA}"/>
              </a:ext>
            </a:extLst>
          </p:cNvPr>
          <p:cNvSpPr>
            <a:spLocks noGrp="1"/>
          </p:cNvSpPr>
          <p:nvPr>
            <p:ph idx="1"/>
          </p:nvPr>
        </p:nvSpPr>
        <p:spPr>
          <a:xfrm>
            <a:off x="1137034" y="2369165"/>
            <a:ext cx="5804093" cy="4313274"/>
          </a:xfrm>
        </p:spPr>
        <p:txBody>
          <a:bodyPr>
            <a:normAutofit/>
          </a:bodyPr>
          <a:lstStyle/>
          <a:p>
            <a:r>
              <a:rPr lang="en-GB" sz="1800" dirty="0"/>
              <a:t>To read the </a:t>
            </a:r>
            <a:r>
              <a:rPr lang="en-GB" sz="1800" b="1" dirty="0"/>
              <a:t>nucleotide sequences</a:t>
            </a:r>
            <a:r>
              <a:rPr lang="en-GB" sz="1800" dirty="0"/>
              <a:t> of DNA fragments extracted from a microbial community — enabling identification of </a:t>
            </a:r>
            <a:r>
              <a:rPr lang="en-GB" sz="1800" b="1" dirty="0"/>
              <a:t>who is present</a:t>
            </a:r>
            <a:r>
              <a:rPr lang="en-GB" sz="1800" dirty="0"/>
              <a:t> and </a:t>
            </a:r>
            <a:r>
              <a:rPr lang="en-GB" sz="1800" b="1" dirty="0"/>
              <a:t>what they can do</a:t>
            </a:r>
          </a:p>
          <a:p>
            <a:r>
              <a:rPr lang="en-GB" sz="1800" b="1" dirty="0"/>
              <a:t>Library preparation: </a:t>
            </a:r>
            <a:r>
              <a:rPr lang="en-GB" sz="1800" dirty="0"/>
              <a:t>DNA must be </a:t>
            </a:r>
            <a:r>
              <a:rPr lang="en-GB" sz="1800" b="1" dirty="0"/>
              <a:t>fragmented</a:t>
            </a:r>
            <a:r>
              <a:rPr lang="en-GB" sz="1800" dirty="0"/>
              <a:t> and </a:t>
            </a:r>
            <a:r>
              <a:rPr lang="en-GB" sz="1800" b="1" dirty="0"/>
              <a:t>tagged with adapters</a:t>
            </a:r>
            <a:r>
              <a:rPr lang="en-GB" sz="1800" dirty="0"/>
              <a:t> for compatibility with sequencing platforms.</a:t>
            </a:r>
          </a:p>
          <a:p>
            <a:r>
              <a:rPr lang="en-GB" sz="1800" dirty="0"/>
              <a:t>Include negative and positive </a:t>
            </a:r>
            <a:r>
              <a:rPr lang="en-GB" sz="1800" b="1" dirty="0"/>
              <a:t>controls</a:t>
            </a:r>
            <a:r>
              <a:rPr lang="en-GB" sz="1800" dirty="0"/>
              <a:t> (e.g., mock communities)</a:t>
            </a:r>
          </a:p>
          <a:p>
            <a:r>
              <a:rPr lang="en-GB" sz="1800" dirty="0"/>
              <a:t>Choose </a:t>
            </a:r>
            <a:r>
              <a:rPr lang="en-GB" sz="1800" b="1" dirty="0"/>
              <a:t>depth</a:t>
            </a:r>
            <a:r>
              <a:rPr lang="en-GB" sz="1800" dirty="0"/>
              <a:t> wisely: deeper for complex samples or analysis (e.g., soil, strain resolution, single nucleotide variants(SNVs)), shallower for simpler ones</a:t>
            </a:r>
          </a:p>
          <a:p>
            <a:r>
              <a:rPr lang="en-GB" sz="1800" dirty="0"/>
              <a:t>Paired-end sequencing from Illumina (Sequencing by Synthesis):</a:t>
            </a:r>
            <a:endParaRPr lang="en-GB" sz="1800" dirty="0">
              <a:hlinkClick r:id="rId3"/>
            </a:endParaRPr>
          </a:p>
          <a:p>
            <a:pPr lvl="1"/>
            <a:r>
              <a:rPr lang="en-GB" sz="1400" dirty="0">
                <a:hlinkClick r:id="rId3"/>
              </a:rPr>
              <a:t>https://www.youtube.com/watch?v=HMyCqWhwB8E</a:t>
            </a:r>
            <a:endParaRPr lang="en-GB" sz="1400" dirty="0"/>
          </a:p>
          <a:p>
            <a:endParaRPr lang="en-GB" sz="1800" dirty="0"/>
          </a:p>
          <a:p>
            <a:endParaRPr lang="en-DK" sz="1800" dirty="0"/>
          </a:p>
        </p:txBody>
      </p:sp>
      <p:pic>
        <p:nvPicPr>
          <p:cNvPr id="4" name="Picture 3">
            <a:extLst>
              <a:ext uri="{FF2B5EF4-FFF2-40B4-BE49-F238E27FC236}">
                <a16:creationId xmlns:a16="http://schemas.microsoft.com/office/drawing/2014/main" id="{46FC9626-1667-0887-9989-A5986A20CD66}"/>
              </a:ext>
            </a:extLst>
          </p:cNvPr>
          <p:cNvPicPr>
            <a:picLocks noChangeAspect="1"/>
          </p:cNvPicPr>
          <p:nvPr/>
        </p:nvPicPr>
        <p:blipFill>
          <a:blip r:embed="rId4"/>
          <a:stretch>
            <a:fillRect/>
          </a:stretch>
        </p:blipFill>
        <p:spPr>
          <a:xfrm>
            <a:off x="8192152" y="2453061"/>
            <a:ext cx="2695587" cy="2129514"/>
          </a:xfrm>
          <a:prstGeom prst="rect">
            <a:avLst/>
          </a:prstGeom>
        </p:spPr>
      </p:pic>
      <p:sp>
        <p:nvSpPr>
          <p:cNvPr id="21" name="Freeform: Shape 20">
            <a:extLst>
              <a:ext uri="{FF2B5EF4-FFF2-40B4-BE49-F238E27FC236}">
                <a16:creationId xmlns:a16="http://schemas.microsoft.com/office/drawing/2014/main" id="{9A0D773F-7A7D-4DBB-9DEA-86BB8B8F4BC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5381624" y="6209414"/>
            <a:ext cx="6810375" cy="648586"/>
          </a:xfrm>
          <a:custGeom>
            <a:avLst/>
            <a:gdLst>
              <a:gd name="connsiteX0" fmla="*/ 0 w 10753706"/>
              <a:gd name="connsiteY0" fmla="*/ 0 h 1027260"/>
              <a:gd name="connsiteX1" fmla="*/ 10753706 w 10753706"/>
              <a:gd name="connsiteY1" fmla="*/ 0 h 1027260"/>
              <a:gd name="connsiteX2" fmla="*/ 10748809 w 10753706"/>
              <a:gd name="connsiteY2" fmla="*/ 2522 h 1027260"/>
              <a:gd name="connsiteX3" fmla="*/ 10725330 w 10753706"/>
              <a:gd name="connsiteY3" fmla="*/ 11977 h 1027260"/>
              <a:gd name="connsiteX4" fmla="*/ 10615423 w 10753706"/>
              <a:gd name="connsiteY4" fmla="*/ 52967 h 1027260"/>
              <a:gd name="connsiteX5" fmla="*/ 10533936 w 10753706"/>
              <a:gd name="connsiteY5" fmla="*/ 53095 h 1027260"/>
              <a:gd name="connsiteX6" fmla="*/ 10466876 w 10753706"/>
              <a:gd name="connsiteY6" fmla="*/ 45180 h 1027260"/>
              <a:gd name="connsiteX7" fmla="*/ 10355090 w 10753706"/>
              <a:gd name="connsiteY7" fmla="*/ 89741 h 1027260"/>
              <a:gd name="connsiteX8" fmla="*/ 10087145 w 10753706"/>
              <a:gd name="connsiteY8" fmla="*/ 66115 h 1027260"/>
              <a:gd name="connsiteX9" fmla="*/ 10015902 w 10753706"/>
              <a:gd name="connsiteY9" fmla="*/ 76178 h 1027260"/>
              <a:gd name="connsiteX10" fmla="*/ 9806005 w 10753706"/>
              <a:gd name="connsiteY10" fmla="*/ 102435 h 1027260"/>
              <a:gd name="connsiteX11" fmla="*/ 9602583 w 10753706"/>
              <a:gd name="connsiteY11" fmla="*/ 179170 h 1027260"/>
              <a:gd name="connsiteX12" fmla="*/ 9469719 w 10753706"/>
              <a:gd name="connsiteY12" fmla="*/ 174721 h 1027260"/>
              <a:gd name="connsiteX13" fmla="*/ 9408692 w 10753706"/>
              <a:gd name="connsiteY13" fmla="*/ 189513 h 1027260"/>
              <a:gd name="connsiteX14" fmla="*/ 9364151 w 10753706"/>
              <a:gd name="connsiteY14" fmla="*/ 194072 h 1027260"/>
              <a:gd name="connsiteX15" fmla="*/ 9337751 w 10753706"/>
              <a:gd name="connsiteY15" fmla="*/ 197579 h 1027260"/>
              <a:gd name="connsiteX16" fmla="*/ 9297166 w 10753706"/>
              <a:gd name="connsiteY16" fmla="*/ 216558 h 1027260"/>
              <a:gd name="connsiteX17" fmla="*/ 9123859 w 10753706"/>
              <a:gd name="connsiteY17" fmla="*/ 237356 h 1027260"/>
              <a:gd name="connsiteX18" fmla="*/ 8950741 w 10753706"/>
              <a:gd name="connsiteY18" fmla="*/ 238020 h 1027260"/>
              <a:gd name="connsiteX19" fmla="*/ 8718236 w 10753706"/>
              <a:gd name="connsiteY19" fmla="*/ 303148 h 1027260"/>
              <a:gd name="connsiteX20" fmla="*/ 8694011 w 10753706"/>
              <a:gd name="connsiteY20" fmla="*/ 308812 h 1027260"/>
              <a:gd name="connsiteX21" fmla="*/ 8611976 w 10753706"/>
              <a:gd name="connsiteY21" fmla="*/ 324819 h 1027260"/>
              <a:gd name="connsiteX22" fmla="*/ 8562074 w 10753706"/>
              <a:gd name="connsiteY22" fmla="*/ 337971 h 1027260"/>
              <a:gd name="connsiteX23" fmla="*/ 8501724 w 10753706"/>
              <a:gd name="connsiteY23" fmla="*/ 360865 h 1027260"/>
              <a:gd name="connsiteX24" fmla="*/ 8504489 w 10753706"/>
              <a:gd name="connsiteY24" fmla="*/ 364790 h 1027260"/>
              <a:gd name="connsiteX25" fmla="*/ 8492774 w 10753706"/>
              <a:gd name="connsiteY25" fmla="*/ 366181 h 1027260"/>
              <a:gd name="connsiteX26" fmla="*/ 8466405 w 10753706"/>
              <a:gd name="connsiteY26" fmla="*/ 368724 h 1027260"/>
              <a:gd name="connsiteX27" fmla="*/ 8427069 w 10753706"/>
              <a:gd name="connsiteY27" fmla="*/ 387211 h 1027260"/>
              <a:gd name="connsiteX28" fmla="*/ 8387766 w 10753706"/>
              <a:gd name="connsiteY28" fmla="*/ 377161 h 1027260"/>
              <a:gd name="connsiteX29" fmla="*/ 8315874 w 10753706"/>
              <a:gd name="connsiteY29" fmla="*/ 395527 h 1027260"/>
              <a:gd name="connsiteX30" fmla="*/ 8274474 w 10753706"/>
              <a:gd name="connsiteY30" fmla="*/ 405112 h 1027260"/>
              <a:gd name="connsiteX31" fmla="*/ 8234664 w 10753706"/>
              <a:gd name="connsiteY31" fmla="*/ 410219 h 1027260"/>
              <a:gd name="connsiteX32" fmla="*/ 8211268 w 10753706"/>
              <a:gd name="connsiteY32" fmla="*/ 416791 h 1027260"/>
              <a:gd name="connsiteX33" fmla="*/ 8188615 w 10753706"/>
              <a:gd name="connsiteY33" fmla="*/ 421755 h 1027260"/>
              <a:gd name="connsiteX34" fmla="*/ 8179981 w 10753706"/>
              <a:gd name="connsiteY34" fmla="*/ 420402 h 1027260"/>
              <a:gd name="connsiteX35" fmla="*/ 8179307 w 10753706"/>
              <a:gd name="connsiteY35" fmla="*/ 422516 h 1027260"/>
              <a:gd name="connsiteX36" fmla="*/ 8147929 w 10753706"/>
              <a:gd name="connsiteY36" fmla="*/ 450302 h 1027260"/>
              <a:gd name="connsiteX37" fmla="*/ 8089136 w 10753706"/>
              <a:gd name="connsiteY37" fmla="*/ 465283 h 1027260"/>
              <a:gd name="connsiteX38" fmla="*/ 8049973 w 10753706"/>
              <a:gd name="connsiteY38" fmla="*/ 454121 h 1027260"/>
              <a:gd name="connsiteX39" fmla="*/ 7965913 w 10753706"/>
              <a:gd name="connsiteY39" fmla="*/ 464415 h 1027260"/>
              <a:gd name="connsiteX40" fmla="*/ 7945093 w 10753706"/>
              <a:gd name="connsiteY40" fmla="*/ 464798 h 1027260"/>
              <a:gd name="connsiteX41" fmla="*/ 7935335 w 10753706"/>
              <a:gd name="connsiteY41" fmla="*/ 462442 h 1027260"/>
              <a:gd name="connsiteX42" fmla="*/ 7904779 w 10753706"/>
              <a:gd name="connsiteY42" fmla="*/ 471429 h 1027260"/>
              <a:gd name="connsiteX43" fmla="*/ 7855604 w 10753706"/>
              <a:gd name="connsiteY43" fmla="*/ 480199 h 1027260"/>
              <a:gd name="connsiteX44" fmla="*/ 7832630 w 10753706"/>
              <a:gd name="connsiteY44" fmla="*/ 485371 h 1027260"/>
              <a:gd name="connsiteX45" fmla="*/ 7812438 w 10753706"/>
              <a:gd name="connsiteY45" fmla="*/ 485391 h 1027260"/>
              <a:gd name="connsiteX46" fmla="*/ 7701399 w 10753706"/>
              <a:gd name="connsiteY46" fmla="*/ 495197 h 1027260"/>
              <a:gd name="connsiteX47" fmla="*/ 7674778 w 10753706"/>
              <a:gd name="connsiteY47" fmla="*/ 494723 h 1027260"/>
              <a:gd name="connsiteX48" fmla="*/ 7660445 w 10753706"/>
              <a:gd name="connsiteY48" fmla="*/ 490194 h 1027260"/>
              <a:gd name="connsiteX49" fmla="*/ 7651781 w 10753706"/>
              <a:gd name="connsiteY49" fmla="*/ 493084 h 1027260"/>
              <a:gd name="connsiteX50" fmla="*/ 7584807 w 10753706"/>
              <a:gd name="connsiteY50" fmla="*/ 499490 h 1027260"/>
              <a:gd name="connsiteX51" fmla="*/ 7541324 w 10753706"/>
              <a:gd name="connsiteY51" fmla="*/ 504184 h 1027260"/>
              <a:gd name="connsiteX52" fmla="*/ 7541756 w 10753706"/>
              <a:gd name="connsiteY52" fmla="*/ 512184 h 1027260"/>
              <a:gd name="connsiteX53" fmla="*/ 7503906 w 10753706"/>
              <a:gd name="connsiteY53" fmla="*/ 518551 h 1027260"/>
              <a:gd name="connsiteX54" fmla="*/ 7460411 w 10753706"/>
              <a:gd name="connsiteY54" fmla="*/ 517415 h 1027260"/>
              <a:gd name="connsiteX55" fmla="*/ 7460116 w 10753706"/>
              <a:gd name="connsiteY55" fmla="*/ 517548 h 1027260"/>
              <a:gd name="connsiteX56" fmla="*/ 7297810 w 10753706"/>
              <a:gd name="connsiteY56" fmla="*/ 563947 h 1027260"/>
              <a:gd name="connsiteX57" fmla="*/ 6946388 w 10753706"/>
              <a:gd name="connsiteY57" fmla="*/ 665244 h 1027260"/>
              <a:gd name="connsiteX58" fmla="*/ 6741704 w 10753706"/>
              <a:gd name="connsiteY58" fmla="*/ 679365 h 1027260"/>
              <a:gd name="connsiteX59" fmla="*/ 6624680 w 10753706"/>
              <a:gd name="connsiteY59" fmla="*/ 677674 h 1027260"/>
              <a:gd name="connsiteX60" fmla="*/ 6605700 w 10753706"/>
              <a:gd name="connsiteY60" fmla="*/ 683566 h 1027260"/>
              <a:gd name="connsiteX61" fmla="*/ 6576922 w 10753706"/>
              <a:gd name="connsiteY61" fmla="*/ 683030 h 1027260"/>
              <a:gd name="connsiteX62" fmla="*/ 6405123 w 10753706"/>
              <a:gd name="connsiteY62" fmla="*/ 721946 h 1027260"/>
              <a:gd name="connsiteX63" fmla="*/ 6368938 w 10753706"/>
              <a:gd name="connsiteY63" fmla="*/ 717341 h 1027260"/>
              <a:gd name="connsiteX64" fmla="*/ 6295102 w 10753706"/>
              <a:gd name="connsiteY64" fmla="*/ 729508 h 1027260"/>
              <a:gd name="connsiteX65" fmla="*/ 6202084 w 10753706"/>
              <a:gd name="connsiteY65" fmla="*/ 767091 h 1027260"/>
              <a:gd name="connsiteX66" fmla="*/ 6067157 w 10753706"/>
              <a:gd name="connsiteY66" fmla="*/ 790339 h 1027260"/>
              <a:gd name="connsiteX67" fmla="*/ 6061443 w 10753706"/>
              <a:gd name="connsiteY67" fmla="*/ 796151 h 1027260"/>
              <a:gd name="connsiteX68" fmla="*/ 6051406 w 10753706"/>
              <a:gd name="connsiteY68" fmla="*/ 800684 h 1027260"/>
              <a:gd name="connsiteX69" fmla="*/ 6049097 w 10753706"/>
              <a:gd name="connsiteY69" fmla="*/ 800636 h 1027260"/>
              <a:gd name="connsiteX70" fmla="*/ 6034222 w 10753706"/>
              <a:gd name="connsiteY70" fmla="*/ 804110 h 1027260"/>
              <a:gd name="connsiteX71" fmla="*/ 6033121 w 10753706"/>
              <a:gd name="connsiteY71" fmla="*/ 806078 h 1027260"/>
              <a:gd name="connsiteX72" fmla="*/ 6023593 w 10753706"/>
              <a:gd name="connsiteY72" fmla="*/ 808842 h 1027260"/>
              <a:gd name="connsiteX73" fmla="*/ 6006639 w 10753706"/>
              <a:gd name="connsiteY73" fmla="*/ 815304 h 1027260"/>
              <a:gd name="connsiteX74" fmla="*/ 6001762 w 10753706"/>
              <a:gd name="connsiteY74" fmla="*/ 815557 h 1027260"/>
              <a:gd name="connsiteX75" fmla="*/ 5973534 w 10753706"/>
              <a:gd name="connsiteY75" fmla="*/ 823815 h 1027260"/>
              <a:gd name="connsiteX76" fmla="*/ 5972336 w 10753706"/>
              <a:gd name="connsiteY76" fmla="*/ 823476 h 1027260"/>
              <a:gd name="connsiteX77" fmla="*/ 5960841 w 10753706"/>
              <a:gd name="connsiteY77" fmla="*/ 823819 h 1027260"/>
              <a:gd name="connsiteX78" fmla="*/ 5940719 w 10753706"/>
              <a:gd name="connsiteY78" fmla="*/ 825514 h 1027260"/>
              <a:gd name="connsiteX79" fmla="*/ 5884298 w 10753706"/>
              <a:gd name="connsiteY79" fmla="*/ 823806 h 1027260"/>
              <a:gd name="connsiteX80" fmla="*/ 5854779 w 10753706"/>
              <a:gd name="connsiteY80" fmla="*/ 832365 h 1027260"/>
              <a:gd name="connsiteX81" fmla="*/ 5848382 w 10753706"/>
              <a:gd name="connsiteY81" fmla="*/ 833844 h 1027260"/>
              <a:gd name="connsiteX82" fmla="*/ 5848066 w 10753706"/>
              <a:gd name="connsiteY82" fmla="*/ 833772 h 1027260"/>
              <a:gd name="connsiteX83" fmla="*/ 5840944 w 10753706"/>
              <a:gd name="connsiteY83" fmla="*/ 835132 h 1027260"/>
              <a:gd name="connsiteX84" fmla="*/ 5836719 w 10753706"/>
              <a:gd name="connsiteY84" fmla="*/ 836539 h 1027260"/>
              <a:gd name="connsiteX85" fmla="*/ 5824311 w 10753706"/>
              <a:gd name="connsiteY85" fmla="*/ 839408 h 1027260"/>
              <a:gd name="connsiteX86" fmla="*/ 5818788 w 10753706"/>
              <a:gd name="connsiteY86" fmla="*/ 839727 h 1027260"/>
              <a:gd name="connsiteX87" fmla="*/ 5763953 w 10753706"/>
              <a:gd name="connsiteY87" fmla="*/ 834282 h 1027260"/>
              <a:gd name="connsiteX88" fmla="*/ 5667748 w 10753706"/>
              <a:gd name="connsiteY88" fmla="*/ 840211 h 1027260"/>
              <a:gd name="connsiteX89" fmla="*/ 5573108 w 10753706"/>
              <a:gd name="connsiteY89" fmla="*/ 847611 h 1027260"/>
              <a:gd name="connsiteX90" fmla="*/ 5539137 w 10753706"/>
              <a:gd name="connsiteY90" fmla="*/ 851033 h 1027260"/>
              <a:gd name="connsiteX91" fmla="*/ 5510651 w 10753706"/>
              <a:gd name="connsiteY91" fmla="*/ 844215 h 1027260"/>
              <a:gd name="connsiteX92" fmla="*/ 5457331 w 10753706"/>
              <a:gd name="connsiteY92" fmla="*/ 839159 h 1027260"/>
              <a:gd name="connsiteX93" fmla="*/ 5410613 w 10753706"/>
              <a:gd name="connsiteY93" fmla="*/ 834358 h 1027260"/>
              <a:gd name="connsiteX94" fmla="*/ 5370040 w 10753706"/>
              <a:gd name="connsiteY94" fmla="*/ 862127 h 1027260"/>
              <a:gd name="connsiteX95" fmla="*/ 5318778 w 10753706"/>
              <a:gd name="connsiteY95" fmla="*/ 855310 h 1027260"/>
              <a:gd name="connsiteX96" fmla="*/ 5298645 w 10753706"/>
              <a:gd name="connsiteY96" fmla="*/ 855171 h 1027260"/>
              <a:gd name="connsiteX97" fmla="*/ 5253828 w 10753706"/>
              <a:gd name="connsiteY97" fmla="*/ 859670 h 1027260"/>
              <a:gd name="connsiteX98" fmla="*/ 5216955 w 10753706"/>
              <a:gd name="connsiteY98" fmla="*/ 866245 h 1027260"/>
              <a:gd name="connsiteX99" fmla="*/ 5214344 w 10753706"/>
              <a:gd name="connsiteY99" fmla="*/ 868102 h 1027260"/>
              <a:gd name="connsiteX100" fmla="*/ 5195561 w 10753706"/>
              <a:gd name="connsiteY100" fmla="*/ 869949 h 1027260"/>
              <a:gd name="connsiteX101" fmla="*/ 5182555 w 10753706"/>
              <a:gd name="connsiteY101" fmla="*/ 873542 h 1027260"/>
              <a:gd name="connsiteX102" fmla="*/ 5172552 w 10753706"/>
              <a:gd name="connsiteY102" fmla="*/ 878801 h 1027260"/>
              <a:gd name="connsiteX103" fmla="*/ 5027993 w 10753706"/>
              <a:gd name="connsiteY103" fmla="*/ 889666 h 1027260"/>
              <a:gd name="connsiteX104" fmla="*/ 4939844 w 10753706"/>
              <a:gd name="connsiteY104" fmla="*/ 934802 h 1027260"/>
              <a:gd name="connsiteX105" fmla="*/ 4792576 w 10753706"/>
              <a:gd name="connsiteY105" fmla="*/ 934820 h 1027260"/>
              <a:gd name="connsiteX106" fmla="*/ 4602423 w 10753706"/>
              <a:gd name="connsiteY106" fmla="*/ 958063 h 1027260"/>
              <a:gd name="connsiteX107" fmla="*/ 4290656 w 10753706"/>
              <a:gd name="connsiteY107" fmla="*/ 969152 h 1027260"/>
              <a:gd name="connsiteX108" fmla="*/ 3952334 w 10753706"/>
              <a:gd name="connsiteY108" fmla="*/ 954043 h 1027260"/>
              <a:gd name="connsiteX109" fmla="*/ 3858560 w 10753706"/>
              <a:gd name="connsiteY109" fmla="*/ 948781 h 1027260"/>
              <a:gd name="connsiteX110" fmla="*/ 3846597 w 10753706"/>
              <a:gd name="connsiteY110" fmla="*/ 948382 h 1027260"/>
              <a:gd name="connsiteX111" fmla="*/ 3736044 w 10753706"/>
              <a:gd name="connsiteY111" fmla="*/ 947759 h 1027260"/>
              <a:gd name="connsiteX112" fmla="*/ 3713136 w 10753706"/>
              <a:gd name="connsiteY112" fmla="*/ 946963 h 1027260"/>
              <a:gd name="connsiteX113" fmla="*/ 3695939 w 10753706"/>
              <a:gd name="connsiteY113" fmla="*/ 943639 h 1027260"/>
              <a:gd name="connsiteX114" fmla="*/ 3694125 w 10753706"/>
              <a:gd name="connsiteY114" fmla="*/ 940567 h 1027260"/>
              <a:gd name="connsiteX115" fmla="*/ 3681925 w 10753706"/>
              <a:gd name="connsiteY115" fmla="*/ 939706 h 1027260"/>
              <a:gd name="connsiteX116" fmla="*/ 3679204 w 10753706"/>
              <a:gd name="connsiteY116" fmla="*/ 938926 h 1027260"/>
              <a:gd name="connsiteX117" fmla="*/ 3615656 w 10753706"/>
              <a:gd name="connsiteY117" fmla="*/ 940320 h 1027260"/>
              <a:gd name="connsiteX118" fmla="*/ 3567983 w 10753706"/>
              <a:gd name="connsiteY118" fmla="*/ 935596 h 1027260"/>
              <a:gd name="connsiteX119" fmla="*/ 3422423 w 10753706"/>
              <a:gd name="connsiteY119" fmla="*/ 932129 h 1027260"/>
              <a:gd name="connsiteX120" fmla="*/ 3310925 w 10753706"/>
              <a:gd name="connsiteY120" fmla="*/ 911072 h 1027260"/>
              <a:gd name="connsiteX121" fmla="*/ 3139421 w 10753706"/>
              <a:gd name="connsiteY121" fmla="*/ 934151 h 1027260"/>
              <a:gd name="connsiteX122" fmla="*/ 2996922 w 10753706"/>
              <a:gd name="connsiteY122" fmla="*/ 927537 h 1027260"/>
              <a:gd name="connsiteX123" fmla="*/ 2982785 w 10753706"/>
              <a:gd name="connsiteY123" fmla="*/ 931453 h 1027260"/>
              <a:gd name="connsiteX124" fmla="*/ 2967478 w 10753706"/>
              <a:gd name="connsiteY124" fmla="*/ 933397 h 1027260"/>
              <a:gd name="connsiteX125" fmla="*/ 2948552 w 10753706"/>
              <a:gd name="connsiteY125" fmla="*/ 932961 h 1027260"/>
              <a:gd name="connsiteX126" fmla="*/ 2944404 w 10753706"/>
              <a:gd name="connsiteY126" fmla="*/ 934452 h 1027260"/>
              <a:gd name="connsiteX127" fmla="*/ 2908608 w 10753706"/>
              <a:gd name="connsiteY127" fmla="*/ 937205 h 1027260"/>
              <a:gd name="connsiteX128" fmla="*/ 2904443 w 10753706"/>
              <a:gd name="connsiteY128" fmla="*/ 936455 h 1027260"/>
              <a:gd name="connsiteX129" fmla="*/ 2868935 w 10753706"/>
              <a:gd name="connsiteY129" fmla="*/ 938022 h 1027260"/>
              <a:gd name="connsiteX130" fmla="*/ 2868586 w 10753706"/>
              <a:gd name="connsiteY130" fmla="*/ 937487 h 1027260"/>
              <a:gd name="connsiteX131" fmla="*/ 2859191 w 10753706"/>
              <a:gd name="connsiteY131" fmla="*/ 935503 h 1027260"/>
              <a:gd name="connsiteX132" fmla="*/ 2840915 w 10753706"/>
              <a:gd name="connsiteY132" fmla="*/ 932977 h 1027260"/>
              <a:gd name="connsiteX133" fmla="*/ 2763509 w 10753706"/>
              <a:gd name="connsiteY133" fmla="*/ 921850 h 1027260"/>
              <a:gd name="connsiteX134" fmla="*/ 2756121 w 10753706"/>
              <a:gd name="connsiteY134" fmla="*/ 921864 h 1027260"/>
              <a:gd name="connsiteX135" fmla="*/ 2755998 w 10753706"/>
              <a:gd name="connsiteY135" fmla="*/ 921739 h 1027260"/>
              <a:gd name="connsiteX136" fmla="*/ 2748255 w 10753706"/>
              <a:gd name="connsiteY136" fmla="*/ 921505 h 1027260"/>
              <a:gd name="connsiteX137" fmla="*/ 2694601 w 10753706"/>
              <a:gd name="connsiteY137" fmla="*/ 915575 h 1027260"/>
              <a:gd name="connsiteX138" fmla="*/ 2635357 w 10753706"/>
              <a:gd name="connsiteY138" fmla="*/ 910976 h 1027260"/>
              <a:gd name="connsiteX139" fmla="*/ 2601047 w 10753706"/>
              <a:gd name="connsiteY139" fmla="*/ 910263 h 1027260"/>
              <a:gd name="connsiteX140" fmla="*/ 2507482 w 10753706"/>
              <a:gd name="connsiteY140" fmla="*/ 906211 h 1027260"/>
              <a:gd name="connsiteX141" fmla="*/ 2413884 w 10753706"/>
              <a:gd name="connsiteY141" fmla="*/ 900545 h 1027260"/>
              <a:gd name="connsiteX142" fmla="*/ 2368912 w 10753706"/>
              <a:gd name="connsiteY142" fmla="*/ 888755 h 1027260"/>
              <a:gd name="connsiteX143" fmla="*/ 2349490 w 10753706"/>
              <a:gd name="connsiteY143" fmla="*/ 889719 h 1027260"/>
              <a:gd name="connsiteX144" fmla="*/ 2344290 w 10753706"/>
              <a:gd name="connsiteY144" fmla="*/ 890584 h 1027260"/>
              <a:gd name="connsiteX145" fmla="*/ 2336488 w 10753706"/>
              <a:gd name="connsiteY145" fmla="*/ 891058 h 1027260"/>
              <a:gd name="connsiteX146" fmla="*/ 2329015 w 10753706"/>
              <a:gd name="connsiteY146" fmla="*/ 891627 h 1027260"/>
              <a:gd name="connsiteX147" fmla="*/ 2293898 w 10753706"/>
              <a:gd name="connsiteY147" fmla="*/ 896431 h 1027260"/>
              <a:gd name="connsiteX148" fmla="*/ 2243927 w 10753706"/>
              <a:gd name="connsiteY148" fmla="*/ 888076 h 1027260"/>
              <a:gd name="connsiteX149" fmla="*/ 2223920 w 10753706"/>
              <a:gd name="connsiteY149" fmla="*/ 887331 h 1027260"/>
              <a:gd name="connsiteX150" fmla="*/ 2213081 w 10753706"/>
              <a:gd name="connsiteY150" fmla="*/ 886302 h 1027260"/>
              <a:gd name="connsiteX151" fmla="*/ 2212307 w 10753706"/>
              <a:gd name="connsiteY151" fmla="*/ 885829 h 1027260"/>
              <a:gd name="connsiteX152" fmla="*/ 2152321 w 10753706"/>
              <a:gd name="connsiteY152" fmla="*/ 894418 h 1027260"/>
              <a:gd name="connsiteX153" fmla="*/ 2140985 w 10753706"/>
              <a:gd name="connsiteY153" fmla="*/ 895968 h 1027260"/>
              <a:gd name="connsiteX154" fmla="*/ 2121210 w 10753706"/>
              <a:gd name="connsiteY154" fmla="*/ 899354 h 1027260"/>
              <a:gd name="connsiteX155" fmla="*/ 2119146 w 10753706"/>
              <a:gd name="connsiteY155" fmla="*/ 899033 h 1027260"/>
              <a:gd name="connsiteX156" fmla="*/ 2105666 w 10753706"/>
              <a:gd name="connsiteY156" fmla="*/ 902240 h 1027260"/>
              <a:gd name="connsiteX157" fmla="*/ 2094924 w 10753706"/>
              <a:gd name="connsiteY157" fmla="*/ 907203 h 1027260"/>
              <a:gd name="connsiteX158" fmla="*/ 1949478 w 10753706"/>
              <a:gd name="connsiteY158" fmla="*/ 913748 h 1027260"/>
              <a:gd name="connsiteX159" fmla="*/ 1749684 w 10753706"/>
              <a:gd name="connsiteY159" fmla="*/ 942223 h 1027260"/>
              <a:gd name="connsiteX160" fmla="*/ 1585576 w 10753706"/>
              <a:gd name="connsiteY160" fmla="*/ 954170 h 1027260"/>
              <a:gd name="connsiteX161" fmla="*/ 1476250 w 10753706"/>
              <a:gd name="connsiteY161" fmla="*/ 950653 h 1027260"/>
              <a:gd name="connsiteX162" fmla="*/ 1433927 w 10753706"/>
              <a:gd name="connsiteY162" fmla="*/ 959926 h 1027260"/>
              <a:gd name="connsiteX163" fmla="*/ 1414893 w 10753706"/>
              <a:gd name="connsiteY163" fmla="*/ 957671 h 1027260"/>
              <a:gd name="connsiteX164" fmla="*/ 1411585 w 10753706"/>
              <a:gd name="connsiteY164" fmla="*/ 957179 h 1027260"/>
              <a:gd name="connsiteX165" fmla="*/ 1398896 w 10753706"/>
              <a:gd name="connsiteY165" fmla="*/ 957460 h 1027260"/>
              <a:gd name="connsiteX166" fmla="*/ 1394632 w 10753706"/>
              <a:gd name="connsiteY166" fmla="*/ 954725 h 1027260"/>
              <a:gd name="connsiteX167" fmla="*/ 1375043 w 10753706"/>
              <a:gd name="connsiteY167" fmla="*/ 953132 h 1027260"/>
              <a:gd name="connsiteX168" fmla="*/ 1351876 w 10753706"/>
              <a:gd name="connsiteY168" fmla="*/ 954436 h 1027260"/>
              <a:gd name="connsiteX169" fmla="*/ 1242676 w 10753706"/>
              <a:gd name="connsiteY169" fmla="*/ 963767 h 1027260"/>
              <a:gd name="connsiteX170" fmla="*/ 1205993 w 10753706"/>
              <a:gd name="connsiteY170" fmla="*/ 974080 h 1027260"/>
              <a:gd name="connsiteX171" fmla="*/ 1052221 w 10753706"/>
              <a:gd name="connsiteY171" fmla="*/ 963954 h 1027260"/>
              <a:gd name="connsiteX172" fmla="*/ 968270 w 10753706"/>
              <a:gd name="connsiteY172" fmla="*/ 964761 h 1027260"/>
              <a:gd name="connsiteX173" fmla="*/ 874493 w 10753706"/>
              <a:gd name="connsiteY173" fmla="*/ 998122 h 1027260"/>
              <a:gd name="connsiteX174" fmla="*/ 814411 w 10753706"/>
              <a:gd name="connsiteY174" fmla="*/ 1007391 h 1027260"/>
              <a:gd name="connsiteX175" fmla="*/ 688604 w 10753706"/>
              <a:gd name="connsiteY175" fmla="*/ 1015631 h 1027260"/>
              <a:gd name="connsiteX176" fmla="*/ 618171 w 10753706"/>
              <a:gd name="connsiteY176" fmla="*/ 1027260 h 1027260"/>
              <a:gd name="connsiteX177" fmla="*/ 570379 w 10753706"/>
              <a:gd name="connsiteY177" fmla="*/ 1023487 h 1027260"/>
              <a:gd name="connsiteX178" fmla="*/ 482519 w 10753706"/>
              <a:gd name="connsiteY178" fmla="*/ 1002108 h 1027260"/>
              <a:gd name="connsiteX179" fmla="*/ 475319 w 10753706"/>
              <a:gd name="connsiteY179" fmla="*/ 1009922 h 1027260"/>
              <a:gd name="connsiteX180" fmla="*/ 431104 w 10753706"/>
              <a:gd name="connsiteY180" fmla="*/ 1009317 h 1027260"/>
              <a:gd name="connsiteX181" fmla="*/ 363782 w 10753706"/>
              <a:gd name="connsiteY181" fmla="*/ 1007585 h 1027260"/>
              <a:gd name="connsiteX182" fmla="*/ 325533 w 10753706"/>
              <a:gd name="connsiteY182" fmla="*/ 1008502 h 1027260"/>
              <a:gd name="connsiteX183" fmla="*/ 220429 w 10753706"/>
              <a:gd name="connsiteY183" fmla="*/ 1008927 h 1027260"/>
              <a:gd name="connsiteX184" fmla="*/ 114676 w 10753706"/>
              <a:gd name="connsiteY184" fmla="*/ 1007765 h 1027260"/>
              <a:gd name="connsiteX185" fmla="*/ 13470 w 10753706"/>
              <a:gd name="connsiteY185" fmla="*/ 998544 h 1027260"/>
              <a:gd name="connsiteX186" fmla="*/ 0 w 10753706"/>
              <a:gd name="connsiteY186" fmla="*/ 997355 h 10272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Lst>
            <a:rect l="l" t="t" r="r" b="b"/>
            <a:pathLst>
              <a:path w="10753706" h="1027260">
                <a:moveTo>
                  <a:pt x="0" y="0"/>
                </a:moveTo>
                <a:lnTo>
                  <a:pt x="10753706" y="0"/>
                </a:lnTo>
                <a:lnTo>
                  <a:pt x="10748809" y="2522"/>
                </a:lnTo>
                <a:cubicBezTo>
                  <a:pt x="10744031" y="4644"/>
                  <a:pt x="10737551" y="7204"/>
                  <a:pt x="10725330" y="11977"/>
                </a:cubicBezTo>
                <a:cubicBezTo>
                  <a:pt x="10700888" y="21523"/>
                  <a:pt x="10652058" y="39304"/>
                  <a:pt x="10615423" y="52967"/>
                </a:cubicBezTo>
                <a:cubicBezTo>
                  <a:pt x="10598524" y="49017"/>
                  <a:pt x="10550674" y="61360"/>
                  <a:pt x="10533936" y="53095"/>
                </a:cubicBezTo>
                <a:cubicBezTo>
                  <a:pt x="10519435" y="55674"/>
                  <a:pt x="10480156" y="49393"/>
                  <a:pt x="10466876" y="45180"/>
                </a:cubicBezTo>
                <a:cubicBezTo>
                  <a:pt x="10443145" y="68059"/>
                  <a:pt x="10382269" y="71294"/>
                  <a:pt x="10355090" y="89741"/>
                </a:cubicBezTo>
                <a:cubicBezTo>
                  <a:pt x="10286222" y="95376"/>
                  <a:pt x="10146285" y="63529"/>
                  <a:pt x="10087145" y="66115"/>
                </a:cubicBezTo>
                <a:cubicBezTo>
                  <a:pt x="10067575" y="79584"/>
                  <a:pt x="10043111" y="68921"/>
                  <a:pt x="10015902" y="76178"/>
                </a:cubicBezTo>
                <a:cubicBezTo>
                  <a:pt x="9952302" y="84628"/>
                  <a:pt x="9893286" y="103337"/>
                  <a:pt x="9806005" y="102435"/>
                </a:cubicBezTo>
                <a:cubicBezTo>
                  <a:pt x="9782247" y="141133"/>
                  <a:pt x="9674787" y="151643"/>
                  <a:pt x="9602583" y="179170"/>
                </a:cubicBezTo>
                <a:cubicBezTo>
                  <a:pt x="9557658" y="187584"/>
                  <a:pt x="9478290" y="154235"/>
                  <a:pt x="9469719" y="174721"/>
                </a:cubicBezTo>
                <a:cubicBezTo>
                  <a:pt x="9443779" y="165070"/>
                  <a:pt x="9431317" y="185692"/>
                  <a:pt x="9408692" y="189513"/>
                </a:cubicBezTo>
                <a:cubicBezTo>
                  <a:pt x="9387154" y="183843"/>
                  <a:pt x="9380475" y="191089"/>
                  <a:pt x="9364151" y="194072"/>
                </a:cubicBezTo>
                <a:cubicBezTo>
                  <a:pt x="9354686" y="190222"/>
                  <a:pt x="9340485" y="191782"/>
                  <a:pt x="9337751" y="197579"/>
                </a:cubicBezTo>
                <a:cubicBezTo>
                  <a:pt x="9349566" y="209270"/>
                  <a:pt x="9297468" y="207714"/>
                  <a:pt x="9297166" y="216558"/>
                </a:cubicBezTo>
                <a:cubicBezTo>
                  <a:pt x="9269057" y="220999"/>
                  <a:pt x="9139630" y="221783"/>
                  <a:pt x="9123859" y="237356"/>
                </a:cubicBezTo>
                <a:cubicBezTo>
                  <a:pt x="9068176" y="249209"/>
                  <a:pt x="8975349" y="235349"/>
                  <a:pt x="8950741" y="238020"/>
                </a:cubicBezTo>
                <a:cubicBezTo>
                  <a:pt x="8916265" y="215428"/>
                  <a:pt x="8822808" y="292026"/>
                  <a:pt x="8718236" y="303148"/>
                </a:cubicBezTo>
                <a:cubicBezTo>
                  <a:pt x="8703111" y="302060"/>
                  <a:pt x="8695551" y="302792"/>
                  <a:pt x="8694011" y="308812"/>
                </a:cubicBezTo>
                <a:cubicBezTo>
                  <a:pt x="8661810" y="312764"/>
                  <a:pt x="8637956" y="329628"/>
                  <a:pt x="8611976" y="324819"/>
                </a:cubicBezTo>
                <a:cubicBezTo>
                  <a:pt x="8621849" y="336388"/>
                  <a:pt x="8562809" y="325917"/>
                  <a:pt x="8562074" y="337971"/>
                </a:cubicBezTo>
                <a:cubicBezTo>
                  <a:pt x="8543699" y="343978"/>
                  <a:pt x="8511321" y="356396"/>
                  <a:pt x="8501724" y="360865"/>
                </a:cubicBezTo>
                <a:lnTo>
                  <a:pt x="8504489" y="364790"/>
                </a:lnTo>
                <a:lnTo>
                  <a:pt x="8492774" y="366181"/>
                </a:lnTo>
                <a:lnTo>
                  <a:pt x="8466405" y="368724"/>
                </a:lnTo>
                <a:cubicBezTo>
                  <a:pt x="8455454" y="372229"/>
                  <a:pt x="8440175" y="385805"/>
                  <a:pt x="8427069" y="387211"/>
                </a:cubicBezTo>
                <a:cubicBezTo>
                  <a:pt x="8400442" y="392215"/>
                  <a:pt x="8397079" y="382989"/>
                  <a:pt x="8387766" y="377161"/>
                </a:cubicBezTo>
                <a:cubicBezTo>
                  <a:pt x="8369233" y="378548"/>
                  <a:pt x="8334756" y="390869"/>
                  <a:pt x="8315874" y="395527"/>
                </a:cubicBezTo>
                <a:cubicBezTo>
                  <a:pt x="8306664" y="400500"/>
                  <a:pt x="8272845" y="393679"/>
                  <a:pt x="8274474" y="405112"/>
                </a:cubicBezTo>
                <a:cubicBezTo>
                  <a:pt x="8255483" y="406194"/>
                  <a:pt x="8244963" y="408376"/>
                  <a:pt x="8234664" y="410219"/>
                </a:cubicBezTo>
                <a:lnTo>
                  <a:pt x="8211268" y="416791"/>
                </a:lnTo>
                <a:cubicBezTo>
                  <a:pt x="8204720" y="419941"/>
                  <a:pt x="8197411" y="422004"/>
                  <a:pt x="8188615" y="421755"/>
                </a:cubicBezTo>
                <a:lnTo>
                  <a:pt x="8179981" y="420402"/>
                </a:lnTo>
                <a:lnTo>
                  <a:pt x="8179307" y="422516"/>
                </a:lnTo>
                <a:cubicBezTo>
                  <a:pt x="8179027" y="425797"/>
                  <a:pt x="8175790" y="448341"/>
                  <a:pt x="8147929" y="450302"/>
                </a:cubicBezTo>
                <a:cubicBezTo>
                  <a:pt x="8130300" y="457967"/>
                  <a:pt x="8114933" y="461015"/>
                  <a:pt x="8089136" y="465283"/>
                </a:cubicBezTo>
                <a:cubicBezTo>
                  <a:pt x="8072810" y="465920"/>
                  <a:pt x="8069376" y="451569"/>
                  <a:pt x="8049973" y="454121"/>
                </a:cubicBezTo>
                <a:cubicBezTo>
                  <a:pt x="7974508" y="471465"/>
                  <a:pt x="8006050" y="447139"/>
                  <a:pt x="7965913" y="464415"/>
                </a:cubicBezTo>
                <a:cubicBezTo>
                  <a:pt x="7958234" y="466025"/>
                  <a:pt x="7951405" y="465800"/>
                  <a:pt x="7945093" y="464798"/>
                </a:cubicBezTo>
                <a:lnTo>
                  <a:pt x="7935335" y="462442"/>
                </a:lnTo>
                <a:lnTo>
                  <a:pt x="7904779" y="471429"/>
                </a:lnTo>
                <a:cubicBezTo>
                  <a:pt x="7889387" y="474999"/>
                  <a:pt x="7872867" y="477951"/>
                  <a:pt x="7855604" y="480199"/>
                </a:cubicBezTo>
                <a:cubicBezTo>
                  <a:pt x="7850005" y="476378"/>
                  <a:pt x="7838628" y="483595"/>
                  <a:pt x="7832630" y="485371"/>
                </a:cubicBezTo>
                <a:cubicBezTo>
                  <a:pt x="7831473" y="482645"/>
                  <a:pt x="7816623" y="482661"/>
                  <a:pt x="7812438" y="485391"/>
                </a:cubicBezTo>
                <a:cubicBezTo>
                  <a:pt x="7709470" y="505049"/>
                  <a:pt x="7759426" y="473956"/>
                  <a:pt x="7701399" y="495197"/>
                </a:cubicBezTo>
                <a:cubicBezTo>
                  <a:pt x="7690986" y="496989"/>
                  <a:pt x="7682397" y="496365"/>
                  <a:pt x="7674778" y="494723"/>
                </a:cubicBezTo>
                <a:lnTo>
                  <a:pt x="7660445" y="490194"/>
                </a:lnTo>
                <a:lnTo>
                  <a:pt x="7651781" y="493084"/>
                </a:lnTo>
                <a:cubicBezTo>
                  <a:pt x="7616113" y="496548"/>
                  <a:pt x="7603273" y="491735"/>
                  <a:pt x="7584807" y="499490"/>
                </a:cubicBezTo>
                <a:cubicBezTo>
                  <a:pt x="7549256" y="490212"/>
                  <a:pt x="7563949" y="500167"/>
                  <a:pt x="7541324" y="504184"/>
                </a:cubicBezTo>
                <a:cubicBezTo>
                  <a:pt x="7523851" y="508307"/>
                  <a:pt x="7559546" y="509825"/>
                  <a:pt x="7541756" y="512184"/>
                </a:cubicBezTo>
                <a:cubicBezTo>
                  <a:pt x="7520963" y="510864"/>
                  <a:pt x="7525755" y="520497"/>
                  <a:pt x="7503906" y="518551"/>
                </a:cubicBezTo>
                <a:cubicBezTo>
                  <a:pt x="7505924" y="510774"/>
                  <a:pt x="7464361" y="523683"/>
                  <a:pt x="7460411" y="517415"/>
                </a:cubicBezTo>
                <a:lnTo>
                  <a:pt x="7460116" y="517548"/>
                </a:lnTo>
                <a:cubicBezTo>
                  <a:pt x="7447785" y="530928"/>
                  <a:pt x="7310141" y="550568"/>
                  <a:pt x="7297810" y="563947"/>
                </a:cubicBezTo>
                <a:cubicBezTo>
                  <a:pt x="7221791" y="605698"/>
                  <a:pt x="7039072" y="646008"/>
                  <a:pt x="6946388" y="665244"/>
                </a:cubicBezTo>
                <a:cubicBezTo>
                  <a:pt x="6853704" y="684480"/>
                  <a:pt x="6804875" y="677485"/>
                  <a:pt x="6741704" y="679365"/>
                </a:cubicBezTo>
                <a:lnTo>
                  <a:pt x="6624680" y="677674"/>
                </a:lnTo>
                <a:lnTo>
                  <a:pt x="6605700" y="683566"/>
                </a:lnTo>
                <a:cubicBezTo>
                  <a:pt x="6603309" y="685184"/>
                  <a:pt x="6599550" y="685647"/>
                  <a:pt x="6576922" y="683030"/>
                </a:cubicBezTo>
                <a:cubicBezTo>
                  <a:pt x="6527275" y="698355"/>
                  <a:pt x="6440981" y="702347"/>
                  <a:pt x="6405123" y="721946"/>
                </a:cubicBezTo>
                <a:cubicBezTo>
                  <a:pt x="6407963" y="715467"/>
                  <a:pt x="6383450" y="712913"/>
                  <a:pt x="6368938" y="717341"/>
                </a:cubicBezTo>
                <a:cubicBezTo>
                  <a:pt x="6377914" y="692119"/>
                  <a:pt x="6315316" y="744281"/>
                  <a:pt x="6295102" y="729508"/>
                </a:cubicBezTo>
                <a:cubicBezTo>
                  <a:pt x="6300358" y="744473"/>
                  <a:pt x="6240070" y="776254"/>
                  <a:pt x="6202084" y="767091"/>
                </a:cubicBezTo>
                <a:cubicBezTo>
                  <a:pt x="6152826" y="774744"/>
                  <a:pt x="6122010" y="790367"/>
                  <a:pt x="6067157" y="790339"/>
                </a:cubicBezTo>
                <a:cubicBezTo>
                  <a:pt x="6066310" y="792484"/>
                  <a:pt x="6064283" y="794403"/>
                  <a:pt x="6061443" y="796151"/>
                </a:cubicBezTo>
                <a:lnTo>
                  <a:pt x="6051406" y="800684"/>
                </a:lnTo>
                <a:lnTo>
                  <a:pt x="6049097" y="800636"/>
                </a:lnTo>
                <a:cubicBezTo>
                  <a:pt x="6040408" y="801393"/>
                  <a:pt x="6036299" y="802645"/>
                  <a:pt x="6034222" y="804110"/>
                </a:cubicBezTo>
                <a:lnTo>
                  <a:pt x="6033121" y="806078"/>
                </a:lnTo>
                <a:lnTo>
                  <a:pt x="6023593" y="808842"/>
                </a:lnTo>
                <a:lnTo>
                  <a:pt x="6006639" y="815304"/>
                </a:lnTo>
                <a:lnTo>
                  <a:pt x="6001762" y="815557"/>
                </a:lnTo>
                <a:lnTo>
                  <a:pt x="5973534" y="823815"/>
                </a:lnTo>
                <a:lnTo>
                  <a:pt x="5972336" y="823476"/>
                </a:lnTo>
                <a:cubicBezTo>
                  <a:pt x="5969004" y="822901"/>
                  <a:pt x="5965329" y="822833"/>
                  <a:pt x="5960841" y="823819"/>
                </a:cubicBezTo>
                <a:cubicBezTo>
                  <a:pt x="5955860" y="815655"/>
                  <a:pt x="5953515" y="821882"/>
                  <a:pt x="5940719" y="825514"/>
                </a:cubicBezTo>
                <a:cubicBezTo>
                  <a:pt x="5930130" y="813644"/>
                  <a:pt x="5900943" y="827979"/>
                  <a:pt x="5884298" y="823806"/>
                </a:cubicBezTo>
                <a:cubicBezTo>
                  <a:pt x="5875133" y="826741"/>
                  <a:pt x="5865250" y="829630"/>
                  <a:pt x="5854779" y="832365"/>
                </a:cubicBezTo>
                <a:lnTo>
                  <a:pt x="5848382" y="833844"/>
                </a:lnTo>
                <a:lnTo>
                  <a:pt x="5848066" y="833772"/>
                </a:lnTo>
                <a:cubicBezTo>
                  <a:pt x="5846273" y="833879"/>
                  <a:pt x="5844018" y="834284"/>
                  <a:pt x="5840944" y="835132"/>
                </a:cubicBezTo>
                <a:lnTo>
                  <a:pt x="5836719" y="836539"/>
                </a:lnTo>
                <a:lnTo>
                  <a:pt x="5824311" y="839408"/>
                </a:lnTo>
                <a:lnTo>
                  <a:pt x="5818788" y="839727"/>
                </a:lnTo>
                <a:cubicBezTo>
                  <a:pt x="5797008" y="838594"/>
                  <a:pt x="5786883" y="822081"/>
                  <a:pt x="5763953" y="834282"/>
                </a:cubicBezTo>
                <a:cubicBezTo>
                  <a:pt x="5726813" y="837521"/>
                  <a:pt x="5699446" y="830949"/>
                  <a:pt x="5667748" y="840211"/>
                </a:cubicBezTo>
                <a:cubicBezTo>
                  <a:pt x="5632959" y="843205"/>
                  <a:pt x="5601436" y="842280"/>
                  <a:pt x="5573108" y="847611"/>
                </a:cubicBezTo>
                <a:cubicBezTo>
                  <a:pt x="5560030" y="845832"/>
                  <a:pt x="5549547" y="851598"/>
                  <a:pt x="5539137" y="851033"/>
                </a:cubicBezTo>
                <a:cubicBezTo>
                  <a:pt x="5528728" y="850467"/>
                  <a:pt x="5529256" y="837509"/>
                  <a:pt x="5510651" y="844215"/>
                </a:cubicBezTo>
                <a:cubicBezTo>
                  <a:pt x="5494241" y="833607"/>
                  <a:pt x="5466101" y="839171"/>
                  <a:pt x="5457331" y="839159"/>
                </a:cubicBezTo>
                <a:lnTo>
                  <a:pt x="5410613" y="834358"/>
                </a:lnTo>
                <a:lnTo>
                  <a:pt x="5370040" y="862127"/>
                </a:lnTo>
                <a:cubicBezTo>
                  <a:pt x="5357863" y="856469"/>
                  <a:pt x="5319115" y="868069"/>
                  <a:pt x="5318778" y="855310"/>
                </a:cubicBezTo>
                <a:cubicBezTo>
                  <a:pt x="5303920" y="857760"/>
                  <a:pt x="5296727" y="863736"/>
                  <a:pt x="5298645" y="855171"/>
                </a:cubicBezTo>
                <a:cubicBezTo>
                  <a:pt x="5287819" y="855897"/>
                  <a:pt x="5267444" y="857825"/>
                  <a:pt x="5253828" y="859670"/>
                </a:cubicBezTo>
                <a:lnTo>
                  <a:pt x="5216955" y="866245"/>
                </a:lnTo>
                <a:lnTo>
                  <a:pt x="5214344" y="868102"/>
                </a:lnTo>
                <a:cubicBezTo>
                  <a:pt x="5210778" y="868719"/>
                  <a:pt x="5200859" y="869042"/>
                  <a:pt x="5195561" y="869949"/>
                </a:cubicBezTo>
                <a:lnTo>
                  <a:pt x="5182555" y="873542"/>
                </a:lnTo>
                <a:cubicBezTo>
                  <a:pt x="5178496" y="875023"/>
                  <a:pt x="5175066" y="876746"/>
                  <a:pt x="5172552" y="878801"/>
                </a:cubicBezTo>
                <a:cubicBezTo>
                  <a:pt x="5121406" y="873797"/>
                  <a:pt x="5080096" y="886529"/>
                  <a:pt x="5027993" y="889666"/>
                </a:cubicBezTo>
                <a:cubicBezTo>
                  <a:pt x="4999924" y="877115"/>
                  <a:pt x="4946973" y="919452"/>
                  <a:pt x="4939844" y="934802"/>
                </a:cubicBezTo>
                <a:cubicBezTo>
                  <a:pt x="4895154" y="940701"/>
                  <a:pt x="4844006" y="928240"/>
                  <a:pt x="4792576" y="934820"/>
                </a:cubicBezTo>
                <a:lnTo>
                  <a:pt x="4602423" y="958063"/>
                </a:lnTo>
                <a:cubicBezTo>
                  <a:pt x="4488530" y="967131"/>
                  <a:pt x="4399004" y="969822"/>
                  <a:pt x="4290656" y="969152"/>
                </a:cubicBezTo>
                <a:cubicBezTo>
                  <a:pt x="4182308" y="968482"/>
                  <a:pt x="4046938" y="971167"/>
                  <a:pt x="3952334" y="954043"/>
                </a:cubicBezTo>
                <a:lnTo>
                  <a:pt x="3858560" y="948781"/>
                </a:lnTo>
                <a:lnTo>
                  <a:pt x="3846597" y="948382"/>
                </a:lnTo>
                <a:cubicBezTo>
                  <a:pt x="3807516" y="956616"/>
                  <a:pt x="3767475" y="941640"/>
                  <a:pt x="3736044" y="947759"/>
                </a:cubicBezTo>
                <a:cubicBezTo>
                  <a:pt x="3727323" y="948128"/>
                  <a:pt x="3719828" y="947771"/>
                  <a:pt x="3713136" y="946963"/>
                </a:cubicBezTo>
                <a:lnTo>
                  <a:pt x="3695939" y="943639"/>
                </a:lnTo>
                <a:lnTo>
                  <a:pt x="3694125" y="940567"/>
                </a:lnTo>
                <a:lnTo>
                  <a:pt x="3681925" y="939706"/>
                </a:lnTo>
                <a:lnTo>
                  <a:pt x="3679204" y="938926"/>
                </a:lnTo>
                <a:cubicBezTo>
                  <a:pt x="3668160" y="939028"/>
                  <a:pt x="3634193" y="940875"/>
                  <a:pt x="3615656" y="940320"/>
                </a:cubicBezTo>
                <a:cubicBezTo>
                  <a:pt x="3582626" y="936974"/>
                  <a:pt x="3593904" y="949140"/>
                  <a:pt x="3567983" y="935596"/>
                </a:cubicBezTo>
                <a:cubicBezTo>
                  <a:pt x="3504185" y="939048"/>
                  <a:pt x="3482818" y="922224"/>
                  <a:pt x="3422423" y="932129"/>
                </a:cubicBezTo>
                <a:cubicBezTo>
                  <a:pt x="3369166" y="933413"/>
                  <a:pt x="3329486" y="910108"/>
                  <a:pt x="3310925" y="911072"/>
                </a:cubicBezTo>
                <a:cubicBezTo>
                  <a:pt x="3261363" y="909787"/>
                  <a:pt x="3198415" y="933574"/>
                  <a:pt x="3139421" y="934151"/>
                </a:cubicBezTo>
                <a:cubicBezTo>
                  <a:pt x="3088799" y="931012"/>
                  <a:pt x="3038941" y="938464"/>
                  <a:pt x="2996922" y="927537"/>
                </a:cubicBezTo>
                <a:cubicBezTo>
                  <a:pt x="2992673" y="929234"/>
                  <a:pt x="2987900" y="930498"/>
                  <a:pt x="2982785" y="931453"/>
                </a:cubicBezTo>
                <a:lnTo>
                  <a:pt x="2967478" y="933397"/>
                </a:lnTo>
                <a:lnTo>
                  <a:pt x="2948552" y="932961"/>
                </a:lnTo>
                <a:lnTo>
                  <a:pt x="2944404" y="934452"/>
                </a:lnTo>
                <a:lnTo>
                  <a:pt x="2908608" y="937205"/>
                </a:lnTo>
                <a:lnTo>
                  <a:pt x="2904443" y="936455"/>
                </a:lnTo>
                <a:lnTo>
                  <a:pt x="2868935" y="938022"/>
                </a:lnTo>
                <a:lnTo>
                  <a:pt x="2868586" y="937487"/>
                </a:lnTo>
                <a:cubicBezTo>
                  <a:pt x="2866994" y="936327"/>
                  <a:pt x="2864292" y="935538"/>
                  <a:pt x="2859191" y="935503"/>
                </a:cubicBezTo>
                <a:cubicBezTo>
                  <a:pt x="2869075" y="927418"/>
                  <a:pt x="2856828" y="932364"/>
                  <a:pt x="2840915" y="932977"/>
                </a:cubicBezTo>
                <a:lnTo>
                  <a:pt x="2763509" y="921850"/>
                </a:lnTo>
                <a:lnTo>
                  <a:pt x="2756121" y="921864"/>
                </a:lnTo>
                <a:cubicBezTo>
                  <a:pt x="2756081" y="921822"/>
                  <a:pt x="2756039" y="921781"/>
                  <a:pt x="2755998" y="921739"/>
                </a:cubicBezTo>
                <a:cubicBezTo>
                  <a:pt x="2754445" y="921476"/>
                  <a:pt x="2752036" y="921380"/>
                  <a:pt x="2748255" y="921505"/>
                </a:cubicBezTo>
                <a:lnTo>
                  <a:pt x="2694601" y="915575"/>
                </a:lnTo>
                <a:cubicBezTo>
                  <a:pt x="2671223" y="919874"/>
                  <a:pt x="2666972" y="913376"/>
                  <a:pt x="2635357" y="910976"/>
                </a:cubicBezTo>
                <a:cubicBezTo>
                  <a:pt x="2621906" y="915051"/>
                  <a:pt x="2611315" y="913542"/>
                  <a:pt x="2601047" y="910263"/>
                </a:cubicBezTo>
                <a:cubicBezTo>
                  <a:pt x="2570084" y="912074"/>
                  <a:pt x="2542135" y="907435"/>
                  <a:pt x="2507482" y="906211"/>
                </a:cubicBezTo>
                <a:cubicBezTo>
                  <a:pt x="2469706" y="911437"/>
                  <a:pt x="2450920" y="901812"/>
                  <a:pt x="2413884" y="900545"/>
                </a:cubicBezTo>
                <a:cubicBezTo>
                  <a:pt x="2381338" y="909664"/>
                  <a:pt x="2387753" y="892438"/>
                  <a:pt x="2368912" y="888755"/>
                </a:cubicBezTo>
                <a:lnTo>
                  <a:pt x="2349490" y="889719"/>
                </a:lnTo>
                <a:lnTo>
                  <a:pt x="2344290" y="890584"/>
                </a:lnTo>
                <a:cubicBezTo>
                  <a:pt x="2340673" y="891041"/>
                  <a:pt x="2338228" y="891167"/>
                  <a:pt x="2336488" y="891058"/>
                </a:cubicBezTo>
                <a:lnTo>
                  <a:pt x="2329015" y="891627"/>
                </a:lnTo>
                <a:cubicBezTo>
                  <a:pt x="2316843" y="893039"/>
                  <a:pt x="2305064" y="894669"/>
                  <a:pt x="2293898" y="896431"/>
                </a:cubicBezTo>
                <a:cubicBezTo>
                  <a:pt x="2282637" y="890404"/>
                  <a:pt x="2242346" y="900851"/>
                  <a:pt x="2243927" y="888076"/>
                </a:cubicBezTo>
                <a:cubicBezTo>
                  <a:pt x="2228778" y="890081"/>
                  <a:pt x="2220725" y="895845"/>
                  <a:pt x="2223920" y="887331"/>
                </a:cubicBezTo>
                <a:cubicBezTo>
                  <a:pt x="2218877" y="887756"/>
                  <a:pt x="2215583" y="887254"/>
                  <a:pt x="2213081" y="886302"/>
                </a:cubicBezTo>
                <a:lnTo>
                  <a:pt x="2212307" y="885829"/>
                </a:lnTo>
                <a:lnTo>
                  <a:pt x="2152321" y="894418"/>
                </a:lnTo>
                <a:lnTo>
                  <a:pt x="2140985" y="895968"/>
                </a:lnTo>
                <a:lnTo>
                  <a:pt x="2121210" y="899354"/>
                </a:lnTo>
                <a:lnTo>
                  <a:pt x="2119146" y="899033"/>
                </a:lnTo>
                <a:lnTo>
                  <a:pt x="2105666" y="902240"/>
                </a:lnTo>
                <a:cubicBezTo>
                  <a:pt x="2101407" y="903601"/>
                  <a:pt x="2097735" y="905221"/>
                  <a:pt x="2094924" y="907203"/>
                </a:cubicBezTo>
                <a:cubicBezTo>
                  <a:pt x="2044793" y="900664"/>
                  <a:pt x="2001785" y="912168"/>
                  <a:pt x="1949478" y="913748"/>
                </a:cubicBezTo>
                <a:cubicBezTo>
                  <a:pt x="1891937" y="919585"/>
                  <a:pt x="1810334" y="935486"/>
                  <a:pt x="1749684" y="942223"/>
                </a:cubicBezTo>
                <a:lnTo>
                  <a:pt x="1585576" y="954170"/>
                </a:lnTo>
                <a:cubicBezTo>
                  <a:pt x="1549165" y="943719"/>
                  <a:pt x="1511425" y="950847"/>
                  <a:pt x="1476250" y="950653"/>
                </a:cubicBezTo>
                <a:cubicBezTo>
                  <a:pt x="1488515" y="961596"/>
                  <a:pt x="1432660" y="946795"/>
                  <a:pt x="1433927" y="959926"/>
                </a:cubicBezTo>
                <a:cubicBezTo>
                  <a:pt x="1427485" y="959475"/>
                  <a:pt x="1421205" y="958623"/>
                  <a:pt x="1414893" y="957671"/>
                </a:cubicBezTo>
                <a:lnTo>
                  <a:pt x="1411585" y="957179"/>
                </a:lnTo>
                <a:lnTo>
                  <a:pt x="1398896" y="957460"/>
                </a:lnTo>
                <a:lnTo>
                  <a:pt x="1394632" y="954725"/>
                </a:lnTo>
                <a:lnTo>
                  <a:pt x="1375043" y="953132"/>
                </a:lnTo>
                <a:cubicBezTo>
                  <a:pt x="1367813" y="952970"/>
                  <a:pt x="1360155" y="953305"/>
                  <a:pt x="1351876" y="954436"/>
                </a:cubicBezTo>
                <a:cubicBezTo>
                  <a:pt x="1325912" y="963028"/>
                  <a:pt x="1274459" y="952492"/>
                  <a:pt x="1242676" y="963767"/>
                </a:cubicBezTo>
                <a:cubicBezTo>
                  <a:pt x="1230276" y="966918"/>
                  <a:pt x="1216715" y="977098"/>
                  <a:pt x="1205993" y="974080"/>
                </a:cubicBezTo>
                <a:cubicBezTo>
                  <a:pt x="1174251" y="974112"/>
                  <a:pt x="1086982" y="964420"/>
                  <a:pt x="1052221" y="963954"/>
                </a:cubicBezTo>
                <a:cubicBezTo>
                  <a:pt x="1038515" y="970622"/>
                  <a:pt x="1009522" y="962342"/>
                  <a:pt x="968270" y="964761"/>
                </a:cubicBezTo>
                <a:cubicBezTo>
                  <a:pt x="943437" y="973698"/>
                  <a:pt x="900136" y="991017"/>
                  <a:pt x="874493" y="998122"/>
                </a:cubicBezTo>
                <a:cubicBezTo>
                  <a:pt x="848849" y="1005226"/>
                  <a:pt x="853424" y="1009427"/>
                  <a:pt x="814411" y="1007391"/>
                </a:cubicBezTo>
                <a:cubicBezTo>
                  <a:pt x="765926" y="1022821"/>
                  <a:pt x="732885" y="1009859"/>
                  <a:pt x="688604" y="1015631"/>
                </a:cubicBezTo>
                <a:cubicBezTo>
                  <a:pt x="638045" y="1020877"/>
                  <a:pt x="677999" y="1011556"/>
                  <a:pt x="618171" y="1027260"/>
                </a:cubicBezTo>
                <a:cubicBezTo>
                  <a:pt x="609680" y="1023165"/>
                  <a:pt x="583253" y="1020277"/>
                  <a:pt x="570379" y="1023487"/>
                </a:cubicBezTo>
                <a:cubicBezTo>
                  <a:pt x="543992" y="1022523"/>
                  <a:pt x="505183" y="1001686"/>
                  <a:pt x="482519" y="1002108"/>
                </a:cubicBezTo>
                <a:cubicBezTo>
                  <a:pt x="464011" y="1002285"/>
                  <a:pt x="495211" y="1007995"/>
                  <a:pt x="475319" y="1009922"/>
                </a:cubicBezTo>
                <a:cubicBezTo>
                  <a:pt x="450818" y="1011135"/>
                  <a:pt x="454804" y="1022539"/>
                  <a:pt x="431104" y="1009317"/>
                </a:cubicBezTo>
                <a:cubicBezTo>
                  <a:pt x="406857" y="1014651"/>
                  <a:pt x="399686" y="1008456"/>
                  <a:pt x="363782" y="1007585"/>
                </a:cubicBezTo>
                <a:cubicBezTo>
                  <a:pt x="350440" y="1012231"/>
                  <a:pt x="338145" y="1011245"/>
                  <a:pt x="325533" y="1008502"/>
                </a:cubicBezTo>
                <a:cubicBezTo>
                  <a:pt x="291944" y="1011745"/>
                  <a:pt x="259251" y="1008497"/>
                  <a:pt x="220429" y="1008927"/>
                </a:cubicBezTo>
                <a:cubicBezTo>
                  <a:pt x="180594" y="1015852"/>
                  <a:pt x="156150" y="1007265"/>
                  <a:pt x="114676" y="1007765"/>
                </a:cubicBezTo>
                <a:cubicBezTo>
                  <a:pt x="85718" y="1006195"/>
                  <a:pt x="43316" y="1001491"/>
                  <a:pt x="13470" y="998544"/>
                </a:cubicBezTo>
                <a:lnTo>
                  <a:pt x="0" y="997355"/>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Tree>
    <p:extLst>
      <p:ext uri="{BB962C8B-B14F-4D97-AF65-F5344CB8AC3E}">
        <p14:creationId xmlns:p14="http://schemas.microsoft.com/office/powerpoint/2010/main" val="222692689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4C0765-0F38-4382-AECB-60588D29BA94}"/>
              </a:ext>
            </a:extLst>
          </p:cNvPr>
          <p:cNvSpPr>
            <a:spLocks noGrp="1"/>
          </p:cNvSpPr>
          <p:nvPr>
            <p:ph type="title"/>
          </p:nvPr>
        </p:nvSpPr>
        <p:spPr/>
        <p:txBody>
          <a:bodyPr/>
          <a:lstStyle/>
          <a:p>
            <a:r>
              <a:rPr lang="en-DK" dirty="0"/>
              <a:t>Platforms</a:t>
            </a:r>
          </a:p>
        </p:txBody>
      </p:sp>
      <p:graphicFrame>
        <p:nvGraphicFramePr>
          <p:cNvPr id="4" name="Table 3">
            <a:extLst>
              <a:ext uri="{FF2B5EF4-FFF2-40B4-BE49-F238E27FC236}">
                <a16:creationId xmlns:a16="http://schemas.microsoft.com/office/drawing/2014/main" id="{2F4FE9B7-5129-2CC4-DBB0-E3BB2986F66C}"/>
              </a:ext>
            </a:extLst>
          </p:cNvPr>
          <p:cNvGraphicFramePr>
            <a:graphicFrameLocks noGrp="1"/>
          </p:cNvGraphicFramePr>
          <p:nvPr>
            <p:extLst>
              <p:ext uri="{D42A27DB-BD31-4B8C-83A1-F6EECF244321}">
                <p14:modId xmlns:p14="http://schemas.microsoft.com/office/powerpoint/2010/main" val="631221738"/>
              </p:ext>
            </p:extLst>
          </p:nvPr>
        </p:nvGraphicFramePr>
        <p:xfrm>
          <a:off x="838200" y="2049157"/>
          <a:ext cx="10515600" cy="2926080"/>
        </p:xfrm>
        <a:graphic>
          <a:graphicData uri="http://schemas.openxmlformats.org/drawingml/2006/table">
            <a:tbl>
              <a:tblPr firstRow="1">
                <a:tableStyleId>{69012ECD-51FC-41F1-AA8D-1B2483CD663E}</a:tableStyleId>
              </a:tblPr>
              <a:tblGrid>
                <a:gridCol w="2628900">
                  <a:extLst>
                    <a:ext uri="{9D8B030D-6E8A-4147-A177-3AD203B41FA5}">
                      <a16:colId xmlns:a16="http://schemas.microsoft.com/office/drawing/2014/main" val="2168012759"/>
                    </a:ext>
                  </a:extLst>
                </a:gridCol>
                <a:gridCol w="2628900">
                  <a:extLst>
                    <a:ext uri="{9D8B030D-6E8A-4147-A177-3AD203B41FA5}">
                      <a16:colId xmlns:a16="http://schemas.microsoft.com/office/drawing/2014/main" val="2995596070"/>
                    </a:ext>
                  </a:extLst>
                </a:gridCol>
                <a:gridCol w="2628900">
                  <a:extLst>
                    <a:ext uri="{9D8B030D-6E8A-4147-A177-3AD203B41FA5}">
                      <a16:colId xmlns:a16="http://schemas.microsoft.com/office/drawing/2014/main" val="1552819022"/>
                    </a:ext>
                  </a:extLst>
                </a:gridCol>
                <a:gridCol w="2628900">
                  <a:extLst>
                    <a:ext uri="{9D8B030D-6E8A-4147-A177-3AD203B41FA5}">
                      <a16:colId xmlns:a16="http://schemas.microsoft.com/office/drawing/2014/main" val="1657934618"/>
                    </a:ext>
                  </a:extLst>
                </a:gridCol>
              </a:tblGrid>
              <a:tr h="0">
                <a:tc>
                  <a:txBody>
                    <a:bodyPr/>
                    <a:lstStyle/>
                    <a:p>
                      <a:pPr algn="ctr"/>
                      <a:r>
                        <a:rPr lang="en-GB" dirty="0"/>
                        <a:t>Platform</a:t>
                      </a:r>
                    </a:p>
                  </a:txBody>
                  <a:tcPr anchor="ctr"/>
                </a:tc>
                <a:tc>
                  <a:txBody>
                    <a:bodyPr/>
                    <a:lstStyle/>
                    <a:p>
                      <a:pPr algn="ctr"/>
                      <a:r>
                        <a:rPr lang="en-GB" dirty="0"/>
                        <a:t>Features</a:t>
                      </a:r>
                    </a:p>
                  </a:txBody>
                  <a:tcPr anchor="ctr"/>
                </a:tc>
                <a:tc>
                  <a:txBody>
                    <a:bodyPr/>
                    <a:lstStyle/>
                    <a:p>
                      <a:pPr algn="ctr"/>
                      <a:r>
                        <a:rPr lang="en-GB" dirty="0"/>
                        <a:t>Read Length</a:t>
                      </a:r>
                    </a:p>
                  </a:txBody>
                  <a:tcPr anchor="ctr"/>
                </a:tc>
                <a:tc>
                  <a:txBody>
                    <a:bodyPr/>
                    <a:lstStyle/>
                    <a:p>
                      <a:pPr algn="ctr"/>
                      <a:r>
                        <a:rPr lang="en-GB" dirty="0"/>
                        <a:t>Use Case</a:t>
                      </a:r>
                    </a:p>
                  </a:txBody>
                  <a:tcPr anchor="ctr"/>
                </a:tc>
                <a:extLst>
                  <a:ext uri="{0D108BD9-81ED-4DB2-BD59-A6C34878D82A}">
                    <a16:rowId xmlns:a16="http://schemas.microsoft.com/office/drawing/2014/main" val="644514461"/>
                  </a:ext>
                </a:extLst>
              </a:tr>
              <a:tr h="0">
                <a:tc>
                  <a:txBody>
                    <a:bodyPr/>
                    <a:lstStyle/>
                    <a:p>
                      <a:pPr algn="ctr"/>
                      <a:r>
                        <a:rPr lang="en-GB" b="1" dirty="0"/>
                        <a:t>Illumina</a:t>
                      </a:r>
                      <a:endParaRPr lang="en-GB" dirty="0"/>
                    </a:p>
                  </a:txBody>
                  <a:tcPr anchor="ctr"/>
                </a:tc>
                <a:tc>
                  <a:txBody>
                    <a:bodyPr/>
                    <a:lstStyle/>
                    <a:p>
                      <a:pPr algn="ctr"/>
                      <a:r>
                        <a:rPr lang="en-GB"/>
                        <a:t>High accuracy, short reads</a:t>
                      </a:r>
                    </a:p>
                  </a:txBody>
                  <a:tcPr anchor="ctr"/>
                </a:tc>
                <a:tc>
                  <a:txBody>
                    <a:bodyPr/>
                    <a:lstStyle/>
                    <a:p>
                      <a:pPr algn="ctr"/>
                      <a:r>
                        <a:rPr lang="en-GB"/>
                        <a:t>~150–300 bp</a:t>
                      </a:r>
                    </a:p>
                  </a:txBody>
                  <a:tcPr anchor="ctr"/>
                </a:tc>
                <a:tc>
                  <a:txBody>
                    <a:bodyPr/>
                    <a:lstStyle/>
                    <a:p>
                      <a:pPr algn="ctr"/>
                      <a:r>
                        <a:rPr lang="en-GB"/>
                        <a:t>Most common for shotgun &amp; amplicon</a:t>
                      </a:r>
                    </a:p>
                  </a:txBody>
                  <a:tcPr anchor="ctr"/>
                </a:tc>
                <a:extLst>
                  <a:ext uri="{0D108BD9-81ED-4DB2-BD59-A6C34878D82A}">
                    <a16:rowId xmlns:a16="http://schemas.microsoft.com/office/drawing/2014/main" val="3351972148"/>
                  </a:ext>
                </a:extLst>
              </a:tr>
              <a:tr h="0">
                <a:tc>
                  <a:txBody>
                    <a:bodyPr/>
                    <a:lstStyle/>
                    <a:p>
                      <a:pPr algn="ctr"/>
                      <a:r>
                        <a:rPr lang="en-GB" b="1" dirty="0"/>
                        <a:t>Oxford Nanopore</a:t>
                      </a:r>
                      <a:endParaRPr lang="en-GB" dirty="0"/>
                    </a:p>
                  </a:txBody>
                  <a:tcPr anchor="ctr"/>
                </a:tc>
                <a:tc>
                  <a:txBody>
                    <a:bodyPr/>
                    <a:lstStyle/>
                    <a:p>
                      <a:pPr algn="ctr"/>
                      <a:r>
                        <a:rPr lang="en-GB" dirty="0"/>
                        <a:t>Long reads, portable</a:t>
                      </a:r>
                    </a:p>
                  </a:txBody>
                  <a:tcPr anchor="ctr"/>
                </a:tc>
                <a:tc>
                  <a:txBody>
                    <a:bodyPr/>
                    <a:lstStyle/>
                    <a:p>
                      <a:pPr algn="ctr"/>
                      <a:r>
                        <a:rPr lang="en-GB"/>
                        <a:t>up to 100 kb+</a:t>
                      </a:r>
                    </a:p>
                  </a:txBody>
                  <a:tcPr anchor="ctr"/>
                </a:tc>
                <a:tc>
                  <a:txBody>
                    <a:bodyPr/>
                    <a:lstStyle/>
                    <a:p>
                      <a:pPr algn="ctr"/>
                      <a:r>
                        <a:rPr lang="en-GB"/>
                        <a:t>Assembly, rare taxa detection</a:t>
                      </a:r>
                    </a:p>
                  </a:txBody>
                  <a:tcPr anchor="ctr"/>
                </a:tc>
                <a:extLst>
                  <a:ext uri="{0D108BD9-81ED-4DB2-BD59-A6C34878D82A}">
                    <a16:rowId xmlns:a16="http://schemas.microsoft.com/office/drawing/2014/main" val="2747834670"/>
                  </a:ext>
                </a:extLst>
              </a:tr>
              <a:tr h="0">
                <a:tc>
                  <a:txBody>
                    <a:bodyPr/>
                    <a:lstStyle/>
                    <a:p>
                      <a:pPr algn="ctr"/>
                      <a:r>
                        <a:rPr lang="en-GB" b="1" dirty="0"/>
                        <a:t>PacBio HiFi</a:t>
                      </a:r>
                      <a:endParaRPr lang="en-GB" dirty="0"/>
                    </a:p>
                  </a:txBody>
                  <a:tcPr anchor="ctr"/>
                </a:tc>
                <a:tc>
                  <a:txBody>
                    <a:bodyPr/>
                    <a:lstStyle/>
                    <a:p>
                      <a:pPr algn="ctr"/>
                      <a:r>
                        <a:rPr lang="en-GB"/>
                        <a:t>Long + accurate reads</a:t>
                      </a:r>
                    </a:p>
                  </a:txBody>
                  <a:tcPr anchor="ctr"/>
                </a:tc>
                <a:tc>
                  <a:txBody>
                    <a:bodyPr/>
                    <a:lstStyle/>
                    <a:p>
                      <a:pPr algn="ctr"/>
                      <a:r>
                        <a:rPr lang="en-GB"/>
                        <a:t>~10–25 kb</a:t>
                      </a:r>
                    </a:p>
                  </a:txBody>
                  <a:tcPr anchor="ctr"/>
                </a:tc>
                <a:tc>
                  <a:txBody>
                    <a:bodyPr/>
                    <a:lstStyle/>
                    <a:p>
                      <a:pPr algn="ctr"/>
                      <a:r>
                        <a:rPr lang="en-GB"/>
                        <a:t>Functional profiling, assembly</a:t>
                      </a:r>
                    </a:p>
                  </a:txBody>
                  <a:tcPr anchor="ctr"/>
                </a:tc>
                <a:extLst>
                  <a:ext uri="{0D108BD9-81ED-4DB2-BD59-A6C34878D82A}">
                    <a16:rowId xmlns:a16="http://schemas.microsoft.com/office/drawing/2014/main" val="3589465776"/>
                  </a:ext>
                </a:extLst>
              </a:tr>
              <a:tr h="0">
                <a:tc>
                  <a:txBody>
                    <a:bodyPr/>
                    <a:lstStyle/>
                    <a:p>
                      <a:pPr algn="ctr"/>
                      <a:r>
                        <a:rPr lang="en-GB" b="1" dirty="0"/>
                        <a:t>Ion Torrent</a:t>
                      </a:r>
                      <a:endParaRPr lang="en-GB" dirty="0"/>
                    </a:p>
                  </a:txBody>
                  <a:tcPr anchor="ctr"/>
                </a:tc>
                <a:tc>
                  <a:txBody>
                    <a:bodyPr/>
                    <a:lstStyle/>
                    <a:p>
                      <a:pPr algn="ctr"/>
                      <a:r>
                        <a:rPr lang="en-GB"/>
                        <a:t>Medium throughput</a:t>
                      </a:r>
                    </a:p>
                  </a:txBody>
                  <a:tcPr anchor="ctr"/>
                </a:tc>
                <a:tc>
                  <a:txBody>
                    <a:bodyPr/>
                    <a:lstStyle/>
                    <a:p>
                      <a:pPr algn="ctr"/>
                      <a:r>
                        <a:rPr lang="en-GB"/>
                        <a:t>~200–400 bp</a:t>
                      </a:r>
                    </a:p>
                  </a:txBody>
                  <a:tcPr anchor="ctr"/>
                </a:tc>
                <a:tc>
                  <a:txBody>
                    <a:bodyPr/>
                    <a:lstStyle/>
                    <a:p>
                      <a:pPr algn="ctr"/>
                      <a:r>
                        <a:rPr lang="en-GB" dirty="0"/>
                        <a:t>Less common but used in clinical</a:t>
                      </a:r>
                    </a:p>
                  </a:txBody>
                  <a:tcPr anchor="ctr"/>
                </a:tc>
                <a:extLst>
                  <a:ext uri="{0D108BD9-81ED-4DB2-BD59-A6C34878D82A}">
                    <a16:rowId xmlns:a16="http://schemas.microsoft.com/office/drawing/2014/main" val="2234130748"/>
                  </a:ext>
                </a:extLst>
              </a:tr>
            </a:tbl>
          </a:graphicData>
        </a:graphic>
      </p:graphicFrame>
    </p:spTree>
    <p:extLst>
      <p:ext uri="{BB962C8B-B14F-4D97-AF65-F5344CB8AC3E}">
        <p14:creationId xmlns:p14="http://schemas.microsoft.com/office/powerpoint/2010/main" val="146984638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7DE7006-384C-EC21-3B66-C7C6C06C8D01}"/>
            </a:ext>
          </a:extLst>
        </p:cNvPr>
        <p:cNvGrpSpPr/>
        <p:nvPr/>
      </p:nvGrpSpPr>
      <p:grpSpPr>
        <a:xfrm>
          <a:off x="0" y="0"/>
          <a:ext cx="0" cy="0"/>
          <a:chOff x="0" y="0"/>
          <a:chExt cx="0" cy="0"/>
        </a:xfrm>
      </p:grpSpPr>
      <p:sp useBgFill="1">
        <p:nvSpPr>
          <p:cNvPr id="21" name="Rectangle 20">
            <a:extLst>
              <a:ext uri="{FF2B5EF4-FFF2-40B4-BE49-F238E27FC236}">
                <a16:creationId xmlns:a16="http://schemas.microsoft.com/office/drawing/2014/main" id="{73A25D70-4A55-4F72-B9C5-A69CDBF4DB4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54957100-6D8B-4161-9F2F-C0A949EC84C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00"/>
          </a:p>
        </p:txBody>
      </p:sp>
      <p:sp>
        <p:nvSpPr>
          <p:cNvPr id="33" name="Freeform: Shape 10">
            <a:extLst>
              <a:ext uri="{FF2B5EF4-FFF2-40B4-BE49-F238E27FC236}">
                <a16:creationId xmlns:a16="http://schemas.microsoft.com/office/drawing/2014/main" id="{CBCB02B1-1B82-403C-B7D2-E2CED1882F5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496934" y="3984"/>
            <a:ext cx="9376632" cy="6858000"/>
          </a:xfrm>
          <a:custGeom>
            <a:avLst/>
            <a:gdLst>
              <a:gd name="connsiteX0" fmla="*/ 1691615 w 9376632"/>
              <a:gd name="connsiteY0" fmla="*/ 0 h 6858000"/>
              <a:gd name="connsiteX1" fmla="*/ 7685017 w 9376632"/>
              <a:gd name="connsiteY1" fmla="*/ 0 h 6858000"/>
              <a:gd name="connsiteX2" fmla="*/ 7840634 w 9376632"/>
              <a:gd name="connsiteY2" fmla="*/ 134799 h 6858000"/>
              <a:gd name="connsiteX3" fmla="*/ 9376632 w 9376632"/>
              <a:gd name="connsiteY3" fmla="*/ 3605175 h 6858000"/>
              <a:gd name="connsiteX4" fmla="*/ 8158692 w 9376632"/>
              <a:gd name="connsiteY4" fmla="*/ 6757493 h 6858000"/>
              <a:gd name="connsiteX5" fmla="*/ 8062868 w 9376632"/>
              <a:gd name="connsiteY5" fmla="*/ 6858000 h 6858000"/>
              <a:gd name="connsiteX6" fmla="*/ 1313765 w 9376632"/>
              <a:gd name="connsiteY6" fmla="*/ 6858000 h 6858000"/>
              <a:gd name="connsiteX7" fmla="*/ 1217940 w 9376632"/>
              <a:gd name="connsiteY7" fmla="*/ 6757493 h 6858000"/>
              <a:gd name="connsiteX8" fmla="*/ 0 w 9376632"/>
              <a:gd name="connsiteY8" fmla="*/ 3605175 h 6858000"/>
              <a:gd name="connsiteX9" fmla="*/ 1535999 w 9376632"/>
              <a:gd name="connsiteY9" fmla="*/ 134799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376632" h="6858000">
                <a:moveTo>
                  <a:pt x="1691615" y="0"/>
                </a:moveTo>
                <a:lnTo>
                  <a:pt x="7685017" y="0"/>
                </a:lnTo>
                <a:lnTo>
                  <a:pt x="7840634" y="134799"/>
                </a:lnTo>
                <a:cubicBezTo>
                  <a:pt x="8784230" y="992423"/>
                  <a:pt x="9376632" y="2229618"/>
                  <a:pt x="9376632" y="3605175"/>
                </a:cubicBezTo>
                <a:cubicBezTo>
                  <a:pt x="9376632" y="4818903"/>
                  <a:pt x="8915419" y="5924908"/>
                  <a:pt x="8158692" y="6757493"/>
                </a:cubicBezTo>
                <a:lnTo>
                  <a:pt x="8062868" y="6858000"/>
                </a:lnTo>
                <a:lnTo>
                  <a:pt x="1313765" y="6858000"/>
                </a:lnTo>
                <a:lnTo>
                  <a:pt x="1217940" y="6757493"/>
                </a:lnTo>
                <a:cubicBezTo>
                  <a:pt x="461213" y="5924908"/>
                  <a:pt x="0" y="4818903"/>
                  <a:pt x="0" y="3605175"/>
                </a:cubicBezTo>
                <a:cubicBezTo>
                  <a:pt x="0" y="2229618"/>
                  <a:pt x="592403" y="992423"/>
                  <a:pt x="1535999" y="134799"/>
                </a:cubicBezTo>
                <a:close/>
              </a:path>
            </a:pathLst>
          </a:custGeom>
          <a:gradFill flip="none" rotWithShape="1">
            <a:gsLst>
              <a:gs pos="16000">
                <a:schemeClr val="accent6">
                  <a:alpha val="20000"/>
                </a:schemeClr>
              </a:gs>
              <a:gs pos="85000">
                <a:schemeClr val="accent1">
                  <a:alpha val="40000"/>
                </a:schemeClr>
              </a:gs>
            </a:gsLst>
            <a:lin ang="120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4" name="Group 33">
            <a:extLst>
              <a:ext uri="{FF2B5EF4-FFF2-40B4-BE49-F238E27FC236}">
                <a16:creationId xmlns:a16="http://schemas.microsoft.com/office/drawing/2014/main" id="{CCDE13A7-6382-4A67-BEBE-4FF1F37C7F52}"/>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303402" y="3985"/>
            <a:ext cx="9772765" cy="6858000"/>
            <a:chOff x="1303402" y="36937"/>
            <a:chExt cx="9772765" cy="6858000"/>
          </a:xfrm>
          <a:solidFill>
            <a:schemeClr val="bg1">
              <a:alpha val="30000"/>
            </a:schemeClr>
          </a:solidFill>
        </p:grpSpPr>
        <p:sp>
          <p:nvSpPr>
            <p:cNvPr id="35" name="Freeform: Shape 13">
              <a:extLst>
                <a:ext uri="{FF2B5EF4-FFF2-40B4-BE49-F238E27FC236}">
                  <a16:creationId xmlns:a16="http://schemas.microsoft.com/office/drawing/2014/main" id="{E9978FC9-2E40-4257-8D97-FAB20CA4BF1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60551" y="36937"/>
              <a:ext cx="9313016" cy="6858000"/>
            </a:xfrm>
            <a:custGeom>
              <a:avLst/>
              <a:gdLst>
                <a:gd name="connsiteX0" fmla="*/ 6993556 w 9313016"/>
                <a:gd name="connsiteY0" fmla="*/ 0 h 6858000"/>
                <a:gd name="connsiteX1" fmla="*/ 7358516 w 9313016"/>
                <a:gd name="connsiteY1" fmla="*/ 0 h 6858000"/>
                <a:gd name="connsiteX2" fmla="*/ 7475006 w 9313016"/>
                <a:gd name="connsiteY2" fmla="*/ 82722 h 6858000"/>
                <a:gd name="connsiteX3" fmla="*/ 7816357 w 9313016"/>
                <a:gd name="connsiteY3" fmla="*/ 358482 h 6858000"/>
                <a:gd name="connsiteX4" fmla="*/ 8421752 w 9313016"/>
                <a:gd name="connsiteY4" fmla="*/ 995405 h 6858000"/>
                <a:gd name="connsiteX5" fmla="*/ 8897059 w 9313016"/>
                <a:gd name="connsiteY5" fmla="*/ 1737211 h 6858000"/>
                <a:gd name="connsiteX6" fmla="*/ 9206633 w 9313016"/>
                <a:gd name="connsiteY6" fmla="*/ 2564460 h 6858000"/>
                <a:gd name="connsiteX7" fmla="*/ 9286787 w 9313016"/>
                <a:gd name="connsiteY7" fmla="*/ 3000164 h 6858000"/>
                <a:gd name="connsiteX8" fmla="*/ 9312914 w 9313016"/>
                <a:gd name="connsiteY8" fmla="*/ 3442493 h 6858000"/>
                <a:gd name="connsiteX9" fmla="*/ 9190562 w 9313016"/>
                <a:gd name="connsiteY9" fmla="*/ 4316686 h 6858000"/>
                <a:gd name="connsiteX10" fmla="*/ 9043416 w 9313016"/>
                <a:gd name="connsiteY10" fmla="*/ 4734917 h 6858000"/>
                <a:gd name="connsiteX11" fmla="*/ 8809657 w 9313016"/>
                <a:gd name="connsiteY11" fmla="*/ 5128718 h 6858000"/>
                <a:gd name="connsiteX12" fmla="*/ 8645997 w 9313016"/>
                <a:gd name="connsiteY12" fmla="*/ 5297441 h 6858000"/>
                <a:gd name="connsiteX13" fmla="*/ 8457787 w 9313016"/>
                <a:gd name="connsiteY13" fmla="*/ 5433763 h 6858000"/>
                <a:gd name="connsiteX14" fmla="*/ 8260803 w 9313016"/>
                <a:gd name="connsiteY14" fmla="*/ 5541237 h 6858000"/>
                <a:gd name="connsiteX15" fmla="*/ 8066136 w 9313016"/>
                <a:gd name="connsiteY15" fmla="*/ 5635704 h 6858000"/>
                <a:gd name="connsiteX16" fmla="*/ 7698638 w 9313016"/>
                <a:gd name="connsiteY16" fmla="*/ 5837163 h 6858000"/>
                <a:gd name="connsiteX17" fmla="*/ 7370135 w 9313016"/>
                <a:gd name="connsiteY17" fmla="*/ 6090081 h 6858000"/>
                <a:gd name="connsiteX18" fmla="*/ 7218897 w 9313016"/>
                <a:gd name="connsiteY18" fmla="*/ 6235860 h 6858000"/>
                <a:gd name="connsiteX19" fmla="*/ 7070665 w 9313016"/>
                <a:gd name="connsiteY19" fmla="*/ 6387205 h 6858000"/>
                <a:gd name="connsiteX20" fmla="*/ 6779035 w 9313016"/>
                <a:gd name="connsiteY20" fmla="*/ 6697100 h 6858000"/>
                <a:gd name="connsiteX21" fmla="*/ 6631837 w 9313016"/>
                <a:gd name="connsiteY21" fmla="*/ 6852239 h 6858000"/>
                <a:gd name="connsiteX22" fmla="*/ 6626221 w 9313016"/>
                <a:gd name="connsiteY22" fmla="*/ 6858000 h 6858000"/>
                <a:gd name="connsiteX23" fmla="*/ 6424725 w 9313016"/>
                <a:gd name="connsiteY23" fmla="*/ 6858000 h 6858000"/>
                <a:gd name="connsiteX24" fmla="*/ 6527382 w 9313016"/>
                <a:gd name="connsiteY24" fmla="*/ 6756333 h 6858000"/>
                <a:gd name="connsiteX25" fmla="*/ 6674233 w 9313016"/>
                <a:gd name="connsiteY25" fmla="*/ 6603450 h 6858000"/>
                <a:gd name="connsiteX26" fmla="*/ 6965813 w 9313016"/>
                <a:gd name="connsiteY26" fmla="*/ 6292932 h 6858000"/>
                <a:gd name="connsiteX27" fmla="*/ 7112961 w 9313016"/>
                <a:gd name="connsiteY27" fmla="*/ 6137505 h 6858000"/>
                <a:gd name="connsiteX28" fmla="*/ 7264790 w 9313016"/>
                <a:gd name="connsiteY28" fmla="*/ 5983710 h 6858000"/>
                <a:gd name="connsiteX29" fmla="*/ 7974595 w 9313016"/>
                <a:gd name="connsiteY29" fmla="*/ 5470773 h 6858000"/>
                <a:gd name="connsiteX30" fmla="*/ 8331591 w 9313016"/>
                <a:gd name="connsiteY30" fmla="*/ 5254048 h 6858000"/>
                <a:gd name="connsiteX31" fmla="*/ 8599807 w 9313016"/>
                <a:gd name="connsiteY31" fmla="*/ 4980010 h 6858000"/>
                <a:gd name="connsiteX32" fmla="*/ 8766474 w 9313016"/>
                <a:gd name="connsiteY32" fmla="*/ 4631524 h 6858000"/>
                <a:gd name="connsiteX33" fmla="*/ 8865755 w 9313016"/>
                <a:gd name="connsiteY33" fmla="*/ 4244445 h 6858000"/>
                <a:gd name="connsiteX34" fmla="*/ 8882911 w 9313016"/>
                <a:gd name="connsiteY34" fmla="*/ 4145659 h 6858000"/>
                <a:gd name="connsiteX35" fmla="*/ 8897403 w 9313016"/>
                <a:gd name="connsiteY35" fmla="*/ 4046633 h 6858000"/>
                <a:gd name="connsiteX36" fmla="*/ 8908298 w 9313016"/>
                <a:gd name="connsiteY36" fmla="*/ 3947271 h 6858000"/>
                <a:gd name="connsiteX37" fmla="*/ 8916184 w 9313016"/>
                <a:gd name="connsiteY37" fmla="*/ 3847765 h 6858000"/>
                <a:gd name="connsiteX38" fmla="*/ 8920670 w 9313016"/>
                <a:gd name="connsiteY38" fmla="*/ 3449597 h 6858000"/>
                <a:gd name="connsiteX39" fmla="*/ 8914607 w 9313016"/>
                <a:gd name="connsiteY39" fmla="*/ 3350283 h 6858000"/>
                <a:gd name="connsiteX40" fmla="*/ 8905340 w 9313016"/>
                <a:gd name="connsiteY40" fmla="*/ 3251209 h 6858000"/>
                <a:gd name="connsiteX41" fmla="*/ 8893854 w 9313016"/>
                <a:gd name="connsiteY41" fmla="*/ 3152376 h 6858000"/>
                <a:gd name="connsiteX42" fmla="*/ 8879706 w 9313016"/>
                <a:gd name="connsiteY42" fmla="*/ 3053878 h 6858000"/>
                <a:gd name="connsiteX43" fmla="*/ 8797531 w 9313016"/>
                <a:gd name="connsiteY43" fmla="*/ 2663966 h 6858000"/>
                <a:gd name="connsiteX44" fmla="*/ 8520442 w 9313016"/>
                <a:gd name="connsiteY44" fmla="*/ 1911983 h 6858000"/>
                <a:gd name="connsiteX45" fmla="*/ 8332626 w 9313016"/>
                <a:gd name="connsiteY45" fmla="*/ 1553608 h 6858000"/>
                <a:gd name="connsiteX46" fmla="*/ 8116317 w 9313016"/>
                <a:gd name="connsiteY46" fmla="*/ 1208529 h 6858000"/>
                <a:gd name="connsiteX47" fmla="*/ 7873293 w 9313016"/>
                <a:gd name="connsiteY47" fmla="*/ 878284 h 6858000"/>
                <a:gd name="connsiteX48" fmla="*/ 7604337 w 9313016"/>
                <a:gd name="connsiteY48" fmla="*/ 565125 h 6858000"/>
                <a:gd name="connsiteX49" fmla="*/ 7311128 w 9313016"/>
                <a:gd name="connsiteY49" fmla="*/ 270591 h 6858000"/>
                <a:gd name="connsiteX50" fmla="*/ 1752019 w 9313016"/>
                <a:gd name="connsiteY50" fmla="*/ 0 h 6858000"/>
                <a:gd name="connsiteX51" fmla="*/ 2155804 w 9313016"/>
                <a:gd name="connsiteY51" fmla="*/ 0 h 6858000"/>
                <a:gd name="connsiteX52" fmla="*/ 2103975 w 9313016"/>
                <a:gd name="connsiteY52" fmla="*/ 40789 h 6858000"/>
                <a:gd name="connsiteX53" fmla="*/ 1656310 w 9313016"/>
                <a:gd name="connsiteY53" fmla="*/ 470035 h 6858000"/>
                <a:gd name="connsiteX54" fmla="*/ 806013 w 9313016"/>
                <a:gd name="connsiteY54" fmla="*/ 1841133 h 6858000"/>
                <a:gd name="connsiteX55" fmla="*/ 580685 w 9313016"/>
                <a:gd name="connsiteY55" fmla="*/ 2606364 h 6858000"/>
                <a:gd name="connsiteX56" fmla="*/ 503489 w 9313016"/>
                <a:gd name="connsiteY56" fmla="*/ 3397276 h 6858000"/>
                <a:gd name="connsiteX57" fmla="*/ 570135 w 9313016"/>
                <a:gd name="connsiteY57" fmla="*/ 4188235 h 6858000"/>
                <a:gd name="connsiteX58" fmla="*/ 783387 w 9313016"/>
                <a:gd name="connsiteY58" fmla="*/ 4953850 h 6858000"/>
                <a:gd name="connsiteX59" fmla="*/ 1628014 w 9313016"/>
                <a:gd name="connsiteY59" fmla="*/ 6308245 h 6858000"/>
                <a:gd name="connsiteX60" fmla="*/ 2235998 w 9313016"/>
                <a:gd name="connsiteY60" fmla="*/ 6844829 h 6858000"/>
                <a:gd name="connsiteX61" fmla="*/ 2255028 w 9313016"/>
                <a:gd name="connsiteY61" fmla="*/ 6858000 h 6858000"/>
                <a:gd name="connsiteX62" fmla="*/ 1578787 w 9313016"/>
                <a:gd name="connsiteY62" fmla="*/ 6858000 h 6858000"/>
                <a:gd name="connsiteX63" fmla="*/ 1465153 w 9313016"/>
                <a:gd name="connsiteY63" fmla="*/ 6759050 h 6858000"/>
                <a:gd name="connsiteX64" fmla="*/ 1303650 w 9313016"/>
                <a:gd name="connsiteY64" fmla="*/ 6604267 h 6858000"/>
                <a:gd name="connsiteX65" fmla="*/ 323708 w 9313016"/>
                <a:gd name="connsiteY65" fmla="*/ 5126365 h 6858000"/>
                <a:gd name="connsiteX66" fmla="*/ 872 w 9313016"/>
                <a:gd name="connsiteY66" fmla="*/ 3391228 h 6858000"/>
                <a:gd name="connsiteX67" fmla="*/ 105428 w 9313016"/>
                <a:gd name="connsiteY67" fmla="*/ 2511899 h 6858000"/>
                <a:gd name="connsiteX68" fmla="*/ 384933 w 9313016"/>
                <a:gd name="connsiteY68" fmla="*/ 1670971 h 6858000"/>
                <a:gd name="connsiteX69" fmla="*/ 1433593 w 9313016"/>
                <a:gd name="connsiteY69" fmla="*/ 256095 h 6858000"/>
                <a:gd name="connsiteX70" fmla="*/ 1602664 w 9313016"/>
                <a:gd name="connsiteY70" fmla="*/ 113704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Lst>
              <a:rect l="l" t="t" r="r" b="b"/>
              <a:pathLst>
                <a:path w="9313016" h="6858000">
                  <a:moveTo>
                    <a:pt x="6993556" y="0"/>
                  </a:moveTo>
                  <a:lnTo>
                    <a:pt x="7358516" y="0"/>
                  </a:lnTo>
                  <a:lnTo>
                    <a:pt x="7475006" y="82722"/>
                  </a:lnTo>
                  <a:cubicBezTo>
                    <a:pt x="7592423" y="169778"/>
                    <a:pt x="7706366" y="261748"/>
                    <a:pt x="7816357" y="358482"/>
                  </a:cubicBezTo>
                  <a:cubicBezTo>
                    <a:pt x="8036559" y="551589"/>
                    <a:pt x="8239655" y="764905"/>
                    <a:pt x="8421752" y="995405"/>
                  </a:cubicBezTo>
                  <a:cubicBezTo>
                    <a:pt x="8604736" y="1225282"/>
                    <a:pt x="8763567" y="1474646"/>
                    <a:pt x="8897059" y="1737211"/>
                  </a:cubicBezTo>
                  <a:cubicBezTo>
                    <a:pt x="9029909" y="2000162"/>
                    <a:pt x="9134317" y="2277990"/>
                    <a:pt x="9206633" y="2564460"/>
                  </a:cubicBezTo>
                  <a:cubicBezTo>
                    <a:pt x="9242322" y="2707791"/>
                    <a:pt x="9269041" y="2853474"/>
                    <a:pt x="9286787" y="3000164"/>
                  </a:cubicBezTo>
                  <a:cubicBezTo>
                    <a:pt x="9304977" y="3146856"/>
                    <a:pt x="9314097" y="3294698"/>
                    <a:pt x="9312914" y="3442493"/>
                  </a:cubicBezTo>
                  <a:cubicBezTo>
                    <a:pt x="9309906" y="3737987"/>
                    <a:pt x="9270717" y="4033288"/>
                    <a:pt x="9190562" y="4316686"/>
                  </a:cubicBezTo>
                  <a:cubicBezTo>
                    <a:pt x="9150486" y="4458240"/>
                    <a:pt x="9103951" y="4597587"/>
                    <a:pt x="9043416" y="4734917"/>
                  </a:cubicBezTo>
                  <a:cubicBezTo>
                    <a:pt x="8982980" y="4871817"/>
                    <a:pt x="8908740" y="5007131"/>
                    <a:pt x="8809657" y="5128718"/>
                  </a:cubicBezTo>
                  <a:cubicBezTo>
                    <a:pt x="8760312" y="5189247"/>
                    <a:pt x="8706137" y="5246945"/>
                    <a:pt x="8645997" y="5297441"/>
                  </a:cubicBezTo>
                  <a:cubicBezTo>
                    <a:pt x="8586252" y="5348274"/>
                    <a:pt x="8522809" y="5393730"/>
                    <a:pt x="8457787" y="5433763"/>
                  </a:cubicBezTo>
                  <a:cubicBezTo>
                    <a:pt x="8392816" y="5474132"/>
                    <a:pt x="8326219" y="5508213"/>
                    <a:pt x="8260803" y="5541237"/>
                  </a:cubicBezTo>
                  <a:cubicBezTo>
                    <a:pt x="8195289" y="5574071"/>
                    <a:pt x="8130023" y="5604838"/>
                    <a:pt x="8066136" y="5635704"/>
                  </a:cubicBezTo>
                  <a:cubicBezTo>
                    <a:pt x="7938313" y="5697433"/>
                    <a:pt x="7815222" y="5762186"/>
                    <a:pt x="7698638" y="5837163"/>
                  </a:cubicBezTo>
                  <a:cubicBezTo>
                    <a:pt x="7582449" y="5912381"/>
                    <a:pt x="7471881" y="5996094"/>
                    <a:pt x="7370135" y="6090081"/>
                  </a:cubicBezTo>
                  <a:cubicBezTo>
                    <a:pt x="7319460" y="6136593"/>
                    <a:pt x="7268881" y="6186082"/>
                    <a:pt x="7218897" y="6235860"/>
                  </a:cubicBezTo>
                  <a:cubicBezTo>
                    <a:pt x="7168763" y="6285493"/>
                    <a:pt x="7119665" y="6336229"/>
                    <a:pt x="7070665" y="6387205"/>
                  </a:cubicBezTo>
                  <a:cubicBezTo>
                    <a:pt x="6972715" y="6489208"/>
                    <a:pt x="6876195" y="6593131"/>
                    <a:pt x="6779035" y="6697100"/>
                  </a:cubicBezTo>
                  <a:cubicBezTo>
                    <a:pt x="6730379" y="6748989"/>
                    <a:pt x="6681528" y="6800878"/>
                    <a:pt x="6631837" y="6852239"/>
                  </a:cubicBezTo>
                  <a:lnTo>
                    <a:pt x="6626221" y="6858000"/>
                  </a:lnTo>
                  <a:lnTo>
                    <a:pt x="6424725" y="6858000"/>
                  </a:lnTo>
                  <a:lnTo>
                    <a:pt x="6527382" y="6756333"/>
                  </a:lnTo>
                  <a:cubicBezTo>
                    <a:pt x="6576726" y="6705932"/>
                    <a:pt x="6625480" y="6654811"/>
                    <a:pt x="6674233" y="6603450"/>
                  </a:cubicBezTo>
                  <a:cubicBezTo>
                    <a:pt x="6771788" y="6500920"/>
                    <a:pt x="6868309" y="6396757"/>
                    <a:pt x="6965813" y="6292932"/>
                  </a:cubicBezTo>
                  <a:lnTo>
                    <a:pt x="7112961" y="6137505"/>
                  </a:lnTo>
                  <a:cubicBezTo>
                    <a:pt x="7162354" y="6085808"/>
                    <a:pt x="7211945" y="6034640"/>
                    <a:pt x="7264790" y="5983710"/>
                  </a:cubicBezTo>
                  <a:cubicBezTo>
                    <a:pt x="7472373" y="5779130"/>
                    <a:pt x="7721610" y="5610648"/>
                    <a:pt x="7974595" y="5470773"/>
                  </a:cubicBezTo>
                  <a:cubicBezTo>
                    <a:pt x="8099903" y="5399395"/>
                    <a:pt x="8224127" y="5332529"/>
                    <a:pt x="8331591" y="5254048"/>
                  </a:cubicBezTo>
                  <a:cubicBezTo>
                    <a:pt x="8439351" y="5176047"/>
                    <a:pt x="8529660" y="5085949"/>
                    <a:pt x="8599807" y="4980010"/>
                  </a:cubicBezTo>
                  <a:cubicBezTo>
                    <a:pt x="8671187" y="4875128"/>
                    <a:pt x="8723982" y="4756086"/>
                    <a:pt x="8766474" y="4631524"/>
                  </a:cubicBezTo>
                  <a:cubicBezTo>
                    <a:pt x="8808968" y="4507010"/>
                    <a:pt x="8840615" y="4375872"/>
                    <a:pt x="8865755" y="4244445"/>
                  </a:cubicBezTo>
                  <a:cubicBezTo>
                    <a:pt x="8871375" y="4211468"/>
                    <a:pt x="8878129" y="4178731"/>
                    <a:pt x="8882911" y="4145659"/>
                  </a:cubicBezTo>
                  <a:lnTo>
                    <a:pt x="8897403" y="4046633"/>
                  </a:lnTo>
                  <a:lnTo>
                    <a:pt x="8908298" y="3947271"/>
                  </a:lnTo>
                  <a:cubicBezTo>
                    <a:pt x="8912389" y="3914247"/>
                    <a:pt x="8913425" y="3880886"/>
                    <a:pt x="8916184" y="3847765"/>
                  </a:cubicBezTo>
                  <a:cubicBezTo>
                    <a:pt x="8925797" y="3715091"/>
                    <a:pt x="8925945" y="3582127"/>
                    <a:pt x="8920670" y="3449597"/>
                  </a:cubicBezTo>
                  <a:lnTo>
                    <a:pt x="8914607" y="3350283"/>
                  </a:lnTo>
                  <a:cubicBezTo>
                    <a:pt x="8911995" y="3317211"/>
                    <a:pt x="8908348" y="3284233"/>
                    <a:pt x="8905340" y="3251209"/>
                  </a:cubicBezTo>
                  <a:cubicBezTo>
                    <a:pt x="8902628" y="3218185"/>
                    <a:pt x="8897551" y="3185305"/>
                    <a:pt x="8893854" y="3152376"/>
                  </a:cubicBezTo>
                  <a:cubicBezTo>
                    <a:pt x="8890305" y="3119399"/>
                    <a:pt x="8884932" y="3086662"/>
                    <a:pt x="8879706" y="3053878"/>
                  </a:cubicBezTo>
                  <a:cubicBezTo>
                    <a:pt x="8858707" y="2922835"/>
                    <a:pt x="8831249" y="2792705"/>
                    <a:pt x="8797531" y="2663966"/>
                  </a:cubicBezTo>
                  <a:cubicBezTo>
                    <a:pt x="8728616" y="2406777"/>
                    <a:pt x="8635497" y="2155109"/>
                    <a:pt x="8520442" y="1911983"/>
                  </a:cubicBezTo>
                  <a:cubicBezTo>
                    <a:pt x="8462667" y="1790541"/>
                    <a:pt x="8400112" y="1670923"/>
                    <a:pt x="8332626" y="1553608"/>
                  </a:cubicBezTo>
                  <a:cubicBezTo>
                    <a:pt x="8265683" y="1436006"/>
                    <a:pt x="8192973" y="1321188"/>
                    <a:pt x="8116317" y="1208529"/>
                  </a:cubicBezTo>
                  <a:cubicBezTo>
                    <a:pt x="8039811" y="1095776"/>
                    <a:pt x="7958079" y="986094"/>
                    <a:pt x="7873293" y="878284"/>
                  </a:cubicBezTo>
                  <a:cubicBezTo>
                    <a:pt x="7787814" y="771002"/>
                    <a:pt x="7697999" y="666551"/>
                    <a:pt x="7604337" y="565125"/>
                  </a:cubicBezTo>
                  <a:cubicBezTo>
                    <a:pt x="7510479" y="463891"/>
                    <a:pt x="7413367" y="364818"/>
                    <a:pt x="7311128" y="270591"/>
                  </a:cubicBezTo>
                  <a:close/>
                  <a:moveTo>
                    <a:pt x="1752019" y="0"/>
                  </a:moveTo>
                  <a:lnTo>
                    <a:pt x="2155804" y="0"/>
                  </a:lnTo>
                  <a:lnTo>
                    <a:pt x="2103975" y="40789"/>
                  </a:lnTo>
                  <a:cubicBezTo>
                    <a:pt x="1943592" y="173585"/>
                    <a:pt x="1793955" y="317500"/>
                    <a:pt x="1656310" y="470035"/>
                  </a:cubicBezTo>
                  <a:cubicBezTo>
                    <a:pt x="1288172" y="876939"/>
                    <a:pt x="1002998" y="1344708"/>
                    <a:pt x="806013" y="1841133"/>
                  </a:cubicBezTo>
                  <a:cubicBezTo>
                    <a:pt x="707818" y="2089538"/>
                    <a:pt x="630868" y="2345480"/>
                    <a:pt x="580685" y="2606364"/>
                  </a:cubicBezTo>
                  <a:cubicBezTo>
                    <a:pt x="530749" y="2867250"/>
                    <a:pt x="504868" y="3132119"/>
                    <a:pt x="503489" y="3397276"/>
                  </a:cubicBezTo>
                  <a:cubicBezTo>
                    <a:pt x="501467" y="3662434"/>
                    <a:pt x="524093" y="3927351"/>
                    <a:pt x="570135" y="4188235"/>
                  </a:cubicBezTo>
                  <a:cubicBezTo>
                    <a:pt x="615734" y="4449264"/>
                    <a:pt x="688642" y="4705493"/>
                    <a:pt x="783387" y="4953850"/>
                  </a:cubicBezTo>
                  <a:cubicBezTo>
                    <a:pt x="974357" y="5449796"/>
                    <a:pt x="1259630" y="5913773"/>
                    <a:pt x="1628014" y="6308245"/>
                  </a:cubicBezTo>
                  <a:cubicBezTo>
                    <a:pt x="1812182" y="6505481"/>
                    <a:pt x="2016215" y="6685052"/>
                    <a:pt x="2235998" y="6844829"/>
                  </a:cubicBezTo>
                  <a:lnTo>
                    <a:pt x="2255028" y="6858000"/>
                  </a:lnTo>
                  <a:lnTo>
                    <a:pt x="1578787" y="6858000"/>
                  </a:lnTo>
                  <a:lnTo>
                    <a:pt x="1465153" y="6759050"/>
                  </a:lnTo>
                  <a:cubicBezTo>
                    <a:pt x="1410086" y="6708726"/>
                    <a:pt x="1356236" y="6657104"/>
                    <a:pt x="1303650" y="6604267"/>
                  </a:cubicBezTo>
                  <a:cubicBezTo>
                    <a:pt x="883506" y="6181043"/>
                    <a:pt x="548150" y="5676072"/>
                    <a:pt x="323708" y="5126365"/>
                  </a:cubicBezTo>
                  <a:cubicBezTo>
                    <a:pt x="97737" y="4577139"/>
                    <a:pt x="-10958" y="3981927"/>
                    <a:pt x="872" y="3391228"/>
                  </a:cubicBezTo>
                  <a:cubicBezTo>
                    <a:pt x="5951" y="3095783"/>
                    <a:pt x="40506" y="2800528"/>
                    <a:pt x="105428" y="2511899"/>
                  </a:cubicBezTo>
                  <a:cubicBezTo>
                    <a:pt x="170104" y="2223317"/>
                    <a:pt x="262089" y="1940399"/>
                    <a:pt x="384933" y="1670971"/>
                  </a:cubicBezTo>
                  <a:cubicBezTo>
                    <a:pt x="629092" y="1131344"/>
                    <a:pt x="991955" y="646919"/>
                    <a:pt x="1433593" y="256095"/>
                  </a:cubicBezTo>
                  <a:cubicBezTo>
                    <a:pt x="1488791" y="207206"/>
                    <a:pt x="1545179" y="159733"/>
                    <a:pt x="1602664" y="113704"/>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36" name="Freeform: Shape 14">
              <a:extLst>
                <a:ext uri="{FF2B5EF4-FFF2-40B4-BE49-F238E27FC236}">
                  <a16:creationId xmlns:a16="http://schemas.microsoft.com/office/drawing/2014/main" id="{740ABB98-77BA-4C40-8121-34D196E58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59468" y="36937"/>
              <a:ext cx="9065550" cy="6858000"/>
            </a:xfrm>
            <a:custGeom>
              <a:avLst/>
              <a:gdLst>
                <a:gd name="connsiteX0" fmla="*/ 1839951 w 9065550"/>
                <a:gd name="connsiteY0" fmla="*/ 0 h 6858000"/>
                <a:gd name="connsiteX1" fmla="*/ 6979427 w 9065550"/>
                <a:gd name="connsiteY1" fmla="*/ 0 h 6858000"/>
                <a:gd name="connsiteX2" fmla="*/ 6989586 w 9065550"/>
                <a:gd name="connsiteY2" fmla="*/ 6825 h 6858000"/>
                <a:gd name="connsiteX3" fmla="*/ 8932062 w 9065550"/>
                <a:gd name="connsiteY3" fmla="*/ 4580835 h 6858000"/>
                <a:gd name="connsiteX4" fmla="*/ 7166294 w 9065550"/>
                <a:gd name="connsiteY4" fmla="*/ 6259703 h 6858000"/>
                <a:gd name="connsiteX5" fmla="*/ 6868878 w 9065550"/>
                <a:gd name="connsiteY5" fmla="*/ 6564765 h 6858000"/>
                <a:gd name="connsiteX6" fmla="*/ 6591881 w 9065550"/>
                <a:gd name="connsiteY6" fmla="*/ 6858000 h 6858000"/>
                <a:gd name="connsiteX7" fmla="*/ 5184648 w 9065550"/>
                <a:gd name="connsiteY7" fmla="*/ 6858000 h 6858000"/>
                <a:gd name="connsiteX8" fmla="*/ 5244877 w 9065550"/>
                <a:gd name="connsiteY8" fmla="*/ 6817615 h 6858000"/>
                <a:gd name="connsiteX9" fmla="*/ 6033853 w 9065550"/>
                <a:gd name="connsiteY9" fmla="*/ 6069135 h 6858000"/>
                <a:gd name="connsiteX10" fmla="*/ 6480248 w 9065550"/>
                <a:gd name="connsiteY10" fmla="*/ 5607082 h 6858000"/>
                <a:gd name="connsiteX11" fmla="*/ 7551502 w 9065550"/>
                <a:gd name="connsiteY11" fmla="*/ 4859004 h 6858000"/>
                <a:gd name="connsiteX12" fmla="*/ 7844227 w 9065550"/>
                <a:gd name="connsiteY12" fmla="*/ 4683074 h 6858000"/>
                <a:gd name="connsiteX13" fmla="*/ 8005810 w 9065550"/>
                <a:gd name="connsiteY13" fmla="*/ 4330239 h 6858000"/>
                <a:gd name="connsiteX14" fmla="*/ 8016191 w 9065550"/>
                <a:gd name="connsiteY14" fmla="*/ 2956574 h 6858000"/>
                <a:gd name="connsiteX15" fmla="*/ 7346424 w 9065550"/>
                <a:gd name="connsiteY15" fmla="*/ 1636739 h 6858000"/>
                <a:gd name="connsiteX16" fmla="*/ 5995751 w 9065550"/>
                <a:gd name="connsiteY16" fmla="*/ 493319 h 6858000"/>
                <a:gd name="connsiteX17" fmla="*/ 4494836 w 9065550"/>
                <a:gd name="connsiteY17" fmla="*/ 75383 h 6858000"/>
                <a:gd name="connsiteX18" fmla="*/ 2002499 w 9065550"/>
                <a:gd name="connsiteY18" fmla="*/ 1094261 h 6858000"/>
                <a:gd name="connsiteX19" fmla="*/ 1241306 w 9065550"/>
                <a:gd name="connsiteY19" fmla="*/ 2206935 h 6858000"/>
                <a:gd name="connsiteX20" fmla="*/ 961736 w 9065550"/>
                <a:gd name="connsiteY20" fmla="*/ 3573719 h 6858000"/>
                <a:gd name="connsiteX21" fmla="*/ 1193878 w 9065550"/>
                <a:gd name="connsiteY21" fmla="*/ 4824208 h 6858000"/>
                <a:gd name="connsiteX22" fmla="*/ 1832096 w 9065550"/>
                <a:gd name="connsiteY22" fmla="*/ 5873050 h 6858000"/>
                <a:gd name="connsiteX23" fmla="*/ 3010752 w 9065550"/>
                <a:gd name="connsiteY23" fmla="*/ 6749475 h 6858000"/>
                <a:gd name="connsiteX24" fmla="*/ 3187037 w 9065550"/>
                <a:gd name="connsiteY24" fmla="*/ 6824756 h 6858000"/>
                <a:gd name="connsiteX25" fmla="*/ 3278211 w 9065550"/>
                <a:gd name="connsiteY25" fmla="*/ 6858000 h 6858000"/>
                <a:gd name="connsiteX26" fmla="*/ 1480830 w 9065550"/>
                <a:gd name="connsiteY26" fmla="*/ 6858000 h 6858000"/>
                <a:gd name="connsiteX27" fmla="*/ 1427607 w 9065550"/>
                <a:gd name="connsiteY27" fmla="*/ 6811515 h 6858000"/>
                <a:gd name="connsiteX28" fmla="*/ 1100739 w 9065550"/>
                <a:gd name="connsiteY28" fmla="*/ 6477651 h 6858000"/>
                <a:gd name="connsiteX29" fmla="*/ 0 w 9065550"/>
                <a:gd name="connsiteY29" fmla="*/ 3573620 h 6858000"/>
                <a:gd name="connsiteX30" fmla="*/ 1805513 w 9065550"/>
                <a:gd name="connsiteY30" fmla="*/ 241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9065550" h="6858000">
                  <a:moveTo>
                    <a:pt x="1839951" y="0"/>
                  </a:moveTo>
                  <a:lnTo>
                    <a:pt x="6979427" y="0"/>
                  </a:lnTo>
                  <a:lnTo>
                    <a:pt x="6989586" y="6825"/>
                  </a:lnTo>
                  <a:cubicBezTo>
                    <a:pt x="8438828" y="1031353"/>
                    <a:pt x="9439169" y="2823601"/>
                    <a:pt x="8932062" y="4580835"/>
                  </a:cubicBezTo>
                  <a:cubicBezTo>
                    <a:pt x="8592517" y="5757293"/>
                    <a:pt x="7979652" y="5458140"/>
                    <a:pt x="7166294" y="6259703"/>
                  </a:cubicBezTo>
                  <a:cubicBezTo>
                    <a:pt x="7064618" y="6359905"/>
                    <a:pt x="6966014" y="6462297"/>
                    <a:pt x="6868878" y="6564765"/>
                  </a:cubicBezTo>
                  <a:lnTo>
                    <a:pt x="6591881" y="6858000"/>
                  </a:lnTo>
                  <a:lnTo>
                    <a:pt x="5184648" y="6858000"/>
                  </a:lnTo>
                  <a:lnTo>
                    <a:pt x="5244877" y="6817615"/>
                  </a:lnTo>
                  <a:cubicBezTo>
                    <a:pt x="5481027" y="6649287"/>
                    <a:pt x="5723665" y="6398593"/>
                    <a:pt x="6033853" y="6069135"/>
                  </a:cubicBezTo>
                  <a:cubicBezTo>
                    <a:pt x="6175680" y="5918484"/>
                    <a:pt x="6322395" y="5762660"/>
                    <a:pt x="6480248" y="5607082"/>
                  </a:cubicBezTo>
                  <a:cubicBezTo>
                    <a:pt x="6893276" y="5200077"/>
                    <a:pt x="7273697" y="5002920"/>
                    <a:pt x="7551502" y="4859004"/>
                  </a:cubicBezTo>
                  <a:cubicBezTo>
                    <a:pt x="7687884" y="4788339"/>
                    <a:pt x="7795540" y="4732559"/>
                    <a:pt x="7844227" y="4683074"/>
                  </a:cubicBezTo>
                  <a:cubicBezTo>
                    <a:pt x="7898759" y="4627636"/>
                    <a:pt x="7956165" y="4502313"/>
                    <a:pt x="8005810" y="4330239"/>
                  </a:cubicBezTo>
                  <a:cubicBezTo>
                    <a:pt x="8132968" y="3889611"/>
                    <a:pt x="8136446" y="3427460"/>
                    <a:pt x="8016191" y="2956574"/>
                  </a:cubicBezTo>
                  <a:cubicBezTo>
                    <a:pt x="7900876" y="2505064"/>
                    <a:pt x="7669287" y="2048671"/>
                    <a:pt x="7346424" y="1636739"/>
                  </a:cubicBezTo>
                  <a:cubicBezTo>
                    <a:pt x="6979764" y="1168830"/>
                    <a:pt x="6512706" y="773489"/>
                    <a:pt x="5995751" y="493319"/>
                  </a:cubicBezTo>
                  <a:cubicBezTo>
                    <a:pt x="5491195" y="219884"/>
                    <a:pt x="4972174" y="75383"/>
                    <a:pt x="4494836" y="75383"/>
                  </a:cubicBezTo>
                  <a:cubicBezTo>
                    <a:pt x="3554318" y="75383"/>
                    <a:pt x="2669191" y="437197"/>
                    <a:pt x="2002499" y="1094261"/>
                  </a:cubicBezTo>
                  <a:cubicBezTo>
                    <a:pt x="1676360" y="1415667"/>
                    <a:pt x="1420225" y="1790023"/>
                    <a:pt x="1241306" y="2206935"/>
                  </a:cubicBezTo>
                  <a:cubicBezTo>
                    <a:pt x="1055782" y="2639169"/>
                    <a:pt x="961736" y="3099027"/>
                    <a:pt x="961736" y="3573719"/>
                  </a:cubicBezTo>
                  <a:cubicBezTo>
                    <a:pt x="961736" y="4005124"/>
                    <a:pt x="1039805" y="4425841"/>
                    <a:pt x="1193878" y="4824208"/>
                  </a:cubicBezTo>
                  <a:cubicBezTo>
                    <a:pt x="1342457" y="5208423"/>
                    <a:pt x="1557214" y="5561306"/>
                    <a:pt x="1832096" y="5873050"/>
                  </a:cubicBezTo>
                  <a:cubicBezTo>
                    <a:pt x="2157126" y="6241599"/>
                    <a:pt x="2564661" y="6544656"/>
                    <a:pt x="3010752" y="6749475"/>
                  </a:cubicBezTo>
                  <a:cubicBezTo>
                    <a:pt x="3069003" y="6776219"/>
                    <a:pt x="3127773" y="6801314"/>
                    <a:pt x="3187037" y="6824756"/>
                  </a:cubicBezTo>
                  <a:lnTo>
                    <a:pt x="3278211" y="6858000"/>
                  </a:lnTo>
                  <a:lnTo>
                    <a:pt x="1480830" y="6858000"/>
                  </a:lnTo>
                  <a:lnTo>
                    <a:pt x="1427607" y="6811515"/>
                  </a:lnTo>
                  <a:cubicBezTo>
                    <a:pt x="1312870" y="6705919"/>
                    <a:pt x="1203751" y="6594470"/>
                    <a:pt x="1100739" y="6477651"/>
                  </a:cubicBezTo>
                  <a:cubicBezTo>
                    <a:pt x="415045" y="5700097"/>
                    <a:pt x="0" y="4684635"/>
                    <a:pt x="0" y="3573620"/>
                  </a:cubicBezTo>
                  <a:cubicBezTo>
                    <a:pt x="0" y="2121118"/>
                    <a:pt x="709459" y="831902"/>
                    <a:pt x="1805513" y="24133"/>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37" name="Freeform: Shape 15">
              <a:extLst>
                <a:ext uri="{FF2B5EF4-FFF2-40B4-BE49-F238E27FC236}">
                  <a16:creationId xmlns:a16="http://schemas.microsoft.com/office/drawing/2014/main" id="{41AA752E-66C1-4835-8A3C-556475159D6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48217" y="36937"/>
              <a:ext cx="9088051" cy="6858000"/>
            </a:xfrm>
            <a:custGeom>
              <a:avLst/>
              <a:gdLst>
                <a:gd name="connsiteX0" fmla="*/ 5158786 w 9088051"/>
                <a:gd name="connsiteY0" fmla="*/ 0 h 6858000"/>
                <a:gd name="connsiteX1" fmla="*/ 6996771 w 9088051"/>
                <a:gd name="connsiteY1" fmla="*/ 0 h 6858000"/>
                <a:gd name="connsiteX2" fmla="*/ 7006955 w 9088051"/>
                <a:gd name="connsiteY2" fmla="*/ 6825 h 6858000"/>
                <a:gd name="connsiteX3" fmla="*/ 8954230 w 9088051"/>
                <a:gd name="connsiteY3" fmla="*/ 4580835 h 6858000"/>
                <a:gd name="connsiteX4" fmla="*/ 7184080 w 9088051"/>
                <a:gd name="connsiteY4" fmla="*/ 6259703 h 6858000"/>
                <a:gd name="connsiteX5" fmla="*/ 6885926 w 9088051"/>
                <a:gd name="connsiteY5" fmla="*/ 6564765 h 6858000"/>
                <a:gd name="connsiteX6" fmla="*/ 6608241 w 9088051"/>
                <a:gd name="connsiteY6" fmla="*/ 6858000 h 6858000"/>
                <a:gd name="connsiteX7" fmla="*/ 5462870 w 9088051"/>
                <a:gd name="connsiteY7" fmla="*/ 6858000 h 6858000"/>
                <a:gd name="connsiteX8" fmla="*/ 5529056 w 9088051"/>
                <a:gd name="connsiteY8" fmla="*/ 6804645 h 6858000"/>
                <a:gd name="connsiteX9" fmla="*/ 6167613 w 9088051"/>
                <a:gd name="connsiteY9" fmla="*/ 6173667 h 6858000"/>
                <a:gd name="connsiteX10" fmla="*/ 6610973 w 9088051"/>
                <a:gd name="connsiteY10" fmla="*/ 5715860 h 6858000"/>
                <a:gd name="connsiteX11" fmla="*/ 7646083 w 9088051"/>
                <a:gd name="connsiteY11" fmla="*/ 4995842 h 6858000"/>
                <a:gd name="connsiteX12" fmla="*/ 7980054 w 9088051"/>
                <a:gd name="connsiteY12" fmla="*/ 4790095 h 6858000"/>
                <a:gd name="connsiteX13" fmla="*/ 8180437 w 9088051"/>
                <a:gd name="connsiteY13" fmla="*/ 4371964 h 6858000"/>
                <a:gd name="connsiteX14" fmla="*/ 8192058 w 9088051"/>
                <a:gd name="connsiteY14" fmla="*/ 2919242 h 6858000"/>
                <a:gd name="connsiteX15" fmla="*/ 7492638 w 9088051"/>
                <a:gd name="connsiteY15" fmla="*/ 1542845 h 6858000"/>
                <a:gd name="connsiteX16" fmla="*/ 6089097 w 9088051"/>
                <a:gd name="connsiteY16" fmla="*/ 357847 h 6858000"/>
                <a:gd name="connsiteX17" fmla="*/ 5288639 w 9088051"/>
                <a:gd name="connsiteY17" fmla="*/ 31627 h 6858000"/>
                <a:gd name="connsiteX18" fmla="*/ 1844517 w 9088051"/>
                <a:gd name="connsiteY18" fmla="*/ 0 h 6858000"/>
                <a:gd name="connsiteX19" fmla="*/ 3734467 w 9088051"/>
                <a:gd name="connsiteY19" fmla="*/ 0 h 6858000"/>
                <a:gd name="connsiteX20" fmla="*/ 3603618 w 9088051"/>
                <a:gd name="connsiteY20" fmla="*/ 28853 h 6858000"/>
                <a:gd name="connsiteX21" fmla="*/ 1892878 w 9088051"/>
                <a:gd name="connsiteY21" fmla="*/ 985434 h 6858000"/>
                <a:gd name="connsiteX22" fmla="*/ 1096045 w 9088051"/>
                <a:gd name="connsiteY22" fmla="*/ 2147349 h 6858000"/>
                <a:gd name="connsiteX23" fmla="*/ 803453 w 9088051"/>
                <a:gd name="connsiteY23" fmla="*/ 3573669 h 6858000"/>
                <a:gd name="connsiteX24" fmla="*/ 1046377 w 9088051"/>
                <a:gd name="connsiteY24" fmla="*/ 4878573 h 6858000"/>
                <a:gd name="connsiteX25" fmla="*/ 1714473 w 9088051"/>
                <a:gd name="connsiteY25" fmla="*/ 5973776 h 6858000"/>
                <a:gd name="connsiteX26" fmla="*/ 2776083 w 9088051"/>
                <a:gd name="connsiteY26" fmla="*/ 6804641 h 6858000"/>
                <a:gd name="connsiteX27" fmla="*/ 2884836 w 9088051"/>
                <a:gd name="connsiteY27" fmla="*/ 6858000 h 6858000"/>
                <a:gd name="connsiteX28" fmla="*/ 1484505 w 9088051"/>
                <a:gd name="connsiteY28" fmla="*/ 6858000 h 6858000"/>
                <a:gd name="connsiteX29" fmla="*/ 1431151 w 9088051"/>
                <a:gd name="connsiteY29" fmla="*/ 6811515 h 6858000"/>
                <a:gd name="connsiteX30" fmla="*/ 1103471 w 9088051"/>
                <a:gd name="connsiteY30" fmla="*/ 6477651 h 6858000"/>
                <a:gd name="connsiteX31" fmla="*/ 0 w 9088051"/>
                <a:gd name="connsiteY31" fmla="*/ 3573620 h 6858000"/>
                <a:gd name="connsiteX32" fmla="*/ 1809994 w 9088051"/>
                <a:gd name="connsiteY32" fmla="*/ 241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9088051" h="6858000">
                  <a:moveTo>
                    <a:pt x="5158786" y="0"/>
                  </a:moveTo>
                  <a:lnTo>
                    <a:pt x="6996771" y="0"/>
                  </a:lnTo>
                  <a:lnTo>
                    <a:pt x="7006955" y="6825"/>
                  </a:lnTo>
                  <a:cubicBezTo>
                    <a:pt x="8459794" y="1031353"/>
                    <a:pt x="9462596" y="2823601"/>
                    <a:pt x="8954230" y="4580835"/>
                  </a:cubicBezTo>
                  <a:cubicBezTo>
                    <a:pt x="8613842" y="5757293"/>
                    <a:pt x="7999457" y="5458140"/>
                    <a:pt x="7184080" y="6259703"/>
                  </a:cubicBezTo>
                  <a:cubicBezTo>
                    <a:pt x="7082152" y="6359905"/>
                    <a:pt x="6983303" y="6462297"/>
                    <a:pt x="6885926" y="6564765"/>
                  </a:cubicBezTo>
                  <a:lnTo>
                    <a:pt x="6608241" y="6858000"/>
                  </a:lnTo>
                  <a:lnTo>
                    <a:pt x="5462870" y="6858000"/>
                  </a:lnTo>
                  <a:lnTo>
                    <a:pt x="5529056" y="6804645"/>
                  </a:lnTo>
                  <a:cubicBezTo>
                    <a:pt x="5740217" y="6626505"/>
                    <a:pt x="5949382" y="6404876"/>
                    <a:pt x="6167613" y="6173667"/>
                  </a:cubicBezTo>
                  <a:cubicBezTo>
                    <a:pt x="6308782" y="6024091"/>
                    <a:pt x="6454799" y="5869390"/>
                    <a:pt x="6610973" y="5715860"/>
                  </a:cubicBezTo>
                  <a:cubicBezTo>
                    <a:pt x="7007847" y="5325741"/>
                    <a:pt x="7376733" y="5135074"/>
                    <a:pt x="7646083" y="4995842"/>
                  </a:cubicBezTo>
                  <a:cubicBezTo>
                    <a:pt x="7816858" y="4907561"/>
                    <a:pt x="7916545" y="4854514"/>
                    <a:pt x="7980054" y="4790095"/>
                  </a:cubicBezTo>
                  <a:cubicBezTo>
                    <a:pt x="8054629" y="4714405"/>
                    <a:pt x="8122031" y="4573758"/>
                    <a:pt x="8180437" y="4371964"/>
                  </a:cubicBezTo>
                  <a:cubicBezTo>
                    <a:pt x="8315441" y="3905228"/>
                    <a:pt x="8319381" y="3416431"/>
                    <a:pt x="8192058" y="2919242"/>
                  </a:cubicBezTo>
                  <a:cubicBezTo>
                    <a:pt x="8071251" y="2447381"/>
                    <a:pt x="7829388" y="1971467"/>
                    <a:pt x="7492638" y="1542845"/>
                  </a:cubicBezTo>
                  <a:cubicBezTo>
                    <a:pt x="7111829" y="1058099"/>
                    <a:pt x="6626484" y="648361"/>
                    <a:pt x="6089097" y="357847"/>
                  </a:cubicBezTo>
                  <a:cubicBezTo>
                    <a:pt x="5824244" y="214687"/>
                    <a:pt x="5554957" y="105262"/>
                    <a:pt x="5288639" y="31627"/>
                  </a:cubicBezTo>
                  <a:close/>
                  <a:moveTo>
                    <a:pt x="1844517" y="0"/>
                  </a:moveTo>
                  <a:lnTo>
                    <a:pt x="3734467" y="0"/>
                  </a:lnTo>
                  <a:lnTo>
                    <a:pt x="3603618" y="28853"/>
                  </a:lnTo>
                  <a:cubicBezTo>
                    <a:pt x="2962049" y="186733"/>
                    <a:pt x="2373277" y="513136"/>
                    <a:pt x="1892878" y="985434"/>
                  </a:cubicBezTo>
                  <a:cubicBezTo>
                    <a:pt x="1551428" y="1321091"/>
                    <a:pt x="1283341" y="1711990"/>
                    <a:pt x="1096045" y="2147349"/>
                  </a:cubicBezTo>
                  <a:cubicBezTo>
                    <a:pt x="901876" y="2598519"/>
                    <a:pt x="803453" y="3078432"/>
                    <a:pt x="803453" y="3573669"/>
                  </a:cubicBezTo>
                  <a:cubicBezTo>
                    <a:pt x="803453" y="4023717"/>
                    <a:pt x="885151" y="4462735"/>
                    <a:pt x="1046377" y="4878573"/>
                  </a:cubicBezTo>
                  <a:cubicBezTo>
                    <a:pt x="1201945" y="5279770"/>
                    <a:pt x="1426681" y="5648221"/>
                    <a:pt x="1714473" y="5973776"/>
                  </a:cubicBezTo>
                  <a:cubicBezTo>
                    <a:pt x="2012357" y="6310732"/>
                    <a:pt x="2376505" y="6595304"/>
                    <a:pt x="2776083" y="6804641"/>
                  </a:cubicBezTo>
                  <a:lnTo>
                    <a:pt x="2884836" y="6858000"/>
                  </a:lnTo>
                  <a:lnTo>
                    <a:pt x="1484505" y="6858000"/>
                  </a:lnTo>
                  <a:lnTo>
                    <a:pt x="1431151" y="6811515"/>
                  </a:lnTo>
                  <a:cubicBezTo>
                    <a:pt x="1316128" y="6705919"/>
                    <a:pt x="1206738" y="6594470"/>
                    <a:pt x="1103471" y="6477651"/>
                  </a:cubicBezTo>
                  <a:cubicBezTo>
                    <a:pt x="416075" y="5700097"/>
                    <a:pt x="0" y="4684635"/>
                    <a:pt x="0" y="3573620"/>
                  </a:cubicBezTo>
                  <a:cubicBezTo>
                    <a:pt x="0" y="2121118"/>
                    <a:pt x="711220" y="831902"/>
                    <a:pt x="1809994" y="24133"/>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38" name="Freeform: Shape 16">
              <a:extLst>
                <a:ext uri="{FF2B5EF4-FFF2-40B4-BE49-F238E27FC236}">
                  <a16:creationId xmlns:a16="http://schemas.microsoft.com/office/drawing/2014/main" id="{EE9555AB-2295-4939-AEC9-B2CBFCB4CC7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29061" y="36937"/>
              <a:ext cx="9107210" cy="6858000"/>
            </a:xfrm>
            <a:custGeom>
              <a:avLst/>
              <a:gdLst>
                <a:gd name="connsiteX0" fmla="*/ 6184722 w 9107210"/>
                <a:gd name="connsiteY0" fmla="*/ 0 h 6858000"/>
                <a:gd name="connsiteX1" fmla="*/ 6985680 w 9107210"/>
                <a:gd name="connsiteY1" fmla="*/ 0 h 6858000"/>
                <a:gd name="connsiteX2" fmla="*/ 7324323 w 9107210"/>
                <a:gd name="connsiteY2" fmla="*/ 247136 h 6858000"/>
                <a:gd name="connsiteX3" fmla="*/ 7652712 w 9107210"/>
                <a:gd name="connsiteY3" fmla="*/ 528495 h 6858000"/>
                <a:gd name="connsiteX4" fmla="*/ 8236677 w 9107210"/>
                <a:gd name="connsiteY4" fmla="*/ 1166289 h 6858000"/>
                <a:gd name="connsiteX5" fmla="*/ 8704298 w 9107210"/>
                <a:gd name="connsiteY5" fmla="*/ 1897038 h 6858000"/>
                <a:gd name="connsiteX6" fmla="*/ 8885160 w 9107210"/>
                <a:gd name="connsiteY6" fmla="*/ 2294087 h 6858000"/>
                <a:gd name="connsiteX7" fmla="*/ 8924247 w 9107210"/>
                <a:gd name="connsiteY7" fmla="*/ 2396286 h 6858000"/>
                <a:gd name="connsiteX8" fmla="*/ 8960022 w 9107210"/>
                <a:gd name="connsiteY8" fmla="*/ 2499767 h 6858000"/>
                <a:gd name="connsiteX9" fmla="*/ 8991720 w 9107210"/>
                <a:gd name="connsiteY9" fmla="*/ 2604671 h 6858000"/>
                <a:gd name="connsiteX10" fmla="*/ 9019646 w 9107210"/>
                <a:gd name="connsiteY10" fmla="*/ 2710708 h 6858000"/>
                <a:gd name="connsiteX11" fmla="*/ 9105822 w 9107210"/>
                <a:gd name="connsiteY11" fmla="*/ 3582266 h 6858000"/>
                <a:gd name="connsiteX12" fmla="*/ 9057716 w 9107210"/>
                <a:gd name="connsiteY12" fmla="*/ 4017873 h 6858000"/>
                <a:gd name="connsiteX13" fmla="*/ 8945600 w 9107210"/>
                <a:gd name="connsiteY13" fmla="*/ 4439659 h 6858000"/>
                <a:gd name="connsiteX14" fmla="*/ 8796080 w 9107210"/>
                <a:gd name="connsiteY14" fmla="*/ 4847428 h 6858000"/>
                <a:gd name="connsiteX15" fmla="*/ 8702056 w 9107210"/>
                <a:gd name="connsiteY15" fmla="*/ 5050108 h 6858000"/>
                <a:gd name="connsiteX16" fmla="*/ 8581125 w 9107210"/>
                <a:gd name="connsiteY16" fmla="*/ 5247525 h 6858000"/>
                <a:gd name="connsiteX17" fmla="*/ 8426254 w 9107210"/>
                <a:gd name="connsiteY17" fmla="*/ 5429647 h 6858000"/>
                <a:gd name="connsiteX18" fmla="*/ 8337174 w 9107210"/>
                <a:gd name="connsiteY18" fmla="*/ 5510552 h 6858000"/>
                <a:gd name="connsiteX19" fmla="*/ 8243200 w 9107210"/>
                <a:gd name="connsiteY19" fmla="*/ 5582948 h 6858000"/>
                <a:gd name="connsiteX20" fmla="*/ 7868330 w 9107210"/>
                <a:gd name="connsiteY20" fmla="*/ 5811104 h 6858000"/>
                <a:gd name="connsiteX21" fmla="*/ 7538916 w 9107210"/>
                <a:gd name="connsiteY21" fmla="*/ 6018899 h 6858000"/>
                <a:gd name="connsiteX22" fmla="*/ 7391280 w 9107210"/>
                <a:gd name="connsiteY22" fmla="*/ 6134132 h 6858000"/>
                <a:gd name="connsiteX23" fmla="*/ 7252511 w 9107210"/>
                <a:gd name="connsiteY23" fmla="*/ 6259105 h 6858000"/>
                <a:gd name="connsiteX24" fmla="*/ 7185601 w 9107210"/>
                <a:gd name="connsiteY24" fmla="*/ 6325894 h 6858000"/>
                <a:gd name="connsiteX25" fmla="*/ 7116651 w 9107210"/>
                <a:gd name="connsiteY25" fmla="*/ 6397010 h 6858000"/>
                <a:gd name="connsiteX26" fmla="*/ 6978545 w 9107210"/>
                <a:gd name="connsiteY26" fmla="*/ 6541607 h 6858000"/>
                <a:gd name="connsiteX27" fmla="*/ 6693009 w 9107210"/>
                <a:gd name="connsiteY27" fmla="*/ 6832716 h 6858000"/>
                <a:gd name="connsiteX28" fmla="*/ 6667488 w 9107210"/>
                <a:gd name="connsiteY28" fmla="*/ 6858000 h 6858000"/>
                <a:gd name="connsiteX29" fmla="*/ 6056793 w 9107210"/>
                <a:gd name="connsiteY29" fmla="*/ 6858000 h 6858000"/>
                <a:gd name="connsiteX30" fmla="*/ 6077345 w 9107210"/>
                <a:gd name="connsiteY30" fmla="*/ 6835420 h 6858000"/>
                <a:gd name="connsiteX31" fmla="*/ 6208519 w 9107210"/>
                <a:gd name="connsiteY31" fmla="*/ 6683989 h 6858000"/>
                <a:gd name="connsiteX32" fmla="*/ 6340001 w 9107210"/>
                <a:gd name="connsiteY32" fmla="*/ 6529852 h 6858000"/>
                <a:gd name="connsiteX33" fmla="*/ 6611419 w 9107210"/>
                <a:gd name="connsiteY33" fmla="*/ 6219317 h 6858000"/>
                <a:gd name="connsiteX34" fmla="*/ 6757678 w 9107210"/>
                <a:gd name="connsiteY34" fmla="*/ 6068228 h 6858000"/>
                <a:gd name="connsiteX35" fmla="*/ 6833713 w 9107210"/>
                <a:gd name="connsiteY35" fmla="*/ 5994061 h 6858000"/>
                <a:gd name="connsiteX36" fmla="*/ 6915148 w 9107210"/>
                <a:gd name="connsiteY36" fmla="*/ 5918812 h 6858000"/>
                <a:gd name="connsiteX37" fmla="*/ 7276311 w 9107210"/>
                <a:gd name="connsiteY37" fmla="*/ 5650229 h 6858000"/>
                <a:gd name="connsiteX38" fmla="*/ 7664942 w 9107210"/>
                <a:gd name="connsiteY38" fmla="*/ 5445681 h 6858000"/>
                <a:gd name="connsiteX39" fmla="*/ 7848505 w 9107210"/>
                <a:gd name="connsiteY39" fmla="*/ 5358333 h 6858000"/>
                <a:gd name="connsiteX40" fmla="*/ 8011785 w 9107210"/>
                <a:gd name="connsiteY40" fmla="*/ 5267788 h 6858000"/>
                <a:gd name="connsiteX41" fmla="*/ 8260273 w 9107210"/>
                <a:gd name="connsiteY41" fmla="*/ 5034370 h 6858000"/>
                <a:gd name="connsiteX42" fmla="*/ 8417589 w 9107210"/>
                <a:gd name="connsiteY42" fmla="*/ 4714488 h 6858000"/>
                <a:gd name="connsiteX43" fmla="*/ 8495000 w 9107210"/>
                <a:gd name="connsiteY43" fmla="*/ 4346409 h 6858000"/>
                <a:gd name="connsiteX44" fmla="*/ 8508556 w 9107210"/>
                <a:gd name="connsiteY44" fmla="*/ 3971101 h 6858000"/>
                <a:gd name="connsiteX45" fmla="*/ 8483330 w 9107210"/>
                <a:gd name="connsiteY45" fmla="*/ 3600710 h 6858000"/>
                <a:gd name="connsiteX46" fmla="*/ 8425336 w 9107210"/>
                <a:gd name="connsiteY46" fmla="*/ 3236121 h 6858000"/>
                <a:gd name="connsiteX47" fmla="*/ 8334575 w 9107210"/>
                <a:gd name="connsiteY47" fmla="*/ 2877977 h 6858000"/>
                <a:gd name="connsiteX48" fmla="*/ 8087513 w 9107210"/>
                <a:gd name="connsiteY48" fmla="*/ 2174622 h 6858000"/>
                <a:gd name="connsiteX49" fmla="*/ 7723650 w 9107210"/>
                <a:gd name="connsiteY49" fmla="*/ 1507613 h 6858000"/>
                <a:gd name="connsiteX50" fmla="*/ 7501815 w 9107210"/>
                <a:gd name="connsiteY50" fmla="*/ 1192947 h 6858000"/>
                <a:gd name="connsiteX51" fmla="*/ 7254399 w 9107210"/>
                <a:gd name="connsiteY51" fmla="*/ 894361 h 6858000"/>
                <a:gd name="connsiteX52" fmla="*/ 6689339 w 9107210"/>
                <a:gd name="connsiteY52" fmla="*/ 354046 h 6858000"/>
                <a:gd name="connsiteX53" fmla="*/ 6206651 w 9107210"/>
                <a:gd name="connsiteY53" fmla="*/ 12626 h 6858000"/>
                <a:gd name="connsiteX54" fmla="*/ 1827105 w 9107210"/>
                <a:gd name="connsiteY54" fmla="*/ 0 h 6858000"/>
                <a:gd name="connsiteX55" fmla="*/ 2807607 w 9107210"/>
                <a:gd name="connsiteY55" fmla="*/ 0 h 6858000"/>
                <a:gd name="connsiteX56" fmla="*/ 2667958 w 9107210"/>
                <a:gd name="connsiteY56" fmla="*/ 88235 h 6858000"/>
                <a:gd name="connsiteX57" fmla="*/ 2354723 w 9107210"/>
                <a:gd name="connsiteY57" fmla="*/ 314947 h 6858000"/>
                <a:gd name="connsiteX58" fmla="*/ 2059963 w 9107210"/>
                <a:gd name="connsiteY58" fmla="*/ 561545 h 6858000"/>
                <a:gd name="connsiteX59" fmla="*/ 1780798 w 9107210"/>
                <a:gd name="connsiteY59" fmla="*/ 824425 h 6858000"/>
                <a:gd name="connsiteX60" fmla="*/ 954714 w 9107210"/>
                <a:gd name="connsiteY60" fmla="*/ 2094309 h 6858000"/>
                <a:gd name="connsiteX61" fmla="*/ 732676 w 9107210"/>
                <a:gd name="connsiteY61" fmla="*/ 2813646 h 6858000"/>
                <a:gd name="connsiteX62" fmla="*/ 673867 w 9107210"/>
                <a:gd name="connsiteY62" fmla="*/ 3183989 h 6858000"/>
                <a:gd name="connsiteX63" fmla="*/ 647621 w 9107210"/>
                <a:gd name="connsiteY63" fmla="*/ 3557281 h 6858000"/>
                <a:gd name="connsiteX64" fmla="*/ 653381 w 9107210"/>
                <a:gd name="connsiteY64" fmla="*/ 3931214 h 6858000"/>
                <a:gd name="connsiteX65" fmla="*/ 690428 w 9107210"/>
                <a:gd name="connsiteY65" fmla="*/ 4303719 h 6858000"/>
                <a:gd name="connsiteX66" fmla="*/ 871801 w 9107210"/>
                <a:gd name="connsiteY66" fmla="*/ 5033041 h 6858000"/>
                <a:gd name="connsiteX67" fmla="*/ 1197749 w 9107210"/>
                <a:gd name="connsiteY67" fmla="*/ 5718494 h 6858000"/>
                <a:gd name="connsiteX68" fmla="*/ 1411480 w 9107210"/>
                <a:gd name="connsiteY68" fmla="*/ 6036703 h 6858000"/>
                <a:gd name="connsiteX69" fmla="*/ 1530170 w 9107210"/>
                <a:gd name="connsiteY69" fmla="*/ 6188430 h 6858000"/>
                <a:gd name="connsiteX70" fmla="*/ 1657165 w 9107210"/>
                <a:gd name="connsiteY70" fmla="*/ 6335385 h 6858000"/>
                <a:gd name="connsiteX71" fmla="*/ 1931343 w 9107210"/>
                <a:gd name="connsiteY71" fmla="*/ 6612896 h 6858000"/>
                <a:gd name="connsiteX72" fmla="*/ 2220133 w 9107210"/>
                <a:gd name="connsiteY72" fmla="*/ 6858000 h 6858000"/>
                <a:gd name="connsiteX73" fmla="*/ 1539862 w 9107210"/>
                <a:gd name="connsiteY73" fmla="*/ 6858000 h 6858000"/>
                <a:gd name="connsiteX74" fmla="*/ 1307111 w 9107210"/>
                <a:gd name="connsiteY74" fmla="*/ 6648873 h 6858000"/>
                <a:gd name="connsiteX75" fmla="*/ 750258 w 9107210"/>
                <a:gd name="connsiteY75" fmla="*/ 5987570 h 6858000"/>
                <a:gd name="connsiteX76" fmla="*/ 335382 w 9107210"/>
                <a:gd name="connsiteY76" fmla="*/ 5229279 h 6858000"/>
                <a:gd name="connsiteX77" fmla="*/ 79351 w 9107210"/>
                <a:gd name="connsiteY77" fmla="*/ 4403854 h 6858000"/>
                <a:gd name="connsiteX78" fmla="*/ 16007 w 9107210"/>
                <a:gd name="connsiteY78" fmla="*/ 3975723 h 6858000"/>
                <a:gd name="connsiteX79" fmla="*/ 871 w 9107210"/>
                <a:gd name="connsiteY79" fmla="*/ 3543362 h 6858000"/>
                <a:gd name="connsiteX80" fmla="*/ 32519 w 9107210"/>
                <a:gd name="connsiteY80" fmla="*/ 3112085 h 6858000"/>
                <a:gd name="connsiteX81" fmla="*/ 108502 w 9107210"/>
                <a:gd name="connsiteY81" fmla="*/ 2686511 h 6858000"/>
                <a:gd name="connsiteX82" fmla="*/ 378239 w 9107210"/>
                <a:gd name="connsiteY82" fmla="*/ 1865955 h 6858000"/>
                <a:gd name="connsiteX83" fmla="*/ 1343701 w 9107210"/>
                <a:gd name="connsiteY83" fmla="*/ 431508 h 6858000"/>
                <a:gd name="connsiteX84" fmla="*/ 1661853 w 9107210"/>
                <a:gd name="connsiteY84" fmla="*/ 130268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Lst>
              <a:rect l="l" t="t" r="r" b="b"/>
              <a:pathLst>
                <a:path w="9107210" h="6858000">
                  <a:moveTo>
                    <a:pt x="6184722" y="0"/>
                  </a:moveTo>
                  <a:lnTo>
                    <a:pt x="6985680" y="0"/>
                  </a:lnTo>
                  <a:lnTo>
                    <a:pt x="7324323" y="247136"/>
                  </a:lnTo>
                  <a:cubicBezTo>
                    <a:pt x="7437502" y="336500"/>
                    <a:pt x="7547171" y="430254"/>
                    <a:pt x="7652712" y="528495"/>
                  </a:cubicBezTo>
                  <a:cubicBezTo>
                    <a:pt x="7863743" y="724929"/>
                    <a:pt x="8060097" y="937593"/>
                    <a:pt x="8236677" y="1166289"/>
                  </a:cubicBezTo>
                  <a:cubicBezTo>
                    <a:pt x="8413818" y="1394594"/>
                    <a:pt x="8570168" y="1639471"/>
                    <a:pt x="8704298" y="1897038"/>
                  </a:cubicBezTo>
                  <a:cubicBezTo>
                    <a:pt x="8770803" y="2026141"/>
                    <a:pt x="8830836" y="2158786"/>
                    <a:pt x="8885160" y="2294087"/>
                  </a:cubicBezTo>
                  <a:cubicBezTo>
                    <a:pt x="8898360" y="2328071"/>
                    <a:pt x="8912169" y="2361810"/>
                    <a:pt x="8924247" y="2396286"/>
                  </a:cubicBezTo>
                  <a:lnTo>
                    <a:pt x="8960022" y="2499767"/>
                  </a:lnTo>
                  <a:lnTo>
                    <a:pt x="8991720" y="2604671"/>
                  </a:lnTo>
                  <a:cubicBezTo>
                    <a:pt x="9002116" y="2639690"/>
                    <a:pt x="9010474" y="2675346"/>
                    <a:pt x="9019646" y="2710708"/>
                  </a:cubicBezTo>
                  <a:cubicBezTo>
                    <a:pt x="9089055" y="2995079"/>
                    <a:pt x="9113620" y="3289927"/>
                    <a:pt x="9105822" y="3582266"/>
                  </a:cubicBezTo>
                  <a:cubicBezTo>
                    <a:pt x="9101796" y="3728484"/>
                    <a:pt x="9085744" y="3874458"/>
                    <a:pt x="9057716" y="4017873"/>
                  </a:cubicBezTo>
                  <a:cubicBezTo>
                    <a:pt x="9029534" y="4161336"/>
                    <a:pt x="8990497" y="4302046"/>
                    <a:pt x="8945600" y="4439659"/>
                  </a:cubicBezTo>
                  <a:cubicBezTo>
                    <a:pt x="8900857" y="4577566"/>
                    <a:pt x="8852901" y="4711784"/>
                    <a:pt x="8796080" y="4847428"/>
                  </a:cubicBezTo>
                  <a:cubicBezTo>
                    <a:pt x="8767695" y="4915152"/>
                    <a:pt x="8737016" y="4982926"/>
                    <a:pt x="8702056" y="5050108"/>
                  </a:cubicBezTo>
                  <a:cubicBezTo>
                    <a:pt x="8666485" y="5116997"/>
                    <a:pt x="8627347" y="5183687"/>
                    <a:pt x="8581125" y="5247525"/>
                  </a:cubicBezTo>
                  <a:cubicBezTo>
                    <a:pt x="8535565" y="5311660"/>
                    <a:pt x="8483534" y="5373185"/>
                    <a:pt x="8426254" y="5429647"/>
                  </a:cubicBezTo>
                  <a:cubicBezTo>
                    <a:pt x="8397512" y="5457779"/>
                    <a:pt x="8367801" y="5484879"/>
                    <a:pt x="8337174" y="5510552"/>
                  </a:cubicBezTo>
                  <a:cubicBezTo>
                    <a:pt x="8306444" y="5536077"/>
                    <a:pt x="8274899" y="5560029"/>
                    <a:pt x="8243200" y="5582948"/>
                  </a:cubicBezTo>
                  <a:cubicBezTo>
                    <a:pt x="8115543" y="5674574"/>
                    <a:pt x="7986203" y="5743233"/>
                    <a:pt x="7868330" y="5811104"/>
                  </a:cubicBezTo>
                  <a:cubicBezTo>
                    <a:pt x="7749844" y="5878385"/>
                    <a:pt x="7640685" y="5945126"/>
                    <a:pt x="7538916" y="6018899"/>
                  </a:cubicBezTo>
                  <a:cubicBezTo>
                    <a:pt x="7487749" y="6055392"/>
                    <a:pt x="7438777" y="6093950"/>
                    <a:pt x="7391280" y="6134132"/>
                  </a:cubicBezTo>
                  <a:cubicBezTo>
                    <a:pt x="7343427" y="6173921"/>
                    <a:pt x="7297511" y="6215922"/>
                    <a:pt x="7252511" y="6259105"/>
                  </a:cubicBezTo>
                  <a:cubicBezTo>
                    <a:pt x="7229784" y="6280990"/>
                    <a:pt x="7208635" y="6302433"/>
                    <a:pt x="7185601" y="6325894"/>
                  </a:cubicBezTo>
                  <a:lnTo>
                    <a:pt x="7116651" y="6397010"/>
                  </a:lnTo>
                  <a:lnTo>
                    <a:pt x="6978545" y="6541607"/>
                  </a:lnTo>
                  <a:cubicBezTo>
                    <a:pt x="6885693" y="6638397"/>
                    <a:pt x="6789885" y="6734943"/>
                    <a:pt x="6693009" y="6832716"/>
                  </a:cubicBezTo>
                  <a:lnTo>
                    <a:pt x="6667488" y="6858000"/>
                  </a:lnTo>
                  <a:lnTo>
                    <a:pt x="6056793" y="6858000"/>
                  </a:lnTo>
                  <a:lnTo>
                    <a:pt x="6077345" y="6835420"/>
                  </a:lnTo>
                  <a:cubicBezTo>
                    <a:pt x="6121427" y="6785747"/>
                    <a:pt x="6164948" y="6735090"/>
                    <a:pt x="6208519" y="6683989"/>
                  </a:cubicBezTo>
                  <a:lnTo>
                    <a:pt x="6340001" y="6529852"/>
                  </a:lnTo>
                  <a:cubicBezTo>
                    <a:pt x="6428315" y="6426667"/>
                    <a:pt x="6516733" y="6321417"/>
                    <a:pt x="6611419" y="6219317"/>
                  </a:cubicBezTo>
                  <a:cubicBezTo>
                    <a:pt x="6658864" y="6168363"/>
                    <a:pt x="6707584" y="6117950"/>
                    <a:pt x="6757678" y="6068228"/>
                  </a:cubicBezTo>
                  <a:lnTo>
                    <a:pt x="6833713" y="5994061"/>
                  </a:lnTo>
                  <a:cubicBezTo>
                    <a:pt x="6859346" y="5969422"/>
                    <a:pt x="6887579" y="5943404"/>
                    <a:pt x="6915148" y="5918812"/>
                  </a:cubicBezTo>
                  <a:cubicBezTo>
                    <a:pt x="7026295" y="5819219"/>
                    <a:pt x="7148602" y="5729117"/>
                    <a:pt x="7276311" y="5650229"/>
                  </a:cubicBezTo>
                  <a:cubicBezTo>
                    <a:pt x="7403918" y="5571046"/>
                    <a:pt x="7537794" y="5505190"/>
                    <a:pt x="7664942" y="5445681"/>
                  </a:cubicBezTo>
                  <a:cubicBezTo>
                    <a:pt x="7728491" y="5416024"/>
                    <a:pt x="7790410" y="5387449"/>
                    <a:pt x="7848505" y="5358333"/>
                  </a:cubicBezTo>
                  <a:cubicBezTo>
                    <a:pt x="7906805" y="5329315"/>
                    <a:pt x="7961843" y="5300101"/>
                    <a:pt x="8011785" y="5267788"/>
                  </a:cubicBezTo>
                  <a:cubicBezTo>
                    <a:pt x="8112281" y="5203950"/>
                    <a:pt x="8193615" y="5128111"/>
                    <a:pt x="8260273" y="5034370"/>
                  </a:cubicBezTo>
                  <a:cubicBezTo>
                    <a:pt x="8326370" y="4940776"/>
                    <a:pt x="8378657" y="4831640"/>
                    <a:pt x="8417589" y="4714488"/>
                  </a:cubicBezTo>
                  <a:cubicBezTo>
                    <a:pt x="8456372" y="4597485"/>
                    <a:pt x="8481140" y="4471332"/>
                    <a:pt x="8495000" y="4346409"/>
                  </a:cubicBezTo>
                  <a:cubicBezTo>
                    <a:pt x="8508404" y="4221044"/>
                    <a:pt x="8511359" y="4095482"/>
                    <a:pt x="8508556" y="3971101"/>
                  </a:cubicBezTo>
                  <a:cubicBezTo>
                    <a:pt x="8504530" y="3846571"/>
                    <a:pt x="8495663" y="3723222"/>
                    <a:pt x="8483330" y="3600710"/>
                  </a:cubicBezTo>
                  <a:cubicBezTo>
                    <a:pt x="8470793" y="3478148"/>
                    <a:pt x="8451888" y="3356421"/>
                    <a:pt x="8425336" y="3236121"/>
                  </a:cubicBezTo>
                  <a:cubicBezTo>
                    <a:pt x="8399091" y="3115774"/>
                    <a:pt x="8367801" y="2996655"/>
                    <a:pt x="8334575" y="2877977"/>
                  </a:cubicBezTo>
                  <a:cubicBezTo>
                    <a:pt x="8268222" y="2640772"/>
                    <a:pt x="8190100" y="2404057"/>
                    <a:pt x="8087513" y="2174622"/>
                  </a:cubicBezTo>
                  <a:cubicBezTo>
                    <a:pt x="7985081" y="1945237"/>
                    <a:pt x="7863233" y="1721900"/>
                    <a:pt x="7723650" y="1507613"/>
                  </a:cubicBezTo>
                  <a:cubicBezTo>
                    <a:pt x="7653527" y="1400692"/>
                    <a:pt x="7579684" y="1295589"/>
                    <a:pt x="7501815" y="1192947"/>
                  </a:cubicBezTo>
                  <a:cubicBezTo>
                    <a:pt x="7423844" y="1090353"/>
                    <a:pt x="7340778" y="991103"/>
                    <a:pt x="7254399" y="894361"/>
                  </a:cubicBezTo>
                  <a:cubicBezTo>
                    <a:pt x="7082047" y="700485"/>
                    <a:pt x="6893083" y="519052"/>
                    <a:pt x="6689339" y="354046"/>
                  </a:cubicBezTo>
                  <a:cubicBezTo>
                    <a:pt x="6536914" y="229775"/>
                    <a:pt x="6375602" y="115325"/>
                    <a:pt x="6206651" y="12626"/>
                  </a:cubicBezTo>
                  <a:close/>
                  <a:moveTo>
                    <a:pt x="1827105" y="0"/>
                  </a:moveTo>
                  <a:lnTo>
                    <a:pt x="2807607" y="0"/>
                  </a:lnTo>
                  <a:lnTo>
                    <a:pt x="2667958" y="88235"/>
                  </a:lnTo>
                  <a:cubicBezTo>
                    <a:pt x="2560098" y="159777"/>
                    <a:pt x="2455754" y="235690"/>
                    <a:pt x="2354723" y="314947"/>
                  </a:cubicBezTo>
                  <a:cubicBezTo>
                    <a:pt x="2253464" y="394030"/>
                    <a:pt x="2156943" y="478181"/>
                    <a:pt x="2059963" y="561545"/>
                  </a:cubicBezTo>
                  <a:cubicBezTo>
                    <a:pt x="1962831" y="644811"/>
                    <a:pt x="1868297" y="731322"/>
                    <a:pt x="1780798" y="824425"/>
                  </a:cubicBezTo>
                  <a:cubicBezTo>
                    <a:pt x="1429010" y="1195013"/>
                    <a:pt x="1148011" y="1628455"/>
                    <a:pt x="954714" y="2094309"/>
                  </a:cubicBezTo>
                  <a:cubicBezTo>
                    <a:pt x="857938" y="2327186"/>
                    <a:pt x="783229" y="2568326"/>
                    <a:pt x="732676" y="2813646"/>
                  </a:cubicBezTo>
                  <a:cubicBezTo>
                    <a:pt x="707552" y="2936307"/>
                    <a:pt x="688085" y="3059952"/>
                    <a:pt x="673867" y="3183989"/>
                  </a:cubicBezTo>
                  <a:cubicBezTo>
                    <a:pt x="660056" y="3308075"/>
                    <a:pt x="651341" y="3432605"/>
                    <a:pt x="647621" y="3557281"/>
                  </a:cubicBezTo>
                  <a:cubicBezTo>
                    <a:pt x="644411" y="3681958"/>
                    <a:pt x="645329" y="3806733"/>
                    <a:pt x="653381" y="3931214"/>
                  </a:cubicBezTo>
                  <a:cubicBezTo>
                    <a:pt x="659852" y="4055792"/>
                    <a:pt x="672949" y="4179977"/>
                    <a:pt x="690428" y="4303719"/>
                  </a:cubicBezTo>
                  <a:cubicBezTo>
                    <a:pt x="726408" y="4551057"/>
                    <a:pt x="786440" y="4795835"/>
                    <a:pt x="871801" y="5033041"/>
                  </a:cubicBezTo>
                  <a:cubicBezTo>
                    <a:pt x="957007" y="5270247"/>
                    <a:pt x="1065962" y="5500322"/>
                    <a:pt x="1197749" y="5718494"/>
                  </a:cubicBezTo>
                  <a:cubicBezTo>
                    <a:pt x="1263846" y="5827433"/>
                    <a:pt x="1334937" y="5933813"/>
                    <a:pt x="1411480" y="6036703"/>
                  </a:cubicBezTo>
                  <a:cubicBezTo>
                    <a:pt x="1449548" y="6088295"/>
                    <a:pt x="1489451" y="6138609"/>
                    <a:pt x="1530170" y="6188430"/>
                  </a:cubicBezTo>
                  <a:cubicBezTo>
                    <a:pt x="1571447" y="6238055"/>
                    <a:pt x="1613644" y="6287336"/>
                    <a:pt x="1657165" y="6335385"/>
                  </a:cubicBezTo>
                  <a:cubicBezTo>
                    <a:pt x="1744079" y="6431708"/>
                    <a:pt x="1835644" y="6524282"/>
                    <a:pt x="1931343" y="6612896"/>
                  </a:cubicBezTo>
                  <a:lnTo>
                    <a:pt x="2220133" y="6858000"/>
                  </a:lnTo>
                  <a:lnTo>
                    <a:pt x="1539862" y="6858000"/>
                  </a:lnTo>
                  <a:lnTo>
                    <a:pt x="1307111" y="6648873"/>
                  </a:lnTo>
                  <a:cubicBezTo>
                    <a:pt x="1101839" y="6448063"/>
                    <a:pt x="913180" y="6225465"/>
                    <a:pt x="750258" y="5987570"/>
                  </a:cubicBezTo>
                  <a:cubicBezTo>
                    <a:pt x="587232" y="5749281"/>
                    <a:pt x="448261" y="5494813"/>
                    <a:pt x="335382" y="5229279"/>
                  </a:cubicBezTo>
                  <a:cubicBezTo>
                    <a:pt x="222298" y="4963793"/>
                    <a:pt x="137040" y="4686652"/>
                    <a:pt x="79351" y="4403854"/>
                  </a:cubicBezTo>
                  <a:cubicBezTo>
                    <a:pt x="50150" y="4262456"/>
                    <a:pt x="29767" y="4119385"/>
                    <a:pt x="16007" y="3975723"/>
                  </a:cubicBezTo>
                  <a:cubicBezTo>
                    <a:pt x="3930" y="3831964"/>
                    <a:pt x="-2441" y="3687614"/>
                    <a:pt x="871" y="3543362"/>
                  </a:cubicBezTo>
                  <a:cubicBezTo>
                    <a:pt x="3522" y="3399160"/>
                    <a:pt x="14172" y="3255105"/>
                    <a:pt x="32519" y="3112085"/>
                  </a:cubicBezTo>
                  <a:cubicBezTo>
                    <a:pt x="50508" y="2969014"/>
                    <a:pt x="76090" y="2826925"/>
                    <a:pt x="108502" y="2686511"/>
                  </a:cubicBezTo>
                  <a:cubicBezTo>
                    <a:pt x="173019" y="2405533"/>
                    <a:pt x="263474" y="2130703"/>
                    <a:pt x="378239" y="1865955"/>
                  </a:cubicBezTo>
                  <a:cubicBezTo>
                    <a:pt x="607922" y="1336607"/>
                    <a:pt x="935706" y="848228"/>
                    <a:pt x="1343701" y="431508"/>
                  </a:cubicBezTo>
                  <a:cubicBezTo>
                    <a:pt x="1446133" y="327783"/>
                    <a:pt x="1550910" y="225926"/>
                    <a:pt x="1661853" y="130268"/>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39" name="Freeform: Shape 17">
              <a:extLst>
                <a:ext uri="{FF2B5EF4-FFF2-40B4-BE49-F238E27FC236}">
                  <a16:creationId xmlns:a16="http://schemas.microsoft.com/office/drawing/2014/main" id="{97499201-5A2C-48B3-9B02-5519B882945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18434" y="36937"/>
              <a:ext cx="9747620" cy="6858000"/>
            </a:xfrm>
            <a:custGeom>
              <a:avLst/>
              <a:gdLst>
                <a:gd name="connsiteX0" fmla="*/ 7235453 w 9747620"/>
                <a:gd name="connsiteY0" fmla="*/ 0 h 6858000"/>
                <a:gd name="connsiteX1" fmla="*/ 7548130 w 9747620"/>
                <a:gd name="connsiteY1" fmla="*/ 0 h 6858000"/>
                <a:gd name="connsiteX2" fmla="*/ 7710334 w 9747620"/>
                <a:gd name="connsiteY2" fmla="*/ 111973 h 6858000"/>
                <a:gd name="connsiteX3" fmla="*/ 7889188 w 9747620"/>
                <a:gd name="connsiteY3" fmla="*/ 251542 h 6858000"/>
                <a:gd name="connsiteX4" fmla="*/ 8061828 w 9747620"/>
                <a:gd name="connsiteY4" fmla="*/ 398586 h 6858000"/>
                <a:gd name="connsiteX5" fmla="*/ 8145637 w 9747620"/>
                <a:gd name="connsiteY5" fmla="*/ 474218 h 6858000"/>
                <a:gd name="connsiteX6" fmla="*/ 8187242 w 9747620"/>
                <a:gd name="connsiteY6" fmla="*/ 512753 h 6858000"/>
                <a:gd name="connsiteX7" fmla="*/ 8228402 w 9747620"/>
                <a:gd name="connsiteY7" fmla="*/ 551575 h 6858000"/>
                <a:gd name="connsiteX8" fmla="*/ 8389211 w 9747620"/>
                <a:gd name="connsiteY8" fmla="*/ 710937 h 6858000"/>
                <a:gd name="connsiteX9" fmla="*/ 8467206 w 9747620"/>
                <a:gd name="connsiteY9" fmla="*/ 793088 h 6858000"/>
                <a:gd name="connsiteX10" fmla="*/ 8486791 w 9747620"/>
                <a:gd name="connsiteY10" fmla="*/ 814223 h 6858000"/>
                <a:gd name="connsiteX11" fmla="*/ 8505979 w 9747620"/>
                <a:gd name="connsiteY11" fmla="*/ 835409 h 6858000"/>
                <a:gd name="connsiteX12" fmla="*/ 8543509 w 9747620"/>
                <a:gd name="connsiteY12" fmla="*/ 877346 h 6858000"/>
                <a:gd name="connsiteX13" fmla="*/ 8690549 w 9747620"/>
                <a:gd name="connsiteY13" fmla="*/ 1048978 h 6858000"/>
                <a:gd name="connsiteX14" fmla="*/ 8761732 w 9747620"/>
                <a:gd name="connsiteY14" fmla="*/ 1137502 h 6858000"/>
                <a:gd name="connsiteX15" fmla="*/ 8796379 w 9747620"/>
                <a:gd name="connsiteY15" fmla="*/ 1182077 h 6858000"/>
                <a:gd name="connsiteX16" fmla="*/ 8830678 w 9747620"/>
                <a:gd name="connsiteY16" fmla="*/ 1226986 h 6858000"/>
                <a:gd name="connsiteX17" fmla="*/ 8963353 w 9747620"/>
                <a:gd name="connsiteY17" fmla="*/ 1410936 h 6858000"/>
                <a:gd name="connsiteX18" fmla="*/ 9026483 w 9747620"/>
                <a:gd name="connsiteY18" fmla="*/ 1505499 h 6858000"/>
                <a:gd name="connsiteX19" fmla="*/ 9057004 w 9747620"/>
                <a:gd name="connsiteY19" fmla="*/ 1552613 h 6858000"/>
                <a:gd name="connsiteX20" fmla="*/ 9087278 w 9747620"/>
                <a:gd name="connsiteY20" fmla="*/ 1600542 h 6858000"/>
                <a:gd name="connsiteX21" fmla="*/ 9202851 w 9747620"/>
                <a:gd name="connsiteY21" fmla="*/ 1795515 h 6858000"/>
                <a:gd name="connsiteX22" fmla="*/ 9257332 w 9747620"/>
                <a:gd name="connsiteY22" fmla="*/ 1894920 h 6858000"/>
                <a:gd name="connsiteX23" fmla="*/ 9283778 w 9747620"/>
                <a:gd name="connsiteY23" fmla="*/ 1945436 h 6858000"/>
                <a:gd name="connsiteX24" fmla="*/ 9309428 w 9747620"/>
                <a:gd name="connsiteY24" fmla="*/ 1996193 h 6858000"/>
                <a:gd name="connsiteX25" fmla="*/ 9405714 w 9747620"/>
                <a:gd name="connsiteY25" fmla="*/ 2202191 h 6858000"/>
                <a:gd name="connsiteX26" fmla="*/ 9566524 w 9747620"/>
                <a:gd name="connsiteY26" fmla="*/ 2627653 h 6858000"/>
                <a:gd name="connsiteX27" fmla="*/ 9583573 w 9747620"/>
                <a:gd name="connsiteY27" fmla="*/ 2682195 h 6858000"/>
                <a:gd name="connsiteX28" fmla="*/ 9591974 w 9747620"/>
                <a:gd name="connsiteY28" fmla="*/ 2709707 h 6858000"/>
                <a:gd name="connsiteX29" fmla="*/ 9600027 w 9747620"/>
                <a:gd name="connsiteY29" fmla="*/ 2737650 h 6858000"/>
                <a:gd name="connsiteX30" fmla="*/ 9629803 w 9747620"/>
                <a:gd name="connsiteY30" fmla="*/ 2847694 h 6858000"/>
                <a:gd name="connsiteX31" fmla="*/ 9679909 w 9747620"/>
                <a:gd name="connsiteY31" fmla="*/ 3070131 h 6858000"/>
                <a:gd name="connsiteX32" fmla="*/ 9690498 w 9747620"/>
                <a:gd name="connsiteY32" fmla="*/ 3126159 h 6858000"/>
                <a:gd name="connsiteX33" fmla="*/ 9700390 w 9747620"/>
                <a:gd name="connsiteY33" fmla="*/ 3181805 h 6858000"/>
                <a:gd name="connsiteX34" fmla="*/ 9709685 w 9747620"/>
                <a:gd name="connsiteY34" fmla="*/ 3243392 h 6858000"/>
                <a:gd name="connsiteX35" fmla="*/ 9713016 w 9747620"/>
                <a:gd name="connsiteY35" fmla="*/ 3267597 h 6858000"/>
                <a:gd name="connsiteX36" fmla="*/ 9716844 w 9747620"/>
                <a:gd name="connsiteY36" fmla="*/ 3294437 h 6858000"/>
                <a:gd name="connsiteX37" fmla="*/ 9720820 w 9747620"/>
                <a:gd name="connsiteY37" fmla="*/ 3324488 h 6858000"/>
                <a:gd name="connsiteX38" fmla="*/ 9722709 w 9747620"/>
                <a:gd name="connsiteY38" fmla="*/ 3340737 h 6858000"/>
                <a:gd name="connsiteX39" fmla="*/ 9724301 w 9747620"/>
                <a:gd name="connsiteY39" fmla="*/ 3356361 h 6858000"/>
                <a:gd name="connsiteX40" fmla="*/ 9730166 w 9747620"/>
                <a:gd name="connsiteY40" fmla="*/ 3412197 h 6858000"/>
                <a:gd name="connsiteX41" fmla="*/ 9735783 w 9747620"/>
                <a:gd name="connsiteY41" fmla="*/ 3468083 h 6858000"/>
                <a:gd name="connsiteX42" fmla="*/ 9739760 w 9747620"/>
                <a:gd name="connsiteY42" fmla="*/ 3524399 h 6858000"/>
                <a:gd name="connsiteX43" fmla="*/ 9741748 w 9747620"/>
                <a:gd name="connsiteY43" fmla="*/ 3552580 h 6858000"/>
                <a:gd name="connsiteX44" fmla="*/ 9742742 w 9747620"/>
                <a:gd name="connsiteY44" fmla="*/ 3566672 h 6858000"/>
                <a:gd name="connsiteX45" fmla="*/ 9743488 w 9747620"/>
                <a:gd name="connsiteY45" fmla="*/ 3581865 h 6858000"/>
                <a:gd name="connsiteX46" fmla="*/ 9744731 w 9747620"/>
                <a:gd name="connsiteY46" fmla="*/ 3611341 h 6858000"/>
                <a:gd name="connsiteX47" fmla="*/ 9745725 w 9747620"/>
                <a:gd name="connsiteY47" fmla="*/ 3639715 h 6858000"/>
                <a:gd name="connsiteX48" fmla="*/ 9747613 w 9747620"/>
                <a:gd name="connsiteY48" fmla="*/ 3753786 h 6858000"/>
                <a:gd name="connsiteX49" fmla="*/ 9740405 w 9747620"/>
                <a:gd name="connsiteY49" fmla="*/ 3984609 h 6858000"/>
                <a:gd name="connsiteX50" fmla="*/ 9736329 w 9747620"/>
                <a:gd name="connsiteY50" fmla="*/ 4038434 h 6858000"/>
                <a:gd name="connsiteX51" fmla="*/ 9731408 w 9747620"/>
                <a:gd name="connsiteY51" fmla="*/ 4099446 h 6858000"/>
                <a:gd name="connsiteX52" fmla="*/ 9717987 w 9747620"/>
                <a:gd name="connsiteY52" fmla="*/ 4213325 h 6858000"/>
                <a:gd name="connsiteX53" fmla="*/ 9716297 w 9747620"/>
                <a:gd name="connsiteY53" fmla="*/ 4227129 h 6858000"/>
                <a:gd name="connsiteX54" fmla="*/ 9714110 w 9747620"/>
                <a:gd name="connsiteY54" fmla="*/ 4240981 h 6858000"/>
                <a:gd name="connsiteX55" fmla="*/ 9709785 w 9747620"/>
                <a:gd name="connsiteY55" fmla="*/ 4268731 h 6858000"/>
                <a:gd name="connsiteX56" fmla="*/ 9701086 w 9747620"/>
                <a:gd name="connsiteY56" fmla="*/ 4324185 h 6858000"/>
                <a:gd name="connsiteX57" fmla="*/ 9698699 w 9747620"/>
                <a:gd name="connsiteY57" fmla="*/ 4338994 h 6858000"/>
                <a:gd name="connsiteX58" fmla="*/ 9695966 w 9747620"/>
                <a:gd name="connsiteY58" fmla="*/ 4355050 h 6858000"/>
                <a:gd name="connsiteX59" fmla="*/ 9690299 w 9747620"/>
                <a:gd name="connsiteY59" fmla="*/ 4385054 h 6858000"/>
                <a:gd name="connsiteX60" fmla="*/ 9679909 w 9747620"/>
                <a:gd name="connsiteY60" fmla="*/ 4437919 h 6858000"/>
                <a:gd name="connsiteX61" fmla="*/ 9673647 w 9747620"/>
                <a:gd name="connsiteY61" fmla="*/ 4468162 h 6858000"/>
                <a:gd name="connsiteX62" fmla="*/ 9667532 w 9747620"/>
                <a:gd name="connsiteY62" fmla="*/ 4496296 h 6858000"/>
                <a:gd name="connsiteX63" fmla="*/ 9654658 w 9747620"/>
                <a:gd name="connsiteY63" fmla="*/ 4552277 h 6858000"/>
                <a:gd name="connsiteX64" fmla="*/ 9625876 w 9747620"/>
                <a:gd name="connsiteY64" fmla="*/ 4664478 h 6858000"/>
                <a:gd name="connsiteX65" fmla="*/ 9552803 w 9747620"/>
                <a:gd name="connsiteY65" fmla="*/ 4888737 h 6858000"/>
                <a:gd name="connsiteX66" fmla="*/ 9452639 w 9747620"/>
                <a:gd name="connsiteY66" fmla="*/ 5110934 h 6858000"/>
                <a:gd name="connsiteX67" fmla="*/ 9388017 w 9747620"/>
                <a:gd name="connsiteY67" fmla="*/ 5220020 h 6858000"/>
                <a:gd name="connsiteX68" fmla="*/ 9370073 w 9747620"/>
                <a:gd name="connsiteY68" fmla="*/ 5246811 h 6858000"/>
                <a:gd name="connsiteX69" fmla="*/ 9360926 w 9747620"/>
                <a:gd name="connsiteY69" fmla="*/ 5260040 h 6858000"/>
                <a:gd name="connsiteX70" fmla="*/ 9351829 w 9747620"/>
                <a:gd name="connsiteY70" fmla="*/ 5272646 h 6858000"/>
                <a:gd name="connsiteX71" fmla="*/ 9313305 w 9747620"/>
                <a:gd name="connsiteY71" fmla="*/ 5323881 h 6858000"/>
                <a:gd name="connsiteX72" fmla="*/ 9130375 w 9747620"/>
                <a:gd name="connsiteY72" fmla="*/ 5510802 h 6858000"/>
                <a:gd name="connsiteX73" fmla="*/ 9028422 w 9747620"/>
                <a:gd name="connsiteY73" fmla="*/ 5588878 h 6858000"/>
                <a:gd name="connsiteX74" fmla="*/ 9002424 w 9747620"/>
                <a:gd name="connsiteY74" fmla="*/ 5606707 h 6858000"/>
                <a:gd name="connsiteX75" fmla="*/ 8976525 w 9747620"/>
                <a:gd name="connsiteY75" fmla="*/ 5623866 h 6858000"/>
                <a:gd name="connsiteX76" fmla="*/ 8924181 w 9747620"/>
                <a:gd name="connsiteY76" fmla="*/ 5656793 h 6858000"/>
                <a:gd name="connsiteX77" fmla="*/ 8717291 w 9747620"/>
                <a:gd name="connsiteY77" fmla="*/ 5771582 h 6858000"/>
                <a:gd name="connsiteX78" fmla="*/ 8617129 w 9747620"/>
                <a:gd name="connsiteY78" fmla="*/ 5823105 h 6858000"/>
                <a:gd name="connsiteX79" fmla="*/ 8518207 w 9747620"/>
                <a:gd name="connsiteY79" fmla="*/ 5873671 h 6858000"/>
                <a:gd name="connsiteX80" fmla="*/ 8150558 w 9747620"/>
                <a:gd name="connsiteY80" fmla="*/ 6086761 h 6858000"/>
                <a:gd name="connsiteX81" fmla="*/ 7979410 w 9747620"/>
                <a:gd name="connsiteY81" fmla="*/ 6207158 h 6858000"/>
                <a:gd name="connsiteX82" fmla="*/ 7938300 w 9747620"/>
                <a:gd name="connsiteY82" fmla="*/ 6238887 h 6858000"/>
                <a:gd name="connsiteX83" fmla="*/ 7897936 w 9747620"/>
                <a:gd name="connsiteY83" fmla="*/ 6271286 h 6858000"/>
                <a:gd name="connsiteX84" fmla="*/ 7858367 w 9747620"/>
                <a:gd name="connsiteY84" fmla="*/ 6304357 h 6858000"/>
                <a:gd name="connsiteX85" fmla="*/ 7819048 w 9747620"/>
                <a:gd name="connsiteY85" fmla="*/ 6338770 h 6858000"/>
                <a:gd name="connsiteX86" fmla="*/ 7778882 w 9747620"/>
                <a:gd name="connsiteY86" fmla="*/ 6374477 h 6858000"/>
                <a:gd name="connsiteX87" fmla="*/ 7739563 w 9747620"/>
                <a:gd name="connsiteY87" fmla="*/ 6410328 h 6858000"/>
                <a:gd name="connsiteX88" fmla="*/ 7660824 w 9747620"/>
                <a:gd name="connsiteY88" fmla="*/ 6484138 h 6858000"/>
                <a:gd name="connsiteX89" fmla="*/ 7502302 w 9747620"/>
                <a:gd name="connsiteY89" fmla="*/ 6636360 h 6858000"/>
                <a:gd name="connsiteX90" fmla="*/ 7273394 w 9747620"/>
                <a:gd name="connsiteY90" fmla="*/ 6858000 h 6858000"/>
                <a:gd name="connsiteX91" fmla="*/ 6780690 w 9747620"/>
                <a:gd name="connsiteY91" fmla="*/ 6858000 h 6858000"/>
                <a:gd name="connsiteX92" fmla="*/ 6854939 w 9747620"/>
                <a:gd name="connsiteY92" fmla="*/ 6783597 h 6858000"/>
                <a:gd name="connsiteX93" fmla="*/ 6932087 w 9747620"/>
                <a:gd name="connsiteY93" fmla="*/ 6705809 h 6858000"/>
                <a:gd name="connsiteX94" fmla="*/ 7241130 w 9747620"/>
                <a:gd name="connsiteY94" fmla="*/ 6390965 h 6858000"/>
                <a:gd name="connsiteX95" fmla="*/ 7397564 w 9747620"/>
                <a:gd name="connsiteY95" fmla="*/ 6233087 h 6858000"/>
                <a:gd name="connsiteX96" fmla="*/ 7478142 w 9747620"/>
                <a:gd name="connsiteY96" fmla="*/ 6153670 h 6858000"/>
                <a:gd name="connsiteX97" fmla="*/ 7519600 w 9747620"/>
                <a:gd name="connsiteY97" fmla="*/ 6113937 h 6858000"/>
                <a:gd name="connsiteX98" fmla="*/ 7561207 w 9747620"/>
                <a:gd name="connsiteY98" fmla="*/ 6075067 h 6858000"/>
                <a:gd name="connsiteX99" fmla="*/ 7604204 w 9747620"/>
                <a:gd name="connsiteY99" fmla="*/ 6035526 h 6858000"/>
                <a:gd name="connsiteX100" fmla="*/ 7648644 w 9747620"/>
                <a:gd name="connsiteY100" fmla="*/ 5996416 h 6858000"/>
                <a:gd name="connsiteX101" fmla="*/ 7693830 w 9747620"/>
                <a:gd name="connsiteY101" fmla="*/ 5958264 h 6858000"/>
                <a:gd name="connsiteX102" fmla="*/ 7739662 w 9747620"/>
                <a:gd name="connsiteY102" fmla="*/ 5921073 h 6858000"/>
                <a:gd name="connsiteX103" fmla="*/ 7928458 w 9747620"/>
                <a:gd name="connsiteY103" fmla="*/ 5781025 h 6858000"/>
                <a:gd name="connsiteX104" fmla="*/ 8325882 w 9747620"/>
                <a:gd name="connsiteY104" fmla="*/ 5537450 h 6858000"/>
                <a:gd name="connsiteX105" fmla="*/ 8424555 w 9747620"/>
                <a:gd name="connsiteY105" fmla="*/ 5484106 h 6858000"/>
                <a:gd name="connsiteX106" fmla="*/ 8521737 w 9747620"/>
                <a:gd name="connsiteY106" fmla="*/ 5431289 h 6858000"/>
                <a:gd name="connsiteX107" fmla="*/ 8702677 w 9747620"/>
                <a:gd name="connsiteY107" fmla="*/ 5325942 h 6858000"/>
                <a:gd name="connsiteX108" fmla="*/ 8743986 w 9747620"/>
                <a:gd name="connsiteY108" fmla="*/ 5298717 h 6858000"/>
                <a:gd name="connsiteX109" fmla="*/ 8764167 w 9747620"/>
                <a:gd name="connsiteY109" fmla="*/ 5284723 h 6858000"/>
                <a:gd name="connsiteX110" fmla="*/ 8783704 w 9747620"/>
                <a:gd name="connsiteY110" fmla="*/ 5270679 h 6858000"/>
                <a:gd name="connsiteX111" fmla="*/ 8856776 w 9747620"/>
                <a:gd name="connsiteY111" fmla="*/ 5212399 h 6858000"/>
                <a:gd name="connsiteX112" fmla="*/ 8979856 w 9747620"/>
                <a:gd name="connsiteY112" fmla="*/ 5082081 h 6858000"/>
                <a:gd name="connsiteX113" fmla="*/ 9006699 w 9747620"/>
                <a:gd name="connsiteY113" fmla="*/ 5044984 h 6858000"/>
                <a:gd name="connsiteX114" fmla="*/ 9013509 w 9747620"/>
                <a:gd name="connsiteY114" fmla="*/ 5035254 h 6858000"/>
                <a:gd name="connsiteX115" fmla="*/ 9019773 w 9747620"/>
                <a:gd name="connsiteY115" fmla="*/ 5025812 h 6858000"/>
                <a:gd name="connsiteX116" fmla="*/ 9032050 w 9747620"/>
                <a:gd name="connsiteY116" fmla="*/ 5006833 h 6858000"/>
                <a:gd name="connsiteX117" fmla="*/ 9077733 w 9747620"/>
                <a:gd name="connsiteY117" fmla="*/ 4926839 h 6858000"/>
                <a:gd name="connsiteX118" fmla="*/ 9154285 w 9747620"/>
                <a:gd name="connsiteY118" fmla="*/ 4750223 h 6858000"/>
                <a:gd name="connsiteX119" fmla="*/ 9213936 w 9747620"/>
                <a:gd name="connsiteY119" fmla="*/ 4559945 h 6858000"/>
                <a:gd name="connsiteX120" fmla="*/ 9238592 w 9747620"/>
                <a:gd name="connsiteY120" fmla="*/ 4461357 h 6858000"/>
                <a:gd name="connsiteX121" fmla="*/ 9249776 w 9747620"/>
                <a:gd name="connsiteY121" fmla="*/ 4411319 h 6858000"/>
                <a:gd name="connsiteX122" fmla="*/ 9255046 w 9747620"/>
                <a:gd name="connsiteY122" fmla="*/ 4386299 h 6858000"/>
                <a:gd name="connsiteX123" fmla="*/ 9259718 w 9747620"/>
                <a:gd name="connsiteY123" fmla="*/ 4363342 h 6858000"/>
                <a:gd name="connsiteX124" fmla="*/ 9269959 w 9747620"/>
                <a:gd name="connsiteY124" fmla="*/ 4309566 h 6858000"/>
                <a:gd name="connsiteX125" fmla="*/ 9274233 w 9747620"/>
                <a:gd name="connsiteY125" fmla="*/ 4286176 h 6858000"/>
                <a:gd name="connsiteX126" fmla="*/ 9276022 w 9747620"/>
                <a:gd name="connsiteY126" fmla="*/ 4275489 h 6858000"/>
                <a:gd name="connsiteX127" fmla="*/ 9277861 w 9747620"/>
                <a:gd name="connsiteY127" fmla="*/ 4263506 h 6858000"/>
                <a:gd name="connsiteX128" fmla="*/ 9286014 w 9747620"/>
                <a:gd name="connsiteY128" fmla="*/ 4211696 h 6858000"/>
                <a:gd name="connsiteX129" fmla="*/ 9290092 w 9747620"/>
                <a:gd name="connsiteY129" fmla="*/ 4185767 h 6858000"/>
                <a:gd name="connsiteX130" fmla="*/ 9292128 w 9747620"/>
                <a:gd name="connsiteY130" fmla="*/ 4172826 h 6858000"/>
                <a:gd name="connsiteX131" fmla="*/ 9293720 w 9747620"/>
                <a:gd name="connsiteY131" fmla="*/ 4159693 h 6858000"/>
                <a:gd name="connsiteX132" fmla="*/ 9305650 w 9747620"/>
                <a:gd name="connsiteY132" fmla="*/ 4057941 h 6858000"/>
                <a:gd name="connsiteX133" fmla="*/ 9309378 w 9747620"/>
                <a:gd name="connsiteY133" fmla="*/ 4010779 h 6858000"/>
                <a:gd name="connsiteX134" fmla="*/ 9313454 w 9747620"/>
                <a:gd name="connsiteY134" fmla="*/ 3956428 h 6858000"/>
                <a:gd name="connsiteX135" fmla="*/ 9320811 w 9747620"/>
                <a:gd name="connsiteY135" fmla="*/ 3753546 h 6858000"/>
                <a:gd name="connsiteX136" fmla="*/ 9319617 w 9747620"/>
                <a:gd name="connsiteY136" fmla="*/ 3650643 h 6858000"/>
                <a:gd name="connsiteX137" fmla="*/ 9318176 w 9747620"/>
                <a:gd name="connsiteY137" fmla="*/ 3600030 h 6858000"/>
                <a:gd name="connsiteX138" fmla="*/ 9317778 w 9747620"/>
                <a:gd name="connsiteY138" fmla="*/ 3588096 h 6858000"/>
                <a:gd name="connsiteX139" fmla="*/ 9316983 w 9747620"/>
                <a:gd name="connsiteY139" fmla="*/ 3575107 h 6858000"/>
                <a:gd name="connsiteX140" fmla="*/ 9315443 w 9747620"/>
                <a:gd name="connsiteY140" fmla="*/ 3549130 h 6858000"/>
                <a:gd name="connsiteX141" fmla="*/ 9312311 w 9747620"/>
                <a:gd name="connsiteY141" fmla="*/ 3497176 h 6858000"/>
                <a:gd name="connsiteX142" fmla="*/ 9307587 w 9747620"/>
                <a:gd name="connsiteY142" fmla="*/ 3445029 h 6858000"/>
                <a:gd name="connsiteX143" fmla="*/ 9302618 w 9747620"/>
                <a:gd name="connsiteY143" fmla="*/ 3392835 h 6858000"/>
                <a:gd name="connsiteX144" fmla="*/ 9301574 w 9747620"/>
                <a:gd name="connsiteY144" fmla="*/ 3381476 h 6858000"/>
                <a:gd name="connsiteX145" fmla="*/ 9300430 w 9747620"/>
                <a:gd name="connsiteY145" fmla="*/ 3370740 h 6858000"/>
                <a:gd name="connsiteX146" fmla="*/ 9297547 w 9747620"/>
                <a:gd name="connsiteY146" fmla="*/ 3346966 h 6858000"/>
                <a:gd name="connsiteX147" fmla="*/ 9294017 w 9747620"/>
                <a:gd name="connsiteY147" fmla="*/ 3320030 h 6858000"/>
                <a:gd name="connsiteX148" fmla="*/ 9290439 w 9747620"/>
                <a:gd name="connsiteY148" fmla="*/ 3290410 h 6858000"/>
                <a:gd name="connsiteX149" fmla="*/ 9284275 w 9747620"/>
                <a:gd name="connsiteY149" fmla="*/ 3244544 h 6858000"/>
                <a:gd name="connsiteX150" fmla="*/ 9275974 w 9747620"/>
                <a:gd name="connsiteY150" fmla="*/ 3193116 h 6858000"/>
                <a:gd name="connsiteX151" fmla="*/ 9267224 w 9747620"/>
                <a:gd name="connsiteY151" fmla="*/ 3142264 h 6858000"/>
                <a:gd name="connsiteX152" fmla="*/ 9225320 w 9747620"/>
                <a:gd name="connsiteY152" fmla="*/ 2939909 h 6858000"/>
                <a:gd name="connsiteX153" fmla="*/ 9200466 w 9747620"/>
                <a:gd name="connsiteY153" fmla="*/ 2839449 h 6858000"/>
                <a:gd name="connsiteX154" fmla="*/ 9193953 w 9747620"/>
                <a:gd name="connsiteY154" fmla="*/ 2814958 h 6858000"/>
                <a:gd name="connsiteX155" fmla="*/ 9186993 w 9747620"/>
                <a:gd name="connsiteY155" fmla="*/ 2790276 h 6858000"/>
                <a:gd name="connsiteX156" fmla="*/ 9172628 w 9747620"/>
                <a:gd name="connsiteY156" fmla="*/ 2740621 h 6858000"/>
                <a:gd name="connsiteX157" fmla="*/ 9035082 w 9747620"/>
                <a:gd name="connsiteY157" fmla="*/ 2347463 h 6858000"/>
                <a:gd name="connsiteX158" fmla="*/ 8952118 w 9747620"/>
                <a:gd name="connsiteY158" fmla="*/ 2155413 h 6858000"/>
                <a:gd name="connsiteX159" fmla="*/ 8929948 w 9747620"/>
                <a:gd name="connsiteY159" fmla="*/ 2107915 h 6858000"/>
                <a:gd name="connsiteX160" fmla="*/ 8907429 w 9747620"/>
                <a:gd name="connsiteY160" fmla="*/ 2060753 h 6858000"/>
                <a:gd name="connsiteX161" fmla="*/ 8860404 w 9747620"/>
                <a:gd name="connsiteY161" fmla="*/ 1966478 h 6858000"/>
                <a:gd name="connsiteX162" fmla="*/ 8760788 w 9747620"/>
                <a:gd name="connsiteY162" fmla="*/ 1780274 h 6858000"/>
                <a:gd name="connsiteX163" fmla="*/ 8734740 w 9747620"/>
                <a:gd name="connsiteY163" fmla="*/ 1734311 h 6858000"/>
                <a:gd name="connsiteX164" fmla="*/ 8708046 w 9747620"/>
                <a:gd name="connsiteY164" fmla="*/ 1687963 h 6858000"/>
                <a:gd name="connsiteX165" fmla="*/ 8654062 w 9747620"/>
                <a:gd name="connsiteY165" fmla="*/ 1597234 h 6858000"/>
                <a:gd name="connsiteX166" fmla="*/ 8540278 w 9747620"/>
                <a:gd name="connsiteY166" fmla="*/ 1418077 h 6858000"/>
                <a:gd name="connsiteX167" fmla="*/ 8510701 w 9747620"/>
                <a:gd name="connsiteY167" fmla="*/ 1373695 h 6858000"/>
                <a:gd name="connsiteX168" fmla="*/ 8480676 w 9747620"/>
                <a:gd name="connsiteY168" fmla="*/ 1329457 h 6858000"/>
                <a:gd name="connsiteX169" fmla="*/ 8419782 w 9747620"/>
                <a:gd name="connsiteY169" fmla="*/ 1242275 h 6858000"/>
                <a:gd name="connsiteX170" fmla="*/ 8292478 w 9747620"/>
                <a:gd name="connsiteY170" fmla="*/ 1069875 h 6858000"/>
                <a:gd name="connsiteX171" fmla="*/ 8259620 w 9747620"/>
                <a:gd name="connsiteY171" fmla="*/ 1027123 h 6858000"/>
                <a:gd name="connsiteX172" fmla="*/ 8243416 w 9747620"/>
                <a:gd name="connsiteY172" fmla="*/ 1006130 h 6858000"/>
                <a:gd name="connsiteX173" fmla="*/ 8227110 w 9747620"/>
                <a:gd name="connsiteY173" fmla="*/ 985473 h 6858000"/>
                <a:gd name="connsiteX174" fmla="*/ 8159604 w 9747620"/>
                <a:gd name="connsiteY174" fmla="*/ 902029 h 6858000"/>
                <a:gd name="connsiteX175" fmla="*/ 8020022 w 9747620"/>
                <a:gd name="connsiteY175" fmla="*/ 738209 h 6858000"/>
                <a:gd name="connsiteX176" fmla="*/ 7984182 w 9747620"/>
                <a:gd name="connsiteY176" fmla="*/ 697901 h 6858000"/>
                <a:gd name="connsiteX177" fmla="*/ 7948043 w 9747620"/>
                <a:gd name="connsiteY177" fmla="*/ 657976 h 6858000"/>
                <a:gd name="connsiteX178" fmla="*/ 7874324 w 9747620"/>
                <a:gd name="connsiteY178" fmla="*/ 578607 h 6858000"/>
                <a:gd name="connsiteX179" fmla="*/ 7723308 w 9747620"/>
                <a:gd name="connsiteY179" fmla="*/ 424085 h 6858000"/>
                <a:gd name="connsiteX180" fmla="*/ 7565532 w 9747620"/>
                <a:gd name="connsiteY180" fmla="*/ 275602 h 6858000"/>
                <a:gd name="connsiteX181" fmla="*/ 1832515 w 9747620"/>
                <a:gd name="connsiteY181" fmla="*/ 0 h 6858000"/>
                <a:gd name="connsiteX182" fmla="*/ 2158449 w 9747620"/>
                <a:gd name="connsiteY182" fmla="*/ 0 h 6858000"/>
                <a:gd name="connsiteX183" fmla="*/ 2108797 w 9747620"/>
                <a:gd name="connsiteY183" fmla="*/ 37845 h 6858000"/>
                <a:gd name="connsiteX184" fmla="*/ 1942830 w 9747620"/>
                <a:gd name="connsiteY184" fmla="*/ 177587 h 6858000"/>
                <a:gd name="connsiteX185" fmla="*/ 1633191 w 9747620"/>
                <a:gd name="connsiteY185" fmla="*/ 477909 h 6858000"/>
                <a:gd name="connsiteX186" fmla="*/ 702686 w 9747620"/>
                <a:gd name="connsiteY186" fmla="*/ 1889935 h 6858000"/>
                <a:gd name="connsiteX187" fmla="*/ 551769 w 9747620"/>
                <a:gd name="connsiteY187" fmla="*/ 2281416 h 6858000"/>
                <a:gd name="connsiteX188" fmla="*/ 438383 w 9747620"/>
                <a:gd name="connsiteY188" fmla="*/ 2682772 h 6858000"/>
                <a:gd name="connsiteX189" fmla="*/ 397124 w 9747620"/>
                <a:gd name="connsiteY189" fmla="*/ 2887044 h 6858000"/>
                <a:gd name="connsiteX190" fmla="*/ 365658 w 9747620"/>
                <a:gd name="connsiteY190" fmla="*/ 3093424 h 6858000"/>
                <a:gd name="connsiteX191" fmla="*/ 332105 w 9747620"/>
                <a:gd name="connsiteY191" fmla="*/ 3509828 h 6858000"/>
                <a:gd name="connsiteX192" fmla="*/ 383653 w 9747620"/>
                <a:gd name="connsiteY192" fmla="*/ 4346327 h 6858000"/>
                <a:gd name="connsiteX193" fmla="*/ 422327 w 9747620"/>
                <a:gd name="connsiteY193" fmla="*/ 4552900 h 6858000"/>
                <a:gd name="connsiteX194" fmla="*/ 472184 w 9747620"/>
                <a:gd name="connsiteY194" fmla="*/ 4757939 h 6858000"/>
                <a:gd name="connsiteX195" fmla="*/ 533078 w 9747620"/>
                <a:gd name="connsiteY195" fmla="*/ 4960916 h 6858000"/>
                <a:gd name="connsiteX196" fmla="*/ 604710 w 9747620"/>
                <a:gd name="connsiteY196" fmla="*/ 5160875 h 6858000"/>
                <a:gd name="connsiteX197" fmla="*/ 996766 w 9747620"/>
                <a:gd name="connsiteY197" fmla="*/ 5920640 h 6858000"/>
                <a:gd name="connsiteX198" fmla="*/ 1549183 w 9747620"/>
                <a:gd name="connsiteY198" fmla="*/ 6586417 h 6858000"/>
                <a:gd name="connsiteX199" fmla="*/ 1709890 w 9747620"/>
                <a:gd name="connsiteY199" fmla="*/ 6734063 h 6858000"/>
                <a:gd name="connsiteX200" fmla="*/ 1859761 w 9747620"/>
                <a:gd name="connsiteY200" fmla="*/ 6858000 h 6858000"/>
                <a:gd name="connsiteX201" fmla="*/ 1671798 w 9747620"/>
                <a:gd name="connsiteY201" fmla="*/ 6858000 h 6858000"/>
                <a:gd name="connsiteX202" fmla="*/ 1628044 w 9747620"/>
                <a:gd name="connsiteY202" fmla="*/ 6822717 h 6858000"/>
                <a:gd name="connsiteX203" fmla="*/ 1459756 w 9747620"/>
                <a:gd name="connsiteY203" fmla="*/ 6674223 h 6858000"/>
                <a:gd name="connsiteX204" fmla="*/ 402543 w 9747620"/>
                <a:gd name="connsiteY204" fmla="*/ 5241588 h 6858000"/>
                <a:gd name="connsiteX205" fmla="*/ 311923 w 9747620"/>
                <a:gd name="connsiteY205" fmla="*/ 5036741 h 6858000"/>
                <a:gd name="connsiteX206" fmla="*/ 232140 w 9747620"/>
                <a:gd name="connsiteY206" fmla="*/ 4827483 h 6858000"/>
                <a:gd name="connsiteX207" fmla="*/ 163392 w 9747620"/>
                <a:gd name="connsiteY207" fmla="*/ 4613913 h 6858000"/>
                <a:gd name="connsiteX208" fmla="*/ 106823 w 9747620"/>
                <a:gd name="connsiteY208" fmla="*/ 4396365 h 6858000"/>
                <a:gd name="connsiteX209" fmla="*/ 29326 w 9747620"/>
                <a:gd name="connsiteY209" fmla="*/ 3954702 h 6858000"/>
                <a:gd name="connsiteX210" fmla="*/ 8647 w 9747620"/>
                <a:gd name="connsiteY210" fmla="*/ 3730971 h 6858000"/>
                <a:gd name="connsiteX211" fmla="*/ 2880 w 9747620"/>
                <a:gd name="connsiteY211" fmla="*/ 3618674 h 6858000"/>
                <a:gd name="connsiteX212" fmla="*/ 296 w 9747620"/>
                <a:gd name="connsiteY212" fmla="*/ 3506425 h 6858000"/>
                <a:gd name="connsiteX213" fmla="*/ 20030 w 9747620"/>
                <a:gd name="connsiteY213" fmla="*/ 3056711 h 6858000"/>
                <a:gd name="connsiteX214" fmla="*/ 48664 w 9747620"/>
                <a:gd name="connsiteY214" fmla="*/ 2832980 h 6858000"/>
                <a:gd name="connsiteX215" fmla="*/ 89922 w 9747620"/>
                <a:gd name="connsiteY215" fmla="*/ 2610639 h 6858000"/>
                <a:gd name="connsiteX216" fmla="*/ 211163 w 9747620"/>
                <a:gd name="connsiteY216" fmla="*/ 2174343 h 6858000"/>
                <a:gd name="connsiteX217" fmla="*/ 379129 w 9747620"/>
                <a:gd name="connsiteY217" fmla="*/ 1754393 h 6858000"/>
                <a:gd name="connsiteX218" fmla="*/ 841424 w 9747620"/>
                <a:gd name="connsiteY218" fmla="*/ 976270 h 6858000"/>
                <a:gd name="connsiteX219" fmla="*/ 1130234 w 9747620"/>
                <a:gd name="connsiteY219" fmla="*/ 625768 h 6858000"/>
                <a:gd name="connsiteX220" fmla="*/ 1452897 w 9747620"/>
                <a:gd name="connsiteY220" fmla="*/ 305748 h 6858000"/>
                <a:gd name="connsiteX221" fmla="*/ 1805682 w 9747620"/>
                <a:gd name="connsiteY221" fmla="*/ 18752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Lst>
              <a:rect l="l" t="t" r="r" b="b"/>
              <a:pathLst>
                <a:path w="9747620" h="6858000">
                  <a:moveTo>
                    <a:pt x="7235453" y="0"/>
                  </a:moveTo>
                  <a:lnTo>
                    <a:pt x="7548130" y="0"/>
                  </a:lnTo>
                  <a:lnTo>
                    <a:pt x="7710334" y="111973"/>
                  </a:lnTo>
                  <a:cubicBezTo>
                    <a:pt x="7770781" y="157314"/>
                    <a:pt x="7830282" y="203517"/>
                    <a:pt x="7889188" y="251542"/>
                  </a:cubicBezTo>
                  <a:cubicBezTo>
                    <a:pt x="7947894" y="299470"/>
                    <a:pt x="8005557" y="348453"/>
                    <a:pt x="8061828" y="398586"/>
                  </a:cubicBezTo>
                  <a:cubicBezTo>
                    <a:pt x="8090013" y="423605"/>
                    <a:pt x="8117948" y="448816"/>
                    <a:pt x="8145637" y="474218"/>
                  </a:cubicBezTo>
                  <a:cubicBezTo>
                    <a:pt x="8159506" y="486918"/>
                    <a:pt x="8173375" y="499764"/>
                    <a:pt x="8187242" y="512753"/>
                  </a:cubicBezTo>
                  <a:lnTo>
                    <a:pt x="8228402" y="551575"/>
                  </a:lnTo>
                  <a:cubicBezTo>
                    <a:pt x="8283082" y="603577"/>
                    <a:pt x="8336569" y="656778"/>
                    <a:pt x="8389211" y="710937"/>
                  </a:cubicBezTo>
                  <a:cubicBezTo>
                    <a:pt x="8415458" y="738065"/>
                    <a:pt x="8441455" y="765432"/>
                    <a:pt x="8467206" y="793088"/>
                  </a:cubicBezTo>
                  <a:lnTo>
                    <a:pt x="8486791" y="814223"/>
                  </a:lnTo>
                  <a:lnTo>
                    <a:pt x="8505979" y="835409"/>
                  </a:lnTo>
                  <a:lnTo>
                    <a:pt x="8543509" y="877346"/>
                  </a:lnTo>
                  <a:cubicBezTo>
                    <a:pt x="8593418" y="933423"/>
                    <a:pt x="8642579" y="990601"/>
                    <a:pt x="8690549" y="1048978"/>
                  </a:cubicBezTo>
                  <a:cubicBezTo>
                    <a:pt x="8714558" y="1078168"/>
                    <a:pt x="8738368" y="1107644"/>
                    <a:pt x="8761732" y="1137502"/>
                  </a:cubicBezTo>
                  <a:lnTo>
                    <a:pt x="8796379" y="1182077"/>
                  </a:lnTo>
                  <a:lnTo>
                    <a:pt x="8830678" y="1226986"/>
                  </a:lnTo>
                  <a:cubicBezTo>
                    <a:pt x="8876112" y="1287185"/>
                    <a:pt x="8920304" y="1348532"/>
                    <a:pt x="8963353" y="1410936"/>
                  </a:cubicBezTo>
                  <a:cubicBezTo>
                    <a:pt x="8984727" y="1442137"/>
                    <a:pt x="9005954" y="1473915"/>
                    <a:pt x="9026483" y="1505499"/>
                  </a:cubicBezTo>
                  <a:lnTo>
                    <a:pt x="9057004" y="1552613"/>
                  </a:lnTo>
                  <a:cubicBezTo>
                    <a:pt x="9067245" y="1568525"/>
                    <a:pt x="9077336" y="1584534"/>
                    <a:pt x="9087278" y="1600542"/>
                  </a:cubicBezTo>
                  <a:cubicBezTo>
                    <a:pt x="9127145" y="1664766"/>
                    <a:pt x="9165966" y="1729613"/>
                    <a:pt x="9202851" y="1795515"/>
                  </a:cubicBezTo>
                  <a:cubicBezTo>
                    <a:pt x="9221342" y="1828491"/>
                    <a:pt x="9239437" y="1861417"/>
                    <a:pt x="9257332" y="1894920"/>
                  </a:cubicBezTo>
                  <a:lnTo>
                    <a:pt x="9283778" y="1945436"/>
                  </a:lnTo>
                  <a:lnTo>
                    <a:pt x="9309428" y="1996193"/>
                  </a:lnTo>
                  <a:cubicBezTo>
                    <a:pt x="9343280" y="2064013"/>
                    <a:pt x="9375491" y="2132695"/>
                    <a:pt x="9405714" y="2202191"/>
                  </a:cubicBezTo>
                  <a:cubicBezTo>
                    <a:pt x="9466260" y="2341183"/>
                    <a:pt x="9520493" y="2483053"/>
                    <a:pt x="9566524" y="2627653"/>
                  </a:cubicBezTo>
                  <a:cubicBezTo>
                    <a:pt x="9572289" y="2645675"/>
                    <a:pt x="9578056" y="2663792"/>
                    <a:pt x="9583573" y="2682195"/>
                  </a:cubicBezTo>
                  <a:lnTo>
                    <a:pt x="9591974" y="2709707"/>
                  </a:lnTo>
                  <a:lnTo>
                    <a:pt x="9600027" y="2737650"/>
                  </a:lnTo>
                  <a:cubicBezTo>
                    <a:pt x="9610416" y="2774171"/>
                    <a:pt x="9620358" y="2810884"/>
                    <a:pt x="9629803" y="2847694"/>
                  </a:cubicBezTo>
                  <a:cubicBezTo>
                    <a:pt x="9648692" y="2921312"/>
                    <a:pt x="9665196" y="2995506"/>
                    <a:pt x="9679909" y="3070131"/>
                  </a:cubicBezTo>
                  <a:cubicBezTo>
                    <a:pt x="9683587" y="3088775"/>
                    <a:pt x="9687118" y="3107418"/>
                    <a:pt x="9690498" y="3126159"/>
                  </a:cubicBezTo>
                  <a:lnTo>
                    <a:pt x="9700390" y="3181805"/>
                  </a:lnTo>
                  <a:cubicBezTo>
                    <a:pt x="9703670" y="3201120"/>
                    <a:pt x="9706952" y="3222112"/>
                    <a:pt x="9709685" y="3243392"/>
                  </a:cubicBezTo>
                  <a:lnTo>
                    <a:pt x="9713016" y="3267597"/>
                  </a:lnTo>
                  <a:lnTo>
                    <a:pt x="9716844" y="3294437"/>
                  </a:lnTo>
                  <a:cubicBezTo>
                    <a:pt x="9718186" y="3303926"/>
                    <a:pt x="9719527" y="3313895"/>
                    <a:pt x="9720820" y="3324488"/>
                  </a:cubicBezTo>
                  <a:lnTo>
                    <a:pt x="9722709" y="3340737"/>
                  </a:lnTo>
                  <a:lnTo>
                    <a:pt x="9724301" y="3356361"/>
                  </a:lnTo>
                  <a:lnTo>
                    <a:pt x="9730166" y="3412197"/>
                  </a:lnTo>
                  <a:cubicBezTo>
                    <a:pt x="9732005" y="3430842"/>
                    <a:pt x="9734291" y="3449342"/>
                    <a:pt x="9735783" y="3468083"/>
                  </a:cubicBezTo>
                  <a:lnTo>
                    <a:pt x="9739760" y="3524399"/>
                  </a:lnTo>
                  <a:lnTo>
                    <a:pt x="9741748" y="3552580"/>
                  </a:lnTo>
                  <a:lnTo>
                    <a:pt x="9742742" y="3566672"/>
                  </a:lnTo>
                  <a:lnTo>
                    <a:pt x="9743488" y="3581865"/>
                  </a:lnTo>
                  <a:lnTo>
                    <a:pt x="9744731" y="3611341"/>
                  </a:lnTo>
                  <a:lnTo>
                    <a:pt x="9745725" y="3639715"/>
                  </a:lnTo>
                  <a:cubicBezTo>
                    <a:pt x="9746868" y="3677579"/>
                    <a:pt x="9747514" y="3715587"/>
                    <a:pt x="9747613" y="3753786"/>
                  </a:cubicBezTo>
                  <a:cubicBezTo>
                    <a:pt x="9747763" y="3830232"/>
                    <a:pt x="9745675" y="3906870"/>
                    <a:pt x="9740405" y="3984609"/>
                  </a:cubicBezTo>
                  <a:lnTo>
                    <a:pt x="9736329" y="4038434"/>
                  </a:lnTo>
                  <a:cubicBezTo>
                    <a:pt x="9735087" y="4055976"/>
                    <a:pt x="9733794" y="4076346"/>
                    <a:pt x="9731408" y="4099446"/>
                  </a:cubicBezTo>
                  <a:lnTo>
                    <a:pt x="9717987" y="4213325"/>
                  </a:lnTo>
                  <a:cubicBezTo>
                    <a:pt x="9717441" y="4217926"/>
                    <a:pt x="9716943" y="4222527"/>
                    <a:pt x="9716297" y="4227129"/>
                  </a:cubicBezTo>
                  <a:lnTo>
                    <a:pt x="9714110" y="4240981"/>
                  </a:lnTo>
                  <a:lnTo>
                    <a:pt x="9709785" y="4268731"/>
                  </a:lnTo>
                  <a:lnTo>
                    <a:pt x="9701086" y="4324185"/>
                  </a:lnTo>
                  <a:lnTo>
                    <a:pt x="9698699" y="4338994"/>
                  </a:lnTo>
                  <a:lnTo>
                    <a:pt x="9695966" y="4355050"/>
                  </a:lnTo>
                  <a:cubicBezTo>
                    <a:pt x="9694077" y="4365547"/>
                    <a:pt x="9692188" y="4375516"/>
                    <a:pt x="9690299" y="4385054"/>
                  </a:cubicBezTo>
                  <a:lnTo>
                    <a:pt x="9679909" y="4437919"/>
                  </a:lnTo>
                  <a:cubicBezTo>
                    <a:pt x="9677871" y="4448320"/>
                    <a:pt x="9675735" y="4458097"/>
                    <a:pt x="9673647" y="4468162"/>
                  </a:cubicBezTo>
                  <a:lnTo>
                    <a:pt x="9667532" y="4496296"/>
                  </a:lnTo>
                  <a:cubicBezTo>
                    <a:pt x="9663406" y="4514941"/>
                    <a:pt x="9659081" y="4533585"/>
                    <a:pt x="9654658" y="4552277"/>
                  </a:cubicBezTo>
                  <a:cubicBezTo>
                    <a:pt x="9645760" y="4589613"/>
                    <a:pt x="9636265" y="4627045"/>
                    <a:pt x="9625876" y="4664478"/>
                  </a:cubicBezTo>
                  <a:cubicBezTo>
                    <a:pt x="9605048" y="4739247"/>
                    <a:pt x="9581088" y="4814303"/>
                    <a:pt x="9552803" y="4888737"/>
                  </a:cubicBezTo>
                  <a:cubicBezTo>
                    <a:pt x="9524668" y="4962930"/>
                    <a:pt x="9492109" y="5037459"/>
                    <a:pt x="9452639" y="5110934"/>
                  </a:cubicBezTo>
                  <a:cubicBezTo>
                    <a:pt x="9432905" y="5147695"/>
                    <a:pt x="9411431" y="5184169"/>
                    <a:pt x="9388017" y="5220020"/>
                  </a:cubicBezTo>
                  <a:cubicBezTo>
                    <a:pt x="9382201" y="5228982"/>
                    <a:pt x="9376236" y="5237945"/>
                    <a:pt x="9370073" y="5246811"/>
                  </a:cubicBezTo>
                  <a:lnTo>
                    <a:pt x="9360926" y="5260040"/>
                  </a:lnTo>
                  <a:lnTo>
                    <a:pt x="9351829" y="5272646"/>
                  </a:lnTo>
                  <a:cubicBezTo>
                    <a:pt x="9339700" y="5289468"/>
                    <a:pt x="9327174" y="5306387"/>
                    <a:pt x="9313305" y="5323881"/>
                  </a:cubicBezTo>
                  <a:cubicBezTo>
                    <a:pt x="9258625" y="5393042"/>
                    <a:pt x="9196489" y="5455445"/>
                    <a:pt x="9130375" y="5510802"/>
                  </a:cubicBezTo>
                  <a:cubicBezTo>
                    <a:pt x="9097319" y="5538505"/>
                    <a:pt x="9063268" y="5564530"/>
                    <a:pt x="9028422" y="5588878"/>
                  </a:cubicBezTo>
                  <a:cubicBezTo>
                    <a:pt x="9019723" y="5595109"/>
                    <a:pt x="9011074" y="5600909"/>
                    <a:pt x="9002424" y="5606707"/>
                  </a:cubicBezTo>
                  <a:cubicBezTo>
                    <a:pt x="8993774" y="5612603"/>
                    <a:pt x="8985124" y="5618211"/>
                    <a:pt x="8976525" y="5623866"/>
                  </a:cubicBezTo>
                  <a:cubicBezTo>
                    <a:pt x="8959277" y="5635130"/>
                    <a:pt x="8941629" y="5646201"/>
                    <a:pt x="8924181" y="5656793"/>
                  </a:cubicBezTo>
                  <a:cubicBezTo>
                    <a:pt x="8854291" y="5699259"/>
                    <a:pt x="8784946" y="5736451"/>
                    <a:pt x="8717291" y="5771582"/>
                  </a:cubicBezTo>
                  <a:lnTo>
                    <a:pt x="8617129" y="5823105"/>
                  </a:lnTo>
                  <a:lnTo>
                    <a:pt x="8518207" y="5873671"/>
                  </a:lnTo>
                  <a:cubicBezTo>
                    <a:pt x="8391200" y="5939188"/>
                    <a:pt x="8267922" y="6009788"/>
                    <a:pt x="8150558" y="6086761"/>
                  </a:cubicBezTo>
                  <a:cubicBezTo>
                    <a:pt x="8091901" y="6125248"/>
                    <a:pt x="8034736" y="6165317"/>
                    <a:pt x="7979410" y="6207158"/>
                  </a:cubicBezTo>
                  <a:cubicBezTo>
                    <a:pt x="7965739" y="6217750"/>
                    <a:pt x="7951771" y="6228103"/>
                    <a:pt x="7938300" y="6238887"/>
                  </a:cubicBezTo>
                  <a:lnTo>
                    <a:pt x="7897936" y="6271286"/>
                  </a:lnTo>
                  <a:lnTo>
                    <a:pt x="7858367" y="6304357"/>
                  </a:lnTo>
                  <a:lnTo>
                    <a:pt x="7819048" y="6338770"/>
                  </a:lnTo>
                  <a:cubicBezTo>
                    <a:pt x="7804882" y="6351232"/>
                    <a:pt x="7792105" y="6362591"/>
                    <a:pt x="7778882" y="6374477"/>
                  </a:cubicBezTo>
                  <a:lnTo>
                    <a:pt x="7739563" y="6410328"/>
                  </a:lnTo>
                  <a:cubicBezTo>
                    <a:pt x="7713366" y="6434485"/>
                    <a:pt x="7687168" y="6459120"/>
                    <a:pt x="7660824" y="6484138"/>
                  </a:cubicBezTo>
                  <a:lnTo>
                    <a:pt x="7502302" y="6636360"/>
                  </a:lnTo>
                  <a:lnTo>
                    <a:pt x="7273394" y="6858000"/>
                  </a:lnTo>
                  <a:lnTo>
                    <a:pt x="6780690" y="6858000"/>
                  </a:lnTo>
                  <a:lnTo>
                    <a:pt x="6854939" y="6783597"/>
                  </a:lnTo>
                  <a:cubicBezTo>
                    <a:pt x="6880688" y="6757810"/>
                    <a:pt x="6906338" y="6732265"/>
                    <a:pt x="6932087" y="6705809"/>
                  </a:cubicBezTo>
                  <a:lnTo>
                    <a:pt x="7241130" y="6390965"/>
                  </a:lnTo>
                  <a:lnTo>
                    <a:pt x="7397564" y="6233087"/>
                  </a:lnTo>
                  <a:cubicBezTo>
                    <a:pt x="7424009" y="6206679"/>
                    <a:pt x="7450802" y="6180175"/>
                    <a:pt x="7478142" y="6153670"/>
                  </a:cubicBezTo>
                  <a:lnTo>
                    <a:pt x="7519600" y="6113937"/>
                  </a:lnTo>
                  <a:cubicBezTo>
                    <a:pt x="7533469" y="6100805"/>
                    <a:pt x="7547934" y="6087288"/>
                    <a:pt x="7561207" y="6075067"/>
                  </a:cubicBezTo>
                  <a:lnTo>
                    <a:pt x="7604204" y="6035526"/>
                  </a:lnTo>
                  <a:lnTo>
                    <a:pt x="7648644" y="5996416"/>
                  </a:lnTo>
                  <a:cubicBezTo>
                    <a:pt x="7663608" y="5983570"/>
                    <a:pt x="7678768" y="5971013"/>
                    <a:pt x="7693830" y="5958264"/>
                  </a:cubicBezTo>
                  <a:cubicBezTo>
                    <a:pt x="7708942" y="5945611"/>
                    <a:pt x="7724352" y="5933485"/>
                    <a:pt x="7739662" y="5921073"/>
                  </a:cubicBezTo>
                  <a:cubicBezTo>
                    <a:pt x="7801154" y="5872088"/>
                    <a:pt x="7864234" y="5825502"/>
                    <a:pt x="7928458" y="5781025"/>
                  </a:cubicBezTo>
                  <a:cubicBezTo>
                    <a:pt x="8057005" y="5692164"/>
                    <a:pt x="8190077" y="5611500"/>
                    <a:pt x="8325882" y="5537450"/>
                  </a:cubicBezTo>
                  <a:lnTo>
                    <a:pt x="8424555" y="5484106"/>
                  </a:lnTo>
                  <a:lnTo>
                    <a:pt x="8521737" y="5431289"/>
                  </a:lnTo>
                  <a:cubicBezTo>
                    <a:pt x="8585315" y="5396349"/>
                    <a:pt x="8646456" y="5361840"/>
                    <a:pt x="8702677" y="5325942"/>
                  </a:cubicBezTo>
                  <a:cubicBezTo>
                    <a:pt x="8716795" y="5316931"/>
                    <a:pt x="8730365" y="5308017"/>
                    <a:pt x="8743986" y="5298717"/>
                  </a:cubicBezTo>
                  <a:cubicBezTo>
                    <a:pt x="8750747" y="5294069"/>
                    <a:pt x="8757606" y="5289420"/>
                    <a:pt x="8764167" y="5284723"/>
                  </a:cubicBezTo>
                  <a:cubicBezTo>
                    <a:pt x="8770778" y="5280074"/>
                    <a:pt x="8777440" y="5275377"/>
                    <a:pt x="8783704" y="5270679"/>
                  </a:cubicBezTo>
                  <a:cubicBezTo>
                    <a:pt x="8809155" y="5251987"/>
                    <a:pt x="8833611" y="5232577"/>
                    <a:pt x="8856776" y="5212399"/>
                  </a:cubicBezTo>
                  <a:cubicBezTo>
                    <a:pt x="8903104" y="5172043"/>
                    <a:pt x="8944463" y="5128668"/>
                    <a:pt x="8979856" y="5082081"/>
                  </a:cubicBezTo>
                  <a:cubicBezTo>
                    <a:pt x="8988555" y="5070722"/>
                    <a:pt x="8997602" y="5057973"/>
                    <a:pt x="9006699" y="5044984"/>
                  </a:cubicBezTo>
                  <a:lnTo>
                    <a:pt x="9013509" y="5035254"/>
                  </a:lnTo>
                  <a:lnTo>
                    <a:pt x="9019773" y="5025812"/>
                  </a:lnTo>
                  <a:cubicBezTo>
                    <a:pt x="9023997" y="5019629"/>
                    <a:pt x="9028073" y="5013254"/>
                    <a:pt x="9032050" y="5006833"/>
                  </a:cubicBezTo>
                  <a:cubicBezTo>
                    <a:pt x="9048206" y="4981238"/>
                    <a:pt x="9063417" y="4954542"/>
                    <a:pt x="9077733" y="4926839"/>
                  </a:cubicBezTo>
                  <a:cubicBezTo>
                    <a:pt x="9106415" y="4871434"/>
                    <a:pt x="9131469" y="4812050"/>
                    <a:pt x="9154285" y="4750223"/>
                  </a:cubicBezTo>
                  <a:cubicBezTo>
                    <a:pt x="9176904" y="4688586"/>
                    <a:pt x="9196537" y="4625032"/>
                    <a:pt x="9213936" y="4559945"/>
                  </a:cubicBezTo>
                  <a:cubicBezTo>
                    <a:pt x="9222635" y="4527402"/>
                    <a:pt x="9230887" y="4494523"/>
                    <a:pt x="9238592" y="4461357"/>
                  </a:cubicBezTo>
                  <a:cubicBezTo>
                    <a:pt x="9242419" y="4444773"/>
                    <a:pt x="9246147" y="4428094"/>
                    <a:pt x="9249776" y="4411319"/>
                  </a:cubicBezTo>
                  <a:lnTo>
                    <a:pt x="9255046" y="4386299"/>
                  </a:lnTo>
                  <a:lnTo>
                    <a:pt x="9259718" y="4363342"/>
                  </a:lnTo>
                  <a:lnTo>
                    <a:pt x="9269959" y="4309566"/>
                  </a:lnTo>
                  <a:lnTo>
                    <a:pt x="9274233" y="4286176"/>
                  </a:lnTo>
                  <a:lnTo>
                    <a:pt x="9276022" y="4275489"/>
                  </a:lnTo>
                  <a:lnTo>
                    <a:pt x="9277861" y="4263506"/>
                  </a:lnTo>
                  <a:lnTo>
                    <a:pt x="9286014" y="4211696"/>
                  </a:lnTo>
                  <a:lnTo>
                    <a:pt x="9290092" y="4185767"/>
                  </a:lnTo>
                  <a:lnTo>
                    <a:pt x="9292128" y="4172826"/>
                  </a:lnTo>
                  <a:cubicBezTo>
                    <a:pt x="9292774" y="4168464"/>
                    <a:pt x="9293173" y="4164055"/>
                    <a:pt x="9293720" y="4159693"/>
                  </a:cubicBezTo>
                  <a:lnTo>
                    <a:pt x="9305650" y="4057941"/>
                  </a:lnTo>
                  <a:cubicBezTo>
                    <a:pt x="9306991" y="4045048"/>
                    <a:pt x="9308085" y="4029328"/>
                    <a:pt x="9309378" y="4010779"/>
                  </a:cubicBezTo>
                  <a:lnTo>
                    <a:pt x="9313454" y="3956428"/>
                  </a:lnTo>
                  <a:cubicBezTo>
                    <a:pt x="9318326" y="3889806"/>
                    <a:pt x="9320611" y="3821796"/>
                    <a:pt x="9320811" y="3753546"/>
                  </a:cubicBezTo>
                  <a:cubicBezTo>
                    <a:pt x="9320910" y="3719373"/>
                    <a:pt x="9320513" y="3685056"/>
                    <a:pt x="9319617" y="3650643"/>
                  </a:cubicBezTo>
                  <a:lnTo>
                    <a:pt x="9318176" y="3600030"/>
                  </a:lnTo>
                  <a:lnTo>
                    <a:pt x="9317778" y="3588096"/>
                  </a:lnTo>
                  <a:lnTo>
                    <a:pt x="9316983" y="3575107"/>
                  </a:lnTo>
                  <a:lnTo>
                    <a:pt x="9315443" y="3549130"/>
                  </a:lnTo>
                  <a:lnTo>
                    <a:pt x="9312311" y="3497176"/>
                  </a:lnTo>
                  <a:cubicBezTo>
                    <a:pt x="9311118" y="3479825"/>
                    <a:pt x="9309129" y="3462427"/>
                    <a:pt x="9307587" y="3445029"/>
                  </a:cubicBezTo>
                  <a:lnTo>
                    <a:pt x="9302618" y="3392835"/>
                  </a:lnTo>
                  <a:lnTo>
                    <a:pt x="9301574" y="3381476"/>
                  </a:lnTo>
                  <a:lnTo>
                    <a:pt x="9300430" y="3370740"/>
                  </a:lnTo>
                  <a:lnTo>
                    <a:pt x="9297547" y="3346966"/>
                  </a:lnTo>
                  <a:lnTo>
                    <a:pt x="9294017" y="3320030"/>
                  </a:lnTo>
                  <a:lnTo>
                    <a:pt x="9290439" y="3290410"/>
                  </a:lnTo>
                  <a:cubicBezTo>
                    <a:pt x="9288849" y="3275745"/>
                    <a:pt x="9286761" y="3260934"/>
                    <a:pt x="9284275" y="3244544"/>
                  </a:cubicBezTo>
                  <a:lnTo>
                    <a:pt x="9275974" y="3193116"/>
                  </a:lnTo>
                  <a:cubicBezTo>
                    <a:pt x="9273189" y="3176197"/>
                    <a:pt x="9270256" y="3159230"/>
                    <a:pt x="9267224" y="3142264"/>
                  </a:cubicBezTo>
                  <a:cubicBezTo>
                    <a:pt x="9255146" y="3074493"/>
                    <a:pt x="9240929" y="3007057"/>
                    <a:pt x="9225320" y="2939909"/>
                  </a:cubicBezTo>
                  <a:cubicBezTo>
                    <a:pt x="9217465" y="2906311"/>
                    <a:pt x="9209214" y="2872809"/>
                    <a:pt x="9200466" y="2839449"/>
                  </a:cubicBezTo>
                  <a:lnTo>
                    <a:pt x="9193953" y="2814958"/>
                  </a:lnTo>
                  <a:lnTo>
                    <a:pt x="9186993" y="2790276"/>
                  </a:lnTo>
                  <a:cubicBezTo>
                    <a:pt x="9182471" y="2773836"/>
                    <a:pt x="9177599" y="2757252"/>
                    <a:pt x="9172628" y="2740621"/>
                  </a:cubicBezTo>
                  <a:cubicBezTo>
                    <a:pt x="9133110" y="2607859"/>
                    <a:pt x="9087527" y="2476533"/>
                    <a:pt x="9035082" y="2347463"/>
                  </a:cubicBezTo>
                  <a:cubicBezTo>
                    <a:pt x="9008836" y="2282951"/>
                    <a:pt x="8981298" y="2218870"/>
                    <a:pt x="8952118" y="2155413"/>
                  </a:cubicBezTo>
                  <a:lnTo>
                    <a:pt x="8929948" y="2107915"/>
                  </a:lnTo>
                  <a:lnTo>
                    <a:pt x="8907429" y="2060753"/>
                  </a:lnTo>
                  <a:cubicBezTo>
                    <a:pt x="8892170" y="2029408"/>
                    <a:pt x="8876411" y="1997726"/>
                    <a:pt x="8860404" y="1966478"/>
                  </a:cubicBezTo>
                  <a:cubicBezTo>
                    <a:pt x="8828243" y="1903931"/>
                    <a:pt x="8795336" y="1841670"/>
                    <a:pt x="8760788" y="1780274"/>
                  </a:cubicBezTo>
                  <a:lnTo>
                    <a:pt x="8734740" y="1734311"/>
                  </a:lnTo>
                  <a:lnTo>
                    <a:pt x="8708046" y="1687963"/>
                  </a:lnTo>
                  <a:cubicBezTo>
                    <a:pt x="8690300" y="1657337"/>
                    <a:pt x="8672455" y="1627334"/>
                    <a:pt x="8654062" y="1597234"/>
                  </a:cubicBezTo>
                  <a:cubicBezTo>
                    <a:pt x="8617575" y="1536988"/>
                    <a:pt x="8579398" y="1477365"/>
                    <a:pt x="8540278" y="1418077"/>
                  </a:cubicBezTo>
                  <a:lnTo>
                    <a:pt x="8510701" y="1373695"/>
                  </a:lnTo>
                  <a:lnTo>
                    <a:pt x="8480676" y="1329457"/>
                  </a:lnTo>
                  <a:cubicBezTo>
                    <a:pt x="8460643" y="1300269"/>
                    <a:pt x="8440411" y="1271224"/>
                    <a:pt x="8419782" y="1242275"/>
                  </a:cubicBezTo>
                  <a:cubicBezTo>
                    <a:pt x="8378476" y="1184425"/>
                    <a:pt x="8335923" y="1127006"/>
                    <a:pt x="8292478" y="1069875"/>
                  </a:cubicBezTo>
                  <a:lnTo>
                    <a:pt x="8259620" y="1027123"/>
                  </a:lnTo>
                  <a:lnTo>
                    <a:pt x="8243416" y="1006130"/>
                  </a:lnTo>
                  <a:lnTo>
                    <a:pt x="8227110" y="985473"/>
                  </a:lnTo>
                  <a:cubicBezTo>
                    <a:pt x="8204890" y="957483"/>
                    <a:pt x="8182422" y="929684"/>
                    <a:pt x="8159604" y="902029"/>
                  </a:cubicBezTo>
                  <a:cubicBezTo>
                    <a:pt x="8114170" y="846671"/>
                    <a:pt x="8067494" y="792177"/>
                    <a:pt x="8020022" y="738209"/>
                  </a:cubicBezTo>
                  <a:lnTo>
                    <a:pt x="7984182" y="697901"/>
                  </a:lnTo>
                  <a:lnTo>
                    <a:pt x="7948043" y="657976"/>
                  </a:lnTo>
                  <a:cubicBezTo>
                    <a:pt x="7923636" y="631328"/>
                    <a:pt x="7899079" y="604823"/>
                    <a:pt x="7874324" y="578607"/>
                  </a:cubicBezTo>
                  <a:cubicBezTo>
                    <a:pt x="7824714" y="526221"/>
                    <a:pt x="7774608" y="474458"/>
                    <a:pt x="7723308" y="424085"/>
                  </a:cubicBezTo>
                  <a:cubicBezTo>
                    <a:pt x="7672157" y="373808"/>
                    <a:pt x="7619168" y="324153"/>
                    <a:pt x="7565532" y="275602"/>
                  </a:cubicBezTo>
                  <a:close/>
                  <a:moveTo>
                    <a:pt x="1832515" y="0"/>
                  </a:moveTo>
                  <a:lnTo>
                    <a:pt x="2158449" y="0"/>
                  </a:lnTo>
                  <a:lnTo>
                    <a:pt x="2108797" y="37845"/>
                  </a:lnTo>
                  <a:cubicBezTo>
                    <a:pt x="2052253" y="83168"/>
                    <a:pt x="1996914" y="129778"/>
                    <a:pt x="1942830" y="177587"/>
                  </a:cubicBezTo>
                  <a:cubicBezTo>
                    <a:pt x="1834563" y="273109"/>
                    <a:pt x="1731317" y="373472"/>
                    <a:pt x="1633191" y="477909"/>
                  </a:cubicBezTo>
                  <a:cubicBezTo>
                    <a:pt x="1240290" y="896038"/>
                    <a:pt x="927123" y="1375900"/>
                    <a:pt x="702686" y="1889935"/>
                  </a:cubicBezTo>
                  <a:cubicBezTo>
                    <a:pt x="646565" y="2018192"/>
                    <a:pt x="596210" y="2149182"/>
                    <a:pt x="551769" y="2281416"/>
                  </a:cubicBezTo>
                  <a:cubicBezTo>
                    <a:pt x="507429" y="2413700"/>
                    <a:pt x="469451" y="2547613"/>
                    <a:pt x="438383" y="2682772"/>
                  </a:cubicBezTo>
                  <a:cubicBezTo>
                    <a:pt x="423122" y="2750111"/>
                    <a:pt x="409203" y="2818553"/>
                    <a:pt x="397124" y="2887044"/>
                  </a:cubicBezTo>
                  <a:cubicBezTo>
                    <a:pt x="385144" y="2955581"/>
                    <a:pt x="374357" y="3024359"/>
                    <a:pt x="365658" y="3093424"/>
                  </a:cubicBezTo>
                  <a:cubicBezTo>
                    <a:pt x="347813" y="3231506"/>
                    <a:pt x="336727" y="3370260"/>
                    <a:pt x="332105" y="3509828"/>
                  </a:cubicBezTo>
                  <a:cubicBezTo>
                    <a:pt x="322311" y="3788822"/>
                    <a:pt x="339660" y="4068628"/>
                    <a:pt x="383653" y="4346327"/>
                  </a:cubicBezTo>
                  <a:cubicBezTo>
                    <a:pt x="394539" y="4415489"/>
                    <a:pt x="407464" y="4484267"/>
                    <a:pt x="422327" y="4552900"/>
                  </a:cubicBezTo>
                  <a:cubicBezTo>
                    <a:pt x="437041" y="4621534"/>
                    <a:pt x="453693" y="4689881"/>
                    <a:pt x="472184" y="4757939"/>
                  </a:cubicBezTo>
                  <a:cubicBezTo>
                    <a:pt x="490677" y="4825949"/>
                    <a:pt x="511007" y="4893673"/>
                    <a:pt x="533078" y="4960916"/>
                  </a:cubicBezTo>
                  <a:cubicBezTo>
                    <a:pt x="555249" y="5028208"/>
                    <a:pt x="578662" y="5095022"/>
                    <a:pt x="604710" y="5160875"/>
                  </a:cubicBezTo>
                  <a:cubicBezTo>
                    <a:pt x="707358" y="5425298"/>
                    <a:pt x="838443" y="5680902"/>
                    <a:pt x="996766" y="5920640"/>
                  </a:cubicBezTo>
                  <a:cubicBezTo>
                    <a:pt x="1154790" y="6160571"/>
                    <a:pt x="1340404" y="6384350"/>
                    <a:pt x="1549183" y="6586417"/>
                  </a:cubicBezTo>
                  <a:cubicBezTo>
                    <a:pt x="1601365" y="6636982"/>
                    <a:pt x="1654970" y="6686208"/>
                    <a:pt x="1709890" y="6734063"/>
                  </a:cubicBezTo>
                  <a:lnTo>
                    <a:pt x="1859761" y="6858000"/>
                  </a:lnTo>
                  <a:lnTo>
                    <a:pt x="1671798" y="6858000"/>
                  </a:lnTo>
                  <a:lnTo>
                    <a:pt x="1628044" y="6822717"/>
                  </a:lnTo>
                  <a:cubicBezTo>
                    <a:pt x="1570828" y="6774460"/>
                    <a:pt x="1514710" y="6724955"/>
                    <a:pt x="1459756" y="6674223"/>
                  </a:cubicBezTo>
                  <a:cubicBezTo>
                    <a:pt x="1019931" y="6268363"/>
                    <a:pt x="658296" y="5781216"/>
                    <a:pt x="402543" y="5241588"/>
                  </a:cubicBezTo>
                  <a:cubicBezTo>
                    <a:pt x="370231" y="5174103"/>
                    <a:pt x="340306" y="5105661"/>
                    <a:pt x="311923" y="5036741"/>
                  </a:cubicBezTo>
                  <a:cubicBezTo>
                    <a:pt x="283539" y="4967771"/>
                    <a:pt x="256895" y="4897986"/>
                    <a:pt x="232140" y="4827483"/>
                  </a:cubicBezTo>
                  <a:cubicBezTo>
                    <a:pt x="207334" y="4756981"/>
                    <a:pt x="184368" y="4685758"/>
                    <a:pt x="163392" y="4613913"/>
                  </a:cubicBezTo>
                  <a:cubicBezTo>
                    <a:pt x="142514" y="4542020"/>
                    <a:pt x="123624" y="4469360"/>
                    <a:pt x="106823" y="4396365"/>
                  </a:cubicBezTo>
                  <a:cubicBezTo>
                    <a:pt x="73120" y="4250902"/>
                    <a:pt x="47371" y="4103281"/>
                    <a:pt x="29326" y="3954702"/>
                  </a:cubicBezTo>
                  <a:cubicBezTo>
                    <a:pt x="20478" y="3880365"/>
                    <a:pt x="13320" y="3805789"/>
                    <a:pt x="8647" y="3730971"/>
                  </a:cubicBezTo>
                  <a:cubicBezTo>
                    <a:pt x="6311" y="3693587"/>
                    <a:pt x="4322" y="3656106"/>
                    <a:pt x="2880" y="3618674"/>
                  </a:cubicBezTo>
                  <a:cubicBezTo>
                    <a:pt x="1539" y="3581146"/>
                    <a:pt x="694" y="3543809"/>
                    <a:pt x="296" y="3506425"/>
                  </a:cubicBezTo>
                  <a:cubicBezTo>
                    <a:pt x="-1543" y="3356649"/>
                    <a:pt x="5217" y="3206200"/>
                    <a:pt x="20030" y="3056711"/>
                  </a:cubicBezTo>
                  <a:cubicBezTo>
                    <a:pt x="27686" y="2981942"/>
                    <a:pt x="36931" y="2907317"/>
                    <a:pt x="48664" y="2832980"/>
                  </a:cubicBezTo>
                  <a:cubicBezTo>
                    <a:pt x="60395" y="2758642"/>
                    <a:pt x="73716" y="2684784"/>
                    <a:pt x="89922" y="2610639"/>
                  </a:cubicBezTo>
                  <a:cubicBezTo>
                    <a:pt x="121736" y="2462826"/>
                    <a:pt x="162645" y="2317220"/>
                    <a:pt x="211163" y="2174343"/>
                  </a:cubicBezTo>
                  <a:cubicBezTo>
                    <a:pt x="259778" y="2031468"/>
                    <a:pt x="315601" y="1891517"/>
                    <a:pt x="379129" y="1754393"/>
                  </a:cubicBezTo>
                  <a:cubicBezTo>
                    <a:pt x="505540" y="1480433"/>
                    <a:pt x="660930" y="1219318"/>
                    <a:pt x="841424" y="976270"/>
                  </a:cubicBezTo>
                  <a:cubicBezTo>
                    <a:pt x="931498" y="854627"/>
                    <a:pt x="1028182" y="737777"/>
                    <a:pt x="1130234" y="625768"/>
                  </a:cubicBezTo>
                  <a:cubicBezTo>
                    <a:pt x="1232486" y="513855"/>
                    <a:pt x="1340157" y="407117"/>
                    <a:pt x="1452897" y="305748"/>
                  </a:cubicBezTo>
                  <a:cubicBezTo>
                    <a:pt x="1565736" y="204380"/>
                    <a:pt x="1683596" y="108665"/>
                    <a:pt x="1805682" y="18752"/>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9" name="Freeform: Shape 18">
              <a:extLst>
                <a:ext uri="{FF2B5EF4-FFF2-40B4-BE49-F238E27FC236}">
                  <a16:creationId xmlns:a16="http://schemas.microsoft.com/office/drawing/2014/main" id="{D3FC2AE7-C60C-4C48-BCAE-410BB6C3DF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08320" y="36937"/>
              <a:ext cx="9767847" cy="6858000"/>
            </a:xfrm>
            <a:custGeom>
              <a:avLst/>
              <a:gdLst>
                <a:gd name="connsiteX0" fmla="*/ 7151367 w 9767847"/>
                <a:gd name="connsiteY0" fmla="*/ 0 h 6858000"/>
                <a:gd name="connsiteX1" fmla="*/ 7881247 w 9767847"/>
                <a:gd name="connsiteY1" fmla="*/ 0 h 6858000"/>
                <a:gd name="connsiteX2" fmla="*/ 7990553 w 9767847"/>
                <a:gd name="connsiteY2" fmla="*/ 81317 h 6858000"/>
                <a:gd name="connsiteX3" fmla="*/ 9767847 w 9767847"/>
                <a:gd name="connsiteY3" fmla="*/ 3649031 h 6858000"/>
                <a:gd name="connsiteX4" fmla="*/ 8652597 w 9767847"/>
                <a:gd name="connsiteY4" fmla="*/ 6590005 h 6858000"/>
                <a:gd name="connsiteX5" fmla="*/ 8395306 w 9767847"/>
                <a:gd name="connsiteY5" fmla="*/ 6858000 h 6858000"/>
                <a:gd name="connsiteX6" fmla="*/ 6762603 w 9767847"/>
                <a:gd name="connsiteY6" fmla="*/ 6858000 h 6858000"/>
                <a:gd name="connsiteX7" fmla="*/ 6765962 w 9767847"/>
                <a:gd name="connsiteY7" fmla="*/ 6854844 h 6858000"/>
                <a:gd name="connsiteX8" fmla="*/ 6804586 w 9767847"/>
                <a:gd name="connsiteY8" fmla="*/ 6817103 h 6858000"/>
                <a:gd name="connsiteX9" fmla="*/ 6881735 w 9767847"/>
                <a:gd name="connsiteY9" fmla="*/ 6741197 h 6858000"/>
                <a:gd name="connsiteX10" fmla="*/ 6958883 w 9767847"/>
                <a:gd name="connsiteY10" fmla="*/ 6664822 h 6858000"/>
                <a:gd name="connsiteX11" fmla="*/ 7267925 w 9767847"/>
                <a:gd name="connsiteY11" fmla="*/ 6355694 h 6858000"/>
                <a:gd name="connsiteX12" fmla="*/ 7424360 w 9767847"/>
                <a:gd name="connsiteY12" fmla="*/ 6200685 h 6858000"/>
                <a:gd name="connsiteX13" fmla="*/ 7504938 w 9767847"/>
                <a:gd name="connsiteY13" fmla="*/ 6122708 h 6858000"/>
                <a:gd name="connsiteX14" fmla="*/ 7546396 w 9767847"/>
                <a:gd name="connsiteY14" fmla="*/ 6083697 h 6858000"/>
                <a:gd name="connsiteX15" fmla="*/ 7588002 w 9767847"/>
                <a:gd name="connsiteY15" fmla="*/ 6045532 h 6858000"/>
                <a:gd name="connsiteX16" fmla="*/ 7631000 w 9767847"/>
                <a:gd name="connsiteY16" fmla="*/ 6006709 h 6858000"/>
                <a:gd name="connsiteX17" fmla="*/ 7675440 w 9767847"/>
                <a:gd name="connsiteY17" fmla="*/ 5968309 h 6858000"/>
                <a:gd name="connsiteX18" fmla="*/ 7720626 w 9767847"/>
                <a:gd name="connsiteY18" fmla="*/ 5930851 h 6858000"/>
                <a:gd name="connsiteX19" fmla="*/ 7766458 w 9767847"/>
                <a:gd name="connsiteY19" fmla="*/ 5894334 h 6858000"/>
                <a:gd name="connsiteX20" fmla="*/ 7955254 w 9767847"/>
                <a:gd name="connsiteY20" fmla="*/ 5756828 h 6858000"/>
                <a:gd name="connsiteX21" fmla="*/ 8352678 w 9767847"/>
                <a:gd name="connsiteY21" fmla="*/ 5517630 h 6858000"/>
                <a:gd name="connsiteX22" fmla="*/ 8451350 w 9767847"/>
                <a:gd name="connsiteY22" fmla="*/ 5465254 h 6858000"/>
                <a:gd name="connsiteX23" fmla="*/ 8548532 w 9767847"/>
                <a:gd name="connsiteY23" fmla="*/ 5413395 h 6858000"/>
                <a:gd name="connsiteX24" fmla="*/ 8729473 w 9767847"/>
                <a:gd name="connsiteY24" fmla="*/ 5309961 h 6858000"/>
                <a:gd name="connsiteX25" fmla="*/ 8770781 w 9767847"/>
                <a:gd name="connsiteY25" fmla="*/ 5283232 h 6858000"/>
                <a:gd name="connsiteX26" fmla="*/ 8790964 w 9767847"/>
                <a:gd name="connsiteY26" fmla="*/ 5269492 h 6858000"/>
                <a:gd name="connsiteX27" fmla="*/ 8810499 w 9767847"/>
                <a:gd name="connsiteY27" fmla="*/ 5255703 h 6858000"/>
                <a:gd name="connsiteX28" fmla="*/ 8883571 w 9767847"/>
                <a:gd name="connsiteY28" fmla="*/ 5198479 h 6858000"/>
                <a:gd name="connsiteX29" fmla="*/ 9006651 w 9767847"/>
                <a:gd name="connsiteY29" fmla="*/ 5070527 h 6858000"/>
                <a:gd name="connsiteX30" fmla="*/ 9033494 w 9767847"/>
                <a:gd name="connsiteY30" fmla="*/ 5034105 h 6858000"/>
                <a:gd name="connsiteX31" fmla="*/ 9040305 w 9767847"/>
                <a:gd name="connsiteY31" fmla="*/ 5024551 h 6858000"/>
                <a:gd name="connsiteX32" fmla="*/ 9046568 w 9767847"/>
                <a:gd name="connsiteY32" fmla="*/ 5015281 h 6858000"/>
                <a:gd name="connsiteX33" fmla="*/ 9058846 w 9767847"/>
                <a:gd name="connsiteY33" fmla="*/ 4996645 h 6858000"/>
                <a:gd name="connsiteX34" fmla="*/ 9104529 w 9767847"/>
                <a:gd name="connsiteY34" fmla="*/ 4918105 h 6858000"/>
                <a:gd name="connsiteX35" fmla="*/ 9181081 w 9767847"/>
                <a:gd name="connsiteY35" fmla="*/ 4744694 h 6858000"/>
                <a:gd name="connsiteX36" fmla="*/ 9240731 w 9767847"/>
                <a:gd name="connsiteY36" fmla="*/ 4557872 h 6858000"/>
                <a:gd name="connsiteX37" fmla="*/ 9265388 w 9767847"/>
                <a:gd name="connsiteY37" fmla="*/ 4461073 h 6858000"/>
                <a:gd name="connsiteX38" fmla="*/ 9276571 w 9767847"/>
                <a:gd name="connsiteY38" fmla="*/ 4411943 h 6858000"/>
                <a:gd name="connsiteX39" fmla="*/ 9281841 w 9767847"/>
                <a:gd name="connsiteY39" fmla="*/ 4387379 h 6858000"/>
                <a:gd name="connsiteX40" fmla="*/ 9286513 w 9767847"/>
                <a:gd name="connsiteY40" fmla="*/ 4364838 h 6858000"/>
                <a:gd name="connsiteX41" fmla="*/ 9296754 w 9767847"/>
                <a:gd name="connsiteY41" fmla="*/ 4312038 h 6858000"/>
                <a:gd name="connsiteX42" fmla="*/ 9301029 w 9767847"/>
                <a:gd name="connsiteY42" fmla="*/ 4289074 h 6858000"/>
                <a:gd name="connsiteX43" fmla="*/ 9302818 w 9767847"/>
                <a:gd name="connsiteY43" fmla="*/ 4278581 h 6858000"/>
                <a:gd name="connsiteX44" fmla="*/ 9304658 w 9767847"/>
                <a:gd name="connsiteY44" fmla="*/ 4266816 h 6858000"/>
                <a:gd name="connsiteX45" fmla="*/ 9312810 w 9767847"/>
                <a:gd name="connsiteY45" fmla="*/ 4215945 h 6858000"/>
                <a:gd name="connsiteX46" fmla="*/ 9316887 w 9767847"/>
                <a:gd name="connsiteY46" fmla="*/ 4190486 h 6858000"/>
                <a:gd name="connsiteX47" fmla="*/ 9318923 w 9767847"/>
                <a:gd name="connsiteY47" fmla="*/ 4177780 h 6858000"/>
                <a:gd name="connsiteX48" fmla="*/ 9320515 w 9767847"/>
                <a:gd name="connsiteY48" fmla="*/ 4164886 h 6858000"/>
                <a:gd name="connsiteX49" fmla="*/ 9332445 w 9767847"/>
                <a:gd name="connsiteY49" fmla="*/ 4064981 h 6858000"/>
                <a:gd name="connsiteX50" fmla="*/ 9336173 w 9767847"/>
                <a:gd name="connsiteY50" fmla="*/ 4018676 h 6858000"/>
                <a:gd name="connsiteX51" fmla="*/ 9340199 w 9767847"/>
                <a:gd name="connsiteY51" fmla="*/ 3965171 h 6858000"/>
                <a:gd name="connsiteX52" fmla="*/ 9347557 w 9767847"/>
                <a:gd name="connsiteY52" fmla="*/ 3765972 h 6858000"/>
                <a:gd name="connsiteX53" fmla="*/ 9346364 w 9767847"/>
                <a:gd name="connsiteY53" fmla="*/ 3664938 h 6858000"/>
                <a:gd name="connsiteX54" fmla="*/ 9344921 w 9767847"/>
                <a:gd name="connsiteY54" fmla="*/ 3615243 h 6858000"/>
                <a:gd name="connsiteX55" fmla="*/ 9344524 w 9767847"/>
                <a:gd name="connsiteY55" fmla="*/ 3603526 h 6858000"/>
                <a:gd name="connsiteX56" fmla="*/ 9343728 w 9767847"/>
                <a:gd name="connsiteY56" fmla="*/ 3590774 h 6858000"/>
                <a:gd name="connsiteX57" fmla="*/ 9342188 w 9767847"/>
                <a:gd name="connsiteY57" fmla="*/ 3565268 h 6858000"/>
                <a:gd name="connsiteX58" fmla="*/ 9339056 w 9767847"/>
                <a:gd name="connsiteY58" fmla="*/ 3514256 h 6858000"/>
                <a:gd name="connsiteX59" fmla="*/ 9334334 w 9767847"/>
                <a:gd name="connsiteY59" fmla="*/ 3463057 h 6858000"/>
                <a:gd name="connsiteX60" fmla="*/ 9329363 w 9767847"/>
                <a:gd name="connsiteY60" fmla="*/ 3411810 h 6858000"/>
                <a:gd name="connsiteX61" fmla="*/ 9328319 w 9767847"/>
                <a:gd name="connsiteY61" fmla="*/ 3400657 h 6858000"/>
                <a:gd name="connsiteX62" fmla="*/ 9327177 w 9767847"/>
                <a:gd name="connsiteY62" fmla="*/ 3390116 h 6858000"/>
                <a:gd name="connsiteX63" fmla="*/ 9324293 w 9767847"/>
                <a:gd name="connsiteY63" fmla="*/ 3366774 h 6858000"/>
                <a:gd name="connsiteX64" fmla="*/ 9320763 w 9767847"/>
                <a:gd name="connsiteY64" fmla="*/ 3340329 h 6858000"/>
                <a:gd name="connsiteX65" fmla="*/ 9317184 w 9767847"/>
                <a:gd name="connsiteY65" fmla="*/ 3311245 h 6858000"/>
                <a:gd name="connsiteX66" fmla="*/ 9311021 w 9767847"/>
                <a:gd name="connsiteY66" fmla="*/ 3266211 h 6858000"/>
                <a:gd name="connsiteX67" fmla="*/ 9302719 w 9767847"/>
                <a:gd name="connsiteY67" fmla="*/ 3215717 h 6858000"/>
                <a:gd name="connsiteX68" fmla="*/ 9293970 w 9767847"/>
                <a:gd name="connsiteY68" fmla="*/ 3165789 h 6858000"/>
                <a:gd name="connsiteX69" fmla="*/ 9252065 w 9767847"/>
                <a:gd name="connsiteY69" fmla="*/ 2967107 h 6858000"/>
                <a:gd name="connsiteX70" fmla="*/ 9227211 w 9767847"/>
                <a:gd name="connsiteY70" fmla="*/ 2868473 h 6858000"/>
                <a:gd name="connsiteX71" fmla="*/ 9220699 w 9767847"/>
                <a:gd name="connsiteY71" fmla="*/ 2844426 h 6858000"/>
                <a:gd name="connsiteX72" fmla="*/ 9213740 w 9767847"/>
                <a:gd name="connsiteY72" fmla="*/ 2820191 h 6858000"/>
                <a:gd name="connsiteX73" fmla="*/ 9199374 w 9767847"/>
                <a:gd name="connsiteY73" fmla="*/ 2771438 h 6858000"/>
                <a:gd name="connsiteX74" fmla="*/ 9061829 w 9767847"/>
                <a:gd name="connsiteY74" fmla="*/ 2385418 h 6858000"/>
                <a:gd name="connsiteX75" fmla="*/ 8978865 w 9767847"/>
                <a:gd name="connsiteY75" fmla="*/ 2196855 h 6858000"/>
                <a:gd name="connsiteX76" fmla="*/ 8956694 w 9767847"/>
                <a:gd name="connsiteY76" fmla="*/ 2150219 h 6858000"/>
                <a:gd name="connsiteX77" fmla="*/ 8934176 w 9767847"/>
                <a:gd name="connsiteY77" fmla="*/ 2103914 h 6858000"/>
                <a:gd name="connsiteX78" fmla="*/ 8887151 w 9767847"/>
                <a:gd name="connsiteY78" fmla="*/ 2011350 h 6858000"/>
                <a:gd name="connsiteX79" fmla="*/ 8787533 w 9767847"/>
                <a:gd name="connsiteY79" fmla="*/ 1828527 h 6858000"/>
                <a:gd name="connsiteX80" fmla="*/ 8761485 w 9767847"/>
                <a:gd name="connsiteY80" fmla="*/ 1783398 h 6858000"/>
                <a:gd name="connsiteX81" fmla="*/ 8734791 w 9767847"/>
                <a:gd name="connsiteY81" fmla="*/ 1737893 h 6858000"/>
                <a:gd name="connsiteX82" fmla="*/ 8680808 w 9767847"/>
                <a:gd name="connsiteY82" fmla="*/ 1648812 h 6858000"/>
                <a:gd name="connsiteX83" fmla="*/ 8567024 w 9767847"/>
                <a:gd name="connsiteY83" fmla="*/ 1472906 h 6858000"/>
                <a:gd name="connsiteX84" fmla="*/ 8537446 w 9767847"/>
                <a:gd name="connsiteY84" fmla="*/ 1429330 h 6858000"/>
                <a:gd name="connsiteX85" fmla="*/ 8507423 w 9767847"/>
                <a:gd name="connsiteY85" fmla="*/ 1385896 h 6858000"/>
                <a:gd name="connsiteX86" fmla="*/ 8446529 w 9767847"/>
                <a:gd name="connsiteY86" fmla="*/ 1300295 h 6858000"/>
                <a:gd name="connsiteX87" fmla="*/ 8319224 w 9767847"/>
                <a:gd name="connsiteY87" fmla="*/ 1131026 h 6858000"/>
                <a:gd name="connsiteX88" fmla="*/ 8286366 w 9767847"/>
                <a:gd name="connsiteY88" fmla="*/ 1089050 h 6858000"/>
                <a:gd name="connsiteX89" fmla="*/ 8270161 w 9767847"/>
                <a:gd name="connsiteY89" fmla="*/ 1068439 h 6858000"/>
                <a:gd name="connsiteX90" fmla="*/ 8253856 w 9767847"/>
                <a:gd name="connsiteY90" fmla="*/ 1048156 h 6858000"/>
                <a:gd name="connsiteX91" fmla="*/ 8186352 w 9767847"/>
                <a:gd name="connsiteY91" fmla="*/ 966275 h 6858000"/>
                <a:gd name="connsiteX92" fmla="*/ 8046768 w 9767847"/>
                <a:gd name="connsiteY92" fmla="*/ 805429 h 6858000"/>
                <a:gd name="connsiteX93" fmla="*/ 8010927 w 9767847"/>
                <a:gd name="connsiteY93" fmla="*/ 765853 h 6858000"/>
                <a:gd name="connsiteX94" fmla="*/ 7974788 w 9767847"/>
                <a:gd name="connsiteY94" fmla="*/ 726653 h 6858000"/>
                <a:gd name="connsiteX95" fmla="*/ 7901070 w 9767847"/>
                <a:gd name="connsiteY95" fmla="*/ 648724 h 6858000"/>
                <a:gd name="connsiteX96" fmla="*/ 7750054 w 9767847"/>
                <a:gd name="connsiteY96" fmla="*/ 497008 h 6858000"/>
                <a:gd name="connsiteX97" fmla="*/ 7592277 w 9767847"/>
                <a:gd name="connsiteY97" fmla="*/ 351221 h 6858000"/>
                <a:gd name="connsiteX98" fmla="*/ 7257734 w 9767847"/>
                <a:gd name="connsiteY98" fmla="*/ 76964 h 6858000"/>
                <a:gd name="connsiteX99" fmla="*/ 1886601 w 9767847"/>
                <a:gd name="connsiteY99" fmla="*/ 0 h 6858000"/>
                <a:gd name="connsiteX100" fmla="*/ 2292926 w 9767847"/>
                <a:gd name="connsiteY100" fmla="*/ 0 h 6858000"/>
                <a:gd name="connsiteX101" fmla="*/ 2135542 w 9767847"/>
                <a:gd name="connsiteY101" fmla="*/ 117781 h 6858000"/>
                <a:gd name="connsiteX102" fmla="*/ 1969576 w 9767847"/>
                <a:gd name="connsiteY102" fmla="*/ 254986 h 6858000"/>
                <a:gd name="connsiteX103" fmla="*/ 1659938 w 9767847"/>
                <a:gd name="connsiteY103" fmla="*/ 549855 h 6858000"/>
                <a:gd name="connsiteX104" fmla="*/ 729383 w 9767847"/>
                <a:gd name="connsiteY104" fmla="*/ 1936480 h 6858000"/>
                <a:gd name="connsiteX105" fmla="*/ 578465 w 9767847"/>
                <a:gd name="connsiteY105" fmla="*/ 2320807 h 6858000"/>
                <a:gd name="connsiteX106" fmla="*/ 465080 w 9767847"/>
                <a:gd name="connsiteY106" fmla="*/ 2714875 h 6858000"/>
                <a:gd name="connsiteX107" fmla="*/ 423820 w 9767847"/>
                <a:gd name="connsiteY107" fmla="*/ 2915436 h 6858000"/>
                <a:gd name="connsiteX108" fmla="*/ 392355 w 9767847"/>
                <a:gd name="connsiteY108" fmla="*/ 3118071 h 6858000"/>
                <a:gd name="connsiteX109" fmla="*/ 358801 w 9767847"/>
                <a:gd name="connsiteY109" fmla="*/ 3526915 h 6858000"/>
                <a:gd name="connsiteX110" fmla="*/ 410350 w 9767847"/>
                <a:gd name="connsiteY110" fmla="*/ 4348226 h 6858000"/>
                <a:gd name="connsiteX111" fmla="*/ 449022 w 9767847"/>
                <a:gd name="connsiteY111" fmla="*/ 4551049 h 6858000"/>
                <a:gd name="connsiteX112" fmla="*/ 498882 w 9767847"/>
                <a:gd name="connsiteY112" fmla="*/ 4752365 h 6858000"/>
                <a:gd name="connsiteX113" fmla="*/ 559775 w 9767847"/>
                <a:gd name="connsiteY113" fmla="*/ 4951657 h 6858000"/>
                <a:gd name="connsiteX114" fmla="*/ 631406 w 9767847"/>
                <a:gd name="connsiteY114" fmla="*/ 5147986 h 6858000"/>
                <a:gd name="connsiteX115" fmla="*/ 1023461 w 9767847"/>
                <a:gd name="connsiteY115" fmla="*/ 5893957 h 6858000"/>
                <a:gd name="connsiteX116" fmla="*/ 1575880 w 9767847"/>
                <a:gd name="connsiteY116" fmla="*/ 6547646 h 6858000"/>
                <a:gd name="connsiteX117" fmla="*/ 1905228 w 9767847"/>
                <a:gd name="connsiteY117" fmla="*/ 6829468 h 6858000"/>
                <a:gd name="connsiteX118" fmla="*/ 1944230 w 9767847"/>
                <a:gd name="connsiteY118" fmla="*/ 6858000 h 6858000"/>
                <a:gd name="connsiteX119" fmla="*/ 1372541 w 9767847"/>
                <a:gd name="connsiteY119" fmla="*/ 6858000 h 6858000"/>
                <a:gd name="connsiteX120" fmla="*/ 1115251 w 9767847"/>
                <a:gd name="connsiteY120" fmla="*/ 6590005 h 6858000"/>
                <a:gd name="connsiteX121" fmla="*/ 0 w 9767847"/>
                <a:gd name="connsiteY121" fmla="*/ 3649031 h 6858000"/>
                <a:gd name="connsiteX122" fmla="*/ 1777294 w 9767847"/>
                <a:gd name="connsiteY122" fmla="*/ 81317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Lst>
              <a:rect l="l" t="t" r="r" b="b"/>
              <a:pathLst>
                <a:path w="9767847" h="6858000">
                  <a:moveTo>
                    <a:pt x="7151367" y="0"/>
                  </a:moveTo>
                  <a:lnTo>
                    <a:pt x="7881247" y="0"/>
                  </a:lnTo>
                  <a:lnTo>
                    <a:pt x="7990553" y="81317"/>
                  </a:lnTo>
                  <a:cubicBezTo>
                    <a:pt x="9075991" y="929334"/>
                    <a:pt x="9767847" y="2212695"/>
                    <a:pt x="9767847" y="3649031"/>
                  </a:cubicBezTo>
                  <a:cubicBezTo>
                    <a:pt x="9767847" y="4766182"/>
                    <a:pt x="9349317" y="5790792"/>
                    <a:pt x="8652597" y="6590005"/>
                  </a:cubicBezTo>
                  <a:lnTo>
                    <a:pt x="8395306" y="6858000"/>
                  </a:lnTo>
                  <a:lnTo>
                    <a:pt x="6762603" y="6858000"/>
                  </a:lnTo>
                  <a:lnTo>
                    <a:pt x="6765962" y="6854844"/>
                  </a:lnTo>
                  <a:cubicBezTo>
                    <a:pt x="6779036" y="6842703"/>
                    <a:pt x="6791663" y="6829621"/>
                    <a:pt x="6804586" y="6817103"/>
                  </a:cubicBezTo>
                  <a:lnTo>
                    <a:pt x="6881735" y="6741197"/>
                  </a:lnTo>
                  <a:cubicBezTo>
                    <a:pt x="6907435" y="6715881"/>
                    <a:pt x="6933134" y="6690798"/>
                    <a:pt x="6958883" y="6664822"/>
                  </a:cubicBezTo>
                  <a:lnTo>
                    <a:pt x="7267925" y="6355694"/>
                  </a:lnTo>
                  <a:lnTo>
                    <a:pt x="7424360" y="6200685"/>
                  </a:lnTo>
                  <a:cubicBezTo>
                    <a:pt x="7450754" y="6174802"/>
                    <a:pt x="7477598" y="6148731"/>
                    <a:pt x="7504938" y="6122708"/>
                  </a:cubicBezTo>
                  <a:lnTo>
                    <a:pt x="7546396" y="6083697"/>
                  </a:lnTo>
                  <a:cubicBezTo>
                    <a:pt x="7560264" y="6070803"/>
                    <a:pt x="7574780" y="6057532"/>
                    <a:pt x="7588002" y="6045532"/>
                  </a:cubicBezTo>
                  <a:lnTo>
                    <a:pt x="7631000" y="6006709"/>
                  </a:lnTo>
                  <a:lnTo>
                    <a:pt x="7675440" y="5968309"/>
                  </a:lnTo>
                  <a:cubicBezTo>
                    <a:pt x="7690404" y="5955698"/>
                    <a:pt x="7705564" y="5943321"/>
                    <a:pt x="7720626" y="5930851"/>
                  </a:cubicBezTo>
                  <a:cubicBezTo>
                    <a:pt x="7735738" y="5918427"/>
                    <a:pt x="7751197" y="5906521"/>
                    <a:pt x="7766458" y="5894334"/>
                  </a:cubicBezTo>
                  <a:cubicBezTo>
                    <a:pt x="7827949" y="5846192"/>
                    <a:pt x="7890979" y="5800499"/>
                    <a:pt x="7955254" y="5756828"/>
                  </a:cubicBezTo>
                  <a:cubicBezTo>
                    <a:pt x="8083800" y="5669534"/>
                    <a:pt x="8216872" y="5590336"/>
                    <a:pt x="8352678" y="5517630"/>
                  </a:cubicBezTo>
                  <a:lnTo>
                    <a:pt x="8451350" y="5465254"/>
                  </a:lnTo>
                  <a:lnTo>
                    <a:pt x="8548532" y="5413395"/>
                  </a:lnTo>
                  <a:cubicBezTo>
                    <a:pt x="8612110" y="5379090"/>
                    <a:pt x="8673251" y="5345208"/>
                    <a:pt x="8729473" y="5309961"/>
                  </a:cubicBezTo>
                  <a:cubicBezTo>
                    <a:pt x="8743591" y="5301115"/>
                    <a:pt x="8757161" y="5292361"/>
                    <a:pt x="8770781" y="5283232"/>
                  </a:cubicBezTo>
                  <a:cubicBezTo>
                    <a:pt x="8777591" y="5278667"/>
                    <a:pt x="8784451" y="5274103"/>
                    <a:pt x="8790964" y="5269492"/>
                  </a:cubicBezTo>
                  <a:cubicBezTo>
                    <a:pt x="8797574" y="5264879"/>
                    <a:pt x="8804235" y="5260314"/>
                    <a:pt x="8810499" y="5255703"/>
                  </a:cubicBezTo>
                  <a:cubicBezTo>
                    <a:pt x="8835999" y="5237303"/>
                    <a:pt x="8860407" y="5218291"/>
                    <a:pt x="8883571" y="5198479"/>
                  </a:cubicBezTo>
                  <a:cubicBezTo>
                    <a:pt x="8929900" y="5158856"/>
                    <a:pt x="8971258" y="5116315"/>
                    <a:pt x="9006651" y="5070527"/>
                  </a:cubicBezTo>
                  <a:cubicBezTo>
                    <a:pt x="9015351" y="5059328"/>
                    <a:pt x="9024398" y="5046857"/>
                    <a:pt x="9033494" y="5034105"/>
                  </a:cubicBezTo>
                  <a:lnTo>
                    <a:pt x="9040305" y="5024551"/>
                  </a:lnTo>
                  <a:lnTo>
                    <a:pt x="9046568" y="5015281"/>
                  </a:lnTo>
                  <a:cubicBezTo>
                    <a:pt x="9050743" y="5009163"/>
                    <a:pt x="9054819" y="5002952"/>
                    <a:pt x="9058846" y="4996645"/>
                  </a:cubicBezTo>
                  <a:cubicBezTo>
                    <a:pt x="9075002" y="4971517"/>
                    <a:pt x="9090212" y="4945305"/>
                    <a:pt x="9104529" y="4918105"/>
                  </a:cubicBezTo>
                  <a:cubicBezTo>
                    <a:pt x="9133211" y="4863752"/>
                    <a:pt x="9158313" y="4805447"/>
                    <a:pt x="9181081" y="4744694"/>
                  </a:cubicBezTo>
                  <a:cubicBezTo>
                    <a:pt x="9203748" y="4684178"/>
                    <a:pt x="9223383" y="4621778"/>
                    <a:pt x="9240731" y="4557872"/>
                  </a:cubicBezTo>
                  <a:cubicBezTo>
                    <a:pt x="9249481" y="4525966"/>
                    <a:pt x="9257682" y="4493684"/>
                    <a:pt x="9265388" y="4461073"/>
                  </a:cubicBezTo>
                  <a:cubicBezTo>
                    <a:pt x="9269215" y="4444744"/>
                    <a:pt x="9272943" y="4428367"/>
                    <a:pt x="9276571" y="4411943"/>
                  </a:cubicBezTo>
                  <a:lnTo>
                    <a:pt x="9281841" y="4387379"/>
                  </a:lnTo>
                  <a:lnTo>
                    <a:pt x="9286513" y="4364838"/>
                  </a:lnTo>
                  <a:lnTo>
                    <a:pt x="9296754" y="4312038"/>
                  </a:lnTo>
                  <a:lnTo>
                    <a:pt x="9301029" y="4289074"/>
                  </a:lnTo>
                  <a:lnTo>
                    <a:pt x="9302818" y="4278581"/>
                  </a:lnTo>
                  <a:lnTo>
                    <a:pt x="9304658" y="4266816"/>
                  </a:lnTo>
                  <a:lnTo>
                    <a:pt x="9312810" y="4215945"/>
                  </a:lnTo>
                  <a:lnTo>
                    <a:pt x="9316887" y="4190486"/>
                  </a:lnTo>
                  <a:lnTo>
                    <a:pt x="9318923" y="4177780"/>
                  </a:lnTo>
                  <a:cubicBezTo>
                    <a:pt x="9319570" y="4173546"/>
                    <a:pt x="9319969" y="4169169"/>
                    <a:pt x="9320515" y="4164886"/>
                  </a:cubicBezTo>
                  <a:lnTo>
                    <a:pt x="9332445" y="4064981"/>
                  </a:lnTo>
                  <a:cubicBezTo>
                    <a:pt x="9333836" y="4052370"/>
                    <a:pt x="9334880" y="4036888"/>
                    <a:pt x="9336173" y="4018676"/>
                  </a:cubicBezTo>
                  <a:lnTo>
                    <a:pt x="9340199" y="3965171"/>
                  </a:lnTo>
                  <a:cubicBezTo>
                    <a:pt x="9345071" y="3899806"/>
                    <a:pt x="9347358" y="3832983"/>
                    <a:pt x="9347557" y="3765972"/>
                  </a:cubicBezTo>
                  <a:cubicBezTo>
                    <a:pt x="9347656" y="3732420"/>
                    <a:pt x="9347209" y="3698773"/>
                    <a:pt x="9346364" y="3664938"/>
                  </a:cubicBezTo>
                  <a:lnTo>
                    <a:pt x="9344921" y="3615243"/>
                  </a:lnTo>
                  <a:lnTo>
                    <a:pt x="9344524" y="3603526"/>
                  </a:lnTo>
                  <a:lnTo>
                    <a:pt x="9343728" y="3590774"/>
                  </a:lnTo>
                  <a:lnTo>
                    <a:pt x="9342188" y="3565268"/>
                  </a:lnTo>
                  <a:lnTo>
                    <a:pt x="9339056" y="3514256"/>
                  </a:lnTo>
                  <a:cubicBezTo>
                    <a:pt x="9337914" y="3497221"/>
                    <a:pt x="9335874" y="3480138"/>
                    <a:pt x="9334334" y="3463057"/>
                  </a:cubicBezTo>
                  <a:lnTo>
                    <a:pt x="9329363" y="3411810"/>
                  </a:lnTo>
                  <a:lnTo>
                    <a:pt x="9328319" y="3400657"/>
                  </a:lnTo>
                  <a:lnTo>
                    <a:pt x="9327177" y="3390116"/>
                  </a:lnTo>
                  <a:lnTo>
                    <a:pt x="9324293" y="3366774"/>
                  </a:lnTo>
                  <a:lnTo>
                    <a:pt x="9320763" y="3340329"/>
                  </a:lnTo>
                  <a:lnTo>
                    <a:pt x="9317184" y="3311245"/>
                  </a:lnTo>
                  <a:cubicBezTo>
                    <a:pt x="9315594" y="3296893"/>
                    <a:pt x="9313506" y="3282306"/>
                    <a:pt x="9311021" y="3266211"/>
                  </a:cubicBezTo>
                  <a:lnTo>
                    <a:pt x="9302719" y="3215717"/>
                  </a:lnTo>
                  <a:cubicBezTo>
                    <a:pt x="9299936" y="3199059"/>
                    <a:pt x="9297003" y="3182400"/>
                    <a:pt x="9293970" y="3165789"/>
                  </a:cubicBezTo>
                  <a:cubicBezTo>
                    <a:pt x="9281891" y="3099295"/>
                    <a:pt x="9267674" y="3033084"/>
                    <a:pt x="9252065" y="2967107"/>
                  </a:cubicBezTo>
                  <a:cubicBezTo>
                    <a:pt x="9244261" y="2934167"/>
                    <a:pt x="9235959" y="2901273"/>
                    <a:pt x="9227211" y="2868473"/>
                  </a:cubicBezTo>
                  <a:lnTo>
                    <a:pt x="9220699" y="2844426"/>
                  </a:lnTo>
                  <a:lnTo>
                    <a:pt x="9213740" y="2820191"/>
                  </a:lnTo>
                  <a:cubicBezTo>
                    <a:pt x="9209216" y="2804049"/>
                    <a:pt x="9204345" y="2787768"/>
                    <a:pt x="9199374" y="2771438"/>
                  </a:cubicBezTo>
                  <a:cubicBezTo>
                    <a:pt x="9159855" y="2641086"/>
                    <a:pt x="9114272" y="2512099"/>
                    <a:pt x="9061829" y="2385418"/>
                  </a:cubicBezTo>
                  <a:cubicBezTo>
                    <a:pt x="9035582" y="2322077"/>
                    <a:pt x="9008043" y="2259160"/>
                    <a:pt x="8978865" y="2196855"/>
                  </a:cubicBezTo>
                  <a:lnTo>
                    <a:pt x="8956694" y="2150219"/>
                  </a:lnTo>
                  <a:lnTo>
                    <a:pt x="8934176" y="2103914"/>
                  </a:lnTo>
                  <a:cubicBezTo>
                    <a:pt x="8918915" y="2073091"/>
                    <a:pt x="8903157" y="2042032"/>
                    <a:pt x="8887151" y="2011350"/>
                  </a:cubicBezTo>
                  <a:cubicBezTo>
                    <a:pt x="8854988" y="1949891"/>
                    <a:pt x="8822082" y="1888810"/>
                    <a:pt x="8787533" y="1828527"/>
                  </a:cubicBezTo>
                  <a:lnTo>
                    <a:pt x="8761485" y="1783398"/>
                  </a:lnTo>
                  <a:lnTo>
                    <a:pt x="8734791" y="1737893"/>
                  </a:lnTo>
                  <a:cubicBezTo>
                    <a:pt x="8717047" y="1707823"/>
                    <a:pt x="8699200" y="1678363"/>
                    <a:pt x="8680808" y="1648812"/>
                  </a:cubicBezTo>
                  <a:cubicBezTo>
                    <a:pt x="8644322" y="1589658"/>
                    <a:pt x="8606194" y="1531118"/>
                    <a:pt x="8567024" y="1472906"/>
                  </a:cubicBezTo>
                  <a:lnTo>
                    <a:pt x="8537446" y="1429330"/>
                  </a:lnTo>
                  <a:lnTo>
                    <a:pt x="8507423" y="1385896"/>
                  </a:lnTo>
                  <a:cubicBezTo>
                    <a:pt x="8487390" y="1357284"/>
                    <a:pt x="8467158" y="1328719"/>
                    <a:pt x="8446529" y="1300295"/>
                  </a:cubicBezTo>
                  <a:cubicBezTo>
                    <a:pt x="8405271" y="1243496"/>
                    <a:pt x="8362718" y="1187120"/>
                    <a:pt x="8319224" y="1131026"/>
                  </a:cubicBezTo>
                  <a:lnTo>
                    <a:pt x="8286366" y="1089050"/>
                  </a:lnTo>
                  <a:lnTo>
                    <a:pt x="8270161" y="1068439"/>
                  </a:lnTo>
                  <a:lnTo>
                    <a:pt x="8253856" y="1048156"/>
                  </a:lnTo>
                  <a:cubicBezTo>
                    <a:pt x="8231636" y="1020675"/>
                    <a:pt x="8209117" y="993381"/>
                    <a:pt x="8186352" y="966275"/>
                  </a:cubicBezTo>
                  <a:cubicBezTo>
                    <a:pt x="8140917" y="911922"/>
                    <a:pt x="8094240" y="858417"/>
                    <a:pt x="8046768" y="805429"/>
                  </a:cubicBezTo>
                  <a:lnTo>
                    <a:pt x="8010927" y="765853"/>
                  </a:lnTo>
                  <a:lnTo>
                    <a:pt x="7974788" y="726653"/>
                  </a:lnTo>
                  <a:cubicBezTo>
                    <a:pt x="7950382" y="700489"/>
                    <a:pt x="7925824" y="674465"/>
                    <a:pt x="7901070" y="648724"/>
                  </a:cubicBezTo>
                  <a:cubicBezTo>
                    <a:pt x="7851510" y="597289"/>
                    <a:pt x="7801404" y="546514"/>
                    <a:pt x="7750054" y="497008"/>
                  </a:cubicBezTo>
                  <a:cubicBezTo>
                    <a:pt x="7698902" y="447644"/>
                    <a:pt x="7645913" y="398938"/>
                    <a:pt x="7592277" y="351221"/>
                  </a:cubicBezTo>
                  <a:cubicBezTo>
                    <a:pt x="7484856" y="255786"/>
                    <a:pt x="7373308" y="164304"/>
                    <a:pt x="7257734" y="76964"/>
                  </a:cubicBezTo>
                  <a:close/>
                  <a:moveTo>
                    <a:pt x="1886601" y="0"/>
                  </a:moveTo>
                  <a:lnTo>
                    <a:pt x="2292926" y="0"/>
                  </a:lnTo>
                  <a:lnTo>
                    <a:pt x="2135542" y="117781"/>
                  </a:lnTo>
                  <a:cubicBezTo>
                    <a:pt x="2078998" y="162280"/>
                    <a:pt x="2023659" y="208045"/>
                    <a:pt x="1969576" y="254986"/>
                  </a:cubicBezTo>
                  <a:cubicBezTo>
                    <a:pt x="1861309" y="348820"/>
                    <a:pt x="1758064" y="447314"/>
                    <a:pt x="1659938" y="549855"/>
                  </a:cubicBezTo>
                  <a:cubicBezTo>
                    <a:pt x="1266987" y="960346"/>
                    <a:pt x="953820" y="1431495"/>
                    <a:pt x="729383" y="1936480"/>
                  </a:cubicBezTo>
                  <a:cubicBezTo>
                    <a:pt x="673260" y="2062362"/>
                    <a:pt x="622855" y="2190972"/>
                    <a:pt x="578465" y="2320807"/>
                  </a:cubicBezTo>
                  <a:cubicBezTo>
                    <a:pt x="534125" y="2450687"/>
                    <a:pt x="496147" y="2582216"/>
                    <a:pt x="465080" y="2714875"/>
                  </a:cubicBezTo>
                  <a:cubicBezTo>
                    <a:pt x="449769" y="2780991"/>
                    <a:pt x="435850" y="2848191"/>
                    <a:pt x="423820" y="2915436"/>
                  </a:cubicBezTo>
                  <a:cubicBezTo>
                    <a:pt x="411840" y="2982731"/>
                    <a:pt x="401054" y="3050260"/>
                    <a:pt x="392355" y="3118071"/>
                  </a:cubicBezTo>
                  <a:cubicBezTo>
                    <a:pt x="374509" y="3253646"/>
                    <a:pt x="363424" y="3389880"/>
                    <a:pt x="358801" y="3526915"/>
                  </a:cubicBezTo>
                  <a:cubicBezTo>
                    <a:pt x="349009" y="3800843"/>
                    <a:pt x="366357" y="4075570"/>
                    <a:pt x="410350" y="4348226"/>
                  </a:cubicBezTo>
                  <a:cubicBezTo>
                    <a:pt x="421286" y="4416132"/>
                    <a:pt x="434209" y="4483660"/>
                    <a:pt x="449022" y="4551049"/>
                  </a:cubicBezTo>
                  <a:cubicBezTo>
                    <a:pt x="463737" y="4618436"/>
                    <a:pt x="480389" y="4685588"/>
                    <a:pt x="498882" y="4752365"/>
                  </a:cubicBezTo>
                  <a:cubicBezTo>
                    <a:pt x="517373" y="4819141"/>
                    <a:pt x="537704" y="4885635"/>
                    <a:pt x="559775" y="4951657"/>
                  </a:cubicBezTo>
                  <a:cubicBezTo>
                    <a:pt x="581946" y="5017775"/>
                    <a:pt x="605358" y="5083375"/>
                    <a:pt x="631406" y="5147986"/>
                  </a:cubicBezTo>
                  <a:cubicBezTo>
                    <a:pt x="734055" y="5407608"/>
                    <a:pt x="865188" y="5658570"/>
                    <a:pt x="1023461" y="5893957"/>
                  </a:cubicBezTo>
                  <a:cubicBezTo>
                    <a:pt x="1181487" y="6129578"/>
                    <a:pt x="1367051" y="6349247"/>
                    <a:pt x="1575880" y="6547646"/>
                  </a:cubicBezTo>
                  <a:cubicBezTo>
                    <a:pt x="1680269" y="6646916"/>
                    <a:pt x="1790338" y="6740939"/>
                    <a:pt x="1905228" y="6829468"/>
                  </a:cubicBezTo>
                  <a:lnTo>
                    <a:pt x="1944230" y="6858000"/>
                  </a:lnTo>
                  <a:lnTo>
                    <a:pt x="1372541" y="6858000"/>
                  </a:lnTo>
                  <a:lnTo>
                    <a:pt x="1115251" y="6590005"/>
                  </a:lnTo>
                  <a:cubicBezTo>
                    <a:pt x="418530" y="5790792"/>
                    <a:pt x="0" y="4766182"/>
                    <a:pt x="0" y="3649031"/>
                  </a:cubicBezTo>
                  <a:cubicBezTo>
                    <a:pt x="0" y="2212695"/>
                    <a:pt x="691856" y="929334"/>
                    <a:pt x="1777294" y="81317"/>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0" name="Freeform: Shape 19">
              <a:extLst>
                <a:ext uri="{FF2B5EF4-FFF2-40B4-BE49-F238E27FC236}">
                  <a16:creationId xmlns:a16="http://schemas.microsoft.com/office/drawing/2014/main" id="{40EA1593-6BC9-441E-8F3C-46DD50F810F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03402" y="36937"/>
              <a:ext cx="9767847" cy="6858000"/>
            </a:xfrm>
            <a:custGeom>
              <a:avLst/>
              <a:gdLst>
                <a:gd name="connsiteX0" fmla="*/ 7145704 w 9767847"/>
                <a:gd name="connsiteY0" fmla="*/ 0 h 6858000"/>
                <a:gd name="connsiteX1" fmla="*/ 7875738 w 9767847"/>
                <a:gd name="connsiteY1" fmla="*/ 0 h 6858000"/>
                <a:gd name="connsiteX2" fmla="*/ 7990553 w 9767847"/>
                <a:gd name="connsiteY2" fmla="*/ 85415 h 6858000"/>
                <a:gd name="connsiteX3" fmla="*/ 9767847 w 9767847"/>
                <a:gd name="connsiteY3" fmla="*/ 3653129 h 6858000"/>
                <a:gd name="connsiteX4" fmla="*/ 8652597 w 9767847"/>
                <a:gd name="connsiteY4" fmla="*/ 6594103 h 6858000"/>
                <a:gd name="connsiteX5" fmla="*/ 8399240 w 9767847"/>
                <a:gd name="connsiteY5" fmla="*/ 6858000 h 6858000"/>
                <a:gd name="connsiteX6" fmla="*/ 6766926 w 9767847"/>
                <a:gd name="connsiteY6" fmla="*/ 6858000 h 6858000"/>
                <a:gd name="connsiteX7" fmla="*/ 6804586 w 9767847"/>
                <a:gd name="connsiteY7" fmla="*/ 6821201 h 6858000"/>
                <a:gd name="connsiteX8" fmla="*/ 6881735 w 9767847"/>
                <a:gd name="connsiteY8" fmla="*/ 6745295 h 6858000"/>
                <a:gd name="connsiteX9" fmla="*/ 6958883 w 9767847"/>
                <a:gd name="connsiteY9" fmla="*/ 6668920 h 6858000"/>
                <a:gd name="connsiteX10" fmla="*/ 7267925 w 9767847"/>
                <a:gd name="connsiteY10" fmla="*/ 6359792 h 6858000"/>
                <a:gd name="connsiteX11" fmla="*/ 7424360 w 9767847"/>
                <a:gd name="connsiteY11" fmla="*/ 6204783 h 6858000"/>
                <a:gd name="connsiteX12" fmla="*/ 7504938 w 9767847"/>
                <a:gd name="connsiteY12" fmla="*/ 6126806 h 6858000"/>
                <a:gd name="connsiteX13" fmla="*/ 7546396 w 9767847"/>
                <a:gd name="connsiteY13" fmla="*/ 6087795 h 6858000"/>
                <a:gd name="connsiteX14" fmla="*/ 7588002 w 9767847"/>
                <a:gd name="connsiteY14" fmla="*/ 6049630 h 6858000"/>
                <a:gd name="connsiteX15" fmla="*/ 7631000 w 9767847"/>
                <a:gd name="connsiteY15" fmla="*/ 6010807 h 6858000"/>
                <a:gd name="connsiteX16" fmla="*/ 7675440 w 9767847"/>
                <a:gd name="connsiteY16" fmla="*/ 5972407 h 6858000"/>
                <a:gd name="connsiteX17" fmla="*/ 7720626 w 9767847"/>
                <a:gd name="connsiteY17" fmla="*/ 5934949 h 6858000"/>
                <a:gd name="connsiteX18" fmla="*/ 7766458 w 9767847"/>
                <a:gd name="connsiteY18" fmla="*/ 5898432 h 6858000"/>
                <a:gd name="connsiteX19" fmla="*/ 7955254 w 9767847"/>
                <a:gd name="connsiteY19" fmla="*/ 5760926 h 6858000"/>
                <a:gd name="connsiteX20" fmla="*/ 8352678 w 9767847"/>
                <a:gd name="connsiteY20" fmla="*/ 5521728 h 6858000"/>
                <a:gd name="connsiteX21" fmla="*/ 8451350 w 9767847"/>
                <a:gd name="connsiteY21" fmla="*/ 5469352 h 6858000"/>
                <a:gd name="connsiteX22" fmla="*/ 8548532 w 9767847"/>
                <a:gd name="connsiteY22" fmla="*/ 5417493 h 6858000"/>
                <a:gd name="connsiteX23" fmla="*/ 8729473 w 9767847"/>
                <a:gd name="connsiteY23" fmla="*/ 5314059 h 6858000"/>
                <a:gd name="connsiteX24" fmla="*/ 8770781 w 9767847"/>
                <a:gd name="connsiteY24" fmla="*/ 5287330 h 6858000"/>
                <a:gd name="connsiteX25" fmla="*/ 8790964 w 9767847"/>
                <a:gd name="connsiteY25" fmla="*/ 5273590 h 6858000"/>
                <a:gd name="connsiteX26" fmla="*/ 8810499 w 9767847"/>
                <a:gd name="connsiteY26" fmla="*/ 5259801 h 6858000"/>
                <a:gd name="connsiteX27" fmla="*/ 8883571 w 9767847"/>
                <a:gd name="connsiteY27" fmla="*/ 5202577 h 6858000"/>
                <a:gd name="connsiteX28" fmla="*/ 9006651 w 9767847"/>
                <a:gd name="connsiteY28" fmla="*/ 5074625 h 6858000"/>
                <a:gd name="connsiteX29" fmla="*/ 9033494 w 9767847"/>
                <a:gd name="connsiteY29" fmla="*/ 5038203 h 6858000"/>
                <a:gd name="connsiteX30" fmla="*/ 9040305 w 9767847"/>
                <a:gd name="connsiteY30" fmla="*/ 5028649 h 6858000"/>
                <a:gd name="connsiteX31" fmla="*/ 9046568 w 9767847"/>
                <a:gd name="connsiteY31" fmla="*/ 5019379 h 6858000"/>
                <a:gd name="connsiteX32" fmla="*/ 9058846 w 9767847"/>
                <a:gd name="connsiteY32" fmla="*/ 5000743 h 6858000"/>
                <a:gd name="connsiteX33" fmla="*/ 9104529 w 9767847"/>
                <a:gd name="connsiteY33" fmla="*/ 4922203 h 6858000"/>
                <a:gd name="connsiteX34" fmla="*/ 9181081 w 9767847"/>
                <a:gd name="connsiteY34" fmla="*/ 4748792 h 6858000"/>
                <a:gd name="connsiteX35" fmla="*/ 9240731 w 9767847"/>
                <a:gd name="connsiteY35" fmla="*/ 4561970 h 6858000"/>
                <a:gd name="connsiteX36" fmla="*/ 9265388 w 9767847"/>
                <a:gd name="connsiteY36" fmla="*/ 4465171 h 6858000"/>
                <a:gd name="connsiteX37" fmla="*/ 9276571 w 9767847"/>
                <a:gd name="connsiteY37" fmla="*/ 4416041 h 6858000"/>
                <a:gd name="connsiteX38" fmla="*/ 9281841 w 9767847"/>
                <a:gd name="connsiteY38" fmla="*/ 4391477 h 6858000"/>
                <a:gd name="connsiteX39" fmla="*/ 9286513 w 9767847"/>
                <a:gd name="connsiteY39" fmla="*/ 4368936 h 6858000"/>
                <a:gd name="connsiteX40" fmla="*/ 9296754 w 9767847"/>
                <a:gd name="connsiteY40" fmla="*/ 4316136 h 6858000"/>
                <a:gd name="connsiteX41" fmla="*/ 9301029 w 9767847"/>
                <a:gd name="connsiteY41" fmla="*/ 4293172 h 6858000"/>
                <a:gd name="connsiteX42" fmla="*/ 9302818 w 9767847"/>
                <a:gd name="connsiteY42" fmla="*/ 4282679 h 6858000"/>
                <a:gd name="connsiteX43" fmla="*/ 9304658 w 9767847"/>
                <a:gd name="connsiteY43" fmla="*/ 4270914 h 6858000"/>
                <a:gd name="connsiteX44" fmla="*/ 9312810 w 9767847"/>
                <a:gd name="connsiteY44" fmla="*/ 4220043 h 6858000"/>
                <a:gd name="connsiteX45" fmla="*/ 9316887 w 9767847"/>
                <a:gd name="connsiteY45" fmla="*/ 4194584 h 6858000"/>
                <a:gd name="connsiteX46" fmla="*/ 9318923 w 9767847"/>
                <a:gd name="connsiteY46" fmla="*/ 4181878 h 6858000"/>
                <a:gd name="connsiteX47" fmla="*/ 9320515 w 9767847"/>
                <a:gd name="connsiteY47" fmla="*/ 4168984 h 6858000"/>
                <a:gd name="connsiteX48" fmla="*/ 9332445 w 9767847"/>
                <a:gd name="connsiteY48" fmla="*/ 4069079 h 6858000"/>
                <a:gd name="connsiteX49" fmla="*/ 9336173 w 9767847"/>
                <a:gd name="connsiteY49" fmla="*/ 4022774 h 6858000"/>
                <a:gd name="connsiteX50" fmla="*/ 9340199 w 9767847"/>
                <a:gd name="connsiteY50" fmla="*/ 3969269 h 6858000"/>
                <a:gd name="connsiteX51" fmla="*/ 9347557 w 9767847"/>
                <a:gd name="connsiteY51" fmla="*/ 3770070 h 6858000"/>
                <a:gd name="connsiteX52" fmla="*/ 9346364 w 9767847"/>
                <a:gd name="connsiteY52" fmla="*/ 3669036 h 6858000"/>
                <a:gd name="connsiteX53" fmla="*/ 9344921 w 9767847"/>
                <a:gd name="connsiteY53" fmla="*/ 3619341 h 6858000"/>
                <a:gd name="connsiteX54" fmla="*/ 9344524 w 9767847"/>
                <a:gd name="connsiteY54" fmla="*/ 3607624 h 6858000"/>
                <a:gd name="connsiteX55" fmla="*/ 9343728 w 9767847"/>
                <a:gd name="connsiteY55" fmla="*/ 3594872 h 6858000"/>
                <a:gd name="connsiteX56" fmla="*/ 9342188 w 9767847"/>
                <a:gd name="connsiteY56" fmla="*/ 3569366 h 6858000"/>
                <a:gd name="connsiteX57" fmla="*/ 9339056 w 9767847"/>
                <a:gd name="connsiteY57" fmla="*/ 3518354 h 6858000"/>
                <a:gd name="connsiteX58" fmla="*/ 9334334 w 9767847"/>
                <a:gd name="connsiteY58" fmla="*/ 3467155 h 6858000"/>
                <a:gd name="connsiteX59" fmla="*/ 9329363 w 9767847"/>
                <a:gd name="connsiteY59" fmla="*/ 3415908 h 6858000"/>
                <a:gd name="connsiteX60" fmla="*/ 9328319 w 9767847"/>
                <a:gd name="connsiteY60" fmla="*/ 3404755 h 6858000"/>
                <a:gd name="connsiteX61" fmla="*/ 9327177 w 9767847"/>
                <a:gd name="connsiteY61" fmla="*/ 3394214 h 6858000"/>
                <a:gd name="connsiteX62" fmla="*/ 9324293 w 9767847"/>
                <a:gd name="connsiteY62" fmla="*/ 3370872 h 6858000"/>
                <a:gd name="connsiteX63" fmla="*/ 9320763 w 9767847"/>
                <a:gd name="connsiteY63" fmla="*/ 3344427 h 6858000"/>
                <a:gd name="connsiteX64" fmla="*/ 9317184 w 9767847"/>
                <a:gd name="connsiteY64" fmla="*/ 3315343 h 6858000"/>
                <a:gd name="connsiteX65" fmla="*/ 9311021 w 9767847"/>
                <a:gd name="connsiteY65" fmla="*/ 3270309 h 6858000"/>
                <a:gd name="connsiteX66" fmla="*/ 9302719 w 9767847"/>
                <a:gd name="connsiteY66" fmla="*/ 3219815 h 6858000"/>
                <a:gd name="connsiteX67" fmla="*/ 9293970 w 9767847"/>
                <a:gd name="connsiteY67" fmla="*/ 3169887 h 6858000"/>
                <a:gd name="connsiteX68" fmla="*/ 9252065 w 9767847"/>
                <a:gd name="connsiteY68" fmla="*/ 2971205 h 6858000"/>
                <a:gd name="connsiteX69" fmla="*/ 9227211 w 9767847"/>
                <a:gd name="connsiteY69" fmla="*/ 2872571 h 6858000"/>
                <a:gd name="connsiteX70" fmla="*/ 9220699 w 9767847"/>
                <a:gd name="connsiteY70" fmla="*/ 2848524 h 6858000"/>
                <a:gd name="connsiteX71" fmla="*/ 9213740 w 9767847"/>
                <a:gd name="connsiteY71" fmla="*/ 2824289 h 6858000"/>
                <a:gd name="connsiteX72" fmla="*/ 9199374 w 9767847"/>
                <a:gd name="connsiteY72" fmla="*/ 2775536 h 6858000"/>
                <a:gd name="connsiteX73" fmla="*/ 9061829 w 9767847"/>
                <a:gd name="connsiteY73" fmla="*/ 2389515 h 6858000"/>
                <a:gd name="connsiteX74" fmla="*/ 8978865 w 9767847"/>
                <a:gd name="connsiteY74" fmla="*/ 2200953 h 6858000"/>
                <a:gd name="connsiteX75" fmla="*/ 8956694 w 9767847"/>
                <a:gd name="connsiteY75" fmla="*/ 2154317 h 6858000"/>
                <a:gd name="connsiteX76" fmla="*/ 8934176 w 9767847"/>
                <a:gd name="connsiteY76" fmla="*/ 2108012 h 6858000"/>
                <a:gd name="connsiteX77" fmla="*/ 8887151 w 9767847"/>
                <a:gd name="connsiteY77" fmla="*/ 2015448 h 6858000"/>
                <a:gd name="connsiteX78" fmla="*/ 8787533 w 9767847"/>
                <a:gd name="connsiteY78" fmla="*/ 1832625 h 6858000"/>
                <a:gd name="connsiteX79" fmla="*/ 8761485 w 9767847"/>
                <a:gd name="connsiteY79" fmla="*/ 1787496 h 6858000"/>
                <a:gd name="connsiteX80" fmla="*/ 8734791 w 9767847"/>
                <a:gd name="connsiteY80" fmla="*/ 1741991 h 6858000"/>
                <a:gd name="connsiteX81" fmla="*/ 8680808 w 9767847"/>
                <a:gd name="connsiteY81" fmla="*/ 1652910 h 6858000"/>
                <a:gd name="connsiteX82" fmla="*/ 8567024 w 9767847"/>
                <a:gd name="connsiteY82" fmla="*/ 1477004 h 6858000"/>
                <a:gd name="connsiteX83" fmla="*/ 8537446 w 9767847"/>
                <a:gd name="connsiteY83" fmla="*/ 1433428 h 6858000"/>
                <a:gd name="connsiteX84" fmla="*/ 8507423 w 9767847"/>
                <a:gd name="connsiteY84" fmla="*/ 1389994 h 6858000"/>
                <a:gd name="connsiteX85" fmla="*/ 8446529 w 9767847"/>
                <a:gd name="connsiteY85" fmla="*/ 1304393 h 6858000"/>
                <a:gd name="connsiteX86" fmla="*/ 8319224 w 9767847"/>
                <a:gd name="connsiteY86" fmla="*/ 1135124 h 6858000"/>
                <a:gd name="connsiteX87" fmla="*/ 8286366 w 9767847"/>
                <a:gd name="connsiteY87" fmla="*/ 1093148 h 6858000"/>
                <a:gd name="connsiteX88" fmla="*/ 8270161 w 9767847"/>
                <a:gd name="connsiteY88" fmla="*/ 1072538 h 6858000"/>
                <a:gd name="connsiteX89" fmla="*/ 8253856 w 9767847"/>
                <a:gd name="connsiteY89" fmla="*/ 1052254 h 6858000"/>
                <a:gd name="connsiteX90" fmla="*/ 8186352 w 9767847"/>
                <a:gd name="connsiteY90" fmla="*/ 970373 h 6858000"/>
                <a:gd name="connsiteX91" fmla="*/ 8046768 w 9767847"/>
                <a:gd name="connsiteY91" fmla="*/ 809527 h 6858000"/>
                <a:gd name="connsiteX92" fmla="*/ 8010927 w 9767847"/>
                <a:gd name="connsiteY92" fmla="*/ 769951 h 6858000"/>
                <a:gd name="connsiteX93" fmla="*/ 7974788 w 9767847"/>
                <a:gd name="connsiteY93" fmla="*/ 730751 h 6858000"/>
                <a:gd name="connsiteX94" fmla="*/ 7901070 w 9767847"/>
                <a:gd name="connsiteY94" fmla="*/ 652823 h 6858000"/>
                <a:gd name="connsiteX95" fmla="*/ 7750054 w 9767847"/>
                <a:gd name="connsiteY95" fmla="*/ 501106 h 6858000"/>
                <a:gd name="connsiteX96" fmla="*/ 7592277 w 9767847"/>
                <a:gd name="connsiteY96" fmla="*/ 355319 h 6858000"/>
                <a:gd name="connsiteX97" fmla="*/ 7257734 w 9767847"/>
                <a:gd name="connsiteY97" fmla="*/ 81062 h 6858000"/>
                <a:gd name="connsiteX98" fmla="*/ 1892109 w 9767847"/>
                <a:gd name="connsiteY98" fmla="*/ 0 h 6858000"/>
                <a:gd name="connsiteX99" fmla="*/ 2298402 w 9767847"/>
                <a:gd name="connsiteY99" fmla="*/ 0 h 6858000"/>
                <a:gd name="connsiteX100" fmla="*/ 2135542 w 9767847"/>
                <a:gd name="connsiteY100" fmla="*/ 121879 h 6858000"/>
                <a:gd name="connsiteX101" fmla="*/ 1969576 w 9767847"/>
                <a:gd name="connsiteY101" fmla="*/ 259084 h 6858000"/>
                <a:gd name="connsiteX102" fmla="*/ 1659938 w 9767847"/>
                <a:gd name="connsiteY102" fmla="*/ 553953 h 6858000"/>
                <a:gd name="connsiteX103" fmla="*/ 729383 w 9767847"/>
                <a:gd name="connsiteY103" fmla="*/ 1940578 h 6858000"/>
                <a:gd name="connsiteX104" fmla="*/ 578465 w 9767847"/>
                <a:gd name="connsiteY104" fmla="*/ 2324905 h 6858000"/>
                <a:gd name="connsiteX105" fmla="*/ 465080 w 9767847"/>
                <a:gd name="connsiteY105" fmla="*/ 2718973 h 6858000"/>
                <a:gd name="connsiteX106" fmla="*/ 423820 w 9767847"/>
                <a:gd name="connsiteY106" fmla="*/ 2919535 h 6858000"/>
                <a:gd name="connsiteX107" fmla="*/ 392355 w 9767847"/>
                <a:gd name="connsiteY107" fmla="*/ 3122169 h 6858000"/>
                <a:gd name="connsiteX108" fmla="*/ 358801 w 9767847"/>
                <a:gd name="connsiteY108" fmla="*/ 3531013 h 6858000"/>
                <a:gd name="connsiteX109" fmla="*/ 410350 w 9767847"/>
                <a:gd name="connsiteY109" fmla="*/ 4352324 h 6858000"/>
                <a:gd name="connsiteX110" fmla="*/ 449022 w 9767847"/>
                <a:gd name="connsiteY110" fmla="*/ 4555147 h 6858000"/>
                <a:gd name="connsiteX111" fmla="*/ 498882 w 9767847"/>
                <a:gd name="connsiteY111" fmla="*/ 4756463 h 6858000"/>
                <a:gd name="connsiteX112" fmla="*/ 559775 w 9767847"/>
                <a:gd name="connsiteY112" fmla="*/ 4955755 h 6858000"/>
                <a:gd name="connsiteX113" fmla="*/ 631406 w 9767847"/>
                <a:gd name="connsiteY113" fmla="*/ 5152084 h 6858000"/>
                <a:gd name="connsiteX114" fmla="*/ 1023461 w 9767847"/>
                <a:gd name="connsiteY114" fmla="*/ 5898055 h 6858000"/>
                <a:gd name="connsiteX115" fmla="*/ 1575880 w 9767847"/>
                <a:gd name="connsiteY115" fmla="*/ 6551744 h 6858000"/>
                <a:gd name="connsiteX116" fmla="*/ 1905228 w 9767847"/>
                <a:gd name="connsiteY116" fmla="*/ 6833566 h 6858000"/>
                <a:gd name="connsiteX117" fmla="*/ 1938629 w 9767847"/>
                <a:gd name="connsiteY117" fmla="*/ 6858000 h 6858000"/>
                <a:gd name="connsiteX118" fmla="*/ 1368607 w 9767847"/>
                <a:gd name="connsiteY118" fmla="*/ 6858000 h 6858000"/>
                <a:gd name="connsiteX119" fmla="*/ 1115251 w 9767847"/>
                <a:gd name="connsiteY119" fmla="*/ 6594103 h 6858000"/>
                <a:gd name="connsiteX120" fmla="*/ 0 w 9767847"/>
                <a:gd name="connsiteY120" fmla="*/ 3653129 h 6858000"/>
                <a:gd name="connsiteX121" fmla="*/ 1777294 w 9767847"/>
                <a:gd name="connsiteY121" fmla="*/ 85415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Lst>
              <a:rect l="l" t="t" r="r" b="b"/>
              <a:pathLst>
                <a:path w="9767847" h="6858000">
                  <a:moveTo>
                    <a:pt x="7145704" y="0"/>
                  </a:moveTo>
                  <a:lnTo>
                    <a:pt x="7875738" y="0"/>
                  </a:lnTo>
                  <a:lnTo>
                    <a:pt x="7990553" y="85415"/>
                  </a:lnTo>
                  <a:cubicBezTo>
                    <a:pt x="9075991" y="933432"/>
                    <a:pt x="9767847" y="2216793"/>
                    <a:pt x="9767847" y="3653129"/>
                  </a:cubicBezTo>
                  <a:cubicBezTo>
                    <a:pt x="9767847" y="4770280"/>
                    <a:pt x="9349317" y="5794890"/>
                    <a:pt x="8652597" y="6594103"/>
                  </a:cubicBezTo>
                  <a:lnTo>
                    <a:pt x="8399240" y="6858000"/>
                  </a:lnTo>
                  <a:lnTo>
                    <a:pt x="6766926" y="6858000"/>
                  </a:lnTo>
                  <a:lnTo>
                    <a:pt x="6804586" y="6821201"/>
                  </a:lnTo>
                  <a:lnTo>
                    <a:pt x="6881735" y="6745295"/>
                  </a:lnTo>
                  <a:cubicBezTo>
                    <a:pt x="6907435" y="6719979"/>
                    <a:pt x="6933134" y="6694896"/>
                    <a:pt x="6958883" y="6668920"/>
                  </a:cubicBezTo>
                  <a:lnTo>
                    <a:pt x="7267925" y="6359792"/>
                  </a:lnTo>
                  <a:lnTo>
                    <a:pt x="7424360" y="6204783"/>
                  </a:lnTo>
                  <a:cubicBezTo>
                    <a:pt x="7450754" y="6178900"/>
                    <a:pt x="7477598" y="6152829"/>
                    <a:pt x="7504938" y="6126806"/>
                  </a:cubicBezTo>
                  <a:lnTo>
                    <a:pt x="7546396" y="6087795"/>
                  </a:lnTo>
                  <a:cubicBezTo>
                    <a:pt x="7560264" y="6074901"/>
                    <a:pt x="7574780" y="6061630"/>
                    <a:pt x="7588002" y="6049630"/>
                  </a:cubicBezTo>
                  <a:lnTo>
                    <a:pt x="7631000" y="6010807"/>
                  </a:lnTo>
                  <a:lnTo>
                    <a:pt x="7675440" y="5972407"/>
                  </a:lnTo>
                  <a:cubicBezTo>
                    <a:pt x="7690404" y="5959796"/>
                    <a:pt x="7705564" y="5947419"/>
                    <a:pt x="7720626" y="5934949"/>
                  </a:cubicBezTo>
                  <a:cubicBezTo>
                    <a:pt x="7735738" y="5922525"/>
                    <a:pt x="7751197" y="5910619"/>
                    <a:pt x="7766458" y="5898432"/>
                  </a:cubicBezTo>
                  <a:cubicBezTo>
                    <a:pt x="7827949" y="5850290"/>
                    <a:pt x="7890979" y="5804597"/>
                    <a:pt x="7955254" y="5760926"/>
                  </a:cubicBezTo>
                  <a:cubicBezTo>
                    <a:pt x="8083800" y="5673632"/>
                    <a:pt x="8216872" y="5594434"/>
                    <a:pt x="8352678" y="5521728"/>
                  </a:cubicBezTo>
                  <a:lnTo>
                    <a:pt x="8451350" y="5469352"/>
                  </a:lnTo>
                  <a:lnTo>
                    <a:pt x="8548532" y="5417493"/>
                  </a:lnTo>
                  <a:cubicBezTo>
                    <a:pt x="8612110" y="5383188"/>
                    <a:pt x="8673251" y="5349306"/>
                    <a:pt x="8729473" y="5314059"/>
                  </a:cubicBezTo>
                  <a:cubicBezTo>
                    <a:pt x="8743591" y="5305213"/>
                    <a:pt x="8757161" y="5296459"/>
                    <a:pt x="8770781" y="5287330"/>
                  </a:cubicBezTo>
                  <a:cubicBezTo>
                    <a:pt x="8777591" y="5282765"/>
                    <a:pt x="8784451" y="5278201"/>
                    <a:pt x="8790964" y="5273590"/>
                  </a:cubicBezTo>
                  <a:cubicBezTo>
                    <a:pt x="8797574" y="5268977"/>
                    <a:pt x="8804235" y="5264412"/>
                    <a:pt x="8810499" y="5259801"/>
                  </a:cubicBezTo>
                  <a:cubicBezTo>
                    <a:pt x="8835999" y="5241401"/>
                    <a:pt x="8860407" y="5222389"/>
                    <a:pt x="8883571" y="5202577"/>
                  </a:cubicBezTo>
                  <a:cubicBezTo>
                    <a:pt x="8929900" y="5162954"/>
                    <a:pt x="8971258" y="5120413"/>
                    <a:pt x="9006651" y="5074625"/>
                  </a:cubicBezTo>
                  <a:cubicBezTo>
                    <a:pt x="9015351" y="5063426"/>
                    <a:pt x="9024398" y="5050955"/>
                    <a:pt x="9033494" y="5038203"/>
                  </a:cubicBezTo>
                  <a:lnTo>
                    <a:pt x="9040305" y="5028649"/>
                  </a:lnTo>
                  <a:lnTo>
                    <a:pt x="9046568" y="5019379"/>
                  </a:lnTo>
                  <a:cubicBezTo>
                    <a:pt x="9050743" y="5013261"/>
                    <a:pt x="9054819" y="5007050"/>
                    <a:pt x="9058846" y="5000743"/>
                  </a:cubicBezTo>
                  <a:cubicBezTo>
                    <a:pt x="9075002" y="4975615"/>
                    <a:pt x="9090212" y="4949403"/>
                    <a:pt x="9104529" y="4922203"/>
                  </a:cubicBezTo>
                  <a:cubicBezTo>
                    <a:pt x="9133211" y="4867850"/>
                    <a:pt x="9158313" y="4809545"/>
                    <a:pt x="9181081" y="4748792"/>
                  </a:cubicBezTo>
                  <a:cubicBezTo>
                    <a:pt x="9203748" y="4688276"/>
                    <a:pt x="9223383" y="4625876"/>
                    <a:pt x="9240731" y="4561970"/>
                  </a:cubicBezTo>
                  <a:cubicBezTo>
                    <a:pt x="9249481" y="4530064"/>
                    <a:pt x="9257682" y="4497782"/>
                    <a:pt x="9265388" y="4465171"/>
                  </a:cubicBezTo>
                  <a:cubicBezTo>
                    <a:pt x="9269215" y="4448842"/>
                    <a:pt x="9272943" y="4432465"/>
                    <a:pt x="9276571" y="4416041"/>
                  </a:cubicBezTo>
                  <a:lnTo>
                    <a:pt x="9281841" y="4391477"/>
                  </a:lnTo>
                  <a:lnTo>
                    <a:pt x="9286513" y="4368936"/>
                  </a:lnTo>
                  <a:lnTo>
                    <a:pt x="9296754" y="4316136"/>
                  </a:lnTo>
                  <a:lnTo>
                    <a:pt x="9301029" y="4293172"/>
                  </a:lnTo>
                  <a:lnTo>
                    <a:pt x="9302818" y="4282679"/>
                  </a:lnTo>
                  <a:lnTo>
                    <a:pt x="9304658" y="4270914"/>
                  </a:lnTo>
                  <a:lnTo>
                    <a:pt x="9312810" y="4220043"/>
                  </a:lnTo>
                  <a:lnTo>
                    <a:pt x="9316887" y="4194584"/>
                  </a:lnTo>
                  <a:lnTo>
                    <a:pt x="9318923" y="4181878"/>
                  </a:lnTo>
                  <a:cubicBezTo>
                    <a:pt x="9319570" y="4177644"/>
                    <a:pt x="9319969" y="4173267"/>
                    <a:pt x="9320515" y="4168984"/>
                  </a:cubicBezTo>
                  <a:lnTo>
                    <a:pt x="9332445" y="4069079"/>
                  </a:lnTo>
                  <a:cubicBezTo>
                    <a:pt x="9333836" y="4056468"/>
                    <a:pt x="9334880" y="4040986"/>
                    <a:pt x="9336173" y="4022774"/>
                  </a:cubicBezTo>
                  <a:lnTo>
                    <a:pt x="9340199" y="3969269"/>
                  </a:lnTo>
                  <a:cubicBezTo>
                    <a:pt x="9345071" y="3903904"/>
                    <a:pt x="9347358" y="3837081"/>
                    <a:pt x="9347557" y="3770070"/>
                  </a:cubicBezTo>
                  <a:cubicBezTo>
                    <a:pt x="9347656" y="3736518"/>
                    <a:pt x="9347209" y="3702871"/>
                    <a:pt x="9346364" y="3669036"/>
                  </a:cubicBezTo>
                  <a:lnTo>
                    <a:pt x="9344921" y="3619341"/>
                  </a:lnTo>
                  <a:lnTo>
                    <a:pt x="9344524" y="3607624"/>
                  </a:lnTo>
                  <a:lnTo>
                    <a:pt x="9343728" y="3594872"/>
                  </a:lnTo>
                  <a:lnTo>
                    <a:pt x="9342188" y="3569366"/>
                  </a:lnTo>
                  <a:lnTo>
                    <a:pt x="9339056" y="3518354"/>
                  </a:lnTo>
                  <a:cubicBezTo>
                    <a:pt x="9337914" y="3501319"/>
                    <a:pt x="9335874" y="3484236"/>
                    <a:pt x="9334334" y="3467155"/>
                  </a:cubicBezTo>
                  <a:lnTo>
                    <a:pt x="9329363" y="3415908"/>
                  </a:lnTo>
                  <a:lnTo>
                    <a:pt x="9328319" y="3404755"/>
                  </a:lnTo>
                  <a:lnTo>
                    <a:pt x="9327177" y="3394214"/>
                  </a:lnTo>
                  <a:lnTo>
                    <a:pt x="9324293" y="3370872"/>
                  </a:lnTo>
                  <a:lnTo>
                    <a:pt x="9320763" y="3344427"/>
                  </a:lnTo>
                  <a:lnTo>
                    <a:pt x="9317184" y="3315343"/>
                  </a:lnTo>
                  <a:cubicBezTo>
                    <a:pt x="9315594" y="3300991"/>
                    <a:pt x="9313506" y="3286404"/>
                    <a:pt x="9311021" y="3270309"/>
                  </a:cubicBezTo>
                  <a:lnTo>
                    <a:pt x="9302719" y="3219815"/>
                  </a:lnTo>
                  <a:cubicBezTo>
                    <a:pt x="9299936" y="3203157"/>
                    <a:pt x="9297003" y="3186498"/>
                    <a:pt x="9293970" y="3169887"/>
                  </a:cubicBezTo>
                  <a:cubicBezTo>
                    <a:pt x="9281891" y="3103393"/>
                    <a:pt x="9267674" y="3037182"/>
                    <a:pt x="9252065" y="2971205"/>
                  </a:cubicBezTo>
                  <a:cubicBezTo>
                    <a:pt x="9244261" y="2938265"/>
                    <a:pt x="9235959" y="2905371"/>
                    <a:pt x="9227211" y="2872571"/>
                  </a:cubicBezTo>
                  <a:lnTo>
                    <a:pt x="9220699" y="2848524"/>
                  </a:lnTo>
                  <a:lnTo>
                    <a:pt x="9213740" y="2824289"/>
                  </a:lnTo>
                  <a:cubicBezTo>
                    <a:pt x="9209216" y="2808147"/>
                    <a:pt x="9204345" y="2791866"/>
                    <a:pt x="9199374" y="2775536"/>
                  </a:cubicBezTo>
                  <a:cubicBezTo>
                    <a:pt x="9159855" y="2645184"/>
                    <a:pt x="9114272" y="2516197"/>
                    <a:pt x="9061829" y="2389515"/>
                  </a:cubicBezTo>
                  <a:cubicBezTo>
                    <a:pt x="9035582" y="2326175"/>
                    <a:pt x="9008043" y="2263258"/>
                    <a:pt x="8978865" y="2200953"/>
                  </a:cubicBezTo>
                  <a:lnTo>
                    <a:pt x="8956694" y="2154317"/>
                  </a:lnTo>
                  <a:lnTo>
                    <a:pt x="8934176" y="2108012"/>
                  </a:lnTo>
                  <a:cubicBezTo>
                    <a:pt x="8918915" y="2077189"/>
                    <a:pt x="8903157" y="2046130"/>
                    <a:pt x="8887151" y="2015448"/>
                  </a:cubicBezTo>
                  <a:cubicBezTo>
                    <a:pt x="8854988" y="1953989"/>
                    <a:pt x="8822082" y="1892908"/>
                    <a:pt x="8787533" y="1832625"/>
                  </a:cubicBezTo>
                  <a:lnTo>
                    <a:pt x="8761485" y="1787496"/>
                  </a:lnTo>
                  <a:lnTo>
                    <a:pt x="8734791" y="1741991"/>
                  </a:lnTo>
                  <a:cubicBezTo>
                    <a:pt x="8717047" y="1711921"/>
                    <a:pt x="8699200" y="1682461"/>
                    <a:pt x="8680808" y="1652910"/>
                  </a:cubicBezTo>
                  <a:cubicBezTo>
                    <a:pt x="8644322" y="1593756"/>
                    <a:pt x="8606194" y="1535216"/>
                    <a:pt x="8567024" y="1477004"/>
                  </a:cubicBezTo>
                  <a:lnTo>
                    <a:pt x="8537446" y="1433428"/>
                  </a:lnTo>
                  <a:lnTo>
                    <a:pt x="8507423" y="1389994"/>
                  </a:lnTo>
                  <a:cubicBezTo>
                    <a:pt x="8487390" y="1361382"/>
                    <a:pt x="8467158" y="1332817"/>
                    <a:pt x="8446529" y="1304393"/>
                  </a:cubicBezTo>
                  <a:cubicBezTo>
                    <a:pt x="8405271" y="1247595"/>
                    <a:pt x="8362718" y="1191218"/>
                    <a:pt x="8319224" y="1135124"/>
                  </a:cubicBezTo>
                  <a:lnTo>
                    <a:pt x="8286366" y="1093148"/>
                  </a:lnTo>
                  <a:lnTo>
                    <a:pt x="8270161" y="1072538"/>
                  </a:lnTo>
                  <a:lnTo>
                    <a:pt x="8253856" y="1052254"/>
                  </a:lnTo>
                  <a:cubicBezTo>
                    <a:pt x="8231636" y="1024773"/>
                    <a:pt x="8209117" y="997479"/>
                    <a:pt x="8186352" y="970373"/>
                  </a:cubicBezTo>
                  <a:cubicBezTo>
                    <a:pt x="8140917" y="916020"/>
                    <a:pt x="8094240" y="862515"/>
                    <a:pt x="8046768" y="809527"/>
                  </a:cubicBezTo>
                  <a:lnTo>
                    <a:pt x="8010927" y="769951"/>
                  </a:lnTo>
                  <a:lnTo>
                    <a:pt x="7974788" y="730751"/>
                  </a:lnTo>
                  <a:cubicBezTo>
                    <a:pt x="7950382" y="704587"/>
                    <a:pt x="7925824" y="678563"/>
                    <a:pt x="7901070" y="652823"/>
                  </a:cubicBezTo>
                  <a:cubicBezTo>
                    <a:pt x="7851510" y="601387"/>
                    <a:pt x="7801404" y="550612"/>
                    <a:pt x="7750054" y="501106"/>
                  </a:cubicBezTo>
                  <a:cubicBezTo>
                    <a:pt x="7698902" y="451742"/>
                    <a:pt x="7645913" y="403036"/>
                    <a:pt x="7592277" y="355319"/>
                  </a:cubicBezTo>
                  <a:cubicBezTo>
                    <a:pt x="7484856" y="259884"/>
                    <a:pt x="7373308" y="168402"/>
                    <a:pt x="7257734" y="81062"/>
                  </a:cubicBezTo>
                  <a:close/>
                  <a:moveTo>
                    <a:pt x="1892109" y="0"/>
                  </a:moveTo>
                  <a:lnTo>
                    <a:pt x="2298402" y="0"/>
                  </a:lnTo>
                  <a:lnTo>
                    <a:pt x="2135542" y="121879"/>
                  </a:lnTo>
                  <a:cubicBezTo>
                    <a:pt x="2078998" y="166378"/>
                    <a:pt x="2023659" y="212143"/>
                    <a:pt x="1969576" y="259084"/>
                  </a:cubicBezTo>
                  <a:cubicBezTo>
                    <a:pt x="1861309" y="352918"/>
                    <a:pt x="1758064" y="451412"/>
                    <a:pt x="1659938" y="553953"/>
                  </a:cubicBezTo>
                  <a:cubicBezTo>
                    <a:pt x="1266987" y="964444"/>
                    <a:pt x="953820" y="1435593"/>
                    <a:pt x="729383" y="1940578"/>
                  </a:cubicBezTo>
                  <a:cubicBezTo>
                    <a:pt x="673260" y="2066459"/>
                    <a:pt x="622855" y="2195070"/>
                    <a:pt x="578465" y="2324905"/>
                  </a:cubicBezTo>
                  <a:cubicBezTo>
                    <a:pt x="534125" y="2454785"/>
                    <a:pt x="496147" y="2586314"/>
                    <a:pt x="465080" y="2718973"/>
                  </a:cubicBezTo>
                  <a:cubicBezTo>
                    <a:pt x="449769" y="2785089"/>
                    <a:pt x="435850" y="2852289"/>
                    <a:pt x="423820" y="2919535"/>
                  </a:cubicBezTo>
                  <a:cubicBezTo>
                    <a:pt x="411840" y="2986829"/>
                    <a:pt x="401054" y="3054358"/>
                    <a:pt x="392355" y="3122169"/>
                  </a:cubicBezTo>
                  <a:cubicBezTo>
                    <a:pt x="374509" y="3257744"/>
                    <a:pt x="363424" y="3393978"/>
                    <a:pt x="358801" y="3531013"/>
                  </a:cubicBezTo>
                  <a:cubicBezTo>
                    <a:pt x="349009" y="3804941"/>
                    <a:pt x="366357" y="4079668"/>
                    <a:pt x="410350" y="4352324"/>
                  </a:cubicBezTo>
                  <a:cubicBezTo>
                    <a:pt x="421286" y="4420230"/>
                    <a:pt x="434209" y="4487758"/>
                    <a:pt x="449022" y="4555147"/>
                  </a:cubicBezTo>
                  <a:cubicBezTo>
                    <a:pt x="463737" y="4622534"/>
                    <a:pt x="480389" y="4689686"/>
                    <a:pt x="498882" y="4756463"/>
                  </a:cubicBezTo>
                  <a:cubicBezTo>
                    <a:pt x="517373" y="4823239"/>
                    <a:pt x="537704" y="4889733"/>
                    <a:pt x="559775" y="4955755"/>
                  </a:cubicBezTo>
                  <a:cubicBezTo>
                    <a:pt x="581946" y="5021873"/>
                    <a:pt x="605358" y="5087473"/>
                    <a:pt x="631406" y="5152084"/>
                  </a:cubicBezTo>
                  <a:cubicBezTo>
                    <a:pt x="734055" y="5411706"/>
                    <a:pt x="865188" y="5662668"/>
                    <a:pt x="1023461" y="5898055"/>
                  </a:cubicBezTo>
                  <a:cubicBezTo>
                    <a:pt x="1181487" y="6133676"/>
                    <a:pt x="1367051" y="6353345"/>
                    <a:pt x="1575880" y="6551744"/>
                  </a:cubicBezTo>
                  <a:cubicBezTo>
                    <a:pt x="1680269" y="6651014"/>
                    <a:pt x="1790338" y="6745037"/>
                    <a:pt x="1905228" y="6833566"/>
                  </a:cubicBezTo>
                  <a:lnTo>
                    <a:pt x="1938629" y="6858000"/>
                  </a:lnTo>
                  <a:lnTo>
                    <a:pt x="1368607" y="6858000"/>
                  </a:lnTo>
                  <a:lnTo>
                    <a:pt x="1115251" y="6594103"/>
                  </a:lnTo>
                  <a:cubicBezTo>
                    <a:pt x="418530" y="5794890"/>
                    <a:pt x="0" y="4770280"/>
                    <a:pt x="0" y="3653129"/>
                  </a:cubicBezTo>
                  <a:cubicBezTo>
                    <a:pt x="0" y="2216793"/>
                    <a:pt x="691856" y="933432"/>
                    <a:pt x="1777294" y="85415"/>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solidFill>
                  <a:schemeClr val="lt1"/>
                </a:solidFill>
              </a:endParaRPr>
            </a:p>
          </p:txBody>
        </p:sp>
      </p:grpSp>
      <p:sp>
        <p:nvSpPr>
          <p:cNvPr id="2" name="Title 1">
            <a:extLst>
              <a:ext uri="{FF2B5EF4-FFF2-40B4-BE49-F238E27FC236}">
                <a16:creationId xmlns:a16="http://schemas.microsoft.com/office/drawing/2014/main" id="{48A35C66-8DDE-D2EF-F9BD-92AEAC6CFE19}"/>
              </a:ext>
            </a:extLst>
          </p:cNvPr>
          <p:cNvSpPr>
            <a:spLocks noGrp="1"/>
          </p:cNvSpPr>
          <p:nvPr>
            <p:ph type="title"/>
          </p:nvPr>
        </p:nvSpPr>
        <p:spPr>
          <a:xfrm>
            <a:off x="3371787" y="1741337"/>
            <a:ext cx="5448730" cy="2387918"/>
          </a:xfrm>
        </p:spPr>
        <p:txBody>
          <a:bodyPr vert="horz" lIns="91440" tIns="45720" rIns="91440" bIns="45720" rtlCol="0" anchor="b">
            <a:normAutofit/>
          </a:bodyPr>
          <a:lstStyle/>
          <a:p>
            <a:pPr algn="ctr"/>
            <a:r>
              <a:rPr lang="en-US" sz="5200" kern="1200" dirty="0">
                <a:solidFill>
                  <a:schemeClr val="tx2"/>
                </a:solidFill>
                <a:latin typeface="+mj-lt"/>
                <a:ea typeface="+mj-ea"/>
                <a:cs typeface="+mj-cs"/>
              </a:rPr>
              <a:t>Taxonomical profiling</a:t>
            </a:r>
          </a:p>
        </p:txBody>
      </p:sp>
      <p:grpSp>
        <p:nvGrpSpPr>
          <p:cNvPr id="22" name="Group 21">
            <a:extLst>
              <a:ext uri="{FF2B5EF4-FFF2-40B4-BE49-F238E27FC236}">
                <a16:creationId xmlns:a16="http://schemas.microsoft.com/office/drawing/2014/main" id="{17147D5D-F01F-4164-BD81-D10DC6F23E4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7142" y="2854"/>
            <a:ext cx="2783421" cy="2406445"/>
            <a:chOff x="-305" y="-4155"/>
            <a:chExt cx="2514948" cy="2174333"/>
          </a:xfrm>
        </p:grpSpPr>
        <p:sp>
          <p:nvSpPr>
            <p:cNvPr id="23" name="Freeform: Shape 22">
              <a:extLst>
                <a:ext uri="{FF2B5EF4-FFF2-40B4-BE49-F238E27FC236}">
                  <a16:creationId xmlns:a16="http://schemas.microsoft.com/office/drawing/2014/main" id="{F24C7412-3E2D-4708-8DC3-425A457A101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14948" cy="2170178"/>
            </a:xfrm>
            <a:custGeom>
              <a:avLst/>
              <a:gdLst>
                <a:gd name="connsiteX0" fmla="*/ 2466091 w 2514948"/>
                <a:gd name="connsiteY0" fmla="*/ 0 h 2170178"/>
                <a:gd name="connsiteX1" fmla="*/ 2514948 w 2514948"/>
                <a:gd name="connsiteY1" fmla="*/ 0 h 2170178"/>
                <a:gd name="connsiteX2" fmla="*/ 2512286 w 2514948"/>
                <a:gd name="connsiteY2" fmla="*/ 12375 h 2170178"/>
                <a:gd name="connsiteX3" fmla="*/ 2394961 w 2514948"/>
                <a:gd name="connsiteY3" fmla="*/ 368660 h 2170178"/>
                <a:gd name="connsiteX4" fmla="*/ 2289734 w 2514948"/>
                <a:gd name="connsiteY4" fmla="*/ 598078 h 2170178"/>
                <a:gd name="connsiteX5" fmla="*/ 2163747 w 2514948"/>
                <a:gd name="connsiteY5" fmla="*/ 819078 h 2170178"/>
                <a:gd name="connsiteX6" fmla="*/ 1852241 w 2514948"/>
                <a:gd name="connsiteY6" fmla="*/ 1228932 h 2170178"/>
                <a:gd name="connsiteX7" fmla="*/ 1668235 w 2514948"/>
                <a:gd name="connsiteY7" fmla="*/ 1413844 h 2170178"/>
                <a:gd name="connsiteX8" fmla="*/ 1619510 w 2514948"/>
                <a:gd name="connsiteY8" fmla="*/ 1457722 h 2170178"/>
                <a:gd name="connsiteX9" fmla="*/ 1569835 w 2514948"/>
                <a:gd name="connsiteY9" fmla="*/ 1500704 h 2170178"/>
                <a:gd name="connsiteX10" fmla="*/ 1467169 w 2514948"/>
                <a:gd name="connsiteY10" fmla="*/ 1583266 h 2170178"/>
                <a:gd name="connsiteX11" fmla="*/ 1018393 w 2514948"/>
                <a:gd name="connsiteY11" fmla="*/ 1867576 h 2170178"/>
                <a:gd name="connsiteX12" fmla="*/ 255857 w 2514948"/>
                <a:gd name="connsiteY12" fmla="*/ 2133049 h 2170178"/>
                <a:gd name="connsiteX13" fmla="*/ 0 w 2514948"/>
                <a:gd name="connsiteY13" fmla="*/ 2170178 h 2170178"/>
                <a:gd name="connsiteX14" fmla="*/ 0 w 2514948"/>
                <a:gd name="connsiteY14" fmla="*/ 1940056 h 2170178"/>
                <a:gd name="connsiteX15" fmla="*/ 201609 w 2514948"/>
                <a:gd name="connsiteY15" fmla="*/ 1902856 h 2170178"/>
                <a:gd name="connsiteX16" fmla="*/ 440974 w 2514948"/>
                <a:gd name="connsiteY16" fmla="*/ 1838472 h 2170178"/>
                <a:gd name="connsiteX17" fmla="*/ 674558 w 2514948"/>
                <a:gd name="connsiteY17" fmla="*/ 1756359 h 2170178"/>
                <a:gd name="connsiteX18" fmla="*/ 901222 w 2514948"/>
                <a:gd name="connsiteY18" fmla="*/ 1657142 h 2170178"/>
                <a:gd name="connsiteX19" fmla="*/ 1330943 w 2514948"/>
                <a:gd name="connsiteY19" fmla="*/ 1413396 h 2170178"/>
                <a:gd name="connsiteX20" fmla="*/ 1432566 w 2514948"/>
                <a:gd name="connsiteY20" fmla="*/ 1343193 h 2170178"/>
                <a:gd name="connsiteX21" fmla="*/ 1482527 w 2514948"/>
                <a:gd name="connsiteY21" fmla="*/ 1306926 h 2170178"/>
                <a:gd name="connsiteX22" fmla="*/ 1531821 w 2514948"/>
                <a:gd name="connsiteY22" fmla="*/ 1269765 h 2170178"/>
                <a:gd name="connsiteX23" fmla="*/ 1721986 w 2514948"/>
                <a:gd name="connsiteY23" fmla="*/ 1112073 h 2170178"/>
                <a:gd name="connsiteX24" fmla="*/ 2061460 w 2514948"/>
                <a:gd name="connsiteY24" fmla="*/ 754336 h 2170178"/>
                <a:gd name="connsiteX25" fmla="*/ 2206218 w 2514948"/>
                <a:gd name="connsiteY25" fmla="*/ 554827 h 2170178"/>
                <a:gd name="connsiteX26" fmla="*/ 2329455 w 2514948"/>
                <a:gd name="connsiteY26" fmla="*/ 341886 h 2170178"/>
                <a:gd name="connsiteX27" fmla="*/ 2356757 w 2514948"/>
                <a:gd name="connsiteY27" fmla="*/ 286815 h 2170178"/>
                <a:gd name="connsiteX28" fmla="*/ 2370030 w 2514948"/>
                <a:gd name="connsiteY28" fmla="*/ 259056 h 2170178"/>
                <a:gd name="connsiteX29" fmla="*/ 2382637 w 2514948"/>
                <a:gd name="connsiteY29" fmla="*/ 231028 h 2170178"/>
                <a:gd name="connsiteX30" fmla="*/ 2406716 w 2514948"/>
                <a:gd name="connsiteY30" fmla="*/ 174525 h 2170178"/>
                <a:gd name="connsiteX31" fmla="*/ 2429278 w 2514948"/>
                <a:gd name="connsiteY31" fmla="*/ 117393 h 2170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2514948" h="2170178">
                  <a:moveTo>
                    <a:pt x="2466091" y="0"/>
                  </a:moveTo>
                  <a:lnTo>
                    <a:pt x="2514948" y="0"/>
                  </a:lnTo>
                  <a:lnTo>
                    <a:pt x="2512286" y="12375"/>
                  </a:lnTo>
                  <a:cubicBezTo>
                    <a:pt x="2481760" y="133161"/>
                    <a:pt x="2442526" y="252239"/>
                    <a:pt x="2394961" y="368660"/>
                  </a:cubicBezTo>
                  <a:cubicBezTo>
                    <a:pt x="2363109" y="446208"/>
                    <a:pt x="2328603" y="523039"/>
                    <a:pt x="2289734" y="598078"/>
                  </a:cubicBezTo>
                  <a:cubicBezTo>
                    <a:pt x="2251436" y="673387"/>
                    <a:pt x="2209251" y="747083"/>
                    <a:pt x="2163747" y="819078"/>
                  </a:cubicBezTo>
                  <a:cubicBezTo>
                    <a:pt x="2072646" y="962979"/>
                    <a:pt x="1968652" y="1100611"/>
                    <a:pt x="1852241" y="1228932"/>
                  </a:cubicBezTo>
                  <a:cubicBezTo>
                    <a:pt x="1793748" y="1292868"/>
                    <a:pt x="1732698" y="1354923"/>
                    <a:pt x="1668235" y="1413844"/>
                  </a:cubicBezTo>
                  <a:cubicBezTo>
                    <a:pt x="1652214" y="1428709"/>
                    <a:pt x="1636100" y="1443395"/>
                    <a:pt x="1619510" y="1457722"/>
                  </a:cubicBezTo>
                  <a:cubicBezTo>
                    <a:pt x="1603015" y="1472140"/>
                    <a:pt x="1586805" y="1486825"/>
                    <a:pt x="1569835" y="1500704"/>
                  </a:cubicBezTo>
                  <a:cubicBezTo>
                    <a:pt x="1536276" y="1528911"/>
                    <a:pt x="1501865" y="1556223"/>
                    <a:pt x="1467169" y="1583266"/>
                  </a:cubicBezTo>
                  <a:cubicBezTo>
                    <a:pt x="1327719" y="1690722"/>
                    <a:pt x="1177085" y="1785910"/>
                    <a:pt x="1018393" y="1867576"/>
                  </a:cubicBezTo>
                  <a:cubicBezTo>
                    <a:pt x="780425" y="1990142"/>
                    <a:pt x="522567" y="2080875"/>
                    <a:pt x="255857" y="2133049"/>
                  </a:cubicBezTo>
                  <a:lnTo>
                    <a:pt x="0" y="2170178"/>
                  </a:lnTo>
                  <a:lnTo>
                    <a:pt x="0" y="1940056"/>
                  </a:lnTo>
                  <a:lnTo>
                    <a:pt x="201609" y="1902856"/>
                  </a:lnTo>
                  <a:cubicBezTo>
                    <a:pt x="282186" y="1884231"/>
                    <a:pt x="362102" y="1863008"/>
                    <a:pt x="440974" y="1838472"/>
                  </a:cubicBezTo>
                  <a:cubicBezTo>
                    <a:pt x="519848" y="1814027"/>
                    <a:pt x="597771" y="1786627"/>
                    <a:pt x="674558" y="1756359"/>
                  </a:cubicBezTo>
                  <a:cubicBezTo>
                    <a:pt x="751250" y="1726003"/>
                    <a:pt x="826900" y="1692870"/>
                    <a:pt x="901222" y="1657142"/>
                  </a:cubicBezTo>
                  <a:cubicBezTo>
                    <a:pt x="1049865" y="1585774"/>
                    <a:pt x="1193581" y="1504376"/>
                    <a:pt x="1330943" y="1413396"/>
                  </a:cubicBezTo>
                  <a:cubicBezTo>
                    <a:pt x="1365165" y="1390563"/>
                    <a:pt x="1399293" y="1367370"/>
                    <a:pt x="1432566" y="1343193"/>
                  </a:cubicBezTo>
                  <a:cubicBezTo>
                    <a:pt x="1449441" y="1331373"/>
                    <a:pt x="1465936" y="1319104"/>
                    <a:pt x="1482527" y="1306926"/>
                  </a:cubicBezTo>
                  <a:cubicBezTo>
                    <a:pt x="1499210" y="1294837"/>
                    <a:pt x="1515611" y="1282391"/>
                    <a:pt x="1531821" y="1269765"/>
                  </a:cubicBezTo>
                  <a:cubicBezTo>
                    <a:pt x="1596947" y="1219350"/>
                    <a:pt x="1660652" y="1167055"/>
                    <a:pt x="1721986" y="1112073"/>
                  </a:cubicBezTo>
                  <a:cubicBezTo>
                    <a:pt x="1844940" y="1002469"/>
                    <a:pt x="1958983" y="882926"/>
                    <a:pt x="2061460" y="754336"/>
                  </a:cubicBezTo>
                  <a:cubicBezTo>
                    <a:pt x="2112652" y="690042"/>
                    <a:pt x="2161094" y="623510"/>
                    <a:pt x="2206218" y="554827"/>
                  </a:cubicBezTo>
                  <a:cubicBezTo>
                    <a:pt x="2250583" y="485787"/>
                    <a:pt x="2292484" y="415046"/>
                    <a:pt x="2329455" y="341886"/>
                  </a:cubicBezTo>
                  <a:cubicBezTo>
                    <a:pt x="2339030" y="323709"/>
                    <a:pt x="2347941" y="305261"/>
                    <a:pt x="2356757" y="286815"/>
                  </a:cubicBezTo>
                  <a:lnTo>
                    <a:pt x="2370030" y="259056"/>
                  </a:lnTo>
                  <a:lnTo>
                    <a:pt x="2382637" y="231028"/>
                  </a:lnTo>
                  <a:cubicBezTo>
                    <a:pt x="2390885" y="212312"/>
                    <a:pt x="2399227" y="193598"/>
                    <a:pt x="2406716" y="174525"/>
                  </a:cubicBezTo>
                  <a:cubicBezTo>
                    <a:pt x="2414206" y="155452"/>
                    <a:pt x="2422453" y="136646"/>
                    <a:pt x="2429278" y="11739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Freeform: Shape 23">
              <a:extLst>
                <a:ext uri="{FF2B5EF4-FFF2-40B4-BE49-F238E27FC236}">
                  <a16:creationId xmlns:a16="http://schemas.microsoft.com/office/drawing/2014/main" id="{71483A6A-CB0B-4469-B09D-C9451F9B079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4155"/>
              <a:ext cx="2493062" cy="1947896"/>
            </a:xfrm>
            <a:custGeom>
              <a:avLst/>
              <a:gdLst>
                <a:gd name="connsiteX0" fmla="*/ 1896911 w 2493062"/>
                <a:gd name="connsiteY0" fmla="*/ 0 h 1947896"/>
                <a:gd name="connsiteX1" fmla="*/ 2493062 w 2493062"/>
                <a:gd name="connsiteY1" fmla="*/ 0 h 1947896"/>
                <a:gd name="connsiteX2" fmla="*/ 2435315 w 2493062"/>
                <a:gd name="connsiteY2" fmla="*/ 178165 h 1947896"/>
                <a:gd name="connsiteX3" fmla="*/ 93066 w 2493062"/>
                <a:gd name="connsiteY3" fmla="*/ 1935859 h 1947896"/>
                <a:gd name="connsiteX4" fmla="*/ 0 w 2493062"/>
                <a:gd name="connsiteY4" fmla="*/ 1947896 h 1947896"/>
                <a:gd name="connsiteX5" fmla="*/ 0 w 2493062"/>
                <a:gd name="connsiteY5" fmla="*/ 1404756 h 1947896"/>
                <a:gd name="connsiteX6" fmla="*/ 17392 w 2493062"/>
                <a:gd name="connsiteY6" fmla="*/ 1402364 h 1947896"/>
                <a:gd name="connsiteX7" fmla="*/ 464249 w 2493062"/>
                <a:gd name="connsiteY7" fmla="*/ 1281208 h 1947896"/>
                <a:gd name="connsiteX8" fmla="*/ 1260556 w 2493062"/>
                <a:gd name="connsiteY8" fmla="*/ 833835 h 1947896"/>
                <a:gd name="connsiteX9" fmla="*/ 1807924 w 2493062"/>
                <a:gd name="connsiteY9" fmla="*/ 193222 h 1947896"/>
                <a:gd name="connsiteX10" fmla="*/ 1874357 w 2493062"/>
                <a:gd name="connsiteY10" fmla="*/ 58333 h 1947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3062" h="1947896">
                  <a:moveTo>
                    <a:pt x="1896911" y="0"/>
                  </a:moveTo>
                  <a:lnTo>
                    <a:pt x="2493062" y="0"/>
                  </a:lnTo>
                  <a:lnTo>
                    <a:pt x="2435315" y="178165"/>
                  </a:lnTo>
                  <a:cubicBezTo>
                    <a:pt x="2088122" y="1071812"/>
                    <a:pt x="1129732" y="1758033"/>
                    <a:pt x="93066" y="1935859"/>
                  </a:cubicBezTo>
                  <a:lnTo>
                    <a:pt x="0" y="1947896"/>
                  </a:lnTo>
                  <a:lnTo>
                    <a:pt x="0" y="1404756"/>
                  </a:lnTo>
                  <a:lnTo>
                    <a:pt x="17392" y="1402364"/>
                  </a:lnTo>
                  <a:cubicBezTo>
                    <a:pt x="167719" y="1375030"/>
                    <a:pt x="318070" y="1334398"/>
                    <a:pt x="464249" y="1281208"/>
                  </a:cubicBezTo>
                  <a:cubicBezTo>
                    <a:pt x="753480" y="1176081"/>
                    <a:pt x="1028869" y="1021346"/>
                    <a:pt x="1260556" y="833835"/>
                  </a:cubicBezTo>
                  <a:cubicBezTo>
                    <a:pt x="1491960" y="646594"/>
                    <a:pt x="1681177" y="425056"/>
                    <a:pt x="1807924" y="193222"/>
                  </a:cubicBezTo>
                  <a:cubicBezTo>
                    <a:pt x="1832328" y="148578"/>
                    <a:pt x="1854477" y="103599"/>
                    <a:pt x="1874357" y="5833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Freeform: Shape 24">
              <a:extLst>
                <a:ext uri="{FF2B5EF4-FFF2-40B4-BE49-F238E27FC236}">
                  <a16:creationId xmlns:a16="http://schemas.microsoft.com/office/drawing/2014/main" id="{9A935E9D-EB55-46F3-BCCB-9CB918E870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01089" cy="1972702"/>
            </a:xfrm>
            <a:custGeom>
              <a:avLst/>
              <a:gdLst>
                <a:gd name="connsiteX0" fmla="*/ 2318728 w 2501089"/>
                <a:gd name="connsiteY0" fmla="*/ 0 h 1972702"/>
                <a:gd name="connsiteX1" fmla="*/ 2501089 w 2501089"/>
                <a:gd name="connsiteY1" fmla="*/ 0 h 1972702"/>
                <a:gd name="connsiteX2" fmla="*/ 2453909 w 2501089"/>
                <a:gd name="connsiteY2" fmla="*/ 167837 h 1972702"/>
                <a:gd name="connsiteX3" fmla="*/ 2361125 w 2501089"/>
                <a:gd name="connsiteY3" fmla="*/ 392084 h 1972702"/>
                <a:gd name="connsiteX4" fmla="*/ 1768255 w 2501089"/>
                <a:gd name="connsiteY4" fmla="*/ 1167644 h 1972702"/>
                <a:gd name="connsiteX5" fmla="*/ 1375125 w 2501089"/>
                <a:gd name="connsiteY5" fmla="*/ 1471474 h 1972702"/>
                <a:gd name="connsiteX6" fmla="*/ 935735 w 2501089"/>
                <a:gd name="connsiteY6" fmla="*/ 1712713 h 1972702"/>
                <a:gd name="connsiteX7" fmla="*/ 212353 w 2501089"/>
                <a:gd name="connsiteY7" fmla="*/ 1940294 h 1972702"/>
                <a:gd name="connsiteX8" fmla="*/ 0 w 2501089"/>
                <a:gd name="connsiteY8" fmla="*/ 1972702 h 1972702"/>
                <a:gd name="connsiteX9" fmla="*/ 0 w 2501089"/>
                <a:gd name="connsiteY9" fmla="*/ 1732181 h 1972702"/>
                <a:gd name="connsiteX10" fmla="*/ 161195 w 2501089"/>
                <a:gd name="connsiteY10" fmla="*/ 1706590 h 1972702"/>
                <a:gd name="connsiteX11" fmla="*/ 388463 w 2501089"/>
                <a:gd name="connsiteY11" fmla="*/ 1652268 h 1972702"/>
                <a:gd name="connsiteX12" fmla="*/ 826716 w 2501089"/>
                <a:gd name="connsiteY12" fmla="*/ 1493950 h 1972702"/>
                <a:gd name="connsiteX13" fmla="*/ 1609847 w 2501089"/>
                <a:gd name="connsiteY13" fmla="*/ 1007535 h 1972702"/>
                <a:gd name="connsiteX14" fmla="*/ 1929982 w 2501089"/>
                <a:gd name="connsiteY14" fmla="*/ 682930 h 1972702"/>
                <a:gd name="connsiteX15" fmla="*/ 2183093 w 2501089"/>
                <a:gd name="connsiteY15" fmla="*/ 310149 h 1972702"/>
                <a:gd name="connsiteX16" fmla="*/ 2280286 w 2501089"/>
                <a:gd name="connsiteY16" fmla="*/ 108435 h 19727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01089" h="1972702">
                  <a:moveTo>
                    <a:pt x="2318728" y="0"/>
                  </a:moveTo>
                  <a:lnTo>
                    <a:pt x="2501089" y="0"/>
                  </a:lnTo>
                  <a:lnTo>
                    <a:pt x="2453909" y="167837"/>
                  </a:lnTo>
                  <a:cubicBezTo>
                    <a:pt x="2427555" y="244153"/>
                    <a:pt x="2396627" y="319103"/>
                    <a:pt x="2361125" y="392084"/>
                  </a:cubicBezTo>
                  <a:cubicBezTo>
                    <a:pt x="2218453" y="684005"/>
                    <a:pt x="2011698" y="945211"/>
                    <a:pt x="1768255" y="1167644"/>
                  </a:cubicBezTo>
                  <a:cubicBezTo>
                    <a:pt x="1646250" y="1278860"/>
                    <a:pt x="1514385" y="1380316"/>
                    <a:pt x="1375125" y="1471474"/>
                  </a:cubicBezTo>
                  <a:cubicBezTo>
                    <a:pt x="1235677" y="1562542"/>
                    <a:pt x="1088928" y="1643672"/>
                    <a:pt x="935735" y="1712713"/>
                  </a:cubicBezTo>
                  <a:cubicBezTo>
                    <a:pt x="705659" y="1815533"/>
                    <a:pt x="462359" y="1892212"/>
                    <a:pt x="212353" y="1940294"/>
                  </a:cubicBezTo>
                  <a:lnTo>
                    <a:pt x="0" y="1972702"/>
                  </a:lnTo>
                  <a:lnTo>
                    <a:pt x="0" y="1732181"/>
                  </a:lnTo>
                  <a:lnTo>
                    <a:pt x="161195" y="1706590"/>
                  </a:lnTo>
                  <a:cubicBezTo>
                    <a:pt x="237638" y="1691378"/>
                    <a:pt x="313477" y="1673222"/>
                    <a:pt x="388463" y="1652268"/>
                  </a:cubicBezTo>
                  <a:cubicBezTo>
                    <a:pt x="538529" y="1610539"/>
                    <a:pt x="684898" y="1556543"/>
                    <a:pt x="826716" y="1493950"/>
                  </a:cubicBezTo>
                  <a:cubicBezTo>
                    <a:pt x="1111207" y="1370107"/>
                    <a:pt x="1376832" y="1205881"/>
                    <a:pt x="1609847" y="1007535"/>
                  </a:cubicBezTo>
                  <a:cubicBezTo>
                    <a:pt x="1725975" y="908049"/>
                    <a:pt x="1833571" y="799519"/>
                    <a:pt x="1929982" y="682930"/>
                  </a:cubicBezTo>
                  <a:cubicBezTo>
                    <a:pt x="2026581" y="566520"/>
                    <a:pt x="2111806" y="441692"/>
                    <a:pt x="2183093" y="310149"/>
                  </a:cubicBezTo>
                  <a:cubicBezTo>
                    <a:pt x="2218738" y="244422"/>
                    <a:pt x="2251396" y="177150"/>
                    <a:pt x="2280286" y="10843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800"/>
            </a:p>
          </p:txBody>
        </p:sp>
        <p:sp>
          <p:nvSpPr>
            <p:cNvPr id="26" name="Freeform: Shape 25">
              <a:extLst>
                <a:ext uri="{FF2B5EF4-FFF2-40B4-BE49-F238E27FC236}">
                  <a16:creationId xmlns:a16="http://schemas.microsoft.com/office/drawing/2014/main" id="{8EDC5655-C7D7-4936-91EA-E188A96DC6C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2491105" cy="1943661"/>
            </a:xfrm>
            <a:custGeom>
              <a:avLst/>
              <a:gdLst>
                <a:gd name="connsiteX0" fmla="*/ 1995408 w 2491105"/>
                <a:gd name="connsiteY0" fmla="*/ 0 h 1943661"/>
                <a:gd name="connsiteX1" fmla="*/ 2491105 w 2491105"/>
                <a:gd name="connsiteY1" fmla="*/ 0 h 1943661"/>
                <a:gd name="connsiteX2" fmla="*/ 2434705 w 2491105"/>
                <a:gd name="connsiteY2" fmla="*/ 174009 h 1943661"/>
                <a:gd name="connsiteX3" fmla="*/ 92457 w 2491105"/>
                <a:gd name="connsiteY3" fmla="*/ 1931703 h 1943661"/>
                <a:gd name="connsiteX4" fmla="*/ 0 w 2491105"/>
                <a:gd name="connsiteY4" fmla="*/ 1943661 h 1943661"/>
                <a:gd name="connsiteX5" fmla="*/ 0 w 2491105"/>
                <a:gd name="connsiteY5" fmla="*/ 1491489 h 1943661"/>
                <a:gd name="connsiteX6" fmla="*/ 34107 w 2491105"/>
                <a:gd name="connsiteY6" fmla="*/ 1486836 h 1943661"/>
                <a:gd name="connsiteX7" fmla="*/ 497577 w 2491105"/>
                <a:gd name="connsiteY7" fmla="*/ 1360598 h 1943661"/>
                <a:gd name="connsiteX8" fmla="*/ 1321566 w 2491105"/>
                <a:gd name="connsiteY8" fmla="*/ 897645 h 1943661"/>
                <a:gd name="connsiteX9" fmla="*/ 1891495 w 2491105"/>
                <a:gd name="connsiteY9" fmla="*/ 230078 h 1943661"/>
                <a:gd name="connsiteX10" fmla="*/ 1961469 w 2491105"/>
                <a:gd name="connsiteY10" fmla="*/ 87885 h 1943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1105" h="1943661">
                  <a:moveTo>
                    <a:pt x="1995408" y="0"/>
                  </a:moveTo>
                  <a:lnTo>
                    <a:pt x="2491105" y="0"/>
                  </a:lnTo>
                  <a:lnTo>
                    <a:pt x="2434705" y="174009"/>
                  </a:lnTo>
                  <a:cubicBezTo>
                    <a:pt x="2087512" y="1067655"/>
                    <a:pt x="1129122" y="1753877"/>
                    <a:pt x="92457" y="1931703"/>
                  </a:cubicBezTo>
                  <a:lnTo>
                    <a:pt x="0" y="1943661"/>
                  </a:lnTo>
                  <a:lnTo>
                    <a:pt x="0" y="1491489"/>
                  </a:lnTo>
                  <a:lnTo>
                    <a:pt x="34107" y="1486836"/>
                  </a:lnTo>
                  <a:cubicBezTo>
                    <a:pt x="189055" y="1458696"/>
                    <a:pt x="343908" y="1416565"/>
                    <a:pt x="497577" y="1360598"/>
                  </a:cubicBezTo>
                  <a:cubicBezTo>
                    <a:pt x="796856" y="1251889"/>
                    <a:pt x="1081725" y="1091781"/>
                    <a:pt x="1321566" y="897645"/>
                  </a:cubicBezTo>
                  <a:cubicBezTo>
                    <a:pt x="1565577" y="700195"/>
                    <a:pt x="1757355" y="475523"/>
                    <a:pt x="1891495" y="230078"/>
                  </a:cubicBezTo>
                  <a:cubicBezTo>
                    <a:pt x="1917197" y="183033"/>
                    <a:pt x="1940526" y="135619"/>
                    <a:pt x="1961469" y="8788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grpSp>
        <p:nvGrpSpPr>
          <p:cNvPr id="28" name="Group 27">
            <a:extLst>
              <a:ext uri="{FF2B5EF4-FFF2-40B4-BE49-F238E27FC236}">
                <a16:creationId xmlns:a16="http://schemas.microsoft.com/office/drawing/2014/main" id="{6D0E248E-80AB-4B35-BA8D-F940FCB4432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10800000">
            <a:off x="9417253" y="4456669"/>
            <a:ext cx="2783421" cy="2406445"/>
            <a:chOff x="-305" y="-4155"/>
            <a:chExt cx="2514948" cy="2174333"/>
          </a:xfrm>
        </p:grpSpPr>
        <p:sp>
          <p:nvSpPr>
            <p:cNvPr id="29" name="Freeform: Shape 28">
              <a:extLst>
                <a:ext uri="{FF2B5EF4-FFF2-40B4-BE49-F238E27FC236}">
                  <a16:creationId xmlns:a16="http://schemas.microsoft.com/office/drawing/2014/main" id="{F9E91B0A-66E8-4298-BAC6-004DBE49197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14948" cy="2170178"/>
            </a:xfrm>
            <a:custGeom>
              <a:avLst/>
              <a:gdLst>
                <a:gd name="connsiteX0" fmla="*/ 2466091 w 2514948"/>
                <a:gd name="connsiteY0" fmla="*/ 0 h 2170178"/>
                <a:gd name="connsiteX1" fmla="*/ 2514948 w 2514948"/>
                <a:gd name="connsiteY1" fmla="*/ 0 h 2170178"/>
                <a:gd name="connsiteX2" fmla="*/ 2512286 w 2514948"/>
                <a:gd name="connsiteY2" fmla="*/ 12375 h 2170178"/>
                <a:gd name="connsiteX3" fmla="*/ 2394961 w 2514948"/>
                <a:gd name="connsiteY3" fmla="*/ 368660 h 2170178"/>
                <a:gd name="connsiteX4" fmla="*/ 2289734 w 2514948"/>
                <a:gd name="connsiteY4" fmla="*/ 598078 h 2170178"/>
                <a:gd name="connsiteX5" fmla="*/ 2163747 w 2514948"/>
                <a:gd name="connsiteY5" fmla="*/ 819078 h 2170178"/>
                <a:gd name="connsiteX6" fmla="*/ 1852241 w 2514948"/>
                <a:gd name="connsiteY6" fmla="*/ 1228932 h 2170178"/>
                <a:gd name="connsiteX7" fmla="*/ 1668235 w 2514948"/>
                <a:gd name="connsiteY7" fmla="*/ 1413844 h 2170178"/>
                <a:gd name="connsiteX8" fmla="*/ 1619510 w 2514948"/>
                <a:gd name="connsiteY8" fmla="*/ 1457722 h 2170178"/>
                <a:gd name="connsiteX9" fmla="*/ 1569835 w 2514948"/>
                <a:gd name="connsiteY9" fmla="*/ 1500704 h 2170178"/>
                <a:gd name="connsiteX10" fmla="*/ 1467169 w 2514948"/>
                <a:gd name="connsiteY10" fmla="*/ 1583266 h 2170178"/>
                <a:gd name="connsiteX11" fmla="*/ 1018393 w 2514948"/>
                <a:gd name="connsiteY11" fmla="*/ 1867576 h 2170178"/>
                <a:gd name="connsiteX12" fmla="*/ 255857 w 2514948"/>
                <a:gd name="connsiteY12" fmla="*/ 2133049 h 2170178"/>
                <a:gd name="connsiteX13" fmla="*/ 0 w 2514948"/>
                <a:gd name="connsiteY13" fmla="*/ 2170178 h 2170178"/>
                <a:gd name="connsiteX14" fmla="*/ 0 w 2514948"/>
                <a:gd name="connsiteY14" fmla="*/ 1940056 h 2170178"/>
                <a:gd name="connsiteX15" fmla="*/ 201609 w 2514948"/>
                <a:gd name="connsiteY15" fmla="*/ 1902856 h 2170178"/>
                <a:gd name="connsiteX16" fmla="*/ 440974 w 2514948"/>
                <a:gd name="connsiteY16" fmla="*/ 1838472 h 2170178"/>
                <a:gd name="connsiteX17" fmla="*/ 674558 w 2514948"/>
                <a:gd name="connsiteY17" fmla="*/ 1756359 h 2170178"/>
                <a:gd name="connsiteX18" fmla="*/ 901222 w 2514948"/>
                <a:gd name="connsiteY18" fmla="*/ 1657142 h 2170178"/>
                <a:gd name="connsiteX19" fmla="*/ 1330943 w 2514948"/>
                <a:gd name="connsiteY19" fmla="*/ 1413396 h 2170178"/>
                <a:gd name="connsiteX20" fmla="*/ 1432566 w 2514948"/>
                <a:gd name="connsiteY20" fmla="*/ 1343193 h 2170178"/>
                <a:gd name="connsiteX21" fmla="*/ 1482527 w 2514948"/>
                <a:gd name="connsiteY21" fmla="*/ 1306926 h 2170178"/>
                <a:gd name="connsiteX22" fmla="*/ 1531821 w 2514948"/>
                <a:gd name="connsiteY22" fmla="*/ 1269765 h 2170178"/>
                <a:gd name="connsiteX23" fmla="*/ 1721986 w 2514948"/>
                <a:gd name="connsiteY23" fmla="*/ 1112073 h 2170178"/>
                <a:gd name="connsiteX24" fmla="*/ 2061460 w 2514948"/>
                <a:gd name="connsiteY24" fmla="*/ 754336 h 2170178"/>
                <a:gd name="connsiteX25" fmla="*/ 2206218 w 2514948"/>
                <a:gd name="connsiteY25" fmla="*/ 554827 h 2170178"/>
                <a:gd name="connsiteX26" fmla="*/ 2329455 w 2514948"/>
                <a:gd name="connsiteY26" fmla="*/ 341886 h 2170178"/>
                <a:gd name="connsiteX27" fmla="*/ 2356757 w 2514948"/>
                <a:gd name="connsiteY27" fmla="*/ 286815 h 2170178"/>
                <a:gd name="connsiteX28" fmla="*/ 2370030 w 2514948"/>
                <a:gd name="connsiteY28" fmla="*/ 259056 h 2170178"/>
                <a:gd name="connsiteX29" fmla="*/ 2382637 w 2514948"/>
                <a:gd name="connsiteY29" fmla="*/ 231028 h 2170178"/>
                <a:gd name="connsiteX30" fmla="*/ 2406716 w 2514948"/>
                <a:gd name="connsiteY30" fmla="*/ 174525 h 2170178"/>
                <a:gd name="connsiteX31" fmla="*/ 2429278 w 2514948"/>
                <a:gd name="connsiteY31" fmla="*/ 117393 h 2170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2514948" h="2170178">
                  <a:moveTo>
                    <a:pt x="2466091" y="0"/>
                  </a:moveTo>
                  <a:lnTo>
                    <a:pt x="2514948" y="0"/>
                  </a:lnTo>
                  <a:lnTo>
                    <a:pt x="2512286" y="12375"/>
                  </a:lnTo>
                  <a:cubicBezTo>
                    <a:pt x="2481760" y="133161"/>
                    <a:pt x="2442526" y="252239"/>
                    <a:pt x="2394961" y="368660"/>
                  </a:cubicBezTo>
                  <a:cubicBezTo>
                    <a:pt x="2363109" y="446208"/>
                    <a:pt x="2328603" y="523039"/>
                    <a:pt x="2289734" y="598078"/>
                  </a:cubicBezTo>
                  <a:cubicBezTo>
                    <a:pt x="2251436" y="673387"/>
                    <a:pt x="2209251" y="747083"/>
                    <a:pt x="2163747" y="819078"/>
                  </a:cubicBezTo>
                  <a:cubicBezTo>
                    <a:pt x="2072646" y="962979"/>
                    <a:pt x="1968652" y="1100611"/>
                    <a:pt x="1852241" y="1228932"/>
                  </a:cubicBezTo>
                  <a:cubicBezTo>
                    <a:pt x="1793748" y="1292868"/>
                    <a:pt x="1732698" y="1354923"/>
                    <a:pt x="1668235" y="1413844"/>
                  </a:cubicBezTo>
                  <a:cubicBezTo>
                    <a:pt x="1652214" y="1428709"/>
                    <a:pt x="1636100" y="1443395"/>
                    <a:pt x="1619510" y="1457722"/>
                  </a:cubicBezTo>
                  <a:cubicBezTo>
                    <a:pt x="1603015" y="1472140"/>
                    <a:pt x="1586805" y="1486825"/>
                    <a:pt x="1569835" y="1500704"/>
                  </a:cubicBezTo>
                  <a:cubicBezTo>
                    <a:pt x="1536276" y="1528911"/>
                    <a:pt x="1501865" y="1556223"/>
                    <a:pt x="1467169" y="1583266"/>
                  </a:cubicBezTo>
                  <a:cubicBezTo>
                    <a:pt x="1327719" y="1690722"/>
                    <a:pt x="1177085" y="1785910"/>
                    <a:pt x="1018393" y="1867576"/>
                  </a:cubicBezTo>
                  <a:cubicBezTo>
                    <a:pt x="780425" y="1990142"/>
                    <a:pt x="522567" y="2080875"/>
                    <a:pt x="255857" y="2133049"/>
                  </a:cubicBezTo>
                  <a:lnTo>
                    <a:pt x="0" y="2170178"/>
                  </a:lnTo>
                  <a:lnTo>
                    <a:pt x="0" y="1940056"/>
                  </a:lnTo>
                  <a:lnTo>
                    <a:pt x="201609" y="1902856"/>
                  </a:lnTo>
                  <a:cubicBezTo>
                    <a:pt x="282186" y="1884231"/>
                    <a:pt x="362102" y="1863008"/>
                    <a:pt x="440974" y="1838472"/>
                  </a:cubicBezTo>
                  <a:cubicBezTo>
                    <a:pt x="519848" y="1814027"/>
                    <a:pt x="597771" y="1786627"/>
                    <a:pt x="674558" y="1756359"/>
                  </a:cubicBezTo>
                  <a:cubicBezTo>
                    <a:pt x="751250" y="1726003"/>
                    <a:pt x="826900" y="1692870"/>
                    <a:pt x="901222" y="1657142"/>
                  </a:cubicBezTo>
                  <a:cubicBezTo>
                    <a:pt x="1049865" y="1585774"/>
                    <a:pt x="1193581" y="1504376"/>
                    <a:pt x="1330943" y="1413396"/>
                  </a:cubicBezTo>
                  <a:cubicBezTo>
                    <a:pt x="1365165" y="1390563"/>
                    <a:pt x="1399293" y="1367370"/>
                    <a:pt x="1432566" y="1343193"/>
                  </a:cubicBezTo>
                  <a:cubicBezTo>
                    <a:pt x="1449441" y="1331373"/>
                    <a:pt x="1465936" y="1319104"/>
                    <a:pt x="1482527" y="1306926"/>
                  </a:cubicBezTo>
                  <a:cubicBezTo>
                    <a:pt x="1499210" y="1294837"/>
                    <a:pt x="1515611" y="1282391"/>
                    <a:pt x="1531821" y="1269765"/>
                  </a:cubicBezTo>
                  <a:cubicBezTo>
                    <a:pt x="1596947" y="1219350"/>
                    <a:pt x="1660652" y="1167055"/>
                    <a:pt x="1721986" y="1112073"/>
                  </a:cubicBezTo>
                  <a:cubicBezTo>
                    <a:pt x="1844940" y="1002469"/>
                    <a:pt x="1958983" y="882926"/>
                    <a:pt x="2061460" y="754336"/>
                  </a:cubicBezTo>
                  <a:cubicBezTo>
                    <a:pt x="2112652" y="690042"/>
                    <a:pt x="2161094" y="623510"/>
                    <a:pt x="2206218" y="554827"/>
                  </a:cubicBezTo>
                  <a:cubicBezTo>
                    <a:pt x="2250583" y="485787"/>
                    <a:pt x="2292484" y="415046"/>
                    <a:pt x="2329455" y="341886"/>
                  </a:cubicBezTo>
                  <a:cubicBezTo>
                    <a:pt x="2339030" y="323709"/>
                    <a:pt x="2347941" y="305261"/>
                    <a:pt x="2356757" y="286815"/>
                  </a:cubicBezTo>
                  <a:lnTo>
                    <a:pt x="2370030" y="259056"/>
                  </a:lnTo>
                  <a:lnTo>
                    <a:pt x="2382637" y="231028"/>
                  </a:lnTo>
                  <a:cubicBezTo>
                    <a:pt x="2390885" y="212312"/>
                    <a:pt x="2399227" y="193598"/>
                    <a:pt x="2406716" y="174525"/>
                  </a:cubicBezTo>
                  <a:cubicBezTo>
                    <a:pt x="2414206" y="155452"/>
                    <a:pt x="2422453" y="136646"/>
                    <a:pt x="2429278" y="11739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Freeform: Shape 29">
              <a:extLst>
                <a:ext uri="{FF2B5EF4-FFF2-40B4-BE49-F238E27FC236}">
                  <a16:creationId xmlns:a16="http://schemas.microsoft.com/office/drawing/2014/main" id="{0A629C66-36BD-487E-B1CD-ED026D77890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4155"/>
              <a:ext cx="2493062" cy="1947896"/>
            </a:xfrm>
            <a:custGeom>
              <a:avLst/>
              <a:gdLst>
                <a:gd name="connsiteX0" fmla="*/ 1896911 w 2493062"/>
                <a:gd name="connsiteY0" fmla="*/ 0 h 1947896"/>
                <a:gd name="connsiteX1" fmla="*/ 2493062 w 2493062"/>
                <a:gd name="connsiteY1" fmla="*/ 0 h 1947896"/>
                <a:gd name="connsiteX2" fmla="*/ 2435315 w 2493062"/>
                <a:gd name="connsiteY2" fmla="*/ 178165 h 1947896"/>
                <a:gd name="connsiteX3" fmla="*/ 93066 w 2493062"/>
                <a:gd name="connsiteY3" fmla="*/ 1935859 h 1947896"/>
                <a:gd name="connsiteX4" fmla="*/ 0 w 2493062"/>
                <a:gd name="connsiteY4" fmla="*/ 1947896 h 1947896"/>
                <a:gd name="connsiteX5" fmla="*/ 0 w 2493062"/>
                <a:gd name="connsiteY5" fmla="*/ 1404756 h 1947896"/>
                <a:gd name="connsiteX6" fmla="*/ 17392 w 2493062"/>
                <a:gd name="connsiteY6" fmla="*/ 1402364 h 1947896"/>
                <a:gd name="connsiteX7" fmla="*/ 464249 w 2493062"/>
                <a:gd name="connsiteY7" fmla="*/ 1281208 h 1947896"/>
                <a:gd name="connsiteX8" fmla="*/ 1260556 w 2493062"/>
                <a:gd name="connsiteY8" fmla="*/ 833835 h 1947896"/>
                <a:gd name="connsiteX9" fmla="*/ 1807924 w 2493062"/>
                <a:gd name="connsiteY9" fmla="*/ 193222 h 1947896"/>
                <a:gd name="connsiteX10" fmla="*/ 1874357 w 2493062"/>
                <a:gd name="connsiteY10" fmla="*/ 58333 h 1947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3062" h="1947896">
                  <a:moveTo>
                    <a:pt x="1896911" y="0"/>
                  </a:moveTo>
                  <a:lnTo>
                    <a:pt x="2493062" y="0"/>
                  </a:lnTo>
                  <a:lnTo>
                    <a:pt x="2435315" y="178165"/>
                  </a:lnTo>
                  <a:cubicBezTo>
                    <a:pt x="2088122" y="1071812"/>
                    <a:pt x="1129732" y="1758033"/>
                    <a:pt x="93066" y="1935859"/>
                  </a:cubicBezTo>
                  <a:lnTo>
                    <a:pt x="0" y="1947896"/>
                  </a:lnTo>
                  <a:lnTo>
                    <a:pt x="0" y="1404756"/>
                  </a:lnTo>
                  <a:lnTo>
                    <a:pt x="17392" y="1402364"/>
                  </a:lnTo>
                  <a:cubicBezTo>
                    <a:pt x="167719" y="1375030"/>
                    <a:pt x="318070" y="1334398"/>
                    <a:pt x="464249" y="1281208"/>
                  </a:cubicBezTo>
                  <a:cubicBezTo>
                    <a:pt x="753480" y="1176081"/>
                    <a:pt x="1028869" y="1021346"/>
                    <a:pt x="1260556" y="833835"/>
                  </a:cubicBezTo>
                  <a:cubicBezTo>
                    <a:pt x="1491960" y="646594"/>
                    <a:pt x="1681177" y="425056"/>
                    <a:pt x="1807924" y="193222"/>
                  </a:cubicBezTo>
                  <a:cubicBezTo>
                    <a:pt x="1832328" y="148578"/>
                    <a:pt x="1854477" y="103599"/>
                    <a:pt x="1874357" y="5833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Freeform: Shape 30">
              <a:extLst>
                <a:ext uri="{FF2B5EF4-FFF2-40B4-BE49-F238E27FC236}">
                  <a16:creationId xmlns:a16="http://schemas.microsoft.com/office/drawing/2014/main" id="{A6BC2D2C-3D7D-4224-81BC-22C094C9FBE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01089" cy="1972702"/>
            </a:xfrm>
            <a:custGeom>
              <a:avLst/>
              <a:gdLst>
                <a:gd name="connsiteX0" fmla="*/ 2318728 w 2501089"/>
                <a:gd name="connsiteY0" fmla="*/ 0 h 1972702"/>
                <a:gd name="connsiteX1" fmla="*/ 2501089 w 2501089"/>
                <a:gd name="connsiteY1" fmla="*/ 0 h 1972702"/>
                <a:gd name="connsiteX2" fmla="*/ 2453909 w 2501089"/>
                <a:gd name="connsiteY2" fmla="*/ 167837 h 1972702"/>
                <a:gd name="connsiteX3" fmla="*/ 2361125 w 2501089"/>
                <a:gd name="connsiteY3" fmla="*/ 392084 h 1972702"/>
                <a:gd name="connsiteX4" fmla="*/ 1768255 w 2501089"/>
                <a:gd name="connsiteY4" fmla="*/ 1167644 h 1972702"/>
                <a:gd name="connsiteX5" fmla="*/ 1375125 w 2501089"/>
                <a:gd name="connsiteY5" fmla="*/ 1471474 h 1972702"/>
                <a:gd name="connsiteX6" fmla="*/ 935735 w 2501089"/>
                <a:gd name="connsiteY6" fmla="*/ 1712713 h 1972702"/>
                <a:gd name="connsiteX7" fmla="*/ 212353 w 2501089"/>
                <a:gd name="connsiteY7" fmla="*/ 1940294 h 1972702"/>
                <a:gd name="connsiteX8" fmla="*/ 0 w 2501089"/>
                <a:gd name="connsiteY8" fmla="*/ 1972702 h 1972702"/>
                <a:gd name="connsiteX9" fmla="*/ 0 w 2501089"/>
                <a:gd name="connsiteY9" fmla="*/ 1732181 h 1972702"/>
                <a:gd name="connsiteX10" fmla="*/ 161195 w 2501089"/>
                <a:gd name="connsiteY10" fmla="*/ 1706590 h 1972702"/>
                <a:gd name="connsiteX11" fmla="*/ 388463 w 2501089"/>
                <a:gd name="connsiteY11" fmla="*/ 1652268 h 1972702"/>
                <a:gd name="connsiteX12" fmla="*/ 826716 w 2501089"/>
                <a:gd name="connsiteY12" fmla="*/ 1493950 h 1972702"/>
                <a:gd name="connsiteX13" fmla="*/ 1609847 w 2501089"/>
                <a:gd name="connsiteY13" fmla="*/ 1007535 h 1972702"/>
                <a:gd name="connsiteX14" fmla="*/ 1929982 w 2501089"/>
                <a:gd name="connsiteY14" fmla="*/ 682930 h 1972702"/>
                <a:gd name="connsiteX15" fmla="*/ 2183093 w 2501089"/>
                <a:gd name="connsiteY15" fmla="*/ 310149 h 1972702"/>
                <a:gd name="connsiteX16" fmla="*/ 2280286 w 2501089"/>
                <a:gd name="connsiteY16" fmla="*/ 108435 h 19727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01089" h="1972702">
                  <a:moveTo>
                    <a:pt x="2318728" y="0"/>
                  </a:moveTo>
                  <a:lnTo>
                    <a:pt x="2501089" y="0"/>
                  </a:lnTo>
                  <a:lnTo>
                    <a:pt x="2453909" y="167837"/>
                  </a:lnTo>
                  <a:cubicBezTo>
                    <a:pt x="2427555" y="244153"/>
                    <a:pt x="2396627" y="319103"/>
                    <a:pt x="2361125" y="392084"/>
                  </a:cubicBezTo>
                  <a:cubicBezTo>
                    <a:pt x="2218453" y="684005"/>
                    <a:pt x="2011698" y="945211"/>
                    <a:pt x="1768255" y="1167644"/>
                  </a:cubicBezTo>
                  <a:cubicBezTo>
                    <a:pt x="1646250" y="1278860"/>
                    <a:pt x="1514385" y="1380316"/>
                    <a:pt x="1375125" y="1471474"/>
                  </a:cubicBezTo>
                  <a:cubicBezTo>
                    <a:pt x="1235677" y="1562542"/>
                    <a:pt x="1088928" y="1643672"/>
                    <a:pt x="935735" y="1712713"/>
                  </a:cubicBezTo>
                  <a:cubicBezTo>
                    <a:pt x="705659" y="1815533"/>
                    <a:pt x="462359" y="1892212"/>
                    <a:pt x="212353" y="1940294"/>
                  </a:cubicBezTo>
                  <a:lnTo>
                    <a:pt x="0" y="1972702"/>
                  </a:lnTo>
                  <a:lnTo>
                    <a:pt x="0" y="1732181"/>
                  </a:lnTo>
                  <a:lnTo>
                    <a:pt x="161195" y="1706590"/>
                  </a:lnTo>
                  <a:cubicBezTo>
                    <a:pt x="237638" y="1691378"/>
                    <a:pt x="313477" y="1673222"/>
                    <a:pt x="388463" y="1652268"/>
                  </a:cubicBezTo>
                  <a:cubicBezTo>
                    <a:pt x="538529" y="1610539"/>
                    <a:pt x="684898" y="1556543"/>
                    <a:pt x="826716" y="1493950"/>
                  </a:cubicBezTo>
                  <a:cubicBezTo>
                    <a:pt x="1111207" y="1370107"/>
                    <a:pt x="1376832" y="1205881"/>
                    <a:pt x="1609847" y="1007535"/>
                  </a:cubicBezTo>
                  <a:cubicBezTo>
                    <a:pt x="1725975" y="908049"/>
                    <a:pt x="1833571" y="799519"/>
                    <a:pt x="1929982" y="682930"/>
                  </a:cubicBezTo>
                  <a:cubicBezTo>
                    <a:pt x="2026581" y="566520"/>
                    <a:pt x="2111806" y="441692"/>
                    <a:pt x="2183093" y="310149"/>
                  </a:cubicBezTo>
                  <a:cubicBezTo>
                    <a:pt x="2218738" y="244422"/>
                    <a:pt x="2251396" y="177150"/>
                    <a:pt x="2280286" y="10843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800"/>
            </a:p>
          </p:txBody>
        </p:sp>
        <p:sp>
          <p:nvSpPr>
            <p:cNvPr id="32" name="Freeform: Shape 31">
              <a:extLst>
                <a:ext uri="{FF2B5EF4-FFF2-40B4-BE49-F238E27FC236}">
                  <a16:creationId xmlns:a16="http://schemas.microsoft.com/office/drawing/2014/main" id="{53BDF903-22C5-4312-8776-C2ABC3EDC03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2491105" cy="1943661"/>
            </a:xfrm>
            <a:custGeom>
              <a:avLst/>
              <a:gdLst>
                <a:gd name="connsiteX0" fmla="*/ 1995408 w 2491105"/>
                <a:gd name="connsiteY0" fmla="*/ 0 h 1943661"/>
                <a:gd name="connsiteX1" fmla="*/ 2491105 w 2491105"/>
                <a:gd name="connsiteY1" fmla="*/ 0 h 1943661"/>
                <a:gd name="connsiteX2" fmla="*/ 2434705 w 2491105"/>
                <a:gd name="connsiteY2" fmla="*/ 174009 h 1943661"/>
                <a:gd name="connsiteX3" fmla="*/ 92457 w 2491105"/>
                <a:gd name="connsiteY3" fmla="*/ 1931703 h 1943661"/>
                <a:gd name="connsiteX4" fmla="*/ 0 w 2491105"/>
                <a:gd name="connsiteY4" fmla="*/ 1943661 h 1943661"/>
                <a:gd name="connsiteX5" fmla="*/ 0 w 2491105"/>
                <a:gd name="connsiteY5" fmla="*/ 1491489 h 1943661"/>
                <a:gd name="connsiteX6" fmla="*/ 34107 w 2491105"/>
                <a:gd name="connsiteY6" fmla="*/ 1486836 h 1943661"/>
                <a:gd name="connsiteX7" fmla="*/ 497577 w 2491105"/>
                <a:gd name="connsiteY7" fmla="*/ 1360598 h 1943661"/>
                <a:gd name="connsiteX8" fmla="*/ 1321566 w 2491105"/>
                <a:gd name="connsiteY8" fmla="*/ 897645 h 1943661"/>
                <a:gd name="connsiteX9" fmla="*/ 1891495 w 2491105"/>
                <a:gd name="connsiteY9" fmla="*/ 230078 h 1943661"/>
                <a:gd name="connsiteX10" fmla="*/ 1961469 w 2491105"/>
                <a:gd name="connsiteY10" fmla="*/ 87885 h 1943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1105" h="1943661">
                  <a:moveTo>
                    <a:pt x="1995408" y="0"/>
                  </a:moveTo>
                  <a:lnTo>
                    <a:pt x="2491105" y="0"/>
                  </a:lnTo>
                  <a:lnTo>
                    <a:pt x="2434705" y="174009"/>
                  </a:lnTo>
                  <a:cubicBezTo>
                    <a:pt x="2087512" y="1067655"/>
                    <a:pt x="1129122" y="1753877"/>
                    <a:pt x="92457" y="1931703"/>
                  </a:cubicBezTo>
                  <a:lnTo>
                    <a:pt x="0" y="1943661"/>
                  </a:lnTo>
                  <a:lnTo>
                    <a:pt x="0" y="1491489"/>
                  </a:lnTo>
                  <a:lnTo>
                    <a:pt x="34107" y="1486836"/>
                  </a:lnTo>
                  <a:cubicBezTo>
                    <a:pt x="189055" y="1458696"/>
                    <a:pt x="343908" y="1416565"/>
                    <a:pt x="497577" y="1360598"/>
                  </a:cubicBezTo>
                  <a:cubicBezTo>
                    <a:pt x="796856" y="1251889"/>
                    <a:pt x="1081725" y="1091781"/>
                    <a:pt x="1321566" y="897645"/>
                  </a:cubicBezTo>
                  <a:cubicBezTo>
                    <a:pt x="1565577" y="700195"/>
                    <a:pt x="1757355" y="475523"/>
                    <a:pt x="1891495" y="230078"/>
                  </a:cubicBezTo>
                  <a:cubicBezTo>
                    <a:pt x="1917197" y="183033"/>
                    <a:pt x="1940526" y="135619"/>
                    <a:pt x="1961469" y="8788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Tree>
    <p:extLst>
      <p:ext uri="{BB962C8B-B14F-4D97-AF65-F5344CB8AC3E}">
        <p14:creationId xmlns:p14="http://schemas.microsoft.com/office/powerpoint/2010/main" val="115225819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A70155-8915-3119-7B02-8BC445E88D18}"/>
              </a:ext>
            </a:extLst>
          </p:cNvPr>
          <p:cNvSpPr>
            <a:spLocks noGrp="1"/>
          </p:cNvSpPr>
          <p:nvPr>
            <p:ph type="title"/>
          </p:nvPr>
        </p:nvSpPr>
        <p:spPr/>
        <p:txBody>
          <a:bodyPr/>
          <a:lstStyle/>
          <a:p>
            <a:r>
              <a:rPr lang="en-DK" dirty="0"/>
              <a:t>Taxonomical profiling</a:t>
            </a:r>
          </a:p>
        </p:txBody>
      </p:sp>
      <p:sp>
        <p:nvSpPr>
          <p:cNvPr id="3" name="Content Placeholder 2">
            <a:extLst>
              <a:ext uri="{FF2B5EF4-FFF2-40B4-BE49-F238E27FC236}">
                <a16:creationId xmlns:a16="http://schemas.microsoft.com/office/drawing/2014/main" id="{DB9628FE-6155-3D9A-3A57-D41C0761D47A}"/>
              </a:ext>
            </a:extLst>
          </p:cNvPr>
          <p:cNvSpPr>
            <a:spLocks noGrp="1"/>
          </p:cNvSpPr>
          <p:nvPr>
            <p:ph idx="1"/>
          </p:nvPr>
        </p:nvSpPr>
        <p:spPr/>
        <p:txBody>
          <a:bodyPr>
            <a:normAutofit fontScale="92500" lnSpcReduction="10000"/>
          </a:bodyPr>
          <a:lstStyle/>
          <a:p>
            <a:r>
              <a:rPr lang="en-GB" dirty="0"/>
              <a:t>Process of identifying and quantifying the microbial taxa present in a sample - this can be bacteria, archaea, viruses, fungi, …</a:t>
            </a:r>
          </a:p>
          <a:p>
            <a:r>
              <a:rPr lang="en-GB" dirty="0"/>
              <a:t>Typically from metagenomic or amplicon sequencing data (metabarcoding). </a:t>
            </a:r>
          </a:p>
          <a:p>
            <a:r>
              <a:rPr lang="en-GB" dirty="0"/>
              <a:t>The most common taxonomical profiling methods can be grouped based on the type of sequencing data used:</a:t>
            </a:r>
          </a:p>
          <a:p>
            <a:pPr lvl="1"/>
            <a:r>
              <a:rPr lang="en-GB" dirty="0"/>
              <a:t>Amplicon based profiling: 16S, 18S, ITS rRNA sequencing – e.g. 16S rRNA gene is used to profile bacteria and archaea</a:t>
            </a:r>
          </a:p>
          <a:p>
            <a:pPr lvl="1"/>
            <a:r>
              <a:rPr lang="en-GB" dirty="0"/>
              <a:t>Whole-genome shotgun (WGS) metagenomics involves random sequencing of all genetic material in a sample:</a:t>
            </a:r>
          </a:p>
          <a:p>
            <a:pPr lvl="2"/>
            <a:r>
              <a:rPr lang="en-GB" dirty="0"/>
              <a:t>Reference-based methods: direct mapping of reads to genes, proteins or genomes</a:t>
            </a:r>
          </a:p>
          <a:p>
            <a:pPr lvl="2"/>
            <a:r>
              <a:rPr lang="en-GB" dirty="0"/>
              <a:t>Assembly-based methods</a:t>
            </a:r>
            <a:endParaRPr lang="en-DK" dirty="0"/>
          </a:p>
        </p:txBody>
      </p:sp>
    </p:spTree>
    <p:extLst>
      <p:ext uri="{BB962C8B-B14F-4D97-AF65-F5344CB8AC3E}">
        <p14:creationId xmlns:p14="http://schemas.microsoft.com/office/powerpoint/2010/main" val="2630135857"/>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14D9EA-2B0F-F4A2-BAFE-2F6810695864}"/>
              </a:ext>
            </a:extLst>
          </p:cNvPr>
          <p:cNvSpPr>
            <a:spLocks noGrp="1"/>
          </p:cNvSpPr>
          <p:nvPr>
            <p:ph type="title"/>
          </p:nvPr>
        </p:nvSpPr>
        <p:spPr/>
        <p:txBody>
          <a:bodyPr/>
          <a:lstStyle/>
          <a:p>
            <a:r>
              <a:rPr lang="en-DK" dirty="0"/>
              <a:t>16S amplicon sequencing</a:t>
            </a:r>
          </a:p>
        </p:txBody>
      </p:sp>
      <p:sp>
        <p:nvSpPr>
          <p:cNvPr id="4" name="TextBox 3">
            <a:extLst>
              <a:ext uri="{FF2B5EF4-FFF2-40B4-BE49-F238E27FC236}">
                <a16:creationId xmlns:a16="http://schemas.microsoft.com/office/drawing/2014/main" id="{7298787D-BC4D-B71B-3493-627E364AAABB}"/>
              </a:ext>
            </a:extLst>
          </p:cNvPr>
          <p:cNvSpPr txBox="1"/>
          <p:nvPr/>
        </p:nvSpPr>
        <p:spPr>
          <a:xfrm>
            <a:off x="411201" y="5999292"/>
            <a:ext cx="6476487" cy="738664"/>
          </a:xfrm>
          <a:prstGeom prst="rect">
            <a:avLst/>
          </a:prstGeom>
          <a:noFill/>
        </p:spPr>
        <p:txBody>
          <a:bodyPr wrap="square" rtlCol="0">
            <a:spAutoFit/>
          </a:bodyPr>
          <a:lstStyle/>
          <a:p>
            <a:r>
              <a:rPr lang="en-GB" sz="1400" dirty="0"/>
              <a:t>Universal phylogenetic tree based on the 16S rRNA gene sequence comparisons. Pace, N. A molecular view of microbial diversity and the biosphere.</a:t>
            </a:r>
          </a:p>
          <a:p>
            <a:r>
              <a:rPr lang="en-GB" sz="1400" dirty="0"/>
              <a:t>Science276:734-740. 1997.</a:t>
            </a:r>
            <a:endParaRPr lang="en-DK" sz="1400" dirty="0"/>
          </a:p>
        </p:txBody>
      </p:sp>
      <p:pic>
        <p:nvPicPr>
          <p:cNvPr id="6" name="Picture 5">
            <a:extLst>
              <a:ext uri="{FF2B5EF4-FFF2-40B4-BE49-F238E27FC236}">
                <a16:creationId xmlns:a16="http://schemas.microsoft.com/office/drawing/2014/main" id="{2E5BE48C-D9BE-F1C8-6007-A102A356E590}"/>
              </a:ext>
            </a:extLst>
          </p:cNvPr>
          <p:cNvPicPr>
            <a:picLocks noChangeAspect="1"/>
          </p:cNvPicPr>
          <p:nvPr/>
        </p:nvPicPr>
        <p:blipFill>
          <a:blip r:embed="rId3"/>
          <a:stretch>
            <a:fillRect/>
          </a:stretch>
        </p:blipFill>
        <p:spPr>
          <a:xfrm>
            <a:off x="411201" y="1507610"/>
            <a:ext cx="6647690" cy="4491682"/>
          </a:xfrm>
          <a:prstGeom prst="rect">
            <a:avLst/>
          </a:prstGeom>
        </p:spPr>
      </p:pic>
      <p:sp>
        <p:nvSpPr>
          <p:cNvPr id="7" name="TextBox 6">
            <a:extLst>
              <a:ext uri="{FF2B5EF4-FFF2-40B4-BE49-F238E27FC236}">
                <a16:creationId xmlns:a16="http://schemas.microsoft.com/office/drawing/2014/main" id="{82CD7763-2407-CD71-06F6-72EF3BD4991A}"/>
              </a:ext>
            </a:extLst>
          </p:cNvPr>
          <p:cNvSpPr txBox="1"/>
          <p:nvPr/>
        </p:nvSpPr>
        <p:spPr>
          <a:xfrm>
            <a:off x="7485890" y="687838"/>
            <a:ext cx="4294909" cy="3293209"/>
          </a:xfrm>
          <a:prstGeom prst="rect">
            <a:avLst/>
          </a:prstGeom>
          <a:noFill/>
        </p:spPr>
        <p:txBody>
          <a:bodyPr wrap="square" rtlCol="0">
            <a:spAutoFit/>
          </a:bodyPr>
          <a:lstStyle/>
          <a:p>
            <a:pPr marL="285750" indent="-285750">
              <a:buFont typeface="Arial" panose="020B0604020202020204" pitchFamily="34" charset="0"/>
              <a:buChar char="•"/>
            </a:pPr>
            <a:r>
              <a:rPr lang="en-DK" sz="1600" dirty="0"/>
              <a:t>16S rRNA gene is an ancient gene that </a:t>
            </a:r>
            <a:r>
              <a:rPr lang="en-GB" sz="1600" dirty="0"/>
              <a:t>encodes the RNA component of the small (30S) subunit of the prokaryotic ribosome</a:t>
            </a:r>
          </a:p>
          <a:p>
            <a:pPr marL="285750" indent="-285750">
              <a:buFont typeface="Arial" panose="020B0604020202020204" pitchFamily="34" charset="0"/>
              <a:buChar char="•"/>
            </a:pPr>
            <a:r>
              <a:rPr lang="en-DK" sz="1600" dirty="0"/>
              <a:t>As it is conserved in many organisms, traditionally  used to infer phylogenetic trees to figure out species evolution</a:t>
            </a:r>
            <a:r>
              <a:rPr lang="en-GB" sz="1600" dirty="0"/>
              <a:t> (Present also in mitochondria and chloroplasts of eukaryotes)</a:t>
            </a:r>
            <a:endParaRPr lang="en-DK" sz="1600" dirty="0"/>
          </a:p>
          <a:p>
            <a:pPr marL="285750" indent="-285750">
              <a:buFont typeface="Arial" panose="020B0604020202020204" pitchFamily="34" charset="0"/>
              <a:buChar char="•"/>
            </a:pPr>
            <a:r>
              <a:rPr lang="en-GB" sz="1600" dirty="0"/>
              <a:t>16s gene has</a:t>
            </a:r>
          </a:p>
          <a:p>
            <a:pPr marL="742950" lvl="1" indent="-285750">
              <a:buFont typeface="Arial" panose="020B0604020202020204" pitchFamily="34" charset="0"/>
              <a:buChar char="•"/>
            </a:pPr>
            <a:r>
              <a:rPr lang="en-GB" sz="1600" dirty="0"/>
              <a:t>conserved regions: spread around all organisms and easy to amplify</a:t>
            </a:r>
          </a:p>
          <a:p>
            <a:pPr marL="742950" lvl="1" indent="-285750">
              <a:buFont typeface="Arial" panose="020B0604020202020204" pitchFamily="34" charset="0"/>
              <a:buChar char="•"/>
            </a:pPr>
            <a:r>
              <a:rPr lang="en-GB" sz="1600" dirty="0"/>
              <a:t>variable unique regions: to tag specifically species</a:t>
            </a:r>
          </a:p>
        </p:txBody>
      </p:sp>
      <p:pic>
        <p:nvPicPr>
          <p:cNvPr id="8" name="Picture 2" descr="Bacterial 16S rRNA gene.&#10;(A) Percentage sequence identity of conserved a...">
            <a:extLst>
              <a:ext uri="{FF2B5EF4-FFF2-40B4-BE49-F238E27FC236}">
                <a16:creationId xmlns:a16="http://schemas.microsoft.com/office/drawing/2014/main" id="{FF37B4E9-6A75-9269-EFF7-1C5BC5215D43}"/>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058891" y="4088769"/>
            <a:ext cx="4880898" cy="1910523"/>
          </a:xfrm>
          <a:prstGeom prst="rect">
            <a:avLst/>
          </a:prstGeom>
          <a:noFill/>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F8FDF629-F052-5196-DB76-87BC09CF03F5}"/>
              </a:ext>
            </a:extLst>
          </p:cNvPr>
          <p:cNvSpPr txBox="1"/>
          <p:nvPr/>
        </p:nvSpPr>
        <p:spPr>
          <a:xfrm>
            <a:off x="8431481" y="6107014"/>
            <a:ext cx="5438898" cy="523220"/>
          </a:xfrm>
          <a:prstGeom prst="rect">
            <a:avLst/>
          </a:prstGeom>
          <a:noFill/>
        </p:spPr>
        <p:txBody>
          <a:bodyPr wrap="square" rtlCol="0">
            <a:spAutoFit/>
          </a:bodyPr>
          <a:lstStyle/>
          <a:p>
            <a:r>
              <a:rPr lang="en-GB" sz="1400" dirty="0"/>
              <a:t> </a:t>
            </a:r>
            <a:r>
              <a:rPr lang="en-GB" sz="1400" i="1" dirty="0"/>
              <a:t>J Clin Invest.</a:t>
            </a:r>
            <a:r>
              <a:rPr lang="en-GB" sz="1400" dirty="0"/>
              <a:t> 2022;</a:t>
            </a:r>
            <a:r>
              <a:rPr lang="en-GB" sz="1400" dirty="0">
                <a:hlinkClick r:id="rId5"/>
              </a:rPr>
              <a:t>132(7)</a:t>
            </a:r>
            <a:r>
              <a:rPr lang="en-GB" sz="1400" dirty="0"/>
              <a:t>:e154944.</a:t>
            </a:r>
          </a:p>
          <a:p>
            <a:r>
              <a:rPr lang="en-GB" sz="1400" dirty="0"/>
              <a:t> </a:t>
            </a:r>
            <a:r>
              <a:rPr lang="en-GB" sz="1400" dirty="0">
                <a:hlinkClick r:id="rId6"/>
              </a:rPr>
              <a:t>https://doi.org/10.1172/JCI154944</a:t>
            </a:r>
            <a:r>
              <a:rPr lang="en-GB" sz="1400" dirty="0"/>
              <a:t>.</a:t>
            </a:r>
            <a:endParaRPr lang="en-DK" sz="1400" dirty="0"/>
          </a:p>
        </p:txBody>
      </p:sp>
    </p:spTree>
    <p:extLst>
      <p:ext uri="{BB962C8B-B14F-4D97-AF65-F5344CB8AC3E}">
        <p14:creationId xmlns:p14="http://schemas.microsoft.com/office/powerpoint/2010/main" val="102451629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F025E1-D875-06AE-84CD-F3288F6F1C61}"/>
              </a:ext>
            </a:extLst>
          </p:cNvPr>
          <p:cNvSpPr>
            <a:spLocks noGrp="1"/>
          </p:cNvSpPr>
          <p:nvPr>
            <p:ph type="title"/>
          </p:nvPr>
        </p:nvSpPr>
        <p:spPr/>
        <p:txBody>
          <a:bodyPr/>
          <a:lstStyle/>
          <a:p>
            <a:r>
              <a:rPr lang="en-DK" dirty="0"/>
              <a:t>16S amplicon sequencing</a:t>
            </a:r>
          </a:p>
        </p:txBody>
      </p:sp>
      <p:grpSp>
        <p:nvGrpSpPr>
          <p:cNvPr id="15" name="Group 14">
            <a:extLst>
              <a:ext uri="{FF2B5EF4-FFF2-40B4-BE49-F238E27FC236}">
                <a16:creationId xmlns:a16="http://schemas.microsoft.com/office/drawing/2014/main" id="{A376D0E5-E31F-2E76-A5E9-E2D5F2EBA505}"/>
              </a:ext>
            </a:extLst>
          </p:cNvPr>
          <p:cNvGrpSpPr/>
          <p:nvPr/>
        </p:nvGrpSpPr>
        <p:grpSpPr>
          <a:xfrm>
            <a:off x="1194953" y="1864538"/>
            <a:ext cx="955964" cy="1109852"/>
            <a:chOff x="1357745" y="2008909"/>
            <a:chExt cx="955964" cy="1109852"/>
          </a:xfrm>
        </p:grpSpPr>
        <p:sp>
          <p:nvSpPr>
            <p:cNvPr id="4" name="Oval 3">
              <a:extLst>
                <a:ext uri="{FF2B5EF4-FFF2-40B4-BE49-F238E27FC236}">
                  <a16:creationId xmlns:a16="http://schemas.microsoft.com/office/drawing/2014/main" id="{DF9795FB-34D1-6EA3-DED2-2D813E681559}"/>
                </a:ext>
              </a:extLst>
            </p:cNvPr>
            <p:cNvSpPr/>
            <p:nvPr/>
          </p:nvSpPr>
          <p:spPr>
            <a:xfrm>
              <a:off x="1357745" y="2008909"/>
              <a:ext cx="955964" cy="955964"/>
            </a:xfrm>
            <a:prstGeom prst="ellipse">
              <a:avLst/>
            </a:prstGeom>
            <a:noFill/>
            <a:ln w="38100">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6" name="TextBox 5">
              <a:extLst>
                <a:ext uri="{FF2B5EF4-FFF2-40B4-BE49-F238E27FC236}">
                  <a16:creationId xmlns:a16="http://schemas.microsoft.com/office/drawing/2014/main" id="{5C024A06-F848-AD50-C3D2-E0502F3B93FD}"/>
                </a:ext>
              </a:extLst>
            </p:cNvPr>
            <p:cNvSpPr txBox="1"/>
            <p:nvPr/>
          </p:nvSpPr>
          <p:spPr>
            <a:xfrm>
              <a:off x="1593273" y="2780207"/>
              <a:ext cx="554182" cy="338554"/>
            </a:xfrm>
            <a:prstGeom prst="rect">
              <a:avLst/>
            </a:prstGeom>
            <a:solidFill>
              <a:schemeClr val="bg1"/>
            </a:solidFill>
            <a:ln w="12700">
              <a:solidFill>
                <a:schemeClr val="tx2">
                  <a:lumMod val="75000"/>
                  <a:lumOff val="25000"/>
                </a:schemeClr>
              </a:solidFill>
            </a:ln>
          </p:spPr>
          <p:txBody>
            <a:bodyPr wrap="square" rtlCol="0">
              <a:spAutoFit/>
            </a:bodyPr>
            <a:lstStyle/>
            <a:p>
              <a:r>
                <a:rPr lang="en-DK" sz="1600" dirty="0"/>
                <a:t>16S</a:t>
              </a:r>
            </a:p>
          </p:txBody>
        </p:sp>
      </p:grpSp>
      <p:grpSp>
        <p:nvGrpSpPr>
          <p:cNvPr id="33" name="Group 32">
            <a:extLst>
              <a:ext uri="{FF2B5EF4-FFF2-40B4-BE49-F238E27FC236}">
                <a16:creationId xmlns:a16="http://schemas.microsoft.com/office/drawing/2014/main" id="{6A45A0F9-9612-F618-DF53-D2FA952E4761}"/>
              </a:ext>
            </a:extLst>
          </p:cNvPr>
          <p:cNvGrpSpPr/>
          <p:nvPr/>
        </p:nvGrpSpPr>
        <p:grpSpPr>
          <a:xfrm>
            <a:off x="2566553" y="1864538"/>
            <a:ext cx="1004455" cy="1066800"/>
            <a:chOff x="2729345" y="2008909"/>
            <a:chExt cx="1004455" cy="1066800"/>
          </a:xfrm>
        </p:grpSpPr>
        <p:sp>
          <p:nvSpPr>
            <p:cNvPr id="5" name="Oval 4">
              <a:extLst>
                <a:ext uri="{FF2B5EF4-FFF2-40B4-BE49-F238E27FC236}">
                  <a16:creationId xmlns:a16="http://schemas.microsoft.com/office/drawing/2014/main" id="{524EE552-D68F-430A-D9F8-A6967433E536}"/>
                </a:ext>
              </a:extLst>
            </p:cNvPr>
            <p:cNvSpPr/>
            <p:nvPr/>
          </p:nvSpPr>
          <p:spPr>
            <a:xfrm>
              <a:off x="2729345" y="2119745"/>
              <a:ext cx="955964" cy="955964"/>
            </a:xfrm>
            <a:prstGeom prst="ellipse">
              <a:avLst/>
            </a:prstGeom>
            <a:noFill/>
            <a:ln w="38100">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8" name="TextBox 7">
              <a:extLst>
                <a:ext uri="{FF2B5EF4-FFF2-40B4-BE49-F238E27FC236}">
                  <a16:creationId xmlns:a16="http://schemas.microsoft.com/office/drawing/2014/main" id="{DEB0E2D0-5C0C-0AF1-A38A-2FC9D3717A9F}"/>
                </a:ext>
              </a:extLst>
            </p:cNvPr>
            <p:cNvSpPr txBox="1"/>
            <p:nvPr/>
          </p:nvSpPr>
          <p:spPr>
            <a:xfrm>
              <a:off x="3179618" y="2008909"/>
              <a:ext cx="554182" cy="338554"/>
            </a:xfrm>
            <a:prstGeom prst="rect">
              <a:avLst/>
            </a:prstGeom>
            <a:solidFill>
              <a:schemeClr val="bg1"/>
            </a:solidFill>
            <a:ln w="12700">
              <a:solidFill>
                <a:schemeClr val="tx2">
                  <a:lumMod val="75000"/>
                  <a:lumOff val="25000"/>
                </a:schemeClr>
              </a:solidFill>
            </a:ln>
          </p:spPr>
          <p:txBody>
            <a:bodyPr wrap="square" rtlCol="0">
              <a:spAutoFit/>
            </a:bodyPr>
            <a:lstStyle/>
            <a:p>
              <a:r>
                <a:rPr lang="en-DK" sz="1600" dirty="0"/>
                <a:t>16S</a:t>
              </a:r>
            </a:p>
          </p:txBody>
        </p:sp>
      </p:grpSp>
      <p:grpSp>
        <p:nvGrpSpPr>
          <p:cNvPr id="18" name="Group 17">
            <a:extLst>
              <a:ext uri="{FF2B5EF4-FFF2-40B4-BE49-F238E27FC236}">
                <a16:creationId xmlns:a16="http://schemas.microsoft.com/office/drawing/2014/main" id="{499D5CB8-5CB7-4E86-0795-4144A6C25AB5}"/>
              </a:ext>
            </a:extLst>
          </p:cNvPr>
          <p:cNvGrpSpPr/>
          <p:nvPr/>
        </p:nvGrpSpPr>
        <p:grpSpPr>
          <a:xfrm>
            <a:off x="453735" y="3169236"/>
            <a:ext cx="955964" cy="1109852"/>
            <a:chOff x="1835727" y="3443738"/>
            <a:chExt cx="955964" cy="1109852"/>
          </a:xfrm>
        </p:grpSpPr>
        <p:sp>
          <p:nvSpPr>
            <p:cNvPr id="11" name="Oval 10">
              <a:extLst>
                <a:ext uri="{FF2B5EF4-FFF2-40B4-BE49-F238E27FC236}">
                  <a16:creationId xmlns:a16="http://schemas.microsoft.com/office/drawing/2014/main" id="{E6384A29-4D64-3823-E6BB-396B7A8EEEBA}"/>
                </a:ext>
              </a:extLst>
            </p:cNvPr>
            <p:cNvSpPr/>
            <p:nvPr/>
          </p:nvSpPr>
          <p:spPr>
            <a:xfrm>
              <a:off x="1835727" y="3443738"/>
              <a:ext cx="955964" cy="955964"/>
            </a:xfrm>
            <a:prstGeom prst="ellipse">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13" name="TextBox 12">
              <a:extLst>
                <a:ext uri="{FF2B5EF4-FFF2-40B4-BE49-F238E27FC236}">
                  <a16:creationId xmlns:a16="http://schemas.microsoft.com/office/drawing/2014/main" id="{9F61AACC-1308-EDBF-B8FB-4675241ACC57}"/>
                </a:ext>
              </a:extLst>
            </p:cNvPr>
            <p:cNvSpPr txBox="1"/>
            <p:nvPr/>
          </p:nvSpPr>
          <p:spPr>
            <a:xfrm>
              <a:off x="2071255" y="4215036"/>
              <a:ext cx="554182" cy="338554"/>
            </a:xfrm>
            <a:prstGeom prst="rect">
              <a:avLst/>
            </a:prstGeom>
            <a:solidFill>
              <a:schemeClr val="bg1"/>
            </a:solidFill>
            <a:ln w="12700">
              <a:solidFill>
                <a:srgbClr val="FF0000"/>
              </a:solidFill>
            </a:ln>
          </p:spPr>
          <p:txBody>
            <a:bodyPr wrap="square" rtlCol="0">
              <a:spAutoFit/>
            </a:bodyPr>
            <a:lstStyle/>
            <a:p>
              <a:r>
                <a:rPr lang="en-DK" sz="1600" dirty="0"/>
                <a:t>16S</a:t>
              </a:r>
            </a:p>
          </p:txBody>
        </p:sp>
      </p:grpSp>
      <p:grpSp>
        <p:nvGrpSpPr>
          <p:cNvPr id="17" name="Group 16">
            <a:extLst>
              <a:ext uri="{FF2B5EF4-FFF2-40B4-BE49-F238E27FC236}">
                <a16:creationId xmlns:a16="http://schemas.microsoft.com/office/drawing/2014/main" id="{2E41FC93-CB35-1B54-6A74-00B691BFD1FE}"/>
              </a:ext>
            </a:extLst>
          </p:cNvPr>
          <p:cNvGrpSpPr/>
          <p:nvPr/>
        </p:nvGrpSpPr>
        <p:grpSpPr>
          <a:xfrm>
            <a:off x="1825335" y="3169236"/>
            <a:ext cx="1004455" cy="1066800"/>
            <a:chOff x="3207327" y="3443738"/>
            <a:chExt cx="1004455" cy="1066800"/>
          </a:xfrm>
        </p:grpSpPr>
        <p:sp>
          <p:nvSpPr>
            <p:cNvPr id="12" name="Oval 11">
              <a:extLst>
                <a:ext uri="{FF2B5EF4-FFF2-40B4-BE49-F238E27FC236}">
                  <a16:creationId xmlns:a16="http://schemas.microsoft.com/office/drawing/2014/main" id="{3A9DAD6C-3E08-510E-52F7-9A08D523DA0D}"/>
                </a:ext>
              </a:extLst>
            </p:cNvPr>
            <p:cNvSpPr/>
            <p:nvPr/>
          </p:nvSpPr>
          <p:spPr>
            <a:xfrm>
              <a:off x="3207327" y="3554574"/>
              <a:ext cx="955964" cy="955964"/>
            </a:xfrm>
            <a:prstGeom prst="ellipse">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14" name="TextBox 13">
              <a:extLst>
                <a:ext uri="{FF2B5EF4-FFF2-40B4-BE49-F238E27FC236}">
                  <a16:creationId xmlns:a16="http://schemas.microsoft.com/office/drawing/2014/main" id="{CEA2D48B-7AD4-B09F-E54C-7CA5B42C8A3E}"/>
                </a:ext>
              </a:extLst>
            </p:cNvPr>
            <p:cNvSpPr txBox="1"/>
            <p:nvPr/>
          </p:nvSpPr>
          <p:spPr>
            <a:xfrm>
              <a:off x="3657600" y="3443738"/>
              <a:ext cx="554182" cy="338554"/>
            </a:xfrm>
            <a:prstGeom prst="rect">
              <a:avLst/>
            </a:prstGeom>
            <a:solidFill>
              <a:schemeClr val="bg1"/>
            </a:solidFill>
            <a:ln w="12700">
              <a:solidFill>
                <a:srgbClr val="FF0000"/>
              </a:solidFill>
            </a:ln>
          </p:spPr>
          <p:txBody>
            <a:bodyPr wrap="square" rtlCol="0">
              <a:spAutoFit/>
            </a:bodyPr>
            <a:lstStyle/>
            <a:p>
              <a:r>
                <a:rPr lang="en-DK" sz="1600" dirty="0"/>
                <a:t>16S</a:t>
              </a:r>
            </a:p>
          </p:txBody>
        </p:sp>
      </p:grpSp>
      <p:grpSp>
        <p:nvGrpSpPr>
          <p:cNvPr id="19" name="Group 18">
            <a:extLst>
              <a:ext uri="{FF2B5EF4-FFF2-40B4-BE49-F238E27FC236}">
                <a16:creationId xmlns:a16="http://schemas.microsoft.com/office/drawing/2014/main" id="{616EE9DC-AAC6-22A0-EC05-63895024F69B}"/>
              </a:ext>
            </a:extLst>
          </p:cNvPr>
          <p:cNvGrpSpPr/>
          <p:nvPr/>
        </p:nvGrpSpPr>
        <p:grpSpPr>
          <a:xfrm>
            <a:off x="1007917" y="4473934"/>
            <a:ext cx="1004455" cy="1066800"/>
            <a:chOff x="3207327" y="3443738"/>
            <a:chExt cx="1004455" cy="1066800"/>
          </a:xfrm>
        </p:grpSpPr>
        <p:sp>
          <p:nvSpPr>
            <p:cNvPr id="20" name="Oval 19">
              <a:extLst>
                <a:ext uri="{FF2B5EF4-FFF2-40B4-BE49-F238E27FC236}">
                  <a16:creationId xmlns:a16="http://schemas.microsoft.com/office/drawing/2014/main" id="{A6C80016-4F94-B5BC-7796-DD56CB62EDC2}"/>
                </a:ext>
              </a:extLst>
            </p:cNvPr>
            <p:cNvSpPr/>
            <p:nvPr/>
          </p:nvSpPr>
          <p:spPr>
            <a:xfrm>
              <a:off x="3207327" y="3554574"/>
              <a:ext cx="955964" cy="955964"/>
            </a:xfrm>
            <a:prstGeom prst="ellipse">
              <a:avLst/>
            </a:prstGeom>
            <a:noFill/>
            <a:ln w="3810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21" name="TextBox 20">
              <a:extLst>
                <a:ext uri="{FF2B5EF4-FFF2-40B4-BE49-F238E27FC236}">
                  <a16:creationId xmlns:a16="http://schemas.microsoft.com/office/drawing/2014/main" id="{7BD52084-5B5C-56F5-F216-B319C54D5DDA}"/>
                </a:ext>
              </a:extLst>
            </p:cNvPr>
            <p:cNvSpPr txBox="1"/>
            <p:nvPr/>
          </p:nvSpPr>
          <p:spPr>
            <a:xfrm>
              <a:off x="3657600" y="3443738"/>
              <a:ext cx="554182" cy="338554"/>
            </a:xfrm>
            <a:prstGeom prst="rect">
              <a:avLst/>
            </a:prstGeom>
            <a:solidFill>
              <a:schemeClr val="bg1"/>
            </a:solidFill>
            <a:ln w="12700">
              <a:solidFill>
                <a:schemeClr val="accent3"/>
              </a:solidFill>
            </a:ln>
          </p:spPr>
          <p:txBody>
            <a:bodyPr wrap="square" rtlCol="0">
              <a:spAutoFit/>
            </a:bodyPr>
            <a:lstStyle/>
            <a:p>
              <a:r>
                <a:rPr lang="en-DK" sz="1600" dirty="0"/>
                <a:t>16S</a:t>
              </a:r>
            </a:p>
          </p:txBody>
        </p:sp>
      </p:grpSp>
      <p:grpSp>
        <p:nvGrpSpPr>
          <p:cNvPr id="22" name="Group 21">
            <a:extLst>
              <a:ext uri="{FF2B5EF4-FFF2-40B4-BE49-F238E27FC236}">
                <a16:creationId xmlns:a16="http://schemas.microsoft.com/office/drawing/2014/main" id="{A7ED672B-2FD1-9BAE-BAC6-7CBCA58A10C8}"/>
              </a:ext>
            </a:extLst>
          </p:cNvPr>
          <p:cNvGrpSpPr/>
          <p:nvPr/>
        </p:nvGrpSpPr>
        <p:grpSpPr>
          <a:xfrm>
            <a:off x="2511136" y="4473934"/>
            <a:ext cx="1004455" cy="1066800"/>
            <a:chOff x="3207327" y="3443738"/>
            <a:chExt cx="1004455" cy="1066800"/>
          </a:xfrm>
        </p:grpSpPr>
        <p:sp>
          <p:nvSpPr>
            <p:cNvPr id="23" name="Oval 22">
              <a:extLst>
                <a:ext uri="{FF2B5EF4-FFF2-40B4-BE49-F238E27FC236}">
                  <a16:creationId xmlns:a16="http://schemas.microsoft.com/office/drawing/2014/main" id="{33D69EC1-C7AC-F20D-6136-A9F883B8BAA9}"/>
                </a:ext>
              </a:extLst>
            </p:cNvPr>
            <p:cNvSpPr/>
            <p:nvPr/>
          </p:nvSpPr>
          <p:spPr>
            <a:xfrm>
              <a:off x="3207327" y="3554574"/>
              <a:ext cx="955964" cy="955964"/>
            </a:xfrm>
            <a:prstGeom prst="ellipse">
              <a:avLst/>
            </a:prstGeom>
            <a:noFill/>
            <a:ln w="381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24" name="TextBox 23">
              <a:extLst>
                <a:ext uri="{FF2B5EF4-FFF2-40B4-BE49-F238E27FC236}">
                  <a16:creationId xmlns:a16="http://schemas.microsoft.com/office/drawing/2014/main" id="{7B44B448-1C62-C95A-4202-D34886CC125E}"/>
                </a:ext>
              </a:extLst>
            </p:cNvPr>
            <p:cNvSpPr txBox="1"/>
            <p:nvPr/>
          </p:nvSpPr>
          <p:spPr>
            <a:xfrm>
              <a:off x="3657600" y="3443738"/>
              <a:ext cx="554182" cy="338554"/>
            </a:xfrm>
            <a:prstGeom prst="rect">
              <a:avLst/>
            </a:prstGeom>
            <a:solidFill>
              <a:schemeClr val="bg1"/>
            </a:solidFill>
            <a:ln w="12700">
              <a:solidFill>
                <a:schemeClr val="accent2">
                  <a:lumMod val="75000"/>
                </a:schemeClr>
              </a:solidFill>
            </a:ln>
          </p:spPr>
          <p:txBody>
            <a:bodyPr wrap="square" rtlCol="0">
              <a:spAutoFit/>
            </a:bodyPr>
            <a:lstStyle/>
            <a:p>
              <a:r>
                <a:rPr lang="en-DK" sz="1600" dirty="0"/>
                <a:t>16S</a:t>
              </a:r>
            </a:p>
          </p:txBody>
        </p:sp>
      </p:grpSp>
      <p:grpSp>
        <p:nvGrpSpPr>
          <p:cNvPr id="38" name="Group 37">
            <a:extLst>
              <a:ext uri="{FF2B5EF4-FFF2-40B4-BE49-F238E27FC236}">
                <a16:creationId xmlns:a16="http://schemas.microsoft.com/office/drawing/2014/main" id="{0A1C354B-2734-C09A-8596-5CCE70CF6CBF}"/>
              </a:ext>
            </a:extLst>
          </p:cNvPr>
          <p:cNvGrpSpPr/>
          <p:nvPr/>
        </p:nvGrpSpPr>
        <p:grpSpPr>
          <a:xfrm>
            <a:off x="4197915" y="2008909"/>
            <a:ext cx="2382982" cy="338554"/>
            <a:chOff x="4807527" y="2008909"/>
            <a:chExt cx="2382982" cy="338554"/>
          </a:xfrm>
        </p:grpSpPr>
        <p:cxnSp>
          <p:nvCxnSpPr>
            <p:cNvPr id="31" name="Straight Connector 30">
              <a:extLst>
                <a:ext uri="{FF2B5EF4-FFF2-40B4-BE49-F238E27FC236}">
                  <a16:creationId xmlns:a16="http://schemas.microsoft.com/office/drawing/2014/main" id="{5DEE42E6-EDA4-FEAE-40CC-DAEE855395FF}"/>
                </a:ext>
              </a:extLst>
            </p:cNvPr>
            <p:cNvCxnSpPr>
              <a:cxnSpLocks/>
            </p:cNvCxnSpPr>
            <p:nvPr/>
          </p:nvCxnSpPr>
          <p:spPr>
            <a:xfrm>
              <a:off x="4807527" y="2178186"/>
              <a:ext cx="2382982" cy="0"/>
            </a:xfrm>
            <a:prstGeom prst="line">
              <a:avLst/>
            </a:prstGeom>
            <a:ln>
              <a:solidFill>
                <a:schemeClr val="tx2">
                  <a:lumMod val="75000"/>
                  <a:lumOff val="2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222A2FBD-A458-FA50-691A-E6407F8B035A}"/>
                </a:ext>
              </a:extLst>
            </p:cNvPr>
            <p:cNvCxnSpPr>
              <a:cxnSpLocks/>
            </p:cNvCxnSpPr>
            <p:nvPr/>
          </p:nvCxnSpPr>
          <p:spPr>
            <a:xfrm>
              <a:off x="5209309" y="2178186"/>
              <a:ext cx="1496291" cy="0"/>
            </a:xfrm>
            <a:prstGeom prst="line">
              <a:avLst/>
            </a:prstGeom>
            <a:ln>
              <a:solidFill>
                <a:schemeClr val="tx2">
                  <a:lumMod val="75000"/>
                  <a:lumOff val="25000"/>
                </a:schemeClr>
              </a:solidFill>
            </a:ln>
          </p:spPr>
          <p:style>
            <a:lnRef idx="2">
              <a:schemeClr val="accent1"/>
            </a:lnRef>
            <a:fillRef idx="0">
              <a:schemeClr val="accent1"/>
            </a:fillRef>
            <a:effectRef idx="1">
              <a:schemeClr val="accent1"/>
            </a:effectRef>
            <a:fontRef idx="minor">
              <a:schemeClr val="tx1"/>
            </a:fontRef>
          </p:style>
        </p:cxnSp>
        <p:sp>
          <p:nvSpPr>
            <p:cNvPr id="32" name="TextBox 31">
              <a:extLst>
                <a:ext uri="{FF2B5EF4-FFF2-40B4-BE49-F238E27FC236}">
                  <a16:creationId xmlns:a16="http://schemas.microsoft.com/office/drawing/2014/main" id="{433E8612-0993-9B96-DA56-11621D0D8DFE}"/>
                </a:ext>
              </a:extLst>
            </p:cNvPr>
            <p:cNvSpPr txBox="1"/>
            <p:nvPr/>
          </p:nvSpPr>
          <p:spPr>
            <a:xfrm>
              <a:off x="5680363" y="2008909"/>
              <a:ext cx="554182" cy="338554"/>
            </a:xfrm>
            <a:prstGeom prst="rect">
              <a:avLst/>
            </a:prstGeom>
            <a:solidFill>
              <a:schemeClr val="bg1"/>
            </a:solidFill>
            <a:ln w="12700">
              <a:solidFill>
                <a:schemeClr val="tx2">
                  <a:lumMod val="75000"/>
                  <a:lumOff val="25000"/>
                </a:schemeClr>
              </a:solidFill>
            </a:ln>
          </p:spPr>
          <p:txBody>
            <a:bodyPr wrap="square" rtlCol="0">
              <a:spAutoFit/>
            </a:bodyPr>
            <a:lstStyle/>
            <a:p>
              <a:r>
                <a:rPr lang="en-DK" sz="1600" dirty="0"/>
                <a:t>16S</a:t>
              </a:r>
            </a:p>
          </p:txBody>
        </p:sp>
      </p:grpSp>
      <p:grpSp>
        <p:nvGrpSpPr>
          <p:cNvPr id="39" name="Group 38">
            <a:extLst>
              <a:ext uri="{FF2B5EF4-FFF2-40B4-BE49-F238E27FC236}">
                <a16:creationId xmlns:a16="http://schemas.microsoft.com/office/drawing/2014/main" id="{98C1E5C6-D9A7-6A59-7033-FCA857E6D0DA}"/>
              </a:ext>
            </a:extLst>
          </p:cNvPr>
          <p:cNvGrpSpPr/>
          <p:nvPr/>
        </p:nvGrpSpPr>
        <p:grpSpPr>
          <a:xfrm>
            <a:off x="4197915" y="2388288"/>
            <a:ext cx="2382982" cy="338554"/>
            <a:chOff x="4807527" y="2008909"/>
            <a:chExt cx="2382982" cy="338554"/>
          </a:xfrm>
        </p:grpSpPr>
        <p:cxnSp>
          <p:nvCxnSpPr>
            <p:cNvPr id="40" name="Straight Connector 39">
              <a:extLst>
                <a:ext uri="{FF2B5EF4-FFF2-40B4-BE49-F238E27FC236}">
                  <a16:creationId xmlns:a16="http://schemas.microsoft.com/office/drawing/2014/main" id="{3CE3AD2B-AB8B-CB7E-59D5-EB0044FC1306}"/>
                </a:ext>
              </a:extLst>
            </p:cNvPr>
            <p:cNvCxnSpPr>
              <a:cxnSpLocks/>
            </p:cNvCxnSpPr>
            <p:nvPr/>
          </p:nvCxnSpPr>
          <p:spPr>
            <a:xfrm>
              <a:off x="4807527" y="2178186"/>
              <a:ext cx="2382982" cy="0"/>
            </a:xfrm>
            <a:prstGeom prst="line">
              <a:avLst/>
            </a:prstGeom>
            <a:ln>
              <a:solidFill>
                <a:schemeClr val="tx2">
                  <a:lumMod val="75000"/>
                  <a:lumOff val="2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1" name="Straight Connector 40">
              <a:extLst>
                <a:ext uri="{FF2B5EF4-FFF2-40B4-BE49-F238E27FC236}">
                  <a16:creationId xmlns:a16="http://schemas.microsoft.com/office/drawing/2014/main" id="{C8E5E6FF-01D0-CE0C-677C-8290857E0050}"/>
                </a:ext>
              </a:extLst>
            </p:cNvPr>
            <p:cNvCxnSpPr>
              <a:cxnSpLocks/>
            </p:cNvCxnSpPr>
            <p:nvPr/>
          </p:nvCxnSpPr>
          <p:spPr>
            <a:xfrm>
              <a:off x="5209309" y="2178186"/>
              <a:ext cx="1496291" cy="0"/>
            </a:xfrm>
            <a:prstGeom prst="line">
              <a:avLst/>
            </a:prstGeom>
            <a:ln>
              <a:solidFill>
                <a:schemeClr val="tx2">
                  <a:lumMod val="75000"/>
                  <a:lumOff val="25000"/>
                </a:schemeClr>
              </a:solidFill>
            </a:ln>
          </p:spPr>
          <p:style>
            <a:lnRef idx="2">
              <a:schemeClr val="accent1"/>
            </a:lnRef>
            <a:fillRef idx="0">
              <a:schemeClr val="accent1"/>
            </a:fillRef>
            <a:effectRef idx="1">
              <a:schemeClr val="accent1"/>
            </a:effectRef>
            <a:fontRef idx="minor">
              <a:schemeClr val="tx1"/>
            </a:fontRef>
          </p:style>
        </p:cxnSp>
        <p:sp>
          <p:nvSpPr>
            <p:cNvPr id="42" name="TextBox 41">
              <a:extLst>
                <a:ext uri="{FF2B5EF4-FFF2-40B4-BE49-F238E27FC236}">
                  <a16:creationId xmlns:a16="http://schemas.microsoft.com/office/drawing/2014/main" id="{7BF718E0-F5CF-2671-2C6D-8CB0907C3086}"/>
                </a:ext>
              </a:extLst>
            </p:cNvPr>
            <p:cNvSpPr txBox="1"/>
            <p:nvPr/>
          </p:nvSpPr>
          <p:spPr>
            <a:xfrm>
              <a:off x="5680363" y="2008909"/>
              <a:ext cx="554182" cy="338554"/>
            </a:xfrm>
            <a:prstGeom prst="rect">
              <a:avLst/>
            </a:prstGeom>
            <a:solidFill>
              <a:schemeClr val="bg1"/>
            </a:solidFill>
            <a:ln w="12700">
              <a:solidFill>
                <a:schemeClr val="tx2">
                  <a:lumMod val="75000"/>
                  <a:lumOff val="25000"/>
                </a:schemeClr>
              </a:solidFill>
            </a:ln>
          </p:spPr>
          <p:txBody>
            <a:bodyPr wrap="square" rtlCol="0">
              <a:spAutoFit/>
            </a:bodyPr>
            <a:lstStyle/>
            <a:p>
              <a:r>
                <a:rPr lang="en-DK" sz="1600" dirty="0"/>
                <a:t>16S</a:t>
              </a:r>
            </a:p>
          </p:txBody>
        </p:sp>
      </p:grpSp>
      <p:grpSp>
        <p:nvGrpSpPr>
          <p:cNvPr id="43" name="Group 42">
            <a:extLst>
              <a:ext uri="{FF2B5EF4-FFF2-40B4-BE49-F238E27FC236}">
                <a16:creationId xmlns:a16="http://schemas.microsoft.com/office/drawing/2014/main" id="{BA02B824-2D42-FE2C-BF46-2AA4328D867C}"/>
              </a:ext>
            </a:extLst>
          </p:cNvPr>
          <p:cNvGrpSpPr/>
          <p:nvPr/>
        </p:nvGrpSpPr>
        <p:grpSpPr>
          <a:xfrm>
            <a:off x="4197915" y="2773711"/>
            <a:ext cx="2382982" cy="338554"/>
            <a:chOff x="4807527" y="2008909"/>
            <a:chExt cx="2382982" cy="338554"/>
          </a:xfrm>
        </p:grpSpPr>
        <p:cxnSp>
          <p:nvCxnSpPr>
            <p:cNvPr id="44" name="Straight Connector 43">
              <a:extLst>
                <a:ext uri="{FF2B5EF4-FFF2-40B4-BE49-F238E27FC236}">
                  <a16:creationId xmlns:a16="http://schemas.microsoft.com/office/drawing/2014/main" id="{2A7CCD96-1DBD-A43A-97FA-99C8C37C9825}"/>
                </a:ext>
              </a:extLst>
            </p:cNvPr>
            <p:cNvCxnSpPr>
              <a:cxnSpLocks/>
            </p:cNvCxnSpPr>
            <p:nvPr/>
          </p:nvCxnSpPr>
          <p:spPr>
            <a:xfrm>
              <a:off x="4807527" y="2178186"/>
              <a:ext cx="2382982" cy="0"/>
            </a:xfrm>
            <a:prstGeom prst="line">
              <a:avLst/>
            </a:prstGeom>
            <a:ln>
              <a:solidFill>
                <a:schemeClr val="tx2">
                  <a:lumMod val="75000"/>
                  <a:lumOff val="2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B2D60709-CC52-AE9D-4FBD-86CD3DC6265C}"/>
                </a:ext>
              </a:extLst>
            </p:cNvPr>
            <p:cNvCxnSpPr>
              <a:cxnSpLocks/>
            </p:cNvCxnSpPr>
            <p:nvPr/>
          </p:nvCxnSpPr>
          <p:spPr>
            <a:xfrm>
              <a:off x="5209309" y="2178186"/>
              <a:ext cx="1496291" cy="0"/>
            </a:xfrm>
            <a:prstGeom prst="line">
              <a:avLst/>
            </a:prstGeom>
            <a:ln>
              <a:solidFill>
                <a:schemeClr val="tx2">
                  <a:lumMod val="75000"/>
                  <a:lumOff val="25000"/>
                </a:schemeClr>
              </a:solidFill>
            </a:ln>
          </p:spPr>
          <p:style>
            <a:lnRef idx="2">
              <a:schemeClr val="accent1"/>
            </a:lnRef>
            <a:fillRef idx="0">
              <a:schemeClr val="accent1"/>
            </a:fillRef>
            <a:effectRef idx="1">
              <a:schemeClr val="accent1"/>
            </a:effectRef>
            <a:fontRef idx="minor">
              <a:schemeClr val="tx1"/>
            </a:fontRef>
          </p:style>
        </p:cxnSp>
        <p:sp>
          <p:nvSpPr>
            <p:cNvPr id="46" name="TextBox 45">
              <a:extLst>
                <a:ext uri="{FF2B5EF4-FFF2-40B4-BE49-F238E27FC236}">
                  <a16:creationId xmlns:a16="http://schemas.microsoft.com/office/drawing/2014/main" id="{A37A879D-A640-D650-1A90-8D5ECE8878F8}"/>
                </a:ext>
              </a:extLst>
            </p:cNvPr>
            <p:cNvSpPr txBox="1"/>
            <p:nvPr/>
          </p:nvSpPr>
          <p:spPr>
            <a:xfrm>
              <a:off x="5680363" y="2008909"/>
              <a:ext cx="554182" cy="338554"/>
            </a:xfrm>
            <a:prstGeom prst="rect">
              <a:avLst/>
            </a:prstGeom>
            <a:solidFill>
              <a:schemeClr val="bg1"/>
            </a:solidFill>
            <a:ln w="12700">
              <a:solidFill>
                <a:schemeClr val="tx2">
                  <a:lumMod val="75000"/>
                  <a:lumOff val="25000"/>
                </a:schemeClr>
              </a:solidFill>
            </a:ln>
          </p:spPr>
          <p:txBody>
            <a:bodyPr wrap="square" rtlCol="0">
              <a:spAutoFit/>
            </a:bodyPr>
            <a:lstStyle/>
            <a:p>
              <a:r>
                <a:rPr lang="en-DK" sz="1600" dirty="0"/>
                <a:t>16S</a:t>
              </a:r>
            </a:p>
          </p:txBody>
        </p:sp>
      </p:grpSp>
      <p:grpSp>
        <p:nvGrpSpPr>
          <p:cNvPr id="47" name="Group 46">
            <a:extLst>
              <a:ext uri="{FF2B5EF4-FFF2-40B4-BE49-F238E27FC236}">
                <a16:creationId xmlns:a16="http://schemas.microsoft.com/office/drawing/2014/main" id="{1B69EF51-9DA6-F50C-07B6-0AA9ECCF63FD}"/>
              </a:ext>
            </a:extLst>
          </p:cNvPr>
          <p:cNvGrpSpPr/>
          <p:nvPr/>
        </p:nvGrpSpPr>
        <p:grpSpPr>
          <a:xfrm>
            <a:off x="4197915" y="3147054"/>
            <a:ext cx="2382982" cy="338554"/>
            <a:chOff x="4807527" y="2008909"/>
            <a:chExt cx="2382982" cy="338554"/>
          </a:xfrm>
        </p:grpSpPr>
        <p:cxnSp>
          <p:nvCxnSpPr>
            <p:cNvPr id="48" name="Straight Connector 47">
              <a:extLst>
                <a:ext uri="{FF2B5EF4-FFF2-40B4-BE49-F238E27FC236}">
                  <a16:creationId xmlns:a16="http://schemas.microsoft.com/office/drawing/2014/main" id="{0F81302B-EBC7-3549-5BC0-F70B16C28EF0}"/>
                </a:ext>
              </a:extLst>
            </p:cNvPr>
            <p:cNvCxnSpPr>
              <a:cxnSpLocks/>
            </p:cNvCxnSpPr>
            <p:nvPr/>
          </p:nvCxnSpPr>
          <p:spPr>
            <a:xfrm>
              <a:off x="4807527" y="2178186"/>
              <a:ext cx="2382982" cy="0"/>
            </a:xfrm>
            <a:prstGeom prst="line">
              <a:avLst/>
            </a:prstGeom>
            <a:ln>
              <a:solidFill>
                <a:srgbClr val="FF0000"/>
              </a:solidFill>
              <a:prstDash val="sysDot"/>
            </a:ln>
          </p:spPr>
          <p:style>
            <a:lnRef idx="2">
              <a:schemeClr val="accent1"/>
            </a:lnRef>
            <a:fillRef idx="0">
              <a:schemeClr val="accent1"/>
            </a:fillRef>
            <a:effectRef idx="1">
              <a:schemeClr val="accent1"/>
            </a:effectRef>
            <a:fontRef idx="minor">
              <a:schemeClr val="tx1"/>
            </a:fontRef>
          </p:style>
        </p:cxnSp>
        <p:cxnSp>
          <p:nvCxnSpPr>
            <p:cNvPr id="49" name="Straight Connector 48">
              <a:extLst>
                <a:ext uri="{FF2B5EF4-FFF2-40B4-BE49-F238E27FC236}">
                  <a16:creationId xmlns:a16="http://schemas.microsoft.com/office/drawing/2014/main" id="{D6A0BD08-0B9E-568F-C232-D33B6F11658C}"/>
                </a:ext>
              </a:extLst>
            </p:cNvPr>
            <p:cNvCxnSpPr>
              <a:cxnSpLocks/>
            </p:cNvCxnSpPr>
            <p:nvPr/>
          </p:nvCxnSpPr>
          <p:spPr>
            <a:xfrm>
              <a:off x="5209309" y="2178186"/>
              <a:ext cx="1496291" cy="0"/>
            </a:xfrm>
            <a:prstGeom prst="line">
              <a:avLst/>
            </a:prstGeom>
            <a:ln>
              <a:solidFill>
                <a:srgbClr val="FF0000"/>
              </a:solidFill>
            </a:ln>
          </p:spPr>
          <p:style>
            <a:lnRef idx="2">
              <a:schemeClr val="accent1"/>
            </a:lnRef>
            <a:fillRef idx="0">
              <a:schemeClr val="accent1"/>
            </a:fillRef>
            <a:effectRef idx="1">
              <a:schemeClr val="accent1"/>
            </a:effectRef>
            <a:fontRef idx="minor">
              <a:schemeClr val="tx1"/>
            </a:fontRef>
          </p:style>
        </p:cxnSp>
        <p:sp>
          <p:nvSpPr>
            <p:cNvPr id="50" name="TextBox 49">
              <a:extLst>
                <a:ext uri="{FF2B5EF4-FFF2-40B4-BE49-F238E27FC236}">
                  <a16:creationId xmlns:a16="http://schemas.microsoft.com/office/drawing/2014/main" id="{07F48687-CA0F-EB2F-6F26-AEF9700DFBD1}"/>
                </a:ext>
              </a:extLst>
            </p:cNvPr>
            <p:cNvSpPr txBox="1"/>
            <p:nvPr/>
          </p:nvSpPr>
          <p:spPr>
            <a:xfrm>
              <a:off x="5680363" y="2008909"/>
              <a:ext cx="554182" cy="338554"/>
            </a:xfrm>
            <a:prstGeom prst="rect">
              <a:avLst/>
            </a:prstGeom>
            <a:solidFill>
              <a:schemeClr val="bg1"/>
            </a:solidFill>
            <a:ln w="12700">
              <a:solidFill>
                <a:srgbClr val="FF0000"/>
              </a:solidFill>
            </a:ln>
          </p:spPr>
          <p:txBody>
            <a:bodyPr wrap="square" rtlCol="0">
              <a:spAutoFit/>
            </a:bodyPr>
            <a:lstStyle/>
            <a:p>
              <a:r>
                <a:rPr lang="en-DK" sz="1600" dirty="0"/>
                <a:t>16S</a:t>
              </a:r>
            </a:p>
          </p:txBody>
        </p:sp>
      </p:grpSp>
      <p:grpSp>
        <p:nvGrpSpPr>
          <p:cNvPr id="51" name="Group 50">
            <a:extLst>
              <a:ext uri="{FF2B5EF4-FFF2-40B4-BE49-F238E27FC236}">
                <a16:creationId xmlns:a16="http://schemas.microsoft.com/office/drawing/2014/main" id="{D1B14B44-CF27-72D7-4D3E-0F39C59214BB}"/>
              </a:ext>
            </a:extLst>
          </p:cNvPr>
          <p:cNvGrpSpPr/>
          <p:nvPr/>
        </p:nvGrpSpPr>
        <p:grpSpPr>
          <a:xfrm>
            <a:off x="4197915" y="3526433"/>
            <a:ext cx="2382982" cy="338554"/>
            <a:chOff x="4807527" y="2008909"/>
            <a:chExt cx="2382982" cy="338554"/>
          </a:xfrm>
        </p:grpSpPr>
        <p:cxnSp>
          <p:nvCxnSpPr>
            <p:cNvPr id="52" name="Straight Connector 51">
              <a:extLst>
                <a:ext uri="{FF2B5EF4-FFF2-40B4-BE49-F238E27FC236}">
                  <a16:creationId xmlns:a16="http://schemas.microsoft.com/office/drawing/2014/main" id="{5983B7FE-0D6E-5F83-B5C9-7484CFF64278}"/>
                </a:ext>
              </a:extLst>
            </p:cNvPr>
            <p:cNvCxnSpPr>
              <a:cxnSpLocks/>
            </p:cNvCxnSpPr>
            <p:nvPr/>
          </p:nvCxnSpPr>
          <p:spPr>
            <a:xfrm>
              <a:off x="4807527" y="2178186"/>
              <a:ext cx="2382982" cy="0"/>
            </a:xfrm>
            <a:prstGeom prst="line">
              <a:avLst/>
            </a:prstGeom>
            <a:ln>
              <a:solidFill>
                <a:srgbClr val="FF0000"/>
              </a:solidFill>
              <a:prstDash val="sysDot"/>
            </a:ln>
          </p:spPr>
          <p:style>
            <a:lnRef idx="2">
              <a:schemeClr val="accent1"/>
            </a:lnRef>
            <a:fillRef idx="0">
              <a:schemeClr val="accent1"/>
            </a:fillRef>
            <a:effectRef idx="1">
              <a:schemeClr val="accent1"/>
            </a:effectRef>
            <a:fontRef idx="minor">
              <a:schemeClr val="tx1"/>
            </a:fontRef>
          </p:style>
        </p:cxnSp>
        <p:cxnSp>
          <p:nvCxnSpPr>
            <p:cNvPr id="53" name="Straight Connector 52">
              <a:extLst>
                <a:ext uri="{FF2B5EF4-FFF2-40B4-BE49-F238E27FC236}">
                  <a16:creationId xmlns:a16="http://schemas.microsoft.com/office/drawing/2014/main" id="{2ED8CD7E-B998-EF8B-0760-EFDD1E4F2F08}"/>
                </a:ext>
              </a:extLst>
            </p:cNvPr>
            <p:cNvCxnSpPr>
              <a:cxnSpLocks/>
            </p:cNvCxnSpPr>
            <p:nvPr/>
          </p:nvCxnSpPr>
          <p:spPr>
            <a:xfrm>
              <a:off x="5209309" y="2178186"/>
              <a:ext cx="1496291" cy="0"/>
            </a:xfrm>
            <a:prstGeom prst="line">
              <a:avLst/>
            </a:prstGeom>
            <a:ln>
              <a:solidFill>
                <a:srgbClr val="FF0000"/>
              </a:solidFill>
            </a:ln>
          </p:spPr>
          <p:style>
            <a:lnRef idx="2">
              <a:schemeClr val="accent1"/>
            </a:lnRef>
            <a:fillRef idx="0">
              <a:schemeClr val="accent1"/>
            </a:fillRef>
            <a:effectRef idx="1">
              <a:schemeClr val="accent1"/>
            </a:effectRef>
            <a:fontRef idx="minor">
              <a:schemeClr val="tx1"/>
            </a:fontRef>
          </p:style>
        </p:cxnSp>
        <p:sp>
          <p:nvSpPr>
            <p:cNvPr id="54" name="TextBox 53">
              <a:extLst>
                <a:ext uri="{FF2B5EF4-FFF2-40B4-BE49-F238E27FC236}">
                  <a16:creationId xmlns:a16="http://schemas.microsoft.com/office/drawing/2014/main" id="{2CB1E868-02D1-45B1-D658-DCF930A52710}"/>
                </a:ext>
              </a:extLst>
            </p:cNvPr>
            <p:cNvSpPr txBox="1"/>
            <p:nvPr/>
          </p:nvSpPr>
          <p:spPr>
            <a:xfrm>
              <a:off x="5680363" y="2008909"/>
              <a:ext cx="554182" cy="338554"/>
            </a:xfrm>
            <a:prstGeom prst="rect">
              <a:avLst/>
            </a:prstGeom>
            <a:solidFill>
              <a:schemeClr val="bg1"/>
            </a:solidFill>
            <a:ln w="12700">
              <a:solidFill>
                <a:srgbClr val="FF0000"/>
              </a:solidFill>
            </a:ln>
          </p:spPr>
          <p:txBody>
            <a:bodyPr wrap="square" rtlCol="0">
              <a:spAutoFit/>
            </a:bodyPr>
            <a:lstStyle/>
            <a:p>
              <a:r>
                <a:rPr lang="en-DK" sz="1600" dirty="0"/>
                <a:t>16S</a:t>
              </a:r>
            </a:p>
          </p:txBody>
        </p:sp>
      </p:grpSp>
      <p:grpSp>
        <p:nvGrpSpPr>
          <p:cNvPr id="55" name="Group 54">
            <a:extLst>
              <a:ext uri="{FF2B5EF4-FFF2-40B4-BE49-F238E27FC236}">
                <a16:creationId xmlns:a16="http://schemas.microsoft.com/office/drawing/2014/main" id="{A876F5EB-6D56-0167-D485-93EEEDE607F4}"/>
              </a:ext>
            </a:extLst>
          </p:cNvPr>
          <p:cNvGrpSpPr/>
          <p:nvPr/>
        </p:nvGrpSpPr>
        <p:grpSpPr>
          <a:xfrm>
            <a:off x="4197915" y="3911856"/>
            <a:ext cx="2382982" cy="338554"/>
            <a:chOff x="4807527" y="2008909"/>
            <a:chExt cx="2382982" cy="338554"/>
          </a:xfrm>
        </p:grpSpPr>
        <p:cxnSp>
          <p:nvCxnSpPr>
            <p:cNvPr id="56" name="Straight Connector 55">
              <a:extLst>
                <a:ext uri="{FF2B5EF4-FFF2-40B4-BE49-F238E27FC236}">
                  <a16:creationId xmlns:a16="http://schemas.microsoft.com/office/drawing/2014/main" id="{D9CAB322-1F4E-B126-6EB2-F9B6C5D37A5A}"/>
                </a:ext>
              </a:extLst>
            </p:cNvPr>
            <p:cNvCxnSpPr>
              <a:cxnSpLocks/>
            </p:cNvCxnSpPr>
            <p:nvPr/>
          </p:nvCxnSpPr>
          <p:spPr>
            <a:xfrm>
              <a:off x="4807527" y="2178186"/>
              <a:ext cx="2382982" cy="0"/>
            </a:xfrm>
            <a:prstGeom prst="line">
              <a:avLst/>
            </a:prstGeom>
            <a:ln>
              <a:solidFill>
                <a:srgbClr val="FF0000"/>
              </a:solidFill>
              <a:prstDash val="sysDot"/>
            </a:ln>
          </p:spPr>
          <p:style>
            <a:lnRef idx="2">
              <a:schemeClr val="accent1"/>
            </a:lnRef>
            <a:fillRef idx="0">
              <a:schemeClr val="accent1"/>
            </a:fillRef>
            <a:effectRef idx="1">
              <a:schemeClr val="accent1"/>
            </a:effectRef>
            <a:fontRef idx="minor">
              <a:schemeClr val="tx1"/>
            </a:fontRef>
          </p:style>
        </p:cxnSp>
        <p:cxnSp>
          <p:nvCxnSpPr>
            <p:cNvPr id="57" name="Straight Connector 56">
              <a:extLst>
                <a:ext uri="{FF2B5EF4-FFF2-40B4-BE49-F238E27FC236}">
                  <a16:creationId xmlns:a16="http://schemas.microsoft.com/office/drawing/2014/main" id="{12EA9971-6C50-EE9D-258B-F90B38F3B1BC}"/>
                </a:ext>
              </a:extLst>
            </p:cNvPr>
            <p:cNvCxnSpPr>
              <a:cxnSpLocks/>
            </p:cNvCxnSpPr>
            <p:nvPr/>
          </p:nvCxnSpPr>
          <p:spPr>
            <a:xfrm>
              <a:off x="5209309" y="2178186"/>
              <a:ext cx="1496291" cy="0"/>
            </a:xfrm>
            <a:prstGeom prst="line">
              <a:avLst/>
            </a:prstGeom>
            <a:ln>
              <a:solidFill>
                <a:srgbClr val="FF0000"/>
              </a:solidFill>
            </a:ln>
          </p:spPr>
          <p:style>
            <a:lnRef idx="2">
              <a:schemeClr val="accent1"/>
            </a:lnRef>
            <a:fillRef idx="0">
              <a:schemeClr val="accent1"/>
            </a:fillRef>
            <a:effectRef idx="1">
              <a:schemeClr val="accent1"/>
            </a:effectRef>
            <a:fontRef idx="minor">
              <a:schemeClr val="tx1"/>
            </a:fontRef>
          </p:style>
        </p:cxnSp>
        <p:sp>
          <p:nvSpPr>
            <p:cNvPr id="58" name="TextBox 57">
              <a:extLst>
                <a:ext uri="{FF2B5EF4-FFF2-40B4-BE49-F238E27FC236}">
                  <a16:creationId xmlns:a16="http://schemas.microsoft.com/office/drawing/2014/main" id="{29902496-FC1A-1D70-F428-ABA06D1DDE9C}"/>
                </a:ext>
              </a:extLst>
            </p:cNvPr>
            <p:cNvSpPr txBox="1"/>
            <p:nvPr/>
          </p:nvSpPr>
          <p:spPr>
            <a:xfrm>
              <a:off x="5680363" y="2008909"/>
              <a:ext cx="554182" cy="338554"/>
            </a:xfrm>
            <a:prstGeom prst="rect">
              <a:avLst/>
            </a:prstGeom>
            <a:solidFill>
              <a:schemeClr val="bg1"/>
            </a:solidFill>
            <a:ln w="12700">
              <a:solidFill>
                <a:srgbClr val="FF0000"/>
              </a:solidFill>
            </a:ln>
          </p:spPr>
          <p:txBody>
            <a:bodyPr wrap="square" rtlCol="0">
              <a:spAutoFit/>
            </a:bodyPr>
            <a:lstStyle/>
            <a:p>
              <a:r>
                <a:rPr lang="en-DK" sz="1600" dirty="0"/>
                <a:t>16S</a:t>
              </a:r>
            </a:p>
          </p:txBody>
        </p:sp>
      </p:grpSp>
      <p:grpSp>
        <p:nvGrpSpPr>
          <p:cNvPr id="59" name="Group 58">
            <a:extLst>
              <a:ext uri="{FF2B5EF4-FFF2-40B4-BE49-F238E27FC236}">
                <a16:creationId xmlns:a16="http://schemas.microsoft.com/office/drawing/2014/main" id="{0849E105-345A-BA2B-7DDA-962E7AA044CE}"/>
              </a:ext>
            </a:extLst>
          </p:cNvPr>
          <p:cNvGrpSpPr/>
          <p:nvPr/>
        </p:nvGrpSpPr>
        <p:grpSpPr>
          <a:xfrm>
            <a:off x="4197915" y="4304657"/>
            <a:ext cx="2382982" cy="338554"/>
            <a:chOff x="4807527" y="2008909"/>
            <a:chExt cx="2382982" cy="338554"/>
          </a:xfrm>
        </p:grpSpPr>
        <p:cxnSp>
          <p:nvCxnSpPr>
            <p:cNvPr id="60" name="Straight Connector 59">
              <a:extLst>
                <a:ext uri="{FF2B5EF4-FFF2-40B4-BE49-F238E27FC236}">
                  <a16:creationId xmlns:a16="http://schemas.microsoft.com/office/drawing/2014/main" id="{7BBB299B-4DE6-190A-299B-65DB7415CD0C}"/>
                </a:ext>
              </a:extLst>
            </p:cNvPr>
            <p:cNvCxnSpPr>
              <a:cxnSpLocks/>
            </p:cNvCxnSpPr>
            <p:nvPr/>
          </p:nvCxnSpPr>
          <p:spPr>
            <a:xfrm>
              <a:off x="4807527" y="2178186"/>
              <a:ext cx="2382982" cy="0"/>
            </a:xfrm>
            <a:prstGeom prst="line">
              <a:avLst/>
            </a:prstGeom>
            <a:ln>
              <a:solidFill>
                <a:schemeClr val="accent3"/>
              </a:solidFill>
              <a:prstDash val="sysDot"/>
            </a:ln>
          </p:spPr>
          <p:style>
            <a:lnRef idx="2">
              <a:schemeClr val="accent1"/>
            </a:lnRef>
            <a:fillRef idx="0">
              <a:schemeClr val="accent1"/>
            </a:fillRef>
            <a:effectRef idx="1">
              <a:schemeClr val="accent1"/>
            </a:effectRef>
            <a:fontRef idx="minor">
              <a:schemeClr val="tx1"/>
            </a:fontRef>
          </p:style>
        </p:cxnSp>
        <p:cxnSp>
          <p:nvCxnSpPr>
            <p:cNvPr id="61" name="Straight Connector 60">
              <a:extLst>
                <a:ext uri="{FF2B5EF4-FFF2-40B4-BE49-F238E27FC236}">
                  <a16:creationId xmlns:a16="http://schemas.microsoft.com/office/drawing/2014/main" id="{9A7EEE6C-CDE0-2D80-4E43-53027CFE0DAB}"/>
                </a:ext>
              </a:extLst>
            </p:cNvPr>
            <p:cNvCxnSpPr>
              <a:cxnSpLocks/>
            </p:cNvCxnSpPr>
            <p:nvPr/>
          </p:nvCxnSpPr>
          <p:spPr>
            <a:xfrm>
              <a:off x="5209309" y="2178186"/>
              <a:ext cx="1496291" cy="0"/>
            </a:xfrm>
            <a:prstGeom prst="line">
              <a:avLst/>
            </a:prstGeom>
            <a:ln>
              <a:solidFill>
                <a:schemeClr val="accent3"/>
              </a:solidFill>
            </a:ln>
          </p:spPr>
          <p:style>
            <a:lnRef idx="2">
              <a:schemeClr val="accent1"/>
            </a:lnRef>
            <a:fillRef idx="0">
              <a:schemeClr val="accent1"/>
            </a:fillRef>
            <a:effectRef idx="1">
              <a:schemeClr val="accent1"/>
            </a:effectRef>
            <a:fontRef idx="minor">
              <a:schemeClr val="tx1"/>
            </a:fontRef>
          </p:style>
        </p:cxnSp>
        <p:sp>
          <p:nvSpPr>
            <p:cNvPr id="62" name="TextBox 61">
              <a:extLst>
                <a:ext uri="{FF2B5EF4-FFF2-40B4-BE49-F238E27FC236}">
                  <a16:creationId xmlns:a16="http://schemas.microsoft.com/office/drawing/2014/main" id="{28455E2F-36AE-F8A3-2C81-ABD32F026A6B}"/>
                </a:ext>
              </a:extLst>
            </p:cNvPr>
            <p:cNvSpPr txBox="1"/>
            <p:nvPr/>
          </p:nvSpPr>
          <p:spPr>
            <a:xfrm>
              <a:off x="5680363" y="2008909"/>
              <a:ext cx="554182" cy="338554"/>
            </a:xfrm>
            <a:prstGeom prst="rect">
              <a:avLst/>
            </a:prstGeom>
            <a:solidFill>
              <a:schemeClr val="bg1"/>
            </a:solidFill>
            <a:ln w="12700">
              <a:solidFill>
                <a:schemeClr val="accent3"/>
              </a:solidFill>
            </a:ln>
          </p:spPr>
          <p:txBody>
            <a:bodyPr wrap="square" rtlCol="0">
              <a:spAutoFit/>
            </a:bodyPr>
            <a:lstStyle/>
            <a:p>
              <a:r>
                <a:rPr lang="en-DK" sz="1600" dirty="0"/>
                <a:t>16S</a:t>
              </a:r>
            </a:p>
          </p:txBody>
        </p:sp>
      </p:grpSp>
      <p:grpSp>
        <p:nvGrpSpPr>
          <p:cNvPr id="63" name="Group 62">
            <a:extLst>
              <a:ext uri="{FF2B5EF4-FFF2-40B4-BE49-F238E27FC236}">
                <a16:creationId xmlns:a16="http://schemas.microsoft.com/office/drawing/2014/main" id="{E5D91BDC-BF45-2BD0-7E03-FC764B050312}"/>
              </a:ext>
            </a:extLst>
          </p:cNvPr>
          <p:cNvGrpSpPr/>
          <p:nvPr/>
        </p:nvGrpSpPr>
        <p:grpSpPr>
          <a:xfrm>
            <a:off x="4197915" y="4684036"/>
            <a:ext cx="2382982" cy="338554"/>
            <a:chOff x="4807527" y="2008909"/>
            <a:chExt cx="2382982" cy="338554"/>
          </a:xfrm>
        </p:grpSpPr>
        <p:cxnSp>
          <p:nvCxnSpPr>
            <p:cNvPr id="64" name="Straight Connector 63">
              <a:extLst>
                <a:ext uri="{FF2B5EF4-FFF2-40B4-BE49-F238E27FC236}">
                  <a16:creationId xmlns:a16="http://schemas.microsoft.com/office/drawing/2014/main" id="{C19FE2E9-FC4B-49D9-DA36-ADCC74013550}"/>
                </a:ext>
              </a:extLst>
            </p:cNvPr>
            <p:cNvCxnSpPr>
              <a:cxnSpLocks/>
            </p:cNvCxnSpPr>
            <p:nvPr/>
          </p:nvCxnSpPr>
          <p:spPr>
            <a:xfrm>
              <a:off x="4807527" y="2178186"/>
              <a:ext cx="2382982" cy="0"/>
            </a:xfrm>
            <a:prstGeom prst="line">
              <a:avLst/>
            </a:prstGeom>
            <a:ln>
              <a:solidFill>
                <a:schemeClr val="accent3"/>
              </a:solidFill>
              <a:prstDash val="sysDot"/>
            </a:ln>
          </p:spPr>
          <p:style>
            <a:lnRef idx="2">
              <a:schemeClr val="accent1"/>
            </a:lnRef>
            <a:fillRef idx="0">
              <a:schemeClr val="accent1"/>
            </a:fillRef>
            <a:effectRef idx="1">
              <a:schemeClr val="accent1"/>
            </a:effectRef>
            <a:fontRef idx="minor">
              <a:schemeClr val="tx1"/>
            </a:fontRef>
          </p:style>
        </p:cxnSp>
        <p:cxnSp>
          <p:nvCxnSpPr>
            <p:cNvPr id="65" name="Straight Connector 64">
              <a:extLst>
                <a:ext uri="{FF2B5EF4-FFF2-40B4-BE49-F238E27FC236}">
                  <a16:creationId xmlns:a16="http://schemas.microsoft.com/office/drawing/2014/main" id="{3A7D423B-23D7-156F-E5EE-1D78DE269B15}"/>
                </a:ext>
              </a:extLst>
            </p:cNvPr>
            <p:cNvCxnSpPr>
              <a:cxnSpLocks/>
            </p:cNvCxnSpPr>
            <p:nvPr/>
          </p:nvCxnSpPr>
          <p:spPr>
            <a:xfrm>
              <a:off x="5209309" y="2178186"/>
              <a:ext cx="1496291" cy="0"/>
            </a:xfrm>
            <a:prstGeom prst="line">
              <a:avLst/>
            </a:prstGeom>
            <a:ln>
              <a:solidFill>
                <a:schemeClr val="accent3"/>
              </a:solidFill>
            </a:ln>
          </p:spPr>
          <p:style>
            <a:lnRef idx="2">
              <a:schemeClr val="accent1"/>
            </a:lnRef>
            <a:fillRef idx="0">
              <a:schemeClr val="accent1"/>
            </a:fillRef>
            <a:effectRef idx="1">
              <a:schemeClr val="accent1"/>
            </a:effectRef>
            <a:fontRef idx="minor">
              <a:schemeClr val="tx1"/>
            </a:fontRef>
          </p:style>
        </p:cxnSp>
        <p:sp>
          <p:nvSpPr>
            <p:cNvPr id="66" name="TextBox 65">
              <a:extLst>
                <a:ext uri="{FF2B5EF4-FFF2-40B4-BE49-F238E27FC236}">
                  <a16:creationId xmlns:a16="http://schemas.microsoft.com/office/drawing/2014/main" id="{8CFFA8C8-6C13-86FD-F39E-AF6AD89413B8}"/>
                </a:ext>
              </a:extLst>
            </p:cNvPr>
            <p:cNvSpPr txBox="1"/>
            <p:nvPr/>
          </p:nvSpPr>
          <p:spPr>
            <a:xfrm>
              <a:off x="5680363" y="2008909"/>
              <a:ext cx="554182" cy="338554"/>
            </a:xfrm>
            <a:prstGeom prst="rect">
              <a:avLst/>
            </a:prstGeom>
            <a:solidFill>
              <a:schemeClr val="bg1"/>
            </a:solidFill>
            <a:ln w="12700">
              <a:solidFill>
                <a:schemeClr val="accent3"/>
              </a:solidFill>
            </a:ln>
          </p:spPr>
          <p:txBody>
            <a:bodyPr wrap="square" rtlCol="0">
              <a:spAutoFit/>
            </a:bodyPr>
            <a:lstStyle/>
            <a:p>
              <a:r>
                <a:rPr lang="en-DK" sz="1600" dirty="0"/>
                <a:t>16S</a:t>
              </a:r>
            </a:p>
          </p:txBody>
        </p:sp>
      </p:grpSp>
      <p:grpSp>
        <p:nvGrpSpPr>
          <p:cNvPr id="67" name="Group 66">
            <a:extLst>
              <a:ext uri="{FF2B5EF4-FFF2-40B4-BE49-F238E27FC236}">
                <a16:creationId xmlns:a16="http://schemas.microsoft.com/office/drawing/2014/main" id="{B8FC8C14-DA47-25D5-4712-E1DA511EC3B7}"/>
              </a:ext>
            </a:extLst>
          </p:cNvPr>
          <p:cNvGrpSpPr/>
          <p:nvPr/>
        </p:nvGrpSpPr>
        <p:grpSpPr>
          <a:xfrm>
            <a:off x="4197915" y="5069459"/>
            <a:ext cx="2382982" cy="338554"/>
            <a:chOff x="4807527" y="2008909"/>
            <a:chExt cx="2382982" cy="338554"/>
          </a:xfrm>
        </p:grpSpPr>
        <p:cxnSp>
          <p:nvCxnSpPr>
            <p:cNvPr id="68" name="Straight Connector 67">
              <a:extLst>
                <a:ext uri="{FF2B5EF4-FFF2-40B4-BE49-F238E27FC236}">
                  <a16:creationId xmlns:a16="http://schemas.microsoft.com/office/drawing/2014/main" id="{12874FC2-C78A-A5A8-5234-5E3D345A258E}"/>
                </a:ext>
              </a:extLst>
            </p:cNvPr>
            <p:cNvCxnSpPr>
              <a:cxnSpLocks/>
            </p:cNvCxnSpPr>
            <p:nvPr/>
          </p:nvCxnSpPr>
          <p:spPr>
            <a:xfrm>
              <a:off x="4807527" y="2178186"/>
              <a:ext cx="2382982" cy="0"/>
            </a:xfrm>
            <a:prstGeom prst="line">
              <a:avLst/>
            </a:prstGeom>
            <a:ln>
              <a:solidFill>
                <a:schemeClr val="accent2">
                  <a:lumMod val="75000"/>
                </a:schemeClr>
              </a:solidFill>
              <a:prstDash val="sysDot"/>
            </a:ln>
          </p:spPr>
          <p:style>
            <a:lnRef idx="2">
              <a:schemeClr val="accent1"/>
            </a:lnRef>
            <a:fillRef idx="0">
              <a:schemeClr val="accent1"/>
            </a:fillRef>
            <a:effectRef idx="1">
              <a:schemeClr val="accent1"/>
            </a:effectRef>
            <a:fontRef idx="minor">
              <a:schemeClr val="tx1"/>
            </a:fontRef>
          </p:style>
        </p:cxnSp>
        <p:cxnSp>
          <p:nvCxnSpPr>
            <p:cNvPr id="69" name="Straight Connector 68">
              <a:extLst>
                <a:ext uri="{FF2B5EF4-FFF2-40B4-BE49-F238E27FC236}">
                  <a16:creationId xmlns:a16="http://schemas.microsoft.com/office/drawing/2014/main" id="{0378CD8E-47D2-38F5-49A6-9AFD0CFD53C5}"/>
                </a:ext>
              </a:extLst>
            </p:cNvPr>
            <p:cNvCxnSpPr>
              <a:cxnSpLocks/>
            </p:cNvCxnSpPr>
            <p:nvPr/>
          </p:nvCxnSpPr>
          <p:spPr>
            <a:xfrm>
              <a:off x="5209309" y="2178186"/>
              <a:ext cx="1496291" cy="0"/>
            </a:xfrm>
            <a:prstGeom prst="line">
              <a:avLst/>
            </a:prstGeom>
            <a:ln>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sp>
          <p:nvSpPr>
            <p:cNvPr id="70" name="TextBox 69">
              <a:extLst>
                <a:ext uri="{FF2B5EF4-FFF2-40B4-BE49-F238E27FC236}">
                  <a16:creationId xmlns:a16="http://schemas.microsoft.com/office/drawing/2014/main" id="{3D28AD6A-1607-AD0C-4AFE-514AFE686416}"/>
                </a:ext>
              </a:extLst>
            </p:cNvPr>
            <p:cNvSpPr txBox="1"/>
            <p:nvPr/>
          </p:nvSpPr>
          <p:spPr>
            <a:xfrm>
              <a:off x="5680363" y="2008909"/>
              <a:ext cx="554182" cy="338554"/>
            </a:xfrm>
            <a:prstGeom prst="rect">
              <a:avLst/>
            </a:prstGeom>
            <a:solidFill>
              <a:schemeClr val="bg1"/>
            </a:solidFill>
            <a:ln w="12700">
              <a:solidFill>
                <a:schemeClr val="accent2">
                  <a:lumMod val="75000"/>
                </a:schemeClr>
              </a:solidFill>
            </a:ln>
          </p:spPr>
          <p:txBody>
            <a:bodyPr wrap="square" rtlCol="0">
              <a:spAutoFit/>
            </a:bodyPr>
            <a:lstStyle/>
            <a:p>
              <a:r>
                <a:rPr lang="en-DK" sz="1600" dirty="0"/>
                <a:t>16S</a:t>
              </a:r>
            </a:p>
          </p:txBody>
        </p:sp>
      </p:grpSp>
      <p:sp>
        <p:nvSpPr>
          <p:cNvPr id="71" name="TextBox 70">
            <a:extLst>
              <a:ext uri="{FF2B5EF4-FFF2-40B4-BE49-F238E27FC236}">
                <a16:creationId xmlns:a16="http://schemas.microsoft.com/office/drawing/2014/main" id="{3591195C-8CEA-459A-ABBF-2E64ED74CD1D}"/>
              </a:ext>
            </a:extLst>
          </p:cNvPr>
          <p:cNvSpPr txBox="1"/>
          <p:nvPr/>
        </p:nvSpPr>
        <p:spPr>
          <a:xfrm>
            <a:off x="453735" y="5778632"/>
            <a:ext cx="3318163" cy="646331"/>
          </a:xfrm>
          <a:prstGeom prst="rect">
            <a:avLst/>
          </a:prstGeom>
          <a:noFill/>
        </p:spPr>
        <p:txBody>
          <a:bodyPr wrap="square" rtlCol="0">
            <a:spAutoFit/>
          </a:bodyPr>
          <a:lstStyle/>
          <a:p>
            <a:r>
              <a:rPr lang="en-DK" dirty="0"/>
              <a:t>Microbial genomes in our sample carrying 16S rRNA gene</a:t>
            </a:r>
          </a:p>
        </p:txBody>
      </p:sp>
      <p:sp>
        <p:nvSpPr>
          <p:cNvPr id="72" name="TextBox 71">
            <a:extLst>
              <a:ext uri="{FF2B5EF4-FFF2-40B4-BE49-F238E27FC236}">
                <a16:creationId xmlns:a16="http://schemas.microsoft.com/office/drawing/2014/main" id="{9BE7501F-3DCF-1B3D-B302-D17CDFF294A2}"/>
              </a:ext>
            </a:extLst>
          </p:cNvPr>
          <p:cNvSpPr txBox="1"/>
          <p:nvPr/>
        </p:nvSpPr>
        <p:spPr>
          <a:xfrm>
            <a:off x="4048978" y="5540734"/>
            <a:ext cx="2680855" cy="1200329"/>
          </a:xfrm>
          <a:prstGeom prst="rect">
            <a:avLst/>
          </a:prstGeom>
          <a:noFill/>
        </p:spPr>
        <p:txBody>
          <a:bodyPr wrap="square" rtlCol="0">
            <a:spAutoFit/>
          </a:bodyPr>
          <a:lstStyle/>
          <a:p>
            <a:r>
              <a:rPr lang="en-DK" dirty="0"/>
              <a:t>PCR amplification of 16S rRNA gene to produce a pool of DNA containing only 16S genes</a:t>
            </a:r>
          </a:p>
        </p:txBody>
      </p:sp>
      <p:sp>
        <p:nvSpPr>
          <p:cNvPr id="73" name="TextBox 72">
            <a:extLst>
              <a:ext uri="{FF2B5EF4-FFF2-40B4-BE49-F238E27FC236}">
                <a16:creationId xmlns:a16="http://schemas.microsoft.com/office/drawing/2014/main" id="{2AC232C1-835D-CBC9-B66A-D2E952F6F5EA}"/>
              </a:ext>
            </a:extLst>
          </p:cNvPr>
          <p:cNvSpPr txBox="1"/>
          <p:nvPr/>
        </p:nvSpPr>
        <p:spPr>
          <a:xfrm>
            <a:off x="6809496" y="1998352"/>
            <a:ext cx="2978726" cy="307777"/>
          </a:xfrm>
          <a:prstGeom prst="rect">
            <a:avLst/>
          </a:prstGeom>
          <a:noFill/>
        </p:spPr>
        <p:txBody>
          <a:bodyPr wrap="square" rtlCol="0">
            <a:spAutoFit/>
          </a:bodyPr>
          <a:lstStyle/>
          <a:p>
            <a:r>
              <a:rPr lang="en-DK" sz="1400" spc="300" dirty="0"/>
              <a:t>TT</a:t>
            </a:r>
            <a:r>
              <a:rPr lang="en-DK" sz="1400" b="1" spc="300" dirty="0">
                <a:solidFill>
                  <a:schemeClr val="tx2">
                    <a:lumMod val="75000"/>
                    <a:lumOff val="25000"/>
                  </a:schemeClr>
                </a:solidFill>
              </a:rPr>
              <a:t>C</a:t>
            </a:r>
            <a:r>
              <a:rPr lang="en-DK" sz="1400" spc="300" dirty="0"/>
              <a:t>AACCGAGATATGC</a:t>
            </a:r>
          </a:p>
        </p:txBody>
      </p:sp>
      <p:sp>
        <p:nvSpPr>
          <p:cNvPr id="74" name="TextBox 73">
            <a:extLst>
              <a:ext uri="{FF2B5EF4-FFF2-40B4-BE49-F238E27FC236}">
                <a16:creationId xmlns:a16="http://schemas.microsoft.com/office/drawing/2014/main" id="{848451ED-B603-C13B-C022-6701C3DC66B2}"/>
              </a:ext>
            </a:extLst>
          </p:cNvPr>
          <p:cNvSpPr txBox="1"/>
          <p:nvPr/>
        </p:nvSpPr>
        <p:spPr>
          <a:xfrm>
            <a:off x="6823350" y="2379759"/>
            <a:ext cx="2978726" cy="307777"/>
          </a:xfrm>
          <a:prstGeom prst="rect">
            <a:avLst/>
          </a:prstGeom>
          <a:noFill/>
        </p:spPr>
        <p:txBody>
          <a:bodyPr wrap="square" rtlCol="0">
            <a:spAutoFit/>
          </a:bodyPr>
          <a:lstStyle/>
          <a:p>
            <a:r>
              <a:rPr lang="en-DK" sz="1400" spc="300" dirty="0"/>
              <a:t>TT</a:t>
            </a:r>
            <a:r>
              <a:rPr lang="en-DK" sz="1400" b="1" spc="300" dirty="0">
                <a:solidFill>
                  <a:schemeClr val="tx2">
                    <a:lumMod val="75000"/>
                    <a:lumOff val="25000"/>
                  </a:schemeClr>
                </a:solidFill>
              </a:rPr>
              <a:t>C</a:t>
            </a:r>
            <a:r>
              <a:rPr lang="en-DK" sz="1400" spc="300" dirty="0"/>
              <a:t>AACCGAGATATGC</a:t>
            </a:r>
          </a:p>
        </p:txBody>
      </p:sp>
      <p:sp>
        <p:nvSpPr>
          <p:cNvPr id="75" name="TextBox 74">
            <a:extLst>
              <a:ext uri="{FF2B5EF4-FFF2-40B4-BE49-F238E27FC236}">
                <a16:creationId xmlns:a16="http://schemas.microsoft.com/office/drawing/2014/main" id="{642A8992-B190-C614-7A70-1011FAD20105}"/>
              </a:ext>
            </a:extLst>
          </p:cNvPr>
          <p:cNvSpPr txBox="1"/>
          <p:nvPr/>
        </p:nvSpPr>
        <p:spPr>
          <a:xfrm>
            <a:off x="6823350" y="2761166"/>
            <a:ext cx="3068782" cy="307777"/>
          </a:xfrm>
          <a:prstGeom prst="rect">
            <a:avLst/>
          </a:prstGeom>
          <a:noFill/>
        </p:spPr>
        <p:txBody>
          <a:bodyPr wrap="square" rtlCol="0">
            <a:spAutoFit/>
          </a:bodyPr>
          <a:lstStyle/>
          <a:p>
            <a:r>
              <a:rPr lang="en-DK" sz="1400" spc="300" dirty="0"/>
              <a:t>TT</a:t>
            </a:r>
            <a:r>
              <a:rPr lang="en-DK" sz="1400" b="1" spc="300" dirty="0">
                <a:solidFill>
                  <a:schemeClr val="tx2">
                    <a:lumMod val="75000"/>
                    <a:lumOff val="25000"/>
                  </a:schemeClr>
                </a:solidFill>
              </a:rPr>
              <a:t>C</a:t>
            </a:r>
            <a:r>
              <a:rPr lang="en-DK" sz="1400" spc="300" dirty="0"/>
              <a:t>AACCGAGATATGC</a:t>
            </a:r>
          </a:p>
        </p:txBody>
      </p:sp>
      <p:sp>
        <p:nvSpPr>
          <p:cNvPr id="76" name="TextBox 75">
            <a:extLst>
              <a:ext uri="{FF2B5EF4-FFF2-40B4-BE49-F238E27FC236}">
                <a16:creationId xmlns:a16="http://schemas.microsoft.com/office/drawing/2014/main" id="{E5793936-AB7B-DA0F-4D47-C62B243CCFA5}"/>
              </a:ext>
            </a:extLst>
          </p:cNvPr>
          <p:cNvSpPr txBox="1"/>
          <p:nvPr/>
        </p:nvSpPr>
        <p:spPr>
          <a:xfrm>
            <a:off x="6823349" y="3142573"/>
            <a:ext cx="3241965" cy="369332"/>
          </a:xfrm>
          <a:prstGeom prst="rect">
            <a:avLst/>
          </a:prstGeom>
          <a:noFill/>
        </p:spPr>
        <p:txBody>
          <a:bodyPr wrap="square" rtlCol="0">
            <a:noAutofit/>
          </a:bodyPr>
          <a:lstStyle/>
          <a:p>
            <a:r>
              <a:rPr lang="en-DK" sz="1400" spc="370" dirty="0"/>
              <a:t>TTTAACCGA</a:t>
            </a:r>
            <a:r>
              <a:rPr lang="en-DK" sz="1400" b="1" spc="370" dirty="0">
                <a:solidFill>
                  <a:srgbClr val="FF0000"/>
                </a:solidFill>
              </a:rPr>
              <a:t>T</a:t>
            </a:r>
            <a:r>
              <a:rPr lang="en-DK" sz="1400" spc="370" dirty="0"/>
              <a:t>ATATGC</a:t>
            </a:r>
          </a:p>
        </p:txBody>
      </p:sp>
      <p:sp>
        <p:nvSpPr>
          <p:cNvPr id="77" name="TextBox 76">
            <a:extLst>
              <a:ext uri="{FF2B5EF4-FFF2-40B4-BE49-F238E27FC236}">
                <a16:creationId xmlns:a16="http://schemas.microsoft.com/office/drawing/2014/main" id="{3CC216BB-AE7B-FB8E-4F19-050EE5B56242}"/>
              </a:ext>
            </a:extLst>
          </p:cNvPr>
          <p:cNvSpPr txBox="1"/>
          <p:nvPr/>
        </p:nvSpPr>
        <p:spPr>
          <a:xfrm>
            <a:off x="6823350" y="3523980"/>
            <a:ext cx="3054928" cy="307777"/>
          </a:xfrm>
          <a:prstGeom prst="rect">
            <a:avLst/>
          </a:prstGeom>
          <a:noFill/>
        </p:spPr>
        <p:txBody>
          <a:bodyPr wrap="square" rtlCol="0">
            <a:spAutoFit/>
          </a:bodyPr>
          <a:lstStyle/>
          <a:p>
            <a:r>
              <a:rPr lang="en-DK" sz="1400" spc="370" dirty="0"/>
              <a:t>TTTAACCGA</a:t>
            </a:r>
            <a:r>
              <a:rPr lang="en-DK" sz="1400" b="1" spc="370" dirty="0">
                <a:solidFill>
                  <a:srgbClr val="FF0000"/>
                </a:solidFill>
              </a:rPr>
              <a:t>T</a:t>
            </a:r>
            <a:r>
              <a:rPr lang="en-DK" sz="1400" spc="370" dirty="0"/>
              <a:t>ATATGC</a:t>
            </a:r>
          </a:p>
        </p:txBody>
      </p:sp>
      <p:sp>
        <p:nvSpPr>
          <p:cNvPr id="78" name="TextBox 77">
            <a:extLst>
              <a:ext uri="{FF2B5EF4-FFF2-40B4-BE49-F238E27FC236}">
                <a16:creationId xmlns:a16="http://schemas.microsoft.com/office/drawing/2014/main" id="{0D361220-0906-AF44-EC8E-414F05E51D76}"/>
              </a:ext>
            </a:extLst>
          </p:cNvPr>
          <p:cNvSpPr txBox="1"/>
          <p:nvPr/>
        </p:nvSpPr>
        <p:spPr>
          <a:xfrm>
            <a:off x="6809496" y="3905387"/>
            <a:ext cx="3068782" cy="307777"/>
          </a:xfrm>
          <a:prstGeom prst="rect">
            <a:avLst/>
          </a:prstGeom>
          <a:noFill/>
        </p:spPr>
        <p:txBody>
          <a:bodyPr wrap="square" rtlCol="0">
            <a:spAutoFit/>
          </a:bodyPr>
          <a:lstStyle/>
          <a:p>
            <a:r>
              <a:rPr lang="en-DK" sz="1400" spc="370" dirty="0"/>
              <a:t>TTTAACCGA</a:t>
            </a:r>
            <a:r>
              <a:rPr lang="en-DK" sz="1400" b="1" spc="370" dirty="0">
                <a:solidFill>
                  <a:srgbClr val="FF0000"/>
                </a:solidFill>
              </a:rPr>
              <a:t>T</a:t>
            </a:r>
            <a:r>
              <a:rPr lang="en-DK" sz="1400" spc="370" dirty="0"/>
              <a:t>ATATGC</a:t>
            </a:r>
          </a:p>
        </p:txBody>
      </p:sp>
      <p:sp>
        <p:nvSpPr>
          <p:cNvPr id="80" name="TextBox 79">
            <a:extLst>
              <a:ext uri="{FF2B5EF4-FFF2-40B4-BE49-F238E27FC236}">
                <a16:creationId xmlns:a16="http://schemas.microsoft.com/office/drawing/2014/main" id="{9CBB9F6E-87C5-15C5-DE39-DEA58E2817CF}"/>
              </a:ext>
            </a:extLst>
          </p:cNvPr>
          <p:cNvSpPr txBox="1"/>
          <p:nvPr/>
        </p:nvSpPr>
        <p:spPr>
          <a:xfrm>
            <a:off x="6809495" y="4668201"/>
            <a:ext cx="3082637" cy="307777"/>
          </a:xfrm>
          <a:prstGeom prst="rect">
            <a:avLst/>
          </a:prstGeom>
          <a:noFill/>
        </p:spPr>
        <p:txBody>
          <a:bodyPr wrap="square" rtlCol="0">
            <a:spAutoFit/>
          </a:bodyPr>
          <a:lstStyle/>
          <a:p>
            <a:r>
              <a:rPr lang="en-DK" sz="1400" spc="370" dirty="0"/>
              <a:t>TTTAAC</a:t>
            </a:r>
            <a:r>
              <a:rPr lang="en-DK" sz="1400" b="1" spc="370" dirty="0">
                <a:solidFill>
                  <a:schemeClr val="accent3"/>
                </a:solidFill>
              </a:rPr>
              <a:t>A</a:t>
            </a:r>
            <a:r>
              <a:rPr lang="en-DK" sz="1400" spc="370" dirty="0"/>
              <a:t>GAGATATGC</a:t>
            </a:r>
          </a:p>
        </p:txBody>
      </p:sp>
      <p:sp>
        <p:nvSpPr>
          <p:cNvPr id="81" name="TextBox 80">
            <a:extLst>
              <a:ext uri="{FF2B5EF4-FFF2-40B4-BE49-F238E27FC236}">
                <a16:creationId xmlns:a16="http://schemas.microsoft.com/office/drawing/2014/main" id="{6006EFFD-2744-CEA8-30A0-AA3A0DF1BDA1}"/>
              </a:ext>
            </a:extLst>
          </p:cNvPr>
          <p:cNvSpPr txBox="1"/>
          <p:nvPr/>
        </p:nvSpPr>
        <p:spPr>
          <a:xfrm>
            <a:off x="6823349" y="5049606"/>
            <a:ext cx="3082637" cy="307777"/>
          </a:xfrm>
          <a:prstGeom prst="rect">
            <a:avLst/>
          </a:prstGeom>
          <a:noFill/>
        </p:spPr>
        <p:txBody>
          <a:bodyPr wrap="square" rtlCol="0">
            <a:spAutoFit/>
          </a:bodyPr>
          <a:lstStyle/>
          <a:p>
            <a:r>
              <a:rPr lang="en-DK" sz="1400" spc="370" dirty="0"/>
              <a:t>TTTAACCGAGATAT</a:t>
            </a:r>
            <a:r>
              <a:rPr lang="en-DK" sz="1400" b="1" spc="370" dirty="0">
                <a:solidFill>
                  <a:schemeClr val="accent2">
                    <a:lumMod val="75000"/>
                  </a:schemeClr>
                </a:solidFill>
              </a:rPr>
              <a:t>A</a:t>
            </a:r>
            <a:r>
              <a:rPr lang="en-DK" sz="1400" spc="370" dirty="0"/>
              <a:t>C</a:t>
            </a:r>
          </a:p>
        </p:txBody>
      </p:sp>
      <p:sp>
        <p:nvSpPr>
          <p:cNvPr id="82" name="TextBox 81">
            <a:extLst>
              <a:ext uri="{FF2B5EF4-FFF2-40B4-BE49-F238E27FC236}">
                <a16:creationId xmlns:a16="http://schemas.microsoft.com/office/drawing/2014/main" id="{5DFABBFC-A414-998F-C63B-456CB81E35DB}"/>
              </a:ext>
            </a:extLst>
          </p:cNvPr>
          <p:cNvSpPr txBox="1"/>
          <p:nvPr/>
        </p:nvSpPr>
        <p:spPr>
          <a:xfrm>
            <a:off x="6809496" y="4286794"/>
            <a:ext cx="3068782" cy="307777"/>
          </a:xfrm>
          <a:prstGeom prst="rect">
            <a:avLst/>
          </a:prstGeom>
          <a:noFill/>
        </p:spPr>
        <p:txBody>
          <a:bodyPr wrap="square" rtlCol="0">
            <a:spAutoFit/>
          </a:bodyPr>
          <a:lstStyle/>
          <a:p>
            <a:r>
              <a:rPr lang="en-DK" sz="1400" spc="370" dirty="0"/>
              <a:t>TTTAAC</a:t>
            </a:r>
            <a:r>
              <a:rPr lang="en-DK" sz="1400" b="1" spc="370" dirty="0">
                <a:solidFill>
                  <a:schemeClr val="accent3"/>
                </a:solidFill>
              </a:rPr>
              <a:t>A</a:t>
            </a:r>
            <a:r>
              <a:rPr lang="en-DK" sz="1400" spc="370" dirty="0"/>
              <a:t>GAGATATGC</a:t>
            </a:r>
          </a:p>
        </p:txBody>
      </p:sp>
      <p:sp>
        <p:nvSpPr>
          <p:cNvPr id="83" name="TextBox 82">
            <a:extLst>
              <a:ext uri="{FF2B5EF4-FFF2-40B4-BE49-F238E27FC236}">
                <a16:creationId xmlns:a16="http://schemas.microsoft.com/office/drawing/2014/main" id="{2DE9B554-E93E-925F-17BB-76040233A898}"/>
              </a:ext>
            </a:extLst>
          </p:cNvPr>
          <p:cNvSpPr txBox="1"/>
          <p:nvPr/>
        </p:nvSpPr>
        <p:spPr>
          <a:xfrm>
            <a:off x="6809495" y="5504645"/>
            <a:ext cx="2680855" cy="369332"/>
          </a:xfrm>
          <a:prstGeom prst="rect">
            <a:avLst/>
          </a:prstGeom>
          <a:noFill/>
        </p:spPr>
        <p:txBody>
          <a:bodyPr wrap="square" rtlCol="0">
            <a:spAutoFit/>
          </a:bodyPr>
          <a:lstStyle/>
          <a:p>
            <a:r>
              <a:rPr lang="en-DK" dirty="0"/>
              <a:t>Sequencing all fragments</a:t>
            </a:r>
          </a:p>
        </p:txBody>
      </p:sp>
      <p:graphicFrame>
        <p:nvGraphicFramePr>
          <p:cNvPr id="85" name="Table 84">
            <a:extLst>
              <a:ext uri="{FF2B5EF4-FFF2-40B4-BE49-F238E27FC236}">
                <a16:creationId xmlns:a16="http://schemas.microsoft.com/office/drawing/2014/main" id="{BE823231-A99C-7837-9D6A-E5A3E2CFE9FA}"/>
              </a:ext>
            </a:extLst>
          </p:cNvPr>
          <p:cNvGraphicFramePr>
            <a:graphicFrameLocks noGrp="1"/>
          </p:cNvGraphicFramePr>
          <p:nvPr>
            <p:extLst>
              <p:ext uri="{D42A27DB-BD31-4B8C-83A1-F6EECF244321}">
                <p14:modId xmlns:p14="http://schemas.microsoft.com/office/powerpoint/2010/main" val="4078689788"/>
              </p:ext>
            </p:extLst>
          </p:nvPr>
        </p:nvGraphicFramePr>
        <p:xfrm>
          <a:off x="10347781" y="3646442"/>
          <a:ext cx="1018332" cy="1166046"/>
        </p:xfrm>
        <a:graphic>
          <a:graphicData uri="http://schemas.openxmlformats.org/drawingml/2006/table">
            <a:tbl>
              <a:tblPr firstRow="1" bandRow="1">
                <a:tableStyleId>{D7AC3CCA-C797-4891-BE02-D94E43425B78}</a:tableStyleId>
              </a:tblPr>
              <a:tblGrid>
                <a:gridCol w="169722">
                  <a:extLst>
                    <a:ext uri="{9D8B030D-6E8A-4147-A177-3AD203B41FA5}">
                      <a16:colId xmlns:a16="http://schemas.microsoft.com/office/drawing/2014/main" val="591458638"/>
                    </a:ext>
                  </a:extLst>
                </a:gridCol>
                <a:gridCol w="169722">
                  <a:extLst>
                    <a:ext uri="{9D8B030D-6E8A-4147-A177-3AD203B41FA5}">
                      <a16:colId xmlns:a16="http://schemas.microsoft.com/office/drawing/2014/main" val="3689723892"/>
                    </a:ext>
                  </a:extLst>
                </a:gridCol>
                <a:gridCol w="169722">
                  <a:extLst>
                    <a:ext uri="{9D8B030D-6E8A-4147-A177-3AD203B41FA5}">
                      <a16:colId xmlns:a16="http://schemas.microsoft.com/office/drawing/2014/main" val="410620895"/>
                    </a:ext>
                  </a:extLst>
                </a:gridCol>
                <a:gridCol w="169722">
                  <a:extLst>
                    <a:ext uri="{9D8B030D-6E8A-4147-A177-3AD203B41FA5}">
                      <a16:colId xmlns:a16="http://schemas.microsoft.com/office/drawing/2014/main" val="1970471051"/>
                    </a:ext>
                  </a:extLst>
                </a:gridCol>
                <a:gridCol w="169722">
                  <a:extLst>
                    <a:ext uri="{9D8B030D-6E8A-4147-A177-3AD203B41FA5}">
                      <a16:colId xmlns:a16="http://schemas.microsoft.com/office/drawing/2014/main" val="18568149"/>
                    </a:ext>
                  </a:extLst>
                </a:gridCol>
                <a:gridCol w="169722">
                  <a:extLst>
                    <a:ext uri="{9D8B030D-6E8A-4147-A177-3AD203B41FA5}">
                      <a16:colId xmlns:a16="http://schemas.microsoft.com/office/drawing/2014/main" val="933254077"/>
                    </a:ext>
                  </a:extLst>
                </a:gridCol>
              </a:tblGrid>
              <a:tr h="194341">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dirty="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extLst>
                  <a:ext uri="{0D108BD9-81ED-4DB2-BD59-A6C34878D82A}">
                    <a16:rowId xmlns:a16="http://schemas.microsoft.com/office/drawing/2014/main" val="730149994"/>
                  </a:ext>
                </a:extLst>
              </a:tr>
              <a:tr h="194341">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extLst>
                  <a:ext uri="{0D108BD9-81ED-4DB2-BD59-A6C34878D82A}">
                    <a16:rowId xmlns:a16="http://schemas.microsoft.com/office/drawing/2014/main" val="1279572824"/>
                  </a:ext>
                </a:extLst>
              </a:tr>
              <a:tr h="194341">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extLst>
                  <a:ext uri="{0D108BD9-81ED-4DB2-BD59-A6C34878D82A}">
                    <a16:rowId xmlns:a16="http://schemas.microsoft.com/office/drawing/2014/main" val="3667834363"/>
                  </a:ext>
                </a:extLst>
              </a:tr>
              <a:tr h="194341">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extLst>
                  <a:ext uri="{0D108BD9-81ED-4DB2-BD59-A6C34878D82A}">
                    <a16:rowId xmlns:a16="http://schemas.microsoft.com/office/drawing/2014/main" val="1547517046"/>
                  </a:ext>
                </a:extLst>
              </a:tr>
              <a:tr h="194341">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extLst>
                  <a:ext uri="{0D108BD9-81ED-4DB2-BD59-A6C34878D82A}">
                    <a16:rowId xmlns:a16="http://schemas.microsoft.com/office/drawing/2014/main" val="3674622576"/>
                  </a:ext>
                </a:extLst>
              </a:tr>
              <a:tr h="194341">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dirty="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dirty="0"/>
                    </a:p>
                  </a:txBody>
                  <a:tcPr marL="48586" marR="48586" marT="24293" marB="24293"/>
                </a:tc>
                <a:extLst>
                  <a:ext uri="{0D108BD9-81ED-4DB2-BD59-A6C34878D82A}">
                    <a16:rowId xmlns:a16="http://schemas.microsoft.com/office/drawing/2014/main" val="2613402699"/>
                  </a:ext>
                </a:extLst>
              </a:tr>
            </a:tbl>
          </a:graphicData>
        </a:graphic>
      </p:graphicFrame>
      <p:sp>
        <p:nvSpPr>
          <p:cNvPr id="86" name="TextBox 85">
            <a:extLst>
              <a:ext uri="{FF2B5EF4-FFF2-40B4-BE49-F238E27FC236}">
                <a16:creationId xmlns:a16="http://schemas.microsoft.com/office/drawing/2014/main" id="{6958133B-46B5-3769-0475-BEA840F046A7}"/>
              </a:ext>
            </a:extLst>
          </p:cNvPr>
          <p:cNvSpPr txBox="1"/>
          <p:nvPr/>
        </p:nvSpPr>
        <p:spPr>
          <a:xfrm>
            <a:off x="9680864" y="4907362"/>
            <a:ext cx="2511136" cy="1754326"/>
          </a:xfrm>
          <a:prstGeom prst="rect">
            <a:avLst/>
          </a:prstGeom>
          <a:noFill/>
        </p:spPr>
        <p:txBody>
          <a:bodyPr wrap="square" rtlCol="0">
            <a:spAutoFit/>
          </a:bodyPr>
          <a:lstStyle/>
          <a:p>
            <a:r>
              <a:rPr lang="en-DK" dirty="0"/>
              <a:t>Abundance table of operational taxonomic units (OTUs) or amplicon sequence variants (ASVs) – resolution up to Genus</a:t>
            </a:r>
          </a:p>
        </p:txBody>
      </p:sp>
      <p:sp>
        <p:nvSpPr>
          <p:cNvPr id="87" name="TextBox 86">
            <a:extLst>
              <a:ext uri="{FF2B5EF4-FFF2-40B4-BE49-F238E27FC236}">
                <a16:creationId xmlns:a16="http://schemas.microsoft.com/office/drawing/2014/main" id="{7E540C71-F4C9-1AC9-D393-D2A3C4B760B5}"/>
              </a:ext>
            </a:extLst>
          </p:cNvPr>
          <p:cNvSpPr txBox="1"/>
          <p:nvPr/>
        </p:nvSpPr>
        <p:spPr>
          <a:xfrm>
            <a:off x="10303011" y="3321960"/>
            <a:ext cx="1094509" cy="369332"/>
          </a:xfrm>
          <a:prstGeom prst="rect">
            <a:avLst/>
          </a:prstGeom>
          <a:noFill/>
        </p:spPr>
        <p:txBody>
          <a:bodyPr wrap="square" rtlCol="0">
            <a:spAutoFit/>
          </a:bodyPr>
          <a:lstStyle/>
          <a:p>
            <a:r>
              <a:rPr lang="en-DK" dirty="0"/>
              <a:t>Samples</a:t>
            </a:r>
          </a:p>
        </p:txBody>
      </p:sp>
      <p:sp>
        <p:nvSpPr>
          <p:cNvPr id="88" name="TextBox 87">
            <a:extLst>
              <a:ext uri="{FF2B5EF4-FFF2-40B4-BE49-F238E27FC236}">
                <a16:creationId xmlns:a16="http://schemas.microsoft.com/office/drawing/2014/main" id="{ACFF833C-A7C5-E5CC-5DE7-7CEA70DA3995}"/>
              </a:ext>
            </a:extLst>
          </p:cNvPr>
          <p:cNvSpPr txBox="1"/>
          <p:nvPr/>
        </p:nvSpPr>
        <p:spPr>
          <a:xfrm rot="16200000">
            <a:off x="9334381" y="3852480"/>
            <a:ext cx="1617517" cy="369332"/>
          </a:xfrm>
          <a:prstGeom prst="rect">
            <a:avLst/>
          </a:prstGeom>
          <a:noFill/>
        </p:spPr>
        <p:txBody>
          <a:bodyPr wrap="square" rtlCol="0">
            <a:spAutoFit/>
          </a:bodyPr>
          <a:lstStyle/>
          <a:p>
            <a:r>
              <a:rPr lang="en-DK" dirty="0"/>
              <a:t>OTUs/ASVs</a:t>
            </a:r>
          </a:p>
        </p:txBody>
      </p:sp>
      <p:sp>
        <p:nvSpPr>
          <p:cNvPr id="89" name="TextBox 88">
            <a:extLst>
              <a:ext uri="{FF2B5EF4-FFF2-40B4-BE49-F238E27FC236}">
                <a16:creationId xmlns:a16="http://schemas.microsoft.com/office/drawing/2014/main" id="{197BE251-EEBF-4B25-CAE1-F7EEAD660BAB}"/>
              </a:ext>
            </a:extLst>
          </p:cNvPr>
          <p:cNvSpPr txBox="1"/>
          <p:nvPr/>
        </p:nvSpPr>
        <p:spPr>
          <a:xfrm>
            <a:off x="9695638" y="2105976"/>
            <a:ext cx="2309254" cy="1200329"/>
          </a:xfrm>
          <a:prstGeom prst="rect">
            <a:avLst/>
          </a:prstGeom>
          <a:noFill/>
        </p:spPr>
        <p:txBody>
          <a:bodyPr wrap="square" rtlCol="0">
            <a:spAutoFit/>
          </a:bodyPr>
          <a:lstStyle/>
          <a:p>
            <a:r>
              <a:rPr lang="en-DK" dirty="0"/>
              <a:t>Bin by operational taxonomic units and compare to known 16S databases</a:t>
            </a:r>
          </a:p>
        </p:txBody>
      </p:sp>
      <p:pic>
        <p:nvPicPr>
          <p:cNvPr id="90" name="Picture 4" descr="The SILVA Database Project: An ELIXIR core data resource for high-quality  ribosomal RNA sequences">
            <a:extLst>
              <a:ext uri="{FF2B5EF4-FFF2-40B4-BE49-F238E27FC236}">
                <a16:creationId xmlns:a16="http://schemas.microsoft.com/office/drawing/2014/main" id="{AB565F75-31EC-6A1C-D354-E30C64529D7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964510" y="94117"/>
            <a:ext cx="1624817" cy="646331"/>
          </a:xfrm>
          <a:prstGeom prst="rect">
            <a:avLst/>
          </a:prstGeom>
          <a:noFill/>
          <a:extLst>
            <a:ext uri="{909E8E84-426E-40DD-AFC4-6F175D3DCCD1}">
              <a14:hiddenFill xmlns:a14="http://schemas.microsoft.com/office/drawing/2010/main">
                <a:solidFill>
                  <a:srgbClr val="FFFFFF"/>
                </a:solidFill>
              </a14:hiddenFill>
            </a:ext>
          </a:extLst>
        </p:spPr>
      </p:pic>
      <p:pic>
        <p:nvPicPr>
          <p:cNvPr id="91" name="Picture 6" descr="greengenes.lbl.gov - Aligned 16S rDNA data and tools">
            <a:extLst>
              <a:ext uri="{FF2B5EF4-FFF2-40B4-BE49-F238E27FC236}">
                <a16:creationId xmlns:a16="http://schemas.microsoft.com/office/drawing/2014/main" id="{1C326427-F15A-E06C-1608-75532D42F3C2}"/>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0015494" y="1004789"/>
            <a:ext cx="1522847" cy="1025435"/>
          </a:xfrm>
          <a:prstGeom prst="rect">
            <a:avLst/>
          </a:prstGeom>
          <a:noFill/>
          <a:extLst>
            <a:ext uri="{909E8E84-426E-40DD-AFC4-6F175D3DCCD1}">
              <a14:hiddenFill xmlns:a14="http://schemas.microsoft.com/office/drawing/2010/main">
                <a:solidFill>
                  <a:srgbClr val="FFFFFF"/>
                </a:solidFill>
              </a14:hiddenFill>
            </a:ext>
          </a:extLst>
        </p:spPr>
      </p:pic>
      <p:pic>
        <p:nvPicPr>
          <p:cNvPr id="2050" name="Picture 2">
            <a:extLst>
              <a:ext uri="{FF2B5EF4-FFF2-40B4-BE49-F238E27FC236}">
                <a16:creationId xmlns:a16="http://schemas.microsoft.com/office/drawing/2014/main" id="{D15CE59C-8215-782B-B9E1-1223DFF3A000}"/>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8123303" y="303789"/>
            <a:ext cx="1367047" cy="450698"/>
          </a:xfrm>
          <a:prstGeom prst="rect">
            <a:avLst/>
          </a:prstGeom>
          <a:noFill/>
          <a:extLst>
            <a:ext uri="{909E8E84-426E-40DD-AFC4-6F175D3DCCD1}">
              <a14:hiddenFill xmlns:a14="http://schemas.microsoft.com/office/drawing/2010/main">
                <a:solidFill>
                  <a:srgbClr val="FFFFFF"/>
                </a:solidFill>
              </a14:hiddenFill>
            </a:ext>
          </a:extLst>
        </p:spPr>
      </p:pic>
      <p:sp>
        <p:nvSpPr>
          <p:cNvPr id="93" name="TextBox 92">
            <a:extLst>
              <a:ext uri="{FF2B5EF4-FFF2-40B4-BE49-F238E27FC236}">
                <a16:creationId xmlns:a16="http://schemas.microsoft.com/office/drawing/2014/main" id="{7A12ECE4-5277-AFE1-86E2-6139A52112F5}"/>
              </a:ext>
            </a:extLst>
          </p:cNvPr>
          <p:cNvSpPr txBox="1"/>
          <p:nvPr/>
        </p:nvSpPr>
        <p:spPr>
          <a:xfrm>
            <a:off x="7564675" y="755171"/>
            <a:ext cx="2270817" cy="1169551"/>
          </a:xfrm>
          <a:prstGeom prst="rect">
            <a:avLst/>
          </a:prstGeom>
          <a:noFill/>
        </p:spPr>
        <p:txBody>
          <a:bodyPr wrap="square" rtlCol="0">
            <a:spAutoFit/>
          </a:bodyPr>
          <a:lstStyle/>
          <a:p>
            <a:r>
              <a:rPr lang="en-GB" sz="1400" dirty="0"/>
              <a:t>assign taxonomy directly to the amplicon sequence variants therefore allowing more precise taxonomic placement than OTUs</a:t>
            </a:r>
            <a:endParaRPr lang="en-DK" sz="1400" dirty="0"/>
          </a:p>
        </p:txBody>
      </p:sp>
    </p:spTree>
    <p:extLst>
      <p:ext uri="{BB962C8B-B14F-4D97-AF65-F5344CB8AC3E}">
        <p14:creationId xmlns:p14="http://schemas.microsoft.com/office/powerpoint/2010/main" val="47731791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76" name="Straight Connector 75">
            <a:extLst>
              <a:ext uri="{FF2B5EF4-FFF2-40B4-BE49-F238E27FC236}">
                <a16:creationId xmlns:a16="http://schemas.microsoft.com/office/drawing/2014/main" id="{9C57690A-64C2-A7B2-5E22-4C1163053BA7}"/>
              </a:ext>
            </a:extLst>
          </p:cNvPr>
          <p:cNvCxnSpPr>
            <a:cxnSpLocks/>
          </p:cNvCxnSpPr>
          <p:nvPr/>
        </p:nvCxnSpPr>
        <p:spPr>
          <a:xfrm flipV="1">
            <a:off x="7645512" y="1458014"/>
            <a:ext cx="4574932" cy="1929"/>
          </a:xfrm>
          <a:prstGeom prst="line">
            <a:avLst/>
          </a:prstGeom>
          <a:ln w="19050">
            <a:prstDash val="sysDash"/>
          </a:ln>
        </p:spPr>
        <p:style>
          <a:lnRef idx="2">
            <a:schemeClr val="accent1"/>
          </a:lnRef>
          <a:fillRef idx="0">
            <a:schemeClr val="accent1"/>
          </a:fillRef>
          <a:effectRef idx="1">
            <a:schemeClr val="accent1"/>
          </a:effectRef>
          <a:fontRef idx="minor">
            <a:schemeClr val="tx1"/>
          </a:fontRef>
        </p:style>
      </p:cxnSp>
      <p:sp>
        <p:nvSpPr>
          <p:cNvPr id="2" name="Title 1">
            <a:extLst>
              <a:ext uri="{FF2B5EF4-FFF2-40B4-BE49-F238E27FC236}">
                <a16:creationId xmlns:a16="http://schemas.microsoft.com/office/drawing/2014/main" id="{5623EED1-830F-8DD0-B885-891F0FB07BC3}"/>
              </a:ext>
            </a:extLst>
          </p:cNvPr>
          <p:cNvSpPr>
            <a:spLocks noGrp="1"/>
          </p:cNvSpPr>
          <p:nvPr>
            <p:ph type="title"/>
          </p:nvPr>
        </p:nvSpPr>
        <p:spPr/>
        <p:txBody>
          <a:bodyPr/>
          <a:lstStyle/>
          <a:p>
            <a:r>
              <a:rPr lang="en-DK" dirty="0"/>
              <a:t>Reference-based methods</a:t>
            </a:r>
          </a:p>
        </p:txBody>
      </p:sp>
      <p:sp>
        <p:nvSpPr>
          <p:cNvPr id="5" name="Oval 4">
            <a:extLst>
              <a:ext uri="{FF2B5EF4-FFF2-40B4-BE49-F238E27FC236}">
                <a16:creationId xmlns:a16="http://schemas.microsoft.com/office/drawing/2014/main" id="{F69BDDE5-342F-A50B-C679-B9812374EC11}"/>
              </a:ext>
            </a:extLst>
          </p:cNvPr>
          <p:cNvSpPr/>
          <p:nvPr/>
        </p:nvSpPr>
        <p:spPr>
          <a:xfrm>
            <a:off x="484902" y="1981200"/>
            <a:ext cx="955964" cy="955964"/>
          </a:xfrm>
          <a:prstGeom prst="ellipse">
            <a:avLst/>
          </a:prstGeom>
          <a:noFill/>
          <a:ln w="38100">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8" name="Oval 7">
            <a:extLst>
              <a:ext uri="{FF2B5EF4-FFF2-40B4-BE49-F238E27FC236}">
                <a16:creationId xmlns:a16="http://schemas.microsoft.com/office/drawing/2014/main" id="{E2DD292C-69C7-1B80-03F1-3FAF6F083719}"/>
              </a:ext>
            </a:extLst>
          </p:cNvPr>
          <p:cNvSpPr/>
          <p:nvPr/>
        </p:nvSpPr>
        <p:spPr>
          <a:xfrm>
            <a:off x="1558583" y="1626987"/>
            <a:ext cx="955964" cy="955964"/>
          </a:xfrm>
          <a:prstGeom prst="ellipse">
            <a:avLst/>
          </a:prstGeom>
          <a:noFill/>
          <a:ln w="38100">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11" name="Oval 10">
            <a:extLst>
              <a:ext uri="{FF2B5EF4-FFF2-40B4-BE49-F238E27FC236}">
                <a16:creationId xmlns:a16="http://schemas.microsoft.com/office/drawing/2014/main" id="{B5638A0B-1DEC-22B9-1745-D9CA88F4519F}"/>
              </a:ext>
            </a:extLst>
          </p:cNvPr>
          <p:cNvSpPr/>
          <p:nvPr/>
        </p:nvSpPr>
        <p:spPr>
          <a:xfrm>
            <a:off x="477976" y="3435289"/>
            <a:ext cx="955964" cy="955964"/>
          </a:xfrm>
          <a:prstGeom prst="ellipse">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14" name="Oval 13">
            <a:extLst>
              <a:ext uri="{FF2B5EF4-FFF2-40B4-BE49-F238E27FC236}">
                <a16:creationId xmlns:a16="http://schemas.microsoft.com/office/drawing/2014/main" id="{8165C1B1-EFD6-E13B-DCF5-D9038C0DEC87}"/>
              </a:ext>
            </a:extLst>
          </p:cNvPr>
          <p:cNvSpPr/>
          <p:nvPr/>
        </p:nvSpPr>
        <p:spPr>
          <a:xfrm>
            <a:off x="1724810" y="2937048"/>
            <a:ext cx="955964" cy="955964"/>
          </a:xfrm>
          <a:prstGeom prst="ellipse">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17" name="Oval 16">
            <a:extLst>
              <a:ext uri="{FF2B5EF4-FFF2-40B4-BE49-F238E27FC236}">
                <a16:creationId xmlns:a16="http://schemas.microsoft.com/office/drawing/2014/main" id="{F10C8EA6-8BD4-05D9-CD56-EB5EAF324689}"/>
              </a:ext>
            </a:extLst>
          </p:cNvPr>
          <p:cNvSpPr/>
          <p:nvPr/>
        </p:nvSpPr>
        <p:spPr>
          <a:xfrm>
            <a:off x="477976" y="4778449"/>
            <a:ext cx="955964" cy="955964"/>
          </a:xfrm>
          <a:prstGeom prst="ellipse">
            <a:avLst/>
          </a:prstGeom>
          <a:noFill/>
          <a:ln w="3810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20" name="Oval 19">
            <a:extLst>
              <a:ext uri="{FF2B5EF4-FFF2-40B4-BE49-F238E27FC236}">
                <a16:creationId xmlns:a16="http://schemas.microsoft.com/office/drawing/2014/main" id="{EACD391D-25A6-592B-BDAC-482C04DB258E}"/>
              </a:ext>
            </a:extLst>
          </p:cNvPr>
          <p:cNvSpPr/>
          <p:nvPr/>
        </p:nvSpPr>
        <p:spPr>
          <a:xfrm>
            <a:off x="1484099" y="4061515"/>
            <a:ext cx="955964" cy="955964"/>
          </a:xfrm>
          <a:prstGeom prst="ellipse">
            <a:avLst/>
          </a:prstGeom>
          <a:noFill/>
          <a:ln w="381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cxnSp>
        <p:nvCxnSpPr>
          <p:cNvPr id="23" name="Straight Connector 22">
            <a:extLst>
              <a:ext uri="{FF2B5EF4-FFF2-40B4-BE49-F238E27FC236}">
                <a16:creationId xmlns:a16="http://schemas.microsoft.com/office/drawing/2014/main" id="{7AB9AA45-F8E6-5FCC-29AF-A3359C94B103}"/>
              </a:ext>
            </a:extLst>
          </p:cNvPr>
          <p:cNvCxnSpPr/>
          <p:nvPr/>
        </p:nvCxnSpPr>
        <p:spPr>
          <a:xfrm>
            <a:off x="3283506" y="2604654"/>
            <a:ext cx="678873"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7C661645-1F65-140F-5637-E9C06A9695FD}"/>
              </a:ext>
            </a:extLst>
          </p:cNvPr>
          <p:cNvCxnSpPr/>
          <p:nvPr/>
        </p:nvCxnSpPr>
        <p:spPr>
          <a:xfrm>
            <a:off x="4128633" y="4471553"/>
            <a:ext cx="678873"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E3199406-BF6E-0E21-3CF4-1D0C5059E101}"/>
              </a:ext>
            </a:extLst>
          </p:cNvPr>
          <p:cNvCxnSpPr/>
          <p:nvPr/>
        </p:nvCxnSpPr>
        <p:spPr>
          <a:xfrm>
            <a:off x="3588306" y="2909454"/>
            <a:ext cx="678873"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2D66E4FD-41E5-D61B-3D9C-8F788B0CF7A1}"/>
              </a:ext>
            </a:extLst>
          </p:cNvPr>
          <p:cNvCxnSpPr/>
          <p:nvPr/>
        </p:nvCxnSpPr>
        <p:spPr>
          <a:xfrm>
            <a:off x="3775342" y="4283424"/>
            <a:ext cx="678873"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CC4BC921-DFC1-90D6-7C10-47791077518B}"/>
              </a:ext>
            </a:extLst>
          </p:cNvPr>
          <p:cNvCxnSpPr/>
          <p:nvPr/>
        </p:nvCxnSpPr>
        <p:spPr>
          <a:xfrm>
            <a:off x="3172669" y="3216624"/>
            <a:ext cx="678873"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174E6D05-4656-34B6-6B9E-3B5EF74A6D58}"/>
              </a:ext>
            </a:extLst>
          </p:cNvPr>
          <p:cNvCxnSpPr/>
          <p:nvPr/>
        </p:nvCxnSpPr>
        <p:spPr>
          <a:xfrm>
            <a:off x="4045506" y="3366654"/>
            <a:ext cx="678873"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03687342-5EE9-596C-FB69-810EF4979C55}"/>
              </a:ext>
            </a:extLst>
          </p:cNvPr>
          <p:cNvCxnSpPr/>
          <p:nvPr/>
        </p:nvCxnSpPr>
        <p:spPr>
          <a:xfrm>
            <a:off x="3345851" y="3519054"/>
            <a:ext cx="6788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AF621A5A-AF1E-31BB-0BDF-4EDC2EDA7E55}"/>
              </a:ext>
            </a:extLst>
          </p:cNvPr>
          <p:cNvCxnSpPr/>
          <p:nvPr/>
        </p:nvCxnSpPr>
        <p:spPr>
          <a:xfrm>
            <a:off x="3622942" y="4128654"/>
            <a:ext cx="6788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31" name="Straight Connector 30">
            <a:extLst>
              <a:ext uri="{FF2B5EF4-FFF2-40B4-BE49-F238E27FC236}">
                <a16:creationId xmlns:a16="http://schemas.microsoft.com/office/drawing/2014/main" id="{D31828F9-ECF5-3673-89CB-792CD9AA3BC4}"/>
              </a:ext>
            </a:extLst>
          </p:cNvPr>
          <p:cNvCxnSpPr/>
          <p:nvPr/>
        </p:nvCxnSpPr>
        <p:spPr>
          <a:xfrm>
            <a:off x="3325077" y="3061854"/>
            <a:ext cx="6788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32" name="Straight Connector 31">
            <a:extLst>
              <a:ext uri="{FF2B5EF4-FFF2-40B4-BE49-F238E27FC236}">
                <a16:creationId xmlns:a16="http://schemas.microsoft.com/office/drawing/2014/main" id="{8E141564-3B16-27C3-0ABE-7DB47530CC87}"/>
              </a:ext>
            </a:extLst>
          </p:cNvPr>
          <p:cNvCxnSpPr/>
          <p:nvPr/>
        </p:nvCxnSpPr>
        <p:spPr>
          <a:xfrm>
            <a:off x="4350306" y="3805442"/>
            <a:ext cx="6788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33" name="Straight Connector 32">
            <a:extLst>
              <a:ext uri="{FF2B5EF4-FFF2-40B4-BE49-F238E27FC236}">
                <a16:creationId xmlns:a16="http://schemas.microsoft.com/office/drawing/2014/main" id="{DCAC00DA-D712-79DE-C8AF-C280FEE9B701}"/>
              </a:ext>
            </a:extLst>
          </p:cNvPr>
          <p:cNvCxnSpPr/>
          <p:nvPr/>
        </p:nvCxnSpPr>
        <p:spPr>
          <a:xfrm>
            <a:off x="3712997" y="5320145"/>
            <a:ext cx="6788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34" name="Straight Connector 33">
            <a:extLst>
              <a:ext uri="{FF2B5EF4-FFF2-40B4-BE49-F238E27FC236}">
                <a16:creationId xmlns:a16="http://schemas.microsoft.com/office/drawing/2014/main" id="{B77A6B74-820C-56D6-5022-F743A28E159C}"/>
              </a:ext>
            </a:extLst>
          </p:cNvPr>
          <p:cNvCxnSpPr/>
          <p:nvPr/>
        </p:nvCxnSpPr>
        <p:spPr>
          <a:xfrm>
            <a:off x="3117251" y="3694606"/>
            <a:ext cx="678873"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35" name="Straight Connector 34">
            <a:extLst>
              <a:ext uri="{FF2B5EF4-FFF2-40B4-BE49-F238E27FC236}">
                <a16:creationId xmlns:a16="http://schemas.microsoft.com/office/drawing/2014/main" id="{783B86AA-9A53-6847-6A99-CD49B8AA6F7D}"/>
              </a:ext>
            </a:extLst>
          </p:cNvPr>
          <p:cNvCxnSpPr/>
          <p:nvPr/>
        </p:nvCxnSpPr>
        <p:spPr>
          <a:xfrm>
            <a:off x="4689742" y="3976254"/>
            <a:ext cx="678873"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36" name="Straight Connector 35">
            <a:extLst>
              <a:ext uri="{FF2B5EF4-FFF2-40B4-BE49-F238E27FC236}">
                <a16:creationId xmlns:a16="http://schemas.microsoft.com/office/drawing/2014/main" id="{6602008E-F452-B7D2-4186-3241081E25DC}"/>
              </a:ext>
            </a:extLst>
          </p:cNvPr>
          <p:cNvCxnSpPr/>
          <p:nvPr/>
        </p:nvCxnSpPr>
        <p:spPr>
          <a:xfrm>
            <a:off x="4391869" y="3216624"/>
            <a:ext cx="678873"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37" name="Straight Connector 36">
            <a:extLst>
              <a:ext uri="{FF2B5EF4-FFF2-40B4-BE49-F238E27FC236}">
                <a16:creationId xmlns:a16="http://schemas.microsoft.com/office/drawing/2014/main" id="{98EF766B-6FE3-34D1-52AA-72CEB225B849}"/>
              </a:ext>
            </a:extLst>
          </p:cNvPr>
          <p:cNvCxnSpPr/>
          <p:nvPr/>
        </p:nvCxnSpPr>
        <p:spPr>
          <a:xfrm>
            <a:off x="4281033" y="4623953"/>
            <a:ext cx="678873" cy="0"/>
          </a:xfrm>
          <a:prstGeom prst="line">
            <a:avLst/>
          </a:prstGeom>
          <a:ln w="38100">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38" name="Straight Connector 37">
            <a:extLst>
              <a:ext uri="{FF2B5EF4-FFF2-40B4-BE49-F238E27FC236}">
                <a16:creationId xmlns:a16="http://schemas.microsoft.com/office/drawing/2014/main" id="{B0742118-D8D2-3E55-3469-96D071D8880A}"/>
              </a:ext>
            </a:extLst>
          </p:cNvPr>
          <p:cNvCxnSpPr/>
          <p:nvPr/>
        </p:nvCxnSpPr>
        <p:spPr>
          <a:xfrm>
            <a:off x="4384942" y="3529444"/>
            <a:ext cx="678873" cy="0"/>
          </a:xfrm>
          <a:prstGeom prst="line">
            <a:avLst/>
          </a:prstGeom>
          <a:ln w="38100">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39" name="Straight Connector 38">
            <a:extLst>
              <a:ext uri="{FF2B5EF4-FFF2-40B4-BE49-F238E27FC236}">
                <a16:creationId xmlns:a16="http://schemas.microsoft.com/office/drawing/2014/main" id="{ABD284D8-9A12-435A-CF81-2A822FC2F327}"/>
              </a:ext>
            </a:extLst>
          </p:cNvPr>
          <p:cNvCxnSpPr/>
          <p:nvPr/>
        </p:nvCxnSpPr>
        <p:spPr>
          <a:xfrm>
            <a:off x="3248875" y="3976254"/>
            <a:ext cx="678873" cy="0"/>
          </a:xfrm>
          <a:prstGeom prst="line">
            <a:avLst/>
          </a:prstGeom>
          <a:ln w="38100">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40" name="Straight Connector 39">
            <a:extLst>
              <a:ext uri="{FF2B5EF4-FFF2-40B4-BE49-F238E27FC236}">
                <a16:creationId xmlns:a16="http://schemas.microsoft.com/office/drawing/2014/main" id="{C1842F0D-EDEF-DB14-28BA-3A68ADCC0D06}"/>
              </a:ext>
            </a:extLst>
          </p:cNvPr>
          <p:cNvCxnSpPr/>
          <p:nvPr/>
        </p:nvCxnSpPr>
        <p:spPr>
          <a:xfrm>
            <a:off x="4308742" y="2604654"/>
            <a:ext cx="678873" cy="0"/>
          </a:xfrm>
          <a:prstGeom prst="line">
            <a:avLst/>
          </a:prstGeom>
          <a:ln w="38100">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41" name="Straight Connector 40">
            <a:extLst>
              <a:ext uri="{FF2B5EF4-FFF2-40B4-BE49-F238E27FC236}">
                <a16:creationId xmlns:a16="http://schemas.microsoft.com/office/drawing/2014/main" id="{45CC387E-E3D2-51A4-F2C7-0DCA600CEBD7}"/>
              </a:ext>
            </a:extLst>
          </p:cNvPr>
          <p:cNvCxnSpPr/>
          <p:nvPr/>
        </p:nvCxnSpPr>
        <p:spPr>
          <a:xfrm>
            <a:off x="3172668" y="4615933"/>
            <a:ext cx="678873"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309ACF3D-C6E8-EF65-46AE-AC652C20BBD7}"/>
              </a:ext>
            </a:extLst>
          </p:cNvPr>
          <p:cNvCxnSpPr/>
          <p:nvPr/>
        </p:nvCxnSpPr>
        <p:spPr>
          <a:xfrm>
            <a:off x="3345850" y="4918363"/>
            <a:ext cx="6788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43" name="Straight Connector 42">
            <a:extLst>
              <a:ext uri="{FF2B5EF4-FFF2-40B4-BE49-F238E27FC236}">
                <a16:creationId xmlns:a16="http://schemas.microsoft.com/office/drawing/2014/main" id="{0C289294-D4C6-FD33-61C2-CBDF3BF104A6}"/>
              </a:ext>
            </a:extLst>
          </p:cNvPr>
          <p:cNvCxnSpPr/>
          <p:nvPr/>
        </p:nvCxnSpPr>
        <p:spPr>
          <a:xfrm>
            <a:off x="3325076" y="4461163"/>
            <a:ext cx="6788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44" name="Straight Connector 43">
            <a:extLst>
              <a:ext uri="{FF2B5EF4-FFF2-40B4-BE49-F238E27FC236}">
                <a16:creationId xmlns:a16="http://schemas.microsoft.com/office/drawing/2014/main" id="{6B5C41EF-C781-BD77-523F-2AAF090F862F}"/>
              </a:ext>
            </a:extLst>
          </p:cNvPr>
          <p:cNvCxnSpPr/>
          <p:nvPr/>
        </p:nvCxnSpPr>
        <p:spPr>
          <a:xfrm>
            <a:off x="3117250" y="5093915"/>
            <a:ext cx="678873"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37F09688-D888-7A3D-C900-A8FD853CF878}"/>
              </a:ext>
            </a:extLst>
          </p:cNvPr>
          <p:cNvCxnSpPr/>
          <p:nvPr/>
        </p:nvCxnSpPr>
        <p:spPr>
          <a:xfrm>
            <a:off x="4059361" y="5080061"/>
            <a:ext cx="678873" cy="0"/>
          </a:xfrm>
          <a:prstGeom prst="line">
            <a:avLst/>
          </a:prstGeom>
          <a:ln w="38100">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sp>
        <p:nvSpPr>
          <p:cNvPr id="46" name="TextBox 45">
            <a:extLst>
              <a:ext uri="{FF2B5EF4-FFF2-40B4-BE49-F238E27FC236}">
                <a16:creationId xmlns:a16="http://schemas.microsoft.com/office/drawing/2014/main" id="{54DB2686-DEDF-FBC0-EB45-8A0EEEBE402D}"/>
              </a:ext>
            </a:extLst>
          </p:cNvPr>
          <p:cNvSpPr txBox="1"/>
          <p:nvPr/>
        </p:nvSpPr>
        <p:spPr>
          <a:xfrm>
            <a:off x="464649" y="5829298"/>
            <a:ext cx="2512875" cy="923330"/>
          </a:xfrm>
          <a:prstGeom prst="rect">
            <a:avLst/>
          </a:prstGeom>
          <a:noFill/>
        </p:spPr>
        <p:txBody>
          <a:bodyPr wrap="square" rtlCol="0">
            <a:spAutoFit/>
          </a:bodyPr>
          <a:lstStyle/>
          <a:p>
            <a:r>
              <a:rPr lang="en-DK" dirty="0"/>
              <a:t>Microbial genomes in your sample from different organisms</a:t>
            </a:r>
          </a:p>
        </p:txBody>
      </p:sp>
      <p:sp>
        <p:nvSpPr>
          <p:cNvPr id="47" name="TextBox 46">
            <a:extLst>
              <a:ext uri="{FF2B5EF4-FFF2-40B4-BE49-F238E27FC236}">
                <a16:creationId xmlns:a16="http://schemas.microsoft.com/office/drawing/2014/main" id="{D7136B39-DF79-F5AA-46F9-F742D45238F7}"/>
              </a:ext>
            </a:extLst>
          </p:cNvPr>
          <p:cNvSpPr txBox="1"/>
          <p:nvPr/>
        </p:nvSpPr>
        <p:spPr>
          <a:xfrm>
            <a:off x="2917822" y="5427973"/>
            <a:ext cx="2661575" cy="1477328"/>
          </a:xfrm>
          <a:prstGeom prst="rect">
            <a:avLst/>
          </a:prstGeom>
          <a:noFill/>
        </p:spPr>
        <p:txBody>
          <a:bodyPr wrap="square" rtlCol="0">
            <a:spAutoFit/>
          </a:bodyPr>
          <a:lstStyle/>
          <a:p>
            <a:r>
              <a:rPr lang="en-DK" dirty="0"/>
              <a:t>Randomly shattering them into fragments of relatively equal length (150-300 bps) - no PCR amplification</a:t>
            </a:r>
          </a:p>
        </p:txBody>
      </p:sp>
      <p:sp>
        <p:nvSpPr>
          <p:cNvPr id="48" name="TextBox 47">
            <a:extLst>
              <a:ext uri="{FF2B5EF4-FFF2-40B4-BE49-F238E27FC236}">
                <a16:creationId xmlns:a16="http://schemas.microsoft.com/office/drawing/2014/main" id="{9C7F876D-4180-E81A-9C11-2CD4215FC728}"/>
              </a:ext>
            </a:extLst>
          </p:cNvPr>
          <p:cNvSpPr txBox="1"/>
          <p:nvPr/>
        </p:nvSpPr>
        <p:spPr>
          <a:xfrm>
            <a:off x="5774394" y="5737800"/>
            <a:ext cx="2661575" cy="646331"/>
          </a:xfrm>
          <a:prstGeom prst="rect">
            <a:avLst/>
          </a:prstGeom>
          <a:noFill/>
        </p:spPr>
        <p:txBody>
          <a:bodyPr wrap="square" rtlCol="0">
            <a:spAutoFit/>
          </a:bodyPr>
          <a:lstStyle/>
          <a:p>
            <a:r>
              <a:rPr lang="en-DK" dirty="0"/>
              <a:t>Sequence all fragments (millions per sample)</a:t>
            </a:r>
          </a:p>
        </p:txBody>
      </p:sp>
      <p:sp>
        <p:nvSpPr>
          <p:cNvPr id="49" name="TextBox 48">
            <a:extLst>
              <a:ext uri="{FF2B5EF4-FFF2-40B4-BE49-F238E27FC236}">
                <a16:creationId xmlns:a16="http://schemas.microsoft.com/office/drawing/2014/main" id="{B79E9F4C-C4AE-A0C3-A1E5-C7D9661C950D}"/>
              </a:ext>
            </a:extLst>
          </p:cNvPr>
          <p:cNvSpPr txBox="1"/>
          <p:nvPr/>
        </p:nvSpPr>
        <p:spPr>
          <a:xfrm>
            <a:off x="6327453" y="3009019"/>
            <a:ext cx="1801091" cy="246221"/>
          </a:xfrm>
          <a:prstGeom prst="rect">
            <a:avLst/>
          </a:prstGeom>
          <a:noFill/>
        </p:spPr>
        <p:txBody>
          <a:bodyPr wrap="square" rtlCol="0">
            <a:spAutoFit/>
          </a:bodyPr>
          <a:lstStyle/>
          <a:p>
            <a:r>
              <a:rPr lang="en-DK" sz="1000" b="1" dirty="0">
                <a:solidFill>
                  <a:srgbClr val="FF0000"/>
                </a:solidFill>
              </a:rPr>
              <a:t>AACAACCGAGATATGC</a:t>
            </a:r>
          </a:p>
        </p:txBody>
      </p:sp>
      <p:sp>
        <p:nvSpPr>
          <p:cNvPr id="52" name="TextBox 51">
            <a:extLst>
              <a:ext uri="{FF2B5EF4-FFF2-40B4-BE49-F238E27FC236}">
                <a16:creationId xmlns:a16="http://schemas.microsoft.com/office/drawing/2014/main" id="{3EFB10D2-3C64-E839-8247-ED240BCD8148}"/>
              </a:ext>
            </a:extLst>
          </p:cNvPr>
          <p:cNvSpPr txBox="1"/>
          <p:nvPr/>
        </p:nvSpPr>
        <p:spPr>
          <a:xfrm>
            <a:off x="5701837" y="2367269"/>
            <a:ext cx="1801091" cy="246221"/>
          </a:xfrm>
          <a:prstGeom prst="rect">
            <a:avLst/>
          </a:prstGeom>
          <a:noFill/>
        </p:spPr>
        <p:txBody>
          <a:bodyPr wrap="square" rtlCol="0">
            <a:spAutoFit/>
          </a:bodyPr>
          <a:lstStyle/>
          <a:p>
            <a:r>
              <a:rPr lang="en-DK" sz="1000" b="1" dirty="0">
                <a:solidFill>
                  <a:srgbClr val="FF0000"/>
                </a:solidFill>
              </a:rPr>
              <a:t>TTCAACCGAGATATGC</a:t>
            </a:r>
          </a:p>
        </p:txBody>
      </p:sp>
      <p:sp>
        <p:nvSpPr>
          <p:cNvPr id="53" name="TextBox 52">
            <a:extLst>
              <a:ext uri="{FF2B5EF4-FFF2-40B4-BE49-F238E27FC236}">
                <a16:creationId xmlns:a16="http://schemas.microsoft.com/office/drawing/2014/main" id="{5EEFDF18-952D-79C4-D42A-A6CDE0A1DE98}"/>
              </a:ext>
            </a:extLst>
          </p:cNvPr>
          <p:cNvSpPr txBox="1"/>
          <p:nvPr/>
        </p:nvSpPr>
        <p:spPr>
          <a:xfrm>
            <a:off x="9919787" y="1520801"/>
            <a:ext cx="1801091" cy="246221"/>
          </a:xfrm>
          <a:prstGeom prst="rect">
            <a:avLst/>
          </a:prstGeom>
          <a:noFill/>
        </p:spPr>
        <p:txBody>
          <a:bodyPr wrap="square" rtlCol="0">
            <a:spAutoFit/>
          </a:bodyPr>
          <a:lstStyle/>
          <a:p>
            <a:r>
              <a:rPr lang="en-DK" sz="1000" b="1" dirty="0">
                <a:solidFill>
                  <a:schemeClr val="tx2">
                    <a:lumMod val="75000"/>
                    <a:lumOff val="25000"/>
                  </a:schemeClr>
                </a:solidFill>
              </a:rPr>
              <a:t>TTCAACGGAGATATGC</a:t>
            </a:r>
          </a:p>
        </p:txBody>
      </p:sp>
      <p:sp>
        <p:nvSpPr>
          <p:cNvPr id="54" name="TextBox 53">
            <a:extLst>
              <a:ext uri="{FF2B5EF4-FFF2-40B4-BE49-F238E27FC236}">
                <a16:creationId xmlns:a16="http://schemas.microsoft.com/office/drawing/2014/main" id="{EDBF282A-C2FA-5B21-05FA-512E4BF3624C}"/>
              </a:ext>
            </a:extLst>
          </p:cNvPr>
          <p:cNvSpPr txBox="1"/>
          <p:nvPr/>
        </p:nvSpPr>
        <p:spPr>
          <a:xfrm>
            <a:off x="5774394" y="4529629"/>
            <a:ext cx="1801091" cy="246221"/>
          </a:xfrm>
          <a:prstGeom prst="rect">
            <a:avLst/>
          </a:prstGeom>
          <a:noFill/>
        </p:spPr>
        <p:txBody>
          <a:bodyPr wrap="square" rtlCol="0">
            <a:spAutoFit/>
          </a:bodyPr>
          <a:lstStyle/>
          <a:p>
            <a:r>
              <a:rPr lang="en-DK" sz="1000" b="1" dirty="0">
                <a:solidFill>
                  <a:srgbClr val="FF0000"/>
                </a:solidFill>
              </a:rPr>
              <a:t>ATCAACACATATGC</a:t>
            </a:r>
          </a:p>
        </p:txBody>
      </p:sp>
      <p:sp>
        <p:nvSpPr>
          <p:cNvPr id="55" name="TextBox 54">
            <a:extLst>
              <a:ext uri="{FF2B5EF4-FFF2-40B4-BE49-F238E27FC236}">
                <a16:creationId xmlns:a16="http://schemas.microsoft.com/office/drawing/2014/main" id="{745F892E-713A-726E-4AB0-4C7F13A07255}"/>
              </a:ext>
            </a:extLst>
          </p:cNvPr>
          <p:cNvSpPr txBox="1"/>
          <p:nvPr/>
        </p:nvSpPr>
        <p:spPr>
          <a:xfrm>
            <a:off x="5903075" y="3143447"/>
            <a:ext cx="1801091" cy="246221"/>
          </a:xfrm>
          <a:prstGeom prst="rect">
            <a:avLst/>
          </a:prstGeom>
          <a:noFill/>
        </p:spPr>
        <p:txBody>
          <a:bodyPr wrap="square" rtlCol="0">
            <a:spAutoFit/>
          </a:bodyPr>
          <a:lstStyle/>
          <a:p>
            <a:r>
              <a:rPr lang="en-DK" sz="1000" b="1" dirty="0">
                <a:solidFill>
                  <a:schemeClr val="tx2">
                    <a:lumMod val="75000"/>
                    <a:lumOff val="25000"/>
                  </a:schemeClr>
                </a:solidFill>
              </a:rPr>
              <a:t>TTCAACCGAGATATGC</a:t>
            </a:r>
          </a:p>
        </p:txBody>
      </p:sp>
      <p:sp>
        <p:nvSpPr>
          <p:cNvPr id="56" name="TextBox 55">
            <a:extLst>
              <a:ext uri="{FF2B5EF4-FFF2-40B4-BE49-F238E27FC236}">
                <a16:creationId xmlns:a16="http://schemas.microsoft.com/office/drawing/2014/main" id="{C1072F55-CAED-E3D1-982A-F62AC1E65F52}"/>
              </a:ext>
            </a:extLst>
          </p:cNvPr>
          <p:cNvSpPr txBox="1"/>
          <p:nvPr/>
        </p:nvSpPr>
        <p:spPr>
          <a:xfrm>
            <a:off x="5867917" y="3671266"/>
            <a:ext cx="1801091" cy="246221"/>
          </a:xfrm>
          <a:prstGeom prst="rect">
            <a:avLst/>
          </a:prstGeom>
          <a:noFill/>
        </p:spPr>
        <p:txBody>
          <a:bodyPr wrap="square" rtlCol="0">
            <a:spAutoFit/>
          </a:bodyPr>
          <a:lstStyle/>
          <a:p>
            <a:r>
              <a:rPr lang="en-DK" sz="1000" b="1" dirty="0">
                <a:solidFill>
                  <a:srgbClr val="FF0000"/>
                </a:solidFill>
              </a:rPr>
              <a:t>TTCAACCGAGATATGC</a:t>
            </a:r>
          </a:p>
        </p:txBody>
      </p:sp>
      <p:sp>
        <p:nvSpPr>
          <p:cNvPr id="57" name="TextBox 56">
            <a:extLst>
              <a:ext uri="{FF2B5EF4-FFF2-40B4-BE49-F238E27FC236}">
                <a16:creationId xmlns:a16="http://schemas.microsoft.com/office/drawing/2014/main" id="{A5DC3E97-7D72-D547-9D3B-9A470C6F2C70}"/>
              </a:ext>
            </a:extLst>
          </p:cNvPr>
          <p:cNvSpPr txBox="1"/>
          <p:nvPr/>
        </p:nvSpPr>
        <p:spPr>
          <a:xfrm>
            <a:off x="8067525" y="1520801"/>
            <a:ext cx="1801091" cy="246221"/>
          </a:xfrm>
          <a:prstGeom prst="rect">
            <a:avLst/>
          </a:prstGeom>
          <a:noFill/>
        </p:spPr>
        <p:txBody>
          <a:bodyPr wrap="square" rtlCol="0">
            <a:spAutoFit/>
          </a:bodyPr>
          <a:lstStyle/>
          <a:p>
            <a:r>
              <a:rPr lang="en-DK" sz="1000" b="1" dirty="0">
                <a:solidFill>
                  <a:schemeClr val="tx2">
                    <a:lumMod val="75000"/>
                    <a:lumOff val="25000"/>
                  </a:schemeClr>
                </a:solidFill>
              </a:rPr>
              <a:t>AACAACCGAGATATCC</a:t>
            </a:r>
          </a:p>
        </p:txBody>
      </p:sp>
      <p:sp>
        <p:nvSpPr>
          <p:cNvPr id="58" name="TextBox 57">
            <a:extLst>
              <a:ext uri="{FF2B5EF4-FFF2-40B4-BE49-F238E27FC236}">
                <a16:creationId xmlns:a16="http://schemas.microsoft.com/office/drawing/2014/main" id="{1723361A-06A7-F99D-C98D-93508D459277}"/>
              </a:ext>
            </a:extLst>
          </p:cNvPr>
          <p:cNvSpPr txBox="1"/>
          <p:nvPr/>
        </p:nvSpPr>
        <p:spPr>
          <a:xfrm>
            <a:off x="6588348" y="4390952"/>
            <a:ext cx="1963881" cy="246221"/>
          </a:xfrm>
          <a:prstGeom prst="rect">
            <a:avLst/>
          </a:prstGeom>
          <a:noFill/>
        </p:spPr>
        <p:txBody>
          <a:bodyPr wrap="square" rtlCol="0">
            <a:spAutoFit/>
          </a:bodyPr>
          <a:lstStyle/>
          <a:p>
            <a:r>
              <a:rPr lang="en-DK" sz="1000" b="1" dirty="0">
                <a:solidFill>
                  <a:schemeClr val="tx2">
                    <a:lumMod val="75000"/>
                    <a:lumOff val="25000"/>
                  </a:schemeClr>
                </a:solidFill>
              </a:rPr>
              <a:t>ATCAACACCGAGATATGC</a:t>
            </a:r>
          </a:p>
        </p:txBody>
      </p:sp>
      <p:sp>
        <p:nvSpPr>
          <p:cNvPr id="59" name="TextBox 58">
            <a:extLst>
              <a:ext uri="{FF2B5EF4-FFF2-40B4-BE49-F238E27FC236}">
                <a16:creationId xmlns:a16="http://schemas.microsoft.com/office/drawing/2014/main" id="{26D528D3-43D7-DCEB-5174-43B8F792C80B}"/>
              </a:ext>
            </a:extLst>
          </p:cNvPr>
          <p:cNvSpPr txBox="1"/>
          <p:nvPr/>
        </p:nvSpPr>
        <p:spPr>
          <a:xfrm>
            <a:off x="5964903" y="5070353"/>
            <a:ext cx="1801091" cy="246221"/>
          </a:xfrm>
          <a:prstGeom prst="rect">
            <a:avLst/>
          </a:prstGeom>
          <a:noFill/>
        </p:spPr>
        <p:txBody>
          <a:bodyPr wrap="square" rtlCol="0">
            <a:spAutoFit/>
          </a:bodyPr>
          <a:lstStyle/>
          <a:p>
            <a:r>
              <a:rPr lang="en-DK" sz="1000" b="1" dirty="0">
                <a:solidFill>
                  <a:srgbClr val="FF0000"/>
                </a:solidFill>
              </a:rPr>
              <a:t>GAACGGAGATATGC</a:t>
            </a:r>
          </a:p>
        </p:txBody>
      </p:sp>
      <p:sp>
        <p:nvSpPr>
          <p:cNvPr id="60" name="TextBox 59">
            <a:extLst>
              <a:ext uri="{FF2B5EF4-FFF2-40B4-BE49-F238E27FC236}">
                <a16:creationId xmlns:a16="http://schemas.microsoft.com/office/drawing/2014/main" id="{459502E5-847F-DB80-E64C-708257261F37}"/>
              </a:ext>
            </a:extLst>
          </p:cNvPr>
          <p:cNvSpPr txBox="1"/>
          <p:nvPr/>
        </p:nvSpPr>
        <p:spPr>
          <a:xfrm>
            <a:off x="6030714" y="4169814"/>
            <a:ext cx="1801091" cy="246221"/>
          </a:xfrm>
          <a:prstGeom prst="rect">
            <a:avLst/>
          </a:prstGeom>
          <a:noFill/>
        </p:spPr>
        <p:txBody>
          <a:bodyPr wrap="square" rtlCol="0">
            <a:spAutoFit/>
          </a:bodyPr>
          <a:lstStyle/>
          <a:p>
            <a:r>
              <a:rPr lang="en-DK" sz="1000" b="1" dirty="0">
                <a:solidFill>
                  <a:schemeClr val="tx2">
                    <a:lumMod val="75000"/>
                    <a:lumOff val="25000"/>
                  </a:schemeClr>
                </a:solidFill>
              </a:rPr>
              <a:t>TACAACCGAGATGC</a:t>
            </a:r>
          </a:p>
        </p:txBody>
      </p:sp>
      <p:sp>
        <p:nvSpPr>
          <p:cNvPr id="61" name="TextBox 60">
            <a:extLst>
              <a:ext uri="{FF2B5EF4-FFF2-40B4-BE49-F238E27FC236}">
                <a16:creationId xmlns:a16="http://schemas.microsoft.com/office/drawing/2014/main" id="{B4ABAF7E-B55E-9B50-F438-004941ED0954}"/>
              </a:ext>
            </a:extLst>
          </p:cNvPr>
          <p:cNvSpPr txBox="1"/>
          <p:nvPr/>
        </p:nvSpPr>
        <p:spPr>
          <a:xfrm>
            <a:off x="5712059" y="3352785"/>
            <a:ext cx="1801091" cy="246221"/>
          </a:xfrm>
          <a:prstGeom prst="rect">
            <a:avLst/>
          </a:prstGeom>
          <a:noFill/>
        </p:spPr>
        <p:txBody>
          <a:bodyPr wrap="square" rtlCol="0">
            <a:spAutoFit/>
          </a:bodyPr>
          <a:lstStyle/>
          <a:p>
            <a:r>
              <a:rPr lang="en-DK" sz="1000" b="1" dirty="0">
                <a:solidFill>
                  <a:schemeClr val="accent2">
                    <a:lumMod val="75000"/>
                  </a:schemeClr>
                </a:solidFill>
              </a:rPr>
              <a:t>ATCAACGGAGATATGC</a:t>
            </a:r>
          </a:p>
        </p:txBody>
      </p:sp>
      <p:sp>
        <p:nvSpPr>
          <p:cNvPr id="62" name="TextBox 61">
            <a:extLst>
              <a:ext uri="{FF2B5EF4-FFF2-40B4-BE49-F238E27FC236}">
                <a16:creationId xmlns:a16="http://schemas.microsoft.com/office/drawing/2014/main" id="{EE4C2A7E-96A6-2B6C-9185-1CE1CD1B86F1}"/>
              </a:ext>
            </a:extLst>
          </p:cNvPr>
          <p:cNvSpPr txBox="1"/>
          <p:nvPr/>
        </p:nvSpPr>
        <p:spPr>
          <a:xfrm>
            <a:off x="6900059" y="4696410"/>
            <a:ext cx="1801091" cy="246221"/>
          </a:xfrm>
          <a:prstGeom prst="rect">
            <a:avLst/>
          </a:prstGeom>
          <a:noFill/>
        </p:spPr>
        <p:txBody>
          <a:bodyPr wrap="square" rtlCol="0">
            <a:spAutoFit/>
          </a:bodyPr>
          <a:lstStyle/>
          <a:p>
            <a:r>
              <a:rPr lang="en-DK" sz="1000" b="1" dirty="0">
                <a:solidFill>
                  <a:schemeClr val="accent2">
                    <a:lumMod val="75000"/>
                  </a:schemeClr>
                </a:solidFill>
              </a:rPr>
              <a:t>TTCTTCGGAGATTTGC</a:t>
            </a:r>
          </a:p>
        </p:txBody>
      </p:sp>
      <p:sp>
        <p:nvSpPr>
          <p:cNvPr id="63" name="TextBox 62">
            <a:extLst>
              <a:ext uri="{FF2B5EF4-FFF2-40B4-BE49-F238E27FC236}">
                <a16:creationId xmlns:a16="http://schemas.microsoft.com/office/drawing/2014/main" id="{6CC6918C-7BF5-ECB6-2F01-3567D0FDC728}"/>
              </a:ext>
            </a:extLst>
          </p:cNvPr>
          <p:cNvSpPr txBox="1"/>
          <p:nvPr/>
        </p:nvSpPr>
        <p:spPr>
          <a:xfrm>
            <a:off x="6612604" y="5458319"/>
            <a:ext cx="1801091" cy="246221"/>
          </a:xfrm>
          <a:prstGeom prst="rect">
            <a:avLst/>
          </a:prstGeom>
          <a:noFill/>
        </p:spPr>
        <p:txBody>
          <a:bodyPr wrap="square" rtlCol="0">
            <a:spAutoFit/>
          </a:bodyPr>
          <a:lstStyle/>
          <a:p>
            <a:r>
              <a:rPr lang="en-DK" sz="1000" b="1" dirty="0">
                <a:solidFill>
                  <a:schemeClr val="accent3"/>
                </a:solidFill>
              </a:rPr>
              <a:t>AGACGGAGATATGC</a:t>
            </a:r>
          </a:p>
        </p:txBody>
      </p:sp>
      <p:sp>
        <p:nvSpPr>
          <p:cNvPr id="64" name="TextBox 63">
            <a:extLst>
              <a:ext uri="{FF2B5EF4-FFF2-40B4-BE49-F238E27FC236}">
                <a16:creationId xmlns:a16="http://schemas.microsoft.com/office/drawing/2014/main" id="{8627703C-3A30-E3BC-ABBB-5AB7FA609BEF}"/>
              </a:ext>
            </a:extLst>
          </p:cNvPr>
          <p:cNvSpPr txBox="1"/>
          <p:nvPr/>
        </p:nvSpPr>
        <p:spPr>
          <a:xfrm>
            <a:off x="5812860" y="2856290"/>
            <a:ext cx="1801091" cy="246221"/>
          </a:xfrm>
          <a:prstGeom prst="rect">
            <a:avLst/>
          </a:prstGeom>
          <a:noFill/>
        </p:spPr>
        <p:txBody>
          <a:bodyPr wrap="square" rtlCol="0">
            <a:spAutoFit/>
          </a:bodyPr>
          <a:lstStyle/>
          <a:p>
            <a:r>
              <a:rPr lang="en-DK" sz="1000" b="1" dirty="0">
                <a:solidFill>
                  <a:schemeClr val="accent3"/>
                </a:solidFill>
              </a:rPr>
              <a:t>GAACGGAGAAATCC</a:t>
            </a:r>
          </a:p>
        </p:txBody>
      </p:sp>
      <p:sp>
        <p:nvSpPr>
          <p:cNvPr id="65" name="TextBox 64">
            <a:extLst>
              <a:ext uri="{FF2B5EF4-FFF2-40B4-BE49-F238E27FC236}">
                <a16:creationId xmlns:a16="http://schemas.microsoft.com/office/drawing/2014/main" id="{3580A75B-CED8-301E-037E-046E8CE7E246}"/>
              </a:ext>
            </a:extLst>
          </p:cNvPr>
          <p:cNvSpPr txBox="1"/>
          <p:nvPr/>
        </p:nvSpPr>
        <p:spPr>
          <a:xfrm>
            <a:off x="5836745" y="2521090"/>
            <a:ext cx="1801091" cy="246221"/>
          </a:xfrm>
          <a:prstGeom prst="rect">
            <a:avLst/>
          </a:prstGeom>
          <a:noFill/>
        </p:spPr>
        <p:txBody>
          <a:bodyPr wrap="square" rtlCol="0">
            <a:spAutoFit/>
          </a:bodyPr>
          <a:lstStyle/>
          <a:p>
            <a:r>
              <a:rPr lang="en-DK" sz="1000" b="1" dirty="0">
                <a:solidFill>
                  <a:schemeClr val="accent3"/>
                </a:solidFill>
              </a:rPr>
              <a:t>AGACGCAGATATGC</a:t>
            </a:r>
          </a:p>
        </p:txBody>
      </p:sp>
      <p:sp>
        <p:nvSpPr>
          <p:cNvPr id="66" name="TextBox 65">
            <a:extLst>
              <a:ext uri="{FF2B5EF4-FFF2-40B4-BE49-F238E27FC236}">
                <a16:creationId xmlns:a16="http://schemas.microsoft.com/office/drawing/2014/main" id="{8EFF9FB0-EA21-9EF0-DB14-208FDD0EF272}"/>
              </a:ext>
            </a:extLst>
          </p:cNvPr>
          <p:cNvSpPr txBox="1"/>
          <p:nvPr/>
        </p:nvSpPr>
        <p:spPr>
          <a:xfrm>
            <a:off x="6037647" y="4890194"/>
            <a:ext cx="1801091" cy="246221"/>
          </a:xfrm>
          <a:prstGeom prst="rect">
            <a:avLst/>
          </a:prstGeom>
          <a:noFill/>
        </p:spPr>
        <p:txBody>
          <a:bodyPr wrap="square" rtlCol="0">
            <a:spAutoFit/>
          </a:bodyPr>
          <a:lstStyle/>
          <a:p>
            <a:r>
              <a:rPr lang="en-DK" sz="1000" b="1" dirty="0">
                <a:solidFill>
                  <a:schemeClr val="accent3"/>
                </a:solidFill>
              </a:rPr>
              <a:t>GACTCGAGTTTTCC</a:t>
            </a:r>
          </a:p>
        </p:txBody>
      </p:sp>
      <p:graphicFrame>
        <p:nvGraphicFramePr>
          <p:cNvPr id="67" name="Table 66">
            <a:extLst>
              <a:ext uri="{FF2B5EF4-FFF2-40B4-BE49-F238E27FC236}">
                <a16:creationId xmlns:a16="http://schemas.microsoft.com/office/drawing/2014/main" id="{C502273C-8499-74BA-B3A3-A41EEB039DF9}"/>
              </a:ext>
            </a:extLst>
          </p:cNvPr>
          <p:cNvGraphicFramePr>
            <a:graphicFrameLocks noGrp="1"/>
          </p:cNvGraphicFramePr>
          <p:nvPr>
            <p:extLst>
              <p:ext uri="{D42A27DB-BD31-4B8C-83A1-F6EECF244321}">
                <p14:modId xmlns:p14="http://schemas.microsoft.com/office/powerpoint/2010/main" val="407372268"/>
              </p:ext>
            </p:extLst>
          </p:nvPr>
        </p:nvGraphicFramePr>
        <p:xfrm>
          <a:off x="9578842" y="4844095"/>
          <a:ext cx="1018332" cy="1166046"/>
        </p:xfrm>
        <a:graphic>
          <a:graphicData uri="http://schemas.openxmlformats.org/drawingml/2006/table">
            <a:tbl>
              <a:tblPr firstRow="1" bandRow="1">
                <a:tableStyleId>{D7AC3CCA-C797-4891-BE02-D94E43425B78}</a:tableStyleId>
              </a:tblPr>
              <a:tblGrid>
                <a:gridCol w="169722">
                  <a:extLst>
                    <a:ext uri="{9D8B030D-6E8A-4147-A177-3AD203B41FA5}">
                      <a16:colId xmlns:a16="http://schemas.microsoft.com/office/drawing/2014/main" val="591458638"/>
                    </a:ext>
                  </a:extLst>
                </a:gridCol>
                <a:gridCol w="169722">
                  <a:extLst>
                    <a:ext uri="{9D8B030D-6E8A-4147-A177-3AD203B41FA5}">
                      <a16:colId xmlns:a16="http://schemas.microsoft.com/office/drawing/2014/main" val="3689723892"/>
                    </a:ext>
                  </a:extLst>
                </a:gridCol>
                <a:gridCol w="169722">
                  <a:extLst>
                    <a:ext uri="{9D8B030D-6E8A-4147-A177-3AD203B41FA5}">
                      <a16:colId xmlns:a16="http://schemas.microsoft.com/office/drawing/2014/main" val="410620895"/>
                    </a:ext>
                  </a:extLst>
                </a:gridCol>
                <a:gridCol w="169722">
                  <a:extLst>
                    <a:ext uri="{9D8B030D-6E8A-4147-A177-3AD203B41FA5}">
                      <a16:colId xmlns:a16="http://schemas.microsoft.com/office/drawing/2014/main" val="1970471051"/>
                    </a:ext>
                  </a:extLst>
                </a:gridCol>
                <a:gridCol w="169722">
                  <a:extLst>
                    <a:ext uri="{9D8B030D-6E8A-4147-A177-3AD203B41FA5}">
                      <a16:colId xmlns:a16="http://schemas.microsoft.com/office/drawing/2014/main" val="18568149"/>
                    </a:ext>
                  </a:extLst>
                </a:gridCol>
                <a:gridCol w="169722">
                  <a:extLst>
                    <a:ext uri="{9D8B030D-6E8A-4147-A177-3AD203B41FA5}">
                      <a16:colId xmlns:a16="http://schemas.microsoft.com/office/drawing/2014/main" val="933254077"/>
                    </a:ext>
                  </a:extLst>
                </a:gridCol>
              </a:tblGrid>
              <a:tr h="194341">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dirty="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extLst>
                  <a:ext uri="{0D108BD9-81ED-4DB2-BD59-A6C34878D82A}">
                    <a16:rowId xmlns:a16="http://schemas.microsoft.com/office/drawing/2014/main" val="730149994"/>
                  </a:ext>
                </a:extLst>
              </a:tr>
              <a:tr h="194341">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extLst>
                  <a:ext uri="{0D108BD9-81ED-4DB2-BD59-A6C34878D82A}">
                    <a16:rowId xmlns:a16="http://schemas.microsoft.com/office/drawing/2014/main" val="1279572824"/>
                  </a:ext>
                </a:extLst>
              </a:tr>
              <a:tr h="194341">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extLst>
                  <a:ext uri="{0D108BD9-81ED-4DB2-BD59-A6C34878D82A}">
                    <a16:rowId xmlns:a16="http://schemas.microsoft.com/office/drawing/2014/main" val="3667834363"/>
                  </a:ext>
                </a:extLst>
              </a:tr>
              <a:tr h="194341">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dirty="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extLst>
                  <a:ext uri="{0D108BD9-81ED-4DB2-BD59-A6C34878D82A}">
                    <a16:rowId xmlns:a16="http://schemas.microsoft.com/office/drawing/2014/main" val="1547517046"/>
                  </a:ext>
                </a:extLst>
              </a:tr>
              <a:tr h="194341">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extLst>
                  <a:ext uri="{0D108BD9-81ED-4DB2-BD59-A6C34878D82A}">
                    <a16:rowId xmlns:a16="http://schemas.microsoft.com/office/drawing/2014/main" val="3674622576"/>
                  </a:ext>
                </a:extLst>
              </a:tr>
              <a:tr h="194341">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dirty="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dirty="0"/>
                    </a:p>
                  </a:txBody>
                  <a:tcPr marL="48586" marR="48586" marT="24293" marB="24293"/>
                </a:tc>
                <a:extLst>
                  <a:ext uri="{0D108BD9-81ED-4DB2-BD59-A6C34878D82A}">
                    <a16:rowId xmlns:a16="http://schemas.microsoft.com/office/drawing/2014/main" val="2613402699"/>
                  </a:ext>
                </a:extLst>
              </a:tr>
            </a:tbl>
          </a:graphicData>
        </a:graphic>
      </p:graphicFrame>
      <p:sp>
        <p:nvSpPr>
          <p:cNvPr id="68" name="TextBox 67">
            <a:extLst>
              <a:ext uri="{FF2B5EF4-FFF2-40B4-BE49-F238E27FC236}">
                <a16:creationId xmlns:a16="http://schemas.microsoft.com/office/drawing/2014/main" id="{4FBBBA1F-805D-4157-36C4-906C802D714A}"/>
              </a:ext>
            </a:extLst>
          </p:cNvPr>
          <p:cNvSpPr txBox="1"/>
          <p:nvPr/>
        </p:nvSpPr>
        <p:spPr>
          <a:xfrm>
            <a:off x="9224841" y="6149957"/>
            <a:ext cx="2403689" cy="369332"/>
          </a:xfrm>
          <a:prstGeom prst="rect">
            <a:avLst/>
          </a:prstGeom>
          <a:noFill/>
        </p:spPr>
        <p:txBody>
          <a:bodyPr wrap="square" rtlCol="0">
            <a:spAutoFit/>
          </a:bodyPr>
          <a:lstStyle/>
          <a:p>
            <a:r>
              <a:rPr lang="en-DK" dirty="0"/>
              <a:t>Abundance table </a:t>
            </a:r>
          </a:p>
        </p:txBody>
      </p:sp>
      <p:sp>
        <p:nvSpPr>
          <p:cNvPr id="69" name="TextBox 68">
            <a:extLst>
              <a:ext uri="{FF2B5EF4-FFF2-40B4-BE49-F238E27FC236}">
                <a16:creationId xmlns:a16="http://schemas.microsoft.com/office/drawing/2014/main" id="{AB7E6079-8417-CD34-CA03-E7643ACC3DE3}"/>
              </a:ext>
            </a:extLst>
          </p:cNvPr>
          <p:cNvSpPr txBox="1"/>
          <p:nvPr/>
        </p:nvSpPr>
        <p:spPr>
          <a:xfrm>
            <a:off x="7575485" y="267026"/>
            <a:ext cx="4574931" cy="646331"/>
          </a:xfrm>
          <a:prstGeom prst="rect">
            <a:avLst/>
          </a:prstGeom>
          <a:noFill/>
        </p:spPr>
        <p:txBody>
          <a:bodyPr wrap="square" rtlCol="0">
            <a:spAutoFit/>
          </a:bodyPr>
          <a:lstStyle/>
          <a:p>
            <a:r>
              <a:rPr lang="en-DK" dirty="0"/>
              <a:t>Read mapping to know  genomes, specific marker genes (BLAST, bowtie2, DIAMOND)</a:t>
            </a:r>
          </a:p>
        </p:txBody>
      </p:sp>
      <p:sp>
        <p:nvSpPr>
          <p:cNvPr id="70" name="TextBox 69">
            <a:extLst>
              <a:ext uri="{FF2B5EF4-FFF2-40B4-BE49-F238E27FC236}">
                <a16:creationId xmlns:a16="http://schemas.microsoft.com/office/drawing/2014/main" id="{66E316CC-DFF9-0D22-69C0-E2055AE564C5}"/>
              </a:ext>
            </a:extLst>
          </p:cNvPr>
          <p:cNvSpPr txBox="1"/>
          <p:nvPr/>
        </p:nvSpPr>
        <p:spPr>
          <a:xfrm>
            <a:off x="9534072" y="4519613"/>
            <a:ext cx="1094509" cy="369332"/>
          </a:xfrm>
          <a:prstGeom prst="rect">
            <a:avLst/>
          </a:prstGeom>
          <a:noFill/>
        </p:spPr>
        <p:txBody>
          <a:bodyPr wrap="square" rtlCol="0">
            <a:spAutoFit/>
          </a:bodyPr>
          <a:lstStyle/>
          <a:p>
            <a:r>
              <a:rPr lang="en-DK" dirty="0"/>
              <a:t>Samples</a:t>
            </a:r>
          </a:p>
        </p:txBody>
      </p:sp>
      <p:sp>
        <p:nvSpPr>
          <p:cNvPr id="71" name="TextBox 70">
            <a:extLst>
              <a:ext uri="{FF2B5EF4-FFF2-40B4-BE49-F238E27FC236}">
                <a16:creationId xmlns:a16="http://schemas.microsoft.com/office/drawing/2014/main" id="{51F7C80B-2E7E-044E-F05E-C8D239AD60E9}"/>
              </a:ext>
            </a:extLst>
          </p:cNvPr>
          <p:cNvSpPr txBox="1"/>
          <p:nvPr/>
        </p:nvSpPr>
        <p:spPr>
          <a:xfrm rot="16200000">
            <a:off x="8565442" y="5050133"/>
            <a:ext cx="1617517" cy="369332"/>
          </a:xfrm>
          <a:prstGeom prst="rect">
            <a:avLst/>
          </a:prstGeom>
          <a:noFill/>
        </p:spPr>
        <p:txBody>
          <a:bodyPr wrap="square" rtlCol="0">
            <a:spAutoFit/>
          </a:bodyPr>
          <a:lstStyle/>
          <a:p>
            <a:r>
              <a:rPr lang="en-DK" dirty="0"/>
              <a:t>Taxa</a:t>
            </a:r>
          </a:p>
        </p:txBody>
      </p:sp>
      <p:cxnSp>
        <p:nvCxnSpPr>
          <p:cNvPr id="73" name="Straight Connector 72">
            <a:extLst>
              <a:ext uri="{FF2B5EF4-FFF2-40B4-BE49-F238E27FC236}">
                <a16:creationId xmlns:a16="http://schemas.microsoft.com/office/drawing/2014/main" id="{FB798160-4581-93E3-24A1-D3E1C643CC24}"/>
              </a:ext>
            </a:extLst>
          </p:cNvPr>
          <p:cNvCxnSpPr>
            <a:cxnSpLocks/>
          </p:cNvCxnSpPr>
          <p:nvPr/>
        </p:nvCxnSpPr>
        <p:spPr>
          <a:xfrm>
            <a:off x="8012106" y="1458014"/>
            <a:ext cx="3838649" cy="0"/>
          </a:xfrm>
          <a:prstGeom prst="line">
            <a:avLst/>
          </a:prstGeom>
          <a:ln w="22225"/>
        </p:spPr>
        <p:style>
          <a:lnRef idx="2">
            <a:schemeClr val="accent1"/>
          </a:lnRef>
          <a:fillRef idx="0">
            <a:schemeClr val="accent1"/>
          </a:fillRef>
          <a:effectRef idx="1">
            <a:schemeClr val="accent1"/>
          </a:effectRef>
          <a:fontRef idx="minor">
            <a:schemeClr val="tx1"/>
          </a:fontRef>
        </p:style>
      </p:cxnSp>
      <p:sp>
        <p:nvSpPr>
          <p:cNvPr id="78" name="Right Arrow 77">
            <a:extLst>
              <a:ext uri="{FF2B5EF4-FFF2-40B4-BE49-F238E27FC236}">
                <a16:creationId xmlns:a16="http://schemas.microsoft.com/office/drawing/2014/main" id="{46B83CB0-2738-7BB3-C975-7F6D864B82BA}"/>
              </a:ext>
            </a:extLst>
          </p:cNvPr>
          <p:cNvSpPr/>
          <p:nvPr/>
        </p:nvSpPr>
        <p:spPr>
          <a:xfrm>
            <a:off x="7948825" y="2036752"/>
            <a:ext cx="1292866" cy="324875"/>
          </a:xfrm>
          <a:prstGeom prst="rightArrow">
            <a:avLst/>
          </a:prstGeom>
          <a:solidFill>
            <a:schemeClr val="tx2">
              <a:lumMod val="75000"/>
              <a:lumOff val="2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solidFill>
                <a:schemeClr val="tx2">
                  <a:lumMod val="75000"/>
                  <a:lumOff val="25000"/>
                </a:schemeClr>
              </a:solidFill>
            </a:endParaRPr>
          </a:p>
        </p:txBody>
      </p:sp>
      <p:sp>
        <p:nvSpPr>
          <p:cNvPr id="79" name="Right Arrow 78">
            <a:extLst>
              <a:ext uri="{FF2B5EF4-FFF2-40B4-BE49-F238E27FC236}">
                <a16:creationId xmlns:a16="http://schemas.microsoft.com/office/drawing/2014/main" id="{A2558CC0-6285-CE34-1EC0-48F8CBA70E39}"/>
              </a:ext>
            </a:extLst>
          </p:cNvPr>
          <p:cNvSpPr/>
          <p:nvPr/>
        </p:nvSpPr>
        <p:spPr>
          <a:xfrm>
            <a:off x="9390612" y="2040404"/>
            <a:ext cx="426143" cy="324875"/>
          </a:xfrm>
          <a:prstGeom prst="rightArrow">
            <a:avLst/>
          </a:prstGeom>
          <a:solidFill>
            <a:schemeClr val="tx2">
              <a:lumMod val="75000"/>
              <a:lumOff val="2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solidFill>
                <a:schemeClr val="tx2">
                  <a:lumMod val="75000"/>
                  <a:lumOff val="25000"/>
                </a:schemeClr>
              </a:solidFill>
            </a:endParaRPr>
          </a:p>
        </p:txBody>
      </p:sp>
      <p:sp>
        <p:nvSpPr>
          <p:cNvPr id="80" name="Right Arrow 79">
            <a:extLst>
              <a:ext uri="{FF2B5EF4-FFF2-40B4-BE49-F238E27FC236}">
                <a16:creationId xmlns:a16="http://schemas.microsoft.com/office/drawing/2014/main" id="{93753EEC-A9E8-A6A7-0F9A-B2129D22E405}"/>
              </a:ext>
            </a:extLst>
          </p:cNvPr>
          <p:cNvSpPr/>
          <p:nvPr/>
        </p:nvSpPr>
        <p:spPr>
          <a:xfrm>
            <a:off x="10006518" y="2040403"/>
            <a:ext cx="654643" cy="324875"/>
          </a:xfrm>
          <a:prstGeom prst="rightArrow">
            <a:avLst/>
          </a:prstGeom>
          <a:solidFill>
            <a:schemeClr val="tx2">
              <a:lumMod val="75000"/>
              <a:lumOff val="2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solidFill>
                <a:schemeClr val="tx2">
                  <a:lumMod val="75000"/>
                  <a:lumOff val="25000"/>
                </a:schemeClr>
              </a:solidFill>
            </a:endParaRPr>
          </a:p>
        </p:txBody>
      </p:sp>
      <p:sp>
        <p:nvSpPr>
          <p:cNvPr id="81" name="TextBox 80">
            <a:extLst>
              <a:ext uri="{FF2B5EF4-FFF2-40B4-BE49-F238E27FC236}">
                <a16:creationId xmlns:a16="http://schemas.microsoft.com/office/drawing/2014/main" id="{11F1F55C-FD7B-4A93-520F-57E89210A173}"/>
              </a:ext>
            </a:extLst>
          </p:cNvPr>
          <p:cNvSpPr txBox="1"/>
          <p:nvPr/>
        </p:nvSpPr>
        <p:spPr>
          <a:xfrm>
            <a:off x="7547012" y="986535"/>
            <a:ext cx="4205096" cy="369332"/>
          </a:xfrm>
          <a:prstGeom prst="rect">
            <a:avLst/>
          </a:prstGeom>
          <a:noFill/>
        </p:spPr>
        <p:txBody>
          <a:bodyPr wrap="square" rtlCol="0">
            <a:spAutoFit/>
          </a:bodyPr>
          <a:lstStyle/>
          <a:p>
            <a:r>
              <a:rPr lang="en-DK" dirty="0"/>
              <a:t>Genome (Kraken 2, Centrifuge,</a:t>
            </a:r>
            <a:r>
              <a:rPr lang="en-GB" b="1" dirty="0"/>
              <a:t> </a:t>
            </a:r>
            <a:r>
              <a:rPr lang="en-GB" dirty="0"/>
              <a:t>GTDB</a:t>
            </a:r>
            <a:r>
              <a:rPr lang="en-DK" dirty="0"/>
              <a:t>)</a:t>
            </a:r>
          </a:p>
        </p:txBody>
      </p:sp>
      <p:sp>
        <p:nvSpPr>
          <p:cNvPr id="82" name="TextBox 81">
            <a:extLst>
              <a:ext uri="{FF2B5EF4-FFF2-40B4-BE49-F238E27FC236}">
                <a16:creationId xmlns:a16="http://schemas.microsoft.com/office/drawing/2014/main" id="{9CFEB1C7-FBDC-89E5-0A77-B290BB795B2C}"/>
              </a:ext>
            </a:extLst>
          </p:cNvPr>
          <p:cNvSpPr txBox="1"/>
          <p:nvPr/>
        </p:nvSpPr>
        <p:spPr>
          <a:xfrm>
            <a:off x="7570288" y="1716293"/>
            <a:ext cx="4669337" cy="369332"/>
          </a:xfrm>
          <a:prstGeom prst="rect">
            <a:avLst/>
          </a:prstGeom>
          <a:noFill/>
        </p:spPr>
        <p:txBody>
          <a:bodyPr wrap="square" rtlCol="0">
            <a:spAutoFit/>
          </a:bodyPr>
          <a:lstStyle/>
          <a:p>
            <a:r>
              <a:rPr lang="en-DK" dirty="0"/>
              <a:t>Clade-specific Marker genes (Metahphlan v4)</a:t>
            </a:r>
          </a:p>
        </p:txBody>
      </p:sp>
      <p:sp>
        <p:nvSpPr>
          <p:cNvPr id="83" name="Right Arrow 82">
            <a:extLst>
              <a:ext uri="{FF2B5EF4-FFF2-40B4-BE49-F238E27FC236}">
                <a16:creationId xmlns:a16="http://schemas.microsoft.com/office/drawing/2014/main" id="{1651547E-D843-6BCE-62EB-66C679BEC121}"/>
              </a:ext>
            </a:extLst>
          </p:cNvPr>
          <p:cNvSpPr/>
          <p:nvPr/>
        </p:nvSpPr>
        <p:spPr>
          <a:xfrm>
            <a:off x="10966383" y="2035274"/>
            <a:ext cx="654643" cy="324875"/>
          </a:xfrm>
          <a:prstGeom prst="rightArrow">
            <a:avLst/>
          </a:prstGeom>
          <a:solidFill>
            <a:schemeClr val="tx2">
              <a:lumMod val="75000"/>
              <a:lumOff val="2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solidFill>
                <a:schemeClr val="tx2">
                  <a:lumMod val="75000"/>
                  <a:lumOff val="25000"/>
                </a:schemeClr>
              </a:solidFill>
            </a:endParaRPr>
          </a:p>
        </p:txBody>
      </p:sp>
      <p:sp>
        <p:nvSpPr>
          <p:cNvPr id="84" name="Right Arrow 83">
            <a:extLst>
              <a:ext uri="{FF2B5EF4-FFF2-40B4-BE49-F238E27FC236}">
                <a16:creationId xmlns:a16="http://schemas.microsoft.com/office/drawing/2014/main" id="{E122531B-AB32-77A6-73AE-99CD5726D84B}"/>
              </a:ext>
            </a:extLst>
          </p:cNvPr>
          <p:cNvSpPr/>
          <p:nvPr/>
        </p:nvSpPr>
        <p:spPr>
          <a:xfrm rot="5400000">
            <a:off x="8958854" y="3508829"/>
            <a:ext cx="1617516" cy="324875"/>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85" name="TextBox 84">
            <a:extLst>
              <a:ext uri="{FF2B5EF4-FFF2-40B4-BE49-F238E27FC236}">
                <a16:creationId xmlns:a16="http://schemas.microsoft.com/office/drawing/2014/main" id="{D94E211C-D36C-FD87-7D04-5A6C43457F2B}"/>
              </a:ext>
            </a:extLst>
          </p:cNvPr>
          <p:cNvSpPr txBox="1"/>
          <p:nvPr/>
        </p:nvSpPr>
        <p:spPr>
          <a:xfrm>
            <a:off x="9919787" y="3004161"/>
            <a:ext cx="2242580" cy="1569660"/>
          </a:xfrm>
          <a:prstGeom prst="rect">
            <a:avLst/>
          </a:prstGeom>
          <a:noFill/>
        </p:spPr>
        <p:txBody>
          <a:bodyPr wrap="square" rtlCol="0">
            <a:spAutoFit/>
          </a:bodyPr>
          <a:lstStyle/>
          <a:p>
            <a:r>
              <a:rPr lang="en-DK" sz="1600" dirty="0"/>
              <a:t>Abundance estimation:</a:t>
            </a:r>
          </a:p>
          <a:p>
            <a:r>
              <a:rPr lang="en-DK" sz="1600" dirty="0"/>
              <a:t>- gene/genome counts</a:t>
            </a:r>
          </a:p>
          <a:p>
            <a:r>
              <a:rPr lang="en-DK" sz="1600" dirty="0"/>
              <a:t>- gene/genome length and sample depth normalization</a:t>
            </a:r>
          </a:p>
          <a:p>
            <a:endParaRPr lang="en-DK" sz="1600" dirty="0"/>
          </a:p>
        </p:txBody>
      </p:sp>
      <p:sp>
        <p:nvSpPr>
          <p:cNvPr id="87" name="TextBox 86">
            <a:extLst>
              <a:ext uri="{FF2B5EF4-FFF2-40B4-BE49-F238E27FC236}">
                <a16:creationId xmlns:a16="http://schemas.microsoft.com/office/drawing/2014/main" id="{E0FA194F-F64D-7FF7-3D02-D126B4EBF045}"/>
              </a:ext>
            </a:extLst>
          </p:cNvPr>
          <p:cNvSpPr txBox="1"/>
          <p:nvPr/>
        </p:nvSpPr>
        <p:spPr>
          <a:xfrm>
            <a:off x="7897806" y="2324463"/>
            <a:ext cx="1224101" cy="215444"/>
          </a:xfrm>
          <a:prstGeom prst="rect">
            <a:avLst/>
          </a:prstGeom>
          <a:noFill/>
        </p:spPr>
        <p:txBody>
          <a:bodyPr wrap="square" rtlCol="0">
            <a:spAutoFit/>
          </a:bodyPr>
          <a:lstStyle/>
          <a:p>
            <a:r>
              <a:rPr lang="en-DK" sz="800" b="1" dirty="0">
                <a:solidFill>
                  <a:schemeClr val="tx2">
                    <a:lumMod val="75000"/>
                    <a:lumOff val="25000"/>
                  </a:schemeClr>
                </a:solidFill>
              </a:rPr>
              <a:t>TTCAACCGAGATATGC</a:t>
            </a:r>
          </a:p>
        </p:txBody>
      </p:sp>
      <p:sp>
        <p:nvSpPr>
          <p:cNvPr id="88" name="TextBox 87">
            <a:extLst>
              <a:ext uri="{FF2B5EF4-FFF2-40B4-BE49-F238E27FC236}">
                <a16:creationId xmlns:a16="http://schemas.microsoft.com/office/drawing/2014/main" id="{1E7FE2C3-C584-8985-4F95-F65586F31A74}"/>
              </a:ext>
            </a:extLst>
          </p:cNvPr>
          <p:cNvSpPr txBox="1"/>
          <p:nvPr/>
        </p:nvSpPr>
        <p:spPr>
          <a:xfrm>
            <a:off x="9919787" y="1340601"/>
            <a:ext cx="1490165" cy="246221"/>
          </a:xfrm>
          <a:prstGeom prst="rect">
            <a:avLst/>
          </a:prstGeom>
          <a:solidFill>
            <a:schemeClr val="bg1"/>
          </a:solidFill>
        </p:spPr>
        <p:txBody>
          <a:bodyPr wrap="square" rtlCol="0">
            <a:spAutoFit/>
          </a:bodyPr>
          <a:lstStyle/>
          <a:p>
            <a:r>
              <a:rPr lang="en-DK" sz="1000" b="1" dirty="0">
                <a:solidFill>
                  <a:schemeClr val="tx2">
                    <a:lumMod val="75000"/>
                    <a:lumOff val="25000"/>
                  </a:schemeClr>
                </a:solidFill>
              </a:rPr>
              <a:t>TTCAACGGAGATATGC</a:t>
            </a:r>
          </a:p>
        </p:txBody>
      </p:sp>
      <p:sp>
        <p:nvSpPr>
          <p:cNvPr id="89" name="TextBox 88">
            <a:extLst>
              <a:ext uri="{FF2B5EF4-FFF2-40B4-BE49-F238E27FC236}">
                <a16:creationId xmlns:a16="http://schemas.microsoft.com/office/drawing/2014/main" id="{FA196F56-78AD-F3D4-68E1-16710B807A99}"/>
              </a:ext>
            </a:extLst>
          </p:cNvPr>
          <p:cNvSpPr txBox="1"/>
          <p:nvPr/>
        </p:nvSpPr>
        <p:spPr>
          <a:xfrm>
            <a:off x="8065400" y="1337367"/>
            <a:ext cx="1542883" cy="246221"/>
          </a:xfrm>
          <a:prstGeom prst="rect">
            <a:avLst/>
          </a:prstGeom>
          <a:solidFill>
            <a:schemeClr val="bg1"/>
          </a:solidFill>
        </p:spPr>
        <p:txBody>
          <a:bodyPr wrap="square" rtlCol="0">
            <a:spAutoFit/>
          </a:bodyPr>
          <a:lstStyle/>
          <a:p>
            <a:r>
              <a:rPr lang="en-DK" sz="1000" b="1" dirty="0">
                <a:solidFill>
                  <a:schemeClr val="tx2">
                    <a:lumMod val="75000"/>
                    <a:lumOff val="25000"/>
                  </a:schemeClr>
                </a:solidFill>
              </a:rPr>
              <a:t>AACAACCGAGATATCC</a:t>
            </a:r>
          </a:p>
        </p:txBody>
      </p:sp>
      <p:sp>
        <p:nvSpPr>
          <p:cNvPr id="90" name="TextBox 89">
            <a:extLst>
              <a:ext uri="{FF2B5EF4-FFF2-40B4-BE49-F238E27FC236}">
                <a16:creationId xmlns:a16="http://schemas.microsoft.com/office/drawing/2014/main" id="{58FF5699-A88A-65DA-18B2-A0500B8EF4BA}"/>
              </a:ext>
            </a:extLst>
          </p:cNvPr>
          <p:cNvSpPr txBox="1"/>
          <p:nvPr/>
        </p:nvSpPr>
        <p:spPr>
          <a:xfrm>
            <a:off x="9919786" y="2327463"/>
            <a:ext cx="1963881" cy="215444"/>
          </a:xfrm>
          <a:prstGeom prst="rect">
            <a:avLst/>
          </a:prstGeom>
          <a:noFill/>
        </p:spPr>
        <p:txBody>
          <a:bodyPr wrap="square" rtlCol="0">
            <a:spAutoFit/>
          </a:bodyPr>
          <a:lstStyle/>
          <a:p>
            <a:r>
              <a:rPr lang="en-DK" sz="800" b="1" dirty="0">
                <a:solidFill>
                  <a:schemeClr val="tx2">
                    <a:lumMod val="75000"/>
                    <a:lumOff val="25000"/>
                  </a:schemeClr>
                </a:solidFill>
              </a:rPr>
              <a:t>ATCAACA</a:t>
            </a:r>
          </a:p>
        </p:txBody>
      </p:sp>
      <p:sp>
        <p:nvSpPr>
          <p:cNvPr id="91" name="TextBox 90">
            <a:extLst>
              <a:ext uri="{FF2B5EF4-FFF2-40B4-BE49-F238E27FC236}">
                <a16:creationId xmlns:a16="http://schemas.microsoft.com/office/drawing/2014/main" id="{69972474-5440-B27B-089D-0BAC42BF256C}"/>
              </a:ext>
            </a:extLst>
          </p:cNvPr>
          <p:cNvSpPr txBox="1"/>
          <p:nvPr/>
        </p:nvSpPr>
        <p:spPr>
          <a:xfrm>
            <a:off x="10966383" y="2313227"/>
            <a:ext cx="1963881" cy="215444"/>
          </a:xfrm>
          <a:prstGeom prst="rect">
            <a:avLst/>
          </a:prstGeom>
          <a:noFill/>
        </p:spPr>
        <p:txBody>
          <a:bodyPr wrap="square" rtlCol="0">
            <a:spAutoFit/>
          </a:bodyPr>
          <a:lstStyle/>
          <a:p>
            <a:r>
              <a:rPr lang="en-DK" sz="800" b="1" dirty="0">
                <a:solidFill>
                  <a:schemeClr val="tx2">
                    <a:lumMod val="75000"/>
                    <a:lumOff val="25000"/>
                  </a:schemeClr>
                </a:solidFill>
              </a:rPr>
              <a:t>ATCTTCA</a:t>
            </a:r>
          </a:p>
        </p:txBody>
      </p:sp>
      <p:sp>
        <p:nvSpPr>
          <p:cNvPr id="92" name="TextBox 91">
            <a:extLst>
              <a:ext uri="{FF2B5EF4-FFF2-40B4-BE49-F238E27FC236}">
                <a16:creationId xmlns:a16="http://schemas.microsoft.com/office/drawing/2014/main" id="{0520FE48-4819-5C75-E8BD-0218520F7A6B}"/>
              </a:ext>
            </a:extLst>
          </p:cNvPr>
          <p:cNvSpPr txBox="1"/>
          <p:nvPr/>
        </p:nvSpPr>
        <p:spPr>
          <a:xfrm>
            <a:off x="7897806" y="2448815"/>
            <a:ext cx="1224101" cy="215444"/>
          </a:xfrm>
          <a:prstGeom prst="rect">
            <a:avLst/>
          </a:prstGeom>
          <a:noFill/>
        </p:spPr>
        <p:txBody>
          <a:bodyPr wrap="square" rtlCol="0">
            <a:spAutoFit/>
          </a:bodyPr>
          <a:lstStyle/>
          <a:p>
            <a:r>
              <a:rPr lang="en-DK" sz="800" b="1" dirty="0">
                <a:solidFill>
                  <a:schemeClr val="tx2">
                    <a:lumMod val="75000"/>
                    <a:lumOff val="25000"/>
                  </a:schemeClr>
                </a:solidFill>
              </a:rPr>
              <a:t>TTCAACCGAGATATGC</a:t>
            </a:r>
          </a:p>
        </p:txBody>
      </p:sp>
      <p:sp>
        <p:nvSpPr>
          <p:cNvPr id="93" name="TextBox 92">
            <a:extLst>
              <a:ext uri="{FF2B5EF4-FFF2-40B4-BE49-F238E27FC236}">
                <a16:creationId xmlns:a16="http://schemas.microsoft.com/office/drawing/2014/main" id="{7514F333-920D-8A70-6BCF-FA2DA809098C}"/>
              </a:ext>
            </a:extLst>
          </p:cNvPr>
          <p:cNvSpPr txBox="1"/>
          <p:nvPr/>
        </p:nvSpPr>
        <p:spPr>
          <a:xfrm>
            <a:off x="7898335" y="2573930"/>
            <a:ext cx="1224101" cy="215444"/>
          </a:xfrm>
          <a:prstGeom prst="rect">
            <a:avLst/>
          </a:prstGeom>
          <a:noFill/>
        </p:spPr>
        <p:txBody>
          <a:bodyPr wrap="square" rtlCol="0">
            <a:spAutoFit/>
          </a:bodyPr>
          <a:lstStyle/>
          <a:p>
            <a:r>
              <a:rPr lang="en-DK" sz="800" b="1" dirty="0">
                <a:solidFill>
                  <a:schemeClr val="tx2">
                    <a:lumMod val="75000"/>
                    <a:lumOff val="25000"/>
                  </a:schemeClr>
                </a:solidFill>
              </a:rPr>
              <a:t>TTCAACCGAGATATGC</a:t>
            </a:r>
          </a:p>
        </p:txBody>
      </p:sp>
      <p:sp>
        <p:nvSpPr>
          <p:cNvPr id="94" name="TextBox 93">
            <a:extLst>
              <a:ext uri="{FF2B5EF4-FFF2-40B4-BE49-F238E27FC236}">
                <a16:creationId xmlns:a16="http://schemas.microsoft.com/office/drawing/2014/main" id="{2ED368A1-1063-5156-EACE-4D8C47486BD5}"/>
              </a:ext>
            </a:extLst>
          </p:cNvPr>
          <p:cNvSpPr txBox="1"/>
          <p:nvPr/>
        </p:nvSpPr>
        <p:spPr>
          <a:xfrm>
            <a:off x="9919786" y="2452927"/>
            <a:ext cx="1963881" cy="215444"/>
          </a:xfrm>
          <a:prstGeom prst="rect">
            <a:avLst/>
          </a:prstGeom>
          <a:noFill/>
        </p:spPr>
        <p:txBody>
          <a:bodyPr wrap="square" rtlCol="0">
            <a:spAutoFit/>
          </a:bodyPr>
          <a:lstStyle/>
          <a:p>
            <a:r>
              <a:rPr lang="en-DK" sz="800" b="1" dirty="0">
                <a:solidFill>
                  <a:schemeClr val="tx2">
                    <a:lumMod val="75000"/>
                    <a:lumOff val="25000"/>
                  </a:schemeClr>
                </a:solidFill>
              </a:rPr>
              <a:t>ATCAACA</a:t>
            </a:r>
          </a:p>
        </p:txBody>
      </p:sp>
      <p:sp>
        <p:nvSpPr>
          <p:cNvPr id="95" name="TextBox 94">
            <a:extLst>
              <a:ext uri="{FF2B5EF4-FFF2-40B4-BE49-F238E27FC236}">
                <a16:creationId xmlns:a16="http://schemas.microsoft.com/office/drawing/2014/main" id="{5CF85F73-9979-ED4E-8E22-ADB350E3D213}"/>
              </a:ext>
            </a:extLst>
          </p:cNvPr>
          <p:cNvSpPr txBox="1"/>
          <p:nvPr/>
        </p:nvSpPr>
        <p:spPr>
          <a:xfrm>
            <a:off x="9919786" y="2576909"/>
            <a:ext cx="1963881" cy="215444"/>
          </a:xfrm>
          <a:prstGeom prst="rect">
            <a:avLst/>
          </a:prstGeom>
          <a:noFill/>
        </p:spPr>
        <p:txBody>
          <a:bodyPr wrap="square" rtlCol="0">
            <a:spAutoFit/>
          </a:bodyPr>
          <a:lstStyle/>
          <a:p>
            <a:r>
              <a:rPr lang="en-DK" sz="800" b="1" dirty="0">
                <a:solidFill>
                  <a:schemeClr val="tx2">
                    <a:lumMod val="75000"/>
                    <a:lumOff val="25000"/>
                  </a:schemeClr>
                </a:solidFill>
              </a:rPr>
              <a:t>…</a:t>
            </a:r>
          </a:p>
        </p:txBody>
      </p:sp>
      <p:sp>
        <p:nvSpPr>
          <p:cNvPr id="96" name="TextBox 95">
            <a:extLst>
              <a:ext uri="{FF2B5EF4-FFF2-40B4-BE49-F238E27FC236}">
                <a16:creationId xmlns:a16="http://schemas.microsoft.com/office/drawing/2014/main" id="{3CC0041E-2152-0B3B-F37B-59FFBAE86461}"/>
              </a:ext>
            </a:extLst>
          </p:cNvPr>
          <p:cNvSpPr txBox="1"/>
          <p:nvPr/>
        </p:nvSpPr>
        <p:spPr>
          <a:xfrm>
            <a:off x="7967549" y="2729638"/>
            <a:ext cx="1963881" cy="215444"/>
          </a:xfrm>
          <a:prstGeom prst="rect">
            <a:avLst/>
          </a:prstGeom>
          <a:noFill/>
        </p:spPr>
        <p:txBody>
          <a:bodyPr wrap="square" rtlCol="0">
            <a:spAutoFit/>
          </a:bodyPr>
          <a:lstStyle/>
          <a:p>
            <a:r>
              <a:rPr lang="en-DK" sz="800" b="1" dirty="0">
                <a:solidFill>
                  <a:schemeClr val="tx2">
                    <a:lumMod val="75000"/>
                    <a:lumOff val="25000"/>
                  </a:schemeClr>
                </a:solidFill>
              </a:rPr>
              <a:t>…</a:t>
            </a:r>
          </a:p>
        </p:txBody>
      </p:sp>
    </p:spTree>
    <p:extLst>
      <p:ext uri="{BB962C8B-B14F-4D97-AF65-F5344CB8AC3E}">
        <p14:creationId xmlns:p14="http://schemas.microsoft.com/office/powerpoint/2010/main" val="82675276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0CF25185-31BC-634C-95C1-A943C26F2604}"/>
              </a:ext>
            </a:extLst>
          </p:cNvPr>
          <p:cNvGraphicFramePr>
            <a:graphicFrameLocks noGrp="1"/>
          </p:cNvGraphicFramePr>
          <p:nvPr>
            <p:extLst>
              <p:ext uri="{D42A27DB-BD31-4B8C-83A1-F6EECF244321}">
                <p14:modId xmlns:p14="http://schemas.microsoft.com/office/powerpoint/2010/main" val="2340512521"/>
              </p:ext>
            </p:extLst>
          </p:nvPr>
        </p:nvGraphicFramePr>
        <p:xfrm>
          <a:off x="1383468" y="1220397"/>
          <a:ext cx="9921841" cy="3112942"/>
        </p:xfrm>
        <a:graphic>
          <a:graphicData uri="http://schemas.openxmlformats.org/drawingml/2006/table">
            <a:tbl>
              <a:tblPr firstRow="1" bandRow="1">
                <a:tableStyleId>{B301B821-A1FF-4177-AEE7-76D212191A09}</a:tableStyleId>
              </a:tblPr>
              <a:tblGrid>
                <a:gridCol w="1751778">
                  <a:extLst>
                    <a:ext uri="{9D8B030D-6E8A-4147-A177-3AD203B41FA5}">
                      <a16:colId xmlns:a16="http://schemas.microsoft.com/office/drawing/2014/main" val="2515698166"/>
                    </a:ext>
                  </a:extLst>
                </a:gridCol>
                <a:gridCol w="5659686">
                  <a:extLst>
                    <a:ext uri="{9D8B030D-6E8A-4147-A177-3AD203B41FA5}">
                      <a16:colId xmlns:a16="http://schemas.microsoft.com/office/drawing/2014/main" val="3073312144"/>
                    </a:ext>
                  </a:extLst>
                </a:gridCol>
                <a:gridCol w="2510377">
                  <a:extLst>
                    <a:ext uri="{9D8B030D-6E8A-4147-A177-3AD203B41FA5}">
                      <a16:colId xmlns:a16="http://schemas.microsoft.com/office/drawing/2014/main" val="374859687"/>
                    </a:ext>
                  </a:extLst>
                </a:gridCol>
              </a:tblGrid>
              <a:tr h="265323">
                <a:tc>
                  <a:txBody>
                    <a:bodyPr/>
                    <a:lstStyle/>
                    <a:p>
                      <a:pPr algn="ctr"/>
                      <a:r>
                        <a:rPr lang="en-DK" sz="1200" dirty="0"/>
                        <a:t>Method</a:t>
                      </a:r>
                    </a:p>
                  </a:txBody>
                  <a:tcPr anchor="ctr"/>
                </a:tc>
                <a:tc>
                  <a:txBody>
                    <a:bodyPr/>
                    <a:lstStyle/>
                    <a:p>
                      <a:pPr algn="ctr"/>
                      <a:r>
                        <a:rPr lang="en-DK" sz="1200" dirty="0"/>
                        <a:t>Tools</a:t>
                      </a:r>
                    </a:p>
                  </a:txBody>
                  <a:tcPr anchor="ctr"/>
                </a:tc>
                <a:tc>
                  <a:txBody>
                    <a:bodyPr/>
                    <a:lstStyle/>
                    <a:p>
                      <a:pPr algn="ctr"/>
                      <a:r>
                        <a:rPr lang="en-DK" sz="1200" dirty="0"/>
                        <a:t>Databases</a:t>
                      </a:r>
                    </a:p>
                  </a:txBody>
                  <a:tcPr anchor="ctr"/>
                </a:tc>
                <a:extLst>
                  <a:ext uri="{0D108BD9-81ED-4DB2-BD59-A6C34878D82A}">
                    <a16:rowId xmlns:a16="http://schemas.microsoft.com/office/drawing/2014/main" val="2920315549"/>
                  </a:ext>
                </a:extLst>
              </a:tr>
              <a:tr h="1284142">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1200" dirty="0"/>
                        <a:t>16S Amplicon-based Profiling</a:t>
                      </a:r>
                      <a:endParaRPr lang="en-DK" sz="1200" dirty="0"/>
                    </a:p>
                    <a:p>
                      <a:pPr algn="ctr"/>
                      <a:endParaRPr lang="en-DK" sz="1200" dirty="0"/>
                    </a:p>
                  </a:txBody>
                  <a:tcPr anchor="ctr"/>
                </a:tc>
                <a:tc>
                  <a:txBody>
                    <a:bodyPr/>
                    <a:lstStyle/>
                    <a:p>
                      <a:r>
                        <a:rPr lang="en-GB" sz="1200" b="1" dirty="0"/>
                        <a:t>QIIME 2</a:t>
                      </a:r>
                      <a:r>
                        <a:rPr lang="en-GB" sz="1200" dirty="0"/>
                        <a:t>: A popular pipeline supporting DADA2, Deblur, and multiple classifiers (Naive Bayes, etc.).</a:t>
                      </a:r>
                    </a:p>
                    <a:p>
                      <a:r>
                        <a:rPr lang="en-GB" sz="1200" b="1" dirty="0">
                          <a:solidFill>
                            <a:srgbClr val="FF0000"/>
                          </a:solidFill>
                        </a:rPr>
                        <a:t>DADA2</a:t>
                      </a:r>
                      <a:r>
                        <a:rPr lang="en-GB" sz="1200" dirty="0">
                          <a:solidFill>
                            <a:srgbClr val="FF0000"/>
                          </a:solidFill>
                        </a:rPr>
                        <a:t>: High-resolution method that infers amplicon sequence variants (ASVs).</a:t>
                      </a:r>
                    </a:p>
                    <a:p>
                      <a:r>
                        <a:rPr lang="en-GB" sz="1200" b="1" dirty="0"/>
                        <a:t>USEARCH / VSEARCH</a:t>
                      </a:r>
                      <a:r>
                        <a:rPr lang="en-GB" sz="1200" dirty="0"/>
                        <a:t>: Clustering-based OTU picking methods.</a:t>
                      </a:r>
                    </a:p>
                    <a:p>
                      <a:r>
                        <a:rPr lang="en-GB" sz="1200" b="1" dirty="0" err="1"/>
                        <a:t>Mothur</a:t>
                      </a:r>
                      <a:r>
                        <a:rPr lang="en-GB" sz="1200" dirty="0"/>
                        <a:t>: OTU-based method using different clustering and alignment strategies.</a:t>
                      </a:r>
                    </a:p>
                    <a:p>
                      <a:r>
                        <a:rPr lang="en-GB" sz="1200" b="1" dirty="0"/>
                        <a:t>RDP Classifier</a:t>
                      </a:r>
                      <a:r>
                        <a:rPr lang="en-GB" sz="1200" dirty="0"/>
                        <a:t>: Naive Bayesian classifier for assigning taxonomy.</a:t>
                      </a:r>
                    </a:p>
                  </a:txBody>
                  <a:tcPr/>
                </a:tc>
                <a:tc>
                  <a:txBody>
                    <a:bodyPr/>
                    <a:lstStyle/>
                    <a:p>
                      <a:r>
                        <a:rPr lang="en-GB" sz="1200" b="1" dirty="0"/>
                        <a:t>SILVA</a:t>
                      </a:r>
                    </a:p>
                    <a:p>
                      <a:r>
                        <a:rPr lang="en-GB" sz="1200" b="1" dirty="0" err="1"/>
                        <a:t>Greengenes</a:t>
                      </a:r>
                      <a:r>
                        <a:rPr lang="en-GB" sz="1200" dirty="0"/>
                        <a:t> (deprecated but still used)</a:t>
                      </a:r>
                    </a:p>
                    <a:p>
                      <a:r>
                        <a:rPr lang="en-GB" sz="1200" b="1" dirty="0"/>
                        <a:t>RDP</a:t>
                      </a:r>
                    </a:p>
                    <a:p>
                      <a:r>
                        <a:rPr lang="en-GB" sz="1200" b="1" dirty="0"/>
                        <a:t>UNITE</a:t>
                      </a:r>
                      <a:r>
                        <a:rPr lang="en-GB" sz="1200" dirty="0"/>
                        <a:t> (for fungi)</a:t>
                      </a:r>
                    </a:p>
                    <a:p>
                      <a:endParaRPr lang="en-DK" sz="1200" dirty="0"/>
                    </a:p>
                  </a:txBody>
                  <a:tcPr/>
                </a:tc>
                <a:extLst>
                  <a:ext uri="{0D108BD9-81ED-4DB2-BD59-A6C34878D82A}">
                    <a16:rowId xmlns:a16="http://schemas.microsoft.com/office/drawing/2014/main" val="547700518"/>
                  </a:ext>
                </a:extLst>
              </a:tr>
              <a:tr h="1312857">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1200" dirty="0"/>
                        <a:t>Shotgun Metagenomics-based</a:t>
                      </a:r>
                      <a:endParaRPr lang="en-DK" sz="1200" dirty="0"/>
                    </a:p>
                    <a:p>
                      <a:pPr algn="ctr"/>
                      <a:r>
                        <a:rPr lang="en-GB" sz="1200" dirty="0"/>
                        <a:t>Reference-based profiling</a:t>
                      </a:r>
                      <a:endParaRPr lang="en-DK" sz="1200" dirty="0"/>
                    </a:p>
                  </a:txBody>
                  <a:tcPr anchor="ctr"/>
                </a:tc>
                <a:tc>
                  <a:txBody>
                    <a:bodyPr/>
                    <a:lstStyle/>
                    <a:p>
                      <a:r>
                        <a:rPr lang="en-GB" sz="1200" b="1" dirty="0">
                          <a:solidFill>
                            <a:srgbClr val="FF0000"/>
                          </a:solidFill>
                        </a:rPr>
                        <a:t>MetaPhlAn4</a:t>
                      </a:r>
                      <a:r>
                        <a:rPr lang="en-GB" sz="1200" dirty="0">
                          <a:solidFill>
                            <a:srgbClr val="FF0000"/>
                          </a:solidFill>
                        </a:rPr>
                        <a:t>: Uses clade-specific marker genes for fast, accurate profiling.</a:t>
                      </a:r>
                    </a:p>
                    <a:p>
                      <a:r>
                        <a:rPr lang="en-GB" sz="1200" b="1" dirty="0"/>
                        <a:t>Kraken2 / </a:t>
                      </a:r>
                      <a:r>
                        <a:rPr lang="en-GB" sz="1200" b="1" dirty="0" err="1"/>
                        <a:t>KrakenUniq</a:t>
                      </a:r>
                      <a:r>
                        <a:rPr lang="en-GB" sz="1200" dirty="0"/>
                        <a:t>: K-</a:t>
                      </a:r>
                      <a:r>
                        <a:rPr lang="en-GB" sz="1200" dirty="0" err="1"/>
                        <a:t>mer</a:t>
                      </a:r>
                      <a:r>
                        <a:rPr lang="en-GB" sz="1200" dirty="0"/>
                        <a:t> based, ultra-fast classification against a database of genomes.</a:t>
                      </a:r>
                    </a:p>
                    <a:p>
                      <a:r>
                        <a:rPr lang="en-GB" sz="1200" b="1" dirty="0"/>
                        <a:t>Centrifuge</a:t>
                      </a:r>
                      <a:r>
                        <a:rPr lang="en-GB" sz="1200" dirty="0"/>
                        <a:t>: K-</a:t>
                      </a:r>
                      <a:r>
                        <a:rPr lang="en-GB" sz="1200" dirty="0" err="1"/>
                        <a:t>mer</a:t>
                      </a:r>
                      <a:r>
                        <a:rPr lang="en-GB" sz="1200" dirty="0"/>
                        <a:t> based, designed for large reference databases and low-memory use.</a:t>
                      </a:r>
                    </a:p>
                    <a:p>
                      <a:r>
                        <a:rPr lang="en-GB" sz="1200" b="1" dirty="0" err="1"/>
                        <a:t>HUMAnN</a:t>
                      </a:r>
                      <a:r>
                        <a:rPr lang="en-GB" sz="1200" b="1" dirty="0"/>
                        <a:t> / HUMAnN3</a:t>
                      </a:r>
                      <a:r>
                        <a:rPr lang="en-GB" sz="1200" dirty="0"/>
                        <a:t>: Often used alongside MetaPhlAn for functional and taxonomic profiling.</a:t>
                      </a:r>
                    </a:p>
                    <a:p>
                      <a:r>
                        <a:rPr lang="en-GB" sz="1200" b="1" dirty="0" err="1"/>
                        <a:t>StrainPhlAn</a:t>
                      </a:r>
                      <a:r>
                        <a:rPr lang="en-GB" sz="1200" dirty="0"/>
                        <a:t>: Extension of MetaPhlAn for strain-level profiling.</a:t>
                      </a:r>
                    </a:p>
                  </a:txBody>
                  <a:tcPr/>
                </a:tc>
                <a:tc>
                  <a:txBody>
                    <a:bodyPr/>
                    <a:lstStyle/>
                    <a:p>
                      <a:r>
                        <a:rPr lang="en-GB" sz="1200" b="1" dirty="0" err="1"/>
                        <a:t>ChocoPhlAn</a:t>
                      </a:r>
                      <a:r>
                        <a:rPr lang="en-GB" sz="1200" dirty="0"/>
                        <a:t> (used by MetaPhlAn)</a:t>
                      </a:r>
                    </a:p>
                    <a:p>
                      <a:r>
                        <a:rPr lang="en-GB" sz="1200" b="1" dirty="0" err="1"/>
                        <a:t>RefSeq</a:t>
                      </a:r>
                      <a:r>
                        <a:rPr lang="en-GB" sz="1200" b="1" dirty="0"/>
                        <a:t> / GenBank</a:t>
                      </a:r>
                      <a:r>
                        <a:rPr lang="en-GB" sz="1200" dirty="0"/>
                        <a:t> (used by Kraken/Centrifuge)</a:t>
                      </a:r>
                    </a:p>
                    <a:p>
                      <a:r>
                        <a:rPr lang="en-GB" sz="1200" b="1" dirty="0"/>
                        <a:t>GTDB</a:t>
                      </a:r>
                      <a:r>
                        <a:rPr lang="en-GB" sz="1200" dirty="0"/>
                        <a:t> (Genome-based taxonomic reference)</a:t>
                      </a:r>
                    </a:p>
                  </a:txBody>
                  <a:tcPr/>
                </a:tc>
                <a:extLst>
                  <a:ext uri="{0D108BD9-81ED-4DB2-BD59-A6C34878D82A}">
                    <a16:rowId xmlns:a16="http://schemas.microsoft.com/office/drawing/2014/main" val="2420066335"/>
                  </a:ext>
                </a:extLst>
              </a:tr>
            </a:tbl>
          </a:graphicData>
        </a:graphic>
      </p:graphicFrame>
      <p:sp>
        <p:nvSpPr>
          <p:cNvPr id="6" name="Title 5">
            <a:extLst>
              <a:ext uri="{FF2B5EF4-FFF2-40B4-BE49-F238E27FC236}">
                <a16:creationId xmlns:a16="http://schemas.microsoft.com/office/drawing/2014/main" id="{4A011325-2B94-F5FC-E9B4-F25C0E4FE089}"/>
              </a:ext>
            </a:extLst>
          </p:cNvPr>
          <p:cNvSpPr>
            <a:spLocks noGrp="1"/>
          </p:cNvSpPr>
          <p:nvPr>
            <p:ph type="title"/>
          </p:nvPr>
        </p:nvSpPr>
        <p:spPr>
          <a:xfrm>
            <a:off x="161189" y="59980"/>
            <a:ext cx="11869618" cy="1325563"/>
          </a:xfrm>
        </p:spPr>
        <p:txBody>
          <a:bodyPr>
            <a:normAutofit/>
          </a:bodyPr>
          <a:lstStyle/>
          <a:p>
            <a:r>
              <a:rPr lang="en-DK" sz="4000" dirty="0"/>
              <a:t>Amplicon and read-based shotgun metagenomics tools</a:t>
            </a:r>
          </a:p>
        </p:txBody>
      </p:sp>
      <p:sp>
        <p:nvSpPr>
          <p:cNvPr id="7" name="TextBox 6">
            <a:extLst>
              <a:ext uri="{FF2B5EF4-FFF2-40B4-BE49-F238E27FC236}">
                <a16:creationId xmlns:a16="http://schemas.microsoft.com/office/drawing/2014/main" id="{8BE06B95-E750-5833-A26A-7406DA1544D5}"/>
              </a:ext>
            </a:extLst>
          </p:cNvPr>
          <p:cNvSpPr txBox="1"/>
          <p:nvPr/>
        </p:nvSpPr>
        <p:spPr>
          <a:xfrm>
            <a:off x="1383468" y="4461164"/>
            <a:ext cx="9921841" cy="2308324"/>
          </a:xfrm>
          <a:prstGeom prst="rect">
            <a:avLst/>
          </a:prstGeom>
          <a:noFill/>
        </p:spPr>
        <p:txBody>
          <a:bodyPr wrap="square" rtlCol="0">
            <a:spAutoFit/>
          </a:bodyPr>
          <a:lstStyle/>
          <a:p>
            <a:r>
              <a:rPr lang="en-DK" dirty="0"/>
              <a:t>Choice depending on:</a:t>
            </a:r>
          </a:p>
          <a:p>
            <a:endParaRPr lang="en-DK" dirty="0"/>
          </a:p>
          <a:p>
            <a:pPr marL="285750" indent="-285750">
              <a:buFont typeface="Arial" panose="020B0604020202020204" pitchFamily="34" charset="0"/>
              <a:buChar char="•"/>
            </a:pPr>
            <a:r>
              <a:rPr lang="en-GB" b="1" dirty="0"/>
              <a:t>Speed vs. Accuracy</a:t>
            </a:r>
            <a:r>
              <a:rPr lang="en-GB" dirty="0"/>
              <a:t>: Kraken2 is fast; MetaPhlAn is more accurate for species-level identification.</a:t>
            </a:r>
          </a:p>
          <a:p>
            <a:pPr marL="285750" indent="-285750">
              <a:buFont typeface="Arial" panose="020B0604020202020204" pitchFamily="34" charset="0"/>
              <a:buChar char="•"/>
            </a:pPr>
            <a:r>
              <a:rPr lang="en-GB" b="1" dirty="0"/>
              <a:t>Resolution</a:t>
            </a:r>
            <a:r>
              <a:rPr lang="en-GB" dirty="0"/>
              <a:t>: DADA2 and MetaPhlAn can provide high-resolution profiling.</a:t>
            </a:r>
          </a:p>
          <a:p>
            <a:pPr marL="285750" indent="-285750">
              <a:buFont typeface="Arial" panose="020B0604020202020204" pitchFamily="34" charset="0"/>
              <a:buChar char="•"/>
            </a:pPr>
            <a:r>
              <a:rPr lang="en-GB" b="1" dirty="0"/>
              <a:t>Data Type</a:t>
            </a:r>
            <a:r>
              <a:rPr lang="en-GB" dirty="0"/>
              <a:t>: Amplicon (16S) vs. shotgun metagenomics.</a:t>
            </a:r>
          </a:p>
          <a:p>
            <a:pPr marL="285750" indent="-285750">
              <a:buFont typeface="Arial" panose="020B0604020202020204" pitchFamily="34" charset="0"/>
              <a:buChar char="•"/>
            </a:pPr>
            <a:r>
              <a:rPr lang="en-GB" b="1" dirty="0"/>
              <a:t>Resource Requirements</a:t>
            </a:r>
            <a:r>
              <a:rPr lang="en-GB" dirty="0"/>
              <a:t>: Kraken needs large memory for big databases; MetaPhlAn is lighter.</a:t>
            </a:r>
          </a:p>
          <a:p>
            <a:endParaRPr lang="en-DK" dirty="0"/>
          </a:p>
        </p:txBody>
      </p:sp>
    </p:spTree>
    <p:extLst>
      <p:ext uri="{BB962C8B-B14F-4D97-AF65-F5344CB8AC3E}">
        <p14:creationId xmlns:p14="http://schemas.microsoft.com/office/powerpoint/2010/main" val="213081101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0A94DE-74AF-9F48-4FCC-6F85663574B0}"/>
              </a:ext>
            </a:extLst>
          </p:cNvPr>
          <p:cNvSpPr>
            <a:spLocks noGrp="1"/>
          </p:cNvSpPr>
          <p:nvPr>
            <p:ph type="title"/>
          </p:nvPr>
        </p:nvSpPr>
        <p:spPr>
          <a:xfrm>
            <a:off x="61628" y="-207378"/>
            <a:ext cx="12155336" cy="1325563"/>
          </a:xfrm>
        </p:spPr>
        <p:txBody>
          <a:bodyPr>
            <a:normAutofit/>
          </a:bodyPr>
          <a:lstStyle/>
          <a:p>
            <a:r>
              <a:rPr lang="en-GB" sz="3600" dirty="0"/>
              <a:t>Assembly-based methods: </a:t>
            </a:r>
            <a:r>
              <a:rPr lang="en-DK" sz="3200" dirty="0"/>
              <a:t>Metagenome-assembled genomes (MAG)</a:t>
            </a:r>
          </a:p>
        </p:txBody>
      </p:sp>
      <p:grpSp>
        <p:nvGrpSpPr>
          <p:cNvPr id="107" name="Group 106">
            <a:extLst>
              <a:ext uri="{FF2B5EF4-FFF2-40B4-BE49-F238E27FC236}">
                <a16:creationId xmlns:a16="http://schemas.microsoft.com/office/drawing/2014/main" id="{94FA764F-F235-018A-1932-2E14C01246CB}"/>
              </a:ext>
            </a:extLst>
          </p:cNvPr>
          <p:cNvGrpSpPr/>
          <p:nvPr/>
        </p:nvGrpSpPr>
        <p:grpSpPr>
          <a:xfrm>
            <a:off x="3020277" y="931457"/>
            <a:ext cx="1584615" cy="1697182"/>
            <a:chOff x="2867877" y="1810364"/>
            <a:chExt cx="1584615" cy="1697182"/>
          </a:xfrm>
        </p:grpSpPr>
        <p:cxnSp>
          <p:nvCxnSpPr>
            <p:cNvPr id="75" name="Straight Connector 74">
              <a:extLst>
                <a:ext uri="{FF2B5EF4-FFF2-40B4-BE49-F238E27FC236}">
                  <a16:creationId xmlns:a16="http://schemas.microsoft.com/office/drawing/2014/main" id="{CD2B55C1-1FE4-B0AA-FAF8-15CA5D3CA10C}"/>
                </a:ext>
              </a:extLst>
            </p:cNvPr>
            <p:cNvCxnSpPr>
              <a:cxnSpLocks/>
            </p:cNvCxnSpPr>
            <p:nvPr/>
          </p:nvCxnSpPr>
          <p:spPr>
            <a:xfrm>
              <a:off x="3149299" y="1810364"/>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76" name="Straight Connector 75">
              <a:extLst>
                <a:ext uri="{FF2B5EF4-FFF2-40B4-BE49-F238E27FC236}">
                  <a16:creationId xmlns:a16="http://schemas.microsoft.com/office/drawing/2014/main" id="{437EFD28-67B6-A869-6D89-64917056740F}"/>
                </a:ext>
              </a:extLst>
            </p:cNvPr>
            <p:cNvCxnSpPr>
              <a:cxnSpLocks/>
            </p:cNvCxnSpPr>
            <p:nvPr/>
          </p:nvCxnSpPr>
          <p:spPr>
            <a:xfrm>
              <a:off x="3677503" y="2977176"/>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77" name="Straight Connector 76">
              <a:extLst>
                <a:ext uri="{FF2B5EF4-FFF2-40B4-BE49-F238E27FC236}">
                  <a16:creationId xmlns:a16="http://schemas.microsoft.com/office/drawing/2014/main" id="{A51FD599-1788-1CD5-4A1E-316C9B67F546}"/>
                </a:ext>
              </a:extLst>
            </p:cNvPr>
            <p:cNvCxnSpPr>
              <a:cxnSpLocks/>
            </p:cNvCxnSpPr>
            <p:nvPr/>
          </p:nvCxnSpPr>
          <p:spPr>
            <a:xfrm>
              <a:off x="3339799" y="2000864"/>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78" name="Straight Connector 77">
              <a:extLst>
                <a:ext uri="{FF2B5EF4-FFF2-40B4-BE49-F238E27FC236}">
                  <a16:creationId xmlns:a16="http://schemas.microsoft.com/office/drawing/2014/main" id="{79B650EF-CED5-A1B7-E17A-ADF48C85727D}"/>
                </a:ext>
              </a:extLst>
            </p:cNvPr>
            <p:cNvCxnSpPr>
              <a:cxnSpLocks/>
            </p:cNvCxnSpPr>
            <p:nvPr/>
          </p:nvCxnSpPr>
          <p:spPr>
            <a:xfrm>
              <a:off x="3456696" y="2859595"/>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79" name="Straight Connector 78">
              <a:extLst>
                <a:ext uri="{FF2B5EF4-FFF2-40B4-BE49-F238E27FC236}">
                  <a16:creationId xmlns:a16="http://schemas.microsoft.com/office/drawing/2014/main" id="{464F029C-5E2E-A0D8-2115-82AB33D9975C}"/>
                </a:ext>
              </a:extLst>
            </p:cNvPr>
            <p:cNvCxnSpPr>
              <a:cxnSpLocks/>
            </p:cNvCxnSpPr>
            <p:nvPr/>
          </p:nvCxnSpPr>
          <p:spPr>
            <a:xfrm>
              <a:off x="3080026" y="2192845"/>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80" name="Straight Connector 79">
              <a:extLst>
                <a:ext uri="{FF2B5EF4-FFF2-40B4-BE49-F238E27FC236}">
                  <a16:creationId xmlns:a16="http://schemas.microsoft.com/office/drawing/2014/main" id="{31663D95-4D1A-38D4-79CD-645A80D8FAF2}"/>
                </a:ext>
              </a:extLst>
            </p:cNvPr>
            <p:cNvCxnSpPr>
              <a:cxnSpLocks/>
            </p:cNvCxnSpPr>
            <p:nvPr/>
          </p:nvCxnSpPr>
          <p:spPr>
            <a:xfrm>
              <a:off x="3625549" y="2286614"/>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81" name="Straight Connector 80">
              <a:extLst>
                <a:ext uri="{FF2B5EF4-FFF2-40B4-BE49-F238E27FC236}">
                  <a16:creationId xmlns:a16="http://schemas.microsoft.com/office/drawing/2014/main" id="{30725C60-26A4-DE83-1C74-4A0AA35BAB13}"/>
                </a:ext>
              </a:extLst>
            </p:cNvPr>
            <p:cNvCxnSpPr>
              <a:cxnSpLocks/>
            </p:cNvCxnSpPr>
            <p:nvPr/>
          </p:nvCxnSpPr>
          <p:spPr>
            <a:xfrm>
              <a:off x="3188265" y="2381864"/>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82" name="Straight Connector 81">
              <a:extLst>
                <a:ext uri="{FF2B5EF4-FFF2-40B4-BE49-F238E27FC236}">
                  <a16:creationId xmlns:a16="http://schemas.microsoft.com/office/drawing/2014/main" id="{CDFB7238-20E6-E742-D813-E2BD252210F5}"/>
                </a:ext>
              </a:extLst>
            </p:cNvPr>
            <p:cNvCxnSpPr>
              <a:cxnSpLocks/>
            </p:cNvCxnSpPr>
            <p:nvPr/>
          </p:nvCxnSpPr>
          <p:spPr>
            <a:xfrm>
              <a:off x="3361446" y="2762864"/>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83" name="Straight Connector 82">
              <a:extLst>
                <a:ext uri="{FF2B5EF4-FFF2-40B4-BE49-F238E27FC236}">
                  <a16:creationId xmlns:a16="http://schemas.microsoft.com/office/drawing/2014/main" id="{D1B8EA91-FB06-8362-F6FF-81CB8FC9F6FB}"/>
                </a:ext>
              </a:extLst>
            </p:cNvPr>
            <p:cNvCxnSpPr>
              <a:cxnSpLocks/>
            </p:cNvCxnSpPr>
            <p:nvPr/>
          </p:nvCxnSpPr>
          <p:spPr>
            <a:xfrm>
              <a:off x="2915503" y="2096114"/>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84" name="Straight Connector 83">
              <a:extLst>
                <a:ext uri="{FF2B5EF4-FFF2-40B4-BE49-F238E27FC236}">
                  <a16:creationId xmlns:a16="http://schemas.microsoft.com/office/drawing/2014/main" id="{69C4F3E5-5CC5-7AA3-9467-5E6D920B986F}"/>
                </a:ext>
              </a:extLst>
            </p:cNvPr>
            <p:cNvCxnSpPr>
              <a:cxnSpLocks/>
            </p:cNvCxnSpPr>
            <p:nvPr/>
          </p:nvCxnSpPr>
          <p:spPr>
            <a:xfrm>
              <a:off x="3816049" y="2560857"/>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85" name="Straight Connector 84">
              <a:extLst>
                <a:ext uri="{FF2B5EF4-FFF2-40B4-BE49-F238E27FC236}">
                  <a16:creationId xmlns:a16="http://schemas.microsoft.com/office/drawing/2014/main" id="{99A33564-0446-6F7D-9C55-A1EF766D293C}"/>
                </a:ext>
              </a:extLst>
            </p:cNvPr>
            <p:cNvCxnSpPr>
              <a:cxnSpLocks/>
            </p:cNvCxnSpPr>
            <p:nvPr/>
          </p:nvCxnSpPr>
          <p:spPr>
            <a:xfrm>
              <a:off x="3417731" y="3507546"/>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86" name="Straight Connector 85">
              <a:extLst>
                <a:ext uri="{FF2B5EF4-FFF2-40B4-BE49-F238E27FC236}">
                  <a16:creationId xmlns:a16="http://schemas.microsoft.com/office/drawing/2014/main" id="{342DA60A-EB38-E57F-3896-7BA4174369FF}"/>
                </a:ext>
              </a:extLst>
            </p:cNvPr>
            <p:cNvCxnSpPr>
              <a:cxnSpLocks/>
            </p:cNvCxnSpPr>
            <p:nvPr/>
          </p:nvCxnSpPr>
          <p:spPr>
            <a:xfrm>
              <a:off x="3045390" y="2491584"/>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87" name="Straight Connector 86">
              <a:extLst>
                <a:ext uri="{FF2B5EF4-FFF2-40B4-BE49-F238E27FC236}">
                  <a16:creationId xmlns:a16="http://schemas.microsoft.com/office/drawing/2014/main" id="{0F0BFFF3-EBDF-6BFF-8AFE-64D3C43E707F}"/>
                </a:ext>
              </a:extLst>
            </p:cNvPr>
            <p:cNvCxnSpPr>
              <a:cxnSpLocks/>
            </p:cNvCxnSpPr>
            <p:nvPr/>
          </p:nvCxnSpPr>
          <p:spPr>
            <a:xfrm>
              <a:off x="4028196" y="2667614"/>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88" name="Straight Connector 87">
              <a:extLst>
                <a:ext uri="{FF2B5EF4-FFF2-40B4-BE49-F238E27FC236}">
                  <a16:creationId xmlns:a16="http://schemas.microsoft.com/office/drawing/2014/main" id="{91A78C35-24AC-992C-A54D-1F7236A9FFA7}"/>
                </a:ext>
              </a:extLst>
            </p:cNvPr>
            <p:cNvCxnSpPr>
              <a:cxnSpLocks/>
            </p:cNvCxnSpPr>
            <p:nvPr/>
          </p:nvCxnSpPr>
          <p:spPr>
            <a:xfrm>
              <a:off x="3842026" y="2192845"/>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89" name="Straight Connector 88">
              <a:extLst>
                <a:ext uri="{FF2B5EF4-FFF2-40B4-BE49-F238E27FC236}">
                  <a16:creationId xmlns:a16="http://schemas.microsoft.com/office/drawing/2014/main" id="{6D460C39-691D-87B0-95F4-FB80FAFB0CBB}"/>
                </a:ext>
              </a:extLst>
            </p:cNvPr>
            <p:cNvCxnSpPr>
              <a:cxnSpLocks/>
            </p:cNvCxnSpPr>
            <p:nvPr/>
          </p:nvCxnSpPr>
          <p:spPr>
            <a:xfrm>
              <a:off x="3772753" y="3072426"/>
              <a:ext cx="424296" cy="0"/>
            </a:xfrm>
            <a:prstGeom prst="line">
              <a:avLst/>
            </a:prstGeom>
            <a:ln w="38100">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90" name="Straight Connector 89">
              <a:extLst>
                <a:ext uri="{FF2B5EF4-FFF2-40B4-BE49-F238E27FC236}">
                  <a16:creationId xmlns:a16="http://schemas.microsoft.com/office/drawing/2014/main" id="{8D2D887E-F7C7-5F61-7A60-AFDB608095C8}"/>
                </a:ext>
              </a:extLst>
            </p:cNvPr>
            <p:cNvCxnSpPr>
              <a:cxnSpLocks/>
            </p:cNvCxnSpPr>
            <p:nvPr/>
          </p:nvCxnSpPr>
          <p:spPr>
            <a:xfrm>
              <a:off x="3837696" y="2388358"/>
              <a:ext cx="424296" cy="0"/>
            </a:xfrm>
            <a:prstGeom prst="line">
              <a:avLst/>
            </a:prstGeom>
            <a:ln w="38100">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91" name="Straight Connector 90">
              <a:extLst>
                <a:ext uri="{FF2B5EF4-FFF2-40B4-BE49-F238E27FC236}">
                  <a16:creationId xmlns:a16="http://schemas.microsoft.com/office/drawing/2014/main" id="{4733F86B-5E1A-F3CB-6DA2-A6BC5AA26658}"/>
                </a:ext>
              </a:extLst>
            </p:cNvPr>
            <p:cNvCxnSpPr>
              <a:cxnSpLocks/>
            </p:cNvCxnSpPr>
            <p:nvPr/>
          </p:nvCxnSpPr>
          <p:spPr>
            <a:xfrm>
              <a:off x="2867877" y="2667614"/>
              <a:ext cx="424296" cy="0"/>
            </a:xfrm>
            <a:prstGeom prst="line">
              <a:avLst/>
            </a:prstGeom>
            <a:ln w="38100">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92" name="Straight Connector 91">
              <a:extLst>
                <a:ext uri="{FF2B5EF4-FFF2-40B4-BE49-F238E27FC236}">
                  <a16:creationId xmlns:a16="http://schemas.microsoft.com/office/drawing/2014/main" id="{E66E60B7-C9CD-13A0-F10A-490AF970D97E}"/>
                </a:ext>
              </a:extLst>
            </p:cNvPr>
            <p:cNvCxnSpPr>
              <a:cxnSpLocks/>
            </p:cNvCxnSpPr>
            <p:nvPr/>
          </p:nvCxnSpPr>
          <p:spPr>
            <a:xfrm>
              <a:off x="3790071" y="1810364"/>
              <a:ext cx="424296" cy="0"/>
            </a:xfrm>
            <a:prstGeom prst="line">
              <a:avLst/>
            </a:prstGeom>
            <a:ln w="38100">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93" name="Straight Connector 92">
              <a:extLst>
                <a:ext uri="{FF2B5EF4-FFF2-40B4-BE49-F238E27FC236}">
                  <a16:creationId xmlns:a16="http://schemas.microsoft.com/office/drawing/2014/main" id="{07EC37D6-9429-0AEC-1964-575905A38F9D}"/>
                </a:ext>
              </a:extLst>
            </p:cNvPr>
            <p:cNvCxnSpPr>
              <a:cxnSpLocks/>
            </p:cNvCxnSpPr>
            <p:nvPr/>
          </p:nvCxnSpPr>
          <p:spPr>
            <a:xfrm>
              <a:off x="3080025" y="3067413"/>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94" name="Straight Connector 93">
              <a:extLst>
                <a:ext uri="{FF2B5EF4-FFF2-40B4-BE49-F238E27FC236}">
                  <a16:creationId xmlns:a16="http://schemas.microsoft.com/office/drawing/2014/main" id="{35D38774-167B-84D8-ADE7-131F8CC01450}"/>
                </a:ext>
              </a:extLst>
            </p:cNvPr>
            <p:cNvCxnSpPr>
              <a:cxnSpLocks/>
            </p:cNvCxnSpPr>
            <p:nvPr/>
          </p:nvCxnSpPr>
          <p:spPr>
            <a:xfrm>
              <a:off x="3188264" y="3256432"/>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95" name="Straight Connector 94">
              <a:extLst>
                <a:ext uri="{FF2B5EF4-FFF2-40B4-BE49-F238E27FC236}">
                  <a16:creationId xmlns:a16="http://schemas.microsoft.com/office/drawing/2014/main" id="{07F0BB3D-EC5A-A65C-C2C1-FE4D6EC04D88}"/>
                </a:ext>
              </a:extLst>
            </p:cNvPr>
            <p:cNvCxnSpPr>
              <a:cxnSpLocks/>
            </p:cNvCxnSpPr>
            <p:nvPr/>
          </p:nvCxnSpPr>
          <p:spPr>
            <a:xfrm>
              <a:off x="2915503" y="2970682"/>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96" name="Straight Connector 95">
              <a:extLst>
                <a:ext uri="{FF2B5EF4-FFF2-40B4-BE49-F238E27FC236}">
                  <a16:creationId xmlns:a16="http://schemas.microsoft.com/office/drawing/2014/main" id="{9C552E23-A005-4A54-381E-B2677BB65330}"/>
                </a:ext>
              </a:extLst>
            </p:cNvPr>
            <p:cNvCxnSpPr>
              <a:cxnSpLocks/>
            </p:cNvCxnSpPr>
            <p:nvPr/>
          </p:nvCxnSpPr>
          <p:spPr>
            <a:xfrm>
              <a:off x="3045389" y="3366152"/>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97" name="Straight Connector 96">
              <a:extLst>
                <a:ext uri="{FF2B5EF4-FFF2-40B4-BE49-F238E27FC236}">
                  <a16:creationId xmlns:a16="http://schemas.microsoft.com/office/drawing/2014/main" id="{BC751767-A3EA-DE05-51BA-C702D1B97556}"/>
                </a:ext>
              </a:extLst>
            </p:cNvPr>
            <p:cNvCxnSpPr>
              <a:cxnSpLocks/>
            </p:cNvCxnSpPr>
            <p:nvPr/>
          </p:nvCxnSpPr>
          <p:spPr>
            <a:xfrm>
              <a:off x="3634208" y="3357493"/>
              <a:ext cx="424296" cy="0"/>
            </a:xfrm>
            <a:prstGeom prst="line">
              <a:avLst/>
            </a:prstGeom>
            <a:ln w="38100">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grpSp>
      <p:grpSp>
        <p:nvGrpSpPr>
          <p:cNvPr id="106" name="Group 105">
            <a:extLst>
              <a:ext uri="{FF2B5EF4-FFF2-40B4-BE49-F238E27FC236}">
                <a16:creationId xmlns:a16="http://schemas.microsoft.com/office/drawing/2014/main" id="{4A14D4D8-89E3-2A33-3F73-0B9DAF6C2A92}"/>
              </a:ext>
            </a:extLst>
          </p:cNvPr>
          <p:cNvGrpSpPr/>
          <p:nvPr/>
        </p:nvGrpSpPr>
        <p:grpSpPr>
          <a:xfrm>
            <a:off x="382717" y="990590"/>
            <a:ext cx="1961285" cy="1697182"/>
            <a:chOff x="382717" y="1794163"/>
            <a:chExt cx="1961285" cy="1697182"/>
          </a:xfrm>
        </p:grpSpPr>
        <p:cxnSp>
          <p:nvCxnSpPr>
            <p:cNvPr id="3" name="Straight Connector 2">
              <a:extLst>
                <a:ext uri="{FF2B5EF4-FFF2-40B4-BE49-F238E27FC236}">
                  <a16:creationId xmlns:a16="http://schemas.microsoft.com/office/drawing/2014/main" id="{0A6ABE82-CF61-A9CD-C1C5-9446BD4CAFDB}"/>
                </a:ext>
              </a:extLst>
            </p:cNvPr>
            <p:cNvCxnSpPr>
              <a:cxnSpLocks/>
            </p:cNvCxnSpPr>
            <p:nvPr/>
          </p:nvCxnSpPr>
          <p:spPr>
            <a:xfrm>
              <a:off x="828661" y="1794163"/>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5" name="Straight Connector 4">
              <a:extLst>
                <a:ext uri="{FF2B5EF4-FFF2-40B4-BE49-F238E27FC236}">
                  <a16:creationId xmlns:a16="http://schemas.microsoft.com/office/drawing/2014/main" id="{358EB98D-D540-2359-C27B-F7613E76CC92}"/>
                </a:ext>
              </a:extLst>
            </p:cNvPr>
            <p:cNvCxnSpPr>
              <a:cxnSpLocks/>
            </p:cNvCxnSpPr>
            <p:nvPr/>
          </p:nvCxnSpPr>
          <p:spPr>
            <a:xfrm>
              <a:off x="1356865" y="2960975"/>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6" name="Straight Connector 5">
              <a:extLst>
                <a:ext uri="{FF2B5EF4-FFF2-40B4-BE49-F238E27FC236}">
                  <a16:creationId xmlns:a16="http://schemas.microsoft.com/office/drawing/2014/main" id="{4C451E22-497F-8760-9CB7-2775AAF14568}"/>
                </a:ext>
              </a:extLst>
            </p:cNvPr>
            <p:cNvCxnSpPr>
              <a:cxnSpLocks/>
            </p:cNvCxnSpPr>
            <p:nvPr/>
          </p:nvCxnSpPr>
          <p:spPr>
            <a:xfrm>
              <a:off x="1019161" y="1984663"/>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7" name="Straight Connector 6">
              <a:extLst>
                <a:ext uri="{FF2B5EF4-FFF2-40B4-BE49-F238E27FC236}">
                  <a16:creationId xmlns:a16="http://schemas.microsoft.com/office/drawing/2014/main" id="{3965929E-B30B-F2FC-DEA9-B31B70700639}"/>
                </a:ext>
              </a:extLst>
            </p:cNvPr>
            <p:cNvCxnSpPr>
              <a:cxnSpLocks/>
            </p:cNvCxnSpPr>
            <p:nvPr/>
          </p:nvCxnSpPr>
          <p:spPr>
            <a:xfrm>
              <a:off x="1136058" y="2843394"/>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8" name="Straight Connector 7">
              <a:extLst>
                <a:ext uri="{FF2B5EF4-FFF2-40B4-BE49-F238E27FC236}">
                  <a16:creationId xmlns:a16="http://schemas.microsoft.com/office/drawing/2014/main" id="{7D9D85B2-0F03-33AA-734C-4683797658E4}"/>
                </a:ext>
              </a:extLst>
            </p:cNvPr>
            <p:cNvCxnSpPr>
              <a:cxnSpLocks/>
            </p:cNvCxnSpPr>
            <p:nvPr/>
          </p:nvCxnSpPr>
          <p:spPr>
            <a:xfrm>
              <a:off x="759388" y="2176644"/>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9" name="Straight Connector 8">
              <a:extLst>
                <a:ext uri="{FF2B5EF4-FFF2-40B4-BE49-F238E27FC236}">
                  <a16:creationId xmlns:a16="http://schemas.microsoft.com/office/drawing/2014/main" id="{87A4846E-50F2-7D5C-6002-58607C9C2263}"/>
                </a:ext>
              </a:extLst>
            </p:cNvPr>
            <p:cNvCxnSpPr>
              <a:cxnSpLocks/>
            </p:cNvCxnSpPr>
            <p:nvPr/>
          </p:nvCxnSpPr>
          <p:spPr>
            <a:xfrm>
              <a:off x="1304911" y="2270413"/>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0" name="Straight Connector 9">
              <a:extLst>
                <a:ext uri="{FF2B5EF4-FFF2-40B4-BE49-F238E27FC236}">
                  <a16:creationId xmlns:a16="http://schemas.microsoft.com/office/drawing/2014/main" id="{F765886F-5E33-F5AE-4508-4664C45D411A}"/>
                </a:ext>
              </a:extLst>
            </p:cNvPr>
            <p:cNvCxnSpPr>
              <a:cxnSpLocks/>
            </p:cNvCxnSpPr>
            <p:nvPr/>
          </p:nvCxnSpPr>
          <p:spPr>
            <a:xfrm>
              <a:off x="867627" y="2365663"/>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1" name="Straight Connector 10">
              <a:extLst>
                <a:ext uri="{FF2B5EF4-FFF2-40B4-BE49-F238E27FC236}">
                  <a16:creationId xmlns:a16="http://schemas.microsoft.com/office/drawing/2014/main" id="{67D5A34F-6279-462C-FAE5-51CBACBE5395}"/>
                </a:ext>
              </a:extLst>
            </p:cNvPr>
            <p:cNvCxnSpPr>
              <a:cxnSpLocks/>
            </p:cNvCxnSpPr>
            <p:nvPr/>
          </p:nvCxnSpPr>
          <p:spPr>
            <a:xfrm>
              <a:off x="1040808" y="2746663"/>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2" name="Straight Connector 11">
              <a:extLst>
                <a:ext uri="{FF2B5EF4-FFF2-40B4-BE49-F238E27FC236}">
                  <a16:creationId xmlns:a16="http://schemas.microsoft.com/office/drawing/2014/main" id="{96071020-F2AC-8B5B-F0B5-BB72EDC68E44}"/>
                </a:ext>
              </a:extLst>
            </p:cNvPr>
            <p:cNvCxnSpPr>
              <a:cxnSpLocks/>
            </p:cNvCxnSpPr>
            <p:nvPr/>
          </p:nvCxnSpPr>
          <p:spPr>
            <a:xfrm>
              <a:off x="594865" y="2079913"/>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3" name="Straight Connector 12">
              <a:extLst>
                <a:ext uri="{FF2B5EF4-FFF2-40B4-BE49-F238E27FC236}">
                  <a16:creationId xmlns:a16="http://schemas.microsoft.com/office/drawing/2014/main" id="{FF1697BD-E0FF-5CAB-FC36-64BBDECD50B7}"/>
                </a:ext>
              </a:extLst>
            </p:cNvPr>
            <p:cNvCxnSpPr>
              <a:cxnSpLocks/>
            </p:cNvCxnSpPr>
            <p:nvPr/>
          </p:nvCxnSpPr>
          <p:spPr>
            <a:xfrm>
              <a:off x="1495411" y="2544656"/>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4" name="Straight Connector 13">
              <a:extLst>
                <a:ext uri="{FF2B5EF4-FFF2-40B4-BE49-F238E27FC236}">
                  <a16:creationId xmlns:a16="http://schemas.microsoft.com/office/drawing/2014/main" id="{151958EE-1244-C477-F63F-DFBA182355F1}"/>
                </a:ext>
              </a:extLst>
            </p:cNvPr>
            <p:cNvCxnSpPr>
              <a:cxnSpLocks/>
            </p:cNvCxnSpPr>
            <p:nvPr/>
          </p:nvCxnSpPr>
          <p:spPr>
            <a:xfrm>
              <a:off x="1097093" y="3491345"/>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5" name="Straight Connector 14">
              <a:extLst>
                <a:ext uri="{FF2B5EF4-FFF2-40B4-BE49-F238E27FC236}">
                  <a16:creationId xmlns:a16="http://schemas.microsoft.com/office/drawing/2014/main" id="{A06F7483-6DD6-5641-F5E0-8D6EEA57DF9F}"/>
                </a:ext>
              </a:extLst>
            </p:cNvPr>
            <p:cNvCxnSpPr>
              <a:cxnSpLocks/>
            </p:cNvCxnSpPr>
            <p:nvPr/>
          </p:nvCxnSpPr>
          <p:spPr>
            <a:xfrm>
              <a:off x="724752" y="2475383"/>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16" name="Straight Connector 15">
              <a:extLst>
                <a:ext uri="{FF2B5EF4-FFF2-40B4-BE49-F238E27FC236}">
                  <a16:creationId xmlns:a16="http://schemas.microsoft.com/office/drawing/2014/main" id="{B216735D-CC94-A41A-A6D0-6C06FA800A03}"/>
                </a:ext>
              </a:extLst>
            </p:cNvPr>
            <p:cNvCxnSpPr>
              <a:cxnSpLocks/>
            </p:cNvCxnSpPr>
            <p:nvPr/>
          </p:nvCxnSpPr>
          <p:spPr>
            <a:xfrm>
              <a:off x="1707558" y="2651413"/>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17" name="Straight Connector 16">
              <a:extLst>
                <a:ext uri="{FF2B5EF4-FFF2-40B4-BE49-F238E27FC236}">
                  <a16:creationId xmlns:a16="http://schemas.microsoft.com/office/drawing/2014/main" id="{F40E22D8-4D64-5EA6-A9A1-B4AC28EDBF7A}"/>
                </a:ext>
              </a:extLst>
            </p:cNvPr>
            <p:cNvCxnSpPr>
              <a:cxnSpLocks/>
            </p:cNvCxnSpPr>
            <p:nvPr/>
          </p:nvCxnSpPr>
          <p:spPr>
            <a:xfrm>
              <a:off x="1521388" y="2176644"/>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18" name="Straight Connector 17">
              <a:extLst>
                <a:ext uri="{FF2B5EF4-FFF2-40B4-BE49-F238E27FC236}">
                  <a16:creationId xmlns:a16="http://schemas.microsoft.com/office/drawing/2014/main" id="{D2701383-D300-EC84-DC91-E4C22448DE62}"/>
                </a:ext>
              </a:extLst>
            </p:cNvPr>
            <p:cNvCxnSpPr>
              <a:cxnSpLocks/>
            </p:cNvCxnSpPr>
            <p:nvPr/>
          </p:nvCxnSpPr>
          <p:spPr>
            <a:xfrm>
              <a:off x="1452115" y="3056225"/>
              <a:ext cx="424296" cy="0"/>
            </a:xfrm>
            <a:prstGeom prst="line">
              <a:avLst/>
            </a:prstGeom>
            <a:ln w="38100">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19" name="Straight Connector 18">
              <a:extLst>
                <a:ext uri="{FF2B5EF4-FFF2-40B4-BE49-F238E27FC236}">
                  <a16:creationId xmlns:a16="http://schemas.microsoft.com/office/drawing/2014/main" id="{24B1876D-BCBC-A819-EF1D-0A33790FFF5E}"/>
                </a:ext>
              </a:extLst>
            </p:cNvPr>
            <p:cNvCxnSpPr>
              <a:cxnSpLocks/>
            </p:cNvCxnSpPr>
            <p:nvPr/>
          </p:nvCxnSpPr>
          <p:spPr>
            <a:xfrm>
              <a:off x="1517058" y="2372157"/>
              <a:ext cx="424296" cy="0"/>
            </a:xfrm>
            <a:prstGeom prst="line">
              <a:avLst/>
            </a:prstGeom>
            <a:ln w="38100">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20" name="Straight Connector 19">
              <a:extLst>
                <a:ext uri="{FF2B5EF4-FFF2-40B4-BE49-F238E27FC236}">
                  <a16:creationId xmlns:a16="http://schemas.microsoft.com/office/drawing/2014/main" id="{A87F451C-08F1-5EFD-0AA2-D203F4615FDA}"/>
                </a:ext>
              </a:extLst>
            </p:cNvPr>
            <p:cNvCxnSpPr>
              <a:cxnSpLocks/>
            </p:cNvCxnSpPr>
            <p:nvPr/>
          </p:nvCxnSpPr>
          <p:spPr>
            <a:xfrm>
              <a:off x="547239" y="2651413"/>
              <a:ext cx="424296" cy="0"/>
            </a:xfrm>
            <a:prstGeom prst="line">
              <a:avLst/>
            </a:prstGeom>
            <a:ln w="38100">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a:extLst>
                <a:ext uri="{FF2B5EF4-FFF2-40B4-BE49-F238E27FC236}">
                  <a16:creationId xmlns:a16="http://schemas.microsoft.com/office/drawing/2014/main" id="{0A2C31EE-3F53-A062-C8BD-25A56EC7D3A2}"/>
                </a:ext>
              </a:extLst>
            </p:cNvPr>
            <p:cNvCxnSpPr>
              <a:cxnSpLocks/>
            </p:cNvCxnSpPr>
            <p:nvPr/>
          </p:nvCxnSpPr>
          <p:spPr>
            <a:xfrm>
              <a:off x="1469433" y="1794163"/>
              <a:ext cx="424296" cy="0"/>
            </a:xfrm>
            <a:prstGeom prst="line">
              <a:avLst/>
            </a:prstGeom>
            <a:ln w="38100">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8B547E9F-EB04-B379-4DB2-52D623029902}"/>
                </a:ext>
              </a:extLst>
            </p:cNvPr>
            <p:cNvCxnSpPr>
              <a:cxnSpLocks/>
            </p:cNvCxnSpPr>
            <p:nvPr/>
          </p:nvCxnSpPr>
          <p:spPr>
            <a:xfrm>
              <a:off x="759387" y="3051212"/>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F5D19121-C903-ECF0-C454-7A0C0B14DA54}"/>
                </a:ext>
              </a:extLst>
            </p:cNvPr>
            <p:cNvCxnSpPr>
              <a:cxnSpLocks/>
            </p:cNvCxnSpPr>
            <p:nvPr/>
          </p:nvCxnSpPr>
          <p:spPr>
            <a:xfrm>
              <a:off x="867626" y="3240231"/>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F239118B-E6BB-A79C-2FA8-820DF163E2DA}"/>
                </a:ext>
              </a:extLst>
            </p:cNvPr>
            <p:cNvCxnSpPr>
              <a:cxnSpLocks/>
            </p:cNvCxnSpPr>
            <p:nvPr/>
          </p:nvCxnSpPr>
          <p:spPr>
            <a:xfrm>
              <a:off x="594865" y="2954481"/>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91978177-4376-B609-A6D0-BC497891D8A8}"/>
                </a:ext>
              </a:extLst>
            </p:cNvPr>
            <p:cNvCxnSpPr>
              <a:cxnSpLocks/>
            </p:cNvCxnSpPr>
            <p:nvPr/>
          </p:nvCxnSpPr>
          <p:spPr>
            <a:xfrm>
              <a:off x="724751" y="3349951"/>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E75E5D5E-ED29-F265-F909-E84A0E8CC2C4}"/>
                </a:ext>
              </a:extLst>
            </p:cNvPr>
            <p:cNvCxnSpPr>
              <a:cxnSpLocks/>
            </p:cNvCxnSpPr>
            <p:nvPr/>
          </p:nvCxnSpPr>
          <p:spPr>
            <a:xfrm>
              <a:off x="1313570" y="3341292"/>
              <a:ext cx="424296" cy="0"/>
            </a:xfrm>
            <a:prstGeom prst="line">
              <a:avLst/>
            </a:prstGeom>
            <a:ln w="38100">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98" name="Straight Connector 97">
              <a:extLst>
                <a:ext uri="{FF2B5EF4-FFF2-40B4-BE49-F238E27FC236}">
                  <a16:creationId xmlns:a16="http://schemas.microsoft.com/office/drawing/2014/main" id="{A0167814-05AA-9492-43A0-A98E80A6EAEB}"/>
                </a:ext>
              </a:extLst>
            </p:cNvPr>
            <p:cNvCxnSpPr>
              <a:cxnSpLocks/>
            </p:cNvCxnSpPr>
            <p:nvPr/>
          </p:nvCxnSpPr>
          <p:spPr>
            <a:xfrm>
              <a:off x="1608817" y="3150542"/>
              <a:ext cx="424296" cy="0"/>
            </a:xfrm>
            <a:prstGeom prst="line">
              <a:avLst/>
            </a:prstGeom>
            <a:ln w="38100">
              <a:solidFill>
                <a:schemeClr val="bg1">
                  <a:lumMod val="50000"/>
                </a:schemeClr>
              </a:solidFill>
            </a:ln>
          </p:spPr>
          <p:style>
            <a:lnRef idx="2">
              <a:schemeClr val="accent1"/>
            </a:lnRef>
            <a:fillRef idx="0">
              <a:schemeClr val="accent1"/>
            </a:fillRef>
            <a:effectRef idx="1">
              <a:schemeClr val="accent1"/>
            </a:effectRef>
            <a:fontRef idx="minor">
              <a:schemeClr val="tx1"/>
            </a:fontRef>
          </p:style>
        </p:cxnSp>
        <p:cxnSp>
          <p:nvCxnSpPr>
            <p:cNvPr id="99" name="Straight Connector 98">
              <a:extLst>
                <a:ext uri="{FF2B5EF4-FFF2-40B4-BE49-F238E27FC236}">
                  <a16:creationId xmlns:a16="http://schemas.microsoft.com/office/drawing/2014/main" id="{D08EF2E1-9D89-21FB-EA61-A34375D107B4}"/>
                </a:ext>
              </a:extLst>
            </p:cNvPr>
            <p:cNvCxnSpPr>
              <a:cxnSpLocks/>
            </p:cNvCxnSpPr>
            <p:nvPr/>
          </p:nvCxnSpPr>
          <p:spPr>
            <a:xfrm>
              <a:off x="1729206" y="2831886"/>
              <a:ext cx="424296" cy="0"/>
            </a:xfrm>
            <a:prstGeom prst="line">
              <a:avLst/>
            </a:prstGeom>
            <a:ln w="38100">
              <a:solidFill>
                <a:schemeClr val="bg1">
                  <a:lumMod val="50000"/>
                </a:schemeClr>
              </a:solidFill>
            </a:ln>
          </p:spPr>
          <p:style>
            <a:lnRef idx="2">
              <a:schemeClr val="accent1"/>
            </a:lnRef>
            <a:fillRef idx="0">
              <a:schemeClr val="accent1"/>
            </a:fillRef>
            <a:effectRef idx="1">
              <a:schemeClr val="accent1"/>
            </a:effectRef>
            <a:fontRef idx="minor">
              <a:schemeClr val="tx1"/>
            </a:fontRef>
          </p:style>
        </p:cxnSp>
        <p:cxnSp>
          <p:nvCxnSpPr>
            <p:cNvPr id="100" name="Straight Connector 99">
              <a:extLst>
                <a:ext uri="{FF2B5EF4-FFF2-40B4-BE49-F238E27FC236}">
                  <a16:creationId xmlns:a16="http://schemas.microsoft.com/office/drawing/2014/main" id="{41EA66F2-9FEF-CB35-D314-24ECAFD6E3FA}"/>
                </a:ext>
              </a:extLst>
            </p:cNvPr>
            <p:cNvCxnSpPr>
              <a:cxnSpLocks/>
            </p:cNvCxnSpPr>
            <p:nvPr/>
          </p:nvCxnSpPr>
          <p:spPr>
            <a:xfrm>
              <a:off x="1664263" y="1973155"/>
              <a:ext cx="424296" cy="0"/>
            </a:xfrm>
            <a:prstGeom prst="line">
              <a:avLst/>
            </a:prstGeom>
            <a:ln w="38100">
              <a:solidFill>
                <a:schemeClr val="bg1">
                  <a:lumMod val="50000"/>
                </a:schemeClr>
              </a:solidFill>
            </a:ln>
          </p:spPr>
          <p:style>
            <a:lnRef idx="2">
              <a:schemeClr val="accent1"/>
            </a:lnRef>
            <a:fillRef idx="0">
              <a:schemeClr val="accent1"/>
            </a:fillRef>
            <a:effectRef idx="1">
              <a:schemeClr val="accent1"/>
            </a:effectRef>
            <a:fontRef idx="minor">
              <a:schemeClr val="tx1"/>
            </a:fontRef>
          </p:style>
        </p:cxnSp>
        <p:cxnSp>
          <p:nvCxnSpPr>
            <p:cNvPr id="101" name="Straight Connector 100">
              <a:extLst>
                <a:ext uri="{FF2B5EF4-FFF2-40B4-BE49-F238E27FC236}">
                  <a16:creationId xmlns:a16="http://schemas.microsoft.com/office/drawing/2014/main" id="{3C35CE88-BA3E-3B84-E81C-FD913D5AEAA1}"/>
                </a:ext>
              </a:extLst>
            </p:cNvPr>
            <p:cNvCxnSpPr>
              <a:cxnSpLocks/>
            </p:cNvCxnSpPr>
            <p:nvPr/>
          </p:nvCxnSpPr>
          <p:spPr>
            <a:xfrm>
              <a:off x="1144717" y="2639905"/>
              <a:ext cx="424296" cy="0"/>
            </a:xfrm>
            <a:prstGeom prst="line">
              <a:avLst/>
            </a:prstGeom>
            <a:ln w="38100">
              <a:solidFill>
                <a:schemeClr val="bg1">
                  <a:lumMod val="50000"/>
                </a:schemeClr>
              </a:solidFill>
            </a:ln>
          </p:spPr>
          <p:style>
            <a:lnRef idx="2">
              <a:schemeClr val="accent1"/>
            </a:lnRef>
            <a:fillRef idx="0">
              <a:schemeClr val="accent1"/>
            </a:fillRef>
            <a:effectRef idx="1">
              <a:schemeClr val="accent1"/>
            </a:effectRef>
            <a:fontRef idx="minor">
              <a:schemeClr val="tx1"/>
            </a:fontRef>
          </p:style>
        </p:cxnSp>
        <p:cxnSp>
          <p:nvCxnSpPr>
            <p:cNvPr id="102" name="Straight Connector 101">
              <a:extLst>
                <a:ext uri="{FF2B5EF4-FFF2-40B4-BE49-F238E27FC236}">
                  <a16:creationId xmlns:a16="http://schemas.microsoft.com/office/drawing/2014/main" id="{B6A3B5ED-F2AC-D2F5-2C5B-45171DBC92EE}"/>
                </a:ext>
              </a:extLst>
            </p:cNvPr>
            <p:cNvCxnSpPr>
              <a:cxnSpLocks/>
            </p:cNvCxnSpPr>
            <p:nvPr/>
          </p:nvCxnSpPr>
          <p:spPr>
            <a:xfrm>
              <a:off x="574920" y="2843394"/>
              <a:ext cx="424296" cy="0"/>
            </a:xfrm>
            <a:prstGeom prst="line">
              <a:avLst/>
            </a:prstGeom>
            <a:ln w="38100">
              <a:solidFill>
                <a:schemeClr val="bg1">
                  <a:lumMod val="50000"/>
                </a:schemeClr>
              </a:solidFill>
            </a:ln>
          </p:spPr>
          <p:style>
            <a:lnRef idx="2">
              <a:schemeClr val="accent1"/>
            </a:lnRef>
            <a:fillRef idx="0">
              <a:schemeClr val="accent1"/>
            </a:fillRef>
            <a:effectRef idx="1">
              <a:schemeClr val="accent1"/>
            </a:effectRef>
            <a:fontRef idx="minor">
              <a:schemeClr val="tx1"/>
            </a:fontRef>
          </p:style>
        </p:cxnSp>
        <p:cxnSp>
          <p:nvCxnSpPr>
            <p:cNvPr id="103" name="Straight Connector 102">
              <a:extLst>
                <a:ext uri="{FF2B5EF4-FFF2-40B4-BE49-F238E27FC236}">
                  <a16:creationId xmlns:a16="http://schemas.microsoft.com/office/drawing/2014/main" id="{AD40FF5A-BA73-086A-1344-C818959964EC}"/>
                </a:ext>
              </a:extLst>
            </p:cNvPr>
            <p:cNvCxnSpPr>
              <a:cxnSpLocks/>
            </p:cNvCxnSpPr>
            <p:nvPr/>
          </p:nvCxnSpPr>
          <p:spPr>
            <a:xfrm>
              <a:off x="1919706" y="3272633"/>
              <a:ext cx="424296" cy="0"/>
            </a:xfrm>
            <a:prstGeom prst="line">
              <a:avLst/>
            </a:prstGeom>
            <a:ln w="38100">
              <a:solidFill>
                <a:schemeClr val="bg1">
                  <a:lumMod val="50000"/>
                </a:schemeClr>
              </a:solidFill>
            </a:ln>
          </p:spPr>
          <p:style>
            <a:lnRef idx="2">
              <a:schemeClr val="accent1"/>
            </a:lnRef>
            <a:fillRef idx="0">
              <a:schemeClr val="accent1"/>
            </a:fillRef>
            <a:effectRef idx="1">
              <a:schemeClr val="accent1"/>
            </a:effectRef>
            <a:fontRef idx="minor">
              <a:schemeClr val="tx1"/>
            </a:fontRef>
          </p:style>
        </p:cxnSp>
        <p:cxnSp>
          <p:nvCxnSpPr>
            <p:cNvPr id="104" name="Straight Connector 103">
              <a:extLst>
                <a:ext uri="{FF2B5EF4-FFF2-40B4-BE49-F238E27FC236}">
                  <a16:creationId xmlns:a16="http://schemas.microsoft.com/office/drawing/2014/main" id="{8ACD2252-D83D-EFE9-3B80-C0C8527C1411}"/>
                </a:ext>
              </a:extLst>
            </p:cNvPr>
            <p:cNvCxnSpPr>
              <a:cxnSpLocks/>
            </p:cNvCxnSpPr>
            <p:nvPr/>
          </p:nvCxnSpPr>
          <p:spPr>
            <a:xfrm>
              <a:off x="1495382" y="3429000"/>
              <a:ext cx="424296" cy="0"/>
            </a:xfrm>
            <a:prstGeom prst="line">
              <a:avLst/>
            </a:prstGeom>
            <a:ln w="38100">
              <a:solidFill>
                <a:schemeClr val="bg1">
                  <a:lumMod val="50000"/>
                </a:schemeClr>
              </a:solidFill>
            </a:ln>
          </p:spPr>
          <p:style>
            <a:lnRef idx="2">
              <a:schemeClr val="accent1"/>
            </a:lnRef>
            <a:fillRef idx="0">
              <a:schemeClr val="accent1"/>
            </a:fillRef>
            <a:effectRef idx="1">
              <a:schemeClr val="accent1"/>
            </a:effectRef>
            <a:fontRef idx="minor">
              <a:schemeClr val="tx1"/>
            </a:fontRef>
          </p:style>
        </p:cxnSp>
        <p:cxnSp>
          <p:nvCxnSpPr>
            <p:cNvPr id="105" name="Straight Connector 104">
              <a:extLst>
                <a:ext uri="{FF2B5EF4-FFF2-40B4-BE49-F238E27FC236}">
                  <a16:creationId xmlns:a16="http://schemas.microsoft.com/office/drawing/2014/main" id="{8BEA67F1-3E44-0FD7-AC9D-FF68EFC1EF30}"/>
                </a:ext>
              </a:extLst>
            </p:cNvPr>
            <p:cNvCxnSpPr>
              <a:cxnSpLocks/>
            </p:cNvCxnSpPr>
            <p:nvPr/>
          </p:nvCxnSpPr>
          <p:spPr>
            <a:xfrm>
              <a:off x="382717" y="2302815"/>
              <a:ext cx="424296" cy="0"/>
            </a:xfrm>
            <a:prstGeom prst="line">
              <a:avLst/>
            </a:prstGeom>
            <a:ln w="38100">
              <a:solidFill>
                <a:schemeClr val="bg1">
                  <a:lumMod val="50000"/>
                </a:schemeClr>
              </a:solidFill>
            </a:ln>
          </p:spPr>
          <p:style>
            <a:lnRef idx="2">
              <a:schemeClr val="accent1"/>
            </a:lnRef>
            <a:fillRef idx="0">
              <a:schemeClr val="accent1"/>
            </a:fillRef>
            <a:effectRef idx="1">
              <a:schemeClr val="accent1"/>
            </a:effectRef>
            <a:fontRef idx="minor">
              <a:schemeClr val="tx1"/>
            </a:fontRef>
          </p:style>
        </p:cxnSp>
      </p:grpSp>
      <p:sp>
        <p:nvSpPr>
          <p:cNvPr id="108" name="Right Arrow 107">
            <a:extLst>
              <a:ext uri="{FF2B5EF4-FFF2-40B4-BE49-F238E27FC236}">
                <a16:creationId xmlns:a16="http://schemas.microsoft.com/office/drawing/2014/main" id="{C63988FC-0E16-8BE5-34BF-26DEDA0A762E}"/>
              </a:ext>
            </a:extLst>
          </p:cNvPr>
          <p:cNvSpPr/>
          <p:nvPr/>
        </p:nvSpPr>
        <p:spPr>
          <a:xfrm>
            <a:off x="2344002" y="1568584"/>
            <a:ext cx="551598" cy="37450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109" name="TextBox 108">
            <a:extLst>
              <a:ext uri="{FF2B5EF4-FFF2-40B4-BE49-F238E27FC236}">
                <a16:creationId xmlns:a16="http://schemas.microsoft.com/office/drawing/2014/main" id="{38D9A93A-2099-E177-C20E-05341BBCB9FB}"/>
              </a:ext>
            </a:extLst>
          </p:cNvPr>
          <p:cNvSpPr txBox="1"/>
          <p:nvPr/>
        </p:nvSpPr>
        <p:spPr>
          <a:xfrm>
            <a:off x="2326686" y="1199230"/>
            <a:ext cx="568036" cy="369332"/>
          </a:xfrm>
          <a:prstGeom prst="rect">
            <a:avLst/>
          </a:prstGeom>
          <a:noFill/>
        </p:spPr>
        <p:txBody>
          <a:bodyPr wrap="square" rtlCol="0">
            <a:spAutoFit/>
          </a:bodyPr>
          <a:lstStyle/>
          <a:p>
            <a:r>
              <a:rPr lang="en-DK" b="1" dirty="0"/>
              <a:t>QC</a:t>
            </a:r>
          </a:p>
        </p:txBody>
      </p:sp>
      <p:sp>
        <p:nvSpPr>
          <p:cNvPr id="110" name="TextBox 109">
            <a:extLst>
              <a:ext uri="{FF2B5EF4-FFF2-40B4-BE49-F238E27FC236}">
                <a16:creationId xmlns:a16="http://schemas.microsoft.com/office/drawing/2014/main" id="{4CACE333-1D42-184C-0809-1F3136AF89CC}"/>
              </a:ext>
            </a:extLst>
          </p:cNvPr>
          <p:cNvSpPr txBox="1"/>
          <p:nvPr/>
        </p:nvSpPr>
        <p:spPr>
          <a:xfrm>
            <a:off x="724751" y="2797058"/>
            <a:ext cx="1488486" cy="338554"/>
          </a:xfrm>
          <a:prstGeom prst="rect">
            <a:avLst/>
          </a:prstGeom>
          <a:noFill/>
        </p:spPr>
        <p:txBody>
          <a:bodyPr wrap="square" rtlCol="0">
            <a:spAutoFit/>
          </a:bodyPr>
          <a:lstStyle/>
          <a:p>
            <a:r>
              <a:rPr lang="en-DK" sz="1600" dirty="0"/>
              <a:t>FastQ files</a:t>
            </a:r>
          </a:p>
        </p:txBody>
      </p:sp>
      <p:sp>
        <p:nvSpPr>
          <p:cNvPr id="111" name="TextBox 110">
            <a:extLst>
              <a:ext uri="{FF2B5EF4-FFF2-40B4-BE49-F238E27FC236}">
                <a16:creationId xmlns:a16="http://schemas.microsoft.com/office/drawing/2014/main" id="{7D566C88-0C1F-1991-E56C-BD91E2B8329A}"/>
              </a:ext>
            </a:extLst>
          </p:cNvPr>
          <p:cNvSpPr txBox="1"/>
          <p:nvPr/>
        </p:nvSpPr>
        <p:spPr>
          <a:xfrm>
            <a:off x="2941037" y="2646630"/>
            <a:ext cx="1842668" cy="584775"/>
          </a:xfrm>
          <a:prstGeom prst="rect">
            <a:avLst/>
          </a:prstGeom>
          <a:noFill/>
        </p:spPr>
        <p:txBody>
          <a:bodyPr wrap="square" rtlCol="0">
            <a:spAutoFit/>
          </a:bodyPr>
          <a:lstStyle/>
          <a:p>
            <a:r>
              <a:rPr lang="en-DK" sz="1600" dirty="0"/>
              <a:t>High quality host removed reads</a:t>
            </a:r>
          </a:p>
        </p:txBody>
      </p:sp>
      <p:sp>
        <p:nvSpPr>
          <p:cNvPr id="112" name="Right Arrow 111">
            <a:extLst>
              <a:ext uri="{FF2B5EF4-FFF2-40B4-BE49-F238E27FC236}">
                <a16:creationId xmlns:a16="http://schemas.microsoft.com/office/drawing/2014/main" id="{776B0AAA-DAC2-6743-C6FE-6B0A9870B6AD}"/>
              </a:ext>
            </a:extLst>
          </p:cNvPr>
          <p:cNvSpPr/>
          <p:nvPr/>
        </p:nvSpPr>
        <p:spPr>
          <a:xfrm>
            <a:off x="4835226" y="1568584"/>
            <a:ext cx="551598" cy="37450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113" name="TextBox 112">
            <a:extLst>
              <a:ext uri="{FF2B5EF4-FFF2-40B4-BE49-F238E27FC236}">
                <a16:creationId xmlns:a16="http://schemas.microsoft.com/office/drawing/2014/main" id="{2C72DB19-EFEC-162B-ED82-C45B976481CD}"/>
              </a:ext>
            </a:extLst>
          </p:cNvPr>
          <p:cNvSpPr txBox="1"/>
          <p:nvPr/>
        </p:nvSpPr>
        <p:spPr>
          <a:xfrm>
            <a:off x="4557264" y="1199230"/>
            <a:ext cx="1222675" cy="369332"/>
          </a:xfrm>
          <a:prstGeom prst="rect">
            <a:avLst/>
          </a:prstGeom>
          <a:noFill/>
        </p:spPr>
        <p:txBody>
          <a:bodyPr wrap="square" rtlCol="0">
            <a:spAutoFit/>
          </a:bodyPr>
          <a:lstStyle/>
          <a:p>
            <a:r>
              <a:rPr lang="en-DK" b="1" dirty="0"/>
              <a:t>Assembly</a:t>
            </a:r>
          </a:p>
        </p:txBody>
      </p:sp>
      <p:cxnSp>
        <p:nvCxnSpPr>
          <p:cNvPr id="114" name="Straight Connector 113">
            <a:extLst>
              <a:ext uri="{FF2B5EF4-FFF2-40B4-BE49-F238E27FC236}">
                <a16:creationId xmlns:a16="http://schemas.microsoft.com/office/drawing/2014/main" id="{D09B55C9-13F0-5E7D-94E3-0AA68C204793}"/>
              </a:ext>
            </a:extLst>
          </p:cNvPr>
          <p:cNvCxnSpPr>
            <a:cxnSpLocks/>
          </p:cNvCxnSpPr>
          <p:nvPr/>
        </p:nvCxnSpPr>
        <p:spPr>
          <a:xfrm>
            <a:off x="300455" y="3289877"/>
            <a:ext cx="424296" cy="0"/>
          </a:xfrm>
          <a:prstGeom prst="line">
            <a:avLst/>
          </a:prstGeom>
          <a:ln w="38100">
            <a:solidFill>
              <a:schemeClr val="bg1">
                <a:lumMod val="50000"/>
              </a:schemeClr>
            </a:solidFill>
          </a:ln>
        </p:spPr>
        <p:style>
          <a:lnRef idx="2">
            <a:schemeClr val="accent1"/>
          </a:lnRef>
          <a:fillRef idx="0">
            <a:schemeClr val="accent1"/>
          </a:fillRef>
          <a:effectRef idx="1">
            <a:schemeClr val="accent1"/>
          </a:effectRef>
          <a:fontRef idx="minor">
            <a:schemeClr val="tx1"/>
          </a:fontRef>
        </p:style>
      </p:cxnSp>
      <p:sp>
        <p:nvSpPr>
          <p:cNvPr id="115" name="TextBox 114">
            <a:extLst>
              <a:ext uri="{FF2B5EF4-FFF2-40B4-BE49-F238E27FC236}">
                <a16:creationId xmlns:a16="http://schemas.microsoft.com/office/drawing/2014/main" id="{F4461494-5FE1-FFF5-D8AD-EC4D521D588E}"/>
              </a:ext>
            </a:extLst>
          </p:cNvPr>
          <p:cNvSpPr txBox="1"/>
          <p:nvPr/>
        </p:nvSpPr>
        <p:spPr>
          <a:xfrm>
            <a:off x="705611" y="3028267"/>
            <a:ext cx="1264228" cy="523220"/>
          </a:xfrm>
          <a:prstGeom prst="rect">
            <a:avLst/>
          </a:prstGeom>
          <a:noFill/>
        </p:spPr>
        <p:txBody>
          <a:bodyPr wrap="square" rtlCol="0">
            <a:spAutoFit/>
          </a:bodyPr>
          <a:lstStyle/>
          <a:p>
            <a:r>
              <a:rPr lang="en-DK" sz="1400" dirty="0"/>
              <a:t>Low quality or host reads</a:t>
            </a:r>
          </a:p>
        </p:txBody>
      </p:sp>
      <p:cxnSp>
        <p:nvCxnSpPr>
          <p:cNvPr id="117" name="Straight Connector 116">
            <a:extLst>
              <a:ext uri="{FF2B5EF4-FFF2-40B4-BE49-F238E27FC236}">
                <a16:creationId xmlns:a16="http://schemas.microsoft.com/office/drawing/2014/main" id="{D21BDD49-F854-A97C-16D2-D891FCADDBE3}"/>
              </a:ext>
            </a:extLst>
          </p:cNvPr>
          <p:cNvCxnSpPr>
            <a:cxnSpLocks/>
          </p:cNvCxnSpPr>
          <p:nvPr/>
        </p:nvCxnSpPr>
        <p:spPr>
          <a:xfrm>
            <a:off x="5927148" y="1245346"/>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18" name="Straight Connector 117">
            <a:extLst>
              <a:ext uri="{FF2B5EF4-FFF2-40B4-BE49-F238E27FC236}">
                <a16:creationId xmlns:a16="http://schemas.microsoft.com/office/drawing/2014/main" id="{430AC16E-2227-02D2-B1C6-B1CF6DD4C581}"/>
              </a:ext>
            </a:extLst>
          </p:cNvPr>
          <p:cNvCxnSpPr>
            <a:cxnSpLocks/>
          </p:cNvCxnSpPr>
          <p:nvPr/>
        </p:nvCxnSpPr>
        <p:spPr>
          <a:xfrm>
            <a:off x="6212035" y="1804540"/>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19" name="Straight Connector 118">
            <a:extLst>
              <a:ext uri="{FF2B5EF4-FFF2-40B4-BE49-F238E27FC236}">
                <a16:creationId xmlns:a16="http://schemas.microsoft.com/office/drawing/2014/main" id="{C8155422-A661-CB67-D535-050F85917DD1}"/>
              </a:ext>
            </a:extLst>
          </p:cNvPr>
          <p:cNvCxnSpPr>
            <a:cxnSpLocks/>
          </p:cNvCxnSpPr>
          <p:nvPr/>
        </p:nvCxnSpPr>
        <p:spPr>
          <a:xfrm>
            <a:off x="6068290" y="1319172"/>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20" name="Straight Connector 119">
            <a:extLst>
              <a:ext uri="{FF2B5EF4-FFF2-40B4-BE49-F238E27FC236}">
                <a16:creationId xmlns:a16="http://schemas.microsoft.com/office/drawing/2014/main" id="{DC870DA7-29F8-87D5-5767-31E835FE8A39}"/>
              </a:ext>
            </a:extLst>
          </p:cNvPr>
          <p:cNvCxnSpPr>
            <a:cxnSpLocks/>
          </p:cNvCxnSpPr>
          <p:nvPr/>
        </p:nvCxnSpPr>
        <p:spPr>
          <a:xfrm>
            <a:off x="6407728" y="1883944"/>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22" name="Straight Connector 121">
            <a:extLst>
              <a:ext uri="{FF2B5EF4-FFF2-40B4-BE49-F238E27FC236}">
                <a16:creationId xmlns:a16="http://schemas.microsoft.com/office/drawing/2014/main" id="{20F8450A-F8E2-5173-3C0A-CA2022E6D5B8}"/>
              </a:ext>
            </a:extLst>
          </p:cNvPr>
          <p:cNvCxnSpPr>
            <a:cxnSpLocks/>
          </p:cNvCxnSpPr>
          <p:nvPr/>
        </p:nvCxnSpPr>
        <p:spPr>
          <a:xfrm>
            <a:off x="6212035" y="1388447"/>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35" name="Straight Connector 134">
            <a:extLst>
              <a:ext uri="{FF2B5EF4-FFF2-40B4-BE49-F238E27FC236}">
                <a16:creationId xmlns:a16="http://schemas.microsoft.com/office/drawing/2014/main" id="{F132203F-11B6-CDAB-73A1-A7B74F8B3D2D}"/>
              </a:ext>
            </a:extLst>
          </p:cNvPr>
          <p:cNvCxnSpPr>
            <a:cxnSpLocks/>
          </p:cNvCxnSpPr>
          <p:nvPr/>
        </p:nvCxnSpPr>
        <p:spPr>
          <a:xfrm>
            <a:off x="6086477" y="1717683"/>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41" name="Straight Connector 140">
            <a:extLst>
              <a:ext uri="{FF2B5EF4-FFF2-40B4-BE49-F238E27FC236}">
                <a16:creationId xmlns:a16="http://schemas.microsoft.com/office/drawing/2014/main" id="{B3BFECCE-5236-4B8E-D46B-2C7281F94EDA}"/>
              </a:ext>
            </a:extLst>
          </p:cNvPr>
          <p:cNvCxnSpPr/>
          <p:nvPr/>
        </p:nvCxnSpPr>
        <p:spPr>
          <a:xfrm>
            <a:off x="5915891" y="1175388"/>
            <a:ext cx="1205345"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42" name="Straight Connector 141">
            <a:extLst>
              <a:ext uri="{FF2B5EF4-FFF2-40B4-BE49-F238E27FC236}">
                <a16:creationId xmlns:a16="http://schemas.microsoft.com/office/drawing/2014/main" id="{E77C59A0-622F-66CA-6A16-45B4579D7353}"/>
              </a:ext>
            </a:extLst>
          </p:cNvPr>
          <p:cNvCxnSpPr/>
          <p:nvPr/>
        </p:nvCxnSpPr>
        <p:spPr>
          <a:xfrm>
            <a:off x="5960054" y="1642759"/>
            <a:ext cx="1205345" cy="0"/>
          </a:xfrm>
          <a:prstGeom prst="line">
            <a:avLst/>
          </a:prstGeom>
          <a:ln w="38100"/>
        </p:spPr>
        <p:style>
          <a:lnRef idx="2">
            <a:schemeClr val="accent1"/>
          </a:lnRef>
          <a:fillRef idx="0">
            <a:schemeClr val="accent1"/>
          </a:fillRef>
          <a:effectRef idx="1">
            <a:schemeClr val="accent1"/>
          </a:effectRef>
          <a:fontRef idx="minor">
            <a:schemeClr val="tx1"/>
          </a:fontRef>
        </p:style>
      </p:cxnSp>
      <p:sp>
        <p:nvSpPr>
          <p:cNvPr id="144" name="TextBox 143">
            <a:extLst>
              <a:ext uri="{FF2B5EF4-FFF2-40B4-BE49-F238E27FC236}">
                <a16:creationId xmlns:a16="http://schemas.microsoft.com/office/drawing/2014/main" id="{AA76B106-CD47-4707-C341-76B295B79F6A}"/>
              </a:ext>
            </a:extLst>
          </p:cNvPr>
          <p:cNvSpPr txBox="1"/>
          <p:nvPr/>
        </p:nvSpPr>
        <p:spPr>
          <a:xfrm>
            <a:off x="5833633" y="893067"/>
            <a:ext cx="1496298" cy="307777"/>
          </a:xfrm>
          <a:prstGeom prst="rect">
            <a:avLst/>
          </a:prstGeom>
          <a:noFill/>
        </p:spPr>
        <p:txBody>
          <a:bodyPr wrap="square" rtlCol="0">
            <a:spAutoFit/>
          </a:bodyPr>
          <a:lstStyle/>
          <a:p>
            <a:r>
              <a:rPr lang="en-DK" sz="1400" dirty="0">
                <a:solidFill>
                  <a:schemeClr val="tx2">
                    <a:lumMod val="75000"/>
                    <a:lumOff val="25000"/>
                  </a:schemeClr>
                </a:solidFill>
              </a:rPr>
              <a:t>Contig 1</a:t>
            </a:r>
          </a:p>
        </p:txBody>
      </p:sp>
      <p:sp>
        <p:nvSpPr>
          <p:cNvPr id="145" name="TextBox 144">
            <a:extLst>
              <a:ext uri="{FF2B5EF4-FFF2-40B4-BE49-F238E27FC236}">
                <a16:creationId xmlns:a16="http://schemas.microsoft.com/office/drawing/2014/main" id="{4A21074D-773A-BA28-6A48-5A12A45F6665}"/>
              </a:ext>
            </a:extLst>
          </p:cNvPr>
          <p:cNvSpPr txBox="1"/>
          <p:nvPr/>
        </p:nvSpPr>
        <p:spPr>
          <a:xfrm>
            <a:off x="5862210" y="1363962"/>
            <a:ext cx="1496298" cy="307777"/>
          </a:xfrm>
          <a:prstGeom prst="rect">
            <a:avLst/>
          </a:prstGeom>
          <a:noFill/>
        </p:spPr>
        <p:txBody>
          <a:bodyPr wrap="square" rtlCol="0">
            <a:spAutoFit/>
          </a:bodyPr>
          <a:lstStyle/>
          <a:p>
            <a:r>
              <a:rPr lang="en-DK" sz="1400" dirty="0">
                <a:solidFill>
                  <a:schemeClr val="tx2">
                    <a:lumMod val="75000"/>
                    <a:lumOff val="25000"/>
                  </a:schemeClr>
                </a:solidFill>
              </a:rPr>
              <a:t>Contig 2</a:t>
            </a:r>
          </a:p>
        </p:txBody>
      </p:sp>
      <p:cxnSp>
        <p:nvCxnSpPr>
          <p:cNvPr id="146" name="Straight Connector 145">
            <a:extLst>
              <a:ext uri="{FF2B5EF4-FFF2-40B4-BE49-F238E27FC236}">
                <a16:creationId xmlns:a16="http://schemas.microsoft.com/office/drawing/2014/main" id="{1B25293F-F7E3-459E-2C8D-A5E10AE97DCA}"/>
              </a:ext>
            </a:extLst>
          </p:cNvPr>
          <p:cNvCxnSpPr>
            <a:cxnSpLocks/>
          </p:cNvCxnSpPr>
          <p:nvPr/>
        </p:nvCxnSpPr>
        <p:spPr>
          <a:xfrm>
            <a:off x="5521916" y="2374506"/>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47" name="Straight Connector 146">
            <a:extLst>
              <a:ext uri="{FF2B5EF4-FFF2-40B4-BE49-F238E27FC236}">
                <a16:creationId xmlns:a16="http://schemas.microsoft.com/office/drawing/2014/main" id="{76C07F64-56C7-4687-7E30-E8ED840859C3}"/>
              </a:ext>
            </a:extLst>
          </p:cNvPr>
          <p:cNvCxnSpPr>
            <a:cxnSpLocks/>
          </p:cNvCxnSpPr>
          <p:nvPr/>
        </p:nvCxnSpPr>
        <p:spPr>
          <a:xfrm>
            <a:off x="5806803" y="2947555"/>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48" name="Straight Connector 147">
            <a:extLst>
              <a:ext uri="{FF2B5EF4-FFF2-40B4-BE49-F238E27FC236}">
                <a16:creationId xmlns:a16="http://schemas.microsoft.com/office/drawing/2014/main" id="{EA566478-5B3B-50D7-1FA4-204E5DC2F752}"/>
              </a:ext>
            </a:extLst>
          </p:cNvPr>
          <p:cNvCxnSpPr>
            <a:cxnSpLocks/>
          </p:cNvCxnSpPr>
          <p:nvPr/>
        </p:nvCxnSpPr>
        <p:spPr>
          <a:xfrm>
            <a:off x="5663058" y="2448332"/>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49" name="Straight Connector 148">
            <a:extLst>
              <a:ext uri="{FF2B5EF4-FFF2-40B4-BE49-F238E27FC236}">
                <a16:creationId xmlns:a16="http://schemas.microsoft.com/office/drawing/2014/main" id="{366E8918-6AC6-A87C-DD26-9D557D699979}"/>
              </a:ext>
            </a:extLst>
          </p:cNvPr>
          <p:cNvCxnSpPr>
            <a:cxnSpLocks/>
          </p:cNvCxnSpPr>
          <p:nvPr/>
        </p:nvCxnSpPr>
        <p:spPr>
          <a:xfrm>
            <a:off x="6002496" y="3026959"/>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50" name="Straight Connector 149">
            <a:extLst>
              <a:ext uri="{FF2B5EF4-FFF2-40B4-BE49-F238E27FC236}">
                <a16:creationId xmlns:a16="http://schemas.microsoft.com/office/drawing/2014/main" id="{F6A8AF16-53B6-340C-0C6E-0C1134B9987B}"/>
              </a:ext>
            </a:extLst>
          </p:cNvPr>
          <p:cNvCxnSpPr>
            <a:cxnSpLocks/>
          </p:cNvCxnSpPr>
          <p:nvPr/>
        </p:nvCxnSpPr>
        <p:spPr>
          <a:xfrm>
            <a:off x="5806803" y="2517607"/>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51" name="Straight Connector 150">
            <a:extLst>
              <a:ext uri="{FF2B5EF4-FFF2-40B4-BE49-F238E27FC236}">
                <a16:creationId xmlns:a16="http://schemas.microsoft.com/office/drawing/2014/main" id="{99F46B45-0372-7C41-B6BB-67826024CF45}"/>
              </a:ext>
            </a:extLst>
          </p:cNvPr>
          <p:cNvCxnSpPr>
            <a:cxnSpLocks/>
          </p:cNvCxnSpPr>
          <p:nvPr/>
        </p:nvCxnSpPr>
        <p:spPr>
          <a:xfrm>
            <a:off x="5681245" y="2860698"/>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52" name="Straight Connector 151">
            <a:extLst>
              <a:ext uri="{FF2B5EF4-FFF2-40B4-BE49-F238E27FC236}">
                <a16:creationId xmlns:a16="http://schemas.microsoft.com/office/drawing/2014/main" id="{8CC07A43-CA57-824A-364E-8CEDFF1CD87D}"/>
              </a:ext>
            </a:extLst>
          </p:cNvPr>
          <p:cNvCxnSpPr/>
          <p:nvPr/>
        </p:nvCxnSpPr>
        <p:spPr>
          <a:xfrm>
            <a:off x="5510659" y="2304548"/>
            <a:ext cx="1205345"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53" name="Straight Connector 152">
            <a:extLst>
              <a:ext uri="{FF2B5EF4-FFF2-40B4-BE49-F238E27FC236}">
                <a16:creationId xmlns:a16="http://schemas.microsoft.com/office/drawing/2014/main" id="{316D96D5-16FD-095A-0124-D249A81D56F5}"/>
              </a:ext>
            </a:extLst>
          </p:cNvPr>
          <p:cNvCxnSpPr/>
          <p:nvPr/>
        </p:nvCxnSpPr>
        <p:spPr>
          <a:xfrm>
            <a:off x="5554822" y="2785774"/>
            <a:ext cx="1205345"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sp>
        <p:nvSpPr>
          <p:cNvPr id="154" name="TextBox 153">
            <a:extLst>
              <a:ext uri="{FF2B5EF4-FFF2-40B4-BE49-F238E27FC236}">
                <a16:creationId xmlns:a16="http://schemas.microsoft.com/office/drawing/2014/main" id="{46EE9F05-5FB7-7B6C-49A1-9FB08CB7CFE1}"/>
              </a:ext>
            </a:extLst>
          </p:cNvPr>
          <p:cNvSpPr txBox="1"/>
          <p:nvPr/>
        </p:nvSpPr>
        <p:spPr>
          <a:xfrm>
            <a:off x="5428401" y="2036082"/>
            <a:ext cx="1496298" cy="307777"/>
          </a:xfrm>
          <a:prstGeom prst="rect">
            <a:avLst/>
          </a:prstGeom>
          <a:noFill/>
        </p:spPr>
        <p:txBody>
          <a:bodyPr wrap="square" rtlCol="0">
            <a:spAutoFit/>
          </a:bodyPr>
          <a:lstStyle/>
          <a:p>
            <a:r>
              <a:rPr lang="en-DK" sz="1400" dirty="0">
                <a:solidFill>
                  <a:srgbClr val="FF0000"/>
                </a:solidFill>
              </a:rPr>
              <a:t>Contig 12</a:t>
            </a:r>
          </a:p>
        </p:txBody>
      </p:sp>
      <p:sp>
        <p:nvSpPr>
          <p:cNvPr id="155" name="TextBox 154">
            <a:extLst>
              <a:ext uri="{FF2B5EF4-FFF2-40B4-BE49-F238E27FC236}">
                <a16:creationId xmlns:a16="http://schemas.microsoft.com/office/drawing/2014/main" id="{94B2834B-89BB-94F7-888E-4F9761AB2B9C}"/>
              </a:ext>
            </a:extLst>
          </p:cNvPr>
          <p:cNvSpPr txBox="1"/>
          <p:nvPr/>
        </p:nvSpPr>
        <p:spPr>
          <a:xfrm>
            <a:off x="5456978" y="2506977"/>
            <a:ext cx="1077173" cy="307777"/>
          </a:xfrm>
          <a:prstGeom prst="rect">
            <a:avLst/>
          </a:prstGeom>
          <a:noFill/>
        </p:spPr>
        <p:txBody>
          <a:bodyPr wrap="square" rtlCol="0">
            <a:spAutoFit/>
          </a:bodyPr>
          <a:lstStyle/>
          <a:p>
            <a:r>
              <a:rPr lang="en-DK" sz="1400" dirty="0">
                <a:solidFill>
                  <a:srgbClr val="FF0000"/>
                </a:solidFill>
              </a:rPr>
              <a:t>Contig 44</a:t>
            </a:r>
          </a:p>
        </p:txBody>
      </p:sp>
      <p:cxnSp>
        <p:nvCxnSpPr>
          <p:cNvPr id="156" name="Straight Connector 155">
            <a:extLst>
              <a:ext uri="{FF2B5EF4-FFF2-40B4-BE49-F238E27FC236}">
                <a16:creationId xmlns:a16="http://schemas.microsoft.com/office/drawing/2014/main" id="{6907AB32-4F52-BC4F-C68A-2BB7D5FB5C39}"/>
              </a:ext>
            </a:extLst>
          </p:cNvPr>
          <p:cNvCxnSpPr>
            <a:cxnSpLocks/>
          </p:cNvCxnSpPr>
          <p:nvPr/>
        </p:nvCxnSpPr>
        <p:spPr>
          <a:xfrm>
            <a:off x="6210316" y="3096229"/>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57" name="Straight Connector 156">
            <a:extLst>
              <a:ext uri="{FF2B5EF4-FFF2-40B4-BE49-F238E27FC236}">
                <a16:creationId xmlns:a16="http://schemas.microsoft.com/office/drawing/2014/main" id="{CCA64201-11A1-47CD-6874-27EE4AF756B2}"/>
              </a:ext>
            </a:extLst>
          </p:cNvPr>
          <p:cNvCxnSpPr>
            <a:cxnSpLocks/>
          </p:cNvCxnSpPr>
          <p:nvPr/>
        </p:nvCxnSpPr>
        <p:spPr>
          <a:xfrm>
            <a:off x="7031202" y="2124568"/>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158" name="Straight Connector 157">
            <a:extLst>
              <a:ext uri="{FF2B5EF4-FFF2-40B4-BE49-F238E27FC236}">
                <a16:creationId xmlns:a16="http://schemas.microsoft.com/office/drawing/2014/main" id="{5858EBD1-BA72-2057-F97D-EBA9BDFD996E}"/>
              </a:ext>
            </a:extLst>
          </p:cNvPr>
          <p:cNvCxnSpPr>
            <a:cxnSpLocks/>
          </p:cNvCxnSpPr>
          <p:nvPr/>
        </p:nvCxnSpPr>
        <p:spPr>
          <a:xfrm>
            <a:off x="7316089" y="2697617"/>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159" name="Straight Connector 158">
            <a:extLst>
              <a:ext uri="{FF2B5EF4-FFF2-40B4-BE49-F238E27FC236}">
                <a16:creationId xmlns:a16="http://schemas.microsoft.com/office/drawing/2014/main" id="{46C31AF9-CA11-2B7C-9F2A-4784589CDDA8}"/>
              </a:ext>
            </a:extLst>
          </p:cNvPr>
          <p:cNvCxnSpPr>
            <a:cxnSpLocks/>
          </p:cNvCxnSpPr>
          <p:nvPr/>
        </p:nvCxnSpPr>
        <p:spPr>
          <a:xfrm>
            <a:off x="7172344" y="2198394"/>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160" name="Straight Connector 159">
            <a:extLst>
              <a:ext uri="{FF2B5EF4-FFF2-40B4-BE49-F238E27FC236}">
                <a16:creationId xmlns:a16="http://schemas.microsoft.com/office/drawing/2014/main" id="{1E29449A-45A6-04D0-11B3-651EF9FD8F5E}"/>
              </a:ext>
            </a:extLst>
          </p:cNvPr>
          <p:cNvCxnSpPr>
            <a:cxnSpLocks/>
          </p:cNvCxnSpPr>
          <p:nvPr/>
        </p:nvCxnSpPr>
        <p:spPr>
          <a:xfrm>
            <a:off x="7511782" y="2777021"/>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161" name="Straight Connector 160">
            <a:extLst>
              <a:ext uri="{FF2B5EF4-FFF2-40B4-BE49-F238E27FC236}">
                <a16:creationId xmlns:a16="http://schemas.microsoft.com/office/drawing/2014/main" id="{D6F1A01A-0CD1-3E29-4605-7249DDEB8214}"/>
              </a:ext>
            </a:extLst>
          </p:cNvPr>
          <p:cNvCxnSpPr>
            <a:cxnSpLocks/>
          </p:cNvCxnSpPr>
          <p:nvPr/>
        </p:nvCxnSpPr>
        <p:spPr>
          <a:xfrm>
            <a:off x="7316089" y="2267669"/>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162" name="Straight Connector 161">
            <a:extLst>
              <a:ext uri="{FF2B5EF4-FFF2-40B4-BE49-F238E27FC236}">
                <a16:creationId xmlns:a16="http://schemas.microsoft.com/office/drawing/2014/main" id="{37E9825C-4821-5E2D-CECB-6E4C5F37F547}"/>
              </a:ext>
            </a:extLst>
          </p:cNvPr>
          <p:cNvCxnSpPr>
            <a:cxnSpLocks/>
          </p:cNvCxnSpPr>
          <p:nvPr/>
        </p:nvCxnSpPr>
        <p:spPr>
          <a:xfrm>
            <a:off x="7190531" y="2610760"/>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163" name="Straight Connector 162">
            <a:extLst>
              <a:ext uri="{FF2B5EF4-FFF2-40B4-BE49-F238E27FC236}">
                <a16:creationId xmlns:a16="http://schemas.microsoft.com/office/drawing/2014/main" id="{F0FF9637-84BD-A58A-B627-166AFDF6A96B}"/>
              </a:ext>
            </a:extLst>
          </p:cNvPr>
          <p:cNvCxnSpPr/>
          <p:nvPr/>
        </p:nvCxnSpPr>
        <p:spPr>
          <a:xfrm>
            <a:off x="7019945" y="2054610"/>
            <a:ext cx="1205345"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164" name="Straight Connector 163">
            <a:extLst>
              <a:ext uri="{FF2B5EF4-FFF2-40B4-BE49-F238E27FC236}">
                <a16:creationId xmlns:a16="http://schemas.microsoft.com/office/drawing/2014/main" id="{C5C1731D-DA91-DABE-9C49-370AC4CF3AF4}"/>
              </a:ext>
            </a:extLst>
          </p:cNvPr>
          <p:cNvCxnSpPr/>
          <p:nvPr/>
        </p:nvCxnSpPr>
        <p:spPr>
          <a:xfrm>
            <a:off x="7064108" y="2535836"/>
            <a:ext cx="1205345"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sp>
        <p:nvSpPr>
          <p:cNvPr id="165" name="TextBox 164">
            <a:extLst>
              <a:ext uri="{FF2B5EF4-FFF2-40B4-BE49-F238E27FC236}">
                <a16:creationId xmlns:a16="http://schemas.microsoft.com/office/drawing/2014/main" id="{2CC53E2C-190A-F26A-9484-BD2DFEF27743}"/>
              </a:ext>
            </a:extLst>
          </p:cNvPr>
          <p:cNvSpPr txBox="1"/>
          <p:nvPr/>
        </p:nvSpPr>
        <p:spPr>
          <a:xfrm>
            <a:off x="6924699" y="2257039"/>
            <a:ext cx="1077173" cy="307777"/>
          </a:xfrm>
          <a:prstGeom prst="rect">
            <a:avLst/>
          </a:prstGeom>
          <a:noFill/>
        </p:spPr>
        <p:txBody>
          <a:bodyPr wrap="square" rtlCol="0">
            <a:spAutoFit/>
          </a:bodyPr>
          <a:lstStyle/>
          <a:p>
            <a:r>
              <a:rPr lang="en-DK" sz="1400" dirty="0">
                <a:solidFill>
                  <a:schemeClr val="accent3"/>
                </a:solidFill>
              </a:rPr>
              <a:t>Contig 77</a:t>
            </a:r>
          </a:p>
        </p:txBody>
      </p:sp>
      <p:cxnSp>
        <p:nvCxnSpPr>
          <p:cNvPr id="166" name="Straight Connector 165">
            <a:extLst>
              <a:ext uri="{FF2B5EF4-FFF2-40B4-BE49-F238E27FC236}">
                <a16:creationId xmlns:a16="http://schemas.microsoft.com/office/drawing/2014/main" id="{C7A5A834-3486-BDD4-BA7A-46908CB62166}"/>
              </a:ext>
            </a:extLst>
          </p:cNvPr>
          <p:cNvCxnSpPr>
            <a:cxnSpLocks/>
          </p:cNvCxnSpPr>
          <p:nvPr/>
        </p:nvCxnSpPr>
        <p:spPr>
          <a:xfrm>
            <a:off x="7719602" y="2846291"/>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sp>
        <p:nvSpPr>
          <p:cNvPr id="167" name="TextBox 166">
            <a:extLst>
              <a:ext uri="{FF2B5EF4-FFF2-40B4-BE49-F238E27FC236}">
                <a16:creationId xmlns:a16="http://schemas.microsoft.com/office/drawing/2014/main" id="{D9856BA9-B7F0-510D-A380-AE6EE27B4AAF}"/>
              </a:ext>
            </a:extLst>
          </p:cNvPr>
          <p:cNvSpPr txBox="1"/>
          <p:nvPr/>
        </p:nvSpPr>
        <p:spPr>
          <a:xfrm>
            <a:off x="6938552" y="1785982"/>
            <a:ext cx="1077173" cy="307777"/>
          </a:xfrm>
          <a:prstGeom prst="rect">
            <a:avLst/>
          </a:prstGeom>
          <a:noFill/>
        </p:spPr>
        <p:txBody>
          <a:bodyPr wrap="square" rtlCol="0">
            <a:spAutoFit/>
          </a:bodyPr>
          <a:lstStyle/>
          <a:p>
            <a:r>
              <a:rPr lang="en-DK" sz="1400" dirty="0">
                <a:solidFill>
                  <a:schemeClr val="accent3"/>
                </a:solidFill>
              </a:rPr>
              <a:t>Contig 23</a:t>
            </a:r>
          </a:p>
        </p:txBody>
      </p:sp>
      <p:sp>
        <p:nvSpPr>
          <p:cNvPr id="168" name="TextBox 167">
            <a:extLst>
              <a:ext uri="{FF2B5EF4-FFF2-40B4-BE49-F238E27FC236}">
                <a16:creationId xmlns:a16="http://schemas.microsoft.com/office/drawing/2014/main" id="{643E5FF5-95D0-8BAE-D994-188566244676}"/>
              </a:ext>
            </a:extLst>
          </p:cNvPr>
          <p:cNvSpPr txBox="1"/>
          <p:nvPr/>
        </p:nvSpPr>
        <p:spPr>
          <a:xfrm>
            <a:off x="6426792" y="3140075"/>
            <a:ext cx="1588549" cy="584775"/>
          </a:xfrm>
          <a:prstGeom prst="rect">
            <a:avLst/>
          </a:prstGeom>
          <a:noFill/>
        </p:spPr>
        <p:txBody>
          <a:bodyPr wrap="square" rtlCol="0">
            <a:spAutoFit/>
          </a:bodyPr>
          <a:lstStyle/>
          <a:p>
            <a:r>
              <a:rPr lang="en-DK" sz="1600" dirty="0"/>
              <a:t>Assembled contigs</a:t>
            </a:r>
          </a:p>
        </p:txBody>
      </p:sp>
      <p:sp>
        <p:nvSpPr>
          <p:cNvPr id="169" name="Right Arrow 168">
            <a:extLst>
              <a:ext uri="{FF2B5EF4-FFF2-40B4-BE49-F238E27FC236}">
                <a16:creationId xmlns:a16="http://schemas.microsoft.com/office/drawing/2014/main" id="{7BFF15B3-A69D-E619-1BCE-871F20F24889}"/>
              </a:ext>
            </a:extLst>
          </p:cNvPr>
          <p:cNvSpPr/>
          <p:nvPr/>
        </p:nvSpPr>
        <p:spPr>
          <a:xfrm>
            <a:off x="8022658" y="1568584"/>
            <a:ext cx="551598" cy="37450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170" name="TextBox 169">
            <a:extLst>
              <a:ext uri="{FF2B5EF4-FFF2-40B4-BE49-F238E27FC236}">
                <a16:creationId xmlns:a16="http://schemas.microsoft.com/office/drawing/2014/main" id="{185AEC55-F88C-93E7-BF33-8D911D49EAE6}"/>
              </a:ext>
            </a:extLst>
          </p:cNvPr>
          <p:cNvSpPr txBox="1"/>
          <p:nvPr/>
        </p:nvSpPr>
        <p:spPr>
          <a:xfrm>
            <a:off x="7744696" y="1199230"/>
            <a:ext cx="1222675" cy="369332"/>
          </a:xfrm>
          <a:prstGeom prst="rect">
            <a:avLst/>
          </a:prstGeom>
          <a:noFill/>
        </p:spPr>
        <p:txBody>
          <a:bodyPr wrap="square" rtlCol="0">
            <a:spAutoFit/>
          </a:bodyPr>
          <a:lstStyle/>
          <a:p>
            <a:r>
              <a:rPr lang="en-DK" b="1" dirty="0"/>
              <a:t>Binning</a:t>
            </a:r>
          </a:p>
        </p:txBody>
      </p:sp>
      <p:sp>
        <p:nvSpPr>
          <p:cNvPr id="180" name="TextBox 179">
            <a:extLst>
              <a:ext uri="{FF2B5EF4-FFF2-40B4-BE49-F238E27FC236}">
                <a16:creationId xmlns:a16="http://schemas.microsoft.com/office/drawing/2014/main" id="{9F274DE8-ECCC-0B3F-B060-00911BAD2FEF}"/>
              </a:ext>
            </a:extLst>
          </p:cNvPr>
          <p:cNvSpPr txBox="1"/>
          <p:nvPr/>
        </p:nvSpPr>
        <p:spPr>
          <a:xfrm>
            <a:off x="8348308" y="3081539"/>
            <a:ext cx="3843692" cy="338554"/>
          </a:xfrm>
          <a:prstGeom prst="rect">
            <a:avLst/>
          </a:prstGeom>
          <a:noFill/>
        </p:spPr>
        <p:txBody>
          <a:bodyPr wrap="square" rtlCol="0">
            <a:spAutoFit/>
          </a:bodyPr>
          <a:lstStyle/>
          <a:p>
            <a:r>
              <a:rPr lang="en-DK" sz="1600" dirty="0"/>
              <a:t>Metagenome-assembled genomes (MAG)</a:t>
            </a:r>
          </a:p>
        </p:txBody>
      </p:sp>
      <p:sp>
        <p:nvSpPr>
          <p:cNvPr id="181" name="Right Arrow 180">
            <a:extLst>
              <a:ext uri="{FF2B5EF4-FFF2-40B4-BE49-F238E27FC236}">
                <a16:creationId xmlns:a16="http://schemas.microsoft.com/office/drawing/2014/main" id="{E31AEED8-8C06-E379-97E5-F9FB03682331}"/>
              </a:ext>
            </a:extLst>
          </p:cNvPr>
          <p:cNvSpPr/>
          <p:nvPr/>
        </p:nvSpPr>
        <p:spPr>
          <a:xfrm rot="5400000">
            <a:off x="9228385" y="3603430"/>
            <a:ext cx="551598" cy="37450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182" name="TextBox 181">
            <a:extLst>
              <a:ext uri="{FF2B5EF4-FFF2-40B4-BE49-F238E27FC236}">
                <a16:creationId xmlns:a16="http://schemas.microsoft.com/office/drawing/2014/main" id="{CC6524B8-72A5-1E7D-B6E3-7BFEB67FE0CD}"/>
              </a:ext>
            </a:extLst>
          </p:cNvPr>
          <p:cNvSpPr txBox="1"/>
          <p:nvPr/>
        </p:nvSpPr>
        <p:spPr>
          <a:xfrm>
            <a:off x="9867563" y="3475154"/>
            <a:ext cx="1774342" cy="369332"/>
          </a:xfrm>
          <a:prstGeom prst="rect">
            <a:avLst/>
          </a:prstGeom>
          <a:noFill/>
        </p:spPr>
        <p:txBody>
          <a:bodyPr wrap="square" rtlCol="0">
            <a:spAutoFit/>
          </a:bodyPr>
          <a:lstStyle/>
          <a:p>
            <a:r>
              <a:rPr lang="en-DK" b="1" dirty="0"/>
              <a:t>Bin refinement</a:t>
            </a:r>
          </a:p>
        </p:txBody>
      </p:sp>
      <p:sp>
        <p:nvSpPr>
          <p:cNvPr id="183" name="Right Arrow 182">
            <a:extLst>
              <a:ext uri="{FF2B5EF4-FFF2-40B4-BE49-F238E27FC236}">
                <a16:creationId xmlns:a16="http://schemas.microsoft.com/office/drawing/2014/main" id="{95C17C02-1D55-F5CC-D975-80A7E201336B}"/>
              </a:ext>
            </a:extLst>
          </p:cNvPr>
          <p:cNvSpPr/>
          <p:nvPr/>
        </p:nvSpPr>
        <p:spPr>
          <a:xfrm rot="5400000">
            <a:off x="9228385" y="4226495"/>
            <a:ext cx="551598" cy="37450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184" name="TextBox 183">
            <a:extLst>
              <a:ext uri="{FF2B5EF4-FFF2-40B4-BE49-F238E27FC236}">
                <a16:creationId xmlns:a16="http://schemas.microsoft.com/office/drawing/2014/main" id="{ED614207-ECEA-1FC4-D401-812AC99E5383}"/>
              </a:ext>
            </a:extLst>
          </p:cNvPr>
          <p:cNvSpPr txBox="1"/>
          <p:nvPr/>
        </p:nvSpPr>
        <p:spPr>
          <a:xfrm>
            <a:off x="9844185" y="3871111"/>
            <a:ext cx="2311151" cy="923330"/>
          </a:xfrm>
          <a:prstGeom prst="rect">
            <a:avLst/>
          </a:prstGeom>
          <a:noFill/>
        </p:spPr>
        <p:txBody>
          <a:bodyPr wrap="square" rtlCol="0">
            <a:spAutoFit/>
          </a:bodyPr>
          <a:lstStyle/>
          <a:p>
            <a:r>
              <a:rPr lang="en-DK" b="1" dirty="0"/>
              <a:t>Quality assessment (completeness and contamination)</a:t>
            </a:r>
          </a:p>
        </p:txBody>
      </p:sp>
      <p:sp>
        <p:nvSpPr>
          <p:cNvPr id="194" name="TextBox 193">
            <a:extLst>
              <a:ext uri="{FF2B5EF4-FFF2-40B4-BE49-F238E27FC236}">
                <a16:creationId xmlns:a16="http://schemas.microsoft.com/office/drawing/2014/main" id="{BF1C5543-E7D8-FA7E-899E-D9514EA6DE8F}"/>
              </a:ext>
            </a:extLst>
          </p:cNvPr>
          <p:cNvSpPr txBox="1"/>
          <p:nvPr/>
        </p:nvSpPr>
        <p:spPr>
          <a:xfrm>
            <a:off x="6760167" y="6119336"/>
            <a:ext cx="2119749" cy="954107"/>
          </a:xfrm>
          <a:prstGeom prst="rect">
            <a:avLst/>
          </a:prstGeom>
          <a:noFill/>
        </p:spPr>
        <p:txBody>
          <a:bodyPr wrap="square" rtlCol="0">
            <a:spAutoFit/>
          </a:bodyPr>
          <a:lstStyle/>
          <a:p>
            <a:r>
              <a:rPr lang="en-GB" sz="1400" b="1" dirty="0"/>
              <a:t>Medium-quality MAG</a:t>
            </a:r>
            <a:r>
              <a:rPr lang="en-GB" sz="1400" dirty="0"/>
              <a:t>: &gt;50% completeness, &lt;10% contamination</a:t>
            </a:r>
          </a:p>
          <a:p>
            <a:endParaRPr lang="en-DK" sz="1400" dirty="0"/>
          </a:p>
        </p:txBody>
      </p:sp>
      <p:sp>
        <p:nvSpPr>
          <p:cNvPr id="195" name="Right Arrow 194">
            <a:extLst>
              <a:ext uri="{FF2B5EF4-FFF2-40B4-BE49-F238E27FC236}">
                <a16:creationId xmlns:a16="http://schemas.microsoft.com/office/drawing/2014/main" id="{D6A89F6F-690D-97D9-5897-0E8EBDB73E00}"/>
              </a:ext>
            </a:extLst>
          </p:cNvPr>
          <p:cNvSpPr/>
          <p:nvPr/>
        </p:nvSpPr>
        <p:spPr>
          <a:xfrm rot="10800000">
            <a:off x="6180879" y="5496660"/>
            <a:ext cx="551598" cy="37450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196" name="TextBox 195">
            <a:extLst>
              <a:ext uri="{FF2B5EF4-FFF2-40B4-BE49-F238E27FC236}">
                <a16:creationId xmlns:a16="http://schemas.microsoft.com/office/drawing/2014/main" id="{E0F5E71E-8039-7AEA-CE34-5A72CF34212D}"/>
              </a:ext>
            </a:extLst>
          </p:cNvPr>
          <p:cNvSpPr txBox="1"/>
          <p:nvPr/>
        </p:nvSpPr>
        <p:spPr>
          <a:xfrm>
            <a:off x="5779939" y="4619949"/>
            <a:ext cx="1676451" cy="646331"/>
          </a:xfrm>
          <a:prstGeom prst="rect">
            <a:avLst/>
          </a:prstGeom>
          <a:noFill/>
        </p:spPr>
        <p:txBody>
          <a:bodyPr wrap="square" rtlCol="0">
            <a:spAutoFit/>
          </a:bodyPr>
          <a:lstStyle/>
          <a:p>
            <a:r>
              <a:rPr lang="en-DK" b="1" dirty="0"/>
              <a:t>Taxonomic classification</a:t>
            </a:r>
          </a:p>
        </p:txBody>
      </p:sp>
      <p:sp>
        <p:nvSpPr>
          <p:cNvPr id="198" name="TextBox 197">
            <a:extLst>
              <a:ext uri="{FF2B5EF4-FFF2-40B4-BE49-F238E27FC236}">
                <a16:creationId xmlns:a16="http://schemas.microsoft.com/office/drawing/2014/main" id="{CEDA21E2-4609-E1DE-4071-30FDE2DAC322}"/>
              </a:ext>
            </a:extLst>
          </p:cNvPr>
          <p:cNvSpPr txBox="1"/>
          <p:nvPr/>
        </p:nvSpPr>
        <p:spPr>
          <a:xfrm>
            <a:off x="9689051" y="6119336"/>
            <a:ext cx="1803354" cy="738664"/>
          </a:xfrm>
          <a:prstGeom prst="rect">
            <a:avLst/>
          </a:prstGeom>
          <a:noFill/>
        </p:spPr>
        <p:txBody>
          <a:bodyPr wrap="square" rtlCol="0">
            <a:spAutoFit/>
          </a:bodyPr>
          <a:lstStyle/>
          <a:p>
            <a:r>
              <a:rPr lang="en-GB" sz="1400" b="1" dirty="0"/>
              <a:t>High-quality MAG</a:t>
            </a:r>
            <a:r>
              <a:rPr lang="en-GB" sz="1400" dirty="0"/>
              <a:t>: &gt;90% completeness, &lt;5% contamination</a:t>
            </a:r>
          </a:p>
        </p:txBody>
      </p:sp>
      <p:cxnSp>
        <p:nvCxnSpPr>
          <p:cNvPr id="200" name="Straight Connector 199">
            <a:extLst>
              <a:ext uri="{FF2B5EF4-FFF2-40B4-BE49-F238E27FC236}">
                <a16:creationId xmlns:a16="http://schemas.microsoft.com/office/drawing/2014/main" id="{40A8C1F6-A702-F81F-8C1D-FDCE0E8CC293}"/>
              </a:ext>
            </a:extLst>
          </p:cNvPr>
          <p:cNvCxnSpPr/>
          <p:nvPr/>
        </p:nvCxnSpPr>
        <p:spPr>
          <a:xfrm>
            <a:off x="8833978" y="5072254"/>
            <a:ext cx="0" cy="1551563"/>
          </a:xfrm>
          <a:prstGeom prst="line">
            <a:avLst/>
          </a:prstGeom>
          <a:ln w="25400">
            <a:prstDash val="sysDash"/>
          </a:ln>
        </p:spPr>
        <p:style>
          <a:lnRef idx="2">
            <a:schemeClr val="accent1"/>
          </a:lnRef>
          <a:fillRef idx="0">
            <a:schemeClr val="accent1"/>
          </a:fillRef>
          <a:effectRef idx="1">
            <a:schemeClr val="accent1"/>
          </a:effectRef>
          <a:fontRef idx="minor">
            <a:schemeClr val="tx1"/>
          </a:fontRef>
        </p:style>
      </p:cxnSp>
      <p:grpSp>
        <p:nvGrpSpPr>
          <p:cNvPr id="204" name="Group 203">
            <a:extLst>
              <a:ext uri="{FF2B5EF4-FFF2-40B4-BE49-F238E27FC236}">
                <a16:creationId xmlns:a16="http://schemas.microsoft.com/office/drawing/2014/main" id="{C737D104-FC89-A737-C38A-138D2CD8212A}"/>
              </a:ext>
            </a:extLst>
          </p:cNvPr>
          <p:cNvGrpSpPr/>
          <p:nvPr/>
        </p:nvGrpSpPr>
        <p:grpSpPr>
          <a:xfrm>
            <a:off x="9447956" y="629622"/>
            <a:ext cx="1152483" cy="1140630"/>
            <a:chOff x="9447956" y="629622"/>
            <a:chExt cx="1152483" cy="1140630"/>
          </a:xfrm>
        </p:grpSpPr>
        <p:sp>
          <p:nvSpPr>
            <p:cNvPr id="171" name="Oval 170">
              <a:extLst>
                <a:ext uri="{FF2B5EF4-FFF2-40B4-BE49-F238E27FC236}">
                  <a16:creationId xmlns:a16="http://schemas.microsoft.com/office/drawing/2014/main" id="{F817B51C-E46D-45A9-562B-2E4852128FFC}"/>
                </a:ext>
              </a:extLst>
            </p:cNvPr>
            <p:cNvSpPr/>
            <p:nvPr/>
          </p:nvSpPr>
          <p:spPr>
            <a:xfrm>
              <a:off x="9447956" y="814288"/>
              <a:ext cx="955964" cy="955964"/>
            </a:xfrm>
            <a:prstGeom prst="ellipse">
              <a:avLst/>
            </a:prstGeom>
            <a:noFill/>
            <a:ln w="38100">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174" name="TextBox 173">
              <a:extLst>
                <a:ext uri="{FF2B5EF4-FFF2-40B4-BE49-F238E27FC236}">
                  <a16:creationId xmlns:a16="http://schemas.microsoft.com/office/drawing/2014/main" id="{95F73257-EA51-49D3-6D6A-1D21CB5B62E6}"/>
                </a:ext>
              </a:extLst>
            </p:cNvPr>
            <p:cNvSpPr txBox="1"/>
            <p:nvPr/>
          </p:nvSpPr>
          <p:spPr>
            <a:xfrm>
              <a:off x="9789942" y="629622"/>
              <a:ext cx="477982" cy="307777"/>
            </a:xfrm>
            <a:prstGeom prst="rect">
              <a:avLst/>
            </a:prstGeom>
            <a:solidFill>
              <a:schemeClr val="bg1"/>
            </a:solidFill>
          </p:spPr>
          <p:txBody>
            <a:bodyPr wrap="square" rtlCol="0">
              <a:spAutoFit/>
            </a:bodyPr>
            <a:lstStyle/>
            <a:p>
              <a:r>
                <a:rPr lang="en-DK" sz="1400" dirty="0">
                  <a:solidFill>
                    <a:schemeClr val="tx2">
                      <a:lumMod val="75000"/>
                      <a:lumOff val="25000"/>
                    </a:schemeClr>
                  </a:solidFill>
                </a:rPr>
                <a:t>C1</a:t>
              </a:r>
            </a:p>
          </p:txBody>
        </p:sp>
        <p:sp>
          <p:nvSpPr>
            <p:cNvPr id="175" name="TextBox 174">
              <a:extLst>
                <a:ext uri="{FF2B5EF4-FFF2-40B4-BE49-F238E27FC236}">
                  <a16:creationId xmlns:a16="http://schemas.microsoft.com/office/drawing/2014/main" id="{B86CA8EC-CFAA-B1EF-3313-466AD6032650}"/>
                </a:ext>
              </a:extLst>
            </p:cNvPr>
            <p:cNvSpPr txBox="1"/>
            <p:nvPr/>
          </p:nvSpPr>
          <p:spPr>
            <a:xfrm>
              <a:off x="10122457" y="879003"/>
              <a:ext cx="477982" cy="307777"/>
            </a:xfrm>
            <a:prstGeom prst="rect">
              <a:avLst/>
            </a:prstGeom>
            <a:solidFill>
              <a:schemeClr val="bg1"/>
            </a:solidFill>
          </p:spPr>
          <p:txBody>
            <a:bodyPr wrap="square" rtlCol="0">
              <a:spAutoFit/>
            </a:bodyPr>
            <a:lstStyle/>
            <a:p>
              <a:r>
                <a:rPr lang="en-DK" sz="1400" dirty="0">
                  <a:solidFill>
                    <a:schemeClr val="tx2">
                      <a:lumMod val="75000"/>
                      <a:lumOff val="25000"/>
                    </a:schemeClr>
                  </a:solidFill>
                </a:rPr>
                <a:t>C2</a:t>
              </a:r>
            </a:p>
          </p:txBody>
        </p:sp>
        <p:sp>
          <p:nvSpPr>
            <p:cNvPr id="201" name="TextBox 200">
              <a:extLst>
                <a:ext uri="{FF2B5EF4-FFF2-40B4-BE49-F238E27FC236}">
                  <a16:creationId xmlns:a16="http://schemas.microsoft.com/office/drawing/2014/main" id="{6C61967B-4AC5-F3ED-DA95-6261C6F95423}"/>
                </a:ext>
              </a:extLst>
            </p:cNvPr>
            <p:cNvSpPr txBox="1"/>
            <p:nvPr/>
          </p:nvSpPr>
          <p:spPr>
            <a:xfrm>
              <a:off x="9587378" y="1126404"/>
              <a:ext cx="725651" cy="338554"/>
            </a:xfrm>
            <a:prstGeom prst="rect">
              <a:avLst/>
            </a:prstGeom>
            <a:noFill/>
          </p:spPr>
          <p:txBody>
            <a:bodyPr wrap="square" rtlCol="0">
              <a:spAutoFit/>
            </a:bodyPr>
            <a:lstStyle/>
            <a:p>
              <a:r>
                <a:rPr lang="en-DK" sz="1600" dirty="0">
                  <a:solidFill>
                    <a:schemeClr val="tx2">
                      <a:lumMod val="75000"/>
                      <a:lumOff val="25000"/>
                    </a:schemeClr>
                  </a:solidFill>
                </a:rPr>
                <a:t>MAG1</a:t>
              </a:r>
            </a:p>
          </p:txBody>
        </p:sp>
      </p:grpSp>
      <p:grpSp>
        <p:nvGrpSpPr>
          <p:cNvPr id="216" name="Group 215">
            <a:extLst>
              <a:ext uri="{FF2B5EF4-FFF2-40B4-BE49-F238E27FC236}">
                <a16:creationId xmlns:a16="http://schemas.microsoft.com/office/drawing/2014/main" id="{521F4357-045C-8570-AFA5-3B94B341F053}"/>
              </a:ext>
            </a:extLst>
          </p:cNvPr>
          <p:cNvGrpSpPr/>
          <p:nvPr/>
        </p:nvGrpSpPr>
        <p:grpSpPr>
          <a:xfrm>
            <a:off x="8833978" y="1723277"/>
            <a:ext cx="1172485" cy="1096911"/>
            <a:chOff x="8833978" y="1723277"/>
            <a:chExt cx="1172485" cy="1096911"/>
          </a:xfrm>
        </p:grpSpPr>
        <p:sp>
          <p:nvSpPr>
            <p:cNvPr id="173" name="Oval 172">
              <a:extLst>
                <a:ext uri="{FF2B5EF4-FFF2-40B4-BE49-F238E27FC236}">
                  <a16:creationId xmlns:a16="http://schemas.microsoft.com/office/drawing/2014/main" id="{528AF469-79A3-70A6-B65F-DCC8DB249A59}"/>
                </a:ext>
              </a:extLst>
            </p:cNvPr>
            <p:cNvSpPr/>
            <p:nvPr/>
          </p:nvSpPr>
          <p:spPr>
            <a:xfrm>
              <a:off x="8833978" y="1864224"/>
              <a:ext cx="955964" cy="955964"/>
            </a:xfrm>
            <a:prstGeom prst="ellipse">
              <a:avLst/>
            </a:prstGeom>
            <a:noFill/>
            <a:ln w="3810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178" name="TextBox 177">
              <a:extLst>
                <a:ext uri="{FF2B5EF4-FFF2-40B4-BE49-F238E27FC236}">
                  <a16:creationId xmlns:a16="http://schemas.microsoft.com/office/drawing/2014/main" id="{AC2C4D6C-442B-CF69-104E-731313CDFE9B}"/>
                </a:ext>
              </a:extLst>
            </p:cNvPr>
            <p:cNvSpPr txBox="1"/>
            <p:nvPr/>
          </p:nvSpPr>
          <p:spPr>
            <a:xfrm>
              <a:off x="9001126" y="1723277"/>
              <a:ext cx="664995" cy="307777"/>
            </a:xfrm>
            <a:prstGeom prst="rect">
              <a:avLst/>
            </a:prstGeom>
            <a:solidFill>
              <a:schemeClr val="bg1"/>
            </a:solidFill>
          </p:spPr>
          <p:txBody>
            <a:bodyPr wrap="square" rtlCol="0">
              <a:spAutoFit/>
            </a:bodyPr>
            <a:lstStyle/>
            <a:p>
              <a:r>
                <a:rPr lang="en-DK" sz="1400" dirty="0">
                  <a:solidFill>
                    <a:schemeClr val="accent3">
                      <a:lumMod val="75000"/>
                    </a:schemeClr>
                  </a:solidFill>
                </a:rPr>
                <a:t>C23</a:t>
              </a:r>
            </a:p>
          </p:txBody>
        </p:sp>
        <p:sp>
          <p:nvSpPr>
            <p:cNvPr id="179" name="TextBox 178">
              <a:extLst>
                <a:ext uri="{FF2B5EF4-FFF2-40B4-BE49-F238E27FC236}">
                  <a16:creationId xmlns:a16="http://schemas.microsoft.com/office/drawing/2014/main" id="{BC428F90-01E8-D57C-E9F2-D813394133CB}"/>
                </a:ext>
              </a:extLst>
            </p:cNvPr>
            <p:cNvSpPr txBox="1"/>
            <p:nvPr/>
          </p:nvSpPr>
          <p:spPr>
            <a:xfrm>
              <a:off x="9501619" y="2291166"/>
              <a:ext cx="504844" cy="307777"/>
            </a:xfrm>
            <a:prstGeom prst="rect">
              <a:avLst/>
            </a:prstGeom>
            <a:solidFill>
              <a:schemeClr val="bg1"/>
            </a:solidFill>
          </p:spPr>
          <p:txBody>
            <a:bodyPr wrap="square" rtlCol="0">
              <a:spAutoFit/>
            </a:bodyPr>
            <a:lstStyle/>
            <a:p>
              <a:r>
                <a:rPr lang="en-DK" sz="1400" dirty="0">
                  <a:solidFill>
                    <a:schemeClr val="accent3">
                      <a:lumMod val="75000"/>
                    </a:schemeClr>
                  </a:solidFill>
                </a:rPr>
                <a:t>C77</a:t>
              </a:r>
            </a:p>
          </p:txBody>
        </p:sp>
        <p:sp>
          <p:nvSpPr>
            <p:cNvPr id="202" name="TextBox 201">
              <a:extLst>
                <a:ext uri="{FF2B5EF4-FFF2-40B4-BE49-F238E27FC236}">
                  <a16:creationId xmlns:a16="http://schemas.microsoft.com/office/drawing/2014/main" id="{C4D20815-71AF-1F15-67B4-D84F31E54E1F}"/>
                </a:ext>
              </a:extLst>
            </p:cNvPr>
            <p:cNvSpPr txBox="1"/>
            <p:nvPr/>
          </p:nvSpPr>
          <p:spPr>
            <a:xfrm>
              <a:off x="8883320" y="2151647"/>
              <a:ext cx="861674" cy="338554"/>
            </a:xfrm>
            <a:prstGeom prst="rect">
              <a:avLst/>
            </a:prstGeom>
            <a:noFill/>
          </p:spPr>
          <p:txBody>
            <a:bodyPr wrap="square" rtlCol="0">
              <a:spAutoFit/>
            </a:bodyPr>
            <a:lstStyle/>
            <a:p>
              <a:r>
                <a:rPr lang="en-DK" sz="1600" dirty="0">
                  <a:solidFill>
                    <a:schemeClr val="accent3"/>
                  </a:solidFill>
                </a:rPr>
                <a:t>MAG30</a:t>
              </a:r>
            </a:p>
          </p:txBody>
        </p:sp>
      </p:grpSp>
      <p:grpSp>
        <p:nvGrpSpPr>
          <p:cNvPr id="210" name="Group 209">
            <a:extLst>
              <a:ext uri="{FF2B5EF4-FFF2-40B4-BE49-F238E27FC236}">
                <a16:creationId xmlns:a16="http://schemas.microsoft.com/office/drawing/2014/main" id="{94339295-8B86-C9AC-ABFD-AEE2FA58A491}"/>
              </a:ext>
            </a:extLst>
          </p:cNvPr>
          <p:cNvGrpSpPr/>
          <p:nvPr/>
        </p:nvGrpSpPr>
        <p:grpSpPr>
          <a:xfrm>
            <a:off x="10012542" y="2018113"/>
            <a:ext cx="1120482" cy="1039079"/>
            <a:chOff x="10012542" y="2018113"/>
            <a:chExt cx="1120482" cy="1039079"/>
          </a:xfrm>
        </p:grpSpPr>
        <p:sp>
          <p:nvSpPr>
            <p:cNvPr id="172" name="Oval 171">
              <a:extLst>
                <a:ext uri="{FF2B5EF4-FFF2-40B4-BE49-F238E27FC236}">
                  <a16:creationId xmlns:a16="http://schemas.microsoft.com/office/drawing/2014/main" id="{26161EFA-982F-1493-1EB8-A8FFEF08A2FF}"/>
                </a:ext>
              </a:extLst>
            </p:cNvPr>
            <p:cNvSpPr/>
            <p:nvPr/>
          </p:nvSpPr>
          <p:spPr>
            <a:xfrm>
              <a:off x="10177060" y="2018113"/>
              <a:ext cx="955964" cy="955964"/>
            </a:xfrm>
            <a:prstGeom prst="ellipse">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176" name="TextBox 175">
              <a:extLst>
                <a:ext uri="{FF2B5EF4-FFF2-40B4-BE49-F238E27FC236}">
                  <a16:creationId xmlns:a16="http://schemas.microsoft.com/office/drawing/2014/main" id="{1151EFC2-ACB9-4B1A-329C-9A6242D829D7}"/>
                </a:ext>
              </a:extLst>
            </p:cNvPr>
            <p:cNvSpPr txBox="1"/>
            <p:nvPr/>
          </p:nvSpPr>
          <p:spPr>
            <a:xfrm>
              <a:off x="10012542" y="2181524"/>
              <a:ext cx="664995" cy="307777"/>
            </a:xfrm>
            <a:prstGeom prst="rect">
              <a:avLst/>
            </a:prstGeom>
            <a:solidFill>
              <a:schemeClr val="bg1"/>
            </a:solidFill>
          </p:spPr>
          <p:txBody>
            <a:bodyPr wrap="square" rtlCol="0">
              <a:spAutoFit/>
            </a:bodyPr>
            <a:lstStyle/>
            <a:p>
              <a:r>
                <a:rPr lang="en-DK" sz="1400" dirty="0">
                  <a:solidFill>
                    <a:srgbClr val="FF0000"/>
                  </a:solidFill>
                </a:rPr>
                <a:t>C12</a:t>
              </a:r>
            </a:p>
          </p:txBody>
        </p:sp>
        <p:sp>
          <p:nvSpPr>
            <p:cNvPr id="177" name="TextBox 176">
              <a:extLst>
                <a:ext uri="{FF2B5EF4-FFF2-40B4-BE49-F238E27FC236}">
                  <a16:creationId xmlns:a16="http://schemas.microsoft.com/office/drawing/2014/main" id="{D2395398-36EC-F323-68FA-1C45A7D3BF53}"/>
                </a:ext>
              </a:extLst>
            </p:cNvPr>
            <p:cNvSpPr txBox="1"/>
            <p:nvPr/>
          </p:nvSpPr>
          <p:spPr>
            <a:xfrm>
              <a:off x="10397844" y="2749415"/>
              <a:ext cx="568919" cy="307777"/>
            </a:xfrm>
            <a:prstGeom prst="rect">
              <a:avLst/>
            </a:prstGeom>
            <a:solidFill>
              <a:schemeClr val="bg1"/>
            </a:solidFill>
          </p:spPr>
          <p:txBody>
            <a:bodyPr wrap="square" rtlCol="0">
              <a:spAutoFit/>
            </a:bodyPr>
            <a:lstStyle/>
            <a:p>
              <a:r>
                <a:rPr lang="en-DK" sz="1400" dirty="0">
                  <a:solidFill>
                    <a:srgbClr val="FF0000"/>
                  </a:solidFill>
                </a:rPr>
                <a:t>C44</a:t>
              </a:r>
            </a:p>
          </p:txBody>
        </p:sp>
        <p:sp>
          <p:nvSpPr>
            <p:cNvPr id="203" name="TextBox 202">
              <a:extLst>
                <a:ext uri="{FF2B5EF4-FFF2-40B4-BE49-F238E27FC236}">
                  <a16:creationId xmlns:a16="http://schemas.microsoft.com/office/drawing/2014/main" id="{06CAFBC6-10EE-27C1-9990-6A13BD932572}"/>
                </a:ext>
              </a:extLst>
            </p:cNvPr>
            <p:cNvSpPr txBox="1"/>
            <p:nvPr/>
          </p:nvSpPr>
          <p:spPr>
            <a:xfrm>
              <a:off x="10254927" y="2345612"/>
              <a:ext cx="861674" cy="338554"/>
            </a:xfrm>
            <a:prstGeom prst="rect">
              <a:avLst/>
            </a:prstGeom>
            <a:noFill/>
          </p:spPr>
          <p:txBody>
            <a:bodyPr wrap="square" rtlCol="0">
              <a:spAutoFit/>
            </a:bodyPr>
            <a:lstStyle/>
            <a:p>
              <a:r>
                <a:rPr lang="en-DK" sz="1600" dirty="0">
                  <a:solidFill>
                    <a:srgbClr val="FF0000"/>
                  </a:solidFill>
                </a:rPr>
                <a:t>MAG49</a:t>
              </a:r>
            </a:p>
          </p:txBody>
        </p:sp>
      </p:grpSp>
      <p:grpSp>
        <p:nvGrpSpPr>
          <p:cNvPr id="205" name="Group 204">
            <a:extLst>
              <a:ext uri="{FF2B5EF4-FFF2-40B4-BE49-F238E27FC236}">
                <a16:creationId xmlns:a16="http://schemas.microsoft.com/office/drawing/2014/main" id="{3B5470F1-516C-CB8F-ED96-7F12F36D634F}"/>
              </a:ext>
            </a:extLst>
          </p:cNvPr>
          <p:cNvGrpSpPr/>
          <p:nvPr/>
        </p:nvGrpSpPr>
        <p:grpSpPr>
          <a:xfrm>
            <a:off x="10390521" y="4923019"/>
            <a:ext cx="1152483" cy="1140630"/>
            <a:chOff x="9447956" y="629622"/>
            <a:chExt cx="1152483" cy="1140630"/>
          </a:xfrm>
        </p:grpSpPr>
        <p:sp>
          <p:nvSpPr>
            <p:cNvPr id="206" name="Oval 205">
              <a:extLst>
                <a:ext uri="{FF2B5EF4-FFF2-40B4-BE49-F238E27FC236}">
                  <a16:creationId xmlns:a16="http://schemas.microsoft.com/office/drawing/2014/main" id="{791B8B62-6823-0972-EE2F-AAB6013F0413}"/>
                </a:ext>
              </a:extLst>
            </p:cNvPr>
            <p:cNvSpPr/>
            <p:nvPr/>
          </p:nvSpPr>
          <p:spPr>
            <a:xfrm>
              <a:off x="9447956" y="814288"/>
              <a:ext cx="955964" cy="955964"/>
            </a:xfrm>
            <a:prstGeom prst="ellipse">
              <a:avLst/>
            </a:prstGeom>
            <a:noFill/>
            <a:ln w="38100">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207" name="TextBox 206">
              <a:extLst>
                <a:ext uri="{FF2B5EF4-FFF2-40B4-BE49-F238E27FC236}">
                  <a16:creationId xmlns:a16="http://schemas.microsoft.com/office/drawing/2014/main" id="{2F6DCB2A-2BB6-2F8B-2AE0-B514286E433B}"/>
                </a:ext>
              </a:extLst>
            </p:cNvPr>
            <p:cNvSpPr txBox="1"/>
            <p:nvPr/>
          </p:nvSpPr>
          <p:spPr>
            <a:xfrm>
              <a:off x="9789942" y="629622"/>
              <a:ext cx="477982" cy="307777"/>
            </a:xfrm>
            <a:prstGeom prst="rect">
              <a:avLst/>
            </a:prstGeom>
            <a:solidFill>
              <a:schemeClr val="bg1"/>
            </a:solidFill>
          </p:spPr>
          <p:txBody>
            <a:bodyPr wrap="square" rtlCol="0">
              <a:spAutoFit/>
            </a:bodyPr>
            <a:lstStyle/>
            <a:p>
              <a:r>
                <a:rPr lang="en-DK" sz="1400" dirty="0">
                  <a:solidFill>
                    <a:schemeClr val="tx2">
                      <a:lumMod val="75000"/>
                      <a:lumOff val="25000"/>
                    </a:schemeClr>
                  </a:solidFill>
                </a:rPr>
                <a:t>C1</a:t>
              </a:r>
            </a:p>
          </p:txBody>
        </p:sp>
        <p:sp>
          <p:nvSpPr>
            <p:cNvPr id="208" name="TextBox 207">
              <a:extLst>
                <a:ext uri="{FF2B5EF4-FFF2-40B4-BE49-F238E27FC236}">
                  <a16:creationId xmlns:a16="http://schemas.microsoft.com/office/drawing/2014/main" id="{A0441175-855A-9BBD-9062-07243F47F555}"/>
                </a:ext>
              </a:extLst>
            </p:cNvPr>
            <p:cNvSpPr txBox="1"/>
            <p:nvPr/>
          </p:nvSpPr>
          <p:spPr>
            <a:xfrm>
              <a:off x="10122457" y="879003"/>
              <a:ext cx="477982" cy="307777"/>
            </a:xfrm>
            <a:prstGeom prst="rect">
              <a:avLst/>
            </a:prstGeom>
            <a:solidFill>
              <a:schemeClr val="bg1"/>
            </a:solidFill>
          </p:spPr>
          <p:txBody>
            <a:bodyPr wrap="square" rtlCol="0">
              <a:spAutoFit/>
            </a:bodyPr>
            <a:lstStyle/>
            <a:p>
              <a:r>
                <a:rPr lang="en-DK" sz="1400" dirty="0">
                  <a:solidFill>
                    <a:schemeClr val="tx2">
                      <a:lumMod val="75000"/>
                      <a:lumOff val="25000"/>
                    </a:schemeClr>
                  </a:solidFill>
                </a:rPr>
                <a:t>C2</a:t>
              </a:r>
            </a:p>
          </p:txBody>
        </p:sp>
        <p:sp>
          <p:nvSpPr>
            <p:cNvPr id="209" name="TextBox 208">
              <a:extLst>
                <a:ext uri="{FF2B5EF4-FFF2-40B4-BE49-F238E27FC236}">
                  <a16:creationId xmlns:a16="http://schemas.microsoft.com/office/drawing/2014/main" id="{28BC6A9B-4A9C-D62C-A437-A3E0F0B30D69}"/>
                </a:ext>
              </a:extLst>
            </p:cNvPr>
            <p:cNvSpPr txBox="1"/>
            <p:nvPr/>
          </p:nvSpPr>
          <p:spPr>
            <a:xfrm>
              <a:off x="9587378" y="1126404"/>
              <a:ext cx="725651" cy="338554"/>
            </a:xfrm>
            <a:prstGeom prst="rect">
              <a:avLst/>
            </a:prstGeom>
            <a:noFill/>
          </p:spPr>
          <p:txBody>
            <a:bodyPr wrap="square" rtlCol="0">
              <a:spAutoFit/>
            </a:bodyPr>
            <a:lstStyle/>
            <a:p>
              <a:r>
                <a:rPr lang="en-DK" sz="1600" dirty="0">
                  <a:solidFill>
                    <a:schemeClr val="tx2">
                      <a:lumMod val="75000"/>
                      <a:lumOff val="25000"/>
                    </a:schemeClr>
                  </a:solidFill>
                </a:rPr>
                <a:t>MAG1</a:t>
              </a:r>
            </a:p>
          </p:txBody>
        </p:sp>
      </p:grpSp>
      <p:grpSp>
        <p:nvGrpSpPr>
          <p:cNvPr id="211" name="Group 210">
            <a:extLst>
              <a:ext uri="{FF2B5EF4-FFF2-40B4-BE49-F238E27FC236}">
                <a16:creationId xmlns:a16="http://schemas.microsoft.com/office/drawing/2014/main" id="{84DEEDF0-8100-DFE4-4E98-964CB97005D8}"/>
              </a:ext>
            </a:extLst>
          </p:cNvPr>
          <p:cNvGrpSpPr/>
          <p:nvPr/>
        </p:nvGrpSpPr>
        <p:grpSpPr>
          <a:xfrm>
            <a:off x="9047071" y="5112311"/>
            <a:ext cx="1120482" cy="1039079"/>
            <a:chOff x="10012542" y="2018113"/>
            <a:chExt cx="1120482" cy="1039079"/>
          </a:xfrm>
        </p:grpSpPr>
        <p:sp>
          <p:nvSpPr>
            <p:cNvPr id="212" name="Oval 211">
              <a:extLst>
                <a:ext uri="{FF2B5EF4-FFF2-40B4-BE49-F238E27FC236}">
                  <a16:creationId xmlns:a16="http://schemas.microsoft.com/office/drawing/2014/main" id="{B777BF4E-9036-C05E-3CFB-648A7F65BDF8}"/>
                </a:ext>
              </a:extLst>
            </p:cNvPr>
            <p:cNvSpPr/>
            <p:nvPr/>
          </p:nvSpPr>
          <p:spPr>
            <a:xfrm>
              <a:off x="10177060" y="2018113"/>
              <a:ext cx="955964" cy="955964"/>
            </a:xfrm>
            <a:prstGeom prst="ellipse">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213" name="TextBox 212">
              <a:extLst>
                <a:ext uri="{FF2B5EF4-FFF2-40B4-BE49-F238E27FC236}">
                  <a16:creationId xmlns:a16="http://schemas.microsoft.com/office/drawing/2014/main" id="{D6A18B0E-ECB4-8FEB-2B89-47A2C257CD21}"/>
                </a:ext>
              </a:extLst>
            </p:cNvPr>
            <p:cNvSpPr txBox="1"/>
            <p:nvPr/>
          </p:nvSpPr>
          <p:spPr>
            <a:xfrm>
              <a:off x="10012542" y="2181524"/>
              <a:ext cx="664995" cy="307777"/>
            </a:xfrm>
            <a:prstGeom prst="rect">
              <a:avLst/>
            </a:prstGeom>
            <a:solidFill>
              <a:schemeClr val="bg1"/>
            </a:solidFill>
          </p:spPr>
          <p:txBody>
            <a:bodyPr wrap="square" rtlCol="0">
              <a:spAutoFit/>
            </a:bodyPr>
            <a:lstStyle/>
            <a:p>
              <a:r>
                <a:rPr lang="en-DK" sz="1400" dirty="0">
                  <a:solidFill>
                    <a:srgbClr val="FF0000"/>
                  </a:solidFill>
                </a:rPr>
                <a:t>C12</a:t>
              </a:r>
            </a:p>
          </p:txBody>
        </p:sp>
        <p:sp>
          <p:nvSpPr>
            <p:cNvPr id="214" name="TextBox 213">
              <a:extLst>
                <a:ext uri="{FF2B5EF4-FFF2-40B4-BE49-F238E27FC236}">
                  <a16:creationId xmlns:a16="http://schemas.microsoft.com/office/drawing/2014/main" id="{74D2C24E-9540-F4D2-F0F3-6A34D2C1101D}"/>
                </a:ext>
              </a:extLst>
            </p:cNvPr>
            <p:cNvSpPr txBox="1"/>
            <p:nvPr/>
          </p:nvSpPr>
          <p:spPr>
            <a:xfrm>
              <a:off x="10397844" y="2749415"/>
              <a:ext cx="568919" cy="307777"/>
            </a:xfrm>
            <a:prstGeom prst="rect">
              <a:avLst/>
            </a:prstGeom>
            <a:solidFill>
              <a:schemeClr val="bg1"/>
            </a:solidFill>
          </p:spPr>
          <p:txBody>
            <a:bodyPr wrap="square" rtlCol="0">
              <a:spAutoFit/>
            </a:bodyPr>
            <a:lstStyle/>
            <a:p>
              <a:r>
                <a:rPr lang="en-DK" sz="1400" dirty="0">
                  <a:solidFill>
                    <a:srgbClr val="FF0000"/>
                  </a:solidFill>
                </a:rPr>
                <a:t>C44</a:t>
              </a:r>
            </a:p>
          </p:txBody>
        </p:sp>
        <p:sp>
          <p:nvSpPr>
            <p:cNvPr id="215" name="TextBox 214">
              <a:extLst>
                <a:ext uri="{FF2B5EF4-FFF2-40B4-BE49-F238E27FC236}">
                  <a16:creationId xmlns:a16="http://schemas.microsoft.com/office/drawing/2014/main" id="{C021B613-3CEF-C714-81E0-9448DD39781A}"/>
                </a:ext>
              </a:extLst>
            </p:cNvPr>
            <p:cNvSpPr txBox="1"/>
            <p:nvPr/>
          </p:nvSpPr>
          <p:spPr>
            <a:xfrm>
              <a:off x="10254927" y="2345612"/>
              <a:ext cx="861674" cy="338554"/>
            </a:xfrm>
            <a:prstGeom prst="rect">
              <a:avLst/>
            </a:prstGeom>
            <a:noFill/>
          </p:spPr>
          <p:txBody>
            <a:bodyPr wrap="square" rtlCol="0">
              <a:spAutoFit/>
            </a:bodyPr>
            <a:lstStyle/>
            <a:p>
              <a:r>
                <a:rPr lang="en-DK" sz="1600" dirty="0">
                  <a:solidFill>
                    <a:srgbClr val="FF0000"/>
                  </a:solidFill>
                </a:rPr>
                <a:t>MAG49</a:t>
              </a:r>
            </a:p>
          </p:txBody>
        </p:sp>
      </p:grpSp>
      <p:grpSp>
        <p:nvGrpSpPr>
          <p:cNvPr id="217" name="Group 216">
            <a:extLst>
              <a:ext uri="{FF2B5EF4-FFF2-40B4-BE49-F238E27FC236}">
                <a16:creationId xmlns:a16="http://schemas.microsoft.com/office/drawing/2014/main" id="{72E316E0-F2B3-D637-803E-F77B360AC4BC}"/>
              </a:ext>
            </a:extLst>
          </p:cNvPr>
          <p:cNvGrpSpPr/>
          <p:nvPr/>
        </p:nvGrpSpPr>
        <p:grpSpPr>
          <a:xfrm>
            <a:off x="7233798" y="4973417"/>
            <a:ext cx="955964" cy="1096911"/>
            <a:chOff x="8833978" y="1723277"/>
            <a:chExt cx="955964" cy="1096911"/>
          </a:xfrm>
        </p:grpSpPr>
        <p:sp>
          <p:nvSpPr>
            <p:cNvPr id="218" name="Oval 217">
              <a:extLst>
                <a:ext uri="{FF2B5EF4-FFF2-40B4-BE49-F238E27FC236}">
                  <a16:creationId xmlns:a16="http://schemas.microsoft.com/office/drawing/2014/main" id="{A5560FE0-83FF-D21C-C5CA-E07C4B55AD6A}"/>
                </a:ext>
              </a:extLst>
            </p:cNvPr>
            <p:cNvSpPr/>
            <p:nvPr/>
          </p:nvSpPr>
          <p:spPr>
            <a:xfrm>
              <a:off x="8833978" y="1864224"/>
              <a:ext cx="955964" cy="955964"/>
            </a:xfrm>
            <a:prstGeom prst="ellipse">
              <a:avLst/>
            </a:prstGeom>
            <a:noFill/>
            <a:ln w="3810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219" name="TextBox 218">
              <a:extLst>
                <a:ext uri="{FF2B5EF4-FFF2-40B4-BE49-F238E27FC236}">
                  <a16:creationId xmlns:a16="http://schemas.microsoft.com/office/drawing/2014/main" id="{49CCA530-D1D9-561E-469D-52E918A048DD}"/>
                </a:ext>
              </a:extLst>
            </p:cNvPr>
            <p:cNvSpPr txBox="1"/>
            <p:nvPr/>
          </p:nvSpPr>
          <p:spPr>
            <a:xfrm>
              <a:off x="9001126" y="1723277"/>
              <a:ext cx="664995" cy="307777"/>
            </a:xfrm>
            <a:prstGeom prst="rect">
              <a:avLst/>
            </a:prstGeom>
            <a:solidFill>
              <a:schemeClr val="bg1"/>
            </a:solidFill>
          </p:spPr>
          <p:txBody>
            <a:bodyPr wrap="square" rtlCol="0">
              <a:spAutoFit/>
            </a:bodyPr>
            <a:lstStyle/>
            <a:p>
              <a:r>
                <a:rPr lang="en-DK" sz="1400" dirty="0">
                  <a:solidFill>
                    <a:schemeClr val="accent3">
                      <a:lumMod val="75000"/>
                    </a:schemeClr>
                  </a:solidFill>
                </a:rPr>
                <a:t>C23</a:t>
              </a:r>
            </a:p>
          </p:txBody>
        </p:sp>
        <p:sp>
          <p:nvSpPr>
            <p:cNvPr id="221" name="TextBox 220">
              <a:extLst>
                <a:ext uri="{FF2B5EF4-FFF2-40B4-BE49-F238E27FC236}">
                  <a16:creationId xmlns:a16="http://schemas.microsoft.com/office/drawing/2014/main" id="{310538EE-CD86-B4BC-EFEC-1ECD28A56C0D}"/>
                </a:ext>
              </a:extLst>
            </p:cNvPr>
            <p:cNvSpPr txBox="1"/>
            <p:nvPr/>
          </p:nvSpPr>
          <p:spPr>
            <a:xfrm>
              <a:off x="8883320" y="2151647"/>
              <a:ext cx="861674" cy="338554"/>
            </a:xfrm>
            <a:prstGeom prst="rect">
              <a:avLst/>
            </a:prstGeom>
            <a:noFill/>
          </p:spPr>
          <p:txBody>
            <a:bodyPr wrap="square" rtlCol="0">
              <a:spAutoFit/>
            </a:bodyPr>
            <a:lstStyle/>
            <a:p>
              <a:r>
                <a:rPr lang="en-DK" sz="1600" dirty="0">
                  <a:solidFill>
                    <a:schemeClr val="accent3"/>
                  </a:solidFill>
                </a:rPr>
                <a:t>MAG30</a:t>
              </a:r>
            </a:p>
          </p:txBody>
        </p:sp>
      </p:grpSp>
      <p:grpSp>
        <p:nvGrpSpPr>
          <p:cNvPr id="222" name="Group 221">
            <a:extLst>
              <a:ext uri="{FF2B5EF4-FFF2-40B4-BE49-F238E27FC236}">
                <a16:creationId xmlns:a16="http://schemas.microsoft.com/office/drawing/2014/main" id="{AA01DE55-6466-A095-3933-FE6A922C0A41}"/>
              </a:ext>
            </a:extLst>
          </p:cNvPr>
          <p:cNvGrpSpPr/>
          <p:nvPr/>
        </p:nvGrpSpPr>
        <p:grpSpPr>
          <a:xfrm>
            <a:off x="4820575" y="5081615"/>
            <a:ext cx="1152483" cy="1140630"/>
            <a:chOff x="9447956" y="629622"/>
            <a:chExt cx="1152483" cy="1140630"/>
          </a:xfrm>
        </p:grpSpPr>
        <p:sp>
          <p:nvSpPr>
            <p:cNvPr id="223" name="Oval 222">
              <a:extLst>
                <a:ext uri="{FF2B5EF4-FFF2-40B4-BE49-F238E27FC236}">
                  <a16:creationId xmlns:a16="http://schemas.microsoft.com/office/drawing/2014/main" id="{4C69CC65-5384-904F-0FFC-64C2D01C15EB}"/>
                </a:ext>
              </a:extLst>
            </p:cNvPr>
            <p:cNvSpPr/>
            <p:nvPr/>
          </p:nvSpPr>
          <p:spPr>
            <a:xfrm>
              <a:off x="9447956" y="814288"/>
              <a:ext cx="955964" cy="955964"/>
            </a:xfrm>
            <a:prstGeom prst="ellipse">
              <a:avLst/>
            </a:prstGeom>
            <a:noFill/>
            <a:ln w="38100">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224" name="TextBox 223">
              <a:extLst>
                <a:ext uri="{FF2B5EF4-FFF2-40B4-BE49-F238E27FC236}">
                  <a16:creationId xmlns:a16="http://schemas.microsoft.com/office/drawing/2014/main" id="{6AAA6D9B-0801-90E6-D09D-7BAD3569B032}"/>
                </a:ext>
              </a:extLst>
            </p:cNvPr>
            <p:cNvSpPr txBox="1"/>
            <p:nvPr/>
          </p:nvSpPr>
          <p:spPr>
            <a:xfrm>
              <a:off x="9789942" y="629622"/>
              <a:ext cx="477982" cy="307777"/>
            </a:xfrm>
            <a:prstGeom prst="rect">
              <a:avLst/>
            </a:prstGeom>
            <a:solidFill>
              <a:schemeClr val="bg1"/>
            </a:solidFill>
          </p:spPr>
          <p:txBody>
            <a:bodyPr wrap="square" rtlCol="0">
              <a:spAutoFit/>
            </a:bodyPr>
            <a:lstStyle/>
            <a:p>
              <a:r>
                <a:rPr lang="en-DK" sz="1400" dirty="0">
                  <a:solidFill>
                    <a:schemeClr val="tx2">
                      <a:lumMod val="75000"/>
                      <a:lumOff val="25000"/>
                    </a:schemeClr>
                  </a:solidFill>
                </a:rPr>
                <a:t>C1</a:t>
              </a:r>
            </a:p>
          </p:txBody>
        </p:sp>
        <p:sp>
          <p:nvSpPr>
            <p:cNvPr id="225" name="TextBox 224">
              <a:extLst>
                <a:ext uri="{FF2B5EF4-FFF2-40B4-BE49-F238E27FC236}">
                  <a16:creationId xmlns:a16="http://schemas.microsoft.com/office/drawing/2014/main" id="{C0A9BE23-6DA3-5F08-E572-946619080C9A}"/>
                </a:ext>
              </a:extLst>
            </p:cNvPr>
            <p:cNvSpPr txBox="1"/>
            <p:nvPr/>
          </p:nvSpPr>
          <p:spPr>
            <a:xfrm>
              <a:off x="10122457" y="879003"/>
              <a:ext cx="477982" cy="307777"/>
            </a:xfrm>
            <a:prstGeom prst="rect">
              <a:avLst/>
            </a:prstGeom>
            <a:solidFill>
              <a:schemeClr val="bg1"/>
            </a:solidFill>
          </p:spPr>
          <p:txBody>
            <a:bodyPr wrap="square" rtlCol="0">
              <a:spAutoFit/>
            </a:bodyPr>
            <a:lstStyle/>
            <a:p>
              <a:r>
                <a:rPr lang="en-DK" sz="1400" dirty="0">
                  <a:solidFill>
                    <a:schemeClr val="tx2">
                      <a:lumMod val="75000"/>
                      <a:lumOff val="25000"/>
                    </a:schemeClr>
                  </a:solidFill>
                </a:rPr>
                <a:t>C2</a:t>
              </a:r>
            </a:p>
          </p:txBody>
        </p:sp>
        <p:sp>
          <p:nvSpPr>
            <p:cNvPr id="226" name="TextBox 225">
              <a:extLst>
                <a:ext uri="{FF2B5EF4-FFF2-40B4-BE49-F238E27FC236}">
                  <a16:creationId xmlns:a16="http://schemas.microsoft.com/office/drawing/2014/main" id="{ED297E2A-5AF2-7125-6EB2-B6A86ED40A1D}"/>
                </a:ext>
              </a:extLst>
            </p:cNvPr>
            <p:cNvSpPr txBox="1"/>
            <p:nvPr/>
          </p:nvSpPr>
          <p:spPr>
            <a:xfrm>
              <a:off x="9587378" y="1126404"/>
              <a:ext cx="725651" cy="338554"/>
            </a:xfrm>
            <a:prstGeom prst="rect">
              <a:avLst/>
            </a:prstGeom>
            <a:noFill/>
          </p:spPr>
          <p:txBody>
            <a:bodyPr wrap="square" rtlCol="0">
              <a:spAutoFit/>
            </a:bodyPr>
            <a:lstStyle/>
            <a:p>
              <a:r>
                <a:rPr lang="en-DK" sz="1600" dirty="0">
                  <a:solidFill>
                    <a:schemeClr val="tx2">
                      <a:lumMod val="75000"/>
                      <a:lumOff val="25000"/>
                    </a:schemeClr>
                  </a:solidFill>
                </a:rPr>
                <a:t>MAG1</a:t>
              </a:r>
            </a:p>
          </p:txBody>
        </p:sp>
      </p:grpSp>
      <p:grpSp>
        <p:nvGrpSpPr>
          <p:cNvPr id="227" name="Group 226">
            <a:extLst>
              <a:ext uri="{FF2B5EF4-FFF2-40B4-BE49-F238E27FC236}">
                <a16:creationId xmlns:a16="http://schemas.microsoft.com/office/drawing/2014/main" id="{4F54C23E-8270-8998-77F7-E5956CE1D40B}"/>
              </a:ext>
            </a:extLst>
          </p:cNvPr>
          <p:cNvGrpSpPr/>
          <p:nvPr/>
        </p:nvGrpSpPr>
        <p:grpSpPr>
          <a:xfrm>
            <a:off x="3519136" y="5298887"/>
            <a:ext cx="1120482" cy="1039079"/>
            <a:chOff x="10012542" y="2018113"/>
            <a:chExt cx="1120482" cy="1039079"/>
          </a:xfrm>
        </p:grpSpPr>
        <p:sp>
          <p:nvSpPr>
            <p:cNvPr id="228" name="Oval 227">
              <a:extLst>
                <a:ext uri="{FF2B5EF4-FFF2-40B4-BE49-F238E27FC236}">
                  <a16:creationId xmlns:a16="http://schemas.microsoft.com/office/drawing/2014/main" id="{0E4211AE-C277-5AB8-BAAC-8EB762DACE34}"/>
                </a:ext>
              </a:extLst>
            </p:cNvPr>
            <p:cNvSpPr/>
            <p:nvPr/>
          </p:nvSpPr>
          <p:spPr>
            <a:xfrm>
              <a:off x="10177060" y="2018113"/>
              <a:ext cx="955964" cy="955964"/>
            </a:xfrm>
            <a:prstGeom prst="ellipse">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229" name="TextBox 228">
              <a:extLst>
                <a:ext uri="{FF2B5EF4-FFF2-40B4-BE49-F238E27FC236}">
                  <a16:creationId xmlns:a16="http://schemas.microsoft.com/office/drawing/2014/main" id="{0C996839-65EC-55D3-D04A-6C73B69CB468}"/>
                </a:ext>
              </a:extLst>
            </p:cNvPr>
            <p:cNvSpPr txBox="1"/>
            <p:nvPr/>
          </p:nvSpPr>
          <p:spPr>
            <a:xfrm>
              <a:off x="10012542" y="2181524"/>
              <a:ext cx="664995" cy="307777"/>
            </a:xfrm>
            <a:prstGeom prst="rect">
              <a:avLst/>
            </a:prstGeom>
            <a:solidFill>
              <a:schemeClr val="bg1"/>
            </a:solidFill>
          </p:spPr>
          <p:txBody>
            <a:bodyPr wrap="square" rtlCol="0">
              <a:spAutoFit/>
            </a:bodyPr>
            <a:lstStyle/>
            <a:p>
              <a:r>
                <a:rPr lang="en-DK" sz="1400" dirty="0">
                  <a:solidFill>
                    <a:srgbClr val="FF0000"/>
                  </a:solidFill>
                </a:rPr>
                <a:t>C12</a:t>
              </a:r>
            </a:p>
          </p:txBody>
        </p:sp>
        <p:sp>
          <p:nvSpPr>
            <p:cNvPr id="230" name="TextBox 229">
              <a:extLst>
                <a:ext uri="{FF2B5EF4-FFF2-40B4-BE49-F238E27FC236}">
                  <a16:creationId xmlns:a16="http://schemas.microsoft.com/office/drawing/2014/main" id="{AB31A55E-47CB-5D82-9064-725147C42ECA}"/>
                </a:ext>
              </a:extLst>
            </p:cNvPr>
            <p:cNvSpPr txBox="1"/>
            <p:nvPr/>
          </p:nvSpPr>
          <p:spPr>
            <a:xfrm>
              <a:off x="10397844" y="2749415"/>
              <a:ext cx="568919" cy="307777"/>
            </a:xfrm>
            <a:prstGeom prst="rect">
              <a:avLst/>
            </a:prstGeom>
            <a:solidFill>
              <a:schemeClr val="bg1"/>
            </a:solidFill>
          </p:spPr>
          <p:txBody>
            <a:bodyPr wrap="square" rtlCol="0">
              <a:spAutoFit/>
            </a:bodyPr>
            <a:lstStyle/>
            <a:p>
              <a:r>
                <a:rPr lang="en-DK" sz="1400" dirty="0">
                  <a:solidFill>
                    <a:srgbClr val="FF0000"/>
                  </a:solidFill>
                </a:rPr>
                <a:t>C44</a:t>
              </a:r>
            </a:p>
          </p:txBody>
        </p:sp>
        <p:sp>
          <p:nvSpPr>
            <p:cNvPr id="231" name="TextBox 230">
              <a:extLst>
                <a:ext uri="{FF2B5EF4-FFF2-40B4-BE49-F238E27FC236}">
                  <a16:creationId xmlns:a16="http://schemas.microsoft.com/office/drawing/2014/main" id="{E2901293-2316-F9F6-0EDF-79FBACFC212B}"/>
                </a:ext>
              </a:extLst>
            </p:cNvPr>
            <p:cNvSpPr txBox="1"/>
            <p:nvPr/>
          </p:nvSpPr>
          <p:spPr>
            <a:xfrm>
              <a:off x="10254927" y="2345612"/>
              <a:ext cx="861674" cy="338554"/>
            </a:xfrm>
            <a:prstGeom prst="rect">
              <a:avLst/>
            </a:prstGeom>
            <a:noFill/>
          </p:spPr>
          <p:txBody>
            <a:bodyPr wrap="square" rtlCol="0">
              <a:spAutoFit/>
            </a:bodyPr>
            <a:lstStyle/>
            <a:p>
              <a:r>
                <a:rPr lang="en-DK" sz="1600" dirty="0">
                  <a:solidFill>
                    <a:srgbClr val="FF0000"/>
                  </a:solidFill>
                </a:rPr>
                <a:t>MAG49</a:t>
              </a:r>
            </a:p>
          </p:txBody>
        </p:sp>
      </p:grpSp>
      <p:grpSp>
        <p:nvGrpSpPr>
          <p:cNvPr id="232" name="Group 231">
            <a:extLst>
              <a:ext uri="{FF2B5EF4-FFF2-40B4-BE49-F238E27FC236}">
                <a16:creationId xmlns:a16="http://schemas.microsoft.com/office/drawing/2014/main" id="{5D23FE72-F80F-B7CC-FB98-2F0C641C212C}"/>
              </a:ext>
            </a:extLst>
          </p:cNvPr>
          <p:cNvGrpSpPr/>
          <p:nvPr/>
        </p:nvGrpSpPr>
        <p:grpSpPr>
          <a:xfrm>
            <a:off x="2519769" y="5135457"/>
            <a:ext cx="955964" cy="1096911"/>
            <a:chOff x="8833978" y="1723277"/>
            <a:chExt cx="955964" cy="1096911"/>
          </a:xfrm>
        </p:grpSpPr>
        <p:sp>
          <p:nvSpPr>
            <p:cNvPr id="233" name="Oval 232">
              <a:extLst>
                <a:ext uri="{FF2B5EF4-FFF2-40B4-BE49-F238E27FC236}">
                  <a16:creationId xmlns:a16="http://schemas.microsoft.com/office/drawing/2014/main" id="{D3D233C4-9A5F-B72C-8F7F-3166245FD2CF}"/>
                </a:ext>
              </a:extLst>
            </p:cNvPr>
            <p:cNvSpPr/>
            <p:nvPr/>
          </p:nvSpPr>
          <p:spPr>
            <a:xfrm>
              <a:off x="8833978" y="1864224"/>
              <a:ext cx="955964" cy="955964"/>
            </a:xfrm>
            <a:prstGeom prst="ellipse">
              <a:avLst/>
            </a:prstGeom>
            <a:noFill/>
            <a:ln w="3810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234" name="TextBox 233">
              <a:extLst>
                <a:ext uri="{FF2B5EF4-FFF2-40B4-BE49-F238E27FC236}">
                  <a16:creationId xmlns:a16="http://schemas.microsoft.com/office/drawing/2014/main" id="{23033070-253B-C885-6972-28EBC9666C53}"/>
                </a:ext>
              </a:extLst>
            </p:cNvPr>
            <p:cNvSpPr txBox="1"/>
            <p:nvPr/>
          </p:nvSpPr>
          <p:spPr>
            <a:xfrm>
              <a:off x="9001126" y="1723277"/>
              <a:ext cx="664995" cy="307777"/>
            </a:xfrm>
            <a:prstGeom prst="rect">
              <a:avLst/>
            </a:prstGeom>
            <a:solidFill>
              <a:schemeClr val="bg1"/>
            </a:solidFill>
          </p:spPr>
          <p:txBody>
            <a:bodyPr wrap="square" rtlCol="0">
              <a:spAutoFit/>
            </a:bodyPr>
            <a:lstStyle/>
            <a:p>
              <a:r>
                <a:rPr lang="en-DK" sz="1400" dirty="0">
                  <a:solidFill>
                    <a:schemeClr val="accent3">
                      <a:lumMod val="75000"/>
                    </a:schemeClr>
                  </a:solidFill>
                </a:rPr>
                <a:t>C23</a:t>
              </a:r>
            </a:p>
          </p:txBody>
        </p:sp>
        <p:sp>
          <p:nvSpPr>
            <p:cNvPr id="235" name="TextBox 234">
              <a:extLst>
                <a:ext uri="{FF2B5EF4-FFF2-40B4-BE49-F238E27FC236}">
                  <a16:creationId xmlns:a16="http://schemas.microsoft.com/office/drawing/2014/main" id="{940CEEE3-7E7A-91E1-9A1F-A969706B6313}"/>
                </a:ext>
              </a:extLst>
            </p:cNvPr>
            <p:cNvSpPr txBox="1"/>
            <p:nvPr/>
          </p:nvSpPr>
          <p:spPr>
            <a:xfrm>
              <a:off x="8883320" y="2151647"/>
              <a:ext cx="861674" cy="338554"/>
            </a:xfrm>
            <a:prstGeom prst="rect">
              <a:avLst/>
            </a:prstGeom>
            <a:noFill/>
          </p:spPr>
          <p:txBody>
            <a:bodyPr wrap="square" rtlCol="0">
              <a:spAutoFit/>
            </a:bodyPr>
            <a:lstStyle/>
            <a:p>
              <a:r>
                <a:rPr lang="en-DK" sz="1600" dirty="0">
                  <a:solidFill>
                    <a:schemeClr val="accent3"/>
                  </a:solidFill>
                </a:rPr>
                <a:t>MAG30</a:t>
              </a:r>
            </a:p>
          </p:txBody>
        </p:sp>
      </p:grpSp>
      <p:sp>
        <p:nvSpPr>
          <p:cNvPr id="236" name="TextBox 235">
            <a:extLst>
              <a:ext uri="{FF2B5EF4-FFF2-40B4-BE49-F238E27FC236}">
                <a16:creationId xmlns:a16="http://schemas.microsoft.com/office/drawing/2014/main" id="{9BC2A0B9-510F-F3C7-9435-BCB9809372EA}"/>
              </a:ext>
            </a:extLst>
          </p:cNvPr>
          <p:cNvSpPr txBox="1"/>
          <p:nvPr/>
        </p:nvSpPr>
        <p:spPr>
          <a:xfrm>
            <a:off x="4869008" y="6244149"/>
            <a:ext cx="1270288" cy="523220"/>
          </a:xfrm>
          <a:prstGeom prst="rect">
            <a:avLst/>
          </a:prstGeom>
          <a:noFill/>
        </p:spPr>
        <p:txBody>
          <a:bodyPr wrap="square" rtlCol="0">
            <a:spAutoFit/>
          </a:bodyPr>
          <a:lstStyle/>
          <a:p>
            <a:r>
              <a:rPr lang="en-DK" sz="1400" dirty="0">
                <a:solidFill>
                  <a:schemeClr val="tx2">
                    <a:lumMod val="75000"/>
                    <a:lumOff val="25000"/>
                  </a:schemeClr>
                </a:solidFill>
              </a:rPr>
              <a:t>Escherichia coli K12</a:t>
            </a:r>
          </a:p>
        </p:txBody>
      </p:sp>
      <p:sp>
        <p:nvSpPr>
          <p:cNvPr id="237" name="TextBox 236">
            <a:extLst>
              <a:ext uri="{FF2B5EF4-FFF2-40B4-BE49-F238E27FC236}">
                <a16:creationId xmlns:a16="http://schemas.microsoft.com/office/drawing/2014/main" id="{FDF22E9E-38CD-8882-B6A0-EB831E406ECE}"/>
              </a:ext>
            </a:extLst>
          </p:cNvPr>
          <p:cNvSpPr txBox="1"/>
          <p:nvPr/>
        </p:nvSpPr>
        <p:spPr>
          <a:xfrm>
            <a:off x="3824572" y="6244149"/>
            <a:ext cx="1224783" cy="523220"/>
          </a:xfrm>
          <a:prstGeom prst="rect">
            <a:avLst/>
          </a:prstGeom>
          <a:noFill/>
        </p:spPr>
        <p:txBody>
          <a:bodyPr wrap="square" rtlCol="0">
            <a:spAutoFit/>
          </a:bodyPr>
          <a:lstStyle/>
          <a:p>
            <a:r>
              <a:rPr lang="en-DK" sz="1400" dirty="0">
                <a:solidFill>
                  <a:srgbClr val="FF0000"/>
                </a:solidFill>
              </a:rPr>
              <a:t>Bacillus subtilis</a:t>
            </a:r>
          </a:p>
        </p:txBody>
      </p:sp>
      <p:sp>
        <p:nvSpPr>
          <p:cNvPr id="238" name="TextBox 237">
            <a:extLst>
              <a:ext uri="{FF2B5EF4-FFF2-40B4-BE49-F238E27FC236}">
                <a16:creationId xmlns:a16="http://schemas.microsoft.com/office/drawing/2014/main" id="{69DEDCCA-CAC7-24E5-878D-E796D0DC2CC7}"/>
              </a:ext>
            </a:extLst>
          </p:cNvPr>
          <p:cNvSpPr txBox="1"/>
          <p:nvPr/>
        </p:nvSpPr>
        <p:spPr>
          <a:xfrm>
            <a:off x="2438399" y="6251653"/>
            <a:ext cx="1378475" cy="523220"/>
          </a:xfrm>
          <a:prstGeom prst="rect">
            <a:avLst/>
          </a:prstGeom>
          <a:noFill/>
        </p:spPr>
        <p:txBody>
          <a:bodyPr wrap="square" rtlCol="0">
            <a:spAutoFit/>
          </a:bodyPr>
          <a:lstStyle/>
          <a:p>
            <a:r>
              <a:rPr lang="en-DK" sz="1400" dirty="0">
                <a:solidFill>
                  <a:schemeClr val="accent3"/>
                </a:solidFill>
              </a:rPr>
              <a:t>Pseudomonas putida</a:t>
            </a:r>
          </a:p>
        </p:txBody>
      </p:sp>
      <p:pic>
        <p:nvPicPr>
          <p:cNvPr id="4098" name="Picture 2">
            <a:extLst>
              <a:ext uri="{FF2B5EF4-FFF2-40B4-BE49-F238E27FC236}">
                <a16:creationId xmlns:a16="http://schemas.microsoft.com/office/drawing/2014/main" id="{33B4F3ED-5A82-53A3-34D7-5601E0908CC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694" t="47252" r="61146" b="3349"/>
          <a:stretch>
            <a:fillRect/>
          </a:stretch>
        </p:blipFill>
        <p:spPr bwMode="auto">
          <a:xfrm>
            <a:off x="161857" y="5026231"/>
            <a:ext cx="1373680" cy="1487032"/>
          </a:xfrm>
          <a:prstGeom prst="rect">
            <a:avLst/>
          </a:prstGeom>
          <a:noFill/>
          <a:extLst>
            <a:ext uri="{909E8E84-426E-40DD-AFC4-6F175D3DCCD1}">
              <a14:hiddenFill xmlns:a14="http://schemas.microsoft.com/office/drawing/2010/main">
                <a:solidFill>
                  <a:srgbClr val="FFFFFF"/>
                </a:solidFill>
              </a14:hiddenFill>
            </a:ext>
          </a:extLst>
        </p:spPr>
      </p:pic>
      <p:sp>
        <p:nvSpPr>
          <p:cNvPr id="239" name="Right Arrow 238">
            <a:extLst>
              <a:ext uri="{FF2B5EF4-FFF2-40B4-BE49-F238E27FC236}">
                <a16:creationId xmlns:a16="http://schemas.microsoft.com/office/drawing/2014/main" id="{BF7F3C35-6CD3-53AD-F050-8CF005F8C2F7}"/>
              </a:ext>
            </a:extLst>
          </p:cNvPr>
          <p:cNvSpPr/>
          <p:nvPr/>
        </p:nvSpPr>
        <p:spPr>
          <a:xfrm rot="10800000">
            <a:off x="1744471" y="5612470"/>
            <a:ext cx="551598" cy="37450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240" name="TextBox 239">
            <a:extLst>
              <a:ext uri="{FF2B5EF4-FFF2-40B4-BE49-F238E27FC236}">
                <a16:creationId xmlns:a16="http://schemas.microsoft.com/office/drawing/2014/main" id="{03C05E93-36EB-59E6-8864-C92EF16FCAD4}"/>
              </a:ext>
            </a:extLst>
          </p:cNvPr>
          <p:cNvSpPr txBox="1"/>
          <p:nvPr/>
        </p:nvSpPr>
        <p:spPr>
          <a:xfrm>
            <a:off x="1430102" y="4735599"/>
            <a:ext cx="1676451" cy="646331"/>
          </a:xfrm>
          <a:prstGeom prst="rect">
            <a:avLst/>
          </a:prstGeom>
          <a:noFill/>
        </p:spPr>
        <p:txBody>
          <a:bodyPr wrap="square" rtlCol="0">
            <a:spAutoFit/>
          </a:bodyPr>
          <a:lstStyle/>
          <a:p>
            <a:r>
              <a:rPr lang="en-DK" b="1" dirty="0"/>
              <a:t>Phylogenomic analysis</a:t>
            </a:r>
          </a:p>
        </p:txBody>
      </p:sp>
      <p:sp>
        <p:nvSpPr>
          <p:cNvPr id="241" name="Right Arrow 240">
            <a:extLst>
              <a:ext uri="{FF2B5EF4-FFF2-40B4-BE49-F238E27FC236}">
                <a16:creationId xmlns:a16="http://schemas.microsoft.com/office/drawing/2014/main" id="{2AF17A3C-A274-8D7E-4A0E-25818C628F92}"/>
              </a:ext>
            </a:extLst>
          </p:cNvPr>
          <p:cNvSpPr/>
          <p:nvPr/>
        </p:nvSpPr>
        <p:spPr>
          <a:xfrm rot="16200000">
            <a:off x="3823200" y="4735599"/>
            <a:ext cx="551598" cy="37450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242" name="TextBox 241">
            <a:extLst>
              <a:ext uri="{FF2B5EF4-FFF2-40B4-BE49-F238E27FC236}">
                <a16:creationId xmlns:a16="http://schemas.microsoft.com/office/drawing/2014/main" id="{BB2DC46C-5E00-BCF3-B0E2-0F21A3AF5370}"/>
              </a:ext>
            </a:extLst>
          </p:cNvPr>
          <p:cNvSpPr txBox="1"/>
          <p:nvPr/>
        </p:nvSpPr>
        <p:spPr>
          <a:xfrm>
            <a:off x="4319113" y="4447970"/>
            <a:ext cx="1676451" cy="646331"/>
          </a:xfrm>
          <a:prstGeom prst="rect">
            <a:avLst/>
          </a:prstGeom>
          <a:noFill/>
        </p:spPr>
        <p:txBody>
          <a:bodyPr wrap="square" rtlCol="0">
            <a:spAutoFit/>
          </a:bodyPr>
          <a:lstStyle/>
          <a:p>
            <a:r>
              <a:rPr lang="en-DK" b="1" dirty="0"/>
              <a:t>Functional annotation</a:t>
            </a:r>
          </a:p>
        </p:txBody>
      </p:sp>
      <p:cxnSp>
        <p:nvCxnSpPr>
          <p:cNvPr id="244" name="Straight Connector 243">
            <a:extLst>
              <a:ext uri="{FF2B5EF4-FFF2-40B4-BE49-F238E27FC236}">
                <a16:creationId xmlns:a16="http://schemas.microsoft.com/office/drawing/2014/main" id="{15CBEAC7-A0F8-0F28-65BC-6EF5D3BAFFE8}"/>
              </a:ext>
            </a:extLst>
          </p:cNvPr>
          <p:cNvCxnSpPr/>
          <p:nvPr/>
        </p:nvCxnSpPr>
        <p:spPr>
          <a:xfrm>
            <a:off x="2663201" y="3857787"/>
            <a:ext cx="1762455" cy="0"/>
          </a:xfrm>
          <a:prstGeom prst="line">
            <a:avLst/>
          </a:prstGeom>
          <a:ln>
            <a:solidFill>
              <a:schemeClr val="tx2">
                <a:lumMod val="75000"/>
                <a:lumOff val="25000"/>
              </a:schemeClr>
            </a:solidFill>
          </a:ln>
        </p:spPr>
        <p:style>
          <a:lnRef idx="2">
            <a:schemeClr val="accent1"/>
          </a:lnRef>
          <a:fillRef idx="0">
            <a:schemeClr val="accent1"/>
          </a:fillRef>
          <a:effectRef idx="1">
            <a:schemeClr val="accent1"/>
          </a:effectRef>
          <a:fontRef idx="minor">
            <a:schemeClr val="tx1"/>
          </a:fontRef>
        </p:style>
      </p:cxnSp>
      <p:sp>
        <p:nvSpPr>
          <p:cNvPr id="245" name="Right Arrow 244">
            <a:extLst>
              <a:ext uri="{FF2B5EF4-FFF2-40B4-BE49-F238E27FC236}">
                <a16:creationId xmlns:a16="http://schemas.microsoft.com/office/drawing/2014/main" id="{C641EB32-139C-E8D3-8A16-7EAFEC171BB8}"/>
              </a:ext>
            </a:extLst>
          </p:cNvPr>
          <p:cNvSpPr/>
          <p:nvPr/>
        </p:nvSpPr>
        <p:spPr>
          <a:xfrm>
            <a:off x="2840174" y="3721939"/>
            <a:ext cx="235527" cy="275799"/>
          </a:xfrm>
          <a:prstGeom prst="rightArrow">
            <a:avLst/>
          </a:prstGeom>
          <a:solidFill>
            <a:schemeClr val="tx2">
              <a:lumMod val="75000"/>
              <a:lumOff val="25000"/>
            </a:schemeClr>
          </a:solidFill>
          <a:ln>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246" name="Right Arrow 245">
            <a:extLst>
              <a:ext uri="{FF2B5EF4-FFF2-40B4-BE49-F238E27FC236}">
                <a16:creationId xmlns:a16="http://schemas.microsoft.com/office/drawing/2014/main" id="{0937468C-3DB5-7E25-5BBC-8FC3F247CDC6}"/>
              </a:ext>
            </a:extLst>
          </p:cNvPr>
          <p:cNvSpPr/>
          <p:nvPr/>
        </p:nvSpPr>
        <p:spPr>
          <a:xfrm>
            <a:off x="3103412" y="3721934"/>
            <a:ext cx="235527" cy="275799"/>
          </a:xfrm>
          <a:prstGeom prst="rightArrow">
            <a:avLst/>
          </a:prstGeom>
          <a:solidFill>
            <a:schemeClr val="tx2">
              <a:lumMod val="75000"/>
              <a:lumOff val="25000"/>
            </a:schemeClr>
          </a:solidFill>
          <a:ln>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247" name="Right Arrow 246">
            <a:extLst>
              <a:ext uri="{FF2B5EF4-FFF2-40B4-BE49-F238E27FC236}">
                <a16:creationId xmlns:a16="http://schemas.microsoft.com/office/drawing/2014/main" id="{4806E8D4-8C50-B4DF-A757-322A5C42467C}"/>
              </a:ext>
            </a:extLst>
          </p:cNvPr>
          <p:cNvSpPr/>
          <p:nvPr/>
        </p:nvSpPr>
        <p:spPr>
          <a:xfrm>
            <a:off x="3464531" y="3729559"/>
            <a:ext cx="235527" cy="275799"/>
          </a:xfrm>
          <a:prstGeom prst="rightArrow">
            <a:avLst/>
          </a:prstGeom>
          <a:solidFill>
            <a:schemeClr val="tx2">
              <a:lumMod val="75000"/>
              <a:lumOff val="25000"/>
            </a:schemeClr>
          </a:solidFill>
          <a:ln>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248" name="Right Arrow 247">
            <a:extLst>
              <a:ext uri="{FF2B5EF4-FFF2-40B4-BE49-F238E27FC236}">
                <a16:creationId xmlns:a16="http://schemas.microsoft.com/office/drawing/2014/main" id="{6EDA1E41-F431-4DF1-0DD7-F8B2FAA971DA}"/>
              </a:ext>
            </a:extLst>
          </p:cNvPr>
          <p:cNvSpPr/>
          <p:nvPr/>
        </p:nvSpPr>
        <p:spPr>
          <a:xfrm>
            <a:off x="3798658" y="3721934"/>
            <a:ext cx="334269" cy="283424"/>
          </a:xfrm>
          <a:prstGeom prst="rightArrow">
            <a:avLst/>
          </a:prstGeom>
          <a:solidFill>
            <a:schemeClr val="tx2">
              <a:lumMod val="75000"/>
              <a:lumOff val="25000"/>
            </a:schemeClr>
          </a:solidFill>
          <a:ln>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249" name="TextBox 248">
            <a:extLst>
              <a:ext uri="{FF2B5EF4-FFF2-40B4-BE49-F238E27FC236}">
                <a16:creationId xmlns:a16="http://schemas.microsoft.com/office/drawing/2014/main" id="{103A19FD-1E1B-41BD-F7A9-65EB18F575E4}"/>
              </a:ext>
            </a:extLst>
          </p:cNvPr>
          <p:cNvSpPr txBox="1"/>
          <p:nvPr/>
        </p:nvSpPr>
        <p:spPr>
          <a:xfrm>
            <a:off x="2362192" y="3545917"/>
            <a:ext cx="477982" cy="307777"/>
          </a:xfrm>
          <a:prstGeom prst="rect">
            <a:avLst/>
          </a:prstGeom>
          <a:solidFill>
            <a:schemeClr val="bg1"/>
          </a:solidFill>
        </p:spPr>
        <p:txBody>
          <a:bodyPr wrap="square" rtlCol="0">
            <a:spAutoFit/>
          </a:bodyPr>
          <a:lstStyle/>
          <a:p>
            <a:r>
              <a:rPr lang="en-DK" sz="1400" dirty="0">
                <a:solidFill>
                  <a:schemeClr val="tx2">
                    <a:lumMod val="75000"/>
                    <a:lumOff val="25000"/>
                  </a:schemeClr>
                </a:solidFill>
              </a:rPr>
              <a:t>C1</a:t>
            </a:r>
          </a:p>
        </p:txBody>
      </p:sp>
      <p:cxnSp>
        <p:nvCxnSpPr>
          <p:cNvPr id="250" name="Straight Connector 249">
            <a:extLst>
              <a:ext uri="{FF2B5EF4-FFF2-40B4-BE49-F238E27FC236}">
                <a16:creationId xmlns:a16="http://schemas.microsoft.com/office/drawing/2014/main" id="{FBFAD093-B022-B1CE-1BAB-F9FA8EA0B712}"/>
              </a:ext>
            </a:extLst>
          </p:cNvPr>
          <p:cNvCxnSpPr/>
          <p:nvPr/>
        </p:nvCxnSpPr>
        <p:spPr>
          <a:xfrm>
            <a:off x="2718394" y="4259876"/>
            <a:ext cx="1762455" cy="0"/>
          </a:xfrm>
          <a:prstGeom prst="line">
            <a:avLst/>
          </a:prstGeom>
          <a:ln>
            <a:solidFill>
              <a:schemeClr val="tx2">
                <a:lumMod val="75000"/>
                <a:lumOff val="25000"/>
              </a:schemeClr>
            </a:solidFill>
          </a:ln>
        </p:spPr>
        <p:style>
          <a:lnRef idx="2">
            <a:schemeClr val="accent1"/>
          </a:lnRef>
          <a:fillRef idx="0">
            <a:schemeClr val="accent1"/>
          </a:fillRef>
          <a:effectRef idx="1">
            <a:schemeClr val="accent1"/>
          </a:effectRef>
          <a:fontRef idx="minor">
            <a:schemeClr val="tx1"/>
          </a:fontRef>
        </p:style>
      </p:cxnSp>
      <p:sp>
        <p:nvSpPr>
          <p:cNvPr id="251" name="Right Arrow 250">
            <a:extLst>
              <a:ext uri="{FF2B5EF4-FFF2-40B4-BE49-F238E27FC236}">
                <a16:creationId xmlns:a16="http://schemas.microsoft.com/office/drawing/2014/main" id="{AA40430E-2207-7C3B-E22B-4861561335B5}"/>
              </a:ext>
            </a:extLst>
          </p:cNvPr>
          <p:cNvSpPr/>
          <p:nvPr/>
        </p:nvSpPr>
        <p:spPr>
          <a:xfrm>
            <a:off x="2820038" y="4122809"/>
            <a:ext cx="235527" cy="275799"/>
          </a:xfrm>
          <a:prstGeom prst="rightArrow">
            <a:avLst/>
          </a:prstGeom>
          <a:solidFill>
            <a:schemeClr val="tx2">
              <a:lumMod val="75000"/>
              <a:lumOff val="25000"/>
            </a:schemeClr>
          </a:solidFill>
          <a:ln>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252" name="Right Arrow 251">
            <a:extLst>
              <a:ext uri="{FF2B5EF4-FFF2-40B4-BE49-F238E27FC236}">
                <a16:creationId xmlns:a16="http://schemas.microsoft.com/office/drawing/2014/main" id="{C4DAF9FB-8DEF-37F6-8D76-1E36F6ADA08B}"/>
              </a:ext>
            </a:extLst>
          </p:cNvPr>
          <p:cNvSpPr/>
          <p:nvPr/>
        </p:nvSpPr>
        <p:spPr>
          <a:xfrm>
            <a:off x="3164625" y="4136930"/>
            <a:ext cx="348627" cy="275804"/>
          </a:xfrm>
          <a:prstGeom prst="rightArrow">
            <a:avLst/>
          </a:prstGeom>
          <a:solidFill>
            <a:schemeClr val="tx2">
              <a:lumMod val="75000"/>
              <a:lumOff val="25000"/>
            </a:schemeClr>
          </a:solidFill>
          <a:ln>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253" name="Right Arrow 252">
            <a:extLst>
              <a:ext uri="{FF2B5EF4-FFF2-40B4-BE49-F238E27FC236}">
                <a16:creationId xmlns:a16="http://schemas.microsoft.com/office/drawing/2014/main" id="{597C99C3-7F40-3046-33A0-CBAA9053B377}"/>
              </a:ext>
            </a:extLst>
          </p:cNvPr>
          <p:cNvSpPr/>
          <p:nvPr/>
        </p:nvSpPr>
        <p:spPr>
          <a:xfrm>
            <a:off x="3596798" y="4130429"/>
            <a:ext cx="235527" cy="275799"/>
          </a:xfrm>
          <a:prstGeom prst="rightArrow">
            <a:avLst/>
          </a:prstGeom>
          <a:solidFill>
            <a:schemeClr val="tx2">
              <a:lumMod val="75000"/>
              <a:lumOff val="25000"/>
            </a:schemeClr>
          </a:solidFill>
          <a:ln>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254" name="Right Arrow 253">
            <a:extLst>
              <a:ext uri="{FF2B5EF4-FFF2-40B4-BE49-F238E27FC236}">
                <a16:creationId xmlns:a16="http://schemas.microsoft.com/office/drawing/2014/main" id="{4E75F5CA-8EB2-9620-F936-A172C54EC118}"/>
              </a:ext>
            </a:extLst>
          </p:cNvPr>
          <p:cNvSpPr/>
          <p:nvPr/>
        </p:nvSpPr>
        <p:spPr>
          <a:xfrm>
            <a:off x="3931864" y="4124022"/>
            <a:ext cx="334269" cy="283424"/>
          </a:xfrm>
          <a:prstGeom prst="rightArrow">
            <a:avLst/>
          </a:prstGeom>
          <a:solidFill>
            <a:schemeClr val="tx2">
              <a:lumMod val="75000"/>
              <a:lumOff val="25000"/>
            </a:schemeClr>
          </a:solidFill>
          <a:ln>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255" name="TextBox 254">
            <a:extLst>
              <a:ext uri="{FF2B5EF4-FFF2-40B4-BE49-F238E27FC236}">
                <a16:creationId xmlns:a16="http://schemas.microsoft.com/office/drawing/2014/main" id="{E6ACE337-0C49-15BB-92FD-4A2FCD81BE63}"/>
              </a:ext>
            </a:extLst>
          </p:cNvPr>
          <p:cNvSpPr txBox="1"/>
          <p:nvPr/>
        </p:nvSpPr>
        <p:spPr>
          <a:xfrm>
            <a:off x="2342056" y="3946787"/>
            <a:ext cx="477982" cy="307777"/>
          </a:xfrm>
          <a:prstGeom prst="rect">
            <a:avLst/>
          </a:prstGeom>
          <a:solidFill>
            <a:schemeClr val="bg1"/>
          </a:solidFill>
        </p:spPr>
        <p:txBody>
          <a:bodyPr wrap="square" rtlCol="0">
            <a:spAutoFit/>
          </a:bodyPr>
          <a:lstStyle/>
          <a:p>
            <a:r>
              <a:rPr lang="en-DK" sz="1400" dirty="0">
                <a:solidFill>
                  <a:schemeClr val="tx2">
                    <a:lumMod val="75000"/>
                    <a:lumOff val="25000"/>
                  </a:schemeClr>
                </a:solidFill>
              </a:rPr>
              <a:t>C2</a:t>
            </a:r>
          </a:p>
        </p:txBody>
      </p:sp>
      <p:sp>
        <p:nvSpPr>
          <p:cNvPr id="4096" name="TextBox 4095">
            <a:extLst>
              <a:ext uri="{FF2B5EF4-FFF2-40B4-BE49-F238E27FC236}">
                <a16:creationId xmlns:a16="http://schemas.microsoft.com/office/drawing/2014/main" id="{C769E437-C3DD-88C6-49B4-8F7AB0896F11}"/>
              </a:ext>
            </a:extLst>
          </p:cNvPr>
          <p:cNvSpPr txBox="1"/>
          <p:nvPr/>
        </p:nvSpPr>
        <p:spPr>
          <a:xfrm>
            <a:off x="3806162" y="3479682"/>
            <a:ext cx="373896" cy="276999"/>
          </a:xfrm>
          <a:prstGeom prst="rect">
            <a:avLst/>
          </a:prstGeom>
          <a:noFill/>
        </p:spPr>
        <p:txBody>
          <a:bodyPr wrap="square" rtlCol="0">
            <a:spAutoFit/>
          </a:bodyPr>
          <a:lstStyle/>
          <a:p>
            <a:r>
              <a:rPr lang="en-DK" sz="1200" dirty="0"/>
              <a:t>g4</a:t>
            </a:r>
          </a:p>
        </p:txBody>
      </p:sp>
      <p:sp>
        <p:nvSpPr>
          <p:cNvPr id="4097" name="TextBox 4096">
            <a:extLst>
              <a:ext uri="{FF2B5EF4-FFF2-40B4-BE49-F238E27FC236}">
                <a16:creationId xmlns:a16="http://schemas.microsoft.com/office/drawing/2014/main" id="{C20274B2-D959-8C74-B22B-8CBCEB3EFCDB}"/>
              </a:ext>
            </a:extLst>
          </p:cNvPr>
          <p:cNvSpPr txBox="1"/>
          <p:nvPr/>
        </p:nvSpPr>
        <p:spPr>
          <a:xfrm>
            <a:off x="3400746" y="3479682"/>
            <a:ext cx="350781" cy="276999"/>
          </a:xfrm>
          <a:prstGeom prst="rect">
            <a:avLst/>
          </a:prstGeom>
          <a:noFill/>
        </p:spPr>
        <p:txBody>
          <a:bodyPr wrap="square" rtlCol="0">
            <a:spAutoFit/>
          </a:bodyPr>
          <a:lstStyle/>
          <a:p>
            <a:r>
              <a:rPr lang="en-DK" sz="1200" dirty="0"/>
              <a:t>g3</a:t>
            </a:r>
          </a:p>
        </p:txBody>
      </p:sp>
      <p:sp>
        <p:nvSpPr>
          <p:cNvPr id="4099" name="TextBox 4098">
            <a:extLst>
              <a:ext uri="{FF2B5EF4-FFF2-40B4-BE49-F238E27FC236}">
                <a16:creationId xmlns:a16="http://schemas.microsoft.com/office/drawing/2014/main" id="{B8662137-9452-98E7-E1D5-7661FBA09666}"/>
              </a:ext>
            </a:extLst>
          </p:cNvPr>
          <p:cNvSpPr txBox="1"/>
          <p:nvPr/>
        </p:nvSpPr>
        <p:spPr>
          <a:xfrm>
            <a:off x="2778215" y="3479682"/>
            <a:ext cx="681080" cy="276999"/>
          </a:xfrm>
          <a:prstGeom prst="rect">
            <a:avLst/>
          </a:prstGeom>
          <a:noFill/>
        </p:spPr>
        <p:txBody>
          <a:bodyPr wrap="square" rtlCol="0">
            <a:spAutoFit/>
          </a:bodyPr>
          <a:lstStyle/>
          <a:p>
            <a:r>
              <a:rPr lang="en-DK" sz="1200" dirty="0"/>
              <a:t>g1</a:t>
            </a:r>
          </a:p>
        </p:txBody>
      </p:sp>
      <p:sp>
        <p:nvSpPr>
          <p:cNvPr id="4100" name="TextBox 4099">
            <a:extLst>
              <a:ext uri="{FF2B5EF4-FFF2-40B4-BE49-F238E27FC236}">
                <a16:creationId xmlns:a16="http://schemas.microsoft.com/office/drawing/2014/main" id="{F9CFCF01-4DD7-F84D-9307-017D23CE3D41}"/>
              </a:ext>
            </a:extLst>
          </p:cNvPr>
          <p:cNvSpPr txBox="1"/>
          <p:nvPr/>
        </p:nvSpPr>
        <p:spPr>
          <a:xfrm>
            <a:off x="3044146" y="3479682"/>
            <a:ext cx="373897" cy="276999"/>
          </a:xfrm>
          <a:prstGeom prst="rect">
            <a:avLst/>
          </a:prstGeom>
          <a:noFill/>
        </p:spPr>
        <p:txBody>
          <a:bodyPr wrap="square" rtlCol="0">
            <a:spAutoFit/>
          </a:bodyPr>
          <a:lstStyle/>
          <a:p>
            <a:r>
              <a:rPr lang="en-DK" sz="1200" dirty="0"/>
              <a:t>g2</a:t>
            </a:r>
          </a:p>
        </p:txBody>
      </p:sp>
      <p:sp>
        <p:nvSpPr>
          <p:cNvPr id="4101" name="TextBox 4100">
            <a:extLst>
              <a:ext uri="{FF2B5EF4-FFF2-40B4-BE49-F238E27FC236}">
                <a16:creationId xmlns:a16="http://schemas.microsoft.com/office/drawing/2014/main" id="{50769DEE-5970-E174-1C53-6F56A9D764DC}"/>
              </a:ext>
            </a:extLst>
          </p:cNvPr>
          <p:cNvSpPr txBox="1"/>
          <p:nvPr/>
        </p:nvSpPr>
        <p:spPr>
          <a:xfrm>
            <a:off x="3903141" y="3909177"/>
            <a:ext cx="373896" cy="276999"/>
          </a:xfrm>
          <a:prstGeom prst="rect">
            <a:avLst/>
          </a:prstGeom>
          <a:noFill/>
        </p:spPr>
        <p:txBody>
          <a:bodyPr wrap="square" rtlCol="0">
            <a:spAutoFit/>
          </a:bodyPr>
          <a:lstStyle/>
          <a:p>
            <a:r>
              <a:rPr lang="en-DK" sz="1200" dirty="0"/>
              <a:t>g4</a:t>
            </a:r>
          </a:p>
        </p:txBody>
      </p:sp>
      <p:sp>
        <p:nvSpPr>
          <p:cNvPr id="4102" name="TextBox 4101">
            <a:extLst>
              <a:ext uri="{FF2B5EF4-FFF2-40B4-BE49-F238E27FC236}">
                <a16:creationId xmlns:a16="http://schemas.microsoft.com/office/drawing/2014/main" id="{F759BF0B-1A6B-ED4F-48E8-1F1831938485}"/>
              </a:ext>
            </a:extLst>
          </p:cNvPr>
          <p:cNvSpPr txBox="1"/>
          <p:nvPr/>
        </p:nvSpPr>
        <p:spPr>
          <a:xfrm>
            <a:off x="3497727" y="3909177"/>
            <a:ext cx="350781" cy="276999"/>
          </a:xfrm>
          <a:prstGeom prst="rect">
            <a:avLst/>
          </a:prstGeom>
          <a:noFill/>
        </p:spPr>
        <p:txBody>
          <a:bodyPr wrap="square" rtlCol="0">
            <a:spAutoFit/>
          </a:bodyPr>
          <a:lstStyle/>
          <a:p>
            <a:r>
              <a:rPr lang="en-DK" sz="1200" dirty="0"/>
              <a:t>g3</a:t>
            </a:r>
          </a:p>
        </p:txBody>
      </p:sp>
      <p:sp>
        <p:nvSpPr>
          <p:cNvPr id="4103" name="TextBox 4102">
            <a:extLst>
              <a:ext uri="{FF2B5EF4-FFF2-40B4-BE49-F238E27FC236}">
                <a16:creationId xmlns:a16="http://schemas.microsoft.com/office/drawing/2014/main" id="{645E68EB-465F-83E8-C548-1192A42FDA0D}"/>
              </a:ext>
            </a:extLst>
          </p:cNvPr>
          <p:cNvSpPr txBox="1"/>
          <p:nvPr/>
        </p:nvSpPr>
        <p:spPr>
          <a:xfrm>
            <a:off x="2778211" y="3909177"/>
            <a:ext cx="681080" cy="276999"/>
          </a:xfrm>
          <a:prstGeom prst="rect">
            <a:avLst/>
          </a:prstGeom>
          <a:noFill/>
        </p:spPr>
        <p:txBody>
          <a:bodyPr wrap="square" rtlCol="0">
            <a:spAutoFit/>
          </a:bodyPr>
          <a:lstStyle/>
          <a:p>
            <a:r>
              <a:rPr lang="en-DK" sz="1200" dirty="0"/>
              <a:t>g1</a:t>
            </a:r>
          </a:p>
        </p:txBody>
      </p:sp>
      <p:sp>
        <p:nvSpPr>
          <p:cNvPr id="4104" name="TextBox 4103">
            <a:extLst>
              <a:ext uri="{FF2B5EF4-FFF2-40B4-BE49-F238E27FC236}">
                <a16:creationId xmlns:a16="http://schemas.microsoft.com/office/drawing/2014/main" id="{19E226F1-1D3A-78C6-039F-2FFB0B1BBE37}"/>
              </a:ext>
            </a:extLst>
          </p:cNvPr>
          <p:cNvSpPr txBox="1"/>
          <p:nvPr/>
        </p:nvSpPr>
        <p:spPr>
          <a:xfrm>
            <a:off x="3154981" y="3909177"/>
            <a:ext cx="373897" cy="276999"/>
          </a:xfrm>
          <a:prstGeom prst="rect">
            <a:avLst/>
          </a:prstGeom>
          <a:noFill/>
        </p:spPr>
        <p:txBody>
          <a:bodyPr wrap="square" rtlCol="0">
            <a:spAutoFit/>
          </a:bodyPr>
          <a:lstStyle/>
          <a:p>
            <a:r>
              <a:rPr lang="en-DK" sz="1200" dirty="0"/>
              <a:t>g2</a:t>
            </a:r>
          </a:p>
        </p:txBody>
      </p:sp>
      <p:pic>
        <p:nvPicPr>
          <p:cNvPr id="4108" name="Picture 6">
            <a:extLst>
              <a:ext uri="{FF2B5EF4-FFF2-40B4-BE49-F238E27FC236}">
                <a16:creationId xmlns:a16="http://schemas.microsoft.com/office/drawing/2014/main" id="{0C556055-D8F9-AC70-743B-527F358AAE7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383330" y="3224214"/>
            <a:ext cx="1917111" cy="1223756"/>
          </a:xfrm>
          <a:prstGeom prst="rect">
            <a:avLst/>
          </a:prstGeom>
          <a:noFill/>
          <a:extLst>
            <a:ext uri="{909E8E84-426E-40DD-AFC4-6F175D3DCCD1}">
              <a14:hiddenFill xmlns:a14="http://schemas.microsoft.com/office/drawing/2010/main">
                <a:solidFill>
                  <a:srgbClr val="FFFFFF"/>
                </a:solidFill>
              </a14:hiddenFill>
            </a:ext>
          </a:extLst>
        </p:spPr>
      </p:pic>
      <p:sp>
        <p:nvSpPr>
          <p:cNvPr id="4109" name="TextBox 4108">
            <a:extLst>
              <a:ext uri="{FF2B5EF4-FFF2-40B4-BE49-F238E27FC236}">
                <a16:creationId xmlns:a16="http://schemas.microsoft.com/office/drawing/2014/main" id="{766FA89E-D7BA-F4BD-DA17-5B64F4A2CDFD}"/>
              </a:ext>
            </a:extLst>
          </p:cNvPr>
          <p:cNvSpPr txBox="1"/>
          <p:nvPr/>
        </p:nvSpPr>
        <p:spPr>
          <a:xfrm>
            <a:off x="10571071" y="876064"/>
            <a:ext cx="1842668" cy="1015663"/>
          </a:xfrm>
          <a:prstGeom prst="rect">
            <a:avLst/>
          </a:prstGeom>
          <a:noFill/>
        </p:spPr>
        <p:txBody>
          <a:bodyPr wrap="square" rtlCol="0">
            <a:spAutoFit/>
          </a:bodyPr>
          <a:lstStyle/>
          <a:p>
            <a:pPr marL="285750" indent="-285750">
              <a:buFont typeface="Arial" panose="020B0604020202020204" pitchFamily="34" charset="0"/>
              <a:buChar char="•"/>
            </a:pPr>
            <a:r>
              <a:rPr lang="en-DK" sz="1200" dirty="0"/>
              <a:t>GC content</a:t>
            </a:r>
          </a:p>
          <a:p>
            <a:pPr marL="285750" indent="-285750">
              <a:buFont typeface="Arial" panose="020B0604020202020204" pitchFamily="34" charset="0"/>
              <a:buChar char="•"/>
            </a:pPr>
            <a:r>
              <a:rPr lang="en-DK" sz="1200" dirty="0"/>
              <a:t>tetranuclotide frequencies</a:t>
            </a:r>
          </a:p>
          <a:p>
            <a:pPr marL="285750" indent="-285750">
              <a:buFont typeface="Arial" panose="020B0604020202020204" pitchFamily="34" charset="0"/>
              <a:buChar char="•"/>
            </a:pPr>
            <a:r>
              <a:rPr lang="en-DK" sz="1200" dirty="0"/>
              <a:t>coverage depth across samples</a:t>
            </a:r>
          </a:p>
        </p:txBody>
      </p:sp>
    </p:spTree>
    <p:extLst>
      <p:ext uri="{BB962C8B-B14F-4D97-AF65-F5344CB8AC3E}">
        <p14:creationId xmlns:p14="http://schemas.microsoft.com/office/powerpoint/2010/main" val="282904800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7CEDBA-CD56-CC12-C23B-8C0A548D3AAF}"/>
              </a:ext>
            </a:extLst>
          </p:cNvPr>
          <p:cNvSpPr>
            <a:spLocks noGrp="1"/>
          </p:cNvSpPr>
          <p:nvPr>
            <p:ph type="title"/>
          </p:nvPr>
        </p:nvSpPr>
        <p:spPr>
          <a:xfrm>
            <a:off x="671946" y="-166255"/>
            <a:ext cx="10515600" cy="1325563"/>
          </a:xfrm>
        </p:spPr>
        <p:txBody>
          <a:bodyPr/>
          <a:lstStyle/>
          <a:p>
            <a:r>
              <a:rPr lang="en-DK" dirty="0"/>
              <a:t>MAG construction tools</a:t>
            </a:r>
          </a:p>
        </p:txBody>
      </p:sp>
      <p:graphicFrame>
        <p:nvGraphicFramePr>
          <p:cNvPr id="4" name="Table 3">
            <a:extLst>
              <a:ext uri="{FF2B5EF4-FFF2-40B4-BE49-F238E27FC236}">
                <a16:creationId xmlns:a16="http://schemas.microsoft.com/office/drawing/2014/main" id="{31620131-6D97-79B1-935D-7FB347B8E7CB}"/>
              </a:ext>
            </a:extLst>
          </p:cNvPr>
          <p:cNvGraphicFramePr>
            <a:graphicFrameLocks noGrp="1"/>
          </p:cNvGraphicFramePr>
          <p:nvPr>
            <p:extLst>
              <p:ext uri="{D42A27DB-BD31-4B8C-83A1-F6EECF244321}">
                <p14:modId xmlns:p14="http://schemas.microsoft.com/office/powerpoint/2010/main" val="1781302241"/>
              </p:ext>
            </p:extLst>
          </p:nvPr>
        </p:nvGraphicFramePr>
        <p:xfrm>
          <a:off x="671946" y="835070"/>
          <a:ext cx="11132127" cy="5842821"/>
        </p:xfrm>
        <a:graphic>
          <a:graphicData uri="http://schemas.openxmlformats.org/drawingml/2006/table">
            <a:tbl>
              <a:tblPr firstRow="1" bandRow="1">
                <a:tableStyleId>{5C22544A-7EE6-4342-B048-85BDC9FD1C3A}</a:tableStyleId>
              </a:tblPr>
              <a:tblGrid>
                <a:gridCol w="1503218">
                  <a:extLst>
                    <a:ext uri="{9D8B030D-6E8A-4147-A177-3AD203B41FA5}">
                      <a16:colId xmlns:a16="http://schemas.microsoft.com/office/drawing/2014/main" val="1574643294"/>
                    </a:ext>
                  </a:extLst>
                </a:gridCol>
                <a:gridCol w="4031672">
                  <a:extLst>
                    <a:ext uri="{9D8B030D-6E8A-4147-A177-3AD203B41FA5}">
                      <a16:colId xmlns:a16="http://schemas.microsoft.com/office/drawing/2014/main" val="2050142923"/>
                    </a:ext>
                  </a:extLst>
                </a:gridCol>
                <a:gridCol w="2286000">
                  <a:extLst>
                    <a:ext uri="{9D8B030D-6E8A-4147-A177-3AD203B41FA5}">
                      <a16:colId xmlns:a16="http://schemas.microsoft.com/office/drawing/2014/main" val="268567525"/>
                    </a:ext>
                  </a:extLst>
                </a:gridCol>
                <a:gridCol w="3311237">
                  <a:extLst>
                    <a:ext uri="{9D8B030D-6E8A-4147-A177-3AD203B41FA5}">
                      <a16:colId xmlns:a16="http://schemas.microsoft.com/office/drawing/2014/main" val="2418838585"/>
                    </a:ext>
                  </a:extLst>
                </a:gridCol>
              </a:tblGrid>
              <a:tr h="392413">
                <a:tc>
                  <a:txBody>
                    <a:bodyPr/>
                    <a:lstStyle/>
                    <a:p>
                      <a:pPr algn="ctr"/>
                      <a:r>
                        <a:rPr lang="en-DK" sz="1400" dirty="0"/>
                        <a:t>Step</a:t>
                      </a:r>
                    </a:p>
                  </a:txBody>
                  <a:tcPr/>
                </a:tc>
                <a:tc>
                  <a:txBody>
                    <a:bodyPr/>
                    <a:lstStyle/>
                    <a:p>
                      <a:pPr algn="ctr"/>
                      <a:r>
                        <a:rPr lang="en-DK" sz="1400" dirty="0"/>
                        <a:t>Goal</a:t>
                      </a:r>
                    </a:p>
                  </a:txBody>
                  <a:tcPr/>
                </a:tc>
                <a:tc>
                  <a:txBody>
                    <a:bodyPr/>
                    <a:lstStyle/>
                    <a:p>
                      <a:pPr algn="ctr"/>
                      <a:r>
                        <a:rPr lang="en-DK" sz="1400" dirty="0"/>
                        <a:t>Tools</a:t>
                      </a:r>
                    </a:p>
                  </a:txBody>
                  <a:tcPr/>
                </a:tc>
                <a:tc>
                  <a:txBody>
                    <a:bodyPr/>
                    <a:lstStyle/>
                    <a:p>
                      <a:pPr algn="ctr"/>
                      <a:r>
                        <a:rPr lang="en-DK" sz="1400" dirty="0"/>
                        <a:t>Notes</a:t>
                      </a:r>
                    </a:p>
                  </a:txBody>
                  <a:tcPr/>
                </a:tc>
                <a:extLst>
                  <a:ext uri="{0D108BD9-81ED-4DB2-BD59-A6C34878D82A}">
                    <a16:rowId xmlns:a16="http://schemas.microsoft.com/office/drawing/2014/main" val="2032401922"/>
                  </a:ext>
                </a:extLst>
              </a:tr>
              <a:tr h="548303">
                <a:tc>
                  <a:txBody>
                    <a:bodyPr/>
                    <a:lstStyle/>
                    <a:p>
                      <a:pPr algn="ctr"/>
                      <a:r>
                        <a:rPr lang="en-DK" sz="1400" dirty="0"/>
                        <a:t>Quality Control</a:t>
                      </a:r>
                    </a:p>
                  </a:txBody>
                  <a:tcPr anchor="ctr"/>
                </a:tc>
                <a:tc>
                  <a:txBody>
                    <a:bodyPr/>
                    <a:lstStyle/>
                    <a:p>
                      <a:pPr algn="ctr"/>
                      <a:r>
                        <a:rPr lang="en-GB" sz="1400" dirty="0"/>
                        <a:t>Remove low-quality reads, adapters, and contaminants (e.g. host reads)</a:t>
                      </a:r>
                      <a:endParaRPr lang="en-DK" sz="1400" dirty="0"/>
                    </a:p>
                  </a:txBody>
                  <a:tcPr anchor="ctr"/>
                </a:tc>
                <a:tc>
                  <a:txBody>
                    <a:bodyPr/>
                    <a:lstStyle/>
                    <a:p>
                      <a:pPr algn="ctr"/>
                      <a:r>
                        <a:rPr lang="en-GB" sz="1400" dirty="0" err="1"/>
                        <a:t>fastp</a:t>
                      </a:r>
                      <a:r>
                        <a:rPr lang="en-GB" sz="1400" dirty="0"/>
                        <a:t>, </a:t>
                      </a:r>
                      <a:r>
                        <a:rPr lang="en-GB" sz="1400" dirty="0" err="1"/>
                        <a:t>adapterremoval</a:t>
                      </a:r>
                      <a:r>
                        <a:rPr lang="en-GB" sz="1400" dirty="0"/>
                        <a:t>, </a:t>
                      </a:r>
                      <a:r>
                        <a:rPr lang="en-GB" sz="1400" dirty="0" err="1"/>
                        <a:t>Trimmomatic</a:t>
                      </a:r>
                      <a:r>
                        <a:rPr lang="en-GB" sz="1400" dirty="0"/>
                        <a:t>, </a:t>
                      </a:r>
                      <a:r>
                        <a:rPr lang="en-GB" sz="1400" dirty="0" err="1"/>
                        <a:t>BBduk</a:t>
                      </a:r>
                      <a:endParaRPr lang="en-DK" sz="1400" dirty="0"/>
                    </a:p>
                  </a:txBody>
                  <a:tcPr anchor="ctr"/>
                </a:tc>
                <a:tc>
                  <a:txBody>
                    <a:bodyPr/>
                    <a:lstStyle/>
                    <a:p>
                      <a:pPr algn="ctr"/>
                      <a:r>
                        <a:rPr lang="en-DK" sz="1400" dirty="0"/>
                        <a:t>Output: Clean reads</a:t>
                      </a:r>
                    </a:p>
                  </a:txBody>
                  <a:tcPr anchor="ctr"/>
                </a:tc>
                <a:extLst>
                  <a:ext uri="{0D108BD9-81ED-4DB2-BD59-A6C34878D82A}">
                    <a16:rowId xmlns:a16="http://schemas.microsoft.com/office/drawing/2014/main" val="2806798407"/>
                  </a:ext>
                </a:extLst>
              </a:tr>
              <a:tr h="392413">
                <a:tc>
                  <a:txBody>
                    <a:bodyPr/>
                    <a:lstStyle/>
                    <a:p>
                      <a:pPr algn="ctr"/>
                      <a:r>
                        <a:rPr lang="en-DK" sz="1400" dirty="0"/>
                        <a:t>Assembly</a:t>
                      </a:r>
                    </a:p>
                  </a:txBody>
                  <a:tcPr anchor="ctr"/>
                </a:tc>
                <a:tc>
                  <a:txBody>
                    <a:bodyPr/>
                    <a:lstStyle/>
                    <a:p>
                      <a:pPr algn="ctr"/>
                      <a:r>
                        <a:rPr lang="en-GB" sz="1400" dirty="0"/>
                        <a:t>Assemble short reads into longer contigs.</a:t>
                      </a:r>
                      <a:endParaRPr lang="en-DK" sz="1400" dirty="0"/>
                    </a:p>
                  </a:txBody>
                  <a:tcPr anchor="ctr"/>
                </a:tc>
                <a:tc>
                  <a:txBody>
                    <a:bodyPr/>
                    <a:lstStyle/>
                    <a:p>
                      <a:pPr algn="ctr"/>
                      <a:r>
                        <a:rPr lang="en-GB" sz="1400" dirty="0"/>
                        <a:t>MEGAHIT, </a:t>
                      </a:r>
                      <a:r>
                        <a:rPr lang="en-GB" sz="1400" dirty="0" err="1"/>
                        <a:t>metaSPAdes</a:t>
                      </a:r>
                      <a:endParaRPr lang="en-DK" sz="1400" dirty="0"/>
                    </a:p>
                  </a:txBody>
                  <a:tcPr anchor="ctr"/>
                </a:tc>
                <a:tc>
                  <a:txBody>
                    <a:bodyPr/>
                    <a:lstStyle/>
                    <a:p>
                      <a:pPr algn="ctr"/>
                      <a:r>
                        <a:rPr lang="en-DK" sz="1400" dirty="0"/>
                        <a:t>Output: Assembled contigs</a:t>
                      </a:r>
                    </a:p>
                  </a:txBody>
                  <a:tcPr anchor="ctr"/>
                </a:tc>
                <a:extLst>
                  <a:ext uri="{0D108BD9-81ED-4DB2-BD59-A6C34878D82A}">
                    <a16:rowId xmlns:a16="http://schemas.microsoft.com/office/drawing/2014/main" val="3051339999"/>
                  </a:ext>
                </a:extLst>
              </a:tr>
              <a:tr h="774074">
                <a:tc>
                  <a:txBody>
                    <a:bodyPr/>
                    <a:lstStyle/>
                    <a:p>
                      <a:pPr algn="ctr"/>
                      <a:r>
                        <a:rPr lang="en-DK" sz="1400" dirty="0"/>
                        <a:t>Binning</a:t>
                      </a:r>
                    </a:p>
                  </a:txBody>
                  <a:tcPr anchor="ctr"/>
                </a:tc>
                <a:tc>
                  <a:txBody>
                    <a:bodyPr/>
                    <a:lstStyle/>
                    <a:p>
                      <a:pPr algn="ctr"/>
                      <a:r>
                        <a:rPr lang="en-GB" sz="1400" dirty="0"/>
                        <a:t>Group contigs that belong to the same genome</a:t>
                      </a:r>
                      <a:endParaRPr lang="en-DK" sz="1400" dirty="0"/>
                    </a:p>
                  </a:txBody>
                  <a:tcPr anchor="ctr"/>
                </a:tc>
                <a:tc>
                  <a:txBody>
                    <a:bodyPr/>
                    <a:lstStyle/>
                    <a:p>
                      <a:pPr algn="ctr"/>
                      <a:r>
                        <a:rPr lang="en-GB" sz="1400" dirty="0"/>
                        <a:t>MetaBAT2, MaxBin2, CONCOCT, VAMB</a:t>
                      </a:r>
                      <a:endParaRPr lang="en-DK" sz="1400" dirty="0"/>
                    </a:p>
                  </a:txBody>
                  <a:tcPr anchor="ctr"/>
                </a:tc>
                <a:tc>
                  <a:txBody>
                    <a:bodyPr/>
                    <a:lstStyle/>
                    <a:p>
                      <a:pPr algn="ctr"/>
                      <a:r>
                        <a:rPr lang="en-GB" sz="1400" dirty="0"/>
                        <a:t>Output: bins of contigs belonging to the same genome</a:t>
                      </a:r>
                    </a:p>
                    <a:p>
                      <a:pPr algn="ctr"/>
                      <a:r>
                        <a:rPr lang="en-GB" sz="1400" dirty="0"/>
                        <a:t>Using coverage profiles and sequence composition (GC content, tetranucleotide frequency).</a:t>
                      </a:r>
                      <a:endParaRPr lang="en-DK" sz="1400" dirty="0"/>
                    </a:p>
                  </a:txBody>
                  <a:tcPr anchor="ctr"/>
                </a:tc>
                <a:extLst>
                  <a:ext uri="{0D108BD9-81ED-4DB2-BD59-A6C34878D82A}">
                    <a16:rowId xmlns:a16="http://schemas.microsoft.com/office/drawing/2014/main" val="1577135601"/>
                  </a:ext>
                </a:extLst>
              </a:tr>
              <a:tr h="548303">
                <a:tc>
                  <a:txBody>
                    <a:bodyPr/>
                    <a:lstStyle/>
                    <a:p>
                      <a:pPr algn="ctr"/>
                      <a:r>
                        <a:rPr lang="en-DK" sz="1400" dirty="0"/>
                        <a:t>Bin refinment</a:t>
                      </a:r>
                    </a:p>
                  </a:txBody>
                  <a:tcPr anchor="ctr"/>
                </a:tc>
                <a:tc>
                  <a:txBody>
                    <a:bodyPr/>
                    <a:lstStyle/>
                    <a:p>
                      <a:pPr algn="ctr"/>
                      <a:r>
                        <a:rPr lang="en-GB" sz="1400" dirty="0"/>
                        <a:t>Improve bin quality and merge results from different binning tools</a:t>
                      </a:r>
                      <a:endParaRPr lang="en-DK" sz="1400" dirty="0"/>
                    </a:p>
                  </a:txBody>
                  <a:tcPr anchor="ctr"/>
                </a:tc>
                <a:tc>
                  <a:txBody>
                    <a:bodyPr/>
                    <a:lstStyle/>
                    <a:p>
                      <a:pPr algn="ctr"/>
                      <a:r>
                        <a:rPr lang="en-GB" sz="1400" dirty="0" err="1"/>
                        <a:t>DASTool</a:t>
                      </a:r>
                      <a:r>
                        <a:rPr lang="en-GB" sz="1400" dirty="0"/>
                        <a:t>, </a:t>
                      </a:r>
                      <a:r>
                        <a:rPr lang="en-GB" sz="1400" dirty="0" err="1"/>
                        <a:t>metaWRAP</a:t>
                      </a:r>
                      <a:endParaRPr lang="en-DK" sz="1400" dirty="0"/>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DK" sz="1400" dirty="0"/>
                        <a:t>Output: Refined bins</a:t>
                      </a:r>
                    </a:p>
                    <a:p>
                      <a:pPr algn="ctr"/>
                      <a:endParaRPr lang="en-DK" sz="1400" dirty="0"/>
                    </a:p>
                  </a:txBody>
                  <a:tcPr anchor="ctr"/>
                </a:tc>
                <a:extLst>
                  <a:ext uri="{0D108BD9-81ED-4DB2-BD59-A6C34878D82A}">
                    <a16:rowId xmlns:a16="http://schemas.microsoft.com/office/drawing/2014/main" val="1600299923"/>
                  </a:ext>
                </a:extLst>
              </a:tr>
              <a:tr h="999846">
                <a:tc>
                  <a:txBody>
                    <a:bodyPr/>
                    <a:lstStyle/>
                    <a:p>
                      <a:pPr algn="ctr"/>
                      <a:r>
                        <a:rPr lang="en-DK" sz="1400" dirty="0"/>
                        <a:t>Quality Assessment</a:t>
                      </a:r>
                    </a:p>
                  </a:txBody>
                  <a:tcPr anchor="ctr"/>
                </a:tc>
                <a:tc>
                  <a:txBody>
                    <a:bodyPr/>
                    <a:lstStyle/>
                    <a:p>
                      <a:pPr algn="ctr"/>
                      <a:r>
                        <a:rPr lang="en-GB" sz="1400" dirty="0"/>
                        <a:t>Assess completeness and contamination of bins (MAGs)</a:t>
                      </a:r>
                      <a:endParaRPr lang="en-DK" sz="1400" dirty="0"/>
                    </a:p>
                  </a:txBody>
                  <a:tcPr anchor="ctr"/>
                </a:tc>
                <a:tc>
                  <a:txBody>
                    <a:bodyPr/>
                    <a:lstStyle/>
                    <a:p>
                      <a:pPr algn="ctr"/>
                      <a:r>
                        <a:rPr lang="en-GB" sz="1400" dirty="0" err="1"/>
                        <a:t>CheckM</a:t>
                      </a:r>
                      <a:r>
                        <a:rPr lang="en-GB" sz="1400" dirty="0"/>
                        <a:t>, BUSCO</a:t>
                      </a:r>
                      <a:endParaRPr lang="en-DK" sz="1400" dirty="0"/>
                    </a:p>
                  </a:txBody>
                  <a:tcPr anchor="ctr"/>
                </a:tc>
                <a:tc>
                  <a:txBody>
                    <a:bodyPr/>
                    <a:lstStyle/>
                    <a:p>
                      <a:pPr algn="ctr"/>
                      <a:r>
                        <a:rPr lang="en-GB" sz="1400" b="0" dirty="0"/>
                        <a:t>Metrics usually used:</a:t>
                      </a:r>
                      <a:br>
                        <a:rPr lang="en-GB" sz="1400" b="0" dirty="0"/>
                      </a:br>
                      <a:r>
                        <a:rPr lang="en-GB" sz="1400" b="0" dirty="0"/>
                        <a:t>High-quality MAG: &gt;90% completeness, &lt;5% contamination.</a:t>
                      </a:r>
                    </a:p>
                    <a:p>
                      <a:pPr algn="ctr"/>
                      <a:r>
                        <a:rPr lang="en-GB" sz="1400" b="0" dirty="0"/>
                        <a:t>Medium-quality MAG: &gt;50% completeness, &lt;10% contamination</a:t>
                      </a:r>
                      <a:r>
                        <a:rPr lang="en-GB" sz="1400" dirty="0"/>
                        <a:t>.</a:t>
                      </a:r>
                    </a:p>
                  </a:txBody>
                  <a:tcPr anchor="ctr"/>
                </a:tc>
                <a:extLst>
                  <a:ext uri="{0D108BD9-81ED-4DB2-BD59-A6C34878D82A}">
                    <a16:rowId xmlns:a16="http://schemas.microsoft.com/office/drawing/2014/main" val="2378091126"/>
                  </a:ext>
                </a:extLst>
              </a:tr>
              <a:tr h="548303">
                <a:tc>
                  <a:txBody>
                    <a:bodyPr/>
                    <a:lstStyle/>
                    <a:p>
                      <a:pPr algn="ctr"/>
                      <a:r>
                        <a:rPr lang="en-DK" sz="1400" dirty="0"/>
                        <a:t>Taxonomic classification</a:t>
                      </a:r>
                    </a:p>
                  </a:txBody>
                  <a:tcPr anchor="ctr"/>
                </a:tc>
                <a:tc>
                  <a:txBody>
                    <a:bodyPr/>
                    <a:lstStyle/>
                    <a:p>
                      <a:pPr algn="ctr"/>
                      <a:r>
                        <a:rPr lang="en-DK" sz="1400" dirty="0"/>
                        <a:t>Assign taxonomy to MAGs</a:t>
                      </a:r>
                    </a:p>
                  </a:txBody>
                  <a:tcPr anchor="ctr"/>
                </a:tc>
                <a:tc>
                  <a:txBody>
                    <a:bodyPr/>
                    <a:lstStyle/>
                    <a:p>
                      <a:pPr algn="ctr"/>
                      <a:r>
                        <a:rPr lang="en-GB" sz="1400" dirty="0"/>
                        <a:t>GTDB-Tk, Kraken2, CAT/BAT</a:t>
                      </a:r>
                      <a:endParaRPr lang="en-DK" sz="1400" dirty="0"/>
                    </a:p>
                  </a:txBody>
                  <a:tcPr anchor="ctr"/>
                </a:tc>
                <a:tc>
                  <a:txBody>
                    <a:bodyPr/>
                    <a:lstStyle/>
                    <a:p>
                      <a:pPr algn="ctr"/>
                      <a:r>
                        <a:rPr lang="en-DK" sz="1400" dirty="0"/>
                        <a:t>Output: taxonomically annotated MAGs</a:t>
                      </a:r>
                    </a:p>
                  </a:txBody>
                  <a:tcPr anchor="ctr"/>
                </a:tc>
                <a:extLst>
                  <a:ext uri="{0D108BD9-81ED-4DB2-BD59-A6C34878D82A}">
                    <a16:rowId xmlns:a16="http://schemas.microsoft.com/office/drawing/2014/main" val="3657986237"/>
                  </a:ext>
                </a:extLst>
              </a:tr>
              <a:tr h="548303">
                <a:tc>
                  <a:txBody>
                    <a:bodyPr/>
                    <a:lstStyle/>
                    <a:p>
                      <a:pPr algn="ctr"/>
                      <a:r>
                        <a:rPr lang="en-DK" sz="1400" dirty="0"/>
                        <a:t>Functional annotation</a:t>
                      </a:r>
                    </a:p>
                  </a:txBody>
                  <a:tcPr anchor="ctr"/>
                </a:tc>
                <a:tc>
                  <a:txBody>
                    <a:bodyPr/>
                    <a:lstStyle/>
                    <a:p>
                      <a:pPr algn="ctr"/>
                      <a:r>
                        <a:rPr lang="en-GB" sz="1400" dirty="0"/>
                        <a:t>Predict genes and metabolic functions</a:t>
                      </a:r>
                      <a:endParaRPr lang="en-DK" sz="1400" dirty="0"/>
                    </a:p>
                  </a:txBody>
                  <a:tcPr anchor="ctr"/>
                </a:tc>
                <a:tc>
                  <a:txBody>
                    <a:bodyPr/>
                    <a:lstStyle/>
                    <a:p>
                      <a:pPr algn="ctr"/>
                      <a:r>
                        <a:rPr lang="en-GB" sz="1400" dirty="0" err="1"/>
                        <a:t>Prokka</a:t>
                      </a:r>
                      <a:r>
                        <a:rPr lang="en-GB" sz="1400" dirty="0"/>
                        <a:t>, </a:t>
                      </a:r>
                      <a:r>
                        <a:rPr lang="en-GB" sz="1400" dirty="0" err="1"/>
                        <a:t>EggNOG</a:t>
                      </a:r>
                      <a:r>
                        <a:rPr lang="en-GB" sz="1400" dirty="0"/>
                        <a:t>-mapper</a:t>
                      </a:r>
                      <a:endParaRPr lang="en-DK" sz="1400" dirty="0"/>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DK" sz="1400" dirty="0"/>
                        <a:t>Out put: functionally annotated MAGs</a:t>
                      </a:r>
                    </a:p>
                  </a:txBody>
                  <a:tcPr anchor="ctr"/>
                </a:tc>
                <a:extLst>
                  <a:ext uri="{0D108BD9-81ED-4DB2-BD59-A6C34878D82A}">
                    <a16:rowId xmlns:a16="http://schemas.microsoft.com/office/drawing/2014/main" val="2223900695"/>
                  </a:ext>
                </a:extLst>
              </a:tr>
              <a:tr h="548303">
                <a:tc>
                  <a:txBody>
                    <a:bodyPr/>
                    <a:lstStyle/>
                    <a:p>
                      <a:pPr algn="ctr"/>
                      <a:r>
                        <a:rPr lang="en-DK" sz="1400" dirty="0"/>
                        <a:t>Phylogenomic analysis</a:t>
                      </a:r>
                    </a:p>
                  </a:txBody>
                  <a:tcPr anchor="ctr"/>
                </a:tc>
                <a:tc>
                  <a:txBody>
                    <a:bodyPr/>
                    <a:lstStyle/>
                    <a:p>
                      <a:pPr algn="ctr"/>
                      <a:r>
                        <a:rPr lang="en-DK" sz="1400" dirty="0"/>
                        <a:t>Compare MAGs evolutionarily</a:t>
                      </a:r>
                    </a:p>
                  </a:txBody>
                  <a:tcPr anchor="ctr"/>
                </a:tc>
                <a:tc>
                  <a:txBody>
                    <a:bodyPr/>
                    <a:lstStyle/>
                    <a:p>
                      <a:pPr algn="ctr"/>
                      <a:r>
                        <a:rPr lang="en-GB" sz="1400" dirty="0" err="1"/>
                        <a:t>PhyloPhlAn</a:t>
                      </a:r>
                      <a:r>
                        <a:rPr lang="en-GB" sz="1400" dirty="0"/>
                        <a:t>, </a:t>
                      </a:r>
                      <a:r>
                        <a:rPr lang="en-GB" sz="1400" dirty="0" err="1"/>
                        <a:t>Anvi’o</a:t>
                      </a:r>
                      <a:r>
                        <a:rPr lang="en-GB" sz="1400" dirty="0"/>
                        <a:t>, IQ-TREE</a:t>
                      </a:r>
                      <a:endParaRPr lang="en-DK" sz="1400" dirty="0"/>
                    </a:p>
                  </a:txBody>
                  <a:tcPr anchor="ctr"/>
                </a:tc>
                <a:tc>
                  <a:txBody>
                    <a:bodyPr/>
                    <a:lstStyle/>
                    <a:p>
                      <a:pPr algn="ctr"/>
                      <a:r>
                        <a:rPr lang="en-DK" sz="1400" dirty="0"/>
                        <a:t>Output: Phylogenetic trees based on MAGs</a:t>
                      </a:r>
                    </a:p>
                  </a:txBody>
                  <a:tcPr anchor="ctr"/>
                </a:tc>
                <a:extLst>
                  <a:ext uri="{0D108BD9-81ED-4DB2-BD59-A6C34878D82A}">
                    <a16:rowId xmlns:a16="http://schemas.microsoft.com/office/drawing/2014/main" val="4202433300"/>
                  </a:ext>
                </a:extLst>
              </a:tr>
            </a:tbl>
          </a:graphicData>
        </a:graphic>
      </p:graphicFrame>
      <p:sp>
        <p:nvSpPr>
          <p:cNvPr id="5" name="TextBox 4">
            <a:extLst>
              <a:ext uri="{FF2B5EF4-FFF2-40B4-BE49-F238E27FC236}">
                <a16:creationId xmlns:a16="http://schemas.microsoft.com/office/drawing/2014/main" id="{7826ADEE-FA08-78C3-C003-9CA45E18E5C3}"/>
              </a:ext>
            </a:extLst>
          </p:cNvPr>
          <p:cNvSpPr txBox="1"/>
          <p:nvPr/>
        </p:nvSpPr>
        <p:spPr>
          <a:xfrm>
            <a:off x="7932420" y="342637"/>
            <a:ext cx="3783330" cy="307777"/>
          </a:xfrm>
          <a:prstGeom prst="rect">
            <a:avLst/>
          </a:prstGeom>
          <a:noFill/>
        </p:spPr>
        <p:txBody>
          <a:bodyPr wrap="square" rtlCol="0">
            <a:spAutoFit/>
          </a:bodyPr>
          <a:lstStyle/>
          <a:p>
            <a:r>
              <a:rPr lang="en-GB" sz="1400" dirty="0">
                <a:hlinkClick r:id="rId3"/>
              </a:rPr>
              <a:t>https://pubmed.ncbi.nlm.nih.gov/28898207/</a:t>
            </a:r>
            <a:endParaRPr lang="en-GB" sz="1400" dirty="0"/>
          </a:p>
        </p:txBody>
      </p:sp>
    </p:spTree>
    <p:extLst>
      <p:ext uri="{BB962C8B-B14F-4D97-AF65-F5344CB8AC3E}">
        <p14:creationId xmlns:p14="http://schemas.microsoft.com/office/powerpoint/2010/main" val="171874961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171451-74FA-A847-B9DA-D6212365625A}"/>
              </a:ext>
            </a:extLst>
          </p:cNvPr>
          <p:cNvSpPr>
            <a:spLocks noGrp="1"/>
          </p:cNvSpPr>
          <p:nvPr>
            <p:ph type="title"/>
          </p:nvPr>
        </p:nvSpPr>
        <p:spPr>
          <a:xfrm>
            <a:off x="838200" y="0"/>
            <a:ext cx="10515600" cy="1325563"/>
          </a:xfrm>
        </p:spPr>
        <p:txBody>
          <a:bodyPr/>
          <a:lstStyle/>
          <a:p>
            <a:r>
              <a:rPr lang="en-DK" dirty="0"/>
              <a:t>Comparing the three methods</a:t>
            </a:r>
          </a:p>
        </p:txBody>
      </p:sp>
      <p:graphicFrame>
        <p:nvGraphicFramePr>
          <p:cNvPr id="4" name="Table 3">
            <a:extLst>
              <a:ext uri="{FF2B5EF4-FFF2-40B4-BE49-F238E27FC236}">
                <a16:creationId xmlns:a16="http://schemas.microsoft.com/office/drawing/2014/main" id="{3F103274-35A9-FA6D-5BDA-55F70862CBA8}"/>
              </a:ext>
            </a:extLst>
          </p:cNvPr>
          <p:cNvGraphicFramePr>
            <a:graphicFrameLocks noGrp="1"/>
          </p:cNvGraphicFramePr>
          <p:nvPr>
            <p:extLst>
              <p:ext uri="{D42A27DB-BD31-4B8C-83A1-F6EECF244321}">
                <p14:modId xmlns:p14="http://schemas.microsoft.com/office/powerpoint/2010/main" val="3133893287"/>
              </p:ext>
            </p:extLst>
          </p:nvPr>
        </p:nvGraphicFramePr>
        <p:xfrm>
          <a:off x="754911" y="1233488"/>
          <a:ext cx="10515600" cy="5069840"/>
        </p:xfrm>
        <a:graphic>
          <a:graphicData uri="http://schemas.openxmlformats.org/drawingml/2006/table">
            <a:tbl>
              <a:tblPr firstRow="1" bandRow="1">
                <a:tableStyleId>{5C22544A-7EE6-4342-B048-85BDC9FD1C3A}</a:tableStyleId>
              </a:tblPr>
              <a:tblGrid>
                <a:gridCol w="2628900">
                  <a:extLst>
                    <a:ext uri="{9D8B030D-6E8A-4147-A177-3AD203B41FA5}">
                      <a16:colId xmlns:a16="http://schemas.microsoft.com/office/drawing/2014/main" val="2989972497"/>
                    </a:ext>
                  </a:extLst>
                </a:gridCol>
                <a:gridCol w="2628900">
                  <a:extLst>
                    <a:ext uri="{9D8B030D-6E8A-4147-A177-3AD203B41FA5}">
                      <a16:colId xmlns:a16="http://schemas.microsoft.com/office/drawing/2014/main" val="369574122"/>
                    </a:ext>
                  </a:extLst>
                </a:gridCol>
                <a:gridCol w="2628900">
                  <a:extLst>
                    <a:ext uri="{9D8B030D-6E8A-4147-A177-3AD203B41FA5}">
                      <a16:colId xmlns:a16="http://schemas.microsoft.com/office/drawing/2014/main" val="2266295834"/>
                    </a:ext>
                  </a:extLst>
                </a:gridCol>
                <a:gridCol w="2628900">
                  <a:extLst>
                    <a:ext uri="{9D8B030D-6E8A-4147-A177-3AD203B41FA5}">
                      <a16:colId xmlns:a16="http://schemas.microsoft.com/office/drawing/2014/main" val="608773954"/>
                    </a:ext>
                  </a:extLst>
                </a:gridCol>
              </a:tblGrid>
              <a:tr h="370840">
                <a:tc>
                  <a:txBody>
                    <a:bodyPr/>
                    <a:lstStyle/>
                    <a:p>
                      <a:endParaRPr lang="en-DK" sz="1600" dirty="0"/>
                    </a:p>
                  </a:txBody>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DK" sz="1600" dirty="0"/>
                        <a:t>Amplicon/16S sequencing</a:t>
                      </a:r>
                    </a:p>
                  </a:txBody>
                  <a:tcPr anchor="ctr"/>
                </a:tc>
                <a:tc gridSpan="2">
                  <a:txBody>
                    <a:bodyPr/>
                    <a:lstStyle/>
                    <a:p>
                      <a:pPr algn="ctr"/>
                      <a:r>
                        <a:rPr lang="en-DK" sz="1600" dirty="0"/>
                        <a:t>Shotgun metagenomics</a:t>
                      </a:r>
                    </a:p>
                  </a:txBody>
                  <a:tcPr anchor="ctr"/>
                </a:tc>
                <a:tc hMerge="1">
                  <a:txBody>
                    <a:bodyPr/>
                    <a:lstStyle/>
                    <a:p>
                      <a:endParaRPr lang="en-DK" dirty="0"/>
                    </a:p>
                  </a:txBody>
                  <a:tcPr/>
                </a:tc>
                <a:extLst>
                  <a:ext uri="{0D108BD9-81ED-4DB2-BD59-A6C34878D82A}">
                    <a16:rowId xmlns:a16="http://schemas.microsoft.com/office/drawing/2014/main" val="2776263415"/>
                  </a:ext>
                </a:extLst>
              </a:tr>
              <a:tr h="370840">
                <a:tc gridSpan="2">
                  <a:txBody>
                    <a:bodyPr/>
                    <a:lstStyle/>
                    <a:p>
                      <a:endParaRPr lang="en-DK" sz="1600" dirty="0"/>
                    </a:p>
                  </a:txBody>
                  <a:tcPr/>
                </a:tc>
                <a:tc hMerge="1">
                  <a:txBody>
                    <a:bodyPr/>
                    <a:lstStyle/>
                    <a:p>
                      <a:endParaRPr lang="en-DK" dirty="0"/>
                    </a:p>
                  </a:txBody>
                  <a:tcPr/>
                </a:tc>
                <a:tc>
                  <a:txBody>
                    <a:bodyPr/>
                    <a:lstStyle/>
                    <a:p>
                      <a:pPr algn="ctr"/>
                      <a:r>
                        <a:rPr lang="en-DK" sz="1600" dirty="0"/>
                        <a:t>Reference - based</a:t>
                      </a:r>
                    </a:p>
                  </a:txBody>
                  <a:tcPr anchor="ctr"/>
                </a:tc>
                <a:tc>
                  <a:txBody>
                    <a:bodyPr/>
                    <a:lstStyle/>
                    <a:p>
                      <a:pPr algn="ctr"/>
                      <a:r>
                        <a:rPr lang="en-DK" sz="1600" dirty="0"/>
                        <a:t>Assembly - based</a:t>
                      </a:r>
                    </a:p>
                  </a:txBody>
                  <a:tcPr anchor="ctr"/>
                </a:tc>
                <a:extLst>
                  <a:ext uri="{0D108BD9-81ED-4DB2-BD59-A6C34878D82A}">
                    <a16:rowId xmlns:a16="http://schemas.microsoft.com/office/drawing/2014/main" val="3280208918"/>
                  </a:ext>
                </a:extLst>
              </a:tr>
              <a:tr h="370840">
                <a:tc>
                  <a:txBody>
                    <a:bodyPr/>
                    <a:lstStyle/>
                    <a:p>
                      <a:pPr algn="ctr"/>
                      <a:r>
                        <a:rPr lang="en-DK" sz="1600" dirty="0"/>
                        <a:t>Pros </a:t>
                      </a:r>
                    </a:p>
                  </a:txBody>
                  <a:tcPr anchor="ctr"/>
                </a:tc>
                <a:tc>
                  <a:txBody>
                    <a:bodyPr/>
                    <a:lstStyle/>
                    <a:p>
                      <a:pPr marL="285750" indent="-285750">
                        <a:buFont typeface="Arial" panose="020B0604020202020204" pitchFamily="34" charset="0"/>
                        <a:buChar char="•"/>
                      </a:pPr>
                      <a:r>
                        <a:rPr lang="en-DK" sz="1600" dirty="0"/>
                        <a:t>Can handle low biomass / non-bacterial contamination</a:t>
                      </a:r>
                    </a:p>
                    <a:p>
                      <a:pPr marL="285750" indent="-285750">
                        <a:buFont typeface="Arial" panose="020B0604020202020204" pitchFamily="34" charset="0"/>
                        <a:buChar char="•"/>
                      </a:pPr>
                      <a:r>
                        <a:rPr lang="en-DK" sz="1600" dirty="0"/>
                        <a:t>Rough taxonomy of novel species</a:t>
                      </a:r>
                    </a:p>
                    <a:p>
                      <a:pPr marL="285750" indent="-285750">
                        <a:buFont typeface="Arial" panose="020B0604020202020204" pitchFamily="34" charset="0"/>
                        <a:buChar char="•"/>
                      </a:pPr>
                      <a:r>
                        <a:rPr lang="en-DK" sz="1600" dirty="0"/>
                        <a:t>Less expensive</a:t>
                      </a:r>
                    </a:p>
                  </a:txBody>
                  <a:tcPr/>
                </a:tc>
                <a:tc>
                  <a:txBody>
                    <a:bodyPr/>
                    <a:lstStyle/>
                    <a:p>
                      <a:pPr marL="285750" indent="-285750">
                        <a:buFont typeface="Arial" panose="020B0604020202020204" pitchFamily="34" charset="0"/>
                        <a:buChar char="•"/>
                      </a:pPr>
                      <a:r>
                        <a:rPr lang="en-DK" sz="1600" dirty="0"/>
                        <a:t>High resolution (subspecies, genes SNVs)</a:t>
                      </a:r>
                    </a:p>
                    <a:p>
                      <a:pPr marL="285750" indent="-285750">
                        <a:buFont typeface="Arial" panose="020B0604020202020204" pitchFamily="34" charset="0"/>
                        <a:buChar char="•"/>
                      </a:pPr>
                      <a:r>
                        <a:rPr lang="en-DK" sz="1600" dirty="0"/>
                        <a:t>Can detect all DNA in the sample (also virus, fungus, protozoa,…)</a:t>
                      </a:r>
                    </a:p>
                    <a:p>
                      <a:pPr marL="285750" indent="-285750">
                        <a:buFont typeface="Arial" panose="020B0604020202020204" pitchFamily="34" charset="0"/>
                        <a:buChar char="•"/>
                      </a:pPr>
                      <a:r>
                        <a:rPr lang="en-DK" sz="1600" dirty="0"/>
                        <a:t>Fast and scales well</a:t>
                      </a:r>
                    </a:p>
                    <a:p>
                      <a:pPr marL="285750" indent="-285750">
                        <a:buFont typeface="Arial" panose="020B0604020202020204" pitchFamily="34" charset="0"/>
                        <a:buChar char="•"/>
                      </a:pPr>
                      <a:r>
                        <a:rPr lang="en-DK" sz="1600" dirty="0"/>
                        <a:t>Finds rare entities</a:t>
                      </a:r>
                    </a:p>
                  </a:txBody>
                  <a:tcPr/>
                </a:tc>
                <a:tc>
                  <a:txBody>
                    <a:bodyPr/>
                    <a:lstStyle/>
                    <a:p>
                      <a:pPr marL="285750" indent="-285750">
                        <a:buFont typeface="Arial" panose="020B0604020202020204" pitchFamily="34" charset="0"/>
                        <a:buChar char="•"/>
                      </a:pPr>
                      <a:r>
                        <a:rPr lang="en-DK" sz="1600" dirty="0"/>
                        <a:t>High resolution (subspecies, genes SNVs)</a:t>
                      </a:r>
                    </a:p>
                    <a:p>
                      <a:pPr marL="285750" indent="-285750">
                        <a:buFont typeface="Arial" panose="020B0604020202020204" pitchFamily="34" charset="0"/>
                        <a:buChar char="•"/>
                      </a:pPr>
                      <a:r>
                        <a:rPr lang="en-DK" sz="1600" dirty="0"/>
                        <a:t>Can detect all DNA in the sample (also virus, fungus, protozoa,…)</a:t>
                      </a:r>
                    </a:p>
                    <a:p>
                      <a:pPr marL="285750" indent="-285750">
                        <a:buFont typeface="Arial" panose="020B0604020202020204" pitchFamily="34" charset="0"/>
                        <a:buChar char="•"/>
                      </a:pPr>
                      <a:r>
                        <a:rPr lang="en-DK" sz="1600" dirty="0"/>
                        <a:t>Can identify novel genomes, genes and synteny patterns</a:t>
                      </a:r>
                    </a:p>
                  </a:txBody>
                  <a:tcPr/>
                </a:tc>
                <a:extLst>
                  <a:ext uri="{0D108BD9-81ED-4DB2-BD59-A6C34878D82A}">
                    <a16:rowId xmlns:a16="http://schemas.microsoft.com/office/drawing/2014/main" val="3744426576"/>
                  </a:ext>
                </a:extLst>
              </a:tr>
              <a:tr h="370840">
                <a:tc>
                  <a:txBody>
                    <a:bodyPr/>
                    <a:lstStyle/>
                    <a:p>
                      <a:pPr algn="ctr"/>
                      <a:r>
                        <a:rPr lang="en-DK" sz="1600" dirty="0"/>
                        <a:t>Cons</a:t>
                      </a:r>
                    </a:p>
                  </a:txBody>
                  <a:tcPr anchor="ctr"/>
                </a:tc>
                <a:tc>
                  <a:txBody>
                    <a:bodyPr/>
                    <a:lstStyle/>
                    <a:p>
                      <a:pPr marL="285750" indent="-285750">
                        <a:buFont typeface="Arial" panose="020B0604020202020204" pitchFamily="34" charset="0"/>
                        <a:buChar char="•"/>
                      </a:pPr>
                      <a:r>
                        <a:rPr lang="en-DK" sz="1600" dirty="0"/>
                        <a:t>Low resolution</a:t>
                      </a:r>
                    </a:p>
                    <a:p>
                      <a:pPr marL="285750" indent="-285750">
                        <a:buFont typeface="Arial" panose="020B0604020202020204" pitchFamily="34" charset="0"/>
                        <a:buChar char="•"/>
                      </a:pPr>
                      <a:r>
                        <a:rPr lang="en-DK" sz="1600" dirty="0"/>
                        <a:t>Limited to bacteria or archaea</a:t>
                      </a:r>
                    </a:p>
                    <a:p>
                      <a:pPr marL="285750" indent="-285750">
                        <a:buFont typeface="Arial" panose="020B0604020202020204" pitchFamily="34" charset="0"/>
                        <a:buChar char="•"/>
                      </a:pPr>
                      <a:r>
                        <a:rPr lang="en-DK" sz="1600" dirty="0"/>
                        <a:t>No subspecies or strains resolution</a:t>
                      </a:r>
                    </a:p>
                    <a:p>
                      <a:pPr marL="285750" indent="-285750">
                        <a:buFont typeface="Arial" panose="020B0604020202020204" pitchFamily="34" charset="0"/>
                        <a:buChar char="•"/>
                      </a:pPr>
                      <a:r>
                        <a:rPr lang="en-DK" sz="1600" dirty="0"/>
                        <a:t>Biases due to PCR amplification / amplicon copy number variation</a:t>
                      </a:r>
                    </a:p>
                  </a:txBody>
                  <a:tcPr/>
                </a:tc>
                <a:tc>
                  <a:txBody>
                    <a:bodyPr/>
                    <a:lstStyle/>
                    <a:p>
                      <a:pPr marL="285750" indent="-285750">
                        <a:buFont typeface="Arial" panose="020B0604020202020204" pitchFamily="34" charset="0"/>
                        <a:buChar char="•"/>
                      </a:pPr>
                      <a:r>
                        <a:rPr lang="en-DK" sz="1600" dirty="0"/>
                        <a:t>Does not work well for low biomass</a:t>
                      </a:r>
                    </a:p>
                    <a:p>
                      <a:pPr marL="285750" indent="-285750">
                        <a:buFont typeface="Arial" panose="020B0604020202020204" pitchFamily="34" charset="0"/>
                        <a:buChar char="•"/>
                      </a:pPr>
                      <a:r>
                        <a:rPr lang="en-DK" sz="1600" dirty="0"/>
                        <a:t>More expensive than 16S</a:t>
                      </a:r>
                    </a:p>
                    <a:p>
                      <a:pPr marL="285750" indent="-285750">
                        <a:buFont typeface="Arial" panose="020B0604020202020204" pitchFamily="34" charset="0"/>
                        <a:buChar char="•"/>
                      </a:pPr>
                      <a:r>
                        <a:rPr lang="en-DK" sz="1600" dirty="0"/>
                        <a:t>Limited to what is known in the databases</a:t>
                      </a:r>
                    </a:p>
                  </a:txBody>
                  <a:tcPr/>
                </a:tc>
                <a:tc>
                  <a:txBody>
                    <a:bodyPr/>
                    <a:lstStyle/>
                    <a:p>
                      <a:pPr marL="285750" indent="-285750">
                        <a:buFont typeface="Arial" panose="020B0604020202020204" pitchFamily="34" charset="0"/>
                        <a:buChar char="•"/>
                      </a:pPr>
                      <a:r>
                        <a:rPr lang="en-DK" sz="1600" dirty="0"/>
                        <a:t>Does not work well for low biomass</a:t>
                      </a:r>
                    </a:p>
                    <a:p>
                      <a:pPr marL="285750" indent="-285750">
                        <a:buFont typeface="Arial" panose="020B0604020202020204" pitchFamily="34" charset="0"/>
                        <a:buChar char="•"/>
                      </a:pPr>
                      <a:r>
                        <a:rPr lang="en-DK" sz="1600" dirty="0"/>
                        <a:t>More expensive than 16S</a:t>
                      </a:r>
                    </a:p>
                    <a:p>
                      <a:pPr marL="285750" indent="-285750">
                        <a:buFont typeface="Arial" panose="020B0604020202020204" pitchFamily="34" charset="0"/>
                        <a:buChar char="•"/>
                      </a:pPr>
                      <a:r>
                        <a:rPr lang="en-DK" sz="1600" dirty="0"/>
                        <a:t>Misses rare entities</a:t>
                      </a:r>
                    </a:p>
                    <a:p>
                      <a:pPr marL="285750" indent="-285750">
                        <a:buFont typeface="Arial" panose="020B0604020202020204" pitchFamily="34" charset="0"/>
                        <a:buChar char="•"/>
                      </a:pPr>
                      <a:r>
                        <a:rPr lang="en-DK" sz="1600" dirty="0"/>
                        <a:t>Computationally very intensive</a:t>
                      </a:r>
                    </a:p>
                  </a:txBody>
                  <a:tcPr/>
                </a:tc>
                <a:extLst>
                  <a:ext uri="{0D108BD9-81ED-4DB2-BD59-A6C34878D82A}">
                    <a16:rowId xmlns:a16="http://schemas.microsoft.com/office/drawing/2014/main" val="3187554478"/>
                  </a:ext>
                </a:extLst>
              </a:tr>
            </a:tbl>
          </a:graphicData>
        </a:graphic>
      </p:graphicFrame>
    </p:spTree>
    <p:extLst>
      <p:ext uri="{BB962C8B-B14F-4D97-AF65-F5344CB8AC3E}">
        <p14:creationId xmlns:p14="http://schemas.microsoft.com/office/powerpoint/2010/main" val="240342406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52371F9-4009-C5A7-259B-4E74DECE4DB1}"/>
            </a:ext>
          </a:extLst>
        </p:cNvPr>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73A25D70-4A55-4F72-B9C5-A69CDBF4DB4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54957100-6D8B-4161-9F2F-C0A949EC84C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00"/>
          </a:p>
        </p:txBody>
      </p:sp>
      <p:sp>
        <p:nvSpPr>
          <p:cNvPr id="11" name="Rectangle 10">
            <a:extLst>
              <a:ext uri="{FF2B5EF4-FFF2-40B4-BE49-F238E27FC236}">
                <a16:creationId xmlns:a16="http://schemas.microsoft.com/office/drawing/2014/main" id="{0BD8B065-EE51-4AE2-A94C-86249998FD7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695" cy="6858000"/>
          </a:xfrm>
          <a:prstGeom prst="rect">
            <a:avLst/>
          </a:prstGeom>
          <a:gradFill flip="none" rotWithShape="1">
            <a:gsLst>
              <a:gs pos="16000">
                <a:schemeClr val="accent6">
                  <a:alpha val="20000"/>
                </a:schemeClr>
              </a:gs>
              <a:gs pos="85000">
                <a:schemeClr val="accent1">
                  <a:alpha val="40000"/>
                </a:schemeClr>
              </a:gs>
            </a:gsLst>
            <a:lin ang="120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C83991F-4406-E4C9-EC2A-59629FA5654A}"/>
              </a:ext>
            </a:extLst>
          </p:cNvPr>
          <p:cNvSpPr>
            <a:spLocks noGrp="1"/>
          </p:cNvSpPr>
          <p:nvPr>
            <p:ph type="title"/>
          </p:nvPr>
        </p:nvSpPr>
        <p:spPr>
          <a:xfrm>
            <a:off x="3371787" y="1741337"/>
            <a:ext cx="5448730" cy="2387918"/>
          </a:xfrm>
        </p:spPr>
        <p:txBody>
          <a:bodyPr vert="horz" lIns="91440" tIns="45720" rIns="91440" bIns="45720" rtlCol="0" anchor="b">
            <a:normAutofit/>
          </a:bodyPr>
          <a:lstStyle/>
          <a:p>
            <a:pPr algn="ctr"/>
            <a:r>
              <a:rPr lang="en-US" sz="5200" kern="1200" dirty="0">
                <a:solidFill>
                  <a:schemeClr val="tx2"/>
                </a:solidFill>
                <a:latin typeface="+mj-lt"/>
                <a:ea typeface="+mj-ea"/>
                <a:cs typeface="+mj-cs"/>
              </a:rPr>
              <a:t>Functional profiling</a:t>
            </a:r>
          </a:p>
        </p:txBody>
      </p:sp>
      <p:grpSp>
        <p:nvGrpSpPr>
          <p:cNvPr id="13" name="Group 12">
            <a:extLst>
              <a:ext uri="{FF2B5EF4-FFF2-40B4-BE49-F238E27FC236}">
                <a16:creationId xmlns:a16="http://schemas.microsoft.com/office/drawing/2014/main" id="{18999293-B054-4B57-A26F-D04C2BB11338}"/>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18230" y="-43336"/>
            <a:ext cx="5163047" cy="2657478"/>
            <a:chOff x="6867015" y="-1"/>
            <a:chExt cx="5324985" cy="3251912"/>
          </a:xfrm>
          <a:solidFill>
            <a:schemeClr val="bg1">
              <a:alpha val="30000"/>
            </a:schemeClr>
          </a:solidFill>
        </p:grpSpPr>
        <p:sp>
          <p:nvSpPr>
            <p:cNvPr id="14" name="Freeform: Shape 13">
              <a:extLst>
                <a:ext uri="{FF2B5EF4-FFF2-40B4-BE49-F238E27FC236}">
                  <a16:creationId xmlns:a16="http://schemas.microsoft.com/office/drawing/2014/main" id="{5E505D8A-F41A-450D-A648-E77DF6B8D84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67015" y="-1"/>
              <a:ext cx="5324985" cy="3251912"/>
            </a:xfrm>
            <a:custGeom>
              <a:avLst/>
              <a:gdLst>
                <a:gd name="connsiteX0" fmla="*/ 0 w 5324985"/>
                <a:gd name="connsiteY0" fmla="*/ 0 h 3251912"/>
                <a:gd name="connsiteX1" fmla="*/ 36826 w 5324985"/>
                <a:gd name="connsiteY1" fmla="*/ 0 h 3251912"/>
                <a:gd name="connsiteX2" fmla="*/ 45003 w 5324985"/>
                <a:gd name="connsiteY2" fmla="*/ 152909 h 3251912"/>
                <a:gd name="connsiteX3" fmla="*/ 68956 w 5324985"/>
                <a:gd name="connsiteY3" fmla="*/ 308600 h 3251912"/>
                <a:gd name="connsiteX4" fmla="*/ 167774 w 5324985"/>
                <a:gd name="connsiteY4" fmla="*/ 607968 h 3251912"/>
                <a:gd name="connsiteX5" fmla="*/ 201857 w 5324985"/>
                <a:gd name="connsiteY5" fmla="*/ 679539 h 3251912"/>
                <a:gd name="connsiteX6" fmla="*/ 239741 w 5324985"/>
                <a:gd name="connsiteY6" fmla="*/ 749488 h 3251912"/>
                <a:gd name="connsiteX7" fmla="*/ 323724 w 5324985"/>
                <a:gd name="connsiteY7" fmla="*/ 885101 h 3251912"/>
                <a:gd name="connsiteX8" fmla="*/ 416412 w 5324985"/>
                <a:gd name="connsiteY8" fmla="*/ 1016081 h 3251912"/>
                <a:gd name="connsiteX9" fmla="*/ 515719 w 5324985"/>
                <a:gd name="connsiteY9" fmla="*/ 1143356 h 3251912"/>
                <a:gd name="connsiteX10" fmla="*/ 722427 w 5324985"/>
                <a:gd name="connsiteY10" fmla="*/ 1395127 h 3251912"/>
                <a:gd name="connsiteX11" fmla="*/ 825780 w 5324985"/>
                <a:gd name="connsiteY11" fmla="*/ 1522749 h 3251912"/>
                <a:gd name="connsiteX12" fmla="*/ 926314 w 5324985"/>
                <a:gd name="connsiteY12" fmla="*/ 1651992 h 3251912"/>
                <a:gd name="connsiteX13" fmla="*/ 1026848 w 5324985"/>
                <a:gd name="connsiteY13" fmla="*/ 1776836 h 3251912"/>
                <a:gd name="connsiteX14" fmla="*/ 1131918 w 5324985"/>
                <a:gd name="connsiteY14" fmla="*/ 1897393 h 3251912"/>
                <a:gd name="connsiteX15" fmla="*/ 1354688 w 5324985"/>
                <a:gd name="connsiteY15" fmla="*/ 2124728 h 3251912"/>
                <a:gd name="connsiteX16" fmla="*/ 1855027 w 5324985"/>
                <a:gd name="connsiteY16" fmla="*/ 2504236 h 3251912"/>
                <a:gd name="connsiteX17" fmla="*/ 2131618 w 5324985"/>
                <a:gd name="connsiteY17" fmla="*/ 2646913 h 3251912"/>
                <a:gd name="connsiteX18" fmla="*/ 2423534 w 5324985"/>
                <a:gd name="connsiteY18" fmla="*/ 2754732 h 3251912"/>
                <a:gd name="connsiteX19" fmla="*/ 2727588 w 5324985"/>
                <a:gd name="connsiteY19" fmla="*/ 2829197 h 3251912"/>
                <a:gd name="connsiteX20" fmla="*/ 3041083 w 5324985"/>
                <a:gd name="connsiteY20" fmla="*/ 2870890 h 3251912"/>
                <a:gd name="connsiteX21" fmla="*/ 3360340 w 5324985"/>
                <a:gd name="connsiteY21" fmla="*/ 2883976 h 3251912"/>
                <a:gd name="connsiteX22" fmla="*/ 3439663 w 5324985"/>
                <a:gd name="connsiteY22" fmla="*/ 2883396 h 3251912"/>
                <a:gd name="connsiteX23" fmla="*/ 3478529 w 5324985"/>
                <a:gd name="connsiteY23" fmla="*/ 2882471 h 3251912"/>
                <a:gd name="connsiteX24" fmla="*/ 3517271 w 5324985"/>
                <a:gd name="connsiteY24" fmla="*/ 2880616 h 3251912"/>
                <a:gd name="connsiteX25" fmla="*/ 3671260 w 5324985"/>
                <a:gd name="connsiteY25" fmla="*/ 2867878 h 3251912"/>
                <a:gd name="connsiteX26" fmla="*/ 4265268 w 5324985"/>
                <a:gd name="connsiteY26" fmla="*/ 2716283 h 3251912"/>
                <a:gd name="connsiteX27" fmla="*/ 4546395 w 5324985"/>
                <a:gd name="connsiteY27" fmla="*/ 2584724 h 3251912"/>
                <a:gd name="connsiteX28" fmla="*/ 4817837 w 5324985"/>
                <a:gd name="connsiteY28" fmla="*/ 2424674 h 3251912"/>
                <a:gd name="connsiteX29" fmla="*/ 5081677 w 5324985"/>
                <a:gd name="connsiteY29" fmla="*/ 2243548 h 3251912"/>
                <a:gd name="connsiteX30" fmla="*/ 5211881 w 5324985"/>
                <a:gd name="connsiteY30" fmla="*/ 2147658 h 3251912"/>
                <a:gd name="connsiteX31" fmla="*/ 5324985 w 5324985"/>
                <a:gd name="connsiteY31" fmla="*/ 2062128 h 3251912"/>
                <a:gd name="connsiteX32" fmla="*/ 5324985 w 5324985"/>
                <a:gd name="connsiteY32" fmla="*/ 2514993 h 3251912"/>
                <a:gd name="connsiteX33" fmla="*/ 5314867 w 5324985"/>
                <a:gd name="connsiteY33" fmla="*/ 2522881 h 3251912"/>
                <a:gd name="connsiteX34" fmla="*/ 5038276 w 5324985"/>
                <a:gd name="connsiteY34" fmla="*/ 2722421 h 3251912"/>
                <a:gd name="connsiteX35" fmla="*/ 4741701 w 5324985"/>
                <a:gd name="connsiteY35" fmla="*/ 2904937 h 3251912"/>
                <a:gd name="connsiteX36" fmla="*/ 4420728 w 5324985"/>
                <a:gd name="connsiteY36" fmla="*/ 3058848 h 3251912"/>
                <a:gd name="connsiteX37" fmla="*/ 3717481 w 5324985"/>
                <a:gd name="connsiteY37" fmla="*/ 3237079 h 3251912"/>
                <a:gd name="connsiteX38" fmla="*/ 3535661 w 5324985"/>
                <a:gd name="connsiteY38" fmla="*/ 3249934 h 3251912"/>
                <a:gd name="connsiteX39" fmla="*/ 3490175 w 5324985"/>
                <a:gd name="connsiteY39" fmla="*/ 3251555 h 3251912"/>
                <a:gd name="connsiteX40" fmla="*/ 3444813 w 5324985"/>
                <a:gd name="connsiteY40" fmla="*/ 3251787 h 3251912"/>
                <a:gd name="connsiteX41" fmla="*/ 3355681 w 5324985"/>
                <a:gd name="connsiteY41" fmla="*/ 3250745 h 3251912"/>
                <a:gd name="connsiteX42" fmla="*/ 3179011 w 5324985"/>
                <a:gd name="connsiteY42" fmla="*/ 3243795 h 3251912"/>
                <a:gd name="connsiteX43" fmla="*/ 3002217 w 5324985"/>
                <a:gd name="connsiteY43" fmla="*/ 3227814 h 3251912"/>
                <a:gd name="connsiteX44" fmla="*/ 2650103 w 5324985"/>
                <a:gd name="connsiteY44" fmla="*/ 3170836 h 3251912"/>
                <a:gd name="connsiteX45" fmla="*/ 2305836 w 5324985"/>
                <a:gd name="connsiteY45" fmla="*/ 3072514 h 3251912"/>
                <a:gd name="connsiteX46" fmla="*/ 1978611 w 5324985"/>
                <a:gd name="connsiteY46" fmla="*/ 2929952 h 3251912"/>
                <a:gd name="connsiteX47" fmla="*/ 1678235 w 5324985"/>
                <a:gd name="connsiteY47" fmla="*/ 2744424 h 3251912"/>
                <a:gd name="connsiteX48" fmla="*/ 1175688 w 5324985"/>
                <a:gd name="connsiteY48" fmla="*/ 2277018 h 3251912"/>
                <a:gd name="connsiteX49" fmla="*/ 971310 w 5324985"/>
                <a:gd name="connsiteY49" fmla="*/ 2012044 h 3251912"/>
                <a:gd name="connsiteX50" fmla="*/ 790717 w 5324985"/>
                <a:gd name="connsiteY50" fmla="*/ 1735723 h 3251912"/>
                <a:gd name="connsiteX51" fmla="*/ 706488 w 5324985"/>
                <a:gd name="connsiteY51" fmla="*/ 1598604 h 3251912"/>
                <a:gd name="connsiteX52" fmla="*/ 618951 w 5324985"/>
                <a:gd name="connsiteY52" fmla="*/ 1463802 h 3251912"/>
                <a:gd name="connsiteX53" fmla="*/ 436273 w 5324985"/>
                <a:gd name="connsiteY53" fmla="*/ 1195355 h 3251912"/>
                <a:gd name="connsiteX54" fmla="*/ 346896 w 5324985"/>
                <a:gd name="connsiteY54" fmla="*/ 1058816 h 3251912"/>
                <a:gd name="connsiteX55" fmla="*/ 261809 w 5324985"/>
                <a:gd name="connsiteY55" fmla="*/ 919264 h 3251912"/>
                <a:gd name="connsiteX56" fmla="*/ 118487 w 5324985"/>
                <a:gd name="connsiteY56" fmla="*/ 626498 h 3251912"/>
                <a:gd name="connsiteX57" fmla="*/ 28130 w 5324985"/>
                <a:gd name="connsiteY57" fmla="*/ 315781 h 3251912"/>
                <a:gd name="connsiteX58" fmla="*/ 6751 w 5324985"/>
                <a:gd name="connsiteY58" fmla="*/ 156195 h 32519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Lst>
              <a:rect l="l" t="t" r="r" b="b"/>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Freeform: Shape 14">
              <a:extLst>
                <a:ext uri="{FF2B5EF4-FFF2-40B4-BE49-F238E27FC236}">
                  <a16:creationId xmlns:a16="http://schemas.microsoft.com/office/drawing/2014/main" id="{E2BD6DCE-6A81-4F34-9958-67B578EA166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16467" y="-1"/>
              <a:ext cx="5275533" cy="2980757"/>
            </a:xfrm>
            <a:custGeom>
              <a:avLst/>
              <a:gdLst>
                <a:gd name="connsiteX0" fmla="*/ 0 w 5275533"/>
                <a:gd name="connsiteY0" fmla="*/ 0 h 2980757"/>
                <a:gd name="connsiteX1" fmla="*/ 201166 w 5275533"/>
                <a:gd name="connsiteY1" fmla="*/ 0 h 2980757"/>
                <a:gd name="connsiteX2" fmla="*/ 206734 w 5275533"/>
                <a:gd name="connsiteY2" fmla="*/ 89286 h 2980757"/>
                <a:gd name="connsiteX3" fmla="*/ 232051 w 5275533"/>
                <a:gd name="connsiteY3" fmla="*/ 226897 h 2980757"/>
                <a:gd name="connsiteX4" fmla="*/ 332707 w 5275533"/>
                <a:gd name="connsiteY4" fmla="*/ 487120 h 2980757"/>
                <a:gd name="connsiteX5" fmla="*/ 402959 w 5275533"/>
                <a:gd name="connsiteY5" fmla="*/ 609647 h 2980757"/>
                <a:gd name="connsiteX6" fmla="*/ 483631 w 5275533"/>
                <a:gd name="connsiteY6" fmla="*/ 728236 h 2980757"/>
                <a:gd name="connsiteX7" fmla="*/ 669986 w 5275533"/>
                <a:gd name="connsiteY7" fmla="*/ 957424 h 2980757"/>
                <a:gd name="connsiteX8" fmla="*/ 871667 w 5275533"/>
                <a:gd name="connsiteY8" fmla="*/ 1188348 h 2980757"/>
                <a:gd name="connsiteX9" fmla="*/ 971956 w 5275533"/>
                <a:gd name="connsiteY9" fmla="*/ 1308905 h 2980757"/>
                <a:gd name="connsiteX10" fmla="*/ 1020139 w 5275533"/>
                <a:gd name="connsiteY10" fmla="*/ 1368084 h 2980757"/>
                <a:gd name="connsiteX11" fmla="*/ 1067340 w 5275533"/>
                <a:gd name="connsiteY11" fmla="*/ 1424715 h 2980757"/>
                <a:gd name="connsiteX12" fmla="*/ 1472909 w 5275533"/>
                <a:gd name="connsiteY12" fmla="*/ 1843252 h 2980757"/>
                <a:gd name="connsiteX13" fmla="*/ 1688567 w 5275533"/>
                <a:gd name="connsiteY13" fmla="*/ 2031559 h 2980757"/>
                <a:gd name="connsiteX14" fmla="*/ 1914401 w 5275533"/>
                <a:gd name="connsiteY14" fmla="*/ 2205156 h 2980757"/>
                <a:gd name="connsiteX15" fmla="*/ 2418909 w 5275533"/>
                <a:gd name="connsiteY15" fmla="*/ 2479741 h 2980757"/>
                <a:gd name="connsiteX16" fmla="*/ 2701141 w 5275533"/>
                <a:gd name="connsiteY16" fmla="*/ 2557333 h 2980757"/>
                <a:gd name="connsiteX17" fmla="*/ 2773475 w 5275533"/>
                <a:gd name="connsiteY17" fmla="*/ 2570999 h 2980757"/>
                <a:gd name="connsiteX18" fmla="*/ 2846424 w 5275533"/>
                <a:gd name="connsiteY18" fmla="*/ 2582465 h 2980757"/>
                <a:gd name="connsiteX19" fmla="*/ 2993669 w 5275533"/>
                <a:gd name="connsiteY19" fmla="*/ 2598909 h 2980757"/>
                <a:gd name="connsiteX20" fmla="*/ 3067721 w 5275533"/>
                <a:gd name="connsiteY20" fmla="*/ 2604237 h 2980757"/>
                <a:gd name="connsiteX21" fmla="*/ 3142019 w 5275533"/>
                <a:gd name="connsiteY21" fmla="*/ 2607943 h 2980757"/>
                <a:gd name="connsiteX22" fmla="*/ 3216561 w 5275533"/>
                <a:gd name="connsiteY22" fmla="*/ 2609564 h 2980757"/>
                <a:gd name="connsiteX23" fmla="*/ 3291225 w 5275533"/>
                <a:gd name="connsiteY23" fmla="*/ 2609217 h 2980757"/>
                <a:gd name="connsiteX24" fmla="*/ 3328619 w 5275533"/>
                <a:gd name="connsiteY24" fmla="*/ 2608869 h 2980757"/>
                <a:gd name="connsiteX25" fmla="*/ 3364665 w 5275533"/>
                <a:gd name="connsiteY25" fmla="*/ 2607363 h 2980757"/>
                <a:gd name="connsiteX26" fmla="*/ 3400587 w 5275533"/>
                <a:gd name="connsiteY26" fmla="*/ 2605627 h 2980757"/>
                <a:gd name="connsiteX27" fmla="*/ 3436387 w 5275533"/>
                <a:gd name="connsiteY27" fmla="*/ 2602847 h 2980757"/>
                <a:gd name="connsiteX28" fmla="*/ 3578361 w 5275533"/>
                <a:gd name="connsiteY28" fmla="*/ 2586286 h 2980757"/>
                <a:gd name="connsiteX29" fmla="*/ 4119159 w 5275533"/>
                <a:gd name="connsiteY29" fmla="*/ 2418594 h 2980757"/>
                <a:gd name="connsiteX30" fmla="*/ 4618765 w 5275533"/>
                <a:gd name="connsiteY30" fmla="*/ 2124668 h 2980757"/>
                <a:gd name="connsiteX31" fmla="*/ 4739895 w 5275533"/>
                <a:gd name="connsiteY31" fmla="*/ 2038275 h 2980757"/>
                <a:gd name="connsiteX32" fmla="*/ 4861027 w 5275533"/>
                <a:gd name="connsiteY32" fmla="*/ 1948986 h 2980757"/>
                <a:gd name="connsiteX33" fmla="*/ 5106354 w 5275533"/>
                <a:gd name="connsiteY33" fmla="*/ 1763690 h 2980757"/>
                <a:gd name="connsiteX34" fmla="*/ 5275533 w 5275533"/>
                <a:gd name="connsiteY34" fmla="*/ 1641017 h 2980757"/>
                <a:gd name="connsiteX35" fmla="*/ 5275533 w 5275533"/>
                <a:gd name="connsiteY35" fmla="*/ 2257481 h 2980757"/>
                <a:gd name="connsiteX36" fmla="*/ 5168881 w 5275533"/>
                <a:gd name="connsiteY36" fmla="*/ 2332084 h 2980757"/>
                <a:gd name="connsiteX37" fmla="*/ 5036225 w 5275533"/>
                <a:gd name="connsiteY37" fmla="*/ 2421489 h 2980757"/>
                <a:gd name="connsiteX38" fmla="*/ 4899401 w 5275533"/>
                <a:gd name="connsiteY38" fmla="*/ 2508347 h 2980757"/>
                <a:gd name="connsiteX39" fmla="*/ 4612145 w 5275533"/>
                <a:gd name="connsiteY39" fmla="*/ 2671407 h 2980757"/>
                <a:gd name="connsiteX40" fmla="*/ 4303187 w 5275533"/>
                <a:gd name="connsiteY40" fmla="*/ 2810030 h 2980757"/>
                <a:gd name="connsiteX41" fmla="*/ 3630835 w 5275533"/>
                <a:gd name="connsiteY41" fmla="*/ 2969500 h 2980757"/>
                <a:gd name="connsiteX42" fmla="*/ 3457719 w 5275533"/>
                <a:gd name="connsiteY42" fmla="*/ 2979808 h 2980757"/>
                <a:gd name="connsiteX43" fmla="*/ 3414441 w 5275533"/>
                <a:gd name="connsiteY43" fmla="*/ 2980733 h 2980757"/>
                <a:gd name="connsiteX44" fmla="*/ 3371285 w 5275533"/>
                <a:gd name="connsiteY44" fmla="*/ 2980502 h 2980757"/>
                <a:gd name="connsiteX45" fmla="*/ 3328252 w 5275533"/>
                <a:gd name="connsiteY45" fmla="*/ 2980039 h 2980757"/>
                <a:gd name="connsiteX46" fmla="*/ 3286445 w 5275533"/>
                <a:gd name="connsiteY46" fmla="*/ 2978534 h 2980757"/>
                <a:gd name="connsiteX47" fmla="*/ 2952475 w 5275533"/>
                <a:gd name="connsiteY47" fmla="*/ 2953402 h 2980757"/>
                <a:gd name="connsiteX48" fmla="*/ 2620591 w 5275533"/>
                <a:gd name="connsiteY48" fmla="*/ 2898046 h 2980757"/>
                <a:gd name="connsiteX49" fmla="*/ 2294591 w 5275533"/>
                <a:gd name="connsiteY49" fmla="*/ 2811305 h 2980757"/>
                <a:gd name="connsiteX50" fmla="*/ 1670544 w 5275533"/>
                <a:gd name="connsiteY50" fmla="*/ 2550501 h 2980757"/>
                <a:gd name="connsiteX51" fmla="*/ 1144703 w 5275533"/>
                <a:gd name="connsiteY51" fmla="*/ 2144472 h 2980757"/>
                <a:gd name="connsiteX52" fmla="*/ 931497 w 5275533"/>
                <a:gd name="connsiteY52" fmla="*/ 1900114 h 2980757"/>
                <a:gd name="connsiteX53" fmla="*/ 745265 w 5275533"/>
                <a:gd name="connsiteY53" fmla="*/ 1641395 h 2980757"/>
                <a:gd name="connsiteX54" fmla="*/ 701741 w 5275533"/>
                <a:gd name="connsiteY54" fmla="*/ 1575500 h 2980757"/>
                <a:gd name="connsiteX55" fmla="*/ 660178 w 5275533"/>
                <a:gd name="connsiteY55" fmla="*/ 1511573 h 2980757"/>
                <a:gd name="connsiteX56" fmla="*/ 578158 w 5275533"/>
                <a:gd name="connsiteY56" fmla="*/ 1387656 h 2980757"/>
                <a:gd name="connsiteX57" fmla="*/ 408230 w 5275533"/>
                <a:gd name="connsiteY57" fmla="*/ 1134497 h 2980757"/>
                <a:gd name="connsiteX58" fmla="*/ 242349 w 5275533"/>
                <a:gd name="connsiteY58" fmla="*/ 866860 h 2980757"/>
                <a:gd name="connsiteX59" fmla="*/ 167562 w 5275533"/>
                <a:gd name="connsiteY59" fmla="*/ 724994 h 2980757"/>
                <a:gd name="connsiteX60" fmla="*/ 104054 w 5275533"/>
                <a:gd name="connsiteY60" fmla="*/ 576525 h 2980757"/>
                <a:gd name="connsiteX61" fmla="*/ 55381 w 5275533"/>
                <a:gd name="connsiteY61" fmla="*/ 422499 h 2980757"/>
                <a:gd name="connsiteX62" fmla="*/ 37236 w 5275533"/>
                <a:gd name="connsiteY62" fmla="*/ 343980 h 2980757"/>
                <a:gd name="connsiteX63" fmla="*/ 29267 w 5275533"/>
                <a:gd name="connsiteY63" fmla="*/ 304604 h 2980757"/>
                <a:gd name="connsiteX64" fmla="*/ 22646 w 5275533"/>
                <a:gd name="connsiteY64" fmla="*/ 265113 h 2980757"/>
                <a:gd name="connsiteX65" fmla="*/ 3903 w 5275533"/>
                <a:gd name="connsiteY65" fmla="*/ 106787 h 29807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Lst>
              <a:rect l="l" t="t" r="r" b="b"/>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Freeform: Shape 15">
              <a:extLst>
                <a:ext uri="{FF2B5EF4-FFF2-40B4-BE49-F238E27FC236}">
                  <a16:creationId xmlns:a16="http://schemas.microsoft.com/office/drawing/2014/main" id="{5C462BE8-CD72-48CF-8A7B-C716D2B99EB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21214" y="-1"/>
              <a:ext cx="5270786" cy="2927775"/>
            </a:xfrm>
            <a:custGeom>
              <a:avLst/>
              <a:gdLst>
                <a:gd name="connsiteX0" fmla="*/ 0 w 5270786"/>
                <a:gd name="connsiteY0" fmla="*/ 0 h 2927775"/>
                <a:gd name="connsiteX1" fmla="*/ 613805 w 5270786"/>
                <a:gd name="connsiteY1" fmla="*/ 0 h 2927775"/>
                <a:gd name="connsiteX2" fmla="*/ 618487 w 5270786"/>
                <a:gd name="connsiteY2" fmla="*/ 85404 h 2927775"/>
                <a:gd name="connsiteX3" fmla="*/ 1054084 w 5270786"/>
                <a:gd name="connsiteY3" fmla="*/ 895200 h 2927775"/>
                <a:gd name="connsiteX4" fmla="*/ 1276976 w 5270786"/>
                <a:gd name="connsiteY4" fmla="*/ 1191325 h 2927775"/>
                <a:gd name="connsiteX5" fmla="*/ 3368450 w 5270786"/>
                <a:gd name="connsiteY5" fmla="*/ 2348843 h 2927775"/>
                <a:gd name="connsiteX6" fmla="*/ 4956151 w 5270786"/>
                <a:gd name="connsiteY6" fmla="*/ 1636730 h 2927775"/>
                <a:gd name="connsiteX7" fmla="*/ 5149372 w 5270786"/>
                <a:gd name="connsiteY7" fmla="*/ 1495325 h 2927775"/>
                <a:gd name="connsiteX8" fmla="*/ 5270786 w 5270786"/>
                <a:gd name="connsiteY8" fmla="*/ 1406110 h 2927775"/>
                <a:gd name="connsiteX9" fmla="*/ 5270786 w 5270786"/>
                <a:gd name="connsiteY9" fmla="*/ 2138641 h 2927775"/>
                <a:gd name="connsiteX10" fmla="*/ 5112925 w 5270786"/>
                <a:gd name="connsiteY10" fmla="*/ 2253730 h 2927775"/>
                <a:gd name="connsiteX11" fmla="*/ 3368327 w 5270786"/>
                <a:gd name="connsiteY11" fmla="*/ 2927775 h 2927775"/>
                <a:gd name="connsiteX12" fmla="*/ 769646 w 5270786"/>
                <a:gd name="connsiteY12" fmla="*/ 1516288 h 2927775"/>
                <a:gd name="connsiteX13" fmla="*/ 3149 w 5270786"/>
                <a:gd name="connsiteY13" fmla="*/ 85252 h 2927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Freeform: Shape 16">
              <a:extLst>
                <a:ext uri="{FF2B5EF4-FFF2-40B4-BE49-F238E27FC236}">
                  <a16:creationId xmlns:a16="http://schemas.microsoft.com/office/drawing/2014/main" id="{1C2CDB70-40F1-4D00-8F17-A532E732EB2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21214" y="-1"/>
              <a:ext cx="5270786" cy="2927775"/>
            </a:xfrm>
            <a:custGeom>
              <a:avLst/>
              <a:gdLst>
                <a:gd name="connsiteX0" fmla="*/ 0 w 5270786"/>
                <a:gd name="connsiteY0" fmla="*/ 0 h 2927775"/>
                <a:gd name="connsiteX1" fmla="*/ 736294 w 5270786"/>
                <a:gd name="connsiteY1" fmla="*/ 0 h 2927775"/>
                <a:gd name="connsiteX2" fmla="*/ 740298 w 5270786"/>
                <a:gd name="connsiteY2" fmla="*/ 72745 h 2927775"/>
                <a:gd name="connsiteX3" fmla="*/ 1153024 w 5270786"/>
                <a:gd name="connsiteY3" fmla="*/ 826989 h 2927775"/>
                <a:gd name="connsiteX4" fmla="*/ 1378368 w 5270786"/>
                <a:gd name="connsiteY4" fmla="*/ 1126356 h 2927775"/>
                <a:gd name="connsiteX5" fmla="*/ 2238056 w 5270786"/>
                <a:gd name="connsiteY5" fmla="*/ 1955322 h 2927775"/>
                <a:gd name="connsiteX6" fmla="*/ 3368327 w 5270786"/>
                <a:gd name="connsiteY6" fmla="*/ 2233033 h 2927775"/>
                <a:gd name="connsiteX7" fmla="*/ 4095360 w 5270786"/>
                <a:gd name="connsiteY7" fmla="*/ 2056192 h 2927775"/>
                <a:gd name="connsiteX8" fmla="*/ 4880506 w 5270786"/>
                <a:gd name="connsiteY8" fmla="*/ 1545587 h 2927775"/>
                <a:gd name="connsiteX9" fmla="*/ 5074340 w 5270786"/>
                <a:gd name="connsiteY9" fmla="*/ 1403721 h 2927775"/>
                <a:gd name="connsiteX10" fmla="*/ 5270786 w 5270786"/>
                <a:gd name="connsiteY10" fmla="*/ 1259367 h 2927775"/>
                <a:gd name="connsiteX11" fmla="*/ 5270786 w 5270786"/>
                <a:gd name="connsiteY11" fmla="*/ 2138641 h 2927775"/>
                <a:gd name="connsiteX12" fmla="*/ 5112925 w 5270786"/>
                <a:gd name="connsiteY12" fmla="*/ 2253730 h 2927775"/>
                <a:gd name="connsiteX13" fmla="*/ 3368327 w 5270786"/>
                <a:gd name="connsiteY13" fmla="*/ 2927775 h 2927775"/>
                <a:gd name="connsiteX14" fmla="*/ 769646 w 5270786"/>
                <a:gd name="connsiteY14" fmla="*/ 1516288 h 2927775"/>
                <a:gd name="connsiteX15" fmla="*/ 3149 w 5270786"/>
                <a:gd name="connsiteY15" fmla="*/ 85252 h 2927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9" name="Group 18">
            <a:extLst>
              <a:ext uri="{FF2B5EF4-FFF2-40B4-BE49-F238E27FC236}">
                <a16:creationId xmlns:a16="http://schemas.microsoft.com/office/drawing/2014/main" id="{761945C4-D997-42F3-B59A-984CF0066715}"/>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10800000">
            <a:off x="9058275" y="4146310"/>
            <a:ext cx="3142400" cy="2716805"/>
            <a:chOff x="-305" y="-4155"/>
            <a:chExt cx="2514948" cy="2174333"/>
          </a:xfrm>
          <a:solidFill>
            <a:schemeClr val="bg1">
              <a:alpha val="30000"/>
            </a:schemeClr>
          </a:solidFill>
        </p:grpSpPr>
        <p:sp>
          <p:nvSpPr>
            <p:cNvPr id="20" name="Freeform: Shape 19">
              <a:extLst>
                <a:ext uri="{FF2B5EF4-FFF2-40B4-BE49-F238E27FC236}">
                  <a16:creationId xmlns:a16="http://schemas.microsoft.com/office/drawing/2014/main" id="{4651FE4A-9487-43BE-A388-134535743B7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14948" cy="2170178"/>
            </a:xfrm>
            <a:custGeom>
              <a:avLst/>
              <a:gdLst>
                <a:gd name="connsiteX0" fmla="*/ 2466091 w 2514948"/>
                <a:gd name="connsiteY0" fmla="*/ 0 h 2170178"/>
                <a:gd name="connsiteX1" fmla="*/ 2514948 w 2514948"/>
                <a:gd name="connsiteY1" fmla="*/ 0 h 2170178"/>
                <a:gd name="connsiteX2" fmla="*/ 2512286 w 2514948"/>
                <a:gd name="connsiteY2" fmla="*/ 12375 h 2170178"/>
                <a:gd name="connsiteX3" fmla="*/ 2394961 w 2514948"/>
                <a:gd name="connsiteY3" fmla="*/ 368660 h 2170178"/>
                <a:gd name="connsiteX4" fmla="*/ 2289734 w 2514948"/>
                <a:gd name="connsiteY4" fmla="*/ 598078 h 2170178"/>
                <a:gd name="connsiteX5" fmla="*/ 2163747 w 2514948"/>
                <a:gd name="connsiteY5" fmla="*/ 819078 h 2170178"/>
                <a:gd name="connsiteX6" fmla="*/ 1852241 w 2514948"/>
                <a:gd name="connsiteY6" fmla="*/ 1228932 h 2170178"/>
                <a:gd name="connsiteX7" fmla="*/ 1668235 w 2514948"/>
                <a:gd name="connsiteY7" fmla="*/ 1413844 h 2170178"/>
                <a:gd name="connsiteX8" fmla="*/ 1619510 w 2514948"/>
                <a:gd name="connsiteY8" fmla="*/ 1457722 h 2170178"/>
                <a:gd name="connsiteX9" fmla="*/ 1569835 w 2514948"/>
                <a:gd name="connsiteY9" fmla="*/ 1500704 h 2170178"/>
                <a:gd name="connsiteX10" fmla="*/ 1467169 w 2514948"/>
                <a:gd name="connsiteY10" fmla="*/ 1583266 h 2170178"/>
                <a:gd name="connsiteX11" fmla="*/ 1018393 w 2514948"/>
                <a:gd name="connsiteY11" fmla="*/ 1867576 h 2170178"/>
                <a:gd name="connsiteX12" fmla="*/ 255857 w 2514948"/>
                <a:gd name="connsiteY12" fmla="*/ 2133049 h 2170178"/>
                <a:gd name="connsiteX13" fmla="*/ 0 w 2514948"/>
                <a:gd name="connsiteY13" fmla="*/ 2170178 h 2170178"/>
                <a:gd name="connsiteX14" fmla="*/ 0 w 2514948"/>
                <a:gd name="connsiteY14" fmla="*/ 1940056 h 2170178"/>
                <a:gd name="connsiteX15" fmla="*/ 201609 w 2514948"/>
                <a:gd name="connsiteY15" fmla="*/ 1902856 h 2170178"/>
                <a:gd name="connsiteX16" fmla="*/ 440974 w 2514948"/>
                <a:gd name="connsiteY16" fmla="*/ 1838472 h 2170178"/>
                <a:gd name="connsiteX17" fmla="*/ 674558 w 2514948"/>
                <a:gd name="connsiteY17" fmla="*/ 1756359 h 2170178"/>
                <a:gd name="connsiteX18" fmla="*/ 901222 w 2514948"/>
                <a:gd name="connsiteY18" fmla="*/ 1657142 h 2170178"/>
                <a:gd name="connsiteX19" fmla="*/ 1330943 w 2514948"/>
                <a:gd name="connsiteY19" fmla="*/ 1413396 h 2170178"/>
                <a:gd name="connsiteX20" fmla="*/ 1432566 w 2514948"/>
                <a:gd name="connsiteY20" fmla="*/ 1343193 h 2170178"/>
                <a:gd name="connsiteX21" fmla="*/ 1482527 w 2514948"/>
                <a:gd name="connsiteY21" fmla="*/ 1306926 h 2170178"/>
                <a:gd name="connsiteX22" fmla="*/ 1531821 w 2514948"/>
                <a:gd name="connsiteY22" fmla="*/ 1269765 h 2170178"/>
                <a:gd name="connsiteX23" fmla="*/ 1721986 w 2514948"/>
                <a:gd name="connsiteY23" fmla="*/ 1112073 h 2170178"/>
                <a:gd name="connsiteX24" fmla="*/ 2061460 w 2514948"/>
                <a:gd name="connsiteY24" fmla="*/ 754336 h 2170178"/>
                <a:gd name="connsiteX25" fmla="*/ 2206218 w 2514948"/>
                <a:gd name="connsiteY25" fmla="*/ 554827 h 2170178"/>
                <a:gd name="connsiteX26" fmla="*/ 2329455 w 2514948"/>
                <a:gd name="connsiteY26" fmla="*/ 341886 h 2170178"/>
                <a:gd name="connsiteX27" fmla="*/ 2356757 w 2514948"/>
                <a:gd name="connsiteY27" fmla="*/ 286815 h 2170178"/>
                <a:gd name="connsiteX28" fmla="*/ 2370030 w 2514948"/>
                <a:gd name="connsiteY28" fmla="*/ 259056 h 2170178"/>
                <a:gd name="connsiteX29" fmla="*/ 2382637 w 2514948"/>
                <a:gd name="connsiteY29" fmla="*/ 231028 h 2170178"/>
                <a:gd name="connsiteX30" fmla="*/ 2406716 w 2514948"/>
                <a:gd name="connsiteY30" fmla="*/ 174525 h 2170178"/>
                <a:gd name="connsiteX31" fmla="*/ 2429278 w 2514948"/>
                <a:gd name="connsiteY31" fmla="*/ 117393 h 2170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2514948" h="2170178">
                  <a:moveTo>
                    <a:pt x="2466091" y="0"/>
                  </a:moveTo>
                  <a:lnTo>
                    <a:pt x="2514948" y="0"/>
                  </a:lnTo>
                  <a:lnTo>
                    <a:pt x="2512286" y="12375"/>
                  </a:lnTo>
                  <a:cubicBezTo>
                    <a:pt x="2481760" y="133161"/>
                    <a:pt x="2442526" y="252239"/>
                    <a:pt x="2394961" y="368660"/>
                  </a:cubicBezTo>
                  <a:cubicBezTo>
                    <a:pt x="2363109" y="446208"/>
                    <a:pt x="2328603" y="523039"/>
                    <a:pt x="2289734" y="598078"/>
                  </a:cubicBezTo>
                  <a:cubicBezTo>
                    <a:pt x="2251436" y="673387"/>
                    <a:pt x="2209251" y="747083"/>
                    <a:pt x="2163747" y="819078"/>
                  </a:cubicBezTo>
                  <a:cubicBezTo>
                    <a:pt x="2072646" y="962979"/>
                    <a:pt x="1968652" y="1100611"/>
                    <a:pt x="1852241" y="1228932"/>
                  </a:cubicBezTo>
                  <a:cubicBezTo>
                    <a:pt x="1793748" y="1292868"/>
                    <a:pt x="1732698" y="1354923"/>
                    <a:pt x="1668235" y="1413844"/>
                  </a:cubicBezTo>
                  <a:cubicBezTo>
                    <a:pt x="1652214" y="1428709"/>
                    <a:pt x="1636100" y="1443395"/>
                    <a:pt x="1619510" y="1457722"/>
                  </a:cubicBezTo>
                  <a:cubicBezTo>
                    <a:pt x="1603015" y="1472140"/>
                    <a:pt x="1586805" y="1486825"/>
                    <a:pt x="1569835" y="1500704"/>
                  </a:cubicBezTo>
                  <a:cubicBezTo>
                    <a:pt x="1536276" y="1528911"/>
                    <a:pt x="1501865" y="1556223"/>
                    <a:pt x="1467169" y="1583266"/>
                  </a:cubicBezTo>
                  <a:cubicBezTo>
                    <a:pt x="1327719" y="1690722"/>
                    <a:pt x="1177085" y="1785910"/>
                    <a:pt x="1018393" y="1867576"/>
                  </a:cubicBezTo>
                  <a:cubicBezTo>
                    <a:pt x="780425" y="1990142"/>
                    <a:pt x="522567" y="2080875"/>
                    <a:pt x="255857" y="2133049"/>
                  </a:cubicBezTo>
                  <a:lnTo>
                    <a:pt x="0" y="2170178"/>
                  </a:lnTo>
                  <a:lnTo>
                    <a:pt x="0" y="1940056"/>
                  </a:lnTo>
                  <a:lnTo>
                    <a:pt x="201609" y="1902856"/>
                  </a:lnTo>
                  <a:cubicBezTo>
                    <a:pt x="282186" y="1884231"/>
                    <a:pt x="362102" y="1863008"/>
                    <a:pt x="440974" y="1838472"/>
                  </a:cubicBezTo>
                  <a:cubicBezTo>
                    <a:pt x="519848" y="1814027"/>
                    <a:pt x="597771" y="1786627"/>
                    <a:pt x="674558" y="1756359"/>
                  </a:cubicBezTo>
                  <a:cubicBezTo>
                    <a:pt x="751250" y="1726003"/>
                    <a:pt x="826900" y="1692870"/>
                    <a:pt x="901222" y="1657142"/>
                  </a:cubicBezTo>
                  <a:cubicBezTo>
                    <a:pt x="1049865" y="1585774"/>
                    <a:pt x="1193581" y="1504376"/>
                    <a:pt x="1330943" y="1413396"/>
                  </a:cubicBezTo>
                  <a:cubicBezTo>
                    <a:pt x="1365165" y="1390563"/>
                    <a:pt x="1399293" y="1367370"/>
                    <a:pt x="1432566" y="1343193"/>
                  </a:cubicBezTo>
                  <a:cubicBezTo>
                    <a:pt x="1449441" y="1331373"/>
                    <a:pt x="1465936" y="1319104"/>
                    <a:pt x="1482527" y="1306926"/>
                  </a:cubicBezTo>
                  <a:cubicBezTo>
                    <a:pt x="1499210" y="1294837"/>
                    <a:pt x="1515611" y="1282391"/>
                    <a:pt x="1531821" y="1269765"/>
                  </a:cubicBezTo>
                  <a:cubicBezTo>
                    <a:pt x="1596947" y="1219350"/>
                    <a:pt x="1660652" y="1167055"/>
                    <a:pt x="1721986" y="1112073"/>
                  </a:cubicBezTo>
                  <a:cubicBezTo>
                    <a:pt x="1844940" y="1002469"/>
                    <a:pt x="1958983" y="882926"/>
                    <a:pt x="2061460" y="754336"/>
                  </a:cubicBezTo>
                  <a:cubicBezTo>
                    <a:pt x="2112652" y="690042"/>
                    <a:pt x="2161094" y="623510"/>
                    <a:pt x="2206218" y="554827"/>
                  </a:cubicBezTo>
                  <a:cubicBezTo>
                    <a:pt x="2250583" y="485787"/>
                    <a:pt x="2292484" y="415046"/>
                    <a:pt x="2329455" y="341886"/>
                  </a:cubicBezTo>
                  <a:cubicBezTo>
                    <a:pt x="2339030" y="323709"/>
                    <a:pt x="2347941" y="305261"/>
                    <a:pt x="2356757" y="286815"/>
                  </a:cubicBezTo>
                  <a:lnTo>
                    <a:pt x="2370030" y="259056"/>
                  </a:lnTo>
                  <a:lnTo>
                    <a:pt x="2382637" y="231028"/>
                  </a:lnTo>
                  <a:cubicBezTo>
                    <a:pt x="2390885" y="212312"/>
                    <a:pt x="2399227" y="193598"/>
                    <a:pt x="2406716" y="174525"/>
                  </a:cubicBezTo>
                  <a:cubicBezTo>
                    <a:pt x="2414206" y="155452"/>
                    <a:pt x="2422453" y="136646"/>
                    <a:pt x="2429278" y="117393"/>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Freeform: Shape 20">
              <a:extLst>
                <a:ext uri="{FF2B5EF4-FFF2-40B4-BE49-F238E27FC236}">
                  <a16:creationId xmlns:a16="http://schemas.microsoft.com/office/drawing/2014/main" id="{F44B0EF3-9992-4B95-8A43-6206B3FC3F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4155"/>
              <a:ext cx="2493062" cy="1947896"/>
            </a:xfrm>
            <a:custGeom>
              <a:avLst/>
              <a:gdLst>
                <a:gd name="connsiteX0" fmla="*/ 1896911 w 2493062"/>
                <a:gd name="connsiteY0" fmla="*/ 0 h 1947896"/>
                <a:gd name="connsiteX1" fmla="*/ 2493062 w 2493062"/>
                <a:gd name="connsiteY1" fmla="*/ 0 h 1947896"/>
                <a:gd name="connsiteX2" fmla="*/ 2435315 w 2493062"/>
                <a:gd name="connsiteY2" fmla="*/ 178165 h 1947896"/>
                <a:gd name="connsiteX3" fmla="*/ 93066 w 2493062"/>
                <a:gd name="connsiteY3" fmla="*/ 1935859 h 1947896"/>
                <a:gd name="connsiteX4" fmla="*/ 0 w 2493062"/>
                <a:gd name="connsiteY4" fmla="*/ 1947896 h 1947896"/>
                <a:gd name="connsiteX5" fmla="*/ 0 w 2493062"/>
                <a:gd name="connsiteY5" fmla="*/ 1404756 h 1947896"/>
                <a:gd name="connsiteX6" fmla="*/ 17392 w 2493062"/>
                <a:gd name="connsiteY6" fmla="*/ 1402364 h 1947896"/>
                <a:gd name="connsiteX7" fmla="*/ 464249 w 2493062"/>
                <a:gd name="connsiteY7" fmla="*/ 1281208 h 1947896"/>
                <a:gd name="connsiteX8" fmla="*/ 1260556 w 2493062"/>
                <a:gd name="connsiteY8" fmla="*/ 833835 h 1947896"/>
                <a:gd name="connsiteX9" fmla="*/ 1807924 w 2493062"/>
                <a:gd name="connsiteY9" fmla="*/ 193222 h 1947896"/>
                <a:gd name="connsiteX10" fmla="*/ 1874357 w 2493062"/>
                <a:gd name="connsiteY10" fmla="*/ 58333 h 1947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3062" h="1947896">
                  <a:moveTo>
                    <a:pt x="1896911" y="0"/>
                  </a:moveTo>
                  <a:lnTo>
                    <a:pt x="2493062" y="0"/>
                  </a:lnTo>
                  <a:lnTo>
                    <a:pt x="2435315" y="178165"/>
                  </a:lnTo>
                  <a:cubicBezTo>
                    <a:pt x="2088122" y="1071812"/>
                    <a:pt x="1129732" y="1758033"/>
                    <a:pt x="93066" y="1935859"/>
                  </a:cubicBezTo>
                  <a:lnTo>
                    <a:pt x="0" y="1947896"/>
                  </a:lnTo>
                  <a:lnTo>
                    <a:pt x="0" y="1404756"/>
                  </a:lnTo>
                  <a:lnTo>
                    <a:pt x="17392" y="1402364"/>
                  </a:lnTo>
                  <a:cubicBezTo>
                    <a:pt x="167719" y="1375030"/>
                    <a:pt x="318070" y="1334398"/>
                    <a:pt x="464249" y="1281208"/>
                  </a:cubicBezTo>
                  <a:cubicBezTo>
                    <a:pt x="753480" y="1176081"/>
                    <a:pt x="1028869" y="1021346"/>
                    <a:pt x="1260556" y="833835"/>
                  </a:cubicBezTo>
                  <a:cubicBezTo>
                    <a:pt x="1491960" y="646594"/>
                    <a:pt x="1681177" y="425056"/>
                    <a:pt x="1807924" y="193222"/>
                  </a:cubicBezTo>
                  <a:cubicBezTo>
                    <a:pt x="1832328" y="148578"/>
                    <a:pt x="1854477" y="103599"/>
                    <a:pt x="1874357" y="58333"/>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Freeform: Shape 21">
              <a:extLst>
                <a:ext uri="{FF2B5EF4-FFF2-40B4-BE49-F238E27FC236}">
                  <a16:creationId xmlns:a16="http://schemas.microsoft.com/office/drawing/2014/main" id="{041B1C1F-C2FE-4C47-9D74-ADB9B53F4BF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01089" cy="1972702"/>
            </a:xfrm>
            <a:custGeom>
              <a:avLst/>
              <a:gdLst>
                <a:gd name="connsiteX0" fmla="*/ 2318728 w 2501089"/>
                <a:gd name="connsiteY0" fmla="*/ 0 h 1972702"/>
                <a:gd name="connsiteX1" fmla="*/ 2501089 w 2501089"/>
                <a:gd name="connsiteY1" fmla="*/ 0 h 1972702"/>
                <a:gd name="connsiteX2" fmla="*/ 2453909 w 2501089"/>
                <a:gd name="connsiteY2" fmla="*/ 167837 h 1972702"/>
                <a:gd name="connsiteX3" fmla="*/ 2361125 w 2501089"/>
                <a:gd name="connsiteY3" fmla="*/ 392084 h 1972702"/>
                <a:gd name="connsiteX4" fmla="*/ 1768255 w 2501089"/>
                <a:gd name="connsiteY4" fmla="*/ 1167644 h 1972702"/>
                <a:gd name="connsiteX5" fmla="*/ 1375125 w 2501089"/>
                <a:gd name="connsiteY5" fmla="*/ 1471474 h 1972702"/>
                <a:gd name="connsiteX6" fmla="*/ 935735 w 2501089"/>
                <a:gd name="connsiteY6" fmla="*/ 1712713 h 1972702"/>
                <a:gd name="connsiteX7" fmla="*/ 212353 w 2501089"/>
                <a:gd name="connsiteY7" fmla="*/ 1940294 h 1972702"/>
                <a:gd name="connsiteX8" fmla="*/ 0 w 2501089"/>
                <a:gd name="connsiteY8" fmla="*/ 1972702 h 1972702"/>
                <a:gd name="connsiteX9" fmla="*/ 0 w 2501089"/>
                <a:gd name="connsiteY9" fmla="*/ 1732181 h 1972702"/>
                <a:gd name="connsiteX10" fmla="*/ 161195 w 2501089"/>
                <a:gd name="connsiteY10" fmla="*/ 1706590 h 1972702"/>
                <a:gd name="connsiteX11" fmla="*/ 388463 w 2501089"/>
                <a:gd name="connsiteY11" fmla="*/ 1652268 h 1972702"/>
                <a:gd name="connsiteX12" fmla="*/ 826716 w 2501089"/>
                <a:gd name="connsiteY12" fmla="*/ 1493950 h 1972702"/>
                <a:gd name="connsiteX13" fmla="*/ 1609847 w 2501089"/>
                <a:gd name="connsiteY13" fmla="*/ 1007535 h 1972702"/>
                <a:gd name="connsiteX14" fmla="*/ 1929982 w 2501089"/>
                <a:gd name="connsiteY14" fmla="*/ 682930 h 1972702"/>
                <a:gd name="connsiteX15" fmla="*/ 2183093 w 2501089"/>
                <a:gd name="connsiteY15" fmla="*/ 310149 h 1972702"/>
                <a:gd name="connsiteX16" fmla="*/ 2280286 w 2501089"/>
                <a:gd name="connsiteY16" fmla="*/ 108435 h 19727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01089" h="1972702">
                  <a:moveTo>
                    <a:pt x="2318728" y="0"/>
                  </a:moveTo>
                  <a:lnTo>
                    <a:pt x="2501089" y="0"/>
                  </a:lnTo>
                  <a:lnTo>
                    <a:pt x="2453909" y="167837"/>
                  </a:lnTo>
                  <a:cubicBezTo>
                    <a:pt x="2427555" y="244153"/>
                    <a:pt x="2396627" y="319103"/>
                    <a:pt x="2361125" y="392084"/>
                  </a:cubicBezTo>
                  <a:cubicBezTo>
                    <a:pt x="2218453" y="684005"/>
                    <a:pt x="2011698" y="945211"/>
                    <a:pt x="1768255" y="1167644"/>
                  </a:cubicBezTo>
                  <a:cubicBezTo>
                    <a:pt x="1646250" y="1278860"/>
                    <a:pt x="1514385" y="1380316"/>
                    <a:pt x="1375125" y="1471474"/>
                  </a:cubicBezTo>
                  <a:cubicBezTo>
                    <a:pt x="1235677" y="1562542"/>
                    <a:pt x="1088928" y="1643672"/>
                    <a:pt x="935735" y="1712713"/>
                  </a:cubicBezTo>
                  <a:cubicBezTo>
                    <a:pt x="705659" y="1815533"/>
                    <a:pt x="462359" y="1892212"/>
                    <a:pt x="212353" y="1940294"/>
                  </a:cubicBezTo>
                  <a:lnTo>
                    <a:pt x="0" y="1972702"/>
                  </a:lnTo>
                  <a:lnTo>
                    <a:pt x="0" y="1732181"/>
                  </a:lnTo>
                  <a:lnTo>
                    <a:pt x="161195" y="1706590"/>
                  </a:lnTo>
                  <a:cubicBezTo>
                    <a:pt x="237638" y="1691378"/>
                    <a:pt x="313477" y="1673222"/>
                    <a:pt x="388463" y="1652268"/>
                  </a:cubicBezTo>
                  <a:cubicBezTo>
                    <a:pt x="538529" y="1610539"/>
                    <a:pt x="684898" y="1556543"/>
                    <a:pt x="826716" y="1493950"/>
                  </a:cubicBezTo>
                  <a:cubicBezTo>
                    <a:pt x="1111207" y="1370107"/>
                    <a:pt x="1376832" y="1205881"/>
                    <a:pt x="1609847" y="1007535"/>
                  </a:cubicBezTo>
                  <a:cubicBezTo>
                    <a:pt x="1725975" y="908049"/>
                    <a:pt x="1833571" y="799519"/>
                    <a:pt x="1929982" y="682930"/>
                  </a:cubicBezTo>
                  <a:cubicBezTo>
                    <a:pt x="2026581" y="566520"/>
                    <a:pt x="2111806" y="441692"/>
                    <a:pt x="2183093" y="310149"/>
                  </a:cubicBezTo>
                  <a:cubicBezTo>
                    <a:pt x="2218738" y="244422"/>
                    <a:pt x="2251396" y="177150"/>
                    <a:pt x="2280286" y="108435"/>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800"/>
            </a:p>
          </p:txBody>
        </p:sp>
        <p:sp>
          <p:nvSpPr>
            <p:cNvPr id="23" name="Freeform: Shape 22">
              <a:extLst>
                <a:ext uri="{FF2B5EF4-FFF2-40B4-BE49-F238E27FC236}">
                  <a16:creationId xmlns:a16="http://schemas.microsoft.com/office/drawing/2014/main" id="{1048177B-A49E-4E24-9007-07A0EDD6A2E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2491105" cy="1943661"/>
            </a:xfrm>
            <a:custGeom>
              <a:avLst/>
              <a:gdLst>
                <a:gd name="connsiteX0" fmla="*/ 1995408 w 2491105"/>
                <a:gd name="connsiteY0" fmla="*/ 0 h 1943661"/>
                <a:gd name="connsiteX1" fmla="*/ 2491105 w 2491105"/>
                <a:gd name="connsiteY1" fmla="*/ 0 h 1943661"/>
                <a:gd name="connsiteX2" fmla="*/ 2434705 w 2491105"/>
                <a:gd name="connsiteY2" fmla="*/ 174009 h 1943661"/>
                <a:gd name="connsiteX3" fmla="*/ 92457 w 2491105"/>
                <a:gd name="connsiteY3" fmla="*/ 1931703 h 1943661"/>
                <a:gd name="connsiteX4" fmla="*/ 0 w 2491105"/>
                <a:gd name="connsiteY4" fmla="*/ 1943661 h 1943661"/>
                <a:gd name="connsiteX5" fmla="*/ 0 w 2491105"/>
                <a:gd name="connsiteY5" fmla="*/ 1491489 h 1943661"/>
                <a:gd name="connsiteX6" fmla="*/ 34107 w 2491105"/>
                <a:gd name="connsiteY6" fmla="*/ 1486836 h 1943661"/>
                <a:gd name="connsiteX7" fmla="*/ 497577 w 2491105"/>
                <a:gd name="connsiteY7" fmla="*/ 1360598 h 1943661"/>
                <a:gd name="connsiteX8" fmla="*/ 1321566 w 2491105"/>
                <a:gd name="connsiteY8" fmla="*/ 897645 h 1943661"/>
                <a:gd name="connsiteX9" fmla="*/ 1891495 w 2491105"/>
                <a:gd name="connsiteY9" fmla="*/ 230078 h 1943661"/>
                <a:gd name="connsiteX10" fmla="*/ 1961469 w 2491105"/>
                <a:gd name="connsiteY10" fmla="*/ 87885 h 1943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1105" h="1943661">
                  <a:moveTo>
                    <a:pt x="1995408" y="0"/>
                  </a:moveTo>
                  <a:lnTo>
                    <a:pt x="2491105" y="0"/>
                  </a:lnTo>
                  <a:lnTo>
                    <a:pt x="2434705" y="174009"/>
                  </a:lnTo>
                  <a:cubicBezTo>
                    <a:pt x="2087512" y="1067655"/>
                    <a:pt x="1129122" y="1753877"/>
                    <a:pt x="92457" y="1931703"/>
                  </a:cubicBezTo>
                  <a:lnTo>
                    <a:pt x="0" y="1943661"/>
                  </a:lnTo>
                  <a:lnTo>
                    <a:pt x="0" y="1491489"/>
                  </a:lnTo>
                  <a:lnTo>
                    <a:pt x="34107" y="1486836"/>
                  </a:lnTo>
                  <a:cubicBezTo>
                    <a:pt x="189055" y="1458696"/>
                    <a:pt x="343908" y="1416565"/>
                    <a:pt x="497577" y="1360598"/>
                  </a:cubicBezTo>
                  <a:cubicBezTo>
                    <a:pt x="796856" y="1251889"/>
                    <a:pt x="1081725" y="1091781"/>
                    <a:pt x="1321566" y="897645"/>
                  </a:cubicBezTo>
                  <a:cubicBezTo>
                    <a:pt x="1565577" y="700195"/>
                    <a:pt x="1757355" y="475523"/>
                    <a:pt x="1891495" y="230078"/>
                  </a:cubicBezTo>
                  <a:cubicBezTo>
                    <a:pt x="1917197" y="183033"/>
                    <a:pt x="1940526" y="135619"/>
                    <a:pt x="1961469" y="87885"/>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Tree>
    <p:extLst>
      <p:ext uri="{BB962C8B-B14F-4D97-AF65-F5344CB8AC3E}">
        <p14:creationId xmlns:p14="http://schemas.microsoft.com/office/powerpoint/2010/main" val="240368121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44615" y="450921"/>
            <a:ext cx="12045787" cy="457996"/>
          </a:xfrm>
        </p:spPr>
        <p:txBody>
          <a:bodyPr>
            <a:normAutofit fontScale="90000"/>
          </a:bodyPr>
          <a:lstStyle/>
          <a:p>
            <a:r>
              <a:rPr lang="en-US" dirty="0">
                <a:latin typeface="Calibri" charset="0"/>
                <a:ea typeface="Calibri" charset="0"/>
                <a:cs typeface="Calibri" charset="0"/>
              </a:rPr>
              <a:t>Building a microbial gene catalog</a:t>
            </a:r>
          </a:p>
        </p:txBody>
      </p:sp>
      <p:sp>
        <p:nvSpPr>
          <p:cNvPr id="5" name="Slide Number Placeholder 4"/>
          <p:cNvSpPr>
            <a:spLocks noGrp="1"/>
          </p:cNvSpPr>
          <p:nvPr>
            <p:ph type="sldNum" sz="quarter" idx="13"/>
          </p:nvPr>
        </p:nvSpPr>
        <p:spPr/>
        <p:txBody>
          <a:bodyPr/>
          <a:lstStyle/>
          <a:p>
            <a:fld id="{0D08B38D-4F16-45CA-9042-40A25BC4B1DD}" type="slidenum">
              <a:rPr lang="en-GB" smtClean="0">
                <a:latin typeface="Calibri" charset="0"/>
                <a:ea typeface="Calibri" charset="0"/>
                <a:cs typeface="Calibri" charset="0"/>
              </a:rPr>
              <a:pPr/>
              <a:t>35</a:t>
            </a:fld>
            <a:endParaRPr lang="en-GB">
              <a:latin typeface="Calibri" charset="0"/>
              <a:ea typeface="Calibri" charset="0"/>
              <a:cs typeface="Calibri" charset="0"/>
            </a:endParaRPr>
          </a:p>
        </p:txBody>
      </p:sp>
      <p:grpSp>
        <p:nvGrpSpPr>
          <p:cNvPr id="11" name="Group 10">
            <a:extLst>
              <a:ext uri="{FF2B5EF4-FFF2-40B4-BE49-F238E27FC236}">
                <a16:creationId xmlns:a16="http://schemas.microsoft.com/office/drawing/2014/main" id="{AD4D0D30-3FD4-A86A-FAAD-B0274D8B3BF9}"/>
              </a:ext>
            </a:extLst>
          </p:cNvPr>
          <p:cNvGrpSpPr/>
          <p:nvPr/>
        </p:nvGrpSpPr>
        <p:grpSpPr>
          <a:xfrm>
            <a:off x="182115" y="2684823"/>
            <a:ext cx="1584615" cy="1697182"/>
            <a:chOff x="2867877" y="1810364"/>
            <a:chExt cx="1584615" cy="1697182"/>
          </a:xfrm>
        </p:grpSpPr>
        <p:cxnSp>
          <p:nvCxnSpPr>
            <p:cNvPr id="12" name="Straight Connector 11">
              <a:extLst>
                <a:ext uri="{FF2B5EF4-FFF2-40B4-BE49-F238E27FC236}">
                  <a16:creationId xmlns:a16="http://schemas.microsoft.com/office/drawing/2014/main" id="{AF368BB0-68F4-C8AE-1FA8-4D21293C1632}"/>
                </a:ext>
              </a:extLst>
            </p:cNvPr>
            <p:cNvCxnSpPr>
              <a:cxnSpLocks/>
            </p:cNvCxnSpPr>
            <p:nvPr/>
          </p:nvCxnSpPr>
          <p:spPr>
            <a:xfrm>
              <a:off x="3149299" y="1810364"/>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8" name="Straight Connector 17">
              <a:extLst>
                <a:ext uri="{FF2B5EF4-FFF2-40B4-BE49-F238E27FC236}">
                  <a16:creationId xmlns:a16="http://schemas.microsoft.com/office/drawing/2014/main" id="{2408748B-AAF0-72DF-0041-AF692BB2D81A}"/>
                </a:ext>
              </a:extLst>
            </p:cNvPr>
            <p:cNvCxnSpPr>
              <a:cxnSpLocks/>
            </p:cNvCxnSpPr>
            <p:nvPr/>
          </p:nvCxnSpPr>
          <p:spPr>
            <a:xfrm>
              <a:off x="3677503" y="2977176"/>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E4D784B0-1C34-7F33-9E79-95D9BA36BAC5}"/>
                </a:ext>
              </a:extLst>
            </p:cNvPr>
            <p:cNvCxnSpPr>
              <a:cxnSpLocks/>
            </p:cNvCxnSpPr>
            <p:nvPr/>
          </p:nvCxnSpPr>
          <p:spPr>
            <a:xfrm>
              <a:off x="3339799" y="2000864"/>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4040D05F-15FA-CC4E-0DC9-0215656F3C96}"/>
                </a:ext>
              </a:extLst>
            </p:cNvPr>
            <p:cNvCxnSpPr>
              <a:cxnSpLocks/>
            </p:cNvCxnSpPr>
            <p:nvPr/>
          </p:nvCxnSpPr>
          <p:spPr>
            <a:xfrm>
              <a:off x="3456696" y="2859595"/>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31" name="Straight Connector 30">
              <a:extLst>
                <a:ext uri="{FF2B5EF4-FFF2-40B4-BE49-F238E27FC236}">
                  <a16:creationId xmlns:a16="http://schemas.microsoft.com/office/drawing/2014/main" id="{F6028670-4E21-03E9-B0BF-7E75B71A08F0}"/>
                </a:ext>
              </a:extLst>
            </p:cNvPr>
            <p:cNvCxnSpPr>
              <a:cxnSpLocks/>
            </p:cNvCxnSpPr>
            <p:nvPr/>
          </p:nvCxnSpPr>
          <p:spPr>
            <a:xfrm>
              <a:off x="3080026" y="2192845"/>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32" name="Straight Connector 31">
              <a:extLst>
                <a:ext uri="{FF2B5EF4-FFF2-40B4-BE49-F238E27FC236}">
                  <a16:creationId xmlns:a16="http://schemas.microsoft.com/office/drawing/2014/main" id="{68C91B5F-777A-7431-1B99-79FF49A13CFD}"/>
                </a:ext>
              </a:extLst>
            </p:cNvPr>
            <p:cNvCxnSpPr>
              <a:cxnSpLocks/>
            </p:cNvCxnSpPr>
            <p:nvPr/>
          </p:nvCxnSpPr>
          <p:spPr>
            <a:xfrm>
              <a:off x="3625549" y="2286614"/>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33" name="Straight Connector 32">
              <a:extLst>
                <a:ext uri="{FF2B5EF4-FFF2-40B4-BE49-F238E27FC236}">
                  <a16:creationId xmlns:a16="http://schemas.microsoft.com/office/drawing/2014/main" id="{0F161A03-5ACF-C0C9-65F2-2F15D0BB1330}"/>
                </a:ext>
              </a:extLst>
            </p:cNvPr>
            <p:cNvCxnSpPr>
              <a:cxnSpLocks/>
            </p:cNvCxnSpPr>
            <p:nvPr/>
          </p:nvCxnSpPr>
          <p:spPr>
            <a:xfrm>
              <a:off x="3188265" y="2381864"/>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34" name="Straight Connector 33">
              <a:extLst>
                <a:ext uri="{FF2B5EF4-FFF2-40B4-BE49-F238E27FC236}">
                  <a16:creationId xmlns:a16="http://schemas.microsoft.com/office/drawing/2014/main" id="{6427A8DD-A372-4099-5001-D95F8B48CA58}"/>
                </a:ext>
              </a:extLst>
            </p:cNvPr>
            <p:cNvCxnSpPr>
              <a:cxnSpLocks/>
            </p:cNvCxnSpPr>
            <p:nvPr/>
          </p:nvCxnSpPr>
          <p:spPr>
            <a:xfrm>
              <a:off x="3361446" y="2762864"/>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35" name="Straight Connector 34">
              <a:extLst>
                <a:ext uri="{FF2B5EF4-FFF2-40B4-BE49-F238E27FC236}">
                  <a16:creationId xmlns:a16="http://schemas.microsoft.com/office/drawing/2014/main" id="{D1A80E76-7968-9055-E0B9-13356D1EB88F}"/>
                </a:ext>
              </a:extLst>
            </p:cNvPr>
            <p:cNvCxnSpPr>
              <a:cxnSpLocks/>
            </p:cNvCxnSpPr>
            <p:nvPr/>
          </p:nvCxnSpPr>
          <p:spPr>
            <a:xfrm>
              <a:off x="2915503" y="2096114"/>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36" name="Straight Connector 35">
              <a:extLst>
                <a:ext uri="{FF2B5EF4-FFF2-40B4-BE49-F238E27FC236}">
                  <a16:creationId xmlns:a16="http://schemas.microsoft.com/office/drawing/2014/main" id="{35EAF46B-4A18-3642-800B-B6E7FAA8D927}"/>
                </a:ext>
              </a:extLst>
            </p:cNvPr>
            <p:cNvCxnSpPr>
              <a:cxnSpLocks/>
            </p:cNvCxnSpPr>
            <p:nvPr/>
          </p:nvCxnSpPr>
          <p:spPr>
            <a:xfrm>
              <a:off x="3816049" y="2560857"/>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37" name="Straight Connector 36">
              <a:extLst>
                <a:ext uri="{FF2B5EF4-FFF2-40B4-BE49-F238E27FC236}">
                  <a16:creationId xmlns:a16="http://schemas.microsoft.com/office/drawing/2014/main" id="{803AADFC-F118-D18B-25A2-B6936C1CF40E}"/>
                </a:ext>
              </a:extLst>
            </p:cNvPr>
            <p:cNvCxnSpPr>
              <a:cxnSpLocks/>
            </p:cNvCxnSpPr>
            <p:nvPr/>
          </p:nvCxnSpPr>
          <p:spPr>
            <a:xfrm>
              <a:off x="3417731" y="3507546"/>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38" name="Straight Connector 37">
              <a:extLst>
                <a:ext uri="{FF2B5EF4-FFF2-40B4-BE49-F238E27FC236}">
                  <a16:creationId xmlns:a16="http://schemas.microsoft.com/office/drawing/2014/main" id="{905846B0-8AE7-E8CE-48AB-D2FDD1CAD27F}"/>
                </a:ext>
              </a:extLst>
            </p:cNvPr>
            <p:cNvCxnSpPr>
              <a:cxnSpLocks/>
            </p:cNvCxnSpPr>
            <p:nvPr/>
          </p:nvCxnSpPr>
          <p:spPr>
            <a:xfrm>
              <a:off x="3045390" y="2491584"/>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39" name="Straight Connector 38">
              <a:extLst>
                <a:ext uri="{FF2B5EF4-FFF2-40B4-BE49-F238E27FC236}">
                  <a16:creationId xmlns:a16="http://schemas.microsoft.com/office/drawing/2014/main" id="{A8177792-3ADE-BEAC-AC98-72E511E464C4}"/>
                </a:ext>
              </a:extLst>
            </p:cNvPr>
            <p:cNvCxnSpPr>
              <a:cxnSpLocks/>
            </p:cNvCxnSpPr>
            <p:nvPr/>
          </p:nvCxnSpPr>
          <p:spPr>
            <a:xfrm>
              <a:off x="4028196" y="2667614"/>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40" name="Straight Connector 39">
              <a:extLst>
                <a:ext uri="{FF2B5EF4-FFF2-40B4-BE49-F238E27FC236}">
                  <a16:creationId xmlns:a16="http://schemas.microsoft.com/office/drawing/2014/main" id="{DDB063E0-F75A-01FC-F3A2-CF288A0765D7}"/>
                </a:ext>
              </a:extLst>
            </p:cNvPr>
            <p:cNvCxnSpPr>
              <a:cxnSpLocks/>
            </p:cNvCxnSpPr>
            <p:nvPr/>
          </p:nvCxnSpPr>
          <p:spPr>
            <a:xfrm>
              <a:off x="3842026" y="2192845"/>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41" name="Straight Connector 40">
              <a:extLst>
                <a:ext uri="{FF2B5EF4-FFF2-40B4-BE49-F238E27FC236}">
                  <a16:creationId xmlns:a16="http://schemas.microsoft.com/office/drawing/2014/main" id="{337CB20A-EBCB-A314-98FA-2C599B7DA541}"/>
                </a:ext>
              </a:extLst>
            </p:cNvPr>
            <p:cNvCxnSpPr>
              <a:cxnSpLocks/>
            </p:cNvCxnSpPr>
            <p:nvPr/>
          </p:nvCxnSpPr>
          <p:spPr>
            <a:xfrm>
              <a:off x="3772753" y="3072426"/>
              <a:ext cx="424296" cy="0"/>
            </a:xfrm>
            <a:prstGeom prst="line">
              <a:avLst/>
            </a:prstGeom>
            <a:ln w="38100">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0420CE8B-3651-833D-9FC1-BBC63FDF7522}"/>
                </a:ext>
              </a:extLst>
            </p:cNvPr>
            <p:cNvCxnSpPr>
              <a:cxnSpLocks/>
            </p:cNvCxnSpPr>
            <p:nvPr/>
          </p:nvCxnSpPr>
          <p:spPr>
            <a:xfrm>
              <a:off x="3837696" y="2388358"/>
              <a:ext cx="424296" cy="0"/>
            </a:xfrm>
            <a:prstGeom prst="line">
              <a:avLst/>
            </a:prstGeom>
            <a:ln w="38100">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43" name="Straight Connector 42">
              <a:extLst>
                <a:ext uri="{FF2B5EF4-FFF2-40B4-BE49-F238E27FC236}">
                  <a16:creationId xmlns:a16="http://schemas.microsoft.com/office/drawing/2014/main" id="{CA247162-5779-F627-5A16-6F156E762A9C}"/>
                </a:ext>
              </a:extLst>
            </p:cNvPr>
            <p:cNvCxnSpPr>
              <a:cxnSpLocks/>
            </p:cNvCxnSpPr>
            <p:nvPr/>
          </p:nvCxnSpPr>
          <p:spPr>
            <a:xfrm>
              <a:off x="2867877" y="2667614"/>
              <a:ext cx="424296" cy="0"/>
            </a:xfrm>
            <a:prstGeom prst="line">
              <a:avLst/>
            </a:prstGeom>
            <a:ln w="38100">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44" name="Straight Connector 43">
              <a:extLst>
                <a:ext uri="{FF2B5EF4-FFF2-40B4-BE49-F238E27FC236}">
                  <a16:creationId xmlns:a16="http://schemas.microsoft.com/office/drawing/2014/main" id="{21646F05-CA0F-6544-4795-C32D5C9D3BFF}"/>
                </a:ext>
              </a:extLst>
            </p:cNvPr>
            <p:cNvCxnSpPr>
              <a:cxnSpLocks/>
            </p:cNvCxnSpPr>
            <p:nvPr/>
          </p:nvCxnSpPr>
          <p:spPr>
            <a:xfrm>
              <a:off x="3790071" y="1810364"/>
              <a:ext cx="424296" cy="0"/>
            </a:xfrm>
            <a:prstGeom prst="line">
              <a:avLst/>
            </a:prstGeom>
            <a:ln w="38100">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1AFF6981-5275-D3B0-79D7-4DED1A1358FC}"/>
                </a:ext>
              </a:extLst>
            </p:cNvPr>
            <p:cNvCxnSpPr>
              <a:cxnSpLocks/>
            </p:cNvCxnSpPr>
            <p:nvPr/>
          </p:nvCxnSpPr>
          <p:spPr>
            <a:xfrm>
              <a:off x="3080025" y="3067413"/>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46" name="Straight Connector 45">
              <a:extLst>
                <a:ext uri="{FF2B5EF4-FFF2-40B4-BE49-F238E27FC236}">
                  <a16:creationId xmlns:a16="http://schemas.microsoft.com/office/drawing/2014/main" id="{F136EA01-29DE-54DC-8AEA-41C07B5DA04D}"/>
                </a:ext>
              </a:extLst>
            </p:cNvPr>
            <p:cNvCxnSpPr>
              <a:cxnSpLocks/>
            </p:cNvCxnSpPr>
            <p:nvPr/>
          </p:nvCxnSpPr>
          <p:spPr>
            <a:xfrm>
              <a:off x="3188264" y="3256432"/>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47" name="Straight Connector 46">
              <a:extLst>
                <a:ext uri="{FF2B5EF4-FFF2-40B4-BE49-F238E27FC236}">
                  <a16:creationId xmlns:a16="http://schemas.microsoft.com/office/drawing/2014/main" id="{2D546E31-6B7A-2849-AECE-5F68828E3925}"/>
                </a:ext>
              </a:extLst>
            </p:cNvPr>
            <p:cNvCxnSpPr>
              <a:cxnSpLocks/>
            </p:cNvCxnSpPr>
            <p:nvPr/>
          </p:nvCxnSpPr>
          <p:spPr>
            <a:xfrm>
              <a:off x="2915503" y="2970682"/>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48" name="Straight Connector 47">
              <a:extLst>
                <a:ext uri="{FF2B5EF4-FFF2-40B4-BE49-F238E27FC236}">
                  <a16:creationId xmlns:a16="http://schemas.microsoft.com/office/drawing/2014/main" id="{FDD86D54-D5C8-D760-8940-5141EDE83856}"/>
                </a:ext>
              </a:extLst>
            </p:cNvPr>
            <p:cNvCxnSpPr>
              <a:cxnSpLocks/>
            </p:cNvCxnSpPr>
            <p:nvPr/>
          </p:nvCxnSpPr>
          <p:spPr>
            <a:xfrm>
              <a:off x="3045389" y="3366152"/>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49" name="Straight Connector 48">
              <a:extLst>
                <a:ext uri="{FF2B5EF4-FFF2-40B4-BE49-F238E27FC236}">
                  <a16:creationId xmlns:a16="http://schemas.microsoft.com/office/drawing/2014/main" id="{F54F25A5-F541-5C1B-F261-26F53FEBC84F}"/>
                </a:ext>
              </a:extLst>
            </p:cNvPr>
            <p:cNvCxnSpPr>
              <a:cxnSpLocks/>
            </p:cNvCxnSpPr>
            <p:nvPr/>
          </p:nvCxnSpPr>
          <p:spPr>
            <a:xfrm>
              <a:off x="3634208" y="3357493"/>
              <a:ext cx="424296" cy="0"/>
            </a:xfrm>
            <a:prstGeom prst="line">
              <a:avLst/>
            </a:prstGeom>
            <a:ln w="38100">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grpSp>
      <p:sp>
        <p:nvSpPr>
          <p:cNvPr id="50" name="TextBox 49">
            <a:extLst>
              <a:ext uri="{FF2B5EF4-FFF2-40B4-BE49-F238E27FC236}">
                <a16:creationId xmlns:a16="http://schemas.microsoft.com/office/drawing/2014/main" id="{E78ECB4E-1790-6F34-6B55-9838E4F07F2E}"/>
              </a:ext>
            </a:extLst>
          </p:cNvPr>
          <p:cNvSpPr txBox="1"/>
          <p:nvPr/>
        </p:nvSpPr>
        <p:spPr>
          <a:xfrm>
            <a:off x="102875" y="4399996"/>
            <a:ext cx="1842668" cy="584775"/>
          </a:xfrm>
          <a:prstGeom prst="rect">
            <a:avLst/>
          </a:prstGeom>
          <a:noFill/>
        </p:spPr>
        <p:txBody>
          <a:bodyPr wrap="square" rtlCol="0">
            <a:spAutoFit/>
          </a:bodyPr>
          <a:lstStyle/>
          <a:p>
            <a:r>
              <a:rPr lang="en-DK" sz="1600" dirty="0"/>
              <a:t>High quality host removed reads</a:t>
            </a:r>
          </a:p>
        </p:txBody>
      </p:sp>
      <p:sp>
        <p:nvSpPr>
          <p:cNvPr id="51" name="Right Arrow 50">
            <a:extLst>
              <a:ext uri="{FF2B5EF4-FFF2-40B4-BE49-F238E27FC236}">
                <a16:creationId xmlns:a16="http://schemas.microsoft.com/office/drawing/2014/main" id="{6ADB97BE-9B47-CA6E-960D-97FB4156521B}"/>
              </a:ext>
            </a:extLst>
          </p:cNvPr>
          <p:cNvSpPr/>
          <p:nvPr/>
        </p:nvSpPr>
        <p:spPr>
          <a:xfrm>
            <a:off x="1997064" y="3321950"/>
            <a:ext cx="551598" cy="37450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52" name="TextBox 51">
            <a:extLst>
              <a:ext uri="{FF2B5EF4-FFF2-40B4-BE49-F238E27FC236}">
                <a16:creationId xmlns:a16="http://schemas.microsoft.com/office/drawing/2014/main" id="{56B24CB3-8D7B-4371-B11B-B2DEA577A36E}"/>
              </a:ext>
            </a:extLst>
          </p:cNvPr>
          <p:cNvSpPr txBox="1"/>
          <p:nvPr/>
        </p:nvSpPr>
        <p:spPr>
          <a:xfrm>
            <a:off x="1719102" y="2952596"/>
            <a:ext cx="1222675" cy="369332"/>
          </a:xfrm>
          <a:prstGeom prst="rect">
            <a:avLst/>
          </a:prstGeom>
          <a:noFill/>
        </p:spPr>
        <p:txBody>
          <a:bodyPr wrap="square" rtlCol="0">
            <a:spAutoFit/>
          </a:bodyPr>
          <a:lstStyle/>
          <a:p>
            <a:r>
              <a:rPr lang="en-DK" b="1" dirty="0"/>
              <a:t>Assembly</a:t>
            </a:r>
          </a:p>
        </p:txBody>
      </p:sp>
      <p:cxnSp>
        <p:nvCxnSpPr>
          <p:cNvPr id="53" name="Straight Connector 52">
            <a:extLst>
              <a:ext uri="{FF2B5EF4-FFF2-40B4-BE49-F238E27FC236}">
                <a16:creationId xmlns:a16="http://schemas.microsoft.com/office/drawing/2014/main" id="{DE40726E-A365-594A-F655-5D7A5B0BD8DE}"/>
              </a:ext>
            </a:extLst>
          </p:cNvPr>
          <p:cNvCxnSpPr>
            <a:cxnSpLocks/>
          </p:cNvCxnSpPr>
          <p:nvPr/>
        </p:nvCxnSpPr>
        <p:spPr>
          <a:xfrm>
            <a:off x="3199825" y="2583071"/>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54" name="Straight Connector 53">
            <a:extLst>
              <a:ext uri="{FF2B5EF4-FFF2-40B4-BE49-F238E27FC236}">
                <a16:creationId xmlns:a16="http://schemas.microsoft.com/office/drawing/2014/main" id="{4B5180A1-6C36-1EC6-C82C-8E4801B73CA0}"/>
              </a:ext>
            </a:extLst>
          </p:cNvPr>
          <p:cNvCxnSpPr>
            <a:cxnSpLocks/>
          </p:cNvCxnSpPr>
          <p:nvPr/>
        </p:nvCxnSpPr>
        <p:spPr>
          <a:xfrm>
            <a:off x="3484712" y="3142265"/>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55" name="Straight Connector 54">
            <a:extLst>
              <a:ext uri="{FF2B5EF4-FFF2-40B4-BE49-F238E27FC236}">
                <a16:creationId xmlns:a16="http://schemas.microsoft.com/office/drawing/2014/main" id="{80630450-C31A-AD7F-CD4B-986CE837983F}"/>
              </a:ext>
            </a:extLst>
          </p:cNvPr>
          <p:cNvCxnSpPr>
            <a:cxnSpLocks/>
          </p:cNvCxnSpPr>
          <p:nvPr/>
        </p:nvCxnSpPr>
        <p:spPr>
          <a:xfrm>
            <a:off x="3340967" y="2656897"/>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56" name="Straight Connector 55">
            <a:extLst>
              <a:ext uri="{FF2B5EF4-FFF2-40B4-BE49-F238E27FC236}">
                <a16:creationId xmlns:a16="http://schemas.microsoft.com/office/drawing/2014/main" id="{CD354B7F-FCFF-BEAA-72EF-FE1297B35FD9}"/>
              </a:ext>
            </a:extLst>
          </p:cNvPr>
          <p:cNvCxnSpPr>
            <a:cxnSpLocks/>
          </p:cNvCxnSpPr>
          <p:nvPr/>
        </p:nvCxnSpPr>
        <p:spPr>
          <a:xfrm>
            <a:off x="3680405" y="3221669"/>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57" name="Straight Connector 56">
            <a:extLst>
              <a:ext uri="{FF2B5EF4-FFF2-40B4-BE49-F238E27FC236}">
                <a16:creationId xmlns:a16="http://schemas.microsoft.com/office/drawing/2014/main" id="{2656FD52-D49E-2DC8-C0AE-C8E17CB5FDC9}"/>
              </a:ext>
            </a:extLst>
          </p:cNvPr>
          <p:cNvCxnSpPr>
            <a:cxnSpLocks/>
          </p:cNvCxnSpPr>
          <p:nvPr/>
        </p:nvCxnSpPr>
        <p:spPr>
          <a:xfrm>
            <a:off x="3484712" y="2726172"/>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58" name="Straight Connector 57">
            <a:extLst>
              <a:ext uri="{FF2B5EF4-FFF2-40B4-BE49-F238E27FC236}">
                <a16:creationId xmlns:a16="http://schemas.microsoft.com/office/drawing/2014/main" id="{0C036F1D-E1C8-55A0-3761-1EA8BA76E9C2}"/>
              </a:ext>
            </a:extLst>
          </p:cNvPr>
          <p:cNvCxnSpPr>
            <a:cxnSpLocks/>
          </p:cNvCxnSpPr>
          <p:nvPr/>
        </p:nvCxnSpPr>
        <p:spPr>
          <a:xfrm>
            <a:off x="3359154" y="3055408"/>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59" name="Straight Connector 58">
            <a:extLst>
              <a:ext uri="{FF2B5EF4-FFF2-40B4-BE49-F238E27FC236}">
                <a16:creationId xmlns:a16="http://schemas.microsoft.com/office/drawing/2014/main" id="{A50F929A-6B0F-CE78-BAF2-AB3A7BA33860}"/>
              </a:ext>
            </a:extLst>
          </p:cNvPr>
          <p:cNvCxnSpPr/>
          <p:nvPr/>
        </p:nvCxnSpPr>
        <p:spPr>
          <a:xfrm>
            <a:off x="3188568" y="2513113"/>
            <a:ext cx="1205345"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60" name="Straight Connector 59">
            <a:extLst>
              <a:ext uri="{FF2B5EF4-FFF2-40B4-BE49-F238E27FC236}">
                <a16:creationId xmlns:a16="http://schemas.microsoft.com/office/drawing/2014/main" id="{32A0C47E-FAFD-9D4F-5E43-48E2279A8E3B}"/>
              </a:ext>
            </a:extLst>
          </p:cNvPr>
          <p:cNvCxnSpPr/>
          <p:nvPr/>
        </p:nvCxnSpPr>
        <p:spPr>
          <a:xfrm>
            <a:off x="3232731" y="2980484"/>
            <a:ext cx="1205345" cy="0"/>
          </a:xfrm>
          <a:prstGeom prst="line">
            <a:avLst/>
          </a:prstGeom>
          <a:ln w="38100"/>
        </p:spPr>
        <p:style>
          <a:lnRef idx="2">
            <a:schemeClr val="accent1"/>
          </a:lnRef>
          <a:fillRef idx="0">
            <a:schemeClr val="accent1"/>
          </a:fillRef>
          <a:effectRef idx="1">
            <a:schemeClr val="accent1"/>
          </a:effectRef>
          <a:fontRef idx="minor">
            <a:schemeClr val="tx1"/>
          </a:fontRef>
        </p:style>
      </p:cxnSp>
      <p:sp>
        <p:nvSpPr>
          <p:cNvPr id="61" name="TextBox 60">
            <a:extLst>
              <a:ext uri="{FF2B5EF4-FFF2-40B4-BE49-F238E27FC236}">
                <a16:creationId xmlns:a16="http://schemas.microsoft.com/office/drawing/2014/main" id="{DC75D612-8DE1-D90C-C2A3-3FCBEAB6BF63}"/>
              </a:ext>
            </a:extLst>
          </p:cNvPr>
          <p:cNvSpPr txBox="1"/>
          <p:nvPr/>
        </p:nvSpPr>
        <p:spPr>
          <a:xfrm>
            <a:off x="3106310" y="2230792"/>
            <a:ext cx="1496298" cy="307777"/>
          </a:xfrm>
          <a:prstGeom prst="rect">
            <a:avLst/>
          </a:prstGeom>
          <a:noFill/>
        </p:spPr>
        <p:txBody>
          <a:bodyPr wrap="square" rtlCol="0">
            <a:spAutoFit/>
          </a:bodyPr>
          <a:lstStyle/>
          <a:p>
            <a:r>
              <a:rPr lang="en-DK" sz="1400" dirty="0">
                <a:solidFill>
                  <a:schemeClr val="tx2">
                    <a:lumMod val="75000"/>
                    <a:lumOff val="25000"/>
                  </a:schemeClr>
                </a:solidFill>
              </a:rPr>
              <a:t>Contig 1</a:t>
            </a:r>
          </a:p>
        </p:txBody>
      </p:sp>
      <p:sp>
        <p:nvSpPr>
          <p:cNvPr id="62" name="TextBox 61">
            <a:extLst>
              <a:ext uri="{FF2B5EF4-FFF2-40B4-BE49-F238E27FC236}">
                <a16:creationId xmlns:a16="http://schemas.microsoft.com/office/drawing/2014/main" id="{1C9FD56D-6C16-DEBB-DC31-14E6D00D0190}"/>
              </a:ext>
            </a:extLst>
          </p:cNvPr>
          <p:cNvSpPr txBox="1"/>
          <p:nvPr/>
        </p:nvSpPr>
        <p:spPr>
          <a:xfrm>
            <a:off x="3134887" y="2701686"/>
            <a:ext cx="1496298" cy="307777"/>
          </a:xfrm>
          <a:prstGeom prst="rect">
            <a:avLst/>
          </a:prstGeom>
          <a:noFill/>
        </p:spPr>
        <p:txBody>
          <a:bodyPr wrap="square" rtlCol="0">
            <a:spAutoFit/>
          </a:bodyPr>
          <a:lstStyle/>
          <a:p>
            <a:r>
              <a:rPr lang="en-DK" sz="1400" dirty="0">
                <a:solidFill>
                  <a:schemeClr val="tx2">
                    <a:lumMod val="75000"/>
                    <a:lumOff val="25000"/>
                  </a:schemeClr>
                </a:solidFill>
              </a:rPr>
              <a:t>Contig 2</a:t>
            </a:r>
          </a:p>
        </p:txBody>
      </p:sp>
      <p:cxnSp>
        <p:nvCxnSpPr>
          <p:cNvPr id="63" name="Straight Connector 62">
            <a:extLst>
              <a:ext uri="{FF2B5EF4-FFF2-40B4-BE49-F238E27FC236}">
                <a16:creationId xmlns:a16="http://schemas.microsoft.com/office/drawing/2014/main" id="{611A89E4-91E4-0D4A-4859-02B9B3F055D5}"/>
              </a:ext>
            </a:extLst>
          </p:cNvPr>
          <p:cNvCxnSpPr>
            <a:cxnSpLocks/>
          </p:cNvCxnSpPr>
          <p:nvPr/>
        </p:nvCxnSpPr>
        <p:spPr>
          <a:xfrm>
            <a:off x="2794593" y="3712231"/>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64" name="Straight Connector 63">
            <a:extLst>
              <a:ext uri="{FF2B5EF4-FFF2-40B4-BE49-F238E27FC236}">
                <a16:creationId xmlns:a16="http://schemas.microsoft.com/office/drawing/2014/main" id="{68D5BA8B-6E81-F08A-EE83-4096792FE9E7}"/>
              </a:ext>
            </a:extLst>
          </p:cNvPr>
          <p:cNvCxnSpPr>
            <a:cxnSpLocks/>
          </p:cNvCxnSpPr>
          <p:nvPr/>
        </p:nvCxnSpPr>
        <p:spPr>
          <a:xfrm>
            <a:off x="3079480" y="4285280"/>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65" name="Straight Connector 64">
            <a:extLst>
              <a:ext uri="{FF2B5EF4-FFF2-40B4-BE49-F238E27FC236}">
                <a16:creationId xmlns:a16="http://schemas.microsoft.com/office/drawing/2014/main" id="{FE6D2AF4-E521-4783-AF2D-D8EA74D67B9E}"/>
              </a:ext>
            </a:extLst>
          </p:cNvPr>
          <p:cNvCxnSpPr>
            <a:cxnSpLocks/>
          </p:cNvCxnSpPr>
          <p:nvPr/>
        </p:nvCxnSpPr>
        <p:spPr>
          <a:xfrm>
            <a:off x="2935735" y="3786057"/>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66" name="Straight Connector 65">
            <a:extLst>
              <a:ext uri="{FF2B5EF4-FFF2-40B4-BE49-F238E27FC236}">
                <a16:creationId xmlns:a16="http://schemas.microsoft.com/office/drawing/2014/main" id="{5529C9A5-D2CC-F457-034E-9FADAD43451F}"/>
              </a:ext>
            </a:extLst>
          </p:cNvPr>
          <p:cNvCxnSpPr>
            <a:cxnSpLocks/>
          </p:cNvCxnSpPr>
          <p:nvPr/>
        </p:nvCxnSpPr>
        <p:spPr>
          <a:xfrm>
            <a:off x="3275173" y="4364684"/>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67" name="Straight Connector 66">
            <a:extLst>
              <a:ext uri="{FF2B5EF4-FFF2-40B4-BE49-F238E27FC236}">
                <a16:creationId xmlns:a16="http://schemas.microsoft.com/office/drawing/2014/main" id="{C14B6F4B-7E26-C003-A8D9-FCC943A18B97}"/>
              </a:ext>
            </a:extLst>
          </p:cNvPr>
          <p:cNvCxnSpPr>
            <a:cxnSpLocks/>
          </p:cNvCxnSpPr>
          <p:nvPr/>
        </p:nvCxnSpPr>
        <p:spPr>
          <a:xfrm>
            <a:off x="3079480" y="3855332"/>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68" name="Straight Connector 67">
            <a:extLst>
              <a:ext uri="{FF2B5EF4-FFF2-40B4-BE49-F238E27FC236}">
                <a16:creationId xmlns:a16="http://schemas.microsoft.com/office/drawing/2014/main" id="{29303C20-BE04-A114-F586-D2D936DA6D03}"/>
              </a:ext>
            </a:extLst>
          </p:cNvPr>
          <p:cNvCxnSpPr>
            <a:cxnSpLocks/>
          </p:cNvCxnSpPr>
          <p:nvPr/>
        </p:nvCxnSpPr>
        <p:spPr>
          <a:xfrm>
            <a:off x="2953922" y="4198423"/>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69" name="Straight Connector 68">
            <a:extLst>
              <a:ext uri="{FF2B5EF4-FFF2-40B4-BE49-F238E27FC236}">
                <a16:creationId xmlns:a16="http://schemas.microsoft.com/office/drawing/2014/main" id="{F4FC9E09-F0B3-E41C-633C-64F187A72F97}"/>
              </a:ext>
            </a:extLst>
          </p:cNvPr>
          <p:cNvCxnSpPr/>
          <p:nvPr/>
        </p:nvCxnSpPr>
        <p:spPr>
          <a:xfrm>
            <a:off x="2783336" y="3642273"/>
            <a:ext cx="1205345"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70" name="Straight Connector 69">
            <a:extLst>
              <a:ext uri="{FF2B5EF4-FFF2-40B4-BE49-F238E27FC236}">
                <a16:creationId xmlns:a16="http://schemas.microsoft.com/office/drawing/2014/main" id="{11E9C97A-7C0A-DC85-5DCE-9C4BFDB1710A}"/>
              </a:ext>
            </a:extLst>
          </p:cNvPr>
          <p:cNvCxnSpPr/>
          <p:nvPr/>
        </p:nvCxnSpPr>
        <p:spPr>
          <a:xfrm>
            <a:off x="2827499" y="4123499"/>
            <a:ext cx="1205345"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sp>
        <p:nvSpPr>
          <p:cNvPr id="71" name="TextBox 70">
            <a:extLst>
              <a:ext uri="{FF2B5EF4-FFF2-40B4-BE49-F238E27FC236}">
                <a16:creationId xmlns:a16="http://schemas.microsoft.com/office/drawing/2014/main" id="{8EB7F682-1EA6-E1E9-DEC1-3DAC4FD598D0}"/>
              </a:ext>
            </a:extLst>
          </p:cNvPr>
          <p:cNvSpPr txBox="1"/>
          <p:nvPr/>
        </p:nvSpPr>
        <p:spPr>
          <a:xfrm>
            <a:off x="2701078" y="3373807"/>
            <a:ext cx="1496298" cy="307777"/>
          </a:xfrm>
          <a:prstGeom prst="rect">
            <a:avLst/>
          </a:prstGeom>
          <a:noFill/>
        </p:spPr>
        <p:txBody>
          <a:bodyPr wrap="square" rtlCol="0">
            <a:spAutoFit/>
          </a:bodyPr>
          <a:lstStyle/>
          <a:p>
            <a:r>
              <a:rPr lang="en-DK" sz="1400" dirty="0">
                <a:solidFill>
                  <a:srgbClr val="FF0000"/>
                </a:solidFill>
              </a:rPr>
              <a:t>Contig 12</a:t>
            </a:r>
          </a:p>
        </p:txBody>
      </p:sp>
      <p:sp>
        <p:nvSpPr>
          <p:cNvPr id="72" name="TextBox 71">
            <a:extLst>
              <a:ext uri="{FF2B5EF4-FFF2-40B4-BE49-F238E27FC236}">
                <a16:creationId xmlns:a16="http://schemas.microsoft.com/office/drawing/2014/main" id="{94ED3E29-3C70-6C18-B4F3-03F9F6447328}"/>
              </a:ext>
            </a:extLst>
          </p:cNvPr>
          <p:cNvSpPr txBox="1"/>
          <p:nvPr/>
        </p:nvSpPr>
        <p:spPr>
          <a:xfrm>
            <a:off x="2729655" y="3844702"/>
            <a:ext cx="1077173" cy="307777"/>
          </a:xfrm>
          <a:prstGeom prst="rect">
            <a:avLst/>
          </a:prstGeom>
          <a:noFill/>
        </p:spPr>
        <p:txBody>
          <a:bodyPr wrap="square" rtlCol="0">
            <a:spAutoFit/>
          </a:bodyPr>
          <a:lstStyle/>
          <a:p>
            <a:r>
              <a:rPr lang="en-DK" sz="1400" dirty="0">
                <a:solidFill>
                  <a:srgbClr val="FF0000"/>
                </a:solidFill>
              </a:rPr>
              <a:t>Contig 44</a:t>
            </a:r>
          </a:p>
        </p:txBody>
      </p:sp>
      <p:cxnSp>
        <p:nvCxnSpPr>
          <p:cNvPr id="73" name="Straight Connector 72">
            <a:extLst>
              <a:ext uri="{FF2B5EF4-FFF2-40B4-BE49-F238E27FC236}">
                <a16:creationId xmlns:a16="http://schemas.microsoft.com/office/drawing/2014/main" id="{999B9112-1496-0751-F0F6-BA00EB1260B6}"/>
              </a:ext>
            </a:extLst>
          </p:cNvPr>
          <p:cNvCxnSpPr>
            <a:cxnSpLocks/>
          </p:cNvCxnSpPr>
          <p:nvPr/>
        </p:nvCxnSpPr>
        <p:spPr>
          <a:xfrm>
            <a:off x="3482993" y="4433954"/>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74" name="Straight Connector 73">
            <a:extLst>
              <a:ext uri="{FF2B5EF4-FFF2-40B4-BE49-F238E27FC236}">
                <a16:creationId xmlns:a16="http://schemas.microsoft.com/office/drawing/2014/main" id="{6C32CAB1-0B28-2F1E-6B3C-05E808B7422F}"/>
              </a:ext>
            </a:extLst>
          </p:cNvPr>
          <p:cNvCxnSpPr>
            <a:cxnSpLocks/>
          </p:cNvCxnSpPr>
          <p:nvPr/>
        </p:nvCxnSpPr>
        <p:spPr>
          <a:xfrm>
            <a:off x="3120178" y="4952823"/>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75" name="Straight Connector 74">
            <a:extLst>
              <a:ext uri="{FF2B5EF4-FFF2-40B4-BE49-F238E27FC236}">
                <a16:creationId xmlns:a16="http://schemas.microsoft.com/office/drawing/2014/main" id="{B3A49FF7-2A76-D4DA-1A56-F606AF209D66}"/>
              </a:ext>
            </a:extLst>
          </p:cNvPr>
          <p:cNvCxnSpPr>
            <a:cxnSpLocks/>
          </p:cNvCxnSpPr>
          <p:nvPr/>
        </p:nvCxnSpPr>
        <p:spPr>
          <a:xfrm>
            <a:off x="3405065" y="5525872"/>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76" name="Straight Connector 75">
            <a:extLst>
              <a:ext uri="{FF2B5EF4-FFF2-40B4-BE49-F238E27FC236}">
                <a16:creationId xmlns:a16="http://schemas.microsoft.com/office/drawing/2014/main" id="{AE7648D1-2BC7-AF00-E66E-0B246985E2CF}"/>
              </a:ext>
            </a:extLst>
          </p:cNvPr>
          <p:cNvCxnSpPr>
            <a:cxnSpLocks/>
          </p:cNvCxnSpPr>
          <p:nvPr/>
        </p:nvCxnSpPr>
        <p:spPr>
          <a:xfrm>
            <a:off x="3261320" y="5026649"/>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77" name="Straight Connector 76">
            <a:extLst>
              <a:ext uri="{FF2B5EF4-FFF2-40B4-BE49-F238E27FC236}">
                <a16:creationId xmlns:a16="http://schemas.microsoft.com/office/drawing/2014/main" id="{5F203E06-FB0D-9890-F47F-CFB6F50B6AE5}"/>
              </a:ext>
            </a:extLst>
          </p:cNvPr>
          <p:cNvCxnSpPr>
            <a:cxnSpLocks/>
          </p:cNvCxnSpPr>
          <p:nvPr/>
        </p:nvCxnSpPr>
        <p:spPr>
          <a:xfrm>
            <a:off x="3600758" y="5605276"/>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78" name="Straight Connector 77">
            <a:extLst>
              <a:ext uri="{FF2B5EF4-FFF2-40B4-BE49-F238E27FC236}">
                <a16:creationId xmlns:a16="http://schemas.microsoft.com/office/drawing/2014/main" id="{46DDF094-35F5-88BD-9A2E-6C1F285120A0}"/>
              </a:ext>
            </a:extLst>
          </p:cNvPr>
          <p:cNvCxnSpPr>
            <a:cxnSpLocks/>
          </p:cNvCxnSpPr>
          <p:nvPr/>
        </p:nvCxnSpPr>
        <p:spPr>
          <a:xfrm>
            <a:off x="3405065" y="5095924"/>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79" name="Straight Connector 78">
            <a:extLst>
              <a:ext uri="{FF2B5EF4-FFF2-40B4-BE49-F238E27FC236}">
                <a16:creationId xmlns:a16="http://schemas.microsoft.com/office/drawing/2014/main" id="{665801B7-7205-48FB-95DF-B610908D0DFB}"/>
              </a:ext>
            </a:extLst>
          </p:cNvPr>
          <p:cNvCxnSpPr>
            <a:cxnSpLocks/>
          </p:cNvCxnSpPr>
          <p:nvPr/>
        </p:nvCxnSpPr>
        <p:spPr>
          <a:xfrm>
            <a:off x="3279507" y="5439015"/>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80" name="Straight Connector 79">
            <a:extLst>
              <a:ext uri="{FF2B5EF4-FFF2-40B4-BE49-F238E27FC236}">
                <a16:creationId xmlns:a16="http://schemas.microsoft.com/office/drawing/2014/main" id="{F9BDABDD-5334-02C2-9214-D2CC259440E9}"/>
              </a:ext>
            </a:extLst>
          </p:cNvPr>
          <p:cNvCxnSpPr/>
          <p:nvPr/>
        </p:nvCxnSpPr>
        <p:spPr>
          <a:xfrm>
            <a:off x="3108921" y="4882865"/>
            <a:ext cx="1205345"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81" name="Straight Connector 80">
            <a:extLst>
              <a:ext uri="{FF2B5EF4-FFF2-40B4-BE49-F238E27FC236}">
                <a16:creationId xmlns:a16="http://schemas.microsoft.com/office/drawing/2014/main" id="{11594100-F3F2-1C0E-3ABF-0646F82360D6}"/>
              </a:ext>
            </a:extLst>
          </p:cNvPr>
          <p:cNvCxnSpPr/>
          <p:nvPr/>
        </p:nvCxnSpPr>
        <p:spPr>
          <a:xfrm>
            <a:off x="3153084" y="5364091"/>
            <a:ext cx="1205345"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sp>
        <p:nvSpPr>
          <p:cNvPr id="82" name="TextBox 81">
            <a:extLst>
              <a:ext uri="{FF2B5EF4-FFF2-40B4-BE49-F238E27FC236}">
                <a16:creationId xmlns:a16="http://schemas.microsoft.com/office/drawing/2014/main" id="{FD99730F-B35C-0EB9-1F15-67669E7BA68C}"/>
              </a:ext>
            </a:extLst>
          </p:cNvPr>
          <p:cNvSpPr txBox="1"/>
          <p:nvPr/>
        </p:nvSpPr>
        <p:spPr>
          <a:xfrm>
            <a:off x="3013675" y="5085294"/>
            <a:ext cx="1077173" cy="307777"/>
          </a:xfrm>
          <a:prstGeom prst="rect">
            <a:avLst/>
          </a:prstGeom>
          <a:noFill/>
        </p:spPr>
        <p:txBody>
          <a:bodyPr wrap="square" rtlCol="0">
            <a:spAutoFit/>
          </a:bodyPr>
          <a:lstStyle/>
          <a:p>
            <a:r>
              <a:rPr lang="en-DK" sz="1400" dirty="0">
                <a:solidFill>
                  <a:schemeClr val="accent3"/>
                </a:solidFill>
              </a:rPr>
              <a:t>Contig 77</a:t>
            </a:r>
          </a:p>
        </p:txBody>
      </p:sp>
      <p:sp>
        <p:nvSpPr>
          <p:cNvPr id="84" name="TextBox 83">
            <a:extLst>
              <a:ext uri="{FF2B5EF4-FFF2-40B4-BE49-F238E27FC236}">
                <a16:creationId xmlns:a16="http://schemas.microsoft.com/office/drawing/2014/main" id="{925BE0B6-CDDA-F11D-71BE-00B1EE6BA471}"/>
              </a:ext>
            </a:extLst>
          </p:cNvPr>
          <p:cNvSpPr txBox="1"/>
          <p:nvPr/>
        </p:nvSpPr>
        <p:spPr>
          <a:xfrm>
            <a:off x="3027528" y="4614237"/>
            <a:ext cx="1077173" cy="307777"/>
          </a:xfrm>
          <a:prstGeom prst="rect">
            <a:avLst/>
          </a:prstGeom>
          <a:noFill/>
        </p:spPr>
        <p:txBody>
          <a:bodyPr wrap="square" rtlCol="0">
            <a:spAutoFit/>
          </a:bodyPr>
          <a:lstStyle/>
          <a:p>
            <a:r>
              <a:rPr lang="en-DK" sz="1400" dirty="0">
                <a:solidFill>
                  <a:schemeClr val="accent3"/>
                </a:solidFill>
              </a:rPr>
              <a:t>Contig 23</a:t>
            </a:r>
          </a:p>
        </p:txBody>
      </p:sp>
      <p:sp>
        <p:nvSpPr>
          <p:cNvPr id="85" name="Right Arrow 84">
            <a:extLst>
              <a:ext uri="{FF2B5EF4-FFF2-40B4-BE49-F238E27FC236}">
                <a16:creationId xmlns:a16="http://schemas.microsoft.com/office/drawing/2014/main" id="{1686C850-E2E6-2B1E-81C6-43B5EA18E771}"/>
              </a:ext>
            </a:extLst>
          </p:cNvPr>
          <p:cNvSpPr/>
          <p:nvPr/>
        </p:nvSpPr>
        <p:spPr>
          <a:xfrm>
            <a:off x="4644627" y="3488912"/>
            <a:ext cx="551598" cy="37450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86" name="TextBox 85">
            <a:extLst>
              <a:ext uri="{FF2B5EF4-FFF2-40B4-BE49-F238E27FC236}">
                <a16:creationId xmlns:a16="http://schemas.microsoft.com/office/drawing/2014/main" id="{7FD246D7-7161-DB8A-B4D8-A935E9E08E2F}"/>
              </a:ext>
            </a:extLst>
          </p:cNvPr>
          <p:cNvSpPr txBox="1"/>
          <p:nvPr/>
        </p:nvSpPr>
        <p:spPr>
          <a:xfrm>
            <a:off x="4475335" y="2815049"/>
            <a:ext cx="1222675" cy="646331"/>
          </a:xfrm>
          <a:prstGeom prst="rect">
            <a:avLst/>
          </a:prstGeom>
          <a:noFill/>
        </p:spPr>
        <p:txBody>
          <a:bodyPr wrap="square" rtlCol="0">
            <a:spAutoFit/>
          </a:bodyPr>
          <a:lstStyle/>
          <a:p>
            <a:r>
              <a:rPr lang="en-DK" b="1" dirty="0"/>
              <a:t>Gene calling</a:t>
            </a:r>
          </a:p>
        </p:txBody>
      </p:sp>
      <p:cxnSp>
        <p:nvCxnSpPr>
          <p:cNvPr id="87" name="Straight Connector 86">
            <a:extLst>
              <a:ext uri="{FF2B5EF4-FFF2-40B4-BE49-F238E27FC236}">
                <a16:creationId xmlns:a16="http://schemas.microsoft.com/office/drawing/2014/main" id="{F38317C8-BF26-814A-7E18-17BE2CADD719}"/>
              </a:ext>
            </a:extLst>
          </p:cNvPr>
          <p:cNvCxnSpPr>
            <a:cxnSpLocks/>
          </p:cNvCxnSpPr>
          <p:nvPr/>
        </p:nvCxnSpPr>
        <p:spPr>
          <a:xfrm>
            <a:off x="5544732" y="2458371"/>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88" name="Straight Connector 87">
            <a:extLst>
              <a:ext uri="{FF2B5EF4-FFF2-40B4-BE49-F238E27FC236}">
                <a16:creationId xmlns:a16="http://schemas.microsoft.com/office/drawing/2014/main" id="{9AD8BCEB-4B14-1887-F419-0C964E976A98}"/>
              </a:ext>
            </a:extLst>
          </p:cNvPr>
          <p:cNvCxnSpPr>
            <a:cxnSpLocks/>
          </p:cNvCxnSpPr>
          <p:nvPr/>
        </p:nvCxnSpPr>
        <p:spPr>
          <a:xfrm>
            <a:off x="5544732" y="2536613"/>
            <a:ext cx="82277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89" name="Straight Connector 88">
            <a:extLst>
              <a:ext uri="{FF2B5EF4-FFF2-40B4-BE49-F238E27FC236}">
                <a16:creationId xmlns:a16="http://schemas.microsoft.com/office/drawing/2014/main" id="{DC9F15DC-BF19-60A8-5F90-46FB03840262}"/>
              </a:ext>
            </a:extLst>
          </p:cNvPr>
          <p:cNvCxnSpPr>
            <a:cxnSpLocks/>
          </p:cNvCxnSpPr>
          <p:nvPr/>
        </p:nvCxnSpPr>
        <p:spPr>
          <a:xfrm>
            <a:off x="5544732" y="2614855"/>
            <a:ext cx="585030"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90" name="Straight Connector 89">
            <a:extLst>
              <a:ext uri="{FF2B5EF4-FFF2-40B4-BE49-F238E27FC236}">
                <a16:creationId xmlns:a16="http://schemas.microsoft.com/office/drawing/2014/main" id="{4B2B0BBF-0A31-5E72-7B67-C8DB87E40D3B}"/>
              </a:ext>
            </a:extLst>
          </p:cNvPr>
          <p:cNvCxnSpPr>
            <a:cxnSpLocks/>
          </p:cNvCxnSpPr>
          <p:nvPr/>
        </p:nvCxnSpPr>
        <p:spPr>
          <a:xfrm>
            <a:off x="5544732" y="3006065"/>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91" name="Straight Connector 90">
            <a:extLst>
              <a:ext uri="{FF2B5EF4-FFF2-40B4-BE49-F238E27FC236}">
                <a16:creationId xmlns:a16="http://schemas.microsoft.com/office/drawing/2014/main" id="{2C3B2BEA-8F8B-7F81-36B9-07C62CFD62A9}"/>
              </a:ext>
            </a:extLst>
          </p:cNvPr>
          <p:cNvCxnSpPr>
            <a:cxnSpLocks/>
          </p:cNvCxnSpPr>
          <p:nvPr/>
        </p:nvCxnSpPr>
        <p:spPr>
          <a:xfrm>
            <a:off x="5544732" y="3084307"/>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92" name="Straight Connector 91">
            <a:extLst>
              <a:ext uri="{FF2B5EF4-FFF2-40B4-BE49-F238E27FC236}">
                <a16:creationId xmlns:a16="http://schemas.microsoft.com/office/drawing/2014/main" id="{CC7A7FB3-8B68-A77C-E676-0F50D03D023C}"/>
              </a:ext>
            </a:extLst>
          </p:cNvPr>
          <p:cNvCxnSpPr>
            <a:cxnSpLocks/>
          </p:cNvCxnSpPr>
          <p:nvPr/>
        </p:nvCxnSpPr>
        <p:spPr>
          <a:xfrm>
            <a:off x="5544732" y="2927823"/>
            <a:ext cx="551268"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93" name="Straight Connector 92">
            <a:extLst>
              <a:ext uri="{FF2B5EF4-FFF2-40B4-BE49-F238E27FC236}">
                <a16:creationId xmlns:a16="http://schemas.microsoft.com/office/drawing/2014/main" id="{A0506600-15B0-F122-095C-56156B57F18F}"/>
              </a:ext>
            </a:extLst>
          </p:cNvPr>
          <p:cNvCxnSpPr>
            <a:cxnSpLocks/>
          </p:cNvCxnSpPr>
          <p:nvPr/>
        </p:nvCxnSpPr>
        <p:spPr>
          <a:xfrm>
            <a:off x="7687852" y="2691202"/>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94" name="Straight Connector 93">
            <a:extLst>
              <a:ext uri="{FF2B5EF4-FFF2-40B4-BE49-F238E27FC236}">
                <a16:creationId xmlns:a16="http://schemas.microsoft.com/office/drawing/2014/main" id="{F416ACA5-5649-ED2A-0730-4AFD4AF76946}"/>
              </a:ext>
            </a:extLst>
          </p:cNvPr>
          <p:cNvCxnSpPr>
            <a:cxnSpLocks/>
          </p:cNvCxnSpPr>
          <p:nvPr/>
        </p:nvCxnSpPr>
        <p:spPr>
          <a:xfrm>
            <a:off x="5544732" y="3320779"/>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95" name="Straight Connector 94">
            <a:extLst>
              <a:ext uri="{FF2B5EF4-FFF2-40B4-BE49-F238E27FC236}">
                <a16:creationId xmlns:a16="http://schemas.microsoft.com/office/drawing/2014/main" id="{933D2FC4-D3A4-932E-8CBA-15AA6748A059}"/>
              </a:ext>
            </a:extLst>
          </p:cNvPr>
          <p:cNvCxnSpPr>
            <a:cxnSpLocks/>
          </p:cNvCxnSpPr>
          <p:nvPr/>
        </p:nvCxnSpPr>
        <p:spPr>
          <a:xfrm>
            <a:off x="5544732" y="3399021"/>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96" name="Straight Connector 95">
            <a:extLst>
              <a:ext uri="{FF2B5EF4-FFF2-40B4-BE49-F238E27FC236}">
                <a16:creationId xmlns:a16="http://schemas.microsoft.com/office/drawing/2014/main" id="{65CB0554-7888-1099-34D7-94CC08D862A8}"/>
              </a:ext>
            </a:extLst>
          </p:cNvPr>
          <p:cNvCxnSpPr>
            <a:cxnSpLocks/>
          </p:cNvCxnSpPr>
          <p:nvPr/>
        </p:nvCxnSpPr>
        <p:spPr>
          <a:xfrm>
            <a:off x="5544732" y="3242537"/>
            <a:ext cx="551268"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97" name="Straight Connector 96">
            <a:extLst>
              <a:ext uri="{FF2B5EF4-FFF2-40B4-BE49-F238E27FC236}">
                <a16:creationId xmlns:a16="http://schemas.microsoft.com/office/drawing/2014/main" id="{49BFEFBF-3BDB-E80E-6A61-9E6A53B54B01}"/>
              </a:ext>
            </a:extLst>
          </p:cNvPr>
          <p:cNvCxnSpPr>
            <a:cxnSpLocks/>
          </p:cNvCxnSpPr>
          <p:nvPr/>
        </p:nvCxnSpPr>
        <p:spPr>
          <a:xfrm>
            <a:off x="5544732" y="3477263"/>
            <a:ext cx="742637" cy="10134"/>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98" name="Straight Connector 97">
            <a:extLst>
              <a:ext uri="{FF2B5EF4-FFF2-40B4-BE49-F238E27FC236}">
                <a16:creationId xmlns:a16="http://schemas.microsoft.com/office/drawing/2014/main" id="{277BE4C4-D346-FFE8-4D06-D66292E2B3C4}"/>
              </a:ext>
            </a:extLst>
          </p:cNvPr>
          <p:cNvCxnSpPr>
            <a:cxnSpLocks/>
          </p:cNvCxnSpPr>
          <p:nvPr/>
        </p:nvCxnSpPr>
        <p:spPr>
          <a:xfrm>
            <a:off x="5544732" y="2693097"/>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99" name="Straight Connector 98">
            <a:extLst>
              <a:ext uri="{FF2B5EF4-FFF2-40B4-BE49-F238E27FC236}">
                <a16:creationId xmlns:a16="http://schemas.microsoft.com/office/drawing/2014/main" id="{5546B85C-5B65-29A7-8AE1-1BEA53A2ABDD}"/>
              </a:ext>
            </a:extLst>
          </p:cNvPr>
          <p:cNvCxnSpPr>
            <a:cxnSpLocks/>
          </p:cNvCxnSpPr>
          <p:nvPr/>
        </p:nvCxnSpPr>
        <p:spPr>
          <a:xfrm>
            <a:off x="5544732" y="2771339"/>
            <a:ext cx="621747"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00" name="Straight Connector 99">
            <a:extLst>
              <a:ext uri="{FF2B5EF4-FFF2-40B4-BE49-F238E27FC236}">
                <a16:creationId xmlns:a16="http://schemas.microsoft.com/office/drawing/2014/main" id="{34F9EF35-9ABE-CD91-71C5-2E4FD5629FD0}"/>
              </a:ext>
            </a:extLst>
          </p:cNvPr>
          <p:cNvCxnSpPr>
            <a:cxnSpLocks/>
          </p:cNvCxnSpPr>
          <p:nvPr/>
        </p:nvCxnSpPr>
        <p:spPr>
          <a:xfrm>
            <a:off x="5544732" y="2849581"/>
            <a:ext cx="630402"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11" name="Straight Connector 110">
            <a:extLst>
              <a:ext uri="{FF2B5EF4-FFF2-40B4-BE49-F238E27FC236}">
                <a16:creationId xmlns:a16="http://schemas.microsoft.com/office/drawing/2014/main" id="{F818B8F5-9815-8772-9DD8-507437D8B7D6}"/>
              </a:ext>
            </a:extLst>
          </p:cNvPr>
          <p:cNvCxnSpPr>
            <a:cxnSpLocks/>
          </p:cNvCxnSpPr>
          <p:nvPr/>
        </p:nvCxnSpPr>
        <p:spPr>
          <a:xfrm>
            <a:off x="5544732" y="3565639"/>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112" name="Straight Connector 111">
            <a:extLst>
              <a:ext uri="{FF2B5EF4-FFF2-40B4-BE49-F238E27FC236}">
                <a16:creationId xmlns:a16="http://schemas.microsoft.com/office/drawing/2014/main" id="{A9E2CAFD-B16F-942C-66A3-2BEEF970FD56}"/>
              </a:ext>
            </a:extLst>
          </p:cNvPr>
          <p:cNvCxnSpPr>
            <a:cxnSpLocks/>
          </p:cNvCxnSpPr>
          <p:nvPr/>
        </p:nvCxnSpPr>
        <p:spPr>
          <a:xfrm>
            <a:off x="5544732" y="3643881"/>
            <a:ext cx="64841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113" name="Straight Connector 112">
            <a:extLst>
              <a:ext uri="{FF2B5EF4-FFF2-40B4-BE49-F238E27FC236}">
                <a16:creationId xmlns:a16="http://schemas.microsoft.com/office/drawing/2014/main" id="{EE218703-64F7-AF9C-7BBF-9FD4B0A1E237}"/>
              </a:ext>
            </a:extLst>
          </p:cNvPr>
          <p:cNvCxnSpPr>
            <a:cxnSpLocks/>
          </p:cNvCxnSpPr>
          <p:nvPr/>
        </p:nvCxnSpPr>
        <p:spPr>
          <a:xfrm>
            <a:off x="5544732" y="3722123"/>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114" name="Straight Connector 113">
            <a:extLst>
              <a:ext uri="{FF2B5EF4-FFF2-40B4-BE49-F238E27FC236}">
                <a16:creationId xmlns:a16="http://schemas.microsoft.com/office/drawing/2014/main" id="{AB12B593-CC0C-E3D3-48FD-07315B7E8396}"/>
              </a:ext>
            </a:extLst>
          </p:cNvPr>
          <p:cNvCxnSpPr>
            <a:cxnSpLocks/>
          </p:cNvCxnSpPr>
          <p:nvPr/>
        </p:nvCxnSpPr>
        <p:spPr>
          <a:xfrm>
            <a:off x="5544732" y="3800365"/>
            <a:ext cx="604414"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117" name="Straight Connector 116">
            <a:extLst>
              <a:ext uri="{FF2B5EF4-FFF2-40B4-BE49-F238E27FC236}">
                <a16:creationId xmlns:a16="http://schemas.microsoft.com/office/drawing/2014/main" id="{DC5D27B1-B1C9-1D10-3B91-E8D32A16398F}"/>
              </a:ext>
            </a:extLst>
          </p:cNvPr>
          <p:cNvCxnSpPr>
            <a:cxnSpLocks/>
          </p:cNvCxnSpPr>
          <p:nvPr/>
        </p:nvCxnSpPr>
        <p:spPr>
          <a:xfrm>
            <a:off x="5544732" y="3878607"/>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18" name="Straight Connector 117">
            <a:extLst>
              <a:ext uri="{FF2B5EF4-FFF2-40B4-BE49-F238E27FC236}">
                <a16:creationId xmlns:a16="http://schemas.microsoft.com/office/drawing/2014/main" id="{ECC209D8-D29E-6D5E-957E-3F9F638F9062}"/>
              </a:ext>
            </a:extLst>
          </p:cNvPr>
          <p:cNvCxnSpPr>
            <a:cxnSpLocks/>
          </p:cNvCxnSpPr>
          <p:nvPr/>
        </p:nvCxnSpPr>
        <p:spPr>
          <a:xfrm>
            <a:off x="5544732" y="3956849"/>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19" name="Straight Connector 118">
            <a:extLst>
              <a:ext uri="{FF2B5EF4-FFF2-40B4-BE49-F238E27FC236}">
                <a16:creationId xmlns:a16="http://schemas.microsoft.com/office/drawing/2014/main" id="{8C8985A8-4509-63AA-5DBE-728BAE6A4D80}"/>
              </a:ext>
            </a:extLst>
          </p:cNvPr>
          <p:cNvCxnSpPr>
            <a:cxnSpLocks/>
          </p:cNvCxnSpPr>
          <p:nvPr/>
        </p:nvCxnSpPr>
        <p:spPr>
          <a:xfrm>
            <a:off x="5544732" y="4035091"/>
            <a:ext cx="551268"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20" name="Straight Connector 119">
            <a:extLst>
              <a:ext uri="{FF2B5EF4-FFF2-40B4-BE49-F238E27FC236}">
                <a16:creationId xmlns:a16="http://schemas.microsoft.com/office/drawing/2014/main" id="{452B200A-E0AA-74FA-A94C-78F6D7AFF631}"/>
              </a:ext>
            </a:extLst>
          </p:cNvPr>
          <p:cNvCxnSpPr>
            <a:cxnSpLocks/>
          </p:cNvCxnSpPr>
          <p:nvPr/>
        </p:nvCxnSpPr>
        <p:spPr>
          <a:xfrm>
            <a:off x="5544732" y="4426301"/>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21" name="Straight Connector 120">
            <a:extLst>
              <a:ext uri="{FF2B5EF4-FFF2-40B4-BE49-F238E27FC236}">
                <a16:creationId xmlns:a16="http://schemas.microsoft.com/office/drawing/2014/main" id="{F082FF8E-B0A1-91F0-7990-3153114F359C}"/>
              </a:ext>
            </a:extLst>
          </p:cNvPr>
          <p:cNvCxnSpPr>
            <a:cxnSpLocks/>
          </p:cNvCxnSpPr>
          <p:nvPr/>
        </p:nvCxnSpPr>
        <p:spPr>
          <a:xfrm>
            <a:off x="5544732" y="4504543"/>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22" name="Straight Connector 121">
            <a:extLst>
              <a:ext uri="{FF2B5EF4-FFF2-40B4-BE49-F238E27FC236}">
                <a16:creationId xmlns:a16="http://schemas.microsoft.com/office/drawing/2014/main" id="{CB3103AB-8F91-6ADD-E75A-44E35AA26750}"/>
              </a:ext>
            </a:extLst>
          </p:cNvPr>
          <p:cNvCxnSpPr>
            <a:cxnSpLocks/>
          </p:cNvCxnSpPr>
          <p:nvPr/>
        </p:nvCxnSpPr>
        <p:spPr>
          <a:xfrm>
            <a:off x="5544732" y="4348059"/>
            <a:ext cx="742637"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23" name="Straight Connector 122">
            <a:extLst>
              <a:ext uri="{FF2B5EF4-FFF2-40B4-BE49-F238E27FC236}">
                <a16:creationId xmlns:a16="http://schemas.microsoft.com/office/drawing/2014/main" id="{87272990-AE3E-2D58-6D08-D7F3CEE98CB8}"/>
              </a:ext>
            </a:extLst>
          </p:cNvPr>
          <p:cNvCxnSpPr>
            <a:cxnSpLocks/>
          </p:cNvCxnSpPr>
          <p:nvPr/>
        </p:nvCxnSpPr>
        <p:spPr>
          <a:xfrm>
            <a:off x="5544732" y="4582785"/>
            <a:ext cx="742637" cy="1746"/>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24" name="Straight Connector 123">
            <a:extLst>
              <a:ext uri="{FF2B5EF4-FFF2-40B4-BE49-F238E27FC236}">
                <a16:creationId xmlns:a16="http://schemas.microsoft.com/office/drawing/2014/main" id="{8370AD72-7E9B-A61A-2CFE-FE2D445CF168}"/>
              </a:ext>
            </a:extLst>
          </p:cNvPr>
          <p:cNvCxnSpPr>
            <a:cxnSpLocks/>
          </p:cNvCxnSpPr>
          <p:nvPr/>
        </p:nvCxnSpPr>
        <p:spPr>
          <a:xfrm>
            <a:off x="5544732" y="4741015"/>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25" name="Straight Connector 124">
            <a:extLst>
              <a:ext uri="{FF2B5EF4-FFF2-40B4-BE49-F238E27FC236}">
                <a16:creationId xmlns:a16="http://schemas.microsoft.com/office/drawing/2014/main" id="{3A248F47-0C8A-3940-14D0-6AE2032C8E39}"/>
              </a:ext>
            </a:extLst>
          </p:cNvPr>
          <p:cNvCxnSpPr>
            <a:cxnSpLocks/>
          </p:cNvCxnSpPr>
          <p:nvPr/>
        </p:nvCxnSpPr>
        <p:spPr>
          <a:xfrm>
            <a:off x="5544732" y="4819257"/>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26" name="Straight Connector 125">
            <a:extLst>
              <a:ext uri="{FF2B5EF4-FFF2-40B4-BE49-F238E27FC236}">
                <a16:creationId xmlns:a16="http://schemas.microsoft.com/office/drawing/2014/main" id="{628464CA-960C-BD3C-79A6-AFFF40A8AD05}"/>
              </a:ext>
            </a:extLst>
          </p:cNvPr>
          <p:cNvCxnSpPr>
            <a:cxnSpLocks/>
          </p:cNvCxnSpPr>
          <p:nvPr/>
        </p:nvCxnSpPr>
        <p:spPr>
          <a:xfrm>
            <a:off x="5544732" y="4662773"/>
            <a:ext cx="82277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27" name="Straight Connector 126">
            <a:extLst>
              <a:ext uri="{FF2B5EF4-FFF2-40B4-BE49-F238E27FC236}">
                <a16:creationId xmlns:a16="http://schemas.microsoft.com/office/drawing/2014/main" id="{997FDF7C-DCA8-38C8-03F7-80683DA9B488}"/>
              </a:ext>
            </a:extLst>
          </p:cNvPr>
          <p:cNvCxnSpPr>
            <a:cxnSpLocks/>
          </p:cNvCxnSpPr>
          <p:nvPr/>
        </p:nvCxnSpPr>
        <p:spPr>
          <a:xfrm>
            <a:off x="5544732" y="4897499"/>
            <a:ext cx="742637" cy="10134"/>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28" name="Straight Connector 127">
            <a:extLst>
              <a:ext uri="{FF2B5EF4-FFF2-40B4-BE49-F238E27FC236}">
                <a16:creationId xmlns:a16="http://schemas.microsoft.com/office/drawing/2014/main" id="{CC6AE77D-7EA5-52DA-DE49-41291B9C25B6}"/>
              </a:ext>
            </a:extLst>
          </p:cNvPr>
          <p:cNvCxnSpPr>
            <a:cxnSpLocks/>
          </p:cNvCxnSpPr>
          <p:nvPr/>
        </p:nvCxnSpPr>
        <p:spPr>
          <a:xfrm>
            <a:off x="5544732" y="4113333"/>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29" name="Straight Connector 128">
            <a:extLst>
              <a:ext uri="{FF2B5EF4-FFF2-40B4-BE49-F238E27FC236}">
                <a16:creationId xmlns:a16="http://schemas.microsoft.com/office/drawing/2014/main" id="{F1C8619E-6AF8-D617-A282-878D1E5A5C1D}"/>
              </a:ext>
            </a:extLst>
          </p:cNvPr>
          <p:cNvCxnSpPr>
            <a:cxnSpLocks/>
          </p:cNvCxnSpPr>
          <p:nvPr/>
        </p:nvCxnSpPr>
        <p:spPr>
          <a:xfrm>
            <a:off x="5544732" y="4191575"/>
            <a:ext cx="621747"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30" name="Straight Connector 129">
            <a:extLst>
              <a:ext uri="{FF2B5EF4-FFF2-40B4-BE49-F238E27FC236}">
                <a16:creationId xmlns:a16="http://schemas.microsoft.com/office/drawing/2014/main" id="{C0A2FD5F-1A9A-2F94-3D85-997CC48FC63B}"/>
              </a:ext>
            </a:extLst>
          </p:cNvPr>
          <p:cNvCxnSpPr>
            <a:cxnSpLocks/>
          </p:cNvCxnSpPr>
          <p:nvPr/>
        </p:nvCxnSpPr>
        <p:spPr>
          <a:xfrm>
            <a:off x="5544732" y="4269817"/>
            <a:ext cx="630402"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31" name="Straight Connector 130">
            <a:extLst>
              <a:ext uri="{FF2B5EF4-FFF2-40B4-BE49-F238E27FC236}">
                <a16:creationId xmlns:a16="http://schemas.microsoft.com/office/drawing/2014/main" id="{A8742597-5ACE-6064-D7AA-C60292FF6636}"/>
              </a:ext>
            </a:extLst>
          </p:cNvPr>
          <p:cNvCxnSpPr>
            <a:cxnSpLocks/>
          </p:cNvCxnSpPr>
          <p:nvPr/>
        </p:nvCxnSpPr>
        <p:spPr>
          <a:xfrm>
            <a:off x="5544732" y="4985875"/>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132" name="Straight Connector 131">
            <a:extLst>
              <a:ext uri="{FF2B5EF4-FFF2-40B4-BE49-F238E27FC236}">
                <a16:creationId xmlns:a16="http://schemas.microsoft.com/office/drawing/2014/main" id="{A23A5D20-2B9C-EE80-1F6F-6D16C95F0A79}"/>
              </a:ext>
            </a:extLst>
          </p:cNvPr>
          <p:cNvCxnSpPr>
            <a:cxnSpLocks/>
          </p:cNvCxnSpPr>
          <p:nvPr/>
        </p:nvCxnSpPr>
        <p:spPr>
          <a:xfrm>
            <a:off x="5544732" y="5064117"/>
            <a:ext cx="64841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133" name="Straight Connector 132">
            <a:extLst>
              <a:ext uri="{FF2B5EF4-FFF2-40B4-BE49-F238E27FC236}">
                <a16:creationId xmlns:a16="http://schemas.microsoft.com/office/drawing/2014/main" id="{02982870-99F2-5CAC-0087-FC631169E797}"/>
              </a:ext>
            </a:extLst>
          </p:cNvPr>
          <p:cNvCxnSpPr>
            <a:cxnSpLocks/>
          </p:cNvCxnSpPr>
          <p:nvPr/>
        </p:nvCxnSpPr>
        <p:spPr>
          <a:xfrm>
            <a:off x="5544732" y="5142359"/>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134" name="Straight Connector 133">
            <a:extLst>
              <a:ext uri="{FF2B5EF4-FFF2-40B4-BE49-F238E27FC236}">
                <a16:creationId xmlns:a16="http://schemas.microsoft.com/office/drawing/2014/main" id="{1562F390-7B0C-FDFF-0A6E-680CA291A12C}"/>
              </a:ext>
            </a:extLst>
          </p:cNvPr>
          <p:cNvCxnSpPr>
            <a:cxnSpLocks/>
          </p:cNvCxnSpPr>
          <p:nvPr/>
        </p:nvCxnSpPr>
        <p:spPr>
          <a:xfrm>
            <a:off x="5544732" y="5220606"/>
            <a:ext cx="604414"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sp>
        <p:nvSpPr>
          <p:cNvPr id="143" name="Right Arrow 142">
            <a:extLst>
              <a:ext uri="{FF2B5EF4-FFF2-40B4-BE49-F238E27FC236}">
                <a16:creationId xmlns:a16="http://schemas.microsoft.com/office/drawing/2014/main" id="{53F28E3D-F9FF-200A-17D4-A20C4D6EB0EF}"/>
              </a:ext>
            </a:extLst>
          </p:cNvPr>
          <p:cNvSpPr/>
          <p:nvPr/>
        </p:nvSpPr>
        <p:spPr>
          <a:xfrm>
            <a:off x="6541655" y="3520663"/>
            <a:ext cx="551598" cy="37450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144" name="TextBox 143">
            <a:extLst>
              <a:ext uri="{FF2B5EF4-FFF2-40B4-BE49-F238E27FC236}">
                <a16:creationId xmlns:a16="http://schemas.microsoft.com/office/drawing/2014/main" id="{E342D879-FC3B-FA22-B2FB-94E7F068C340}"/>
              </a:ext>
            </a:extLst>
          </p:cNvPr>
          <p:cNvSpPr txBox="1"/>
          <p:nvPr/>
        </p:nvSpPr>
        <p:spPr>
          <a:xfrm>
            <a:off x="6372363" y="2846800"/>
            <a:ext cx="1496298" cy="646331"/>
          </a:xfrm>
          <a:prstGeom prst="rect">
            <a:avLst/>
          </a:prstGeom>
          <a:noFill/>
        </p:spPr>
        <p:txBody>
          <a:bodyPr wrap="square" rtlCol="0">
            <a:spAutoFit/>
          </a:bodyPr>
          <a:lstStyle/>
          <a:p>
            <a:r>
              <a:rPr lang="en-DK" b="1" dirty="0"/>
              <a:t>Gene clustering</a:t>
            </a:r>
          </a:p>
        </p:txBody>
      </p:sp>
      <p:cxnSp>
        <p:nvCxnSpPr>
          <p:cNvPr id="145" name="Straight Connector 144">
            <a:extLst>
              <a:ext uri="{FF2B5EF4-FFF2-40B4-BE49-F238E27FC236}">
                <a16:creationId xmlns:a16="http://schemas.microsoft.com/office/drawing/2014/main" id="{CD03EE48-E37C-1DE5-96A6-74854A48D3F2}"/>
              </a:ext>
            </a:extLst>
          </p:cNvPr>
          <p:cNvCxnSpPr>
            <a:cxnSpLocks/>
          </p:cNvCxnSpPr>
          <p:nvPr/>
        </p:nvCxnSpPr>
        <p:spPr>
          <a:xfrm>
            <a:off x="7687852" y="2583071"/>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46" name="Straight Connector 145">
            <a:extLst>
              <a:ext uri="{FF2B5EF4-FFF2-40B4-BE49-F238E27FC236}">
                <a16:creationId xmlns:a16="http://schemas.microsoft.com/office/drawing/2014/main" id="{A8B6E0BE-5F37-5BAA-57C4-204011DD19C1}"/>
              </a:ext>
            </a:extLst>
          </p:cNvPr>
          <p:cNvCxnSpPr>
            <a:cxnSpLocks/>
          </p:cNvCxnSpPr>
          <p:nvPr/>
        </p:nvCxnSpPr>
        <p:spPr>
          <a:xfrm>
            <a:off x="7687852" y="2795501"/>
            <a:ext cx="604414"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147" name="Straight Connector 146">
            <a:extLst>
              <a:ext uri="{FF2B5EF4-FFF2-40B4-BE49-F238E27FC236}">
                <a16:creationId xmlns:a16="http://schemas.microsoft.com/office/drawing/2014/main" id="{A5DF22FA-1DA0-1E5D-4D84-D74E2CD6BC54}"/>
              </a:ext>
            </a:extLst>
          </p:cNvPr>
          <p:cNvCxnSpPr>
            <a:cxnSpLocks/>
          </p:cNvCxnSpPr>
          <p:nvPr/>
        </p:nvCxnSpPr>
        <p:spPr>
          <a:xfrm>
            <a:off x="7687852" y="2890042"/>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50" name="Straight Connector 149">
            <a:extLst>
              <a:ext uri="{FF2B5EF4-FFF2-40B4-BE49-F238E27FC236}">
                <a16:creationId xmlns:a16="http://schemas.microsoft.com/office/drawing/2014/main" id="{B801855C-7B7E-8073-FC47-FC489F31E48E}"/>
              </a:ext>
            </a:extLst>
          </p:cNvPr>
          <p:cNvCxnSpPr>
            <a:cxnSpLocks/>
          </p:cNvCxnSpPr>
          <p:nvPr/>
        </p:nvCxnSpPr>
        <p:spPr>
          <a:xfrm>
            <a:off x="7687852" y="3217681"/>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51" name="Straight Connector 150">
            <a:extLst>
              <a:ext uri="{FF2B5EF4-FFF2-40B4-BE49-F238E27FC236}">
                <a16:creationId xmlns:a16="http://schemas.microsoft.com/office/drawing/2014/main" id="{F63EB593-0229-CAAC-975B-502E23C9948D}"/>
              </a:ext>
            </a:extLst>
          </p:cNvPr>
          <p:cNvCxnSpPr>
            <a:cxnSpLocks/>
          </p:cNvCxnSpPr>
          <p:nvPr/>
        </p:nvCxnSpPr>
        <p:spPr>
          <a:xfrm>
            <a:off x="7687852" y="3109550"/>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52" name="Straight Connector 151">
            <a:extLst>
              <a:ext uri="{FF2B5EF4-FFF2-40B4-BE49-F238E27FC236}">
                <a16:creationId xmlns:a16="http://schemas.microsoft.com/office/drawing/2014/main" id="{FDF33E78-62D5-7C32-CC67-1D41D67D22D8}"/>
              </a:ext>
            </a:extLst>
          </p:cNvPr>
          <p:cNvCxnSpPr>
            <a:cxnSpLocks/>
          </p:cNvCxnSpPr>
          <p:nvPr/>
        </p:nvCxnSpPr>
        <p:spPr>
          <a:xfrm>
            <a:off x="7687852" y="3321980"/>
            <a:ext cx="604414"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153" name="Straight Connector 152">
            <a:extLst>
              <a:ext uri="{FF2B5EF4-FFF2-40B4-BE49-F238E27FC236}">
                <a16:creationId xmlns:a16="http://schemas.microsoft.com/office/drawing/2014/main" id="{5D9FE9C3-E62B-EE93-85CE-F437C4191744}"/>
              </a:ext>
            </a:extLst>
          </p:cNvPr>
          <p:cNvCxnSpPr>
            <a:cxnSpLocks/>
          </p:cNvCxnSpPr>
          <p:nvPr/>
        </p:nvCxnSpPr>
        <p:spPr>
          <a:xfrm>
            <a:off x="7687852" y="3416521"/>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55" name="Straight Connector 154">
            <a:extLst>
              <a:ext uri="{FF2B5EF4-FFF2-40B4-BE49-F238E27FC236}">
                <a16:creationId xmlns:a16="http://schemas.microsoft.com/office/drawing/2014/main" id="{2A745798-00B8-F845-6CCE-8AEACE2E2023}"/>
              </a:ext>
            </a:extLst>
          </p:cNvPr>
          <p:cNvCxnSpPr>
            <a:cxnSpLocks/>
          </p:cNvCxnSpPr>
          <p:nvPr/>
        </p:nvCxnSpPr>
        <p:spPr>
          <a:xfrm>
            <a:off x="7687852" y="2980484"/>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57" name="Straight Connector 156">
            <a:extLst>
              <a:ext uri="{FF2B5EF4-FFF2-40B4-BE49-F238E27FC236}">
                <a16:creationId xmlns:a16="http://schemas.microsoft.com/office/drawing/2014/main" id="{C8A0E10F-4A69-D6A8-224A-945466B33391}"/>
              </a:ext>
            </a:extLst>
          </p:cNvPr>
          <p:cNvCxnSpPr>
            <a:cxnSpLocks/>
          </p:cNvCxnSpPr>
          <p:nvPr/>
        </p:nvCxnSpPr>
        <p:spPr>
          <a:xfrm>
            <a:off x="7687852" y="3506963"/>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58" name="Straight Connector 157">
            <a:extLst>
              <a:ext uri="{FF2B5EF4-FFF2-40B4-BE49-F238E27FC236}">
                <a16:creationId xmlns:a16="http://schemas.microsoft.com/office/drawing/2014/main" id="{91B290A5-6689-B817-D999-D00B92E5112A}"/>
              </a:ext>
            </a:extLst>
          </p:cNvPr>
          <p:cNvCxnSpPr>
            <a:cxnSpLocks/>
          </p:cNvCxnSpPr>
          <p:nvPr/>
        </p:nvCxnSpPr>
        <p:spPr>
          <a:xfrm>
            <a:off x="7687852" y="3730295"/>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59" name="Straight Connector 158">
            <a:extLst>
              <a:ext uri="{FF2B5EF4-FFF2-40B4-BE49-F238E27FC236}">
                <a16:creationId xmlns:a16="http://schemas.microsoft.com/office/drawing/2014/main" id="{766D89DF-72F9-2147-0E68-90AE4DFCB88F}"/>
              </a:ext>
            </a:extLst>
          </p:cNvPr>
          <p:cNvCxnSpPr>
            <a:cxnSpLocks/>
          </p:cNvCxnSpPr>
          <p:nvPr/>
        </p:nvCxnSpPr>
        <p:spPr>
          <a:xfrm>
            <a:off x="7687852" y="3622164"/>
            <a:ext cx="887415" cy="0"/>
          </a:xfrm>
          <a:prstGeom prst="line">
            <a:avLst/>
          </a:prstGeom>
          <a:ln w="38100">
            <a:solidFill>
              <a:schemeClr val="accent3">
                <a:lumMod val="75000"/>
              </a:schemeClr>
            </a:solidFill>
          </a:ln>
        </p:spPr>
        <p:style>
          <a:lnRef idx="2">
            <a:schemeClr val="accent1"/>
          </a:lnRef>
          <a:fillRef idx="0">
            <a:schemeClr val="accent1"/>
          </a:fillRef>
          <a:effectRef idx="1">
            <a:schemeClr val="accent1"/>
          </a:effectRef>
          <a:fontRef idx="minor">
            <a:schemeClr val="tx1"/>
          </a:fontRef>
        </p:style>
      </p:cxnSp>
      <p:cxnSp>
        <p:nvCxnSpPr>
          <p:cNvPr id="160" name="Straight Connector 159">
            <a:extLst>
              <a:ext uri="{FF2B5EF4-FFF2-40B4-BE49-F238E27FC236}">
                <a16:creationId xmlns:a16="http://schemas.microsoft.com/office/drawing/2014/main" id="{4EF760EF-12B1-7E90-3862-9C1E7DBF52B6}"/>
              </a:ext>
            </a:extLst>
          </p:cNvPr>
          <p:cNvCxnSpPr>
            <a:cxnSpLocks/>
          </p:cNvCxnSpPr>
          <p:nvPr/>
        </p:nvCxnSpPr>
        <p:spPr>
          <a:xfrm>
            <a:off x="7687852" y="3834594"/>
            <a:ext cx="604414"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161" name="Straight Connector 160">
            <a:extLst>
              <a:ext uri="{FF2B5EF4-FFF2-40B4-BE49-F238E27FC236}">
                <a16:creationId xmlns:a16="http://schemas.microsoft.com/office/drawing/2014/main" id="{1693ECE1-7FC4-C43F-6E0A-5DEA764D363E}"/>
              </a:ext>
            </a:extLst>
          </p:cNvPr>
          <p:cNvCxnSpPr>
            <a:cxnSpLocks/>
          </p:cNvCxnSpPr>
          <p:nvPr/>
        </p:nvCxnSpPr>
        <p:spPr>
          <a:xfrm>
            <a:off x="7687852" y="3929135"/>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62" name="Straight Connector 161">
            <a:extLst>
              <a:ext uri="{FF2B5EF4-FFF2-40B4-BE49-F238E27FC236}">
                <a16:creationId xmlns:a16="http://schemas.microsoft.com/office/drawing/2014/main" id="{0262081D-97C6-8890-9A69-10F1BC777A25}"/>
              </a:ext>
            </a:extLst>
          </p:cNvPr>
          <p:cNvCxnSpPr>
            <a:cxnSpLocks/>
          </p:cNvCxnSpPr>
          <p:nvPr/>
        </p:nvCxnSpPr>
        <p:spPr>
          <a:xfrm>
            <a:off x="7687852" y="4256774"/>
            <a:ext cx="687224"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163" name="Straight Connector 162">
            <a:extLst>
              <a:ext uri="{FF2B5EF4-FFF2-40B4-BE49-F238E27FC236}">
                <a16:creationId xmlns:a16="http://schemas.microsoft.com/office/drawing/2014/main" id="{7E1B5478-4E7E-7A97-F5B2-94DD7D9BD4A4}"/>
              </a:ext>
            </a:extLst>
          </p:cNvPr>
          <p:cNvCxnSpPr>
            <a:cxnSpLocks/>
          </p:cNvCxnSpPr>
          <p:nvPr/>
        </p:nvCxnSpPr>
        <p:spPr>
          <a:xfrm>
            <a:off x="7687852" y="4148643"/>
            <a:ext cx="873562"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64" name="Straight Connector 163">
            <a:extLst>
              <a:ext uri="{FF2B5EF4-FFF2-40B4-BE49-F238E27FC236}">
                <a16:creationId xmlns:a16="http://schemas.microsoft.com/office/drawing/2014/main" id="{2A701B7C-49DF-9DA9-4639-03DA5DA40FE1}"/>
              </a:ext>
            </a:extLst>
          </p:cNvPr>
          <p:cNvCxnSpPr>
            <a:cxnSpLocks/>
          </p:cNvCxnSpPr>
          <p:nvPr/>
        </p:nvCxnSpPr>
        <p:spPr>
          <a:xfrm>
            <a:off x="7687852" y="4361073"/>
            <a:ext cx="604414"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165" name="Straight Connector 164">
            <a:extLst>
              <a:ext uri="{FF2B5EF4-FFF2-40B4-BE49-F238E27FC236}">
                <a16:creationId xmlns:a16="http://schemas.microsoft.com/office/drawing/2014/main" id="{3290713E-A83B-696C-D3AB-4AA0A038B16D}"/>
              </a:ext>
            </a:extLst>
          </p:cNvPr>
          <p:cNvCxnSpPr>
            <a:cxnSpLocks/>
          </p:cNvCxnSpPr>
          <p:nvPr/>
        </p:nvCxnSpPr>
        <p:spPr>
          <a:xfrm>
            <a:off x="7687852" y="4455614"/>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66" name="Straight Connector 165">
            <a:extLst>
              <a:ext uri="{FF2B5EF4-FFF2-40B4-BE49-F238E27FC236}">
                <a16:creationId xmlns:a16="http://schemas.microsoft.com/office/drawing/2014/main" id="{4B31ED9C-8DEC-6465-DAAD-6DF523B88A46}"/>
              </a:ext>
            </a:extLst>
          </p:cNvPr>
          <p:cNvCxnSpPr>
            <a:cxnSpLocks/>
          </p:cNvCxnSpPr>
          <p:nvPr/>
        </p:nvCxnSpPr>
        <p:spPr>
          <a:xfrm>
            <a:off x="7687852" y="4019577"/>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67" name="Straight Connector 166">
            <a:extLst>
              <a:ext uri="{FF2B5EF4-FFF2-40B4-BE49-F238E27FC236}">
                <a16:creationId xmlns:a16="http://schemas.microsoft.com/office/drawing/2014/main" id="{A3D6E942-A69C-F78E-7CCE-DE9C8DA83967}"/>
              </a:ext>
            </a:extLst>
          </p:cNvPr>
          <p:cNvCxnSpPr>
            <a:cxnSpLocks/>
          </p:cNvCxnSpPr>
          <p:nvPr/>
        </p:nvCxnSpPr>
        <p:spPr>
          <a:xfrm>
            <a:off x="7687852" y="4546056"/>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sp>
        <p:nvSpPr>
          <p:cNvPr id="168" name="TextBox 167">
            <a:extLst>
              <a:ext uri="{FF2B5EF4-FFF2-40B4-BE49-F238E27FC236}">
                <a16:creationId xmlns:a16="http://schemas.microsoft.com/office/drawing/2014/main" id="{BB74A795-3F41-E0C3-9179-33F7FEBA923E}"/>
              </a:ext>
            </a:extLst>
          </p:cNvPr>
          <p:cNvSpPr txBox="1"/>
          <p:nvPr/>
        </p:nvSpPr>
        <p:spPr>
          <a:xfrm>
            <a:off x="8984361" y="2611152"/>
            <a:ext cx="1222674" cy="369332"/>
          </a:xfrm>
          <a:prstGeom prst="rect">
            <a:avLst/>
          </a:prstGeom>
          <a:noFill/>
        </p:spPr>
        <p:txBody>
          <a:bodyPr wrap="square" rtlCol="0">
            <a:spAutoFit/>
          </a:bodyPr>
          <a:lstStyle/>
          <a:p>
            <a:r>
              <a:rPr lang="en-DK" dirty="0"/>
              <a:t>C1</a:t>
            </a:r>
          </a:p>
        </p:txBody>
      </p:sp>
      <p:cxnSp>
        <p:nvCxnSpPr>
          <p:cNvPr id="169" name="Straight Connector 168">
            <a:extLst>
              <a:ext uri="{FF2B5EF4-FFF2-40B4-BE49-F238E27FC236}">
                <a16:creationId xmlns:a16="http://schemas.microsoft.com/office/drawing/2014/main" id="{FD12C232-4468-CF57-96E4-42E5AD4E329E}"/>
              </a:ext>
            </a:extLst>
          </p:cNvPr>
          <p:cNvCxnSpPr>
            <a:cxnSpLocks/>
          </p:cNvCxnSpPr>
          <p:nvPr/>
        </p:nvCxnSpPr>
        <p:spPr>
          <a:xfrm>
            <a:off x="7687852" y="4643036"/>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70" name="Straight Connector 169">
            <a:extLst>
              <a:ext uri="{FF2B5EF4-FFF2-40B4-BE49-F238E27FC236}">
                <a16:creationId xmlns:a16="http://schemas.microsoft.com/office/drawing/2014/main" id="{C4F4187D-3BC9-93A8-70A7-3CA0170B577E}"/>
              </a:ext>
            </a:extLst>
          </p:cNvPr>
          <p:cNvCxnSpPr>
            <a:cxnSpLocks/>
          </p:cNvCxnSpPr>
          <p:nvPr/>
        </p:nvCxnSpPr>
        <p:spPr>
          <a:xfrm>
            <a:off x="7687852" y="4740021"/>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sp>
        <p:nvSpPr>
          <p:cNvPr id="174" name="Right Brace 173">
            <a:extLst>
              <a:ext uri="{FF2B5EF4-FFF2-40B4-BE49-F238E27FC236}">
                <a16:creationId xmlns:a16="http://schemas.microsoft.com/office/drawing/2014/main" id="{559125DB-78BC-53AB-093D-62762288B700}"/>
              </a:ext>
            </a:extLst>
          </p:cNvPr>
          <p:cNvSpPr/>
          <p:nvPr/>
        </p:nvSpPr>
        <p:spPr>
          <a:xfrm>
            <a:off x="8853048" y="2536613"/>
            <a:ext cx="193963" cy="469452"/>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DK"/>
          </a:p>
        </p:txBody>
      </p:sp>
      <p:sp>
        <p:nvSpPr>
          <p:cNvPr id="180" name="TextBox 179">
            <a:extLst>
              <a:ext uri="{FF2B5EF4-FFF2-40B4-BE49-F238E27FC236}">
                <a16:creationId xmlns:a16="http://schemas.microsoft.com/office/drawing/2014/main" id="{65654C6A-BA31-9486-8265-0ED3EBB55577}"/>
              </a:ext>
            </a:extLst>
          </p:cNvPr>
          <p:cNvSpPr txBox="1"/>
          <p:nvPr/>
        </p:nvSpPr>
        <p:spPr>
          <a:xfrm>
            <a:off x="8984361" y="3179188"/>
            <a:ext cx="1222674" cy="369332"/>
          </a:xfrm>
          <a:prstGeom prst="rect">
            <a:avLst/>
          </a:prstGeom>
          <a:noFill/>
        </p:spPr>
        <p:txBody>
          <a:bodyPr wrap="square" rtlCol="0">
            <a:spAutoFit/>
          </a:bodyPr>
          <a:lstStyle/>
          <a:p>
            <a:r>
              <a:rPr lang="en-DK" dirty="0"/>
              <a:t>C2</a:t>
            </a:r>
          </a:p>
        </p:txBody>
      </p:sp>
      <p:sp>
        <p:nvSpPr>
          <p:cNvPr id="181" name="Right Brace 180">
            <a:extLst>
              <a:ext uri="{FF2B5EF4-FFF2-40B4-BE49-F238E27FC236}">
                <a16:creationId xmlns:a16="http://schemas.microsoft.com/office/drawing/2014/main" id="{F54AE6D0-6983-527A-F2DE-656535A2E187}"/>
              </a:ext>
            </a:extLst>
          </p:cNvPr>
          <p:cNvSpPr/>
          <p:nvPr/>
        </p:nvSpPr>
        <p:spPr>
          <a:xfrm>
            <a:off x="8853048" y="3104649"/>
            <a:ext cx="193963" cy="469452"/>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DK"/>
          </a:p>
        </p:txBody>
      </p:sp>
      <p:sp>
        <p:nvSpPr>
          <p:cNvPr id="182" name="TextBox 181">
            <a:extLst>
              <a:ext uri="{FF2B5EF4-FFF2-40B4-BE49-F238E27FC236}">
                <a16:creationId xmlns:a16="http://schemas.microsoft.com/office/drawing/2014/main" id="{00919A5B-B15A-F4E3-BF53-491F6C1739AB}"/>
              </a:ext>
            </a:extLst>
          </p:cNvPr>
          <p:cNvSpPr txBox="1"/>
          <p:nvPr/>
        </p:nvSpPr>
        <p:spPr>
          <a:xfrm>
            <a:off x="8984361" y="3719518"/>
            <a:ext cx="1222674" cy="369332"/>
          </a:xfrm>
          <a:prstGeom prst="rect">
            <a:avLst/>
          </a:prstGeom>
          <a:noFill/>
        </p:spPr>
        <p:txBody>
          <a:bodyPr wrap="square" rtlCol="0">
            <a:spAutoFit/>
          </a:bodyPr>
          <a:lstStyle/>
          <a:p>
            <a:r>
              <a:rPr lang="en-DK" dirty="0"/>
              <a:t>C3</a:t>
            </a:r>
          </a:p>
        </p:txBody>
      </p:sp>
      <p:sp>
        <p:nvSpPr>
          <p:cNvPr id="183" name="Right Brace 182">
            <a:extLst>
              <a:ext uri="{FF2B5EF4-FFF2-40B4-BE49-F238E27FC236}">
                <a16:creationId xmlns:a16="http://schemas.microsoft.com/office/drawing/2014/main" id="{28A1FFA4-B3F6-68E9-C8D0-95A8D3A356C7}"/>
              </a:ext>
            </a:extLst>
          </p:cNvPr>
          <p:cNvSpPr/>
          <p:nvPr/>
        </p:nvSpPr>
        <p:spPr>
          <a:xfrm>
            <a:off x="8853048" y="3644979"/>
            <a:ext cx="193963" cy="469452"/>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DK"/>
          </a:p>
        </p:txBody>
      </p:sp>
      <p:sp>
        <p:nvSpPr>
          <p:cNvPr id="184" name="TextBox 183">
            <a:extLst>
              <a:ext uri="{FF2B5EF4-FFF2-40B4-BE49-F238E27FC236}">
                <a16:creationId xmlns:a16="http://schemas.microsoft.com/office/drawing/2014/main" id="{397F31B3-5F6D-11C9-AAFB-86B9AF1C81A4}"/>
              </a:ext>
            </a:extLst>
          </p:cNvPr>
          <p:cNvSpPr txBox="1"/>
          <p:nvPr/>
        </p:nvSpPr>
        <p:spPr>
          <a:xfrm>
            <a:off x="8984361" y="4315958"/>
            <a:ext cx="1222674" cy="369332"/>
          </a:xfrm>
          <a:prstGeom prst="rect">
            <a:avLst/>
          </a:prstGeom>
          <a:noFill/>
        </p:spPr>
        <p:txBody>
          <a:bodyPr wrap="square" rtlCol="0">
            <a:spAutoFit/>
          </a:bodyPr>
          <a:lstStyle/>
          <a:p>
            <a:r>
              <a:rPr lang="en-DK" dirty="0"/>
              <a:t>C4</a:t>
            </a:r>
          </a:p>
        </p:txBody>
      </p:sp>
      <p:sp>
        <p:nvSpPr>
          <p:cNvPr id="185" name="Right Brace 184">
            <a:extLst>
              <a:ext uri="{FF2B5EF4-FFF2-40B4-BE49-F238E27FC236}">
                <a16:creationId xmlns:a16="http://schemas.microsoft.com/office/drawing/2014/main" id="{CA311EBF-63BE-5545-CC58-53BFDAEC98F7}"/>
              </a:ext>
            </a:extLst>
          </p:cNvPr>
          <p:cNvSpPr/>
          <p:nvPr/>
        </p:nvSpPr>
        <p:spPr>
          <a:xfrm>
            <a:off x="8853048" y="4157592"/>
            <a:ext cx="186733" cy="656426"/>
          </a:xfrm>
          <a:prstGeom prst="righ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DK"/>
          </a:p>
        </p:txBody>
      </p:sp>
      <p:sp>
        <p:nvSpPr>
          <p:cNvPr id="186" name="Right Arrow 185">
            <a:extLst>
              <a:ext uri="{FF2B5EF4-FFF2-40B4-BE49-F238E27FC236}">
                <a16:creationId xmlns:a16="http://schemas.microsoft.com/office/drawing/2014/main" id="{EFDDDDBC-54AD-09D9-94E7-2BF0A37F6CC1}"/>
              </a:ext>
            </a:extLst>
          </p:cNvPr>
          <p:cNvSpPr/>
          <p:nvPr/>
        </p:nvSpPr>
        <p:spPr>
          <a:xfrm>
            <a:off x="9492050" y="3422479"/>
            <a:ext cx="551598" cy="374506"/>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187" name="TextBox 186">
            <a:extLst>
              <a:ext uri="{FF2B5EF4-FFF2-40B4-BE49-F238E27FC236}">
                <a16:creationId xmlns:a16="http://schemas.microsoft.com/office/drawing/2014/main" id="{7924E4DA-7213-776D-5289-C7CCFC2130C0}"/>
              </a:ext>
            </a:extLst>
          </p:cNvPr>
          <p:cNvSpPr txBox="1"/>
          <p:nvPr/>
        </p:nvSpPr>
        <p:spPr>
          <a:xfrm>
            <a:off x="9982199" y="4962329"/>
            <a:ext cx="1842667" cy="646331"/>
          </a:xfrm>
          <a:prstGeom prst="rect">
            <a:avLst/>
          </a:prstGeom>
          <a:noFill/>
        </p:spPr>
        <p:txBody>
          <a:bodyPr wrap="square" rtlCol="0">
            <a:spAutoFit/>
          </a:bodyPr>
          <a:lstStyle/>
          <a:p>
            <a:r>
              <a:rPr lang="en-DK" b="1" dirty="0"/>
              <a:t>Non-redundant gene catalog</a:t>
            </a:r>
          </a:p>
        </p:txBody>
      </p:sp>
      <p:sp>
        <p:nvSpPr>
          <p:cNvPr id="188" name="TextBox 187">
            <a:extLst>
              <a:ext uri="{FF2B5EF4-FFF2-40B4-BE49-F238E27FC236}">
                <a16:creationId xmlns:a16="http://schemas.microsoft.com/office/drawing/2014/main" id="{F6F62EBC-FB02-566F-BA24-D1A37D4C0CBC}"/>
              </a:ext>
            </a:extLst>
          </p:cNvPr>
          <p:cNvSpPr txBox="1"/>
          <p:nvPr/>
        </p:nvSpPr>
        <p:spPr>
          <a:xfrm>
            <a:off x="7647421" y="2140487"/>
            <a:ext cx="1222674" cy="369332"/>
          </a:xfrm>
          <a:prstGeom prst="rect">
            <a:avLst/>
          </a:prstGeom>
          <a:noFill/>
        </p:spPr>
        <p:txBody>
          <a:bodyPr wrap="square" rtlCol="0">
            <a:spAutoFit/>
          </a:bodyPr>
          <a:lstStyle/>
          <a:p>
            <a:r>
              <a:rPr lang="en-DK" dirty="0"/>
              <a:t>Clusters</a:t>
            </a:r>
          </a:p>
        </p:txBody>
      </p:sp>
      <p:sp>
        <p:nvSpPr>
          <p:cNvPr id="189" name="TextBox 188">
            <a:extLst>
              <a:ext uri="{FF2B5EF4-FFF2-40B4-BE49-F238E27FC236}">
                <a16:creationId xmlns:a16="http://schemas.microsoft.com/office/drawing/2014/main" id="{1FEFDE7A-BC77-8BC4-38EE-51605117892D}"/>
              </a:ext>
            </a:extLst>
          </p:cNvPr>
          <p:cNvSpPr txBox="1"/>
          <p:nvPr/>
        </p:nvSpPr>
        <p:spPr>
          <a:xfrm>
            <a:off x="5544732" y="5364091"/>
            <a:ext cx="772803" cy="369332"/>
          </a:xfrm>
          <a:prstGeom prst="rect">
            <a:avLst/>
          </a:prstGeom>
          <a:noFill/>
        </p:spPr>
        <p:txBody>
          <a:bodyPr wrap="square" rtlCol="0">
            <a:spAutoFit/>
          </a:bodyPr>
          <a:lstStyle/>
          <a:p>
            <a:r>
              <a:rPr lang="en-DK" dirty="0"/>
              <a:t>…</a:t>
            </a:r>
          </a:p>
        </p:txBody>
      </p:sp>
      <p:sp>
        <p:nvSpPr>
          <p:cNvPr id="190" name="TextBox 189">
            <a:extLst>
              <a:ext uri="{FF2B5EF4-FFF2-40B4-BE49-F238E27FC236}">
                <a16:creationId xmlns:a16="http://schemas.microsoft.com/office/drawing/2014/main" id="{4443CC7F-F001-AE6C-4714-903E0C8C268C}"/>
              </a:ext>
            </a:extLst>
          </p:cNvPr>
          <p:cNvSpPr txBox="1"/>
          <p:nvPr/>
        </p:nvSpPr>
        <p:spPr>
          <a:xfrm>
            <a:off x="3120178" y="5656549"/>
            <a:ext cx="772803" cy="369332"/>
          </a:xfrm>
          <a:prstGeom prst="rect">
            <a:avLst/>
          </a:prstGeom>
          <a:noFill/>
        </p:spPr>
        <p:txBody>
          <a:bodyPr wrap="square" rtlCol="0">
            <a:spAutoFit/>
          </a:bodyPr>
          <a:lstStyle/>
          <a:p>
            <a:r>
              <a:rPr lang="en-DK" dirty="0"/>
              <a:t>…</a:t>
            </a:r>
          </a:p>
        </p:txBody>
      </p:sp>
      <p:sp>
        <p:nvSpPr>
          <p:cNvPr id="191" name="TextBox 190">
            <a:extLst>
              <a:ext uri="{FF2B5EF4-FFF2-40B4-BE49-F238E27FC236}">
                <a16:creationId xmlns:a16="http://schemas.microsoft.com/office/drawing/2014/main" id="{ECCE607D-C2DE-70AD-765A-C61405A0342D}"/>
              </a:ext>
            </a:extLst>
          </p:cNvPr>
          <p:cNvSpPr txBox="1"/>
          <p:nvPr/>
        </p:nvSpPr>
        <p:spPr>
          <a:xfrm>
            <a:off x="7687852" y="4692383"/>
            <a:ext cx="772803" cy="369332"/>
          </a:xfrm>
          <a:prstGeom prst="rect">
            <a:avLst/>
          </a:prstGeom>
          <a:noFill/>
        </p:spPr>
        <p:txBody>
          <a:bodyPr wrap="square" rtlCol="0">
            <a:spAutoFit/>
          </a:bodyPr>
          <a:lstStyle/>
          <a:p>
            <a:r>
              <a:rPr lang="en-DK" dirty="0"/>
              <a:t>…</a:t>
            </a:r>
          </a:p>
        </p:txBody>
      </p:sp>
      <p:cxnSp>
        <p:nvCxnSpPr>
          <p:cNvPr id="192" name="Straight Connector 191">
            <a:extLst>
              <a:ext uri="{FF2B5EF4-FFF2-40B4-BE49-F238E27FC236}">
                <a16:creationId xmlns:a16="http://schemas.microsoft.com/office/drawing/2014/main" id="{CD1E618B-83C1-42E9-6526-FF1E4036DA91}"/>
              </a:ext>
            </a:extLst>
          </p:cNvPr>
          <p:cNvCxnSpPr>
            <a:cxnSpLocks/>
          </p:cNvCxnSpPr>
          <p:nvPr/>
        </p:nvCxnSpPr>
        <p:spPr>
          <a:xfrm>
            <a:off x="10278657" y="2583071"/>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93" name="Straight Connector 192">
            <a:extLst>
              <a:ext uri="{FF2B5EF4-FFF2-40B4-BE49-F238E27FC236}">
                <a16:creationId xmlns:a16="http://schemas.microsoft.com/office/drawing/2014/main" id="{0B372F7C-7E1E-0C01-DB8B-9CEF549CD586}"/>
              </a:ext>
            </a:extLst>
          </p:cNvPr>
          <p:cNvCxnSpPr>
            <a:cxnSpLocks/>
          </p:cNvCxnSpPr>
          <p:nvPr/>
        </p:nvCxnSpPr>
        <p:spPr>
          <a:xfrm>
            <a:off x="10278657" y="2630039"/>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94" name="Straight Connector 193">
            <a:extLst>
              <a:ext uri="{FF2B5EF4-FFF2-40B4-BE49-F238E27FC236}">
                <a16:creationId xmlns:a16="http://schemas.microsoft.com/office/drawing/2014/main" id="{56EF337C-0C0B-0BEA-FD48-48C1E19A2A67}"/>
              </a:ext>
            </a:extLst>
          </p:cNvPr>
          <p:cNvCxnSpPr>
            <a:cxnSpLocks/>
          </p:cNvCxnSpPr>
          <p:nvPr/>
        </p:nvCxnSpPr>
        <p:spPr>
          <a:xfrm>
            <a:off x="10278657" y="2723975"/>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95" name="Straight Connector 194">
            <a:extLst>
              <a:ext uri="{FF2B5EF4-FFF2-40B4-BE49-F238E27FC236}">
                <a16:creationId xmlns:a16="http://schemas.microsoft.com/office/drawing/2014/main" id="{01E69B5E-1E0D-4004-A954-0E9C93ABEE67}"/>
              </a:ext>
            </a:extLst>
          </p:cNvPr>
          <p:cNvCxnSpPr>
            <a:cxnSpLocks/>
          </p:cNvCxnSpPr>
          <p:nvPr/>
        </p:nvCxnSpPr>
        <p:spPr>
          <a:xfrm>
            <a:off x="10278657" y="2864879"/>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96" name="Straight Connector 195">
            <a:extLst>
              <a:ext uri="{FF2B5EF4-FFF2-40B4-BE49-F238E27FC236}">
                <a16:creationId xmlns:a16="http://schemas.microsoft.com/office/drawing/2014/main" id="{92A971A0-53A7-538F-6305-493710CF6EDA}"/>
              </a:ext>
            </a:extLst>
          </p:cNvPr>
          <p:cNvCxnSpPr>
            <a:cxnSpLocks/>
          </p:cNvCxnSpPr>
          <p:nvPr/>
        </p:nvCxnSpPr>
        <p:spPr>
          <a:xfrm>
            <a:off x="10278657" y="3005783"/>
            <a:ext cx="1061289"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97" name="Straight Connector 196">
            <a:extLst>
              <a:ext uri="{FF2B5EF4-FFF2-40B4-BE49-F238E27FC236}">
                <a16:creationId xmlns:a16="http://schemas.microsoft.com/office/drawing/2014/main" id="{16B1B08A-636F-E3C4-95F2-061FCBB64D73}"/>
              </a:ext>
            </a:extLst>
          </p:cNvPr>
          <p:cNvCxnSpPr>
            <a:cxnSpLocks/>
          </p:cNvCxnSpPr>
          <p:nvPr/>
        </p:nvCxnSpPr>
        <p:spPr>
          <a:xfrm>
            <a:off x="10278657" y="3710303"/>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198" name="Straight Connector 197">
            <a:extLst>
              <a:ext uri="{FF2B5EF4-FFF2-40B4-BE49-F238E27FC236}">
                <a16:creationId xmlns:a16="http://schemas.microsoft.com/office/drawing/2014/main" id="{390F152C-76B1-6D30-9065-AD4D66335CDB}"/>
              </a:ext>
            </a:extLst>
          </p:cNvPr>
          <p:cNvCxnSpPr>
            <a:cxnSpLocks/>
          </p:cNvCxnSpPr>
          <p:nvPr/>
        </p:nvCxnSpPr>
        <p:spPr>
          <a:xfrm>
            <a:off x="10278657" y="4320887"/>
            <a:ext cx="887415" cy="0"/>
          </a:xfrm>
          <a:prstGeom prst="line">
            <a:avLst/>
          </a:prstGeom>
          <a:ln w="38100">
            <a:solidFill>
              <a:schemeClr val="accent3">
                <a:lumMod val="75000"/>
              </a:schemeClr>
            </a:solidFill>
          </a:ln>
        </p:spPr>
        <p:style>
          <a:lnRef idx="2">
            <a:schemeClr val="accent1"/>
          </a:lnRef>
          <a:fillRef idx="0">
            <a:schemeClr val="accent1"/>
          </a:fillRef>
          <a:effectRef idx="1">
            <a:schemeClr val="accent1"/>
          </a:effectRef>
          <a:fontRef idx="minor">
            <a:schemeClr val="tx1"/>
          </a:fontRef>
        </p:style>
      </p:cxnSp>
      <p:cxnSp>
        <p:nvCxnSpPr>
          <p:cNvPr id="200" name="Straight Connector 199">
            <a:extLst>
              <a:ext uri="{FF2B5EF4-FFF2-40B4-BE49-F238E27FC236}">
                <a16:creationId xmlns:a16="http://schemas.microsoft.com/office/drawing/2014/main" id="{E9B2521B-46B5-29FE-E71B-B057DDD71823}"/>
              </a:ext>
            </a:extLst>
          </p:cNvPr>
          <p:cNvCxnSpPr>
            <a:cxnSpLocks/>
          </p:cNvCxnSpPr>
          <p:nvPr/>
        </p:nvCxnSpPr>
        <p:spPr>
          <a:xfrm>
            <a:off x="10278657" y="3240623"/>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201" name="Straight Connector 200">
            <a:extLst>
              <a:ext uri="{FF2B5EF4-FFF2-40B4-BE49-F238E27FC236}">
                <a16:creationId xmlns:a16="http://schemas.microsoft.com/office/drawing/2014/main" id="{8319F113-9E0D-676D-FE6E-4E2883266301}"/>
              </a:ext>
            </a:extLst>
          </p:cNvPr>
          <p:cNvCxnSpPr>
            <a:cxnSpLocks/>
          </p:cNvCxnSpPr>
          <p:nvPr/>
        </p:nvCxnSpPr>
        <p:spPr>
          <a:xfrm>
            <a:off x="10278657" y="3146687"/>
            <a:ext cx="887415" cy="0"/>
          </a:xfrm>
          <a:prstGeom prst="line">
            <a:avLst/>
          </a:prstGeom>
          <a:ln w="38100">
            <a:solidFill>
              <a:schemeClr val="accent3">
                <a:lumMod val="75000"/>
              </a:schemeClr>
            </a:solidFill>
          </a:ln>
        </p:spPr>
        <p:style>
          <a:lnRef idx="2">
            <a:schemeClr val="accent1"/>
          </a:lnRef>
          <a:fillRef idx="0">
            <a:schemeClr val="accent1"/>
          </a:fillRef>
          <a:effectRef idx="1">
            <a:schemeClr val="accent1"/>
          </a:effectRef>
          <a:fontRef idx="minor">
            <a:schemeClr val="tx1"/>
          </a:fontRef>
        </p:style>
      </p:cxnSp>
      <p:cxnSp>
        <p:nvCxnSpPr>
          <p:cNvPr id="202" name="Straight Connector 201">
            <a:extLst>
              <a:ext uri="{FF2B5EF4-FFF2-40B4-BE49-F238E27FC236}">
                <a16:creationId xmlns:a16="http://schemas.microsoft.com/office/drawing/2014/main" id="{8C2D06E8-A23B-C417-5919-AA24886D9CE7}"/>
              </a:ext>
            </a:extLst>
          </p:cNvPr>
          <p:cNvCxnSpPr>
            <a:cxnSpLocks/>
          </p:cNvCxnSpPr>
          <p:nvPr/>
        </p:nvCxnSpPr>
        <p:spPr>
          <a:xfrm>
            <a:off x="10278657" y="3945143"/>
            <a:ext cx="687224"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203" name="Straight Connector 202">
            <a:extLst>
              <a:ext uri="{FF2B5EF4-FFF2-40B4-BE49-F238E27FC236}">
                <a16:creationId xmlns:a16="http://schemas.microsoft.com/office/drawing/2014/main" id="{28359E9D-4470-9471-D662-606C0A1FD5EB}"/>
              </a:ext>
            </a:extLst>
          </p:cNvPr>
          <p:cNvCxnSpPr>
            <a:cxnSpLocks/>
          </p:cNvCxnSpPr>
          <p:nvPr/>
        </p:nvCxnSpPr>
        <p:spPr>
          <a:xfrm>
            <a:off x="10278657" y="3428495"/>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204" name="Straight Connector 203">
            <a:extLst>
              <a:ext uri="{FF2B5EF4-FFF2-40B4-BE49-F238E27FC236}">
                <a16:creationId xmlns:a16="http://schemas.microsoft.com/office/drawing/2014/main" id="{68109CA5-C8EB-8E62-52BF-50FC0D00D12C}"/>
              </a:ext>
            </a:extLst>
          </p:cNvPr>
          <p:cNvCxnSpPr>
            <a:cxnSpLocks/>
          </p:cNvCxnSpPr>
          <p:nvPr/>
        </p:nvCxnSpPr>
        <p:spPr>
          <a:xfrm>
            <a:off x="10278657" y="3569399"/>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205" name="Straight Connector 204">
            <a:extLst>
              <a:ext uri="{FF2B5EF4-FFF2-40B4-BE49-F238E27FC236}">
                <a16:creationId xmlns:a16="http://schemas.microsoft.com/office/drawing/2014/main" id="{F70FD851-7A26-3E0C-95D3-0FA60ED4B26F}"/>
              </a:ext>
            </a:extLst>
          </p:cNvPr>
          <p:cNvCxnSpPr>
            <a:cxnSpLocks/>
          </p:cNvCxnSpPr>
          <p:nvPr/>
        </p:nvCxnSpPr>
        <p:spPr>
          <a:xfrm>
            <a:off x="10278657" y="3757271"/>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206" name="Straight Connector 205">
            <a:extLst>
              <a:ext uri="{FF2B5EF4-FFF2-40B4-BE49-F238E27FC236}">
                <a16:creationId xmlns:a16="http://schemas.microsoft.com/office/drawing/2014/main" id="{9EB59F33-E8F7-00BD-8E44-90DA7589A733}"/>
              </a:ext>
            </a:extLst>
          </p:cNvPr>
          <p:cNvCxnSpPr>
            <a:cxnSpLocks/>
          </p:cNvCxnSpPr>
          <p:nvPr/>
        </p:nvCxnSpPr>
        <p:spPr>
          <a:xfrm>
            <a:off x="10278657" y="3992111"/>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207" name="Straight Connector 206">
            <a:extLst>
              <a:ext uri="{FF2B5EF4-FFF2-40B4-BE49-F238E27FC236}">
                <a16:creationId xmlns:a16="http://schemas.microsoft.com/office/drawing/2014/main" id="{869637B2-7F62-ECCB-679F-3CADD40434D5}"/>
              </a:ext>
            </a:extLst>
          </p:cNvPr>
          <p:cNvCxnSpPr>
            <a:cxnSpLocks/>
          </p:cNvCxnSpPr>
          <p:nvPr/>
        </p:nvCxnSpPr>
        <p:spPr>
          <a:xfrm>
            <a:off x="10278657" y="4649663"/>
            <a:ext cx="604414"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208" name="Straight Connector 207">
            <a:extLst>
              <a:ext uri="{FF2B5EF4-FFF2-40B4-BE49-F238E27FC236}">
                <a16:creationId xmlns:a16="http://schemas.microsoft.com/office/drawing/2014/main" id="{97611282-6764-5458-3904-8C96334266F1}"/>
              </a:ext>
            </a:extLst>
          </p:cNvPr>
          <p:cNvCxnSpPr>
            <a:cxnSpLocks/>
          </p:cNvCxnSpPr>
          <p:nvPr/>
        </p:nvCxnSpPr>
        <p:spPr>
          <a:xfrm>
            <a:off x="10278657" y="4461791"/>
            <a:ext cx="604414"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209" name="Straight Connector 208">
            <a:extLst>
              <a:ext uri="{FF2B5EF4-FFF2-40B4-BE49-F238E27FC236}">
                <a16:creationId xmlns:a16="http://schemas.microsoft.com/office/drawing/2014/main" id="{D4F2AF91-37B8-7625-8517-7725B4759D3F}"/>
              </a:ext>
            </a:extLst>
          </p:cNvPr>
          <p:cNvCxnSpPr>
            <a:cxnSpLocks/>
          </p:cNvCxnSpPr>
          <p:nvPr/>
        </p:nvCxnSpPr>
        <p:spPr>
          <a:xfrm>
            <a:off x="10278657" y="2677007"/>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10" name="Straight Connector 209">
            <a:extLst>
              <a:ext uri="{FF2B5EF4-FFF2-40B4-BE49-F238E27FC236}">
                <a16:creationId xmlns:a16="http://schemas.microsoft.com/office/drawing/2014/main" id="{F52EA0D3-BE95-6168-0612-A46730FFBB56}"/>
              </a:ext>
            </a:extLst>
          </p:cNvPr>
          <p:cNvCxnSpPr>
            <a:cxnSpLocks/>
          </p:cNvCxnSpPr>
          <p:nvPr/>
        </p:nvCxnSpPr>
        <p:spPr>
          <a:xfrm>
            <a:off x="10278657" y="2770943"/>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11" name="Straight Connector 210">
            <a:extLst>
              <a:ext uri="{FF2B5EF4-FFF2-40B4-BE49-F238E27FC236}">
                <a16:creationId xmlns:a16="http://schemas.microsoft.com/office/drawing/2014/main" id="{79DDFFCE-EDC0-822D-9D4C-EF0CFC9B0B96}"/>
              </a:ext>
            </a:extLst>
          </p:cNvPr>
          <p:cNvCxnSpPr>
            <a:cxnSpLocks/>
          </p:cNvCxnSpPr>
          <p:nvPr/>
        </p:nvCxnSpPr>
        <p:spPr>
          <a:xfrm>
            <a:off x="10278657" y="2911847"/>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12" name="Straight Connector 211">
            <a:extLst>
              <a:ext uri="{FF2B5EF4-FFF2-40B4-BE49-F238E27FC236}">
                <a16:creationId xmlns:a16="http://schemas.microsoft.com/office/drawing/2014/main" id="{1E5A1180-DDC1-8BD7-0864-ACCB82C645CF}"/>
              </a:ext>
            </a:extLst>
          </p:cNvPr>
          <p:cNvCxnSpPr>
            <a:cxnSpLocks/>
          </p:cNvCxnSpPr>
          <p:nvPr/>
        </p:nvCxnSpPr>
        <p:spPr>
          <a:xfrm>
            <a:off x="10278657" y="3052751"/>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13" name="Straight Connector 212">
            <a:extLst>
              <a:ext uri="{FF2B5EF4-FFF2-40B4-BE49-F238E27FC236}">
                <a16:creationId xmlns:a16="http://schemas.microsoft.com/office/drawing/2014/main" id="{9994B0FA-CA63-B458-47F8-867B28C61B5C}"/>
              </a:ext>
            </a:extLst>
          </p:cNvPr>
          <p:cNvCxnSpPr>
            <a:cxnSpLocks/>
          </p:cNvCxnSpPr>
          <p:nvPr/>
        </p:nvCxnSpPr>
        <p:spPr>
          <a:xfrm>
            <a:off x="10278657" y="3193655"/>
            <a:ext cx="1061289"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14" name="Straight Connector 213">
            <a:extLst>
              <a:ext uri="{FF2B5EF4-FFF2-40B4-BE49-F238E27FC236}">
                <a16:creationId xmlns:a16="http://schemas.microsoft.com/office/drawing/2014/main" id="{09F6A672-448A-6194-4591-B42CC201B189}"/>
              </a:ext>
            </a:extLst>
          </p:cNvPr>
          <p:cNvCxnSpPr>
            <a:cxnSpLocks/>
          </p:cNvCxnSpPr>
          <p:nvPr/>
        </p:nvCxnSpPr>
        <p:spPr>
          <a:xfrm>
            <a:off x="10278657" y="3898175"/>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15" name="Straight Connector 214">
            <a:extLst>
              <a:ext uri="{FF2B5EF4-FFF2-40B4-BE49-F238E27FC236}">
                <a16:creationId xmlns:a16="http://schemas.microsoft.com/office/drawing/2014/main" id="{5359F28C-081E-B857-6CF1-E9E451E2D604}"/>
              </a:ext>
            </a:extLst>
          </p:cNvPr>
          <p:cNvCxnSpPr>
            <a:cxnSpLocks/>
          </p:cNvCxnSpPr>
          <p:nvPr/>
        </p:nvCxnSpPr>
        <p:spPr>
          <a:xfrm>
            <a:off x="10278657" y="4508759"/>
            <a:ext cx="887415" cy="0"/>
          </a:xfrm>
          <a:prstGeom prst="line">
            <a:avLst/>
          </a:prstGeom>
          <a:ln w="38100">
            <a:solidFill>
              <a:schemeClr val="accent3">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6" name="Straight Connector 215">
            <a:extLst>
              <a:ext uri="{FF2B5EF4-FFF2-40B4-BE49-F238E27FC236}">
                <a16:creationId xmlns:a16="http://schemas.microsoft.com/office/drawing/2014/main" id="{CCE3AFCE-3732-2F51-F738-3B4AB9C9D727}"/>
              </a:ext>
            </a:extLst>
          </p:cNvPr>
          <p:cNvCxnSpPr>
            <a:cxnSpLocks/>
          </p:cNvCxnSpPr>
          <p:nvPr/>
        </p:nvCxnSpPr>
        <p:spPr>
          <a:xfrm>
            <a:off x="10278657" y="3475463"/>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217" name="Straight Connector 216">
            <a:extLst>
              <a:ext uri="{FF2B5EF4-FFF2-40B4-BE49-F238E27FC236}">
                <a16:creationId xmlns:a16="http://schemas.microsoft.com/office/drawing/2014/main" id="{57D728EA-B5C1-6485-9B86-59E4BB07D247}"/>
              </a:ext>
            </a:extLst>
          </p:cNvPr>
          <p:cNvCxnSpPr>
            <a:cxnSpLocks/>
          </p:cNvCxnSpPr>
          <p:nvPr/>
        </p:nvCxnSpPr>
        <p:spPr>
          <a:xfrm>
            <a:off x="10278657" y="3334559"/>
            <a:ext cx="887415" cy="0"/>
          </a:xfrm>
          <a:prstGeom prst="line">
            <a:avLst/>
          </a:prstGeom>
          <a:ln w="38100">
            <a:solidFill>
              <a:schemeClr val="accent3">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8" name="Straight Connector 217">
            <a:extLst>
              <a:ext uri="{FF2B5EF4-FFF2-40B4-BE49-F238E27FC236}">
                <a16:creationId xmlns:a16="http://schemas.microsoft.com/office/drawing/2014/main" id="{F8E68517-A795-1A09-B370-D025A2DFE4B1}"/>
              </a:ext>
            </a:extLst>
          </p:cNvPr>
          <p:cNvCxnSpPr>
            <a:cxnSpLocks/>
          </p:cNvCxnSpPr>
          <p:nvPr/>
        </p:nvCxnSpPr>
        <p:spPr>
          <a:xfrm>
            <a:off x="10278657" y="4179983"/>
            <a:ext cx="687224"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219" name="Straight Connector 218">
            <a:extLst>
              <a:ext uri="{FF2B5EF4-FFF2-40B4-BE49-F238E27FC236}">
                <a16:creationId xmlns:a16="http://schemas.microsoft.com/office/drawing/2014/main" id="{53A40B8C-B627-774E-6A5D-503471BF9983}"/>
              </a:ext>
            </a:extLst>
          </p:cNvPr>
          <p:cNvCxnSpPr>
            <a:cxnSpLocks/>
          </p:cNvCxnSpPr>
          <p:nvPr/>
        </p:nvCxnSpPr>
        <p:spPr>
          <a:xfrm>
            <a:off x="10278657" y="3616367"/>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220" name="Straight Connector 219">
            <a:extLst>
              <a:ext uri="{FF2B5EF4-FFF2-40B4-BE49-F238E27FC236}">
                <a16:creationId xmlns:a16="http://schemas.microsoft.com/office/drawing/2014/main" id="{FDAE714A-6A4A-E8AA-1310-88AF6774D1EF}"/>
              </a:ext>
            </a:extLst>
          </p:cNvPr>
          <p:cNvCxnSpPr>
            <a:cxnSpLocks/>
          </p:cNvCxnSpPr>
          <p:nvPr/>
        </p:nvCxnSpPr>
        <p:spPr>
          <a:xfrm>
            <a:off x="10278657" y="3804239"/>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221" name="Straight Connector 220">
            <a:extLst>
              <a:ext uri="{FF2B5EF4-FFF2-40B4-BE49-F238E27FC236}">
                <a16:creationId xmlns:a16="http://schemas.microsoft.com/office/drawing/2014/main" id="{E5FB358A-9A37-FEC5-B632-F60F17094936}"/>
              </a:ext>
            </a:extLst>
          </p:cNvPr>
          <p:cNvCxnSpPr>
            <a:cxnSpLocks/>
          </p:cNvCxnSpPr>
          <p:nvPr/>
        </p:nvCxnSpPr>
        <p:spPr>
          <a:xfrm>
            <a:off x="10278657" y="4039079"/>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222" name="Straight Connector 221">
            <a:extLst>
              <a:ext uri="{FF2B5EF4-FFF2-40B4-BE49-F238E27FC236}">
                <a16:creationId xmlns:a16="http://schemas.microsoft.com/office/drawing/2014/main" id="{B4790533-55BF-E1D2-FDD8-AAEF67C35498}"/>
              </a:ext>
            </a:extLst>
          </p:cNvPr>
          <p:cNvCxnSpPr>
            <a:cxnSpLocks/>
          </p:cNvCxnSpPr>
          <p:nvPr/>
        </p:nvCxnSpPr>
        <p:spPr>
          <a:xfrm>
            <a:off x="10278657" y="4226951"/>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223" name="Straight Connector 222">
            <a:extLst>
              <a:ext uri="{FF2B5EF4-FFF2-40B4-BE49-F238E27FC236}">
                <a16:creationId xmlns:a16="http://schemas.microsoft.com/office/drawing/2014/main" id="{B56AEE61-B706-2F3C-EB5D-EFCCD626FCB1}"/>
              </a:ext>
            </a:extLst>
          </p:cNvPr>
          <p:cNvCxnSpPr>
            <a:cxnSpLocks/>
          </p:cNvCxnSpPr>
          <p:nvPr/>
        </p:nvCxnSpPr>
        <p:spPr>
          <a:xfrm>
            <a:off x="10278657" y="4743599"/>
            <a:ext cx="604414"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224" name="Straight Connector 223">
            <a:extLst>
              <a:ext uri="{FF2B5EF4-FFF2-40B4-BE49-F238E27FC236}">
                <a16:creationId xmlns:a16="http://schemas.microsoft.com/office/drawing/2014/main" id="{0E8C3A20-8690-92B1-8FE8-3E9EFF24CEB9}"/>
              </a:ext>
            </a:extLst>
          </p:cNvPr>
          <p:cNvCxnSpPr>
            <a:cxnSpLocks/>
          </p:cNvCxnSpPr>
          <p:nvPr/>
        </p:nvCxnSpPr>
        <p:spPr>
          <a:xfrm>
            <a:off x="10278657" y="4555727"/>
            <a:ext cx="604414"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225" name="Straight Connector 224">
            <a:extLst>
              <a:ext uri="{FF2B5EF4-FFF2-40B4-BE49-F238E27FC236}">
                <a16:creationId xmlns:a16="http://schemas.microsoft.com/office/drawing/2014/main" id="{B61C4E9E-DADD-4BCD-07C6-08A14BAB2C1D}"/>
              </a:ext>
            </a:extLst>
          </p:cNvPr>
          <p:cNvCxnSpPr>
            <a:cxnSpLocks/>
          </p:cNvCxnSpPr>
          <p:nvPr/>
        </p:nvCxnSpPr>
        <p:spPr>
          <a:xfrm>
            <a:off x="10278657" y="2817911"/>
            <a:ext cx="1179052"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26" name="Straight Connector 225">
            <a:extLst>
              <a:ext uri="{FF2B5EF4-FFF2-40B4-BE49-F238E27FC236}">
                <a16:creationId xmlns:a16="http://schemas.microsoft.com/office/drawing/2014/main" id="{6763011E-04E5-B3D3-CED1-53842045A543}"/>
              </a:ext>
            </a:extLst>
          </p:cNvPr>
          <p:cNvCxnSpPr>
            <a:cxnSpLocks/>
          </p:cNvCxnSpPr>
          <p:nvPr/>
        </p:nvCxnSpPr>
        <p:spPr>
          <a:xfrm>
            <a:off x="10278657" y="2958815"/>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27" name="Straight Connector 226">
            <a:extLst>
              <a:ext uri="{FF2B5EF4-FFF2-40B4-BE49-F238E27FC236}">
                <a16:creationId xmlns:a16="http://schemas.microsoft.com/office/drawing/2014/main" id="{4BD4E543-79C1-6178-A484-9DD587C2FD03}"/>
              </a:ext>
            </a:extLst>
          </p:cNvPr>
          <p:cNvCxnSpPr>
            <a:cxnSpLocks/>
          </p:cNvCxnSpPr>
          <p:nvPr/>
        </p:nvCxnSpPr>
        <p:spPr>
          <a:xfrm>
            <a:off x="10278657" y="3099719"/>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28" name="Straight Connector 227">
            <a:extLst>
              <a:ext uri="{FF2B5EF4-FFF2-40B4-BE49-F238E27FC236}">
                <a16:creationId xmlns:a16="http://schemas.microsoft.com/office/drawing/2014/main" id="{FBFA8F54-95E0-2E12-7834-49A2EA1732D4}"/>
              </a:ext>
            </a:extLst>
          </p:cNvPr>
          <p:cNvCxnSpPr>
            <a:cxnSpLocks/>
          </p:cNvCxnSpPr>
          <p:nvPr/>
        </p:nvCxnSpPr>
        <p:spPr>
          <a:xfrm>
            <a:off x="10278657" y="3287591"/>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29" name="Straight Connector 228">
            <a:extLst>
              <a:ext uri="{FF2B5EF4-FFF2-40B4-BE49-F238E27FC236}">
                <a16:creationId xmlns:a16="http://schemas.microsoft.com/office/drawing/2014/main" id="{1015F758-6380-490A-70C8-0F45FCF21A23}"/>
              </a:ext>
            </a:extLst>
          </p:cNvPr>
          <p:cNvCxnSpPr>
            <a:cxnSpLocks/>
          </p:cNvCxnSpPr>
          <p:nvPr/>
        </p:nvCxnSpPr>
        <p:spPr>
          <a:xfrm>
            <a:off x="10278657" y="3381527"/>
            <a:ext cx="1061289"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30" name="Straight Connector 229">
            <a:extLst>
              <a:ext uri="{FF2B5EF4-FFF2-40B4-BE49-F238E27FC236}">
                <a16:creationId xmlns:a16="http://schemas.microsoft.com/office/drawing/2014/main" id="{94997056-745B-70BF-0419-D1C61BCACF93}"/>
              </a:ext>
            </a:extLst>
          </p:cNvPr>
          <p:cNvCxnSpPr>
            <a:cxnSpLocks/>
          </p:cNvCxnSpPr>
          <p:nvPr/>
        </p:nvCxnSpPr>
        <p:spPr>
          <a:xfrm>
            <a:off x="10278657" y="4133015"/>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31" name="Straight Connector 230">
            <a:extLst>
              <a:ext uri="{FF2B5EF4-FFF2-40B4-BE49-F238E27FC236}">
                <a16:creationId xmlns:a16="http://schemas.microsoft.com/office/drawing/2014/main" id="{7191BA0F-EB6A-3FF7-0DC4-1A75AC34A14D}"/>
              </a:ext>
            </a:extLst>
          </p:cNvPr>
          <p:cNvCxnSpPr>
            <a:cxnSpLocks/>
          </p:cNvCxnSpPr>
          <p:nvPr/>
        </p:nvCxnSpPr>
        <p:spPr>
          <a:xfrm>
            <a:off x="10278657" y="4602695"/>
            <a:ext cx="887415" cy="0"/>
          </a:xfrm>
          <a:prstGeom prst="line">
            <a:avLst/>
          </a:prstGeom>
          <a:ln w="38100">
            <a:solidFill>
              <a:schemeClr val="accent3">
                <a:lumMod val="75000"/>
              </a:schemeClr>
            </a:solidFill>
          </a:ln>
        </p:spPr>
        <p:style>
          <a:lnRef idx="2">
            <a:schemeClr val="accent1"/>
          </a:lnRef>
          <a:fillRef idx="0">
            <a:schemeClr val="accent1"/>
          </a:fillRef>
          <a:effectRef idx="1">
            <a:schemeClr val="accent1"/>
          </a:effectRef>
          <a:fontRef idx="minor">
            <a:schemeClr val="tx1"/>
          </a:fontRef>
        </p:style>
      </p:cxnSp>
      <p:cxnSp>
        <p:nvCxnSpPr>
          <p:cNvPr id="232" name="Straight Connector 231">
            <a:extLst>
              <a:ext uri="{FF2B5EF4-FFF2-40B4-BE49-F238E27FC236}">
                <a16:creationId xmlns:a16="http://schemas.microsoft.com/office/drawing/2014/main" id="{F0A5EA59-989D-82A6-795E-1EA413972368}"/>
              </a:ext>
            </a:extLst>
          </p:cNvPr>
          <p:cNvCxnSpPr>
            <a:cxnSpLocks/>
          </p:cNvCxnSpPr>
          <p:nvPr/>
        </p:nvCxnSpPr>
        <p:spPr>
          <a:xfrm>
            <a:off x="10278657" y="3663335"/>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233" name="Straight Connector 232">
            <a:extLst>
              <a:ext uri="{FF2B5EF4-FFF2-40B4-BE49-F238E27FC236}">
                <a16:creationId xmlns:a16="http://schemas.microsoft.com/office/drawing/2014/main" id="{8C7CF663-18F6-B51C-6D32-84D9880DB3D2}"/>
              </a:ext>
            </a:extLst>
          </p:cNvPr>
          <p:cNvCxnSpPr>
            <a:cxnSpLocks/>
          </p:cNvCxnSpPr>
          <p:nvPr/>
        </p:nvCxnSpPr>
        <p:spPr>
          <a:xfrm>
            <a:off x="10278657" y="3522431"/>
            <a:ext cx="887415" cy="0"/>
          </a:xfrm>
          <a:prstGeom prst="line">
            <a:avLst/>
          </a:prstGeom>
          <a:ln w="38100">
            <a:solidFill>
              <a:schemeClr val="accent3">
                <a:lumMod val="75000"/>
              </a:schemeClr>
            </a:solidFill>
          </a:ln>
        </p:spPr>
        <p:style>
          <a:lnRef idx="2">
            <a:schemeClr val="accent1"/>
          </a:lnRef>
          <a:fillRef idx="0">
            <a:schemeClr val="accent1"/>
          </a:fillRef>
          <a:effectRef idx="1">
            <a:schemeClr val="accent1"/>
          </a:effectRef>
          <a:fontRef idx="minor">
            <a:schemeClr val="tx1"/>
          </a:fontRef>
        </p:style>
      </p:cxnSp>
      <p:cxnSp>
        <p:nvCxnSpPr>
          <p:cNvPr id="234" name="Straight Connector 233">
            <a:extLst>
              <a:ext uri="{FF2B5EF4-FFF2-40B4-BE49-F238E27FC236}">
                <a16:creationId xmlns:a16="http://schemas.microsoft.com/office/drawing/2014/main" id="{3BB0F129-AFC4-D7A8-8090-793B63CABF66}"/>
              </a:ext>
            </a:extLst>
          </p:cNvPr>
          <p:cNvCxnSpPr>
            <a:cxnSpLocks/>
          </p:cNvCxnSpPr>
          <p:nvPr/>
        </p:nvCxnSpPr>
        <p:spPr>
          <a:xfrm>
            <a:off x="10278657" y="4367855"/>
            <a:ext cx="687224"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235" name="Straight Connector 234">
            <a:extLst>
              <a:ext uri="{FF2B5EF4-FFF2-40B4-BE49-F238E27FC236}">
                <a16:creationId xmlns:a16="http://schemas.microsoft.com/office/drawing/2014/main" id="{6B7B25EE-4A9D-1B80-9E4B-1D6099FB9291}"/>
              </a:ext>
            </a:extLst>
          </p:cNvPr>
          <p:cNvCxnSpPr>
            <a:cxnSpLocks/>
          </p:cNvCxnSpPr>
          <p:nvPr/>
        </p:nvCxnSpPr>
        <p:spPr>
          <a:xfrm>
            <a:off x="10278657" y="3851207"/>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236" name="Straight Connector 235">
            <a:extLst>
              <a:ext uri="{FF2B5EF4-FFF2-40B4-BE49-F238E27FC236}">
                <a16:creationId xmlns:a16="http://schemas.microsoft.com/office/drawing/2014/main" id="{AEE054E3-3FDD-E379-8524-16F091F1AC1D}"/>
              </a:ext>
            </a:extLst>
          </p:cNvPr>
          <p:cNvCxnSpPr>
            <a:cxnSpLocks/>
          </p:cNvCxnSpPr>
          <p:nvPr/>
        </p:nvCxnSpPr>
        <p:spPr>
          <a:xfrm>
            <a:off x="10278657" y="4086047"/>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237" name="Straight Connector 236">
            <a:extLst>
              <a:ext uri="{FF2B5EF4-FFF2-40B4-BE49-F238E27FC236}">
                <a16:creationId xmlns:a16="http://schemas.microsoft.com/office/drawing/2014/main" id="{F44F087B-363D-139C-B916-5F10BA2ED1E8}"/>
              </a:ext>
            </a:extLst>
          </p:cNvPr>
          <p:cNvCxnSpPr>
            <a:cxnSpLocks/>
          </p:cNvCxnSpPr>
          <p:nvPr/>
        </p:nvCxnSpPr>
        <p:spPr>
          <a:xfrm>
            <a:off x="10278657" y="4273919"/>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238" name="Straight Connector 237">
            <a:extLst>
              <a:ext uri="{FF2B5EF4-FFF2-40B4-BE49-F238E27FC236}">
                <a16:creationId xmlns:a16="http://schemas.microsoft.com/office/drawing/2014/main" id="{A74F38D2-9333-3A02-0473-251BA06844D4}"/>
              </a:ext>
            </a:extLst>
          </p:cNvPr>
          <p:cNvCxnSpPr>
            <a:cxnSpLocks/>
          </p:cNvCxnSpPr>
          <p:nvPr/>
        </p:nvCxnSpPr>
        <p:spPr>
          <a:xfrm>
            <a:off x="10278657" y="4414823"/>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239" name="Straight Connector 238">
            <a:extLst>
              <a:ext uri="{FF2B5EF4-FFF2-40B4-BE49-F238E27FC236}">
                <a16:creationId xmlns:a16="http://schemas.microsoft.com/office/drawing/2014/main" id="{46306E98-D88A-65C4-D0DC-ADD24E29BAD7}"/>
              </a:ext>
            </a:extLst>
          </p:cNvPr>
          <p:cNvCxnSpPr>
            <a:cxnSpLocks/>
          </p:cNvCxnSpPr>
          <p:nvPr/>
        </p:nvCxnSpPr>
        <p:spPr>
          <a:xfrm>
            <a:off x="10278657" y="4790563"/>
            <a:ext cx="604414"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240" name="Straight Connector 239">
            <a:extLst>
              <a:ext uri="{FF2B5EF4-FFF2-40B4-BE49-F238E27FC236}">
                <a16:creationId xmlns:a16="http://schemas.microsoft.com/office/drawing/2014/main" id="{A2539DF3-C5EE-F624-4102-8C9C8A0E2C65}"/>
              </a:ext>
            </a:extLst>
          </p:cNvPr>
          <p:cNvCxnSpPr>
            <a:cxnSpLocks/>
          </p:cNvCxnSpPr>
          <p:nvPr/>
        </p:nvCxnSpPr>
        <p:spPr>
          <a:xfrm>
            <a:off x="10278657" y="4696631"/>
            <a:ext cx="604414"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sp>
        <p:nvSpPr>
          <p:cNvPr id="242" name="TextBox 241">
            <a:extLst>
              <a:ext uri="{FF2B5EF4-FFF2-40B4-BE49-F238E27FC236}">
                <a16:creationId xmlns:a16="http://schemas.microsoft.com/office/drawing/2014/main" id="{3D55E0C9-0145-30CA-3A1C-10B18FA49CCC}"/>
              </a:ext>
            </a:extLst>
          </p:cNvPr>
          <p:cNvSpPr txBox="1"/>
          <p:nvPr/>
        </p:nvSpPr>
        <p:spPr>
          <a:xfrm>
            <a:off x="10209379" y="4682809"/>
            <a:ext cx="772803" cy="369332"/>
          </a:xfrm>
          <a:prstGeom prst="rect">
            <a:avLst/>
          </a:prstGeom>
          <a:noFill/>
        </p:spPr>
        <p:txBody>
          <a:bodyPr wrap="square" rtlCol="0">
            <a:spAutoFit/>
          </a:bodyPr>
          <a:lstStyle/>
          <a:p>
            <a:r>
              <a:rPr lang="en-DK" dirty="0"/>
              <a:t>…</a:t>
            </a:r>
          </a:p>
        </p:txBody>
      </p:sp>
      <p:sp>
        <p:nvSpPr>
          <p:cNvPr id="243" name="TextBox 242">
            <a:extLst>
              <a:ext uri="{FF2B5EF4-FFF2-40B4-BE49-F238E27FC236}">
                <a16:creationId xmlns:a16="http://schemas.microsoft.com/office/drawing/2014/main" id="{ABACE67E-F024-5D27-9D13-069812A13EF0}"/>
              </a:ext>
            </a:extLst>
          </p:cNvPr>
          <p:cNvSpPr txBox="1"/>
          <p:nvPr/>
        </p:nvSpPr>
        <p:spPr>
          <a:xfrm>
            <a:off x="411457" y="1043582"/>
            <a:ext cx="11009185" cy="923330"/>
          </a:xfrm>
          <a:prstGeom prst="rect">
            <a:avLst/>
          </a:prstGeom>
          <a:noFill/>
        </p:spPr>
        <p:txBody>
          <a:bodyPr wrap="square" rtlCol="0">
            <a:spAutoFit/>
          </a:bodyPr>
          <a:lstStyle/>
          <a:p>
            <a:r>
              <a:rPr lang="en-DK" dirty="0"/>
              <a:t>To do functional annotation you can always map reads to genes (read/reference-based annotation)</a:t>
            </a:r>
          </a:p>
          <a:p>
            <a:r>
              <a:rPr lang="en-DK" dirty="0"/>
              <a:t>A common resource used in functional annotation is building a gene catalog</a:t>
            </a:r>
            <a:br>
              <a:rPr lang="en-DK" dirty="0"/>
            </a:br>
            <a:r>
              <a:rPr lang="en-DK" dirty="0"/>
              <a:t>The beginning of the process is the same as the assembly method</a:t>
            </a:r>
          </a:p>
        </p:txBody>
      </p:sp>
      <p:sp>
        <p:nvSpPr>
          <p:cNvPr id="244" name="TextBox 243">
            <a:extLst>
              <a:ext uri="{FF2B5EF4-FFF2-40B4-BE49-F238E27FC236}">
                <a16:creationId xmlns:a16="http://schemas.microsoft.com/office/drawing/2014/main" id="{A7B67870-7F43-1ACE-534E-0F12DD9F3027}"/>
              </a:ext>
            </a:extLst>
          </p:cNvPr>
          <p:cNvSpPr txBox="1"/>
          <p:nvPr/>
        </p:nvSpPr>
        <p:spPr>
          <a:xfrm>
            <a:off x="6490798" y="4977350"/>
            <a:ext cx="1610356" cy="923330"/>
          </a:xfrm>
          <a:prstGeom prst="rect">
            <a:avLst/>
          </a:prstGeom>
          <a:noFill/>
        </p:spPr>
        <p:txBody>
          <a:bodyPr wrap="square" rtlCol="0">
            <a:spAutoFit/>
          </a:bodyPr>
          <a:lstStyle/>
          <a:p>
            <a:r>
              <a:rPr lang="en-DK" dirty="0"/>
              <a:t>CD-HIT</a:t>
            </a:r>
          </a:p>
          <a:p>
            <a:r>
              <a:rPr lang="en-DK" dirty="0"/>
              <a:t>95% identity</a:t>
            </a:r>
          </a:p>
          <a:p>
            <a:r>
              <a:rPr lang="en-DK" dirty="0"/>
              <a:t>90% coverage</a:t>
            </a:r>
          </a:p>
        </p:txBody>
      </p:sp>
    </p:spTree>
    <p:extLst>
      <p:ext uri="{BB962C8B-B14F-4D97-AF65-F5344CB8AC3E}">
        <p14:creationId xmlns:p14="http://schemas.microsoft.com/office/powerpoint/2010/main" val="197141232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8D2BFE-C15D-90C7-D43D-83FAEFCEA0AD}"/>
              </a:ext>
            </a:extLst>
          </p:cNvPr>
          <p:cNvSpPr>
            <a:spLocks noGrp="1"/>
          </p:cNvSpPr>
          <p:nvPr>
            <p:ph type="title"/>
          </p:nvPr>
        </p:nvSpPr>
        <p:spPr>
          <a:xfrm>
            <a:off x="344615" y="-93735"/>
            <a:ext cx="11847385" cy="1325563"/>
          </a:xfrm>
        </p:spPr>
        <p:txBody>
          <a:bodyPr>
            <a:normAutofit/>
          </a:bodyPr>
          <a:lstStyle/>
          <a:p>
            <a:r>
              <a:rPr lang="en-US" sz="3600" dirty="0">
                <a:latin typeface="Calibri" charset="0"/>
                <a:ea typeface="Calibri" charset="0"/>
                <a:cs typeface="Calibri" charset="0"/>
              </a:rPr>
              <a:t>Annotating the gene catalog and getting functional abundance</a:t>
            </a:r>
            <a:endParaRPr lang="en-DK" sz="3600" dirty="0"/>
          </a:p>
        </p:txBody>
      </p:sp>
      <p:sp>
        <p:nvSpPr>
          <p:cNvPr id="5" name="Right Arrow 4">
            <a:extLst>
              <a:ext uri="{FF2B5EF4-FFF2-40B4-BE49-F238E27FC236}">
                <a16:creationId xmlns:a16="http://schemas.microsoft.com/office/drawing/2014/main" id="{5330876F-F096-887A-C8A3-AB7D6FA06999}"/>
              </a:ext>
            </a:extLst>
          </p:cNvPr>
          <p:cNvSpPr/>
          <p:nvPr/>
        </p:nvSpPr>
        <p:spPr>
          <a:xfrm>
            <a:off x="3897541" y="2779680"/>
            <a:ext cx="1126213" cy="480448"/>
          </a:xfrm>
          <a:prstGeom prst="rightArrow">
            <a:avLst/>
          </a:prstGeom>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spcBef>
                <a:spcPts val="600"/>
              </a:spcBef>
            </a:pPr>
            <a:endParaRPr lang="en-US" sz="1800" dirty="0" err="1">
              <a:latin typeface="Calibri" charset="0"/>
              <a:ea typeface="Calibri" charset="0"/>
              <a:cs typeface="Calibri" charset="0"/>
            </a:endParaRPr>
          </a:p>
        </p:txBody>
      </p:sp>
      <p:sp>
        <p:nvSpPr>
          <p:cNvPr id="6" name="TextBox 5">
            <a:extLst>
              <a:ext uri="{FF2B5EF4-FFF2-40B4-BE49-F238E27FC236}">
                <a16:creationId xmlns:a16="http://schemas.microsoft.com/office/drawing/2014/main" id="{59235612-2C29-2DE0-864E-94C86FA03A2A}"/>
              </a:ext>
            </a:extLst>
          </p:cNvPr>
          <p:cNvSpPr txBox="1"/>
          <p:nvPr/>
        </p:nvSpPr>
        <p:spPr>
          <a:xfrm>
            <a:off x="5225455" y="2754321"/>
            <a:ext cx="2659426" cy="1646605"/>
          </a:xfrm>
          <a:prstGeom prst="rect">
            <a:avLst/>
          </a:prstGeom>
          <a:noFill/>
        </p:spPr>
        <p:txBody>
          <a:bodyPr wrap="square" rtlCol="0">
            <a:spAutoFit/>
          </a:bodyPr>
          <a:lstStyle/>
          <a:p>
            <a:pPr algn="ctr">
              <a:spcBef>
                <a:spcPts val="600"/>
              </a:spcBef>
            </a:pPr>
            <a:r>
              <a:rPr lang="en-US" sz="1600" b="1" dirty="0" err="1">
                <a:latin typeface="Calibri" charset="0"/>
                <a:ea typeface="Calibri" charset="0"/>
                <a:cs typeface="Calibri" charset="0"/>
              </a:rPr>
              <a:t>eggNOG</a:t>
            </a:r>
            <a:r>
              <a:rPr lang="en-US" sz="1600" b="1" dirty="0">
                <a:latin typeface="Calibri" charset="0"/>
                <a:ea typeface="Calibri" charset="0"/>
                <a:cs typeface="Calibri" charset="0"/>
              </a:rPr>
              <a:t> orthologous</a:t>
            </a:r>
          </a:p>
          <a:p>
            <a:pPr algn="ctr">
              <a:spcBef>
                <a:spcPts val="600"/>
              </a:spcBef>
            </a:pPr>
            <a:r>
              <a:rPr lang="en-GB" sz="1600" dirty="0"/>
              <a:t>Descend from a single gene in the last common ancestor and typically perform the same function across species</a:t>
            </a:r>
            <a:endParaRPr lang="en-US" sz="1600" dirty="0">
              <a:latin typeface="Calibri" charset="0"/>
              <a:ea typeface="Calibri" charset="0"/>
              <a:cs typeface="Calibri" charset="0"/>
            </a:endParaRPr>
          </a:p>
        </p:txBody>
      </p:sp>
      <p:sp>
        <p:nvSpPr>
          <p:cNvPr id="9" name="TextBox 8">
            <a:extLst>
              <a:ext uri="{FF2B5EF4-FFF2-40B4-BE49-F238E27FC236}">
                <a16:creationId xmlns:a16="http://schemas.microsoft.com/office/drawing/2014/main" id="{F37BF3E0-64CD-3FCD-C53A-1E4F4CD96D20}"/>
              </a:ext>
            </a:extLst>
          </p:cNvPr>
          <p:cNvSpPr txBox="1"/>
          <p:nvPr/>
        </p:nvSpPr>
        <p:spPr>
          <a:xfrm>
            <a:off x="3368174" y="2225318"/>
            <a:ext cx="2031597" cy="2046714"/>
          </a:xfrm>
          <a:prstGeom prst="rect">
            <a:avLst/>
          </a:prstGeom>
          <a:noFill/>
        </p:spPr>
        <p:txBody>
          <a:bodyPr wrap="square" rtlCol="0">
            <a:spAutoFit/>
          </a:bodyPr>
          <a:lstStyle/>
          <a:p>
            <a:pPr algn="ctr">
              <a:spcBef>
                <a:spcPts val="600"/>
              </a:spcBef>
            </a:pPr>
            <a:r>
              <a:rPr lang="en-US" sz="1600" b="1" dirty="0" err="1">
                <a:latin typeface="Calibri" charset="0"/>
                <a:ea typeface="Calibri" charset="0"/>
                <a:cs typeface="Calibri" charset="0"/>
              </a:rPr>
              <a:t>eggNOG</a:t>
            </a:r>
            <a:endParaRPr lang="en-US" sz="1600" b="1" dirty="0">
              <a:latin typeface="Calibri" charset="0"/>
              <a:ea typeface="Calibri" charset="0"/>
              <a:cs typeface="Calibri" charset="0"/>
            </a:endParaRPr>
          </a:p>
          <a:p>
            <a:pPr algn="ctr">
              <a:spcBef>
                <a:spcPts val="600"/>
              </a:spcBef>
            </a:pPr>
            <a:r>
              <a:rPr lang="en-US" sz="1600" b="1" dirty="0">
                <a:latin typeface="Calibri" charset="0"/>
                <a:ea typeface="Calibri" charset="0"/>
                <a:cs typeface="Calibri" charset="0"/>
              </a:rPr>
              <a:t>mapper</a:t>
            </a:r>
          </a:p>
          <a:p>
            <a:pPr algn="ctr">
              <a:spcBef>
                <a:spcPts val="600"/>
              </a:spcBef>
            </a:pPr>
            <a:endParaRPr lang="en-US" sz="1600" dirty="0">
              <a:latin typeface="Calibri" charset="0"/>
              <a:ea typeface="Calibri" charset="0"/>
              <a:cs typeface="Calibri" charset="0"/>
            </a:endParaRPr>
          </a:p>
          <a:p>
            <a:pPr algn="ctr">
              <a:spcBef>
                <a:spcPts val="600"/>
              </a:spcBef>
            </a:pPr>
            <a:r>
              <a:rPr lang="en-GB" sz="1600" dirty="0"/>
              <a:t>Functional annotation tool using </a:t>
            </a:r>
            <a:r>
              <a:rPr lang="en-GB" sz="1600" dirty="0" err="1"/>
              <a:t>orthology</a:t>
            </a:r>
            <a:r>
              <a:rPr lang="en-GB" sz="1600" dirty="0"/>
              <a:t>-based inference</a:t>
            </a:r>
            <a:endParaRPr lang="en-US" sz="1600" dirty="0">
              <a:latin typeface="Calibri" charset="0"/>
              <a:ea typeface="Calibri" charset="0"/>
              <a:cs typeface="Calibri" charset="0"/>
            </a:endParaRPr>
          </a:p>
        </p:txBody>
      </p:sp>
      <p:sp>
        <p:nvSpPr>
          <p:cNvPr id="18" name="TextBox 17">
            <a:extLst>
              <a:ext uri="{FF2B5EF4-FFF2-40B4-BE49-F238E27FC236}">
                <a16:creationId xmlns:a16="http://schemas.microsoft.com/office/drawing/2014/main" id="{DB429759-03E4-0EF1-7A0A-5132ECCFC9AB}"/>
              </a:ext>
            </a:extLst>
          </p:cNvPr>
          <p:cNvSpPr txBox="1"/>
          <p:nvPr/>
        </p:nvSpPr>
        <p:spPr>
          <a:xfrm>
            <a:off x="641073" y="940534"/>
            <a:ext cx="11120867" cy="1200329"/>
          </a:xfrm>
          <a:prstGeom prst="rect">
            <a:avLst/>
          </a:prstGeom>
          <a:noFill/>
        </p:spPr>
        <p:txBody>
          <a:bodyPr wrap="square" rtlCol="0">
            <a:spAutoFit/>
          </a:bodyPr>
          <a:lstStyle/>
          <a:p>
            <a:r>
              <a:rPr lang="en-DK" dirty="0"/>
              <a:t>Reads can be mapped to the catalog genes to infer gene abudance and those genes can be mapped to several functional information databases (e.g KEGG database, PATRIC Database, CARD or Resfams antibiotic resistance gene databases,…)</a:t>
            </a:r>
          </a:p>
          <a:p>
            <a:endParaRPr lang="en-DK" dirty="0"/>
          </a:p>
        </p:txBody>
      </p:sp>
      <p:sp>
        <p:nvSpPr>
          <p:cNvPr id="19" name="TextBox 18">
            <a:extLst>
              <a:ext uri="{FF2B5EF4-FFF2-40B4-BE49-F238E27FC236}">
                <a16:creationId xmlns:a16="http://schemas.microsoft.com/office/drawing/2014/main" id="{6C3AA894-367B-C133-064E-4EFF8C4AC756}"/>
              </a:ext>
            </a:extLst>
          </p:cNvPr>
          <p:cNvSpPr txBox="1"/>
          <p:nvPr/>
        </p:nvSpPr>
        <p:spPr>
          <a:xfrm>
            <a:off x="1805423" y="4443798"/>
            <a:ext cx="1842667" cy="646331"/>
          </a:xfrm>
          <a:prstGeom prst="rect">
            <a:avLst/>
          </a:prstGeom>
          <a:noFill/>
        </p:spPr>
        <p:txBody>
          <a:bodyPr wrap="square" rtlCol="0">
            <a:spAutoFit/>
          </a:bodyPr>
          <a:lstStyle/>
          <a:p>
            <a:r>
              <a:rPr lang="en-DK" b="1" dirty="0"/>
              <a:t>Non-redundant gene catalog</a:t>
            </a:r>
          </a:p>
        </p:txBody>
      </p:sp>
      <p:cxnSp>
        <p:nvCxnSpPr>
          <p:cNvPr id="20" name="Straight Connector 19">
            <a:extLst>
              <a:ext uri="{FF2B5EF4-FFF2-40B4-BE49-F238E27FC236}">
                <a16:creationId xmlns:a16="http://schemas.microsoft.com/office/drawing/2014/main" id="{982A8536-139A-CA79-F157-F2C0A95B04A9}"/>
              </a:ext>
            </a:extLst>
          </p:cNvPr>
          <p:cNvCxnSpPr>
            <a:cxnSpLocks/>
          </p:cNvCxnSpPr>
          <p:nvPr/>
        </p:nvCxnSpPr>
        <p:spPr>
          <a:xfrm>
            <a:off x="2101881" y="2064540"/>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1" name="Straight Connector 20">
            <a:extLst>
              <a:ext uri="{FF2B5EF4-FFF2-40B4-BE49-F238E27FC236}">
                <a16:creationId xmlns:a16="http://schemas.microsoft.com/office/drawing/2014/main" id="{99A9C5BF-4F80-B204-9EA7-4768E8C80DE8}"/>
              </a:ext>
            </a:extLst>
          </p:cNvPr>
          <p:cNvCxnSpPr>
            <a:cxnSpLocks/>
          </p:cNvCxnSpPr>
          <p:nvPr/>
        </p:nvCxnSpPr>
        <p:spPr>
          <a:xfrm>
            <a:off x="2101881" y="2111508"/>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EE2E777A-9031-A38B-A8FD-583C17441314}"/>
              </a:ext>
            </a:extLst>
          </p:cNvPr>
          <p:cNvCxnSpPr>
            <a:cxnSpLocks/>
          </p:cNvCxnSpPr>
          <p:nvPr/>
        </p:nvCxnSpPr>
        <p:spPr>
          <a:xfrm>
            <a:off x="2101881" y="2205444"/>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E6DA3373-3D91-A2E5-4E5D-81DF6E2945DC}"/>
              </a:ext>
            </a:extLst>
          </p:cNvPr>
          <p:cNvCxnSpPr>
            <a:cxnSpLocks/>
          </p:cNvCxnSpPr>
          <p:nvPr/>
        </p:nvCxnSpPr>
        <p:spPr>
          <a:xfrm>
            <a:off x="2101881" y="2346348"/>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23EFAA52-83F6-72A0-7B4A-9D67C7121124}"/>
              </a:ext>
            </a:extLst>
          </p:cNvPr>
          <p:cNvCxnSpPr>
            <a:cxnSpLocks/>
          </p:cNvCxnSpPr>
          <p:nvPr/>
        </p:nvCxnSpPr>
        <p:spPr>
          <a:xfrm>
            <a:off x="2101881" y="2487252"/>
            <a:ext cx="1061289"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5" name="Straight Connector 24">
            <a:extLst>
              <a:ext uri="{FF2B5EF4-FFF2-40B4-BE49-F238E27FC236}">
                <a16:creationId xmlns:a16="http://schemas.microsoft.com/office/drawing/2014/main" id="{EC73C2F0-8037-6B14-160C-7A04DE509497}"/>
              </a:ext>
            </a:extLst>
          </p:cNvPr>
          <p:cNvCxnSpPr>
            <a:cxnSpLocks/>
          </p:cNvCxnSpPr>
          <p:nvPr/>
        </p:nvCxnSpPr>
        <p:spPr>
          <a:xfrm>
            <a:off x="2101881" y="3191772"/>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26" name="Straight Connector 25">
            <a:extLst>
              <a:ext uri="{FF2B5EF4-FFF2-40B4-BE49-F238E27FC236}">
                <a16:creationId xmlns:a16="http://schemas.microsoft.com/office/drawing/2014/main" id="{62B47DFA-3E43-5625-A744-219E9D5C3838}"/>
              </a:ext>
            </a:extLst>
          </p:cNvPr>
          <p:cNvCxnSpPr>
            <a:cxnSpLocks/>
          </p:cNvCxnSpPr>
          <p:nvPr/>
        </p:nvCxnSpPr>
        <p:spPr>
          <a:xfrm>
            <a:off x="2101881" y="3802356"/>
            <a:ext cx="887415" cy="0"/>
          </a:xfrm>
          <a:prstGeom prst="line">
            <a:avLst/>
          </a:prstGeom>
          <a:ln w="38100">
            <a:solidFill>
              <a:schemeClr val="accent3">
                <a:lumMod val="75000"/>
              </a:schemeClr>
            </a:solidFill>
          </a:ln>
        </p:spPr>
        <p:style>
          <a:lnRef idx="2">
            <a:schemeClr val="accent1"/>
          </a:lnRef>
          <a:fillRef idx="0">
            <a:schemeClr val="accent1"/>
          </a:fillRef>
          <a:effectRef idx="1">
            <a:schemeClr val="accent1"/>
          </a:effectRef>
          <a:fontRef idx="minor">
            <a:schemeClr val="tx1"/>
          </a:fontRef>
        </p:style>
      </p:cxnSp>
      <p:cxnSp>
        <p:nvCxnSpPr>
          <p:cNvPr id="27" name="Straight Connector 26">
            <a:extLst>
              <a:ext uri="{FF2B5EF4-FFF2-40B4-BE49-F238E27FC236}">
                <a16:creationId xmlns:a16="http://schemas.microsoft.com/office/drawing/2014/main" id="{B406CB78-F47E-B9AD-28C6-16E083EC90E0}"/>
              </a:ext>
            </a:extLst>
          </p:cNvPr>
          <p:cNvCxnSpPr>
            <a:cxnSpLocks/>
          </p:cNvCxnSpPr>
          <p:nvPr/>
        </p:nvCxnSpPr>
        <p:spPr>
          <a:xfrm>
            <a:off x="2101881" y="2722092"/>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28" name="Straight Connector 27">
            <a:extLst>
              <a:ext uri="{FF2B5EF4-FFF2-40B4-BE49-F238E27FC236}">
                <a16:creationId xmlns:a16="http://schemas.microsoft.com/office/drawing/2014/main" id="{30C27100-96E2-D516-334C-0861473C3B66}"/>
              </a:ext>
            </a:extLst>
          </p:cNvPr>
          <p:cNvCxnSpPr>
            <a:cxnSpLocks/>
          </p:cNvCxnSpPr>
          <p:nvPr/>
        </p:nvCxnSpPr>
        <p:spPr>
          <a:xfrm>
            <a:off x="2101881" y="2628156"/>
            <a:ext cx="887415" cy="0"/>
          </a:xfrm>
          <a:prstGeom prst="line">
            <a:avLst/>
          </a:prstGeom>
          <a:ln w="38100">
            <a:solidFill>
              <a:schemeClr val="accent3">
                <a:lumMod val="75000"/>
              </a:schemeClr>
            </a:solidFill>
          </a:ln>
        </p:spPr>
        <p:style>
          <a:lnRef idx="2">
            <a:schemeClr val="accent1"/>
          </a:lnRef>
          <a:fillRef idx="0">
            <a:schemeClr val="accent1"/>
          </a:fillRef>
          <a:effectRef idx="1">
            <a:schemeClr val="accent1"/>
          </a:effectRef>
          <a:fontRef idx="minor">
            <a:schemeClr val="tx1"/>
          </a:fontRef>
        </p:style>
      </p:cxnSp>
      <p:cxnSp>
        <p:nvCxnSpPr>
          <p:cNvPr id="29" name="Straight Connector 28">
            <a:extLst>
              <a:ext uri="{FF2B5EF4-FFF2-40B4-BE49-F238E27FC236}">
                <a16:creationId xmlns:a16="http://schemas.microsoft.com/office/drawing/2014/main" id="{745FB8A0-D7B9-FD5A-27A6-A649FF884D9B}"/>
              </a:ext>
            </a:extLst>
          </p:cNvPr>
          <p:cNvCxnSpPr>
            <a:cxnSpLocks/>
          </p:cNvCxnSpPr>
          <p:nvPr/>
        </p:nvCxnSpPr>
        <p:spPr>
          <a:xfrm>
            <a:off x="2101881" y="3426612"/>
            <a:ext cx="687224"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30" name="Straight Connector 29">
            <a:extLst>
              <a:ext uri="{FF2B5EF4-FFF2-40B4-BE49-F238E27FC236}">
                <a16:creationId xmlns:a16="http://schemas.microsoft.com/office/drawing/2014/main" id="{2F972CBB-A1C5-B318-AF95-0906D04BF9FD}"/>
              </a:ext>
            </a:extLst>
          </p:cNvPr>
          <p:cNvCxnSpPr>
            <a:cxnSpLocks/>
          </p:cNvCxnSpPr>
          <p:nvPr/>
        </p:nvCxnSpPr>
        <p:spPr>
          <a:xfrm>
            <a:off x="2101881" y="2909964"/>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31" name="Straight Connector 30">
            <a:extLst>
              <a:ext uri="{FF2B5EF4-FFF2-40B4-BE49-F238E27FC236}">
                <a16:creationId xmlns:a16="http://schemas.microsoft.com/office/drawing/2014/main" id="{FB02D0F0-CA20-759F-6942-033F16BD5316}"/>
              </a:ext>
            </a:extLst>
          </p:cNvPr>
          <p:cNvCxnSpPr>
            <a:cxnSpLocks/>
          </p:cNvCxnSpPr>
          <p:nvPr/>
        </p:nvCxnSpPr>
        <p:spPr>
          <a:xfrm>
            <a:off x="2101881" y="3050868"/>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32" name="Straight Connector 31">
            <a:extLst>
              <a:ext uri="{FF2B5EF4-FFF2-40B4-BE49-F238E27FC236}">
                <a16:creationId xmlns:a16="http://schemas.microsoft.com/office/drawing/2014/main" id="{51863985-378E-8229-26EF-46F99018CE2D}"/>
              </a:ext>
            </a:extLst>
          </p:cNvPr>
          <p:cNvCxnSpPr>
            <a:cxnSpLocks/>
          </p:cNvCxnSpPr>
          <p:nvPr/>
        </p:nvCxnSpPr>
        <p:spPr>
          <a:xfrm>
            <a:off x="2101881" y="3238740"/>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33" name="Straight Connector 32">
            <a:extLst>
              <a:ext uri="{FF2B5EF4-FFF2-40B4-BE49-F238E27FC236}">
                <a16:creationId xmlns:a16="http://schemas.microsoft.com/office/drawing/2014/main" id="{21C9547F-5908-FA4A-E3D5-44B9D329D327}"/>
              </a:ext>
            </a:extLst>
          </p:cNvPr>
          <p:cNvCxnSpPr>
            <a:cxnSpLocks/>
          </p:cNvCxnSpPr>
          <p:nvPr/>
        </p:nvCxnSpPr>
        <p:spPr>
          <a:xfrm>
            <a:off x="2101881" y="3473580"/>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34" name="Straight Connector 33">
            <a:extLst>
              <a:ext uri="{FF2B5EF4-FFF2-40B4-BE49-F238E27FC236}">
                <a16:creationId xmlns:a16="http://schemas.microsoft.com/office/drawing/2014/main" id="{AA6F96DD-FC7D-C121-D927-196511F1AD4B}"/>
              </a:ext>
            </a:extLst>
          </p:cNvPr>
          <p:cNvCxnSpPr>
            <a:cxnSpLocks/>
          </p:cNvCxnSpPr>
          <p:nvPr/>
        </p:nvCxnSpPr>
        <p:spPr>
          <a:xfrm>
            <a:off x="2101881" y="4131132"/>
            <a:ext cx="604414"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35" name="Straight Connector 34">
            <a:extLst>
              <a:ext uri="{FF2B5EF4-FFF2-40B4-BE49-F238E27FC236}">
                <a16:creationId xmlns:a16="http://schemas.microsoft.com/office/drawing/2014/main" id="{192F8E6F-934C-20DE-76F7-B39CA3C9821F}"/>
              </a:ext>
            </a:extLst>
          </p:cNvPr>
          <p:cNvCxnSpPr>
            <a:cxnSpLocks/>
          </p:cNvCxnSpPr>
          <p:nvPr/>
        </p:nvCxnSpPr>
        <p:spPr>
          <a:xfrm>
            <a:off x="2101881" y="3943260"/>
            <a:ext cx="604414"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36" name="Straight Connector 35">
            <a:extLst>
              <a:ext uri="{FF2B5EF4-FFF2-40B4-BE49-F238E27FC236}">
                <a16:creationId xmlns:a16="http://schemas.microsoft.com/office/drawing/2014/main" id="{1F95BBD1-1040-D6CD-7783-B9F7669FE1F8}"/>
              </a:ext>
            </a:extLst>
          </p:cNvPr>
          <p:cNvCxnSpPr>
            <a:cxnSpLocks/>
          </p:cNvCxnSpPr>
          <p:nvPr/>
        </p:nvCxnSpPr>
        <p:spPr>
          <a:xfrm>
            <a:off x="2101881" y="2158476"/>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37" name="Straight Connector 36">
            <a:extLst>
              <a:ext uri="{FF2B5EF4-FFF2-40B4-BE49-F238E27FC236}">
                <a16:creationId xmlns:a16="http://schemas.microsoft.com/office/drawing/2014/main" id="{A6A758B4-DF95-B145-8437-CEB6E406B0F0}"/>
              </a:ext>
            </a:extLst>
          </p:cNvPr>
          <p:cNvCxnSpPr>
            <a:cxnSpLocks/>
          </p:cNvCxnSpPr>
          <p:nvPr/>
        </p:nvCxnSpPr>
        <p:spPr>
          <a:xfrm>
            <a:off x="2101881" y="2252412"/>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38" name="Straight Connector 37">
            <a:extLst>
              <a:ext uri="{FF2B5EF4-FFF2-40B4-BE49-F238E27FC236}">
                <a16:creationId xmlns:a16="http://schemas.microsoft.com/office/drawing/2014/main" id="{9406FE4F-42A1-D4CA-1EAD-51A4B7731A5A}"/>
              </a:ext>
            </a:extLst>
          </p:cNvPr>
          <p:cNvCxnSpPr>
            <a:cxnSpLocks/>
          </p:cNvCxnSpPr>
          <p:nvPr/>
        </p:nvCxnSpPr>
        <p:spPr>
          <a:xfrm>
            <a:off x="2101881" y="2393316"/>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39" name="Straight Connector 38">
            <a:extLst>
              <a:ext uri="{FF2B5EF4-FFF2-40B4-BE49-F238E27FC236}">
                <a16:creationId xmlns:a16="http://schemas.microsoft.com/office/drawing/2014/main" id="{F4A001F7-6406-4F72-E059-0A2BC193B53D}"/>
              </a:ext>
            </a:extLst>
          </p:cNvPr>
          <p:cNvCxnSpPr>
            <a:cxnSpLocks/>
          </p:cNvCxnSpPr>
          <p:nvPr/>
        </p:nvCxnSpPr>
        <p:spPr>
          <a:xfrm>
            <a:off x="2101881" y="2534220"/>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40" name="Straight Connector 39">
            <a:extLst>
              <a:ext uri="{FF2B5EF4-FFF2-40B4-BE49-F238E27FC236}">
                <a16:creationId xmlns:a16="http://schemas.microsoft.com/office/drawing/2014/main" id="{1A31BAA7-E01D-BEEB-68C9-47E9A7C7F47B}"/>
              </a:ext>
            </a:extLst>
          </p:cNvPr>
          <p:cNvCxnSpPr>
            <a:cxnSpLocks/>
          </p:cNvCxnSpPr>
          <p:nvPr/>
        </p:nvCxnSpPr>
        <p:spPr>
          <a:xfrm>
            <a:off x="2101881" y="2675124"/>
            <a:ext cx="1061289"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41" name="Straight Connector 40">
            <a:extLst>
              <a:ext uri="{FF2B5EF4-FFF2-40B4-BE49-F238E27FC236}">
                <a16:creationId xmlns:a16="http://schemas.microsoft.com/office/drawing/2014/main" id="{41B11AA1-17AF-9A00-27D8-C8DBF9335971}"/>
              </a:ext>
            </a:extLst>
          </p:cNvPr>
          <p:cNvCxnSpPr>
            <a:cxnSpLocks/>
          </p:cNvCxnSpPr>
          <p:nvPr/>
        </p:nvCxnSpPr>
        <p:spPr>
          <a:xfrm>
            <a:off x="2101881" y="3379644"/>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014CDDAE-20F6-C87E-52A0-8EB125513BBD}"/>
              </a:ext>
            </a:extLst>
          </p:cNvPr>
          <p:cNvCxnSpPr>
            <a:cxnSpLocks/>
          </p:cNvCxnSpPr>
          <p:nvPr/>
        </p:nvCxnSpPr>
        <p:spPr>
          <a:xfrm>
            <a:off x="2101881" y="3990228"/>
            <a:ext cx="887415" cy="0"/>
          </a:xfrm>
          <a:prstGeom prst="line">
            <a:avLst/>
          </a:prstGeom>
          <a:ln w="38100">
            <a:solidFill>
              <a:schemeClr val="accent3">
                <a:lumMod val="75000"/>
              </a:schemeClr>
            </a:solidFill>
          </a:ln>
        </p:spPr>
        <p:style>
          <a:lnRef idx="2">
            <a:schemeClr val="accent1"/>
          </a:lnRef>
          <a:fillRef idx="0">
            <a:schemeClr val="accent1"/>
          </a:fillRef>
          <a:effectRef idx="1">
            <a:schemeClr val="accent1"/>
          </a:effectRef>
          <a:fontRef idx="minor">
            <a:schemeClr val="tx1"/>
          </a:fontRef>
        </p:style>
      </p:cxnSp>
      <p:cxnSp>
        <p:nvCxnSpPr>
          <p:cNvPr id="43" name="Straight Connector 42">
            <a:extLst>
              <a:ext uri="{FF2B5EF4-FFF2-40B4-BE49-F238E27FC236}">
                <a16:creationId xmlns:a16="http://schemas.microsoft.com/office/drawing/2014/main" id="{5D4E394C-C6DD-FA8D-4F11-DB1F43D2186B}"/>
              </a:ext>
            </a:extLst>
          </p:cNvPr>
          <p:cNvCxnSpPr>
            <a:cxnSpLocks/>
          </p:cNvCxnSpPr>
          <p:nvPr/>
        </p:nvCxnSpPr>
        <p:spPr>
          <a:xfrm>
            <a:off x="2101881" y="2956932"/>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44" name="Straight Connector 43">
            <a:extLst>
              <a:ext uri="{FF2B5EF4-FFF2-40B4-BE49-F238E27FC236}">
                <a16:creationId xmlns:a16="http://schemas.microsoft.com/office/drawing/2014/main" id="{71974834-F13B-7C3A-6C57-3897767E9895}"/>
              </a:ext>
            </a:extLst>
          </p:cNvPr>
          <p:cNvCxnSpPr>
            <a:cxnSpLocks/>
          </p:cNvCxnSpPr>
          <p:nvPr/>
        </p:nvCxnSpPr>
        <p:spPr>
          <a:xfrm>
            <a:off x="2101881" y="2816028"/>
            <a:ext cx="887415" cy="0"/>
          </a:xfrm>
          <a:prstGeom prst="line">
            <a:avLst/>
          </a:prstGeom>
          <a:ln w="38100">
            <a:solidFill>
              <a:schemeClr val="accent3">
                <a:lumMod val="75000"/>
              </a:schemeClr>
            </a:solidFill>
          </a:ln>
        </p:spPr>
        <p:style>
          <a:lnRef idx="2">
            <a:schemeClr val="accent1"/>
          </a:lnRef>
          <a:fillRef idx="0">
            <a:schemeClr val="accent1"/>
          </a:fillRef>
          <a:effectRef idx="1">
            <a:schemeClr val="accent1"/>
          </a:effectRef>
          <a:fontRef idx="minor">
            <a:schemeClr val="tx1"/>
          </a:fontRef>
        </p:style>
      </p:cxnSp>
      <p:cxnSp>
        <p:nvCxnSpPr>
          <p:cNvPr id="45" name="Straight Connector 44">
            <a:extLst>
              <a:ext uri="{FF2B5EF4-FFF2-40B4-BE49-F238E27FC236}">
                <a16:creationId xmlns:a16="http://schemas.microsoft.com/office/drawing/2014/main" id="{48B09662-24FA-E41E-4A4F-0ADEBD47018A}"/>
              </a:ext>
            </a:extLst>
          </p:cNvPr>
          <p:cNvCxnSpPr>
            <a:cxnSpLocks/>
          </p:cNvCxnSpPr>
          <p:nvPr/>
        </p:nvCxnSpPr>
        <p:spPr>
          <a:xfrm>
            <a:off x="2101881" y="3661452"/>
            <a:ext cx="687224"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46" name="Straight Connector 45">
            <a:extLst>
              <a:ext uri="{FF2B5EF4-FFF2-40B4-BE49-F238E27FC236}">
                <a16:creationId xmlns:a16="http://schemas.microsoft.com/office/drawing/2014/main" id="{AFDA8BCB-E565-626B-1769-B7D1EA4AD3B6}"/>
              </a:ext>
            </a:extLst>
          </p:cNvPr>
          <p:cNvCxnSpPr>
            <a:cxnSpLocks/>
          </p:cNvCxnSpPr>
          <p:nvPr/>
        </p:nvCxnSpPr>
        <p:spPr>
          <a:xfrm>
            <a:off x="2101881" y="3097836"/>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47" name="Straight Connector 46">
            <a:extLst>
              <a:ext uri="{FF2B5EF4-FFF2-40B4-BE49-F238E27FC236}">
                <a16:creationId xmlns:a16="http://schemas.microsoft.com/office/drawing/2014/main" id="{AD24DC81-CBA6-A775-06A7-99E4F8D4D9A7}"/>
              </a:ext>
            </a:extLst>
          </p:cNvPr>
          <p:cNvCxnSpPr>
            <a:cxnSpLocks/>
          </p:cNvCxnSpPr>
          <p:nvPr/>
        </p:nvCxnSpPr>
        <p:spPr>
          <a:xfrm>
            <a:off x="2101881" y="3285708"/>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48" name="Straight Connector 47">
            <a:extLst>
              <a:ext uri="{FF2B5EF4-FFF2-40B4-BE49-F238E27FC236}">
                <a16:creationId xmlns:a16="http://schemas.microsoft.com/office/drawing/2014/main" id="{B96BF064-EEF0-9401-8FE4-158D1707E55A}"/>
              </a:ext>
            </a:extLst>
          </p:cNvPr>
          <p:cNvCxnSpPr>
            <a:cxnSpLocks/>
          </p:cNvCxnSpPr>
          <p:nvPr/>
        </p:nvCxnSpPr>
        <p:spPr>
          <a:xfrm>
            <a:off x="2101881" y="3520548"/>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49" name="Straight Connector 48">
            <a:extLst>
              <a:ext uri="{FF2B5EF4-FFF2-40B4-BE49-F238E27FC236}">
                <a16:creationId xmlns:a16="http://schemas.microsoft.com/office/drawing/2014/main" id="{71F1D334-F4C5-207B-01A0-88EFD6F0DEAB}"/>
              </a:ext>
            </a:extLst>
          </p:cNvPr>
          <p:cNvCxnSpPr>
            <a:cxnSpLocks/>
          </p:cNvCxnSpPr>
          <p:nvPr/>
        </p:nvCxnSpPr>
        <p:spPr>
          <a:xfrm>
            <a:off x="2101881" y="3708420"/>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50" name="Straight Connector 49">
            <a:extLst>
              <a:ext uri="{FF2B5EF4-FFF2-40B4-BE49-F238E27FC236}">
                <a16:creationId xmlns:a16="http://schemas.microsoft.com/office/drawing/2014/main" id="{C12EACFA-3EB5-1DCB-F0EC-A0FFA6688F5A}"/>
              </a:ext>
            </a:extLst>
          </p:cNvPr>
          <p:cNvCxnSpPr>
            <a:cxnSpLocks/>
          </p:cNvCxnSpPr>
          <p:nvPr/>
        </p:nvCxnSpPr>
        <p:spPr>
          <a:xfrm>
            <a:off x="2101881" y="4225068"/>
            <a:ext cx="604414"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51" name="Straight Connector 50">
            <a:extLst>
              <a:ext uri="{FF2B5EF4-FFF2-40B4-BE49-F238E27FC236}">
                <a16:creationId xmlns:a16="http://schemas.microsoft.com/office/drawing/2014/main" id="{5F81E68D-D4BF-C200-7329-37B9CFCCB180}"/>
              </a:ext>
            </a:extLst>
          </p:cNvPr>
          <p:cNvCxnSpPr>
            <a:cxnSpLocks/>
          </p:cNvCxnSpPr>
          <p:nvPr/>
        </p:nvCxnSpPr>
        <p:spPr>
          <a:xfrm>
            <a:off x="2101881" y="4037196"/>
            <a:ext cx="604414"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52" name="Straight Connector 51">
            <a:extLst>
              <a:ext uri="{FF2B5EF4-FFF2-40B4-BE49-F238E27FC236}">
                <a16:creationId xmlns:a16="http://schemas.microsoft.com/office/drawing/2014/main" id="{5DED64FB-5447-49DE-F96F-CB191AE781F5}"/>
              </a:ext>
            </a:extLst>
          </p:cNvPr>
          <p:cNvCxnSpPr>
            <a:cxnSpLocks/>
          </p:cNvCxnSpPr>
          <p:nvPr/>
        </p:nvCxnSpPr>
        <p:spPr>
          <a:xfrm>
            <a:off x="2101881" y="2299380"/>
            <a:ext cx="1179052"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53" name="Straight Connector 52">
            <a:extLst>
              <a:ext uri="{FF2B5EF4-FFF2-40B4-BE49-F238E27FC236}">
                <a16:creationId xmlns:a16="http://schemas.microsoft.com/office/drawing/2014/main" id="{7839C23D-1A51-EDE3-71D9-C53E69D4DA6E}"/>
              </a:ext>
            </a:extLst>
          </p:cNvPr>
          <p:cNvCxnSpPr>
            <a:cxnSpLocks/>
          </p:cNvCxnSpPr>
          <p:nvPr/>
        </p:nvCxnSpPr>
        <p:spPr>
          <a:xfrm>
            <a:off x="2101881" y="2440284"/>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54" name="Straight Connector 53">
            <a:extLst>
              <a:ext uri="{FF2B5EF4-FFF2-40B4-BE49-F238E27FC236}">
                <a16:creationId xmlns:a16="http://schemas.microsoft.com/office/drawing/2014/main" id="{AA3F1663-ABAA-94D0-E1D1-5485B2E000DF}"/>
              </a:ext>
            </a:extLst>
          </p:cNvPr>
          <p:cNvCxnSpPr>
            <a:cxnSpLocks/>
          </p:cNvCxnSpPr>
          <p:nvPr/>
        </p:nvCxnSpPr>
        <p:spPr>
          <a:xfrm>
            <a:off x="2101881" y="2581188"/>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55" name="Straight Connector 54">
            <a:extLst>
              <a:ext uri="{FF2B5EF4-FFF2-40B4-BE49-F238E27FC236}">
                <a16:creationId xmlns:a16="http://schemas.microsoft.com/office/drawing/2014/main" id="{5B606CEB-7B13-B9FE-6C33-1043A220CFF8}"/>
              </a:ext>
            </a:extLst>
          </p:cNvPr>
          <p:cNvCxnSpPr>
            <a:cxnSpLocks/>
          </p:cNvCxnSpPr>
          <p:nvPr/>
        </p:nvCxnSpPr>
        <p:spPr>
          <a:xfrm>
            <a:off x="2101881" y="2769060"/>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56" name="Straight Connector 55">
            <a:extLst>
              <a:ext uri="{FF2B5EF4-FFF2-40B4-BE49-F238E27FC236}">
                <a16:creationId xmlns:a16="http://schemas.microsoft.com/office/drawing/2014/main" id="{011319F7-3F22-A47D-522A-26CFC19A5350}"/>
              </a:ext>
            </a:extLst>
          </p:cNvPr>
          <p:cNvCxnSpPr>
            <a:cxnSpLocks/>
          </p:cNvCxnSpPr>
          <p:nvPr/>
        </p:nvCxnSpPr>
        <p:spPr>
          <a:xfrm>
            <a:off x="2101881" y="2862996"/>
            <a:ext cx="1061289"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57" name="Straight Connector 56">
            <a:extLst>
              <a:ext uri="{FF2B5EF4-FFF2-40B4-BE49-F238E27FC236}">
                <a16:creationId xmlns:a16="http://schemas.microsoft.com/office/drawing/2014/main" id="{9BB387DB-2251-07E1-0AE3-AA53B04F74CA}"/>
              </a:ext>
            </a:extLst>
          </p:cNvPr>
          <p:cNvCxnSpPr>
            <a:cxnSpLocks/>
          </p:cNvCxnSpPr>
          <p:nvPr/>
        </p:nvCxnSpPr>
        <p:spPr>
          <a:xfrm>
            <a:off x="2101881" y="3614484"/>
            <a:ext cx="1067521"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58" name="Straight Connector 57">
            <a:extLst>
              <a:ext uri="{FF2B5EF4-FFF2-40B4-BE49-F238E27FC236}">
                <a16:creationId xmlns:a16="http://schemas.microsoft.com/office/drawing/2014/main" id="{1D554705-8914-171F-C28A-3ECA48DEF915}"/>
              </a:ext>
            </a:extLst>
          </p:cNvPr>
          <p:cNvCxnSpPr>
            <a:cxnSpLocks/>
          </p:cNvCxnSpPr>
          <p:nvPr/>
        </p:nvCxnSpPr>
        <p:spPr>
          <a:xfrm>
            <a:off x="2101881" y="4084164"/>
            <a:ext cx="887415" cy="0"/>
          </a:xfrm>
          <a:prstGeom prst="line">
            <a:avLst/>
          </a:prstGeom>
          <a:ln w="38100">
            <a:solidFill>
              <a:schemeClr val="accent3">
                <a:lumMod val="75000"/>
              </a:schemeClr>
            </a:solidFill>
          </a:ln>
        </p:spPr>
        <p:style>
          <a:lnRef idx="2">
            <a:schemeClr val="accent1"/>
          </a:lnRef>
          <a:fillRef idx="0">
            <a:schemeClr val="accent1"/>
          </a:fillRef>
          <a:effectRef idx="1">
            <a:schemeClr val="accent1"/>
          </a:effectRef>
          <a:fontRef idx="minor">
            <a:schemeClr val="tx1"/>
          </a:fontRef>
        </p:style>
      </p:cxnSp>
      <p:cxnSp>
        <p:nvCxnSpPr>
          <p:cNvPr id="59" name="Straight Connector 58">
            <a:extLst>
              <a:ext uri="{FF2B5EF4-FFF2-40B4-BE49-F238E27FC236}">
                <a16:creationId xmlns:a16="http://schemas.microsoft.com/office/drawing/2014/main" id="{0C30F9CF-06C4-F572-F3F8-62C5BE52F0E5}"/>
              </a:ext>
            </a:extLst>
          </p:cNvPr>
          <p:cNvCxnSpPr>
            <a:cxnSpLocks/>
          </p:cNvCxnSpPr>
          <p:nvPr/>
        </p:nvCxnSpPr>
        <p:spPr>
          <a:xfrm>
            <a:off x="2101881" y="3144804"/>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60" name="Straight Connector 59">
            <a:extLst>
              <a:ext uri="{FF2B5EF4-FFF2-40B4-BE49-F238E27FC236}">
                <a16:creationId xmlns:a16="http://schemas.microsoft.com/office/drawing/2014/main" id="{F6BE6F15-81C9-1D66-88A5-250EAFA48112}"/>
              </a:ext>
            </a:extLst>
          </p:cNvPr>
          <p:cNvCxnSpPr>
            <a:cxnSpLocks/>
          </p:cNvCxnSpPr>
          <p:nvPr/>
        </p:nvCxnSpPr>
        <p:spPr>
          <a:xfrm>
            <a:off x="2101881" y="3003900"/>
            <a:ext cx="887415" cy="0"/>
          </a:xfrm>
          <a:prstGeom prst="line">
            <a:avLst/>
          </a:prstGeom>
          <a:ln w="38100">
            <a:solidFill>
              <a:schemeClr val="accent3">
                <a:lumMod val="75000"/>
              </a:schemeClr>
            </a:solidFill>
          </a:ln>
        </p:spPr>
        <p:style>
          <a:lnRef idx="2">
            <a:schemeClr val="accent1"/>
          </a:lnRef>
          <a:fillRef idx="0">
            <a:schemeClr val="accent1"/>
          </a:fillRef>
          <a:effectRef idx="1">
            <a:schemeClr val="accent1"/>
          </a:effectRef>
          <a:fontRef idx="minor">
            <a:schemeClr val="tx1"/>
          </a:fontRef>
        </p:style>
      </p:cxnSp>
      <p:cxnSp>
        <p:nvCxnSpPr>
          <p:cNvPr id="61" name="Straight Connector 60">
            <a:extLst>
              <a:ext uri="{FF2B5EF4-FFF2-40B4-BE49-F238E27FC236}">
                <a16:creationId xmlns:a16="http://schemas.microsoft.com/office/drawing/2014/main" id="{58EA8623-3BCD-A821-55D7-13AC0EF4D9B5}"/>
              </a:ext>
            </a:extLst>
          </p:cNvPr>
          <p:cNvCxnSpPr>
            <a:cxnSpLocks/>
          </p:cNvCxnSpPr>
          <p:nvPr/>
        </p:nvCxnSpPr>
        <p:spPr>
          <a:xfrm>
            <a:off x="2101881" y="3849324"/>
            <a:ext cx="687224"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62" name="Straight Connector 61">
            <a:extLst>
              <a:ext uri="{FF2B5EF4-FFF2-40B4-BE49-F238E27FC236}">
                <a16:creationId xmlns:a16="http://schemas.microsoft.com/office/drawing/2014/main" id="{4D215FE8-1FFC-CE2E-7427-A29642B09992}"/>
              </a:ext>
            </a:extLst>
          </p:cNvPr>
          <p:cNvCxnSpPr>
            <a:cxnSpLocks/>
          </p:cNvCxnSpPr>
          <p:nvPr/>
        </p:nvCxnSpPr>
        <p:spPr>
          <a:xfrm>
            <a:off x="2101881" y="3332676"/>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63" name="Straight Connector 62">
            <a:extLst>
              <a:ext uri="{FF2B5EF4-FFF2-40B4-BE49-F238E27FC236}">
                <a16:creationId xmlns:a16="http://schemas.microsoft.com/office/drawing/2014/main" id="{6CF3A3A3-CFA3-62FF-EDCE-464A5D876D61}"/>
              </a:ext>
            </a:extLst>
          </p:cNvPr>
          <p:cNvCxnSpPr>
            <a:cxnSpLocks/>
          </p:cNvCxnSpPr>
          <p:nvPr/>
        </p:nvCxnSpPr>
        <p:spPr>
          <a:xfrm>
            <a:off x="2101881" y="3567516"/>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64" name="Straight Connector 63">
            <a:extLst>
              <a:ext uri="{FF2B5EF4-FFF2-40B4-BE49-F238E27FC236}">
                <a16:creationId xmlns:a16="http://schemas.microsoft.com/office/drawing/2014/main" id="{0B97316E-68FC-14A1-5B1D-325625CFC326}"/>
              </a:ext>
            </a:extLst>
          </p:cNvPr>
          <p:cNvCxnSpPr>
            <a:cxnSpLocks/>
          </p:cNvCxnSpPr>
          <p:nvPr/>
        </p:nvCxnSpPr>
        <p:spPr>
          <a:xfrm>
            <a:off x="2101881" y="3755388"/>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65" name="Straight Connector 64">
            <a:extLst>
              <a:ext uri="{FF2B5EF4-FFF2-40B4-BE49-F238E27FC236}">
                <a16:creationId xmlns:a16="http://schemas.microsoft.com/office/drawing/2014/main" id="{E918309D-640C-A030-1693-3EA9FF199FBA}"/>
              </a:ext>
            </a:extLst>
          </p:cNvPr>
          <p:cNvCxnSpPr>
            <a:cxnSpLocks/>
          </p:cNvCxnSpPr>
          <p:nvPr/>
        </p:nvCxnSpPr>
        <p:spPr>
          <a:xfrm>
            <a:off x="2101881" y="3896292"/>
            <a:ext cx="929673"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66" name="Straight Connector 65">
            <a:extLst>
              <a:ext uri="{FF2B5EF4-FFF2-40B4-BE49-F238E27FC236}">
                <a16:creationId xmlns:a16="http://schemas.microsoft.com/office/drawing/2014/main" id="{F60274C3-8C83-A2DE-38E5-A2DAAF48D9B8}"/>
              </a:ext>
            </a:extLst>
          </p:cNvPr>
          <p:cNvCxnSpPr>
            <a:cxnSpLocks/>
          </p:cNvCxnSpPr>
          <p:nvPr/>
        </p:nvCxnSpPr>
        <p:spPr>
          <a:xfrm>
            <a:off x="2101881" y="4272032"/>
            <a:ext cx="604414"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67" name="Straight Connector 66">
            <a:extLst>
              <a:ext uri="{FF2B5EF4-FFF2-40B4-BE49-F238E27FC236}">
                <a16:creationId xmlns:a16="http://schemas.microsoft.com/office/drawing/2014/main" id="{53E3DCDC-A651-C19A-2030-9D63E1A32508}"/>
              </a:ext>
            </a:extLst>
          </p:cNvPr>
          <p:cNvCxnSpPr>
            <a:cxnSpLocks/>
          </p:cNvCxnSpPr>
          <p:nvPr/>
        </p:nvCxnSpPr>
        <p:spPr>
          <a:xfrm>
            <a:off x="2101881" y="4178100"/>
            <a:ext cx="604414"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sp>
        <p:nvSpPr>
          <p:cNvPr id="68" name="TextBox 67">
            <a:extLst>
              <a:ext uri="{FF2B5EF4-FFF2-40B4-BE49-F238E27FC236}">
                <a16:creationId xmlns:a16="http://schemas.microsoft.com/office/drawing/2014/main" id="{0698EC9D-F203-4385-C3E3-E1DD1D6667E7}"/>
              </a:ext>
            </a:extLst>
          </p:cNvPr>
          <p:cNvSpPr txBox="1"/>
          <p:nvPr/>
        </p:nvSpPr>
        <p:spPr>
          <a:xfrm>
            <a:off x="2032603" y="4164278"/>
            <a:ext cx="772803" cy="369332"/>
          </a:xfrm>
          <a:prstGeom prst="rect">
            <a:avLst/>
          </a:prstGeom>
          <a:noFill/>
        </p:spPr>
        <p:txBody>
          <a:bodyPr wrap="square" rtlCol="0">
            <a:spAutoFit/>
          </a:bodyPr>
          <a:lstStyle/>
          <a:p>
            <a:r>
              <a:rPr lang="en-DK" dirty="0"/>
              <a:t>…</a:t>
            </a:r>
          </a:p>
        </p:txBody>
      </p:sp>
      <p:graphicFrame>
        <p:nvGraphicFramePr>
          <p:cNvPr id="70" name="Table 69">
            <a:extLst>
              <a:ext uri="{FF2B5EF4-FFF2-40B4-BE49-F238E27FC236}">
                <a16:creationId xmlns:a16="http://schemas.microsoft.com/office/drawing/2014/main" id="{184A7589-5FE3-7EAF-8A3A-9810BD02B782}"/>
              </a:ext>
            </a:extLst>
          </p:cNvPr>
          <p:cNvGraphicFramePr>
            <a:graphicFrameLocks noGrp="1"/>
          </p:cNvGraphicFramePr>
          <p:nvPr>
            <p:extLst>
              <p:ext uri="{D42A27DB-BD31-4B8C-83A1-F6EECF244321}">
                <p14:modId xmlns:p14="http://schemas.microsoft.com/office/powerpoint/2010/main" val="51334324"/>
              </p:ext>
            </p:extLst>
          </p:nvPr>
        </p:nvGraphicFramePr>
        <p:xfrm>
          <a:off x="5425058" y="4821158"/>
          <a:ext cx="1018332" cy="1166046"/>
        </p:xfrm>
        <a:graphic>
          <a:graphicData uri="http://schemas.openxmlformats.org/drawingml/2006/table">
            <a:tbl>
              <a:tblPr firstRow="1" bandRow="1">
                <a:tableStyleId>{D7AC3CCA-C797-4891-BE02-D94E43425B78}</a:tableStyleId>
              </a:tblPr>
              <a:tblGrid>
                <a:gridCol w="169722">
                  <a:extLst>
                    <a:ext uri="{9D8B030D-6E8A-4147-A177-3AD203B41FA5}">
                      <a16:colId xmlns:a16="http://schemas.microsoft.com/office/drawing/2014/main" val="591458638"/>
                    </a:ext>
                  </a:extLst>
                </a:gridCol>
                <a:gridCol w="169722">
                  <a:extLst>
                    <a:ext uri="{9D8B030D-6E8A-4147-A177-3AD203B41FA5}">
                      <a16:colId xmlns:a16="http://schemas.microsoft.com/office/drawing/2014/main" val="3689723892"/>
                    </a:ext>
                  </a:extLst>
                </a:gridCol>
                <a:gridCol w="169722">
                  <a:extLst>
                    <a:ext uri="{9D8B030D-6E8A-4147-A177-3AD203B41FA5}">
                      <a16:colId xmlns:a16="http://schemas.microsoft.com/office/drawing/2014/main" val="410620895"/>
                    </a:ext>
                  </a:extLst>
                </a:gridCol>
                <a:gridCol w="169722">
                  <a:extLst>
                    <a:ext uri="{9D8B030D-6E8A-4147-A177-3AD203B41FA5}">
                      <a16:colId xmlns:a16="http://schemas.microsoft.com/office/drawing/2014/main" val="1970471051"/>
                    </a:ext>
                  </a:extLst>
                </a:gridCol>
                <a:gridCol w="169722">
                  <a:extLst>
                    <a:ext uri="{9D8B030D-6E8A-4147-A177-3AD203B41FA5}">
                      <a16:colId xmlns:a16="http://schemas.microsoft.com/office/drawing/2014/main" val="18568149"/>
                    </a:ext>
                  </a:extLst>
                </a:gridCol>
                <a:gridCol w="169722">
                  <a:extLst>
                    <a:ext uri="{9D8B030D-6E8A-4147-A177-3AD203B41FA5}">
                      <a16:colId xmlns:a16="http://schemas.microsoft.com/office/drawing/2014/main" val="933254077"/>
                    </a:ext>
                  </a:extLst>
                </a:gridCol>
              </a:tblGrid>
              <a:tr h="194341">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dirty="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extLst>
                  <a:ext uri="{0D108BD9-81ED-4DB2-BD59-A6C34878D82A}">
                    <a16:rowId xmlns:a16="http://schemas.microsoft.com/office/drawing/2014/main" val="730149994"/>
                  </a:ext>
                </a:extLst>
              </a:tr>
              <a:tr h="194341">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extLst>
                  <a:ext uri="{0D108BD9-81ED-4DB2-BD59-A6C34878D82A}">
                    <a16:rowId xmlns:a16="http://schemas.microsoft.com/office/drawing/2014/main" val="1279572824"/>
                  </a:ext>
                </a:extLst>
              </a:tr>
              <a:tr h="194341">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extLst>
                  <a:ext uri="{0D108BD9-81ED-4DB2-BD59-A6C34878D82A}">
                    <a16:rowId xmlns:a16="http://schemas.microsoft.com/office/drawing/2014/main" val="3667834363"/>
                  </a:ext>
                </a:extLst>
              </a:tr>
              <a:tr h="194341">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dirty="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extLst>
                  <a:ext uri="{0D108BD9-81ED-4DB2-BD59-A6C34878D82A}">
                    <a16:rowId xmlns:a16="http://schemas.microsoft.com/office/drawing/2014/main" val="1547517046"/>
                  </a:ext>
                </a:extLst>
              </a:tr>
              <a:tr h="194341">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extLst>
                  <a:ext uri="{0D108BD9-81ED-4DB2-BD59-A6C34878D82A}">
                    <a16:rowId xmlns:a16="http://schemas.microsoft.com/office/drawing/2014/main" val="3674622576"/>
                  </a:ext>
                </a:extLst>
              </a:tr>
              <a:tr h="194341">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dirty="0"/>
                    </a:p>
                  </a:txBody>
                  <a:tcPr marL="48586" marR="48586" marT="24293" marB="24293"/>
                </a:tc>
                <a:tc>
                  <a:txBody>
                    <a:bodyPr/>
                    <a:lstStyle/>
                    <a:p>
                      <a:endParaRPr lang="en-DK" sz="900"/>
                    </a:p>
                  </a:txBody>
                  <a:tcPr marL="48586" marR="48586" marT="24293" marB="24293"/>
                </a:tc>
                <a:tc>
                  <a:txBody>
                    <a:bodyPr/>
                    <a:lstStyle/>
                    <a:p>
                      <a:endParaRPr lang="en-DK" sz="900"/>
                    </a:p>
                  </a:txBody>
                  <a:tcPr marL="48586" marR="48586" marT="24293" marB="24293"/>
                </a:tc>
                <a:tc>
                  <a:txBody>
                    <a:bodyPr/>
                    <a:lstStyle/>
                    <a:p>
                      <a:endParaRPr lang="en-DK" sz="900" dirty="0"/>
                    </a:p>
                  </a:txBody>
                  <a:tcPr marL="48586" marR="48586" marT="24293" marB="24293"/>
                </a:tc>
                <a:extLst>
                  <a:ext uri="{0D108BD9-81ED-4DB2-BD59-A6C34878D82A}">
                    <a16:rowId xmlns:a16="http://schemas.microsoft.com/office/drawing/2014/main" val="2613402699"/>
                  </a:ext>
                </a:extLst>
              </a:tr>
            </a:tbl>
          </a:graphicData>
        </a:graphic>
      </p:graphicFrame>
      <p:sp>
        <p:nvSpPr>
          <p:cNvPr id="71" name="TextBox 70">
            <a:extLst>
              <a:ext uri="{FF2B5EF4-FFF2-40B4-BE49-F238E27FC236}">
                <a16:creationId xmlns:a16="http://schemas.microsoft.com/office/drawing/2014/main" id="{D02B1ECB-D830-B672-242C-DF365B8C98AF}"/>
              </a:ext>
            </a:extLst>
          </p:cNvPr>
          <p:cNvSpPr txBox="1"/>
          <p:nvPr/>
        </p:nvSpPr>
        <p:spPr>
          <a:xfrm>
            <a:off x="5292312" y="5987204"/>
            <a:ext cx="1838570" cy="923330"/>
          </a:xfrm>
          <a:prstGeom prst="rect">
            <a:avLst/>
          </a:prstGeom>
          <a:noFill/>
        </p:spPr>
        <p:txBody>
          <a:bodyPr wrap="square" rtlCol="0">
            <a:spAutoFit/>
          </a:bodyPr>
          <a:lstStyle/>
          <a:p>
            <a:r>
              <a:rPr lang="en-DK" dirty="0"/>
              <a:t>Functional abundance table </a:t>
            </a:r>
          </a:p>
        </p:txBody>
      </p:sp>
      <p:sp>
        <p:nvSpPr>
          <p:cNvPr id="72" name="TextBox 71">
            <a:extLst>
              <a:ext uri="{FF2B5EF4-FFF2-40B4-BE49-F238E27FC236}">
                <a16:creationId xmlns:a16="http://schemas.microsoft.com/office/drawing/2014/main" id="{CF3737A6-F1AF-14E0-1724-536F9975F89E}"/>
              </a:ext>
            </a:extLst>
          </p:cNvPr>
          <p:cNvSpPr txBox="1"/>
          <p:nvPr/>
        </p:nvSpPr>
        <p:spPr>
          <a:xfrm>
            <a:off x="5380288" y="4496676"/>
            <a:ext cx="1094509" cy="369332"/>
          </a:xfrm>
          <a:prstGeom prst="rect">
            <a:avLst/>
          </a:prstGeom>
          <a:noFill/>
        </p:spPr>
        <p:txBody>
          <a:bodyPr wrap="square" rtlCol="0">
            <a:spAutoFit/>
          </a:bodyPr>
          <a:lstStyle/>
          <a:p>
            <a:r>
              <a:rPr lang="en-DK" dirty="0"/>
              <a:t>Samples</a:t>
            </a:r>
          </a:p>
        </p:txBody>
      </p:sp>
      <p:sp>
        <p:nvSpPr>
          <p:cNvPr id="73" name="TextBox 72">
            <a:extLst>
              <a:ext uri="{FF2B5EF4-FFF2-40B4-BE49-F238E27FC236}">
                <a16:creationId xmlns:a16="http://schemas.microsoft.com/office/drawing/2014/main" id="{D601FD09-9ACB-0A28-0570-9ABA4DF91F7E}"/>
              </a:ext>
            </a:extLst>
          </p:cNvPr>
          <p:cNvSpPr txBox="1"/>
          <p:nvPr/>
        </p:nvSpPr>
        <p:spPr>
          <a:xfrm rot="16200000">
            <a:off x="4411658" y="5027196"/>
            <a:ext cx="1617517" cy="369332"/>
          </a:xfrm>
          <a:prstGeom prst="rect">
            <a:avLst/>
          </a:prstGeom>
          <a:noFill/>
        </p:spPr>
        <p:txBody>
          <a:bodyPr wrap="square" rtlCol="0">
            <a:spAutoFit/>
          </a:bodyPr>
          <a:lstStyle/>
          <a:p>
            <a:r>
              <a:rPr lang="en-DK" dirty="0"/>
              <a:t>Genes</a:t>
            </a:r>
          </a:p>
        </p:txBody>
      </p:sp>
      <p:grpSp>
        <p:nvGrpSpPr>
          <p:cNvPr id="74" name="Group 73">
            <a:extLst>
              <a:ext uri="{FF2B5EF4-FFF2-40B4-BE49-F238E27FC236}">
                <a16:creationId xmlns:a16="http://schemas.microsoft.com/office/drawing/2014/main" id="{883948C8-E77F-D797-F58C-387FFBBBD662}"/>
              </a:ext>
            </a:extLst>
          </p:cNvPr>
          <p:cNvGrpSpPr/>
          <p:nvPr/>
        </p:nvGrpSpPr>
        <p:grpSpPr>
          <a:xfrm>
            <a:off x="1936798" y="5646763"/>
            <a:ext cx="1052498" cy="949890"/>
            <a:chOff x="2867877" y="1810364"/>
            <a:chExt cx="1584615" cy="1697182"/>
          </a:xfrm>
        </p:grpSpPr>
        <p:cxnSp>
          <p:nvCxnSpPr>
            <p:cNvPr id="75" name="Straight Connector 74">
              <a:extLst>
                <a:ext uri="{FF2B5EF4-FFF2-40B4-BE49-F238E27FC236}">
                  <a16:creationId xmlns:a16="http://schemas.microsoft.com/office/drawing/2014/main" id="{FCAFE1B5-8131-2C7B-8DE2-A08821082CBC}"/>
                </a:ext>
              </a:extLst>
            </p:cNvPr>
            <p:cNvCxnSpPr>
              <a:cxnSpLocks/>
            </p:cNvCxnSpPr>
            <p:nvPr/>
          </p:nvCxnSpPr>
          <p:spPr>
            <a:xfrm>
              <a:off x="3149299" y="1810364"/>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76" name="Straight Connector 75">
              <a:extLst>
                <a:ext uri="{FF2B5EF4-FFF2-40B4-BE49-F238E27FC236}">
                  <a16:creationId xmlns:a16="http://schemas.microsoft.com/office/drawing/2014/main" id="{561DCA2A-D722-4072-847C-AF9795598BF8}"/>
                </a:ext>
              </a:extLst>
            </p:cNvPr>
            <p:cNvCxnSpPr>
              <a:cxnSpLocks/>
            </p:cNvCxnSpPr>
            <p:nvPr/>
          </p:nvCxnSpPr>
          <p:spPr>
            <a:xfrm>
              <a:off x="3677503" y="2977176"/>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77" name="Straight Connector 76">
              <a:extLst>
                <a:ext uri="{FF2B5EF4-FFF2-40B4-BE49-F238E27FC236}">
                  <a16:creationId xmlns:a16="http://schemas.microsoft.com/office/drawing/2014/main" id="{776D1259-5249-27FE-E5A9-9AA334BD57A1}"/>
                </a:ext>
              </a:extLst>
            </p:cNvPr>
            <p:cNvCxnSpPr>
              <a:cxnSpLocks/>
            </p:cNvCxnSpPr>
            <p:nvPr/>
          </p:nvCxnSpPr>
          <p:spPr>
            <a:xfrm>
              <a:off x="3339799" y="2000864"/>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78" name="Straight Connector 77">
              <a:extLst>
                <a:ext uri="{FF2B5EF4-FFF2-40B4-BE49-F238E27FC236}">
                  <a16:creationId xmlns:a16="http://schemas.microsoft.com/office/drawing/2014/main" id="{2E03014A-34E4-BF4E-9C33-D3277F224BBE}"/>
                </a:ext>
              </a:extLst>
            </p:cNvPr>
            <p:cNvCxnSpPr>
              <a:cxnSpLocks/>
            </p:cNvCxnSpPr>
            <p:nvPr/>
          </p:nvCxnSpPr>
          <p:spPr>
            <a:xfrm>
              <a:off x="3456696" y="2859595"/>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79" name="Straight Connector 78">
              <a:extLst>
                <a:ext uri="{FF2B5EF4-FFF2-40B4-BE49-F238E27FC236}">
                  <a16:creationId xmlns:a16="http://schemas.microsoft.com/office/drawing/2014/main" id="{CDC8E764-6659-F6BE-1FE2-B814F97AC4D4}"/>
                </a:ext>
              </a:extLst>
            </p:cNvPr>
            <p:cNvCxnSpPr>
              <a:cxnSpLocks/>
            </p:cNvCxnSpPr>
            <p:nvPr/>
          </p:nvCxnSpPr>
          <p:spPr>
            <a:xfrm>
              <a:off x="3080026" y="2192845"/>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80" name="Straight Connector 79">
              <a:extLst>
                <a:ext uri="{FF2B5EF4-FFF2-40B4-BE49-F238E27FC236}">
                  <a16:creationId xmlns:a16="http://schemas.microsoft.com/office/drawing/2014/main" id="{00F12446-636D-530E-4045-7879466B6F67}"/>
                </a:ext>
              </a:extLst>
            </p:cNvPr>
            <p:cNvCxnSpPr>
              <a:cxnSpLocks/>
            </p:cNvCxnSpPr>
            <p:nvPr/>
          </p:nvCxnSpPr>
          <p:spPr>
            <a:xfrm>
              <a:off x="3625549" y="2286614"/>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81" name="Straight Connector 80">
              <a:extLst>
                <a:ext uri="{FF2B5EF4-FFF2-40B4-BE49-F238E27FC236}">
                  <a16:creationId xmlns:a16="http://schemas.microsoft.com/office/drawing/2014/main" id="{2BE234C9-F322-FB2F-5C99-B826F4A07AAF}"/>
                </a:ext>
              </a:extLst>
            </p:cNvPr>
            <p:cNvCxnSpPr>
              <a:cxnSpLocks/>
            </p:cNvCxnSpPr>
            <p:nvPr/>
          </p:nvCxnSpPr>
          <p:spPr>
            <a:xfrm>
              <a:off x="3188265" y="2381864"/>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82" name="Straight Connector 81">
              <a:extLst>
                <a:ext uri="{FF2B5EF4-FFF2-40B4-BE49-F238E27FC236}">
                  <a16:creationId xmlns:a16="http://schemas.microsoft.com/office/drawing/2014/main" id="{D8C587A4-A580-3C3B-5DDE-5AF31B6D625F}"/>
                </a:ext>
              </a:extLst>
            </p:cNvPr>
            <p:cNvCxnSpPr>
              <a:cxnSpLocks/>
            </p:cNvCxnSpPr>
            <p:nvPr/>
          </p:nvCxnSpPr>
          <p:spPr>
            <a:xfrm>
              <a:off x="3361446" y="2762864"/>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83" name="Straight Connector 82">
              <a:extLst>
                <a:ext uri="{FF2B5EF4-FFF2-40B4-BE49-F238E27FC236}">
                  <a16:creationId xmlns:a16="http://schemas.microsoft.com/office/drawing/2014/main" id="{C216308F-AF6C-FCC8-3147-838E2F0BDBD0}"/>
                </a:ext>
              </a:extLst>
            </p:cNvPr>
            <p:cNvCxnSpPr>
              <a:cxnSpLocks/>
            </p:cNvCxnSpPr>
            <p:nvPr/>
          </p:nvCxnSpPr>
          <p:spPr>
            <a:xfrm>
              <a:off x="2915503" y="2096114"/>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84" name="Straight Connector 83">
              <a:extLst>
                <a:ext uri="{FF2B5EF4-FFF2-40B4-BE49-F238E27FC236}">
                  <a16:creationId xmlns:a16="http://schemas.microsoft.com/office/drawing/2014/main" id="{E74FDF6D-F359-3521-92B8-0DC306181172}"/>
                </a:ext>
              </a:extLst>
            </p:cNvPr>
            <p:cNvCxnSpPr>
              <a:cxnSpLocks/>
            </p:cNvCxnSpPr>
            <p:nvPr/>
          </p:nvCxnSpPr>
          <p:spPr>
            <a:xfrm>
              <a:off x="3816049" y="2560857"/>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85" name="Straight Connector 84">
              <a:extLst>
                <a:ext uri="{FF2B5EF4-FFF2-40B4-BE49-F238E27FC236}">
                  <a16:creationId xmlns:a16="http://schemas.microsoft.com/office/drawing/2014/main" id="{2B3D028E-AAE2-5B60-C800-67E56DEAC805}"/>
                </a:ext>
              </a:extLst>
            </p:cNvPr>
            <p:cNvCxnSpPr>
              <a:cxnSpLocks/>
            </p:cNvCxnSpPr>
            <p:nvPr/>
          </p:nvCxnSpPr>
          <p:spPr>
            <a:xfrm>
              <a:off x="3417731" y="3507546"/>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86" name="Straight Connector 85">
              <a:extLst>
                <a:ext uri="{FF2B5EF4-FFF2-40B4-BE49-F238E27FC236}">
                  <a16:creationId xmlns:a16="http://schemas.microsoft.com/office/drawing/2014/main" id="{5BF4760A-A270-C073-05AA-C563EB0894A2}"/>
                </a:ext>
              </a:extLst>
            </p:cNvPr>
            <p:cNvCxnSpPr>
              <a:cxnSpLocks/>
            </p:cNvCxnSpPr>
            <p:nvPr/>
          </p:nvCxnSpPr>
          <p:spPr>
            <a:xfrm>
              <a:off x="3045390" y="2491584"/>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87" name="Straight Connector 86">
              <a:extLst>
                <a:ext uri="{FF2B5EF4-FFF2-40B4-BE49-F238E27FC236}">
                  <a16:creationId xmlns:a16="http://schemas.microsoft.com/office/drawing/2014/main" id="{CCA939F5-B0D6-7B23-4D4D-9102C22ABCFA}"/>
                </a:ext>
              </a:extLst>
            </p:cNvPr>
            <p:cNvCxnSpPr>
              <a:cxnSpLocks/>
            </p:cNvCxnSpPr>
            <p:nvPr/>
          </p:nvCxnSpPr>
          <p:spPr>
            <a:xfrm>
              <a:off x="4028196" y="2667614"/>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88" name="Straight Connector 87">
              <a:extLst>
                <a:ext uri="{FF2B5EF4-FFF2-40B4-BE49-F238E27FC236}">
                  <a16:creationId xmlns:a16="http://schemas.microsoft.com/office/drawing/2014/main" id="{464B9A3B-B1BA-4891-3E83-AEDE9F923838}"/>
                </a:ext>
              </a:extLst>
            </p:cNvPr>
            <p:cNvCxnSpPr>
              <a:cxnSpLocks/>
            </p:cNvCxnSpPr>
            <p:nvPr/>
          </p:nvCxnSpPr>
          <p:spPr>
            <a:xfrm>
              <a:off x="3842026" y="2192845"/>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89" name="Straight Connector 88">
              <a:extLst>
                <a:ext uri="{FF2B5EF4-FFF2-40B4-BE49-F238E27FC236}">
                  <a16:creationId xmlns:a16="http://schemas.microsoft.com/office/drawing/2014/main" id="{FE123D71-F213-9DEF-98E7-DE6AEEC937AD}"/>
                </a:ext>
              </a:extLst>
            </p:cNvPr>
            <p:cNvCxnSpPr>
              <a:cxnSpLocks/>
            </p:cNvCxnSpPr>
            <p:nvPr/>
          </p:nvCxnSpPr>
          <p:spPr>
            <a:xfrm>
              <a:off x="3772753" y="3072426"/>
              <a:ext cx="424296" cy="0"/>
            </a:xfrm>
            <a:prstGeom prst="line">
              <a:avLst/>
            </a:prstGeom>
            <a:ln w="38100">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90" name="Straight Connector 89">
              <a:extLst>
                <a:ext uri="{FF2B5EF4-FFF2-40B4-BE49-F238E27FC236}">
                  <a16:creationId xmlns:a16="http://schemas.microsoft.com/office/drawing/2014/main" id="{1538CDB9-B705-1093-7676-23E0C52B80BD}"/>
                </a:ext>
              </a:extLst>
            </p:cNvPr>
            <p:cNvCxnSpPr>
              <a:cxnSpLocks/>
            </p:cNvCxnSpPr>
            <p:nvPr/>
          </p:nvCxnSpPr>
          <p:spPr>
            <a:xfrm>
              <a:off x="3837696" y="2388358"/>
              <a:ext cx="424296" cy="0"/>
            </a:xfrm>
            <a:prstGeom prst="line">
              <a:avLst/>
            </a:prstGeom>
            <a:ln w="38100">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91" name="Straight Connector 90">
              <a:extLst>
                <a:ext uri="{FF2B5EF4-FFF2-40B4-BE49-F238E27FC236}">
                  <a16:creationId xmlns:a16="http://schemas.microsoft.com/office/drawing/2014/main" id="{F396978C-53F0-E6BC-4990-18EAE1369A3A}"/>
                </a:ext>
              </a:extLst>
            </p:cNvPr>
            <p:cNvCxnSpPr>
              <a:cxnSpLocks/>
            </p:cNvCxnSpPr>
            <p:nvPr/>
          </p:nvCxnSpPr>
          <p:spPr>
            <a:xfrm>
              <a:off x="2867877" y="2667614"/>
              <a:ext cx="424296" cy="0"/>
            </a:xfrm>
            <a:prstGeom prst="line">
              <a:avLst/>
            </a:prstGeom>
            <a:ln w="38100">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92" name="Straight Connector 91">
              <a:extLst>
                <a:ext uri="{FF2B5EF4-FFF2-40B4-BE49-F238E27FC236}">
                  <a16:creationId xmlns:a16="http://schemas.microsoft.com/office/drawing/2014/main" id="{9F8A73DE-C016-2ADD-390E-3D2891C3578B}"/>
                </a:ext>
              </a:extLst>
            </p:cNvPr>
            <p:cNvCxnSpPr>
              <a:cxnSpLocks/>
            </p:cNvCxnSpPr>
            <p:nvPr/>
          </p:nvCxnSpPr>
          <p:spPr>
            <a:xfrm>
              <a:off x="3790071" y="1810364"/>
              <a:ext cx="424296" cy="0"/>
            </a:xfrm>
            <a:prstGeom prst="line">
              <a:avLst/>
            </a:prstGeom>
            <a:ln w="38100">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cxnSp>
          <p:nvCxnSpPr>
            <p:cNvPr id="93" name="Straight Connector 92">
              <a:extLst>
                <a:ext uri="{FF2B5EF4-FFF2-40B4-BE49-F238E27FC236}">
                  <a16:creationId xmlns:a16="http://schemas.microsoft.com/office/drawing/2014/main" id="{4F083110-60B6-2936-5E44-B96B1ED71B16}"/>
                </a:ext>
              </a:extLst>
            </p:cNvPr>
            <p:cNvCxnSpPr>
              <a:cxnSpLocks/>
            </p:cNvCxnSpPr>
            <p:nvPr/>
          </p:nvCxnSpPr>
          <p:spPr>
            <a:xfrm>
              <a:off x="3080025" y="3067413"/>
              <a:ext cx="424296" cy="0"/>
            </a:xfrm>
            <a:prstGeom prst="line">
              <a:avLst/>
            </a:prstGeom>
            <a:ln w="38100"/>
          </p:spPr>
          <p:style>
            <a:lnRef idx="2">
              <a:schemeClr val="accent1"/>
            </a:lnRef>
            <a:fillRef idx="0">
              <a:schemeClr val="accent1"/>
            </a:fillRef>
            <a:effectRef idx="1">
              <a:schemeClr val="accent1"/>
            </a:effectRef>
            <a:fontRef idx="minor">
              <a:schemeClr val="tx1"/>
            </a:fontRef>
          </p:style>
        </p:cxnSp>
        <p:cxnSp>
          <p:nvCxnSpPr>
            <p:cNvPr id="94" name="Straight Connector 93">
              <a:extLst>
                <a:ext uri="{FF2B5EF4-FFF2-40B4-BE49-F238E27FC236}">
                  <a16:creationId xmlns:a16="http://schemas.microsoft.com/office/drawing/2014/main" id="{4846C876-4BD9-CEA8-5E65-EE5875239381}"/>
                </a:ext>
              </a:extLst>
            </p:cNvPr>
            <p:cNvCxnSpPr>
              <a:cxnSpLocks/>
            </p:cNvCxnSpPr>
            <p:nvPr/>
          </p:nvCxnSpPr>
          <p:spPr>
            <a:xfrm>
              <a:off x="3188264" y="3256432"/>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95" name="Straight Connector 94">
              <a:extLst>
                <a:ext uri="{FF2B5EF4-FFF2-40B4-BE49-F238E27FC236}">
                  <a16:creationId xmlns:a16="http://schemas.microsoft.com/office/drawing/2014/main" id="{2A86CB98-BAA4-8901-66FA-3CD3B295BB3F}"/>
                </a:ext>
              </a:extLst>
            </p:cNvPr>
            <p:cNvCxnSpPr>
              <a:cxnSpLocks/>
            </p:cNvCxnSpPr>
            <p:nvPr/>
          </p:nvCxnSpPr>
          <p:spPr>
            <a:xfrm>
              <a:off x="2915503" y="2970682"/>
              <a:ext cx="424296" cy="0"/>
            </a:xfrm>
            <a:prstGeom prst="line">
              <a:avLst/>
            </a:prstGeom>
            <a:ln w="38100">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96" name="Straight Connector 95">
              <a:extLst>
                <a:ext uri="{FF2B5EF4-FFF2-40B4-BE49-F238E27FC236}">
                  <a16:creationId xmlns:a16="http://schemas.microsoft.com/office/drawing/2014/main" id="{6310F062-C3F6-F368-FB5F-63FF1FCC9CDC}"/>
                </a:ext>
              </a:extLst>
            </p:cNvPr>
            <p:cNvCxnSpPr>
              <a:cxnSpLocks/>
            </p:cNvCxnSpPr>
            <p:nvPr/>
          </p:nvCxnSpPr>
          <p:spPr>
            <a:xfrm>
              <a:off x="3045389" y="3366152"/>
              <a:ext cx="424296" cy="0"/>
            </a:xfrm>
            <a:prstGeom prst="line">
              <a:avLst/>
            </a:prstGeom>
            <a:ln w="38100">
              <a:solidFill>
                <a:schemeClr val="accent3"/>
              </a:solidFill>
            </a:ln>
          </p:spPr>
          <p:style>
            <a:lnRef idx="2">
              <a:schemeClr val="accent1"/>
            </a:lnRef>
            <a:fillRef idx="0">
              <a:schemeClr val="accent1"/>
            </a:fillRef>
            <a:effectRef idx="1">
              <a:schemeClr val="accent1"/>
            </a:effectRef>
            <a:fontRef idx="minor">
              <a:schemeClr val="tx1"/>
            </a:fontRef>
          </p:style>
        </p:cxnSp>
        <p:cxnSp>
          <p:nvCxnSpPr>
            <p:cNvPr id="97" name="Straight Connector 96">
              <a:extLst>
                <a:ext uri="{FF2B5EF4-FFF2-40B4-BE49-F238E27FC236}">
                  <a16:creationId xmlns:a16="http://schemas.microsoft.com/office/drawing/2014/main" id="{9C37010D-E9ED-5D41-F8DB-03B7DF9CEE88}"/>
                </a:ext>
              </a:extLst>
            </p:cNvPr>
            <p:cNvCxnSpPr>
              <a:cxnSpLocks/>
            </p:cNvCxnSpPr>
            <p:nvPr/>
          </p:nvCxnSpPr>
          <p:spPr>
            <a:xfrm>
              <a:off x="3634208" y="3357493"/>
              <a:ext cx="424296" cy="0"/>
            </a:xfrm>
            <a:prstGeom prst="line">
              <a:avLst/>
            </a:prstGeom>
            <a:ln w="38100">
              <a:solidFill>
                <a:schemeClr val="accent2">
                  <a:lumMod val="75000"/>
                </a:schemeClr>
              </a:solidFill>
            </a:ln>
          </p:spPr>
          <p:style>
            <a:lnRef idx="2">
              <a:schemeClr val="accent1"/>
            </a:lnRef>
            <a:fillRef idx="0">
              <a:schemeClr val="accent1"/>
            </a:fillRef>
            <a:effectRef idx="1">
              <a:schemeClr val="accent1"/>
            </a:effectRef>
            <a:fontRef idx="minor">
              <a:schemeClr val="tx1"/>
            </a:fontRef>
          </p:style>
        </p:cxnSp>
      </p:grpSp>
      <p:sp>
        <p:nvSpPr>
          <p:cNvPr id="99" name="Up Arrow 98">
            <a:extLst>
              <a:ext uri="{FF2B5EF4-FFF2-40B4-BE49-F238E27FC236}">
                <a16:creationId xmlns:a16="http://schemas.microsoft.com/office/drawing/2014/main" id="{88F0A46B-A983-B636-3A42-07F1B0A6465E}"/>
              </a:ext>
            </a:extLst>
          </p:cNvPr>
          <p:cNvSpPr/>
          <p:nvPr/>
        </p:nvSpPr>
        <p:spPr>
          <a:xfrm>
            <a:off x="2339875" y="5090129"/>
            <a:ext cx="310905" cy="360068"/>
          </a:xfrm>
          <a:prstGeom prst="up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DK"/>
          </a:p>
        </p:txBody>
      </p:sp>
      <p:sp>
        <p:nvSpPr>
          <p:cNvPr id="100" name="TextBox 99">
            <a:extLst>
              <a:ext uri="{FF2B5EF4-FFF2-40B4-BE49-F238E27FC236}">
                <a16:creationId xmlns:a16="http://schemas.microsoft.com/office/drawing/2014/main" id="{213836FA-9657-1E4D-1A82-4326C0846C2C}"/>
              </a:ext>
            </a:extLst>
          </p:cNvPr>
          <p:cNvSpPr txBox="1"/>
          <p:nvPr/>
        </p:nvSpPr>
        <p:spPr>
          <a:xfrm>
            <a:off x="3085722" y="5769539"/>
            <a:ext cx="2206590" cy="923330"/>
          </a:xfrm>
          <a:prstGeom prst="rect">
            <a:avLst/>
          </a:prstGeom>
          <a:noFill/>
        </p:spPr>
        <p:txBody>
          <a:bodyPr wrap="square" rtlCol="0">
            <a:spAutoFit/>
          </a:bodyPr>
          <a:lstStyle/>
          <a:p>
            <a:pPr marL="285750" indent="-285750">
              <a:buFont typeface="Arial" panose="020B0604020202020204" pitchFamily="34" charset="0"/>
              <a:buChar char="•"/>
            </a:pPr>
            <a:r>
              <a:rPr lang="en-DK" dirty="0"/>
              <a:t>gene length</a:t>
            </a:r>
          </a:p>
          <a:p>
            <a:pPr marL="285750" indent="-285750">
              <a:buFont typeface="Arial" panose="020B0604020202020204" pitchFamily="34" charset="0"/>
              <a:buChar char="•"/>
            </a:pPr>
            <a:r>
              <a:rPr lang="en-DK" dirty="0"/>
              <a:t>sample depth normalization</a:t>
            </a:r>
          </a:p>
        </p:txBody>
      </p:sp>
      <p:sp>
        <p:nvSpPr>
          <p:cNvPr id="101" name="Right Arrow 100">
            <a:extLst>
              <a:ext uri="{FF2B5EF4-FFF2-40B4-BE49-F238E27FC236}">
                <a16:creationId xmlns:a16="http://schemas.microsoft.com/office/drawing/2014/main" id="{D2380795-7BF6-5FD4-BB10-D2AAC6A024A1}"/>
              </a:ext>
            </a:extLst>
          </p:cNvPr>
          <p:cNvSpPr/>
          <p:nvPr/>
        </p:nvSpPr>
        <p:spPr>
          <a:xfrm>
            <a:off x="3613972" y="5092805"/>
            <a:ext cx="1065546" cy="432105"/>
          </a:xfrm>
          <a:prstGeom prst="rightArrow">
            <a:avLst/>
          </a:prstGeom>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spcBef>
                <a:spcPts val="600"/>
              </a:spcBef>
            </a:pPr>
            <a:endParaRPr lang="en-US" sz="1800" dirty="0" err="1">
              <a:latin typeface="Calibri" charset="0"/>
              <a:ea typeface="Calibri" charset="0"/>
              <a:cs typeface="Calibri" charset="0"/>
            </a:endParaRPr>
          </a:p>
        </p:txBody>
      </p:sp>
      <p:sp>
        <p:nvSpPr>
          <p:cNvPr id="103" name="Left Brace 102">
            <a:extLst>
              <a:ext uri="{FF2B5EF4-FFF2-40B4-BE49-F238E27FC236}">
                <a16:creationId xmlns:a16="http://schemas.microsoft.com/office/drawing/2014/main" id="{641C8417-2190-9748-8EE4-5C875ACBB37E}"/>
              </a:ext>
            </a:extLst>
          </p:cNvPr>
          <p:cNvSpPr/>
          <p:nvPr/>
        </p:nvSpPr>
        <p:spPr>
          <a:xfrm>
            <a:off x="7933027" y="2266096"/>
            <a:ext cx="296392" cy="2696197"/>
          </a:xfrm>
          <a:prstGeom prst="leftBrace">
            <a:avLst/>
          </a:prstGeom>
        </p:spPr>
        <p:style>
          <a:lnRef idx="2">
            <a:schemeClr val="accent1"/>
          </a:lnRef>
          <a:fillRef idx="0">
            <a:schemeClr val="accent1"/>
          </a:fillRef>
          <a:effectRef idx="1">
            <a:schemeClr val="accent1"/>
          </a:effectRef>
          <a:fontRef idx="minor">
            <a:schemeClr val="tx1"/>
          </a:fontRef>
        </p:style>
        <p:txBody>
          <a:bodyPr rtlCol="0" anchor="ctr"/>
          <a:lstStyle/>
          <a:p>
            <a:pPr algn="ctr"/>
            <a:endParaRPr lang="en-DK"/>
          </a:p>
        </p:txBody>
      </p:sp>
      <p:sp>
        <p:nvSpPr>
          <p:cNvPr id="104" name="TextBox 103">
            <a:extLst>
              <a:ext uri="{FF2B5EF4-FFF2-40B4-BE49-F238E27FC236}">
                <a16:creationId xmlns:a16="http://schemas.microsoft.com/office/drawing/2014/main" id="{1894D34F-58D2-7159-C3BC-6F0FD1B16D8F}"/>
              </a:ext>
            </a:extLst>
          </p:cNvPr>
          <p:cNvSpPr txBox="1"/>
          <p:nvPr/>
        </p:nvSpPr>
        <p:spPr>
          <a:xfrm>
            <a:off x="8192385" y="2439040"/>
            <a:ext cx="3611728" cy="2308324"/>
          </a:xfrm>
          <a:prstGeom prst="rect">
            <a:avLst/>
          </a:prstGeom>
          <a:noFill/>
        </p:spPr>
        <p:txBody>
          <a:bodyPr wrap="square" rtlCol="0">
            <a:spAutoFit/>
          </a:bodyPr>
          <a:lstStyle/>
          <a:p>
            <a:r>
              <a:rPr lang="en-GB" sz="1600" b="1" dirty="0"/>
              <a:t>Functional information databases</a:t>
            </a:r>
          </a:p>
          <a:p>
            <a:pPr marL="285750" indent="-285750">
              <a:buFont typeface="Arial" panose="020B0604020202020204" pitchFamily="34" charset="0"/>
              <a:buChar char="•"/>
            </a:pPr>
            <a:r>
              <a:rPr lang="en-GB" sz="1600" dirty="0"/>
              <a:t>Gene Ontology (GO) terms</a:t>
            </a:r>
          </a:p>
          <a:p>
            <a:pPr marL="285750" indent="-285750">
              <a:buFont typeface="Arial" panose="020B0604020202020204" pitchFamily="34" charset="0"/>
              <a:buChar char="•"/>
            </a:pPr>
            <a:r>
              <a:rPr lang="en-GB" sz="1600" dirty="0"/>
              <a:t>KEGG pathways</a:t>
            </a:r>
          </a:p>
          <a:p>
            <a:pPr marL="285750" indent="-285750">
              <a:buFont typeface="Arial" panose="020B0604020202020204" pitchFamily="34" charset="0"/>
              <a:buChar char="•"/>
            </a:pPr>
            <a:r>
              <a:rPr lang="en-GB" sz="1600" dirty="0"/>
              <a:t>COG categories</a:t>
            </a:r>
          </a:p>
          <a:p>
            <a:pPr marL="285750" indent="-285750">
              <a:buFont typeface="Arial" panose="020B0604020202020204" pitchFamily="34" charset="0"/>
              <a:buChar char="•"/>
            </a:pPr>
            <a:r>
              <a:rPr lang="en-GB" sz="1600" dirty="0"/>
              <a:t>CAZY categories</a:t>
            </a:r>
          </a:p>
          <a:p>
            <a:pPr marL="285750" indent="-285750">
              <a:buFont typeface="Arial" panose="020B0604020202020204" pitchFamily="34" charset="0"/>
              <a:buChar char="•"/>
            </a:pPr>
            <a:r>
              <a:rPr lang="en-GB" sz="1600" dirty="0" err="1"/>
              <a:t>Pfam</a:t>
            </a:r>
            <a:r>
              <a:rPr lang="en-GB" sz="1600" dirty="0"/>
              <a:t> domains</a:t>
            </a:r>
          </a:p>
          <a:p>
            <a:pPr marL="285750" indent="-285750">
              <a:buFont typeface="Arial" panose="020B0604020202020204" pitchFamily="34" charset="0"/>
              <a:buChar char="•"/>
            </a:pPr>
            <a:r>
              <a:rPr lang="en-GB" sz="1600" dirty="0"/>
              <a:t>Enzyme Commission (EC) numbers</a:t>
            </a:r>
          </a:p>
          <a:p>
            <a:pPr marL="285750" indent="-285750">
              <a:buFont typeface="Arial" panose="020B0604020202020204" pitchFamily="34" charset="0"/>
              <a:buChar char="•"/>
            </a:pPr>
            <a:r>
              <a:rPr lang="en-GB" sz="1600" dirty="0"/>
              <a:t>Protein names and descriptions</a:t>
            </a:r>
          </a:p>
          <a:p>
            <a:pPr marL="285750" indent="-285750">
              <a:buFont typeface="Arial" panose="020B0604020202020204" pitchFamily="34" charset="0"/>
              <a:buChar char="•"/>
            </a:pPr>
            <a:r>
              <a:rPr lang="en-DK" sz="1600" dirty="0"/>
              <a:t>…</a:t>
            </a:r>
          </a:p>
        </p:txBody>
      </p:sp>
    </p:spTree>
    <p:extLst>
      <p:ext uri="{BB962C8B-B14F-4D97-AF65-F5344CB8AC3E}">
        <p14:creationId xmlns:p14="http://schemas.microsoft.com/office/powerpoint/2010/main" val="286253789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DB0DAA3E-CDC1-74B6-FFFA-1C098EF29CDD}"/>
              </a:ext>
            </a:extLst>
          </p:cNvPr>
          <p:cNvSpPr txBox="1"/>
          <p:nvPr/>
        </p:nvSpPr>
        <p:spPr>
          <a:xfrm>
            <a:off x="1774088" y="1838520"/>
            <a:ext cx="8643824" cy="3416320"/>
          </a:xfrm>
          <a:prstGeom prst="rect">
            <a:avLst/>
          </a:prstGeom>
          <a:noFill/>
        </p:spPr>
        <p:txBody>
          <a:bodyPr wrap="square" rtlCol="0">
            <a:spAutoFit/>
          </a:bodyPr>
          <a:lstStyle/>
          <a:p>
            <a:pPr marL="285750" indent="-285750">
              <a:buFont typeface="Arial" panose="020B0604020202020204" pitchFamily="34" charset="0"/>
              <a:buChar char="•"/>
            </a:pPr>
            <a:r>
              <a:rPr lang="en-DK" dirty="0"/>
              <a:t>Annotation of genes across all metagenome (not only the known ones – novel or uncharacterized functions - </a:t>
            </a:r>
            <a:r>
              <a:rPr lang="en-GB" dirty="0"/>
              <a:t>new biochemical functions, pathways, or resistance mechanisms</a:t>
            </a:r>
            <a:r>
              <a:rPr lang="en-DK" dirty="0"/>
              <a:t>)</a:t>
            </a:r>
          </a:p>
          <a:p>
            <a:pPr marL="285750" indent="-285750">
              <a:buFont typeface="Arial" panose="020B0604020202020204" pitchFamily="34" charset="0"/>
              <a:buChar char="•"/>
            </a:pPr>
            <a:endParaRPr lang="en-DK" dirty="0"/>
          </a:p>
          <a:p>
            <a:pPr marL="285750" indent="-285750">
              <a:buFont typeface="Arial" panose="020B0604020202020204" pitchFamily="34" charset="0"/>
              <a:buChar char="•"/>
            </a:pPr>
            <a:r>
              <a:rPr lang="en-GB" dirty="0"/>
              <a:t>Facilitates comparative and longitudinal studies (compare between environments or timepoints)</a:t>
            </a:r>
          </a:p>
          <a:p>
            <a:pPr marL="285750" indent="-285750">
              <a:buFont typeface="Arial" panose="020B0604020202020204" pitchFamily="34" charset="0"/>
              <a:buChar char="•"/>
            </a:pPr>
            <a:r>
              <a:rPr lang="en-GB" dirty="0"/>
              <a:t>Improves Annotation Efficiency (non-redundant)</a:t>
            </a:r>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r>
              <a:rPr lang="en-GB" dirty="0"/>
              <a:t>Reusable resource (valuable resource for ongoing large scale projects)</a:t>
            </a:r>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r>
              <a:rPr lang="en-GB" dirty="0"/>
              <a:t>Enhanced sensitivity in rare function detection (genes from low abundance taxa carrying potentially important functions (</a:t>
            </a:r>
            <a:r>
              <a:rPr lang="en-GB" dirty="0" err="1"/>
              <a:t>e.g</a:t>
            </a:r>
            <a:r>
              <a:rPr lang="en-GB" dirty="0"/>
              <a:t> ARGs, secondary metabolites)</a:t>
            </a:r>
            <a:endParaRPr lang="en-DK" dirty="0"/>
          </a:p>
        </p:txBody>
      </p:sp>
      <p:sp>
        <p:nvSpPr>
          <p:cNvPr id="7" name="Title 1">
            <a:extLst>
              <a:ext uri="{FF2B5EF4-FFF2-40B4-BE49-F238E27FC236}">
                <a16:creationId xmlns:a16="http://schemas.microsoft.com/office/drawing/2014/main" id="{C12EEC5F-0377-F7EB-1FD8-23B7F129CA4C}"/>
              </a:ext>
            </a:extLst>
          </p:cNvPr>
          <p:cNvSpPr>
            <a:spLocks noGrp="1"/>
          </p:cNvSpPr>
          <p:nvPr>
            <p:ph type="title"/>
          </p:nvPr>
        </p:nvSpPr>
        <p:spPr>
          <a:xfrm>
            <a:off x="344615" y="0"/>
            <a:ext cx="11847385" cy="1325563"/>
          </a:xfrm>
        </p:spPr>
        <p:txBody>
          <a:bodyPr>
            <a:normAutofit/>
          </a:bodyPr>
          <a:lstStyle/>
          <a:p>
            <a:r>
              <a:rPr lang="en-DK" dirty="0"/>
              <a:t>Why building a gene catalog?</a:t>
            </a:r>
          </a:p>
        </p:txBody>
      </p:sp>
    </p:spTree>
    <p:extLst>
      <p:ext uri="{BB962C8B-B14F-4D97-AF65-F5344CB8AC3E}">
        <p14:creationId xmlns:p14="http://schemas.microsoft.com/office/powerpoint/2010/main" val="199434920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DB8E9FB-E8E6-8FB5-B6F6-52E8E891E897}"/>
            </a:ext>
          </a:extLst>
        </p:cNvPr>
        <p:cNvGrpSpPr/>
        <p:nvPr/>
      </p:nvGrpSpPr>
      <p:grpSpPr>
        <a:xfrm>
          <a:off x="0" y="0"/>
          <a:ext cx="0" cy="0"/>
          <a:chOff x="0" y="0"/>
          <a:chExt cx="0" cy="0"/>
        </a:xfrm>
      </p:grpSpPr>
      <p:sp useBgFill="1">
        <p:nvSpPr>
          <p:cNvPr id="21" name="Rectangle 20">
            <a:extLst>
              <a:ext uri="{FF2B5EF4-FFF2-40B4-BE49-F238E27FC236}">
                <a16:creationId xmlns:a16="http://schemas.microsoft.com/office/drawing/2014/main" id="{E95CE867-5C68-472A-C0FF-7215A9A2EF3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0581B83E-2D83-9880-B2A2-E777438FD87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00"/>
          </a:p>
        </p:txBody>
      </p:sp>
      <p:sp>
        <p:nvSpPr>
          <p:cNvPr id="33" name="Freeform: Shape 10">
            <a:extLst>
              <a:ext uri="{FF2B5EF4-FFF2-40B4-BE49-F238E27FC236}">
                <a16:creationId xmlns:a16="http://schemas.microsoft.com/office/drawing/2014/main" id="{D5001D36-906A-DFDE-9558-53B8F8CE90C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496934" y="3984"/>
            <a:ext cx="9376632" cy="6858000"/>
          </a:xfrm>
          <a:custGeom>
            <a:avLst/>
            <a:gdLst>
              <a:gd name="connsiteX0" fmla="*/ 1691615 w 9376632"/>
              <a:gd name="connsiteY0" fmla="*/ 0 h 6858000"/>
              <a:gd name="connsiteX1" fmla="*/ 7685017 w 9376632"/>
              <a:gd name="connsiteY1" fmla="*/ 0 h 6858000"/>
              <a:gd name="connsiteX2" fmla="*/ 7840634 w 9376632"/>
              <a:gd name="connsiteY2" fmla="*/ 134799 h 6858000"/>
              <a:gd name="connsiteX3" fmla="*/ 9376632 w 9376632"/>
              <a:gd name="connsiteY3" fmla="*/ 3605175 h 6858000"/>
              <a:gd name="connsiteX4" fmla="*/ 8158692 w 9376632"/>
              <a:gd name="connsiteY4" fmla="*/ 6757493 h 6858000"/>
              <a:gd name="connsiteX5" fmla="*/ 8062868 w 9376632"/>
              <a:gd name="connsiteY5" fmla="*/ 6858000 h 6858000"/>
              <a:gd name="connsiteX6" fmla="*/ 1313765 w 9376632"/>
              <a:gd name="connsiteY6" fmla="*/ 6858000 h 6858000"/>
              <a:gd name="connsiteX7" fmla="*/ 1217940 w 9376632"/>
              <a:gd name="connsiteY7" fmla="*/ 6757493 h 6858000"/>
              <a:gd name="connsiteX8" fmla="*/ 0 w 9376632"/>
              <a:gd name="connsiteY8" fmla="*/ 3605175 h 6858000"/>
              <a:gd name="connsiteX9" fmla="*/ 1535999 w 9376632"/>
              <a:gd name="connsiteY9" fmla="*/ 134799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9376632" h="6858000">
                <a:moveTo>
                  <a:pt x="1691615" y="0"/>
                </a:moveTo>
                <a:lnTo>
                  <a:pt x="7685017" y="0"/>
                </a:lnTo>
                <a:lnTo>
                  <a:pt x="7840634" y="134799"/>
                </a:lnTo>
                <a:cubicBezTo>
                  <a:pt x="8784230" y="992423"/>
                  <a:pt x="9376632" y="2229618"/>
                  <a:pt x="9376632" y="3605175"/>
                </a:cubicBezTo>
                <a:cubicBezTo>
                  <a:pt x="9376632" y="4818903"/>
                  <a:pt x="8915419" y="5924908"/>
                  <a:pt x="8158692" y="6757493"/>
                </a:cubicBezTo>
                <a:lnTo>
                  <a:pt x="8062868" y="6858000"/>
                </a:lnTo>
                <a:lnTo>
                  <a:pt x="1313765" y="6858000"/>
                </a:lnTo>
                <a:lnTo>
                  <a:pt x="1217940" y="6757493"/>
                </a:lnTo>
                <a:cubicBezTo>
                  <a:pt x="461213" y="5924908"/>
                  <a:pt x="0" y="4818903"/>
                  <a:pt x="0" y="3605175"/>
                </a:cubicBezTo>
                <a:cubicBezTo>
                  <a:pt x="0" y="2229618"/>
                  <a:pt x="592403" y="992423"/>
                  <a:pt x="1535999" y="134799"/>
                </a:cubicBezTo>
                <a:close/>
              </a:path>
            </a:pathLst>
          </a:custGeom>
          <a:gradFill flip="none" rotWithShape="1">
            <a:gsLst>
              <a:gs pos="16000">
                <a:schemeClr val="accent6">
                  <a:alpha val="20000"/>
                </a:schemeClr>
              </a:gs>
              <a:gs pos="85000">
                <a:schemeClr val="accent1">
                  <a:alpha val="40000"/>
                </a:schemeClr>
              </a:gs>
            </a:gsLst>
            <a:lin ang="120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4" name="Group 33">
            <a:extLst>
              <a:ext uri="{FF2B5EF4-FFF2-40B4-BE49-F238E27FC236}">
                <a16:creationId xmlns:a16="http://schemas.microsoft.com/office/drawing/2014/main" id="{50B233B0-CD75-4B40-6EC2-646D777A6927}"/>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303402" y="3985"/>
            <a:ext cx="9772765" cy="6858000"/>
            <a:chOff x="1303402" y="36937"/>
            <a:chExt cx="9772765" cy="6858000"/>
          </a:xfrm>
          <a:solidFill>
            <a:schemeClr val="bg1">
              <a:alpha val="30000"/>
            </a:schemeClr>
          </a:solidFill>
        </p:grpSpPr>
        <p:sp>
          <p:nvSpPr>
            <p:cNvPr id="35" name="Freeform: Shape 13">
              <a:extLst>
                <a:ext uri="{FF2B5EF4-FFF2-40B4-BE49-F238E27FC236}">
                  <a16:creationId xmlns:a16="http://schemas.microsoft.com/office/drawing/2014/main" id="{BB61C819-568D-C340-5909-E6F7F057C7C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60551" y="36937"/>
              <a:ext cx="9313016" cy="6858000"/>
            </a:xfrm>
            <a:custGeom>
              <a:avLst/>
              <a:gdLst>
                <a:gd name="connsiteX0" fmla="*/ 6993556 w 9313016"/>
                <a:gd name="connsiteY0" fmla="*/ 0 h 6858000"/>
                <a:gd name="connsiteX1" fmla="*/ 7358516 w 9313016"/>
                <a:gd name="connsiteY1" fmla="*/ 0 h 6858000"/>
                <a:gd name="connsiteX2" fmla="*/ 7475006 w 9313016"/>
                <a:gd name="connsiteY2" fmla="*/ 82722 h 6858000"/>
                <a:gd name="connsiteX3" fmla="*/ 7816357 w 9313016"/>
                <a:gd name="connsiteY3" fmla="*/ 358482 h 6858000"/>
                <a:gd name="connsiteX4" fmla="*/ 8421752 w 9313016"/>
                <a:gd name="connsiteY4" fmla="*/ 995405 h 6858000"/>
                <a:gd name="connsiteX5" fmla="*/ 8897059 w 9313016"/>
                <a:gd name="connsiteY5" fmla="*/ 1737211 h 6858000"/>
                <a:gd name="connsiteX6" fmla="*/ 9206633 w 9313016"/>
                <a:gd name="connsiteY6" fmla="*/ 2564460 h 6858000"/>
                <a:gd name="connsiteX7" fmla="*/ 9286787 w 9313016"/>
                <a:gd name="connsiteY7" fmla="*/ 3000164 h 6858000"/>
                <a:gd name="connsiteX8" fmla="*/ 9312914 w 9313016"/>
                <a:gd name="connsiteY8" fmla="*/ 3442493 h 6858000"/>
                <a:gd name="connsiteX9" fmla="*/ 9190562 w 9313016"/>
                <a:gd name="connsiteY9" fmla="*/ 4316686 h 6858000"/>
                <a:gd name="connsiteX10" fmla="*/ 9043416 w 9313016"/>
                <a:gd name="connsiteY10" fmla="*/ 4734917 h 6858000"/>
                <a:gd name="connsiteX11" fmla="*/ 8809657 w 9313016"/>
                <a:gd name="connsiteY11" fmla="*/ 5128718 h 6858000"/>
                <a:gd name="connsiteX12" fmla="*/ 8645997 w 9313016"/>
                <a:gd name="connsiteY12" fmla="*/ 5297441 h 6858000"/>
                <a:gd name="connsiteX13" fmla="*/ 8457787 w 9313016"/>
                <a:gd name="connsiteY13" fmla="*/ 5433763 h 6858000"/>
                <a:gd name="connsiteX14" fmla="*/ 8260803 w 9313016"/>
                <a:gd name="connsiteY14" fmla="*/ 5541237 h 6858000"/>
                <a:gd name="connsiteX15" fmla="*/ 8066136 w 9313016"/>
                <a:gd name="connsiteY15" fmla="*/ 5635704 h 6858000"/>
                <a:gd name="connsiteX16" fmla="*/ 7698638 w 9313016"/>
                <a:gd name="connsiteY16" fmla="*/ 5837163 h 6858000"/>
                <a:gd name="connsiteX17" fmla="*/ 7370135 w 9313016"/>
                <a:gd name="connsiteY17" fmla="*/ 6090081 h 6858000"/>
                <a:gd name="connsiteX18" fmla="*/ 7218897 w 9313016"/>
                <a:gd name="connsiteY18" fmla="*/ 6235860 h 6858000"/>
                <a:gd name="connsiteX19" fmla="*/ 7070665 w 9313016"/>
                <a:gd name="connsiteY19" fmla="*/ 6387205 h 6858000"/>
                <a:gd name="connsiteX20" fmla="*/ 6779035 w 9313016"/>
                <a:gd name="connsiteY20" fmla="*/ 6697100 h 6858000"/>
                <a:gd name="connsiteX21" fmla="*/ 6631837 w 9313016"/>
                <a:gd name="connsiteY21" fmla="*/ 6852239 h 6858000"/>
                <a:gd name="connsiteX22" fmla="*/ 6626221 w 9313016"/>
                <a:gd name="connsiteY22" fmla="*/ 6858000 h 6858000"/>
                <a:gd name="connsiteX23" fmla="*/ 6424725 w 9313016"/>
                <a:gd name="connsiteY23" fmla="*/ 6858000 h 6858000"/>
                <a:gd name="connsiteX24" fmla="*/ 6527382 w 9313016"/>
                <a:gd name="connsiteY24" fmla="*/ 6756333 h 6858000"/>
                <a:gd name="connsiteX25" fmla="*/ 6674233 w 9313016"/>
                <a:gd name="connsiteY25" fmla="*/ 6603450 h 6858000"/>
                <a:gd name="connsiteX26" fmla="*/ 6965813 w 9313016"/>
                <a:gd name="connsiteY26" fmla="*/ 6292932 h 6858000"/>
                <a:gd name="connsiteX27" fmla="*/ 7112961 w 9313016"/>
                <a:gd name="connsiteY27" fmla="*/ 6137505 h 6858000"/>
                <a:gd name="connsiteX28" fmla="*/ 7264790 w 9313016"/>
                <a:gd name="connsiteY28" fmla="*/ 5983710 h 6858000"/>
                <a:gd name="connsiteX29" fmla="*/ 7974595 w 9313016"/>
                <a:gd name="connsiteY29" fmla="*/ 5470773 h 6858000"/>
                <a:gd name="connsiteX30" fmla="*/ 8331591 w 9313016"/>
                <a:gd name="connsiteY30" fmla="*/ 5254048 h 6858000"/>
                <a:gd name="connsiteX31" fmla="*/ 8599807 w 9313016"/>
                <a:gd name="connsiteY31" fmla="*/ 4980010 h 6858000"/>
                <a:gd name="connsiteX32" fmla="*/ 8766474 w 9313016"/>
                <a:gd name="connsiteY32" fmla="*/ 4631524 h 6858000"/>
                <a:gd name="connsiteX33" fmla="*/ 8865755 w 9313016"/>
                <a:gd name="connsiteY33" fmla="*/ 4244445 h 6858000"/>
                <a:gd name="connsiteX34" fmla="*/ 8882911 w 9313016"/>
                <a:gd name="connsiteY34" fmla="*/ 4145659 h 6858000"/>
                <a:gd name="connsiteX35" fmla="*/ 8897403 w 9313016"/>
                <a:gd name="connsiteY35" fmla="*/ 4046633 h 6858000"/>
                <a:gd name="connsiteX36" fmla="*/ 8908298 w 9313016"/>
                <a:gd name="connsiteY36" fmla="*/ 3947271 h 6858000"/>
                <a:gd name="connsiteX37" fmla="*/ 8916184 w 9313016"/>
                <a:gd name="connsiteY37" fmla="*/ 3847765 h 6858000"/>
                <a:gd name="connsiteX38" fmla="*/ 8920670 w 9313016"/>
                <a:gd name="connsiteY38" fmla="*/ 3449597 h 6858000"/>
                <a:gd name="connsiteX39" fmla="*/ 8914607 w 9313016"/>
                <a:gd name="connsiteY39" fmla="*/ 3350283 h 6858000"/>
                <a:gd name="connsiteX40" fmla="*/ 8905340 w 9313016"/>
                <a:gd name="connsiteY40" fmla="*/ 3251209 h 6858000"/>
                <a:gd name="connsiteX41" fmla="*/ 8893854 w 9313016"/>
                <a:gd name="connsiteY41" fmla="*/ 3152376 h 6858000"/>
                <a:gd name="connsiteX42" fmla="*/ 8879706 w 9313016"/>
                <a:gd name="connsiteY42" fmla="*/ 3053878 h 6858000"/>
                <a:gd name="connsiteX43" fmla="*/ 8797531 w 9313016"/>
                <a:gd name="connsiteY43" fmla="*/ 2663966 h 6858000"/>
                <a:gd name="connsiteX44" fmla="*/ 8520442 w 9313016"/>
                <a:gd name="connsiteY44" fmla="*/ 1911983 h 6858000"/>
                <a:gd name="connsiteX45" fmla="*/ 8332626 w 9313016"/>
                <a:gd name="connsiteY45" fmla="*/ 1553608 h 6858000"/>
                <a:gd name="connsiteX46" fmla="*/ 8116317 w 9313016"/>
                <a:gd name="connsiteY46" fmla="*/ 1208529 h 6858000"/>
                <a:gd name="connsiteX47" fmla="*/ 7873293 w 9313016"/>
                <a:gd name="connsiteY47" fmla="*/ 878284 h 6858000"/>
                <a:gd name="connsiteX48" fmla="*/ 7604337 w 9313016"/>
                <a:gd name="connsiteY48" fmla="*/ 565125 h 6858000"/>
                <a:gd name="connsiteX49" fmla="*/ 7311128 w 9313016"/>
                <a:gd name="connsiteY49" fmla="*/ 270591 h 6858000"/>
                <a:gd name="connsiteX50" fmla="*/ 1752019 w 9313016"/>
                <a:gd name="connsiteY50" fmla="*/ 0 h 6858000"/>
                <a:gd name="connsiteX51" fmla="*/ 2155804 w 9313016"/>
                <a:gd name="connsiteY51" fmla="*/ 0 h 6858000"/>
                <a:gd name="connsiteX52" fmla="*/ 2103975 w 9313016"/>
                <a:gd name="connsiteY52" fmla="*/ 40789 h 6858000"/>
                <a:gd name="connsiteX53" fmla="*/ 1656310 w 9313016"/>
                <a:gd name="connsiteY53" fmla="*/ 470035 h 6858000"/>
                <a:gd name="connsiteX54" fmla="*/ 806013 w 9313016"/>
                <a:gd name="connsiteY54" fmla="*/ 1841133 h 6858000"/>
                <a:gd name="connsiteX55" fmla="*/ 580685 w 9313016"/>
                <a:gd name="connsiteY55" fmla="*/ 2606364 h 6858000"/>
                <a:gd name="connsiteX56" fmla="*/ 503489 w 9313016"/>
                <a:gd name="connsiteY56" fmla="*/ 3397276 h 6858000"/>
                <a:gd name="connsiteX57" fmla="*/ 570135 w 9313016"/>
                <a:gd name="connsiteY57" fmla="*/ 4188235 h 6858000"/>
                <a:gd name="connsiteX58" fmla="*/ 783387 w 9313016"/>
                <a:gd name="connsiteY58" fmla="*/ 4953850 h 6858000"/>
                <a:gd name="connsiteX59" fmla="*/ 1628014 w 9313016"/>
                <a:gd name="connsiteY59" fmla="*/ 6308245 h 6858000"/>
                <a:gd name="connsiteX60" fmla="*/ 2235998 w 9313016"/>
                <a:gd name="connsiteY60" fmla="*/ 6844829 h 6858000"/>
                <a:gd name="connsiteX61" fmla="*/ 2255028 w 9313016"/>
                <a:gd name="connsiteY61" fmla="*/ 6858000 h 6858000"/>
                <a:gd name="connsiteX62" fmla="*/ 1578787 w 9313016"/>
                <a:gd name="connsiteY62" fmla="*/ 6858000 h 6858000"/>
                <a:gd name="connsiteX63" fmla="*/ 1465153 w 9313016"/>
                <a:gd name="connsiteY63" fmla="*/ 6759050 h 6858000"/>
                <a:gd name="connsiteX64" fmla="*/ 1303650 w 9313016"/>
                <a:gd name="connsiteY64" fmla="*/ 6604267 h 6858000"/>
                <a:gd name="connsiteX65" fmla="*/ 323708 w 9313016"/>
                <a:gd name="connsiteY65" fmla="*/ 5126365 h 6858000"/>
                <a:gd name="connsiteX66" fmla="*/ 872 w 9313016"/>
                <a:gd name="connsiteY66" fmla="*/ 3391228 h 6858000"/>
                <a:gd name="connsiteX67" fmla="*/ 105428 w 9313016"/>
                <a:gd name="connsiteY67" fmla="*/ 2511899 h 6858000"/>
                <a:gd name="connsiteX68" fmla="*/ 384933 w 9313016"/>
                <a:gd name="connsiteY68" fmla="*/ 1670971 h 6858000"/>
                <a:gd name="connsiteX69" fmla="*/ 1433593 w 9313016"/>
                <a:gd name="connsiteY69" fmla="*/ 256095 h 6858000"/>
                <a:gd name="connsiteX70" fmla="*/ 1602664 w 9313016"/>
                <a:gd name="connsiteY70" fmla="*/ 113704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Lst>
              <a:rect l="l" t="t" r="r" b="b"/>
              <a:pathLst>
                <a:path w="9313016" h="6858000">
                  <a:moveTo>
                    <a:pt x="6993556" y="0"/>
                  </a:moveTo>
                  <a:lnTo>
                    <a:pt x="7358516" y="0"/>
                  </a:lnTo>
                  <a:lnTo>
                    <a:pt x="7475006" y="82722"/>
                  </a:lnTo>
                  <a:cubicBezTo>
                    <a:pt x="7592423" y="169778"/>
                    <a:pt x="7706366" y="261748"/>
                    <a:pt x="7816357" y="358482"/>
                  </a:cubicBezTo>
                  <a:cubicBezTo>
                    <a:pt x="8036559" y="551589"/>
                    <a:pt x="8239655" y="764905"/>
                    <a:pt x="8421752" y="995405"/>
                  </a:cubicBezTo>
                  <a:cubicBezTo>
                    <a:pt x="8604736" y="1225282"/>
                    <a:pt x="8763567" y="1474646"/>
                    <a:pt x="8897059" y="1737211"/>
                  </a:cubicBezTo>
                  <a:cubicBezTo>
                    <a:pt x="9029909" y="2000162"/>
                    <a:pt x="9134317" y="2277990"/>
                    <a:pt x="9206633" y="2564460"/>
                  </a:cubicBezTo>
                  <a:cubicBezTo>
                    <a:pt x="9242322" y="2707791"/>
                    <a:pt x="9269041" y="2853474"/>
                    <a:pt x="9286787" y="3000164"/>
                  </a:cubicBezTo>
                  <a:cubicBezTo>
                    <a:pt x="9304977" y="3146856"/>
                    <a:pt x="9314097" y="3294698"/>
                    <a:pt x="9312914" y="3442493"/>
                  </a:cubicBezTo>
                  <a:cubicBezTo>
                    <a:pt x="9309906" y="3737987"/>
                    <a:pt x="9270717" y="4033288"/>
                    <a:pt x="9190562" y="4316686"/>
                  </a:cubicBezTo>
                  <a:cubicBezTo>
                    <a:pt x="9150486" y="4458240"/>
                    <a:pt x="9103951" y="4597587"/>
                    <a:pt x="9043416" y="4734917"/>
                  </a:cubicBezTo>
                  <a:cubicBezTo>
                    <a:pt x="8982980" y="4871817"/>
                    <a:pt x="8908740" y="5007131"/>
                    <a:pt x="8809657" y="5128718"/>
                  </a:cubicBezTo>
                  <a:cubicBezTo>
                    <a:pt x="8760312" y="5189247"/>
                    <a:pt x="8706137" y="5246945"/>
                    <a:pt x="8645997" y="5297441"/>
                  </a:cubicBezTo>
                  <a:cubicBezTo>
                    <a:pt x="8586252" y="5348274"/>
                    <a:pt x="8522809" y="5393730"/>
                    <a:pt x="8457787" y="5433763"/>
                  </a:cubicBezTo>
                  <a:cubicBezTo>
                    <a:pt x="8392816" y="5474132"/>
                    <a:pt x="8326219" y="5508213"/>
                    <a:pt x="8260803" y="5541237"/>
                  </a:cubicBezTo>
                  <a:cubicBezTo>
                    <a:pt x="8195289" y="5574071"/>
                    <a:pt x="8130023" y="5604838"/>
                    <a:pt x="8066136" y="5635704"/>
                  </a:cubicBezTo>
                  <a:cubicBezTo>
                    <a:pt x="7938313" y="5697433"/>
                    <a:pt x="7815222" y="5762186"/>
                    <a:pt x="7698638" y="5837163"/>
                  </a:cubicBezTo>
                  <a:cubicBezTo>
                    <a:pt x="7582449" y="5912381"/>
                    <a:pt x="7471881" y="5996094"/>
                    <a:pt x="7370135" y="6090081"/>
                  </a:cubicBezTo>
                  <a:cubicBezTo>
                    <a:pt x="7319460" y="6136593"/>
                    <a:pt x="7268881" y="6186082"/>
                    <a:pt x="7218897" y="6235860"/>
                  </a:cubicBezTo>
                  <a:cubicBezTo>
                    <a:pt x="7168763" y="6285493"/>
                    <a:pt x="7119665" y="6336229"/>
                    <a:pt x="7070665" y="6387205"/>
                  </a:cubicBezTo>
                  <a:cubicBezTo>
                    <a:pt x="6972715" y="6489208"/>
                    <a:pt x="6876195" y="6593131"/>
                    <a:pt x="6779035" y="6697100"/>
                  </a:cubicBezTo>
                  <a:cubicBezTo>
                    <a:pt x="6730379" y="6748989"/>
                    <a:pt x="6681528" y="6800878"/>
                    <a:pt x="6631837" y="6852239"/>
                  </a:cubicBezTo>
                  <a:lnTo>
                    <a:pt x="6626221" y="6858000"/>
                  </a:lnTo>
                  <a:lnTo>
                    <a:pt x="6424725" y="6858000"/>
                  </a:lnTo>
                  <a:lnTo>
                    <a:pt x="6527382" y="6756333"/>
                  </a:lnTo>
                  <a:cubicBezTo>
                    <a:pt x="6576726" y="6705932"/>
                    <a:pt x="6625480" y="6654811"/>
                    <a:pt x="6674233" y="6603450"/>
                  </a:cubicBezTo>
                  <a:cubicBezTo>
                    <a:pt x="6771788" y="6500920"/>
                    <a:pt x="6868309" y="6396757"/>
                    <a:pt x="6965813" y="6292932"/>
                  </a:cubicBezTo>
                  <a:lnTo>
                    <a:pt x="7112961" y="6137505"/>
                  </a:lnTo>
                  <a:cubicBezTo>
                    <a:pt x="7162354" y="6085808"/>
                    <a:pt x="7211945" y="6034640"/>
                    <a:pt x="7264790" y="5983710"/>
                  </a:cubicBezTo>
                  <a:cubicBezTo>
                    <a:pt x="7472373" y="5779130"/>
                    <a:pt x="7721610" y="5610648"/>
                    <a:pt x="7974595" y="5470773"/>
                  </a:cubicBezTo>
                  <a:cubicBezTo>
                    <a:pt x="8099903" y="5399395"/>
                    <a:pt x="8224127" y="5332529"/>
                    <a:pt x="8331591" y="5254048"/>
                  </a:cubicBezTo>
                  <a:cubicBezTo>
                    <a:pt x="8439351" y="5176047"/>
                    <a:pt x="8529660" y="5085949"/>
                    <a:pt x="8599807" y="4980010"/>
                  </a:cubicBezTo>
                  <a:cubicBezTo>
                    <a:pt x="8671187" y="4875128"/>
                    <a:pt x="8723982" y="4756086"/>
                    <a:pt x="8766474" y="4631524"/>
                  </a:cubicBezTo>
                  <a:cubicBezTo>
                    <a:pt x="8808968" y="4507010"/>
                    <a:pt x="8840615" y="4375872"/>
                    <a:pt x="8865755" y="4244445"/>
                  </a:cubicBezTo>
                  <a:cubicBezTo>
                    <a:pt x="8871375" y="4211468"/>
                    <a:pt x="8878129" y="4178731"/>
                    <a:pt x="8882911" y="4145659"/>
                  </a:cubicBezTo>
                  <a:lnTo>
                    <a:pt x="8897403" y="4046633"/>
                  </a:lnTo>
                  <a:lnTo>
                    <a:pt x="8908298" y="3947271"/>
                  </a:lnTo>
                  <a:cubicBezTo>
                    <a:pt x="8912389" y="3914247"/>
                    <a:pt x="8913425" y="3880886"/>
                    <a:pt x="8916184" y="3847765"/>
                  </a:cubicBezTo>
                  <a:cubicBezTo>
                    <a:pt x="8925797" y="3715091"/>
                    <a:pt x="8925945" y="3582127"/>
                    <a:pt x="8920670" y="3449597"/>
                  </a:cubicBezTo>
                  <a:lnTo>
                    <a:pt x="8914607" y="3350283"/>
                  </a:lnTo>
                  <a:cubicBezTo>
                    <a:pt x="8911995" y="3317211"/>
                    <a:pt x="8908348" y="3284233"/>
                    <a:pt x="8905340" y="3251209"/>
                  </a:cubicBezTo>
                  <a:cubicBezTo>
                    <a:pt x="8902628" y="3218185"/>
                    <a:pt x="8897551" y="3185305"/>
                    <a:pt x="8893854" y="3152376"/>
                  </a:cubicBezTo>
                  <a:cubicBezTo>
                    <a:pt x="8890305" y="3119399"/>
                    <a:pt x="8884932" y="3086662"/>
                    <a:pt x="8879706" y="3053878"/>
                  </a:cubicBezTo>
                  <a:cubicBezTo>
                    <a:pt x="8858707" y="2922835"/>
                    <a:pt x="8831249" y="2792705"/>
                    <a:pt x="8797531" y="2663966"/>
                  </a:cubicBezTo>
                  <a:cubicBezTo>
                    <a:pt x="8728616" y="2406777"/>
                    <a:pt x="8635497" y="2155109"/>
                    <a:pt x="8520442" y="1911983"/>
                  </a:cubicBezTo>
                  <a:cubicBezTo>
                    <a:pt x="8462667" y="1790541"/>
                    <a:pt x="8400112" y="1670923"/>
                    <a:pt x="8332626" y="1553608"/>
                  </a:cubicBezTo>
                  <a:cubicBezTo>
                    <a:pt x="8265683" y="1436006"/>
                    <a:pt x="8192973" y="1321188"/>
                    <a:pt x="8116317" y="1208529"/>
                  </a:cubicBezTo>
                  <a:cubicBezTo>
                    <a:pt x="8039811" y="1095776"/>
                    <a:pt x="7958079" y="986094"/>
                    <a:pt x="7873293" y="878284"/>
                  </a:cubicBezTo>
                  <a:cubicBezTo>
                    <a:pt x="7787814" y="771002"/>
                    <a:pt x="7697999" y="666551"/>
                    <a:pt x="7604337" y="565125"/>
                  </a:cubicBezTo>
                  <a:cubicBezTo>
                    <a:pt x="7510479" y="463891"/>
                    <a:pt x="7413367" y="364818"/>
                    <a:pt x="7311128" y="270591"/>
                  </a:cubicBezTo>
                  <a:close/>
                  <a:moveTo>
                    <a:pt x="1752019" y="0"/>
                  </a:moveTo>
                  <a:lnTo>
                    <a:pt x="2155804" y="0"/>
                  </a:lnTo>
                  <a:lnTo>
                    <a:pt x="2103975" y="40789"/>
                  </a:lnTo>
                  <a:cubicBezTo>
                    <a:pt x="1943592" y="173585"/>
                    <a:pt x="1793955" y="317500"/>
                    <a:pt x="1656310" y="470035"/>
                  </a:cubicBezTo>
                  <a:cubicBezTo>
                    <a:pt x="1288172" y="876939"/>
                    <a:pt x="1002998" y="1344708"/>
                    <a:pt x="806013" y="1841133"/>
                  </a:cubicBezTo>
                  <a:cubicBezTo>
                    <a:pt x="707818" y="2089538"/>
                    <a:pt x="630868" y="2345480"/>
                    <a:pt x="580685" y="2606364"/>
                  </a:cubicBezTo>
                  <a:cubicBezTo>
                    <a:pt x="530749" y="2867250"/>
                    <a:pt x="504868" y="3132119"/>
                    <a:pt x="503489" y="3397276"/>
                  </a:cubicBezTo>
                  <a:cubicBezTo>
                    <a:pt x="501467" y="3662434"/>
                    <a:pt x="524093" y="3927351"/>
                    <a:pt x="570135" y="4188235"/>
                  </a:cubicBezTo>
                  <a:cubicBezTo>
                    <a:pt x="615734" y="4449264"/>
                    <a:pt x="688642" y="4705493"/>
                    <a:pt x="783387" y="4953850"/>
                  </a:cubicBezTo>
                  <a:cubicBezTo>
                    <a:pt x="974357" y="5449796"/>
                    <a:pt x="1259630" y="5913773"/>
                    <a:pt x="1628014" y="6308245"/>
                  </a:cubicBezTo>
                  <a:cubicBezTo>
                    <a:pt x="1812182" y="6505481"/>
                    <a:pt x="2016215" y="6685052"/>
                    <a:pt x="2235998" y="6844829"/>
                  </a:cubicBezTo>
                  <a:lnTo>
                    <a:pt x="2255028" y="6858000"/>
                  </a:lnTo>
                  <a:lnTo>
                    <a:pt x="1578787" y="6858000"/>
                  </a:lnTo>
                  <a:lnTo>
                    <a:pt x="1465153" y="6759050"/>
                  </a:lnTo>
                  <a:cubicBezTo>
                    <a:pt x="1410086" y="6708726"/>
                    <a:pt x="1356236" y="6657104"/>
                    <a:pt x="1303650" y="6604267"/>
                  </a:cubicBezTo>
                  <a:cubicBezTo>
                    <a:pt x="883506" y="6181043"/>
                    <a:pt x="548150" y="5676072"/>
                    <a:pt x="323708" y="5126365"/>
                  </a:cubicBezTo>
                  <a:cubicBezTo>
                    <a:pt x="97737" y="4577139"/>
                    <a:pt x="-10958" y="3981927"/>
                    <a:pt x="872" y="3391228"/>
                  </a:cubicBezTo>
                  <a:cubicBezTo>
                    <a:pt x="5951" y="3095783"/>
                    <a:pt x="40506" y="2800528"/>
                    <a:pt x="105428" y="2511899"/>
                  </a:cubicBezTo>
                  <a:cubicBezTo>
                    <a:pt x="170104" y="2223317"/>
                    <a:pt x="262089" y="1940399"/>
                    <a:pt x="384933" y="1670971"/>
                  </a:cubicBezTo>
                  <a:cubicBezTo>
                    <a:pt x="629092" y="1131344"/>
                    <a:pt x="991955" y="646919"/>
                    <a:pt x="1433593" y="256095"/>
                  </a:cubicBezTo>
                  <a:cubicBezTo>
                    <a:pt x="1488791" y="207206"/>
                    <a:pt x="1545179" y="159733"/>
                    <a:pt x="1602664" y="113704"/>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36" name="Freeform: Shape 14">
              <a:extLst>
                <a:ext uri="{FF2B5EF4-FFF2-40B4-BE49-F238E27FC236}">
                  <a16:creationId xmlns:a16="http://schemas.microsoft.com/office/drawing/2014/main" id="{11E0B722-013A-3520-7B70-B3D3889A8BD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59468" y="36937"/>
              <a:ext cx="9065550" cy="6858000"/>
            </a:xfrm>
            <a:custGeom>
              <a:avLst/>
              <a:gdLst>
                <a:gd name="connsiteX0" fmla="*/ 1839951 w 9065550"/>
                <a:gd name="connsiteY0" fmla="*/ 0 h 6858000"/>
                <a:gd name="connsiteX1" fmla="*/ 6979427 w 9065550"/>
                <a:gd name="connsiteY1" fmla="*/ 0 h 6858000"/>
                <a:gd name="connsiteX2" fmla="*/ 6989586 w 9065550"/>
                <a:gd name="connsiteY2" fmla="*/ 6825 h 6858000"/>
                <a:gd name="connsiteX3" fmla="*/ 8932062 w 9065550"/>
                <a:gd name="connsiteY3" fmla="*/ 4580835 h 6858000"/>
                <a:gd name="connsiteX4" fmla="*/ 7166294 w 9065550"/>
                <a:gd name="connsiteY4" fmla="*/ 6259703 h 6858000"/>
                <a:gd name="connsiteX5" fmla="*/ 6868878 w 9065550"/>
                <a:gd name="connsiteY5" fmla="*/ 6564765 h 6858000"/>
                <a:gd name="connsiteX6" fmla="*/ 6591881 w 9065550"/>
                <a:gd name="connsiteY6" fmla="*/ 6858000 h 6858000"/>
                <a:gd name="connsiteX7" fmla="*/ 5184648 w 9065550"/>
                <a:gd name="connsiteY7" fmla="*/ 6858000 h 6858000"/>
                <a:gd name="connsiteX8" fmla="*/ 5244877 w 9065550"/>
                <a:gd name="connsiteY8" fmla="*/ 6817615 h 6858000"/>
                <a:gd name="connsiteX9" fmla="*/ 6033853 w 9065550"/>
                <a:gd name="connsiteY9" fmla="*/ 6069135 h 6858000"/>
                <a:gd name="connsiteX10" fmla="*/ 6480248 w 9065550"/>
                <a:gd name="connsiteY10" fmla="*/ 5607082 h 6858000"/>
                <a:gd name="connsiteX11" fmla="*/ 7551502 w 9065550"/>
                <a:gd name="connsiteY11" fmla="*/ 4859004 h 6858000"/>
                <a:gd name="connsiteX12" fmla="*/ 7844227 w 9065550"/>
                <a:gd name="connsiteY12" fmla="*/ 4683074 h 6858000"/>
                <a:gd name="connsiteX13" fmla="*/ 8005810 w 9065550"/>
                <a:gd name="connsiteY13" fmla="*/ 4330239 h 6858000"/>
                <a:gd name="connsiteX14" fmla="*/ 8016191 w 9065550"/>
                <a:gd name="connsiteY14" fmla="*/ 2956574 h 6858000"/>
                <a:gd name="connsiteX15" fmla="*/ 7346424 w 9065550"/>
                <a:gd name="connsiteY15" fmla="*/ 1636739 h 6858000"/>
                <a:gd name="connsiteX16" fmla="*/ 5995751 w 9065550"/>
                <a:gd name="connsiteY16" fmla="*/ 493319 h 6858000"/>
                <a:gd name="connsiteX17" fmla="*/ 4494836 w 9065550"/>
                <a:gd name="connsiteY17" fmla="*/ 75383 h 6858000"/>
                <a:gd name="connsiteX18" fmla="*/ 2002499 w 9065550"/>
                <a:gd name="connsiteY18" fmla="*/ 1094261 h 6858000"/>
                <a:gd name="connsiteX19" fmla="*/ 1241306 w 9065550"/>
                <a:gd name="connsiteY19" fmla="*/ 2206935 h 6858000"/>
                <a:gd name="connsiteX20" fmla="*/ 961736 w 9065550"/>
                <a:gd name="connsiteY20" fmla="*/ 3573719 h 6858000"/>
                <a:gd name="connsiteX21" fmla="*/ 1193878 w 9065550"/>
                <a:gd name="connsiteY21" fmla="*/ 4824208 h 6858000"/>
                <a:gd name="connsiteX22" fmla="*/ 1832096 w 9065550"/>
                <a:gd name="connsiteY22" fmla="*/ 5873050 h 6858000"/>
                <a:gd name="connsiteX23" fmla="*/ 3010752 w 9065550"/>
                <a:gd name="connsiteY23" fmla="*/ 6749475 h 6858000"/>
                <a:gd name="connsiteX24" fmla="*/ 3187037 w 9065550"/>
                <a:gd name="connsiteY24" fmla="*/ 6824756 h 6858000"/>
                <a:gd name="connsiteX25" fmla="*/ 3278211 w 9065550"/>
                <a:gd name="connsiteY25" fmla="*/ 6858000 h 6858000"/>
                <a:gd name="connsiteX26" fmla="*/ 1480830 w 9065550"/>
                <a:gd name="connsiteY26" fmla="*/ 6858000 h 6858000"/>
                <a:gd name="connsiteX27" fmla="*/ 1427607 w 9065550"/>
                <a:gd name="connsiteY27" fmla="*/ 6811515 h 6858000"/>
                <a:gd name="connsiteX28" fmla="*/ 1100739 w 9065550"/>
                <a:gd name="connsiteY28" fmla="*/ 6477651 h 6858000"/>
                <a:gd name="connsiteX29" fmla="*/ 0 w 9065550"/>
                <a:gd name="connsiteY29" fmla="*/ 3573620 h 6858000"/>
                <a:gd name="connsiteX30" fmla="*/ 1805513 w 9065550"/>
                <a:gd name="connsiteY30" fmla="*/ 241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9065550" h="6858000">
                  <a:moveTo>
                    <a:pt x="1839951" y="0"/>
                  </a:moveTo>
                  <a:lnTo>
                    <a:pt x="6979427" y="0"/>
                  </a:lnTo>
                  <a:lnTo>
                    <a:pt x="6989586" y="6825"/>
                  </a:lnTo>
                  <a:cubicBezTo>
                    <a:pt x="8438828" y="1031353"/>
                    <a:pt x="9439169" y="2823601"/>
                    <a:pt x="8932062" y="4580835"/>
                  </a:cubicBezTo>
                  <a:cubicBezTo>
                    <a:pt x="8592517" y="5757293"/>
                    <a:pt x="7979652" y="5458140"/>
                    <a:pt x="7166294" y="6259703"/>
                  </a:cubicBezTo>
                  <a:cubicBezTo>
                    <a:pt x="7064618" y="6359905"/>
                    <a:pt x="6966014" y="6462297"/>
                    <a:pt x="6868878" y="6564765"/>
                  </a:cubicBezTo>
                  <a:lnTo>
                    <a:pt x="6591881" y="6858000"/>
                  </a:lnTo>
                  <a:lnTo>
                    <a:pt x="5184648" y="6858000"/>
                  </a:lnTo>
                  <a:lnTo>
                    <a:pt x="5244877" y="6817615"/>
                  </a:lnTo>
                  <a:cubicBezTo>
                    <a:pt x="5481027" y="6649287"/>
                    <a:pt x="5723665" y="6398593"/>
                    <a:pt x="6033853" y="6069135"/>
                  </a:cubicBezTo>
                  <a:cubicBezTo>
                    <a:pt x="6175680" y="5918484"/>
                    <a:pt x="6322395" y="5762660"/>
                    <a:pt x="6480248" y="5607082"/>
                  </a:cubicBezTo>
                  <a:cubicBezTo>
                    <a:pt x="6893276" y="5200077"/>
                    <a:pt x="7273697" y="5002920"/>
                    <a:pt x="7551502" y="4859004"/>
                  </a:cubicBezTo>
                  <a:cubicBezTo>
                    <a:pt x="7687884" y="4788339"/>
                    <a:pt x="7795540" y="4732559"/>
                    <a:pt x="7844227" y="4683074"/>
                  </a:cubicBezTo>
                  <a:cubicBezTo>
                    <a:pt x="7898759" y="4627636"/>
                    <a:pt x="7956165" y="4502313"/>
                    <a:pt x="8005810" y="4330239"/>
                  </a:cubicBezTo>
                  <a:cubicBezTo>
                    <a:pt x="8132968" y="3889611"/>
                    <a:pt x="8136446" y="3427460"/>
                    <a:pt x="8016191" y="2956574"/>
                  </a:cubicBezTo>
                  <a:cubicBezTo>
                    <a:pt x="7900876" y="2505064"/>
                    <a:pt x="7669287" y="2048671"/>
                    <a:pt x="7346424" y="1636739"/>
                  </a:cubicBezTo>
                  <a:cubicBezTo>
                    <a:pt x="6979764" y="1168830"/>
                    <a:pt x="6512706" y="773489"/>
                    <a:pt x="5995751" y="493319"/>
                  </a:cubicBezTo>
                  <a:cubicBezTo>
                    <a:pt x="5491195" y="219884"/>
                    <a:pt x="4972174" y="75383"/>
                    <a:pt x="4494836" y="75383"/>
                  </a:cubicBezTo>
                  <a:cubicBezTo>
                    <a:pt x="3554318" y="75383"/>
                    <a:pt x="2669191" y="437197"/>
                    <a:pt x="2002499" y="1094261"/>
                  </a:cubicBezTo>
                  <a:cubicBezTo>
                    <a:pt x="1676360" y="1415667"/>
                    <a:pt x="1420225" y="1790023"/>
                    <a:pt x="1241306" y="2206935"/>
                  </a:cubicBezTo>
                  <a:cubicBezTo>
                    <a:pt x="1055782" y="2639169"/>
                    <a:pt x="961736" y="3099027"/>
                    <a:pt x="961736" y="3573719"/>
                  </a:cubicBezTo>
                  <a:cubicBezTo>
                    <a:pt x="961736" y="4005124"/>
                    <a:pt x="1039805" y="4425841"/>
                    <a:pt x="1193878" y="4824208"/>
                  </a:cubicBezTo>
                  <a:cubicBezTo>
                    <a:pt x="1342457" y="5208423"/>
                    <a:pt x="1557214" y="5561306"/>
                    <a:pt x="1832096" y="5873050"/>
                  </a:cubicBezTo>
                  <a:cubicBezTo>
                    <a:pt x="2157126" y="6241599"/>
                    <a:pt x="2564661" y="6544656"/>
                    <a:pt x="3010752" y="6749475"/>
                  </a:cubicBezTo>
                  <a:cubicBezTo>
                    <a:pt x="3069003" y="6776219"/>
                    <a:pt x="3127773" y="6801314"/>
                    <a:pt x="3187037" y="6824756"/>
                  </a:cubicBezTo>
                  <a:lnTo>
                    <a:pt x="3278211" y="6858000"/>
                  </a:lnTo>
                  <a:lnTo>
                    <a:pt x="1480830" y="6858000"/>
                  </a:lnTo>
                  <a:lnTo>
                    <a:pt x="1427607" y="6811515"/>
                  </a:lnTo>
                  <a:cubicBezTo>
                    <a:pt x="1312870" y="6705919"/>
                    <a:pt x="1203751" y="6594470"/>
                    <a:pt x="1100739" y="6477651"/>
                  </a:cubicBezTo>
                  <a:cubicBezTo>
                    <a:pt x="415045" y="5700097"/>
                    <a:pt x="0" y="4684635"/>
                    <a:pt x="0" y="3573620"/>
                  </a:cubicBezTo>
                  <a:cubicBezTo>
                    <a:pt x="0" y="2121118"/>
                    <a:pt x="709459" y="831902"/>
                    <a:pt x="1805513" y="24133"/>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37" name="Freeform: Shape 15">
              <a:extLst>
                <a:ext uri="{FF2B5EF4-FFF2-40B4-BE49-F238E27FC236}">
                  <a16:creationId xmlns:a16="http://schemas.microsoft.com/office/drawing/2014/main" id="{17E68808-DE27-55BA-175B-C82C88B7ECE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48217" y="36937"/>
              <a:ext cx="9088051" cy="6858000"/>
            </a:xfrm>
            <a:custGeom>
              <a:avLst/>
              <a:gdLst>
                <a:gd name="connsiteX0" fmla="*/ 5158786 w 9088051"/>
                <a:gd name="connsiteY0" fmla="*/ 0 h 6858000"/>
                <a:gd name="connsiteX1" fmla="*/ 6996771 w 9088051"/>
                <a:gd name="connsiteY1" fmla="*/ 0 h 6858000"/>
                <a:gd name="connsiteX2" fmla="*/ 7006955 w 9088051"/>
                <a:gd name="connsiteY2" fmla="*/ 6825 h 6858000"/>
                <a:gd name="connsiteX3" fmla="*/ 8954230 w 9088051"/>
                <a:gd name="connsiteY3" fmla="*/ 4580835 h 6858000"/>
                <a:gd name="connsiteX4" fmla="*/ 7184080 w 9088051"/>
                <a:gd name="connsiteY4" fmla="*/ 6259703 h 6858000"/>
                <a:gd name="connsiteX5" fmla="*/ 6885926 w 9088051"/>
                <a:gd name="connsiteY5" fmla="*/ 6564765 h 6858000"/>
                <a:gd name="connsiteX6" fmla="*/ 6608241 w 9088051"/>
                <a:gd name="connsiteY6" fmla="*/ 6858000 h 6858000"/>
                <a:gd name="connsiteX7" fmla="*/ 5462870 w 9088051"/>
                <a:gd name="connsiteY7" fmla="*/ 6858000 h 6858000"/>
                <a:gd name="connsiteX8" fmla="*/ 5529056 w 9088051"/>
                <a:gd name="connsiteY8" fmla="*/ 6804645 h 6858000"/>
                <a:gd name="connsiteX9" fmla="*/ 6167613 w 9088051"/>
                <a:gd name="connsiteY9" fmla="*/ 6173667 h 6858000"/>
                <a:gd name="connsiteX10" fmla="*/ 6610973 w 9088051"/>
                <a:gd name="connsiteY10" fmla="*/ 5715860 h 6858000"/>
                <a:gd name="connsiteX11" fmla="*/ 7646083 w 9088051"/>
                <a:gd name="connsiteY11" fmla="*/ 4995842 h 6858000"/>
                <a:gd name="connsiteX12" fmla="*/ 7980054 w 9088051"/>
                <a:gd name="connsiteY12" fmla="*/ 4790095 h 6858000"/>
                <a:gd name="connsiteX13" fmla="*/ 8180437 w 9088051"/>
                <a:gd name="connsiteY13" fmla="*/ 4371964 h 6858000"/>
                <a:gd name="connsiteX14" fmla="*/ 8192058 w 9088051"/>
                <a:gd name="connsiteY14" fmla="*/ 2919242 h 6858000"/>
                <a:gd name="connsiteX15" fmla="*/ 7492638 w 9088051"/>
                <a:gd name="connsiteY15" fmla="*/ 1542845 h 6858000"/>
                <a:gd name="connsiteX16" fmla="*/ 6089097 w 9088051"/>
                <a:gd name="connsiteY16" fmla="*/ 357847 h 6858000"/>
                <a:gd name="connsiteX17" fmla="*/ 5288639 w 9088051"/>
                <a:gd name="connsiteY17" fmla="*/ 31627 h 6858000"/>
                <a:gd name="connsiteX18" fmla="*/ 1844517 w 9088051"/>
                <a:gd name="connsiteY18" fmla="*/ 0 h 6858000"/>
                <a:gd name="connsiteX19" fmla="*/ 3734467 w 9088051"/>
                <a:gd name="connsiteY19" fmla="*/ 0 h 6858000"/>
                <a:gd name="connsiteX20" fmla="*/ 3603618 w 9088051"/>
                <a:gd name="connsiteY20" fmla="*/ 28853 h 6858000"/>
                <a:gd name="connsiteX21" fmla="*/ 1892878 w 9088051"/>
                <a:gd name="connsiteY21" fmla="*/ 985434 h 6858000"/>
                <a:gd name="connsiteX22" fmla="*/ 1096045 w 9088051"/>
                <a:gd name="connsiteY22" fmla="*/ 2147349 h 6858000"/>
                <a:gd name="connsiteX23" fmla="*/ 803453 w 9088051"/>
                <a:gd name="connsiteY23" fmla="*/ 3573669 h 6858000"/>
                <a:gd name="connsiteX24" fmla="*/ 1046377 w 9088051"/>
                <a:gd name="connsiteY24" fmla="*/ 4878573 h 6858000"/>
                <a:gd name="connsiteX25" fmla="*/ 1714473 w 9088051"/>
                <a:gd name="connsiteY25" fmla="*/ 5973776 h 6858000"/>
                <a:gd name="connsiteX26" fmla="*/ 2776083 w 9088051"/>
                <a:gd name="connsiteY26" fmla="*/ 6804641 h 6858000"/>
                <a:gd name="connsiteX27" fmla="*/ 2884836 w 9088051"/>
                <a:gd name="connsiteY27" fmla="*/ 6858000 h 6858000"/>
                <a:gd name="connsiteX28" fmla="*/ 1484505 w 9088051"/>
                <a:gd name="connsiteY28" fmla="*/ 6858000 h 6858000"/>
                <a:gd name="connsiteX29" fmla="*/ 1431151 w 9088051"/>
                <a:gd name="connsiteY29" fmla="*/ 6811515 h 6858000"/>
                <a:gd name="connsiteX30" fmla="*/ 1103471 w 9088051"/>
                <a:gd name="connsiteY30" fmla="*/ 6477651 h 6858000"/>
                <a:gd name="connsiteX31" fmla="*/ 0 w 9088051"/>
                <a:gd name="connsiteY31" fmla="*/ 3573620 h 6858000"/>
                <a:gd name="connsiteX32" fmla="*/ 1809994 w 9088051"/>
                <a:gd name="connsiteY32" fmla="*/ 241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9088051" h="6858000">
                  <a:moveTo>
                    <a:pt x="5158786" y="0"/>
                  </a:moveTo>
                  <a:lnTo>
                    <a:pt x="6996771" y="0"/>
                  </a:lnTo>
                  <a:lnTo>
                    <a:pt x="7006955" y="6825"/>
                  </a:lnTo>
                  <a:cubicBezTo>
                    <a:pt x="8459794" y="1031353"/>
                    <a:pt x="9462596" y="2823601"/>
                    <a:pt x="8954230" y="4580835"/>
                  </a:cubicBezTo>
                  <a:cubicBezTo>
                    <a:pt x="8613842" y="5757293"/>
                    <a:pt x="7999457" y="5458140"/>
                    <a:pt x="7184080" y="6259703"/>
                  </a:cubicBezTo>
                  <a:cubicBezTo>
                    <a:pt x="7082152" y="6359905"/>
                    <a:pt x="6983303" y="6462297"/>
                    <a:pt x="6885926" y="6564765"/>
                  </a:cubicBezTo>
                  <a:lnTo>
                    <a:pt x="6608241" y="6858000"/>
                  </a:lnTo>
                  <a:lnTo>
                    <a:pt x="5462870" y="6858000"/>
                  </a:lnTo>
                  <a:lnTo>
                    <a:pt x="5529056" y="6804645"/>
                  </a:lnTo>
                  <a:cubicBezTo>
                    <a:pt x="5740217" y="6626505"/>
                    <a:pt x="5949382" y="6404876"/>
                    <a:pt x="6167613" y="6173667"/>
                  </a:cubicBezTo>
                  <a:cubicBezTo>
                    <a:pt x="6308782" y="6024091"/>
                    <a:pt x="6454799" y="5869390"/>
                    <a:pt x="6610973" y="5715860"/>
                  </a:cubicBezTo>
                  <a:cubicBezTo>
                    <a:pt x="7007847" y="5325741"/>
                    <a:pt x="7376733" y="5135074"/>
                    <a:pt x="7646083" y="4995842"/>
                  </a:cubicBezTo>
                  <a:cubicBezTo>
                    <a:pt x="7816858" y="4907561"/>
                    <a:pt x="7916545" y="4854514"/>
                    <a:pt x="7980054" y="4790095"/>
                  </a:cubicBezTo>
                  <a:cubicBezTo>
                    <a:pt x="8054629" y="4714405"/>
                    <a:pt x="8122031" y="4573758"/>
                    <a:pt x="8180437" y="4371964"/>
                  </a:cubicBezTo>
                  <a:cubicBezTo>
                    <a:pt x="8315441" y="3905228"/>
                    <a:pt x="8319381" y="3416431"/>
                    <a:pt x="8192058" y="2919242"/>
                  </a:cubicBezTo>
                  <a:cubicBezTo>
                    <a:pt x="8071251" y="2447381"/>
                    <a:pt x="7829388" y="1971467"/>
                    <a:pt x="7492638" y="1542845"/>
                  </a:cubicBezTo>
                  <a:cubicBezTo>
                    <a:pt x="7111829" y="1058099"/>
                    <a:pt x="6626484" y="648361"/>
                    <a:pt x="6089097" y="357847"/>
                  </a:cubicBezTo>
                  <a:cubicBezTo>
                    <a:pt x="5824244" y="214687"/>
                    <a:pt x="5554957" y="105262"/>
                    <a:pt x="5288639" y="31627"/>
                  </a:cubicBezTo>
                  <a:close/>
                  <a:moveTo>
                    <a:pt x="1844517" y="0"/>
                  </a:moveTo>
                  <a:lnTo>
                    <a:pt x="3734467" y="0"/>
                  </a:lnTo>
                  <a:lnTo>
                    <a:pt x="3603618" y="28853"/>
                  </a:lnTo>
                  <a:cubicBezTo>
                    <a:pt x="2962049" y="186733"/>
                    <a:pt x="2373277" y="513136"/>
                    <a:pt x="1892878" y="985434"/>
                  </a:cubicBezTo>
                  <a:cubicBezTo>
                    <a:pt x="1551428" y="1321091"/>
                    <a:pt x="1283341" y="1711990"/>
                    <a:pt x="1096045" y="2147349"/>
                  </a:cubicBezTo>
                  <a:cubicBezTo>
                    <a:pt x="901876" y="2598519"/>
                    <a:pt x="803453" y="3078432"/>
                    <a:pt x="803453" y="3573669"/>
                  </a:cubicBezTo>
                  <a:cubicBezTo>
                    <a:pt x="803453" y="4023717"/>
                    <a:pt x="885151" y="4462735"/>
                    <a:pt x="1046377" y="4878573"/>
                  </a:cubicBezTo>
                  <a:cubicBezTo>
                    <a:pt x="1201945" y="5279770"/>
                    <a:pt x="1426681" y="5648221"/>
                    <a:pt x="1714473" y="5973776"/>
                  </a:cubicBezTo>
                  <a:cubicBezTo>
                    <a:pt x="2012357" y="6310732"/>
                    <a:pt x="2376505" y="6595304"/>
                    <a:pt x="2776083" y="6804641"/>
                  </a:cubicBezTo>
                  <a:lnTo>
                    <a:pt x="2884836" y="6858000"/>
                  </a:lnTo>
                  <a:lnTo>
                    <a:pt x="1484505" y="6858000"/>
                  </a:lnTo>
                  <a:lnTo>
                    <a:pt x="1431151" y="6811515"/>
                  </a:lnTo>
                  <a:cubicBezTo>
                    <a:pt x="1316128" y="6705919"/>
                    <a:pt x="1206738" y="6594470"/>
                    <a:pt x="1103471" y="6477651"/>
                  </a:cubicBezTo>
                  <a:cubicBezTo>
                    <a:pt x="416075" y="5700097"/>
                    <a:pt x="0" y="4684635"/>
                    <a:pt x="0" y="3573620"/>
                  </a:cubicBezTo>
                  <a:cubicBezTo>
                    <a:pt x="0" y="2121118"/>
                    <a:pt x="711220" y="831902"/>
                    <a:pt x="1809994" y="24133"/>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38" name="Freeform: Shape 16">
              <a:extLst>
                <a:ext uri="{FF2B5EF4-FFF2-40B4-BE49-F238E27FC236}">
                  <a16:creationId xmlns:a16="http://schemas.microsoft.com/office/drawing/2014/main" id="{18AEF7B8-8BD6-C04D-BBA6-70087718EBC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29061" y="36937"/>
              <a:ext cx="9107210" cy="6858000"/>
            </a:xfrm>
            <a:custGeom>
              <a:avLst/>
              <a:gdLst>
                <a:gd name="connsiteX0" fmla="*/ 6184722 w 9107210"/>
                <a:gd name="connsiteY0" fmla="*/ 0 h 6858000"/>
                <a:gd name="connsiteX1" fmla="*/ 6985680 w 9107210"/>
                <a:gd name="connsiteY1" fmla="*/ 0 h 6858000"/>
                <a:gd name="connsiteX2" fmla="*/ 7324323 w 9107210"/>
                <a:gd name="connsiteY2" fmla="*/ 247136 h 6858000"/>
                <a:gd name="connsiteX3" fmla="*/ 7652712 w 9107210"/>
                <a:gd name="connsiteY3" fmla="*/ 528495 h 6858000"/>
                <a:gd name="connsiteX4" fmla="*/ 8236677 w 9107210"/>
                <a:gd name="connsiteY4" fmla="*/ 1166289 h 6858000"/>
                <a:gd name="connsiteX5" fmla="*/ 8704298 w 9107210"/>
                <a:gd name="connsiteY5" fmla="*/ 1897038 h 6858000"/>
                <a:gd name="connsiteX6" fmla="*/ 8885160 w 9107210"/>
                <a:gd name="connsiteY6" fmla="*/ 2294087 h 6858000"/>
                <a:gd name="connsiteX7" fmla="*/ 8924247 w 9107210"/>
                <a:gd name="connsiteY7" fmla="*/ 2396286 h 6858000"/>
                <a:gd name="connsiteX8" fmla="*/ 8960022 w 9107210"/>
                <a:gd name="connsiteY8" fmla="*/ 2499767 h 6858000"/>
                <a:gd name="connsiteX9" fmla="*/ 8991720 w 9107210"/>
                <a:gd name="connsiteY9" fmla="*/ 2604671 h 6858000"/>
                <a:gd name="connsiteX10" fmla="*/ 9019646 w 9107210"/>
                <a:gd name="connsiteY10" fmla="*/ 2710708 h 6858000"/>
                <a:gd name="connsiteX11" fmla="*/ 9105822 w 9107210"/>
                <a:gd name="connsiteY11" fmla="*/ 3582266 h 6858000"/>
                <a:gd name="connsiteX12" fmla="*/ 9057716 w 9107210"/>
                <a:gd name="connsiteY12" fmla="*/ 4017873 h 6858000"/>
                <a:gd name="connsiteX13" fmla="*/ 8945600 w 9107210"/>
                <a:gd name="connsiteY13" fmla="*/ 4439659 h 6858000"/>
                <a:gd name="connsiteX14" fmla="*/ 8796080 w 9107210"/>
                <a:gd name="connsiteY14" fmla="*/ 4847428 h 6858000"/>
                <a:gd name="connsiteX15" fmla="*/ 8702056 w 9107210"/>
                <a:gd name="connsiteY15" fmla="*/ 5050108 h 6858000"/>
                <a:gd name="connsiteX16" fmla="*/ 8581125 w 9107210"/>
                <a:gd name="connsiteY16" fmla="*/ 5247525 h 6858000"/>
                <a:gd name="connsiteX17" fmla="*/ 8426254 w 9107210"/>
                <a:gd name="connsiteY17" fmla="*/ 5429647 h 6858000"/>
                <a:gd name="connsiteX18" fmla="*/ 8337174 w 9107210"/>
                <a:gd name="connsiteY18" fmla="*/ 5510552 h 6858000"/>
                <a:gd name="connsiteX19" fmla="*/ 8243200 w 9107210"/>
                <a:gd name="connsiteY19" fmla="*/ 5582948 h 6858000"/>
                <a:gd name="connsiteX20" fmla="*/ 7868330 w 9107210"/>
                <a:gd name="connsiteY20" fmla="*/ 5811104 h 6858000"/>
                <a:gd name="connsiteX21" fmla="*/ 7538916 w 9107210"/>
                <a:gd name="connsiteY21" fmla="*/ 6018899 h 6858000"/>
                <a:gd name="connsiteX22" fmla="*/ 7391280 w 9107210"/>
                <a:gd name="connsiteY22" fmla="*/ 6134132 h 6858000"/>
                <a:gd name="connsiteX23" fmla="*/ 7252511 w 9107210"/>
                <a:gd name="connsiteY23" fmla="*/ 6259105 h 6858000"/>
                <a:gd name="connsiteX24" fmla="*/ 7185601 w 9107210"/>
                <a:gd name="connsiteY24" fmla="*/ 6325894 h 6858000"/>
                <a:gd name="connsiteX25" fmla="*/ 7116651 w 9107210"/>
                <a:gd name="connsiteY25" fmla="*/ 6397010 h 6858000"/>
                <a:gd name="connsiteX26" fmla="*/ 6978545 w 9107210"/>
                <a:gd name="connsiteY26" fmla="*/ 6541607 h 6858000"/>
                <a:gd name="connsiteX27" fmla="*/ 6693009 w 9107210"/>
                <a:gd name="connsiteY27" fmla="*/ 6832716 h 6858000"/>
                <a:gd name="connsiteX28" fmla="*/ 6667488 w 9107210"/>
                <a:gd name="connsiteY28" fmla="*/ 6858000 h 6858000"/>
                <a:gd name="connsiteX29" fmla="*/ 6056793 w 9107210"/>
                <a:gd name="connsiteY29" fmla="*/ 6858000 h 6858000"/>
                <a:gd name="connsiteX30" fmla="*/ 6077345 w 9107210"/>
                <a:gd name="connsiteY30" fmla="*/ 6835420 h 6858000"/>
                <a:gd name="connsiteX31" fmla="*/ 6208519 w 9107210"/>
                <a:gd name="connsiteY31" fmla="*/ 6683989 h 6858000"/>
                <a:gd name="connsiteX32" fmla="*/ 6340001 w 9107210"/>
                <a:gd name="connsiteY32" fmla="*/ 6529852 h 6858000"/>
                <a:gd name="connsiteX33" fmla="*/ 6611419 w 9107210"/>
                <a:gd name="connsiteY33" fmla="*/ 6219317 h 6858000"/>
                <a:gd name="connsiteX34" fmla="*/ 6757678 w 9107210"/>
                <a:gd name="connsiteY34" fmla="*/ 6068228 h 6858000"/>
                <a:gd name="connsiteX35" fmla="*/ 6833713 w 9107210"/>
                <a:gd name="connsiteY35" fmla="*/ 5994061 h 6858000"/>
                <a:gd name="connsiteX36" fmla="*/ 6915148 w 9107210"/>
                <a:gd name="connsiteY36" fmla="*/ 5918812 h 6858000"/>
                <a:gd name="connsiteX37" fmla="*/ 7276311 w 9107210"/>
                <a:gd name="connsiteY37" fmla="*/ 5650229 h 6858000"/>
                <a:gd name="connsiteX38" fmla="*/ 7664942 w 9107210"/>
                <a:gd name="connsiteY38" fmla="*/ 5445681 h 6858000"/>
                <a:gd name="connsiteX39" fmla="*/ 7848505 w 9107210"/>
                <a:gd name="connsiteY39" fmla="*/ 5358333 h 6858000"/>
                <a:gd name="connsiteX40" fmla="*/ 8011785 w 9107210"/>
                <a:gd name="connsiteY40" fmla="*/ 5267788 h 6858000"/>
                <a:gd name="connsiteX41" fmla="*/ 8260273 w 9107210"/>
                <a:gd name="connsiteY41" fmla="*/ 5034370 h 6858000"/>
                <a:gd name="connsiteX42" fmla="*/ 8417589 w 9107210"/>
                <a:gd name="connsiteY42" fmla="*/ 4714488 h 6858000"/>
                <a:gd name="connsiteX43" fmla="*/ 8495000 w 9107210"/>
                <a:gd name="connsiteY43" fmla="*/ 4346409 h 6858000"/>
                <a:gd name="connsiteX44" fmla="*/ 8508556 w 9107210"/>
                <a:gd name="connsiteY44" fmla="*/ 3971101 h 6858000"/>
                <a:gd name="connsiteX45" fmla="*/ 8483330 w 9107210"/>
                <a:gd name="connsiteY45" fmla="*/ 3600710 h 6858000"/>
                <a:gd name="connsiteX46" fmla="*/ 8425336 w 9107210"/>
                <a:gd name="connsiteY46" fmla="*/ 3236121 h 6858000"/>
                <a:gd name="connsiteX47" fmla="*/ 8334575 w 9107210"/>
                <a:gd name="connsiteY47" fmla="*/ 2877977 h 6858000"/>
                <a:gd name="connsiteX48" fmla="*/ 8087513 w 9107210"/>
                <a:gd name="connsiteY48" fmla="*/ 2174622 h 6858000"/>
                <a:gd name="connsiteX49" fmla="*/ 7723650 w 9107210"/>
                <a:gd name="connsiteY49" fmla="*/ 1507613 h 6858000"/>
                <a:gd name="connsiteX50" fmla="*/ 7501815 w 9107210"/>
                <a:gd name="connsiteY50" fmla="*/ 1192947 h 6858000"/>
                <a:gd name="connsiteX51" fmla="*/ 7254399 w 9107210"/>
                <a:gd name="connsiteY51" fmla="*/ 894361 h 6858000"/>
                <a:gd name="connsiteX52" fmla="*/ 6689339 w 9107210"/>
                <a:gd name="connsiteY52" fmla="*/ 354046 h 6858000"/>
                <a:gd name="connsiteX53" fmla="*/ 6206651 w 9107210"/>
                <a:gd name="connsiteY53" fmla="*/ 12626 h 6858000"/>
                <a:gd name="connsiteX54" fmla="*/ 1827105 w 9107210"/>
                <a:gd name="connsiteY54" fmla="*/ 0 h 6858000"/>
                <a:gd name="connsiteX55" fmla="*/ 2807607 w 9107210"/>
                <a:gd name="connsiteY55" fmla="*/ 0 h 6858000"/>
                <a:gd name="connsiteX56" fmla="*/ 2667958 w 9107210"/>
                <a:gd name="connsiteY56" fmla="*/ 88235 h 6858000"/>
                <a:gd name="connsiteX57" fmla="*/ 2354723 w 9107210"/>
                <a:gd name="connsiteY57" fmla="*/ 314947 h 6858000"/>
                <a:gd name="connsiteX58" fmla="*/ 2059963 w 9107210"/>
                <a:gd name="connsiteY58" fmla="*/ 561545 h 6858000"/>
                <a:gd name="connsiteX59" fmla="*/ 1780798 w 9107210"/>
                <a:gd name="connsiteY59" fmla="*/ 824425 h 6858000"/>
                <a:gd name="connsiteX60" fmla="*/ 954714 w 9107210"/>
                <a:gd name="connsiteY60" fmla="*/ 2094309 h 6858000"/>
                <a:gd name="connsiteX61" fmla="*/ 732676 w 9107210"/>
                <a:gd name="connsiteY61" fmla="*/ 2813646 h 6858000"/>
                <a:gd name="connsiteX62" fmla="*/ 673867 w 9107210"/>
                <a:gd name="connsiteY62" fmla="*/ 3183989 h 6858000"/>
                <a:gd name="connsiteX63" fmla="*/ 647621 w 9107210"/>
                <a:gd name="connsiteY63" fmla="*/ 3557281 h 6858000"/>
                <a:gd name="connsiteX64" fmla="*/ 653381 w 9107210"/>
                <a:gd name="connsiteY64" fmla="*/ 3931214 h 6858000"/>
                <a:gd name="connsiteX65" fmla="*/ 690428 w 9107210"/>
                <a:gd name="connsiteY65" fmla="*/ 4303719 h 6858000"/>
                <a:gd name="connsiteX66" fmla="*/ 871801 w 9107210"/>
                <a:gd name="connsiteY66" fmla="*/ 5033041 h 6858000"/>
                <a:gd name="connsiteX67" fmla="*/ 1197749 w 9107210"/>
                <a:gd name="connsiteY67" fmla="*/ 5718494 h 6858000"/>
                <a:gd name="connsiteX68" fmla="*/ 1411480 w 9107210"/>
                <a:gd name="connsiteY68" fmla="*/ 6036703 h 6858000"/>
                <a:gd name="connsiteX69" fmla="*/ 1530170 w 9107210"/>
                <a:gd name="connsiteY69" fmla="*/ 6188430 h 6858000"/>
                <a:gd name="connsiteX70" fmla="*/ 1657165 w 9107210"/>
                <a:gd name="connsiteY70" fmla="*/ 6335385 h 6858000"/>
                <a:gd name="connsiteX71" fmla="*/ 1931343 w 9107210"/>
                <a:gd name="connsiteY71" fmla="*/ 6612896 h 6858000"/>
                <a:gd name="connsiteX72" fmla="*/ 2220133 w 9107210"/>
                <a:gd name="connsiteY72" fmla="*/ 6858000 h 6858000"/>
                <a:gd name="connsiteX73" fmla="*/ 1539862 w 9107210"/>
                <a:gd name="connsiteY73" fmla="*/ 6858000 h 6858000"/>
                <a:gd name="connsiteX74" fmla="*/ 1307111 w 9107210"/>
                <a:gd name="connsiteY74" fmla="*/ 6648873 h 6858000"/>
                <a:gd name="connsiteX75" fmla="*/ 750258 w 9107210"/>
                <a:gd name="connsiteY75" fmla="*/ 5987570 h 6858000"/>
                <a:gd name="connsiteX76" fmla="*/ 335382 w 9107210"/>
                <a:gd name="connsiteY76" fmla="*/ 5229279 h 6858000"/>
                <a:gd name="connsiteX77" fmla="*/ 79351 w 9107210"/>
                <a:gd name="connsiteY77" fmla="*/ 4403854 h 6858000"/>
                <a:gd name="connsiteX78" fmla="*/ 16007 w 9107210"/>
                <a:gd name="connsiteY78" fmla="*/ 3975723 h 6858000"/>
                <a:gd name="connsiteX79" fmla="*/ 871 w 9107210"/>
                <a:gd name="connsiteY79" fmla="*/ 3543362 h 6858000"/>
                <a:gd name="connsiteX80" fmla="*/ 32519 w 9107210"/>
                <a:gd name="connsiteY80" fmla="*/ 3112085 h 6858000"/>
                <a:gd name="connsiteX81" fmla="*/ 108502 w 9107210"/>
                <a:gd name="connsiteY81" fmla="*/ 2686511 h 6858000"/>
                <a:gd name="connsiteX82" fmla="*/ 378239 w 9107210"/>
                <a:gd name="connsiteY82" fmla="*/ 1865955 h 6858000"/>
                <a:gd name="connsiteX83" fmla="*/ 1343701 w 9107210"/>
                <a:gd name="connsiteY83" fmla="*/ 431508 h 6858000"/>
                <a:gd name="connsiteX84" fmla="*/ 1661853 w 9107210"/>
                <a:gd name="connsiteY84" fmla="*/ 130268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Lst>
              <a:rect l="l" t="t" r="r" b="b"/>
              <a:pathLst>
                <a:path w="9107210" h="6858000">
                  <a:moveTo>
                    <a:pt x="6184722" y="0"/>
                  </a:moveTo>
                  <a:lnTo>
                    <a:pt x="6985680" y="0"/>
                  </a:lnTo>
                  <a:lnTo>
                    <a:pt x="7324323" y="247136"/>
                  </a:lnTo>
                  <a:cubicBezTo>
                    <a:pt x="7437502" y="336500"/>
                    <a:pt x="7547171" y="430254"/>
                    <a:pt x="7652712" y="528495"/>
                  </a:cubicBezTo>
                  <a:cubicBezTo>
                    <a:pt x="7863743" y="724929"/>
                    <a:pt x="8060097" y="937593"/>
                    <a:pt x="8236677" y="1166289"/>
                  </a:cubicBezTo>
                  <a:cubicBezTo>
                    <a:pt x="8413818" y="1394594"/>
                    <a:pt x="8570168" y="1639471"/>
                    <a:pt x="8704298" y="1897038"/>
                  </a:cubicBezTo>
                  <a:cubicBezTo>
                    <a:pt x="8770803" y="2026141"/>
                    <a:pt x="8830836" y="2158786"/>
                    <a:pt x="8885160" y="2294087"/>
                  </a:cubicBezTo>
                  <a:cubicBezTo>
                    <a:pt x="8898360" y="2328071"/>
                    <a:pt x="8912169" y="2361810"/>
                    <a:pt x="8924247" y="2396286"/>
                  </a:cubicBezTo>
                  <a:lnTo>
                    <a:pt x="8960022" y="2499767"/>
                  </a:lnTo>
                  <a:lnTo>
                    <a:pt x="8991720" y="2604671"/>
                  </a:lnTo>
                  <a:cubicBezTo>
                    <a:pt x="9002116" y="2639690"/>
                    <a:pt x="9010474" y="2675346"/>
                    <a:pt x="9019646" y="2710708"/>
                  </a:cubicBezTo>
                  <a:cubicBezTo>
                    <a:pt x="9089055" y="2995079"/>
                    <a:pt x="9113620" y="3289927"/>
                    <a:pt x="9105822" y="3582266"/>
                  </a:cubicBezTo>
                  <a:cubicBezTo>
                    <a:pt x="9101796" y="3728484"/>
                    <a:pt x="9085744" y="3874458"/>
                    <a:pt x="9057716" y="4017873"/>
                  </a:cubicBezTo>
                  <a:cubicBezTo>
                    <a:pt x="9029534" y="4161336"/>
                    <a:pt x="8990497" y="4302046"/>
                    <a:pt x="8945600" y="4439659"/>
                  </a:cubicBezTo>
                  <a:cubicBezTo>
                    <a:pt x="8900857" y="4577566"/>
                    <a:pt x="8852901" y="4711784"/>
                    <a:pt x="8796080" y="4847428"/>
                  </a:cubicBezTo>
                  <a:cubicBezTo>
                    <a:pt x="8767695" y="4915152"/>
                    <a:pt x="8737016" y="4982926"/>
                    <a:pt x="8702056" y="5050108"/>
                  </a:cubicBezTo>
                  <a:cubicBezTo>
                    <a:pt x="8666485" y="5116997"/>
                    <a:pt x="8627347" y="5183687"/>
                    <a:pt x="8581125" y="5247525"/>
                  </a:cubicBezTo>
                  <a:cubicBezTo>
                    <a:pt x="8535565" y="5311660"/>
                    <a:pt x="8483534" y="5373185"/>
                    <a:pt x="8426254" y="5429647"/>
                  </a:cubicBezTo>
                  <a:cubicBezTo>
                    <a:pt x="8397512" y="5457779"/>
                    <a:pt x="8367801" y="5484879"/>
                    <a:pt x="8337174" y="5510552"/>
                  </a:cubicBezTo>
                  <a:cubicBezTo>
                    <a:pt x="8306444" y="5536077"/>
                    <a:pt x="8274899" y="5560029"/>
                    <a:pt x="8243200" y="5582948"/>
                  </a:cubicBezTo>
                  <a:cubicBezTo>
                    <a:pt x="8115543" y="5674574"/>
                    <a:pt x="7986203" y="5743233"/>
                    <a:pt x="7868330" y="5811104"/>
                  </a:cubicBezTo>
                  <a:cubicBezTo>
                    <a:pt x="7749844" y="5878385"/>
                    <a:pt x="7640685" y="5945126"/>
                    <a:pt x="7538916" y="6018899"/>
                  </a:cubicBezTo>
                  <a:cubicBezTo>
                    <a:pt x="7487749" y="6055392"/>
                    <a:pt x="7438777" y="6093950"/>
                    <a:pt x="7391280" y="6134132"/>
                  </a:cubicBezTo>
                  <a:cubicBezTo>
                    <a:pt x="7343427" y="6173921"/>
                    <a:pt x="7297511" y="6215922"/>
                    <a:pt x="7252511" y="6259105"/>
                  </a:cubicBezTo>
                  <a:cubicBezTo>
                    <a:pt x="7229784" y="6280990"/>
                    <a:pt x="7208635" y="6302433"/>
                    <a:pt x="7185601" y="6325894"/>
                  </a:cubicBezTo>
                  <a:lnTo>
                    <a:pt x="7116651" y="6397010"/>
                  </a:lnTo>
                  <a:lnTo>
                    <a:pt x="6978545" y="6541607"/>
                  </a:lnTo>
                  <a:cubicBezTo>
                    <a:pt x="6885693" y="6638397"/>
                    <a:pt x="6789885" y="6734943"/>
                    <a:pt x="6693009" y="6832716"/>
                  </a:cubicBezTo>
                  <a:lnTo>
                    <a:pt x="6667488" y="6858000"/>
                  </a:lnTo>
                  <a:lnTo>
                    <a:pt x="6056793" y="6858000"/>
                  </a:lnTo>
                  <a:lnTo>
                    <a:pt x="6077345" y="6835420"/>
                  </a:lnTo>
                  <a:cubicBezTo>
                    <a:pt x="6121427" y="6785747"/>
                    <a:pt x="6164948" y="6735090"/>
                    <a:pt x="6208519" y="6683989"/>
                  </a:cubicBezTo>
                  <a:lnTo>
                    <a:pt x="6340001" y="6529852"/>
                  </a:lnTo>
                  <a:cubicBezTo>
                    <a:pt x="6428315" y="6426667"/>
                    <a:pt x="6516733" y="6321417"/>
                    <a:pt x="6611419" y="6219317"/>
                  </a:cubicBezTo>
                  <a:cubicBezTo>
                    <a:pt x="6658864" y="6168363"/>
                    <a:pt x="6707584" y="6117950"/>
                    <a:pt x="6757678" y="6068228"/>
                  </a:cubicBezTo>
                  <a:lnTo>
                    <a:pt x="6833713" y="5994061"/>
                  </a:lnTo>
                  <a:cubicBezTo>
                    <a:pt x="6859346" y="5969422"/>
                    <a:pt x="6887579" y="5943404"/>
                    <a:pt x="6915148" y="5918812"/>
                  </a:cubicBezTo>
                  <a:cubicBezTo>
                    <a:pt x="7026295" y="5819219"/>
                    <a:pt x="7148602" y="5729117"/>
                    <a:pt x="7276311" y="5650229"/>
                  </a:cubicBezTo>
                  <a:cubicBezTo>
                    <a:pt x="7403918" y="5571046"/>
                    <a:pt x="7537794" y="5505190"/>
                    <a:pt x="7664942" y="5445681"/>
                  </a:cubicBezTo>
                  <a:cubicBezTo>
                    <a:pt x="7728491" y="5416024"/>
                    <a:pt x="7790410" y="5387449"/>
                    <a:pt x="7848505" y="5358333"/>
                  </a:cubicBezTo>
                  <a:cubicBezTo>
                    <a:pt x="7906805" y="5329315"/>
                    <a:pt x="7961843" y="5300101"/>
                    <a:pt x="8011785" y="5267788"/>
                  </a:cubicBezTo>
                  <a:cubicBezTo>
                    <a:pt x="8112281" y="5203950"/>
                    <a:pt x="8193615" y="5128111"/>
                    <a:pt x="8260273" y="5034370"/>
                  </a:cubicBezTo>
                  <a:cubicBezTo>
                    <a:pt x="8326370" y="4940776"/>
                    <a:pt x="8378657" y="4831640"/>
                    <a:pt x="8417589" y="4714488"/>
                  </a:cubicBezTo>
                  <a:cubicBezTo>
                    <a:pt x="8456372" y="4597485"/>
                    <a:pt x="8481140" y="4471332"/>
                    <a:pt x="8495000" y="4346409"/>
                  </a:cubicBezTo>
                  <a:cubicBezTo>
                    <a:pt x="8508404" y="4221044"/>
                    <a:pt x="8511359" y="4095482"/>
                    <a:pt x="8508556" y="3971101"/>
                  </a:cubicBezTo>
                  <a:cubicBezTo>
                    <a:pt x="8504530" y="3846571"/>
                    <a:pt x="8495663" y="3723222"/>
                    <a:pt x="8483330" y="3600710"/>
                  </a:cubicBezTo>
                  <a:cubicBezTo>
                    <a:pt x="8470793" y="3478148"/>
                    <a:pt x="8451888" y="3356421"/>
                    <a:pt x="8425336" y="3236121"/>
                  </a:cubicBezTo>
                  <a:cubicBezTo>
                    <a:pt x="8399091" y="3115774"/>
                    <a:pt x="8367801" y="2996655"/>
                    <a:pt x="8334575" y="2877977"/>
                  </a:cubicBezTo>
                  <a:cubicBezTo>
                    <a:pt x="8268222" y="2640772"/>
                    <a:pt x="8190100" y="2404057"/>
                    <a:pt x="8087513" y="2174622"/>
                  </a:cubicBezTo>
                  <a:cubicBezTo>
                    <a:pt x="7985081" y="1945237"/>
                    <a:pt x="7863233" y="1721900"/>
                    <a:pt x="7723650" y="1507613"/>
                  </a:cubicBezTo>
                  <a:cubicBezTo>
                    <a:pt x="7653527" y="1400692"/>
                    <a:pt x="7579684" y="1295589"/>
                    <a:pt x="7501815" y="1192947"/>
                  </a:cubicBezTo>
                  <a:cubicBezTo>
                    <a:pt x="7423844" y="1090353"/>
                    <a:pt x="7340778" y="991103"/>
                    <a:pt x="7254399" y="894361"/>
                  </a:cubicBezTo>
                  <a:cubicBezTo>
                    <a:pt x="7082047" y="700485"/>
                    <a:pt x="6893083" y="519052"/>
                    <a:pt x="6689339" y="354046"/>
                  </a:cubicBezTo>
                  <a:cubicBezTo>
                    <a:pt x="6536914" y="229775"/>
                    <a:pt x="6375602" y="115325"/>
                    <a:pt x="6206651" y="12626"/>
                  </a:cubicBezTo>
                  <a:close/>
                  <a:moveTo>
                    <a:pt x="1827105" y="0"/>
                  </a:moveTo>
                  <a:lnTo>
                    <a:pt x="2807607" y="0"/>
                  </a:lnTo>
                  <a:lnTo>
                    <a:pt x="2667958" y="88235"/>
                  </a:lnTo>
                  <a:cubicBezTo>
                    <a:pt x="2560098" y="159777"/>
                    <a:pt x="2455754" y="235690"/>
                    <a:pt x="2354723" y="314947"/>
                  </a:cubicBezTo>
                  <a:cubicBezTo>
                    <a:pt x="2253464" y="394030"/>
                    <a:pt x="2156943" y="478181"/>
                    <a:pt x="2059963" y="561545"/>
                  </a:cubicBezTo>
                  <a:cubicBezTo>
                    <a:pt x="1962831" y="644811"/>
                    <a:pt x="1868297" y="731322"/>
                    <a:pt x="1780798" y="824425"/>
                  </a:cubicBezTo>
                  <a:cubicBezTo>
                    <a:pt x="1429010" y="1195013"/>
                    <a:pt x="1148011" y="1628455"/>
                    <a:pt x="954714" y="2094309"/>
                  </a:cubicBezTo>
                  <a:cubicBezTo>
                    <a:pt x="857938" y="2327186"/>
                    <a:pt x="783229" y="2568326"/>
                    <a:pt x="732676" y="2813646"/>
                  </a:cubicBezTo>
                  <a:cubicBezTo>
                    <a:pt x="707552" y="2936307"/>
                    <a:pt x="688085" y="3059952"/>
                    <a:pt x="673867" y="3183989"/>
                  </a:cubicBezTo>
                  <a:cubicBezTo>
                    <a:pt x="660056" y="3308075"/>
                    <a:pt x="651341" y="3432605"/>
                    <a:pt x="647621" y="3557281"/>
                  </a:cubicBezTo>
                  <a:cubicBezTo>
                    <a:pt x="644411" y="3681958"/>
                    <a:pt x="645329" y="3806733"/>
                    <a:pt x="653381" y="3931214"/>
                  </a:cubicBezTo>
                  <a:cubicBezTo>
                    <a:pt x="659852" y="4055792"/>
                    <a:pt x="672949" y="4179977"/>
                    <a:pt x="690428" y="4303719"/>
                  </a:cubicBezTo>
                  <a:cubicBezTo>
                    <a:pt x="726408" y="4551057"/>
                    <a:pt x="786440" y="4795835"/>
                    <a:pt x="871801" y="5033041"/>
                  </a:cubicBezTo>
                  <a:cubicBezTo>
                    <a:pt x="957007" y="5270247"/>
                    <a:pt x="1065962" y="5500322"/>
                    <a:pt x="1197749" y="5718494"/>
                  </a:cubicBezTo>
                  <a:cubicBezTo>
                    <a:pt x="1263846" y="5827433"/>
                    <a:pt x="1334937" y="5933813"/>
                    <a:pt x="1411480" y="6036703"/>
                  </a:cubicBezTo>
                  <a:cubicBezTo>
                    <a:pt x="1449548" y="6088295"/>
                    <a:pt x="1489451" y="6138609"/>
                    <a:pt x="1530170" y="6188430"/>
                  </a:cubicBezTo>
                  <a:cubicBezTo>
                    <a:pt x="1571447" y="6238055"/>
                    <a:pt x="1613644" y="6287336"/>
                    <a:pt x="1657165" y="6335385"/>
                  </a:cubicBezTo>
                  <a:cubicBezTo>
                    <a:pt x="1744079" y="6431708"/>
                    <a:pt x="1835644" y="6524282"/>
                    <a:pt x="1931343" y="6612896"/>
                  </a:cubicBezTo>
                  <a:lnTo>
                    <a:pt x="2220133" y="6858000"/>
                  </a:lnTo>
                  <a:lnTo>
                    <a:pt x="1539862" y="6858000"/>
                  </a:lnTo>
                  <a:lnTo>
                    <a:pt x="1307111" y="6648873"/>
                  </a:lnTo>
                  <a:cubicBezTo>
                    <a:pt x="1101839" y="6448063"/>
                    <a:pt x="913180" y="6225465"/>
                    <a:pt x="750258" y="5987570"/>
                  </a:cubicBezTo>
                  <a:cubicBezTo>
                    <a:pt x="587232" y="5749281"/>
                    <a:pt x="448261" y="5494813"/>
                    <a:pt x="335382" y="5229279"/>
                  </a:cubicBezTo>
                  <a:cubicBezTo>
                    <a:pt x="222298" y="4963793"/>
                    <a:pt x="137040" y="4686652"/>
                    <a:pt x="79351" y="4403854"/>
                  </a:cubicBezTo>
                  <a:cubicBezTo>
                    <a:pt x="50150" y="4262456"/>
                    <a:pt x="29767" y="4119385"/>
                    <a:pt x="16007" y="3975723"/>
                  </a:cubicBezTo>
                  <a:cubicBezTo>
                    <a:pt x="3930" y="3831964"/>
                    <a:pt x="-2441" y="3687614"/>
                    <a:pt x="871" y="3543362"/>
                  </a:cubicBezTo>
                  <a:cubicBezTo>
                    <a:pt x="3522" y="3399160"/>
                    <a:pt x="14172" y="3255105"/>
                    <a:pt x="32519" y="3112085"/>
                  </a:cubicBezTo>
                  <a:cubicBezTo>
                    <a:pt x="50508" y="2969014"/>
                    <a:pt x="76090" y="2826925"/>
                    <a:pt x="108502" y="2686511"/>
                  </a:cubicBezTo>
                  <a:cubicBezTo>
                    <a:pt x="173019" y="2405533"/>
                    <a:pt x="263474" y="2130703"/>
                    <a:pt x="378239" y="1865955"/>
                  </a:cubicBezTo>
                  <a:cubicBezTo>
                    <a:pt x="607922" y="1336607"/>
                    <a:pt x="935706" y="848228"/>
                    <a:pt x="1343701" y="431508"/>
                  </a:cubicBezTo>
                  <a:cubicBezTo>
                    <a:pt x="1446133" y="327783"/>
                    <a:pt x="1550910" y="225926"/>
                    <a:pt x="1661853" y="130268"/>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39" name="Freeform: Shape 17">
              <a:extLst>
                <a:ext uri="{FF2B5EF4-FFF2-40B4-BE49-F238E27FC236}">
                  <a16:creationId xmlns:a16="http://schemas.microsoft.com/office/drawing/2014/main" id="{1CC847C8-0FDD-0A41-ED92-D580E343C3D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18434" y="36937"/>
              <a:ext cx="9747620" cy="6858000"/>
            </a:xfrm>
            <a:custGeom>
              <a:avLst/>
              <a:gdLst>
                <a:gd name="connsiteX0" fmla="*/ 7235453 w 9747620"/>
                <a:gd name="connsiteY0" fmla="*/ 0 h 6858000"/>
                <a:gd name="connsiteX1" fmla="*/ 7548130 w 9747620"/>
                <a:gd name="connsiteY1" fmla="*/ 0 h 6858000"/>
                <a:gd name="connsiteX2" fmla="*/ 7710334 w 9747620"/>
                <a:gd name="connsiteY2" fmla="*/ 111973 h 6858000"/>
                <a:gd name="connsiteX3" fmla="*/ 7889188 w 9747620"/>
                <a:gd name="connsiteY3" fmla="*/ 251542 h 6858000"/>
                <a:gd name="connsiteX4" fmla="*/ 8061828 w 9747620"/>
                <a:gd name="connsiteY4" fmla="*/ 398586 h 6858000"/>
                <a:gd name="connsiteX5" fmla="*/ 8145637 w 9747620"/>
                <a:gd name="connsiteY5" fmla="*/ 474218 h 6858000"/>
                <a:gd name="connsiteX6" fmla="*/ 8187242 w 9747620"/>
                <a:gd name="connsiteY6" fmla="*/ 512753 h 6858000"/>
                <a:gd name="connsiteX7" fmla="*/ 8228402 w 9747620"/>
                <a:gd name="connsiteY7" fmla="*/ 551575 h 6858000"/>
                <a:gd name="connsiteX8" fmla="*/ 8389211 w 9747620"/>
                <a:gd name="connsiteY8" fmla="*/ 710937 h 6858000"/>
                <a:gd name="connsiteX9" fmla="*/ 8467206 w 9747620"/>
                <a:gd name="connsiteY9" fmla="*/ 793088 h 6858000"/>
                <a:gd name="connsiteX10" fmla="*/ 8486791 w 9747620"/>
                <a:gd name="connsiteY10" fmla="*/ 814223 h 6858000"/>
                <a:gd name="connsiteX11" fmla="*/ 8505979 w 9747620"/>
                <a:gd name="connsiteY11" fmla="*/ 835409 h 6858000"/>
                <a:gd name="connsiteX12" fmla="*/ 8543509 w 9747620"/>
                <a:gd name="connsiteY12" fmla="*/ 877346 h 6858000"/>
                <a:gd name="connsiteX13" fmla="*/ 8690549 w 9747620"/>
                <a:gd name="connsiteY13" fmla="*/ 1048978 h 6858000"/>
                <a:gd name="connsiteX14" fmla="*/ 8761732 w 9747620"/>
                <a:gd name="connsiteY14" fmla="*/ 1137502 h 6858000"/>
                <a:gd name="connsiteX15" fmla="*/ 8796379 w 9747620"/>
                <a:gd name="connsiteY15" fmla="*/ 1182077 h 6858000"/>
                <a:gd name="connsiteX16" fmla="*/ 8830678 w 9747620"/>
                <a:gd name="connsiteY16" fmla="*/ 1226986 h 6858000"/>
                <a:gd name="connsiteX17" fmla="*/ 8963353 w 9747620"/>
                <a:gd name="connsiteY17" fmla="*/ 1410936 h 6858000"/>
                <a:gd name="connsiteX18" fmla="*/ 9026483 w 9747620"/>
                <a:gd name="connsiteY18" fmla="*/ 1505499 h 6858000"/>
                <a:gd name="connsiteX19" fmla="*/ 9057004 w 9747620"/>
                <a:gd name="connsiteY19" fmla="*/ 1552613 h 6858000"/>
                <a:gd name="connsiteX20" fmla="*/ 9087278 w 9747620"/>
                <a:gd name="connsiteY20" fmla="*/ 1600542 h 6858000"/>
                <a:gd name="connsiteX21" fmla="*/ 9202851 w 9747620"/>
                <a:gd name="connsiteY21" fmla="*/ 1795515 h 6858000"/>
                <a:gd name="connsiteX22" fmla="*/ 9257332 w 9747620"/>
                <a:gd name="connsiteY22" fmla="*/ 1894920 h 6858000"/>
                <a:gd name="connsiteX23" fmla="*/ 9283778 w 9747620"/>
                <a:gd name="connsiteY23" fmla="*/ 1945436 h 6858000"/>
                <a:gd name="connsiteX24" fmla="*/ 9309428 w 9747620"/>
                <a:gd name="connsiteY24" fmla="*/ 1996193 h 6858000"/>
                <a:gd name="connsiteX25" fmla="*/ 9405714 w 9747620"/>
                <a:gd name="connsiteY25" fmla="*/ 2202191 h 6858000"/>
                <a:gd name="connsiteX26" fmla="*/ 9566524 w 9747620"/>
                <a:gd name="connsiteY26" fmla="*/ 2627653 h 6858000"/>
                <a:gd name="connsiteX27" fmla="*/ 9583573 w 9747620"/>
                <a:gd name="connsiteY27" fmla="*/ 2682195 h 6858000"/>
                <a:gd name="connsiteX28" fmla="*/ 9591974 w 9747620"/>
                <a:gd name="connsiteY28" fmla="*/ 2709707 h 6858000"/>
                <a:gd name="connsiteX29" fmla="*/ 9600027 w 9747620"/>
                <a:gd name="connsiteY29" fmla="*/ 2737650 h 6858000"/>
                <a:gd name="connsiteX30" fmla="*/ 9629803 w 9747620"/>
                <a:gd name="connsiteY30" fmla="*/ 2847694 h 6858000"/>
                <a:gd name="connsiteX31" fmla="*/ 9679909 w 9747620"/>
                <a:gd name="connsiteY31" fmla="*/ 3070131 h 6858000"/>
                <a:gd name="connsiteX32" fmla="*/ 9690498 w 9747620"/>
                <a:gd name="connsiteY32" fmla="*/ 3126159 h 6858000"/>
                <a:gd name="connsiteX33" fmla="*/ 9700390 w 9747620"/>
                <a:gd name="connsiteY33" fmla="*/ 3181805 h 6858000"/>
                <a:gd name="connsiteX34" fmla="*/ 9709685 w 9747620"/>
                <a:gd name="connsiteY34" fmla="*/ 3243392 h 6858000"/>
                <a:gd name="connsiteX35" fmla="*/ 9713016 w 9747620"/>
                <a:gd name="connsiteY35" fmla="*/ 3267597 h 6858000"/>
                <a:gd name="connsiteX36" fmla="*/ 9716844 w 9747620"/>
                <a:gd name="connsiteY36" fmla="*/ 3294437 h 6858000"/>
                <a:gd name="connsiteX37" fmla="*/ 9720820 w 9747620"/>
                <a:gd name="connsiteY37" fmla="*/ 3324488 h 6858000"/>
                <a:gd name="connsiteX38" fmla="*/ 9722709 w 9747620"/>
                <a:gd name="connsiteY38" fmla="*/ 3340737 h 6858000"/>
                <a:gd name="connsiteX39" fmla="*/ 9724301 w 9747620"/>
                <a:gd name="connsiteY39" fmla="*/ 3356361 h 6858000"/>
                <a:gd name="connsiteX40" fmla="*/ 9730166 w 9747620"/>
                <a:gd name="connsiteY40" fmla="*/ 3412197 h 6858000"/>
                <a:gd name="connsiteX41" fmla="*/ 9735783 w 9747620"/>
                <a:gd name="connsiteY41" fmla="*/ 3468083 h 6858000"/>
                <a:gd name="connsiteX42" fmla="*/ 9739760 w 9747620"/>
                <a:gd name="connsiteY42" fmla="*/ 3524399 h 6858000"/>
                <a:gd name="connsiteX43" fmla="*/ 9741748 w 9747620"/>
                <a:gd name="connsiteY43" fmla="*/ 3552580 h 6858000"/>
                <a:gd name="connsiteX44" fmla="*/ 9742742 w 9747620"/>
                <a:gd name="connsiteY44" fmla="*/ 3566672 h 6858000"/>
                <a:gd name="connsiteX45" fmla="*/ 9743488 w 9747620"/>
                <a:gd name="connsiteY45" fmla="*/ 3581865 h 6858000"/>
                <a:gd name="connsiteX46" fmla="*/ 9744731 w 9747620"/>
                <a:gd name="connsiteY46" fmla="*/ 3611341 h 6858000"/>
                <a:gd name="connsiteX47" fmla="*/ 9745725 w 9747620"/>
                <a:gd name="connsiteY47" fmla="*/ 3639715 h 6858000"/>
                <a:gd name="connsiteX48" fmla="*/ 9747613 w 9747620"/>
                <a:gd name="connsiteY48" fmla="*/ 3753786 h 6858000"/>
                <a:gd name="connsiteX49" fmla="*/ 9740405 w 9747620"/>
                <a:gd name="connsiteY49" fmla="*/ 3984609 h 6858000"/>
                <a:gd name="connsiteX50" fmla="*/ 9736329 w 9747620"/>
                <a:gd name="connsiteY50" fmla="*/ 4038434 h 6858000"/>
                <a:gd name="connsiteX51" fmla="*/ 9731408 w 9747620"/>
                <a:gd name="connsiteY51" fmla="*/ 4099446 h 6858000"/>
                <a:gd name="connsiteX52" fmla="*/ 9717987 w 9747620"/>
                <a:gd name="connsiteY52" fmla="*/ 4213325 h 6858000"/>
                <a:gd name="connsiteX53" fmla="*/ 9716297 w 9747620"/>
                <a:gd name="connsiteY53" fmla="*/ 4227129 h 6858000"/>
                <a:gd name="connsiteX54" fmla="*/ 9714110 w 9747620"/>
                <a:gd name="connsiteY54" fmla="*/ 4240981 h 6858000"/>
                <a:gd name="connsiteX55" fmla="*/ 9709785 w 9747620"/>
                <a:gd name="connsiteY55" fmla="*/ 4268731 h 6858000"/>
                <a:gd name="connsiteX56" fmla="*/ 9701086 w 9747620"/>
                <a:gd name="connsiteY56" fmla="*/ 4324185 h 6858000"/>
                <a:gd name="connsiteX57" fmla="*/ 9698699 w 9747620"/>
                <a:gd name="connsiteY57" fmla="*/ 4338994 h 6858000"/>
                <a:gd name="connsiteX58" fmla="*/ 9695966 w 9747620"/>
                <a:gd name="connsiteY58" fmla="*/ 4355050 h 6858000"/>
                <a:gd name="connsiteX59" fmla="*/ 9690299 w 9747620"/>
                <a:gd name="connsiteY59" fmla="*/ 4385054 h 6858000"/>
                <a:gd name="connsiteX60" fmla="*/ 9679909 w 9747620"/>
                <a:gd name="connsiteY60" fmla="*/ 4437919 h 6858000"/>
                <a:gd name="connsiteX61" fmla="*/ 9673647 w 9747620"/>
                <a:gd name="connsiteY61" fmla="*/ 4468162 h 6858000"/>
                <a:gd name="connsiteX62" fmla="*/ 9667532 w 9747620"/>
                <a:gd name="connsiteY62" fmla="*/ 4496296 h 6858000"/>
                <a:gd name="connsiteX63" fmla="*/ 9654658 w 9747620"/>
                <a:gd name="connsiteY63" fmla="*/ 4552277 h 6858000"/>
                <a:gd name="connsiteX64" fmla="*/ 9625876 w 9747620"/>
                <a:gd name="connsiteY64" fmla="*/ 4664478 h 6858000"/>
                <a:gd name="connsiteX65" fmla="*/ 9552803 w 9747620"/>
                <a:gd name="connsiteY65" fmla="*/ 4888737 h 6858000"/>
                <a:gd name="connsiteX66" fmla="*/ 9452639 w 9747620"/>
                <a:gd name="connsiteY66" fmla="*/ 5110934 h 6858000"/>
                <a:gd name="connsiteX67" fmla="*/ 9388017 w 9747620"/>
                <a:gd name="connsiteY67" fmla="*/ 5220020 h 6858000"/>
                <a:gd name="connsiteX68" fmla="*/ 9370073 w 9747620"/>
                <a:gd name="connsiteY68" fmla="*/ 5246811 h 6858000"/>
                <a:gd name="connsiteX69" fmla="*/ 9360926 w 9747620"/>
                <a:gd name="connsiteY69" fmla="*/ 5260040 h 6858000"/>
                <a:gd name="connsiteX70" fmla="*/ 9351829 w 9747620"/>
                <a:gd name="connsiteY70" fmla="*/ 5272646 h 6858000"/>
                <a:gd name="connsiteX71" fmla="*/ 9313305 w 9747620"/>
                <a:gd name="connsiteY71" fmla="*/ 5323881 h 6858000"/>
                <a:gd name="connsiteX72" fmla="*/ 9130375 w 9747620"/>
                <a:gd name="connsiteY72" fmla="*/ 5510802 h 6858000"/>
                <a:gd name="connsiteX73" fmla="*/ 9028422 w 9747620"/>
                <a:gd name="connsiteY73" fmla="*/ 5588878 h 6858000"/>
                <a:gd name="connsiteX74" fmla="*/ 9002424 w 9747620"/>
                <a:gd name="connsiteY74" fmla="*/ 5606707 h 6858000"/>
                <a:gd name="connsiteX75" fmla="*/ 8976525 w 9747620"/>
                <a:gd name="connsiteY75" fmla="*/ 5623866 h 6858000"/>
                <a:gd name="connsiteX76" fmla="*/ 8924181 w 9747620"/>
                <a:gd name="connsiteY76" fmla="*/ 5656793 h 6858000"/>
                <a:gd name="connsiteX77" fmla="*/ 8717291 w 9747620"/>
                <a:gd name="connsiteY77" fmla="*/ 5771582 h 6858000"/>
                <a:gd name="connsiteX78" fmla="*/ 8617129 w 9747620"/>
                <a:gd name="connsiteY78" fmla="*/ 5823105 h 6858000"/>
                <a:gd name="connsiteX79" fmla="*/ 8518207 w 9747620"/>
                <a:gd name="connsiteY79" fmla="*/ 5873671 h 6858000"/>
                <a:gd name="connsiteX80" fmla="*/ 8150558 w 9747620"/>
                <a:gd name="connsiteY80" fmla="*/ 6086761 h 6858000"/>
                <a:gd name="connsiteX81" fmla="*/ 7979410 w 9747620"/>
                <a:gd name="connsiteY81" fmla="*/ 6207158 h 6858000"/>
                <a:gd name="connsiteX82" fmla="*/ 7938300 w 9747620"/>
                <a:gd name="connsiteY82" fmla="*/ 6238887 h 6858000"/>
                <a:gd name="connsiteX83" fmla="*/ 7897936 w 9747620"/>
                <a:gd name="connsiteY83" fmla="*/ 6271286 h 6858000"/>
                <a:gd name="connsiteX84" fmla="*/ 7858367 w 9747620"/>
                <a:gd name="connsiteY84" fmla="*/ 6304357 h 6858000"/>
                <a:gd name="connsiteX85" fmla="*/ 7819048 w 9747620"/>
                <a:gd name="connsiteY85" fmla="*/ 6338770 h 6858000"/>
                <a:gd name="connsiteX86" fmla="*/ 7778882 w 9747620"/>
                <a:gd name="connsiteY86" fmla="*/ 6374477 h 6858000"/>
                <a:gd name="connsiteX87" fmla="*/ 7739563 w 9747620"/>
                <a:gd name="connsiteY87" fmla="*/ 6410328 h 6858000"/>
                <a:gd name="connsiteX88" fmla="*/ 7660824 w 9747620"/>
                <a:gd name="connsiteY88" fmla="*/ 6484138 h 6858000"/>
                <a:gd name="connsiteX89" fmla="*/ 7502302 w 9747620"/>
                <a:gd name="connsiteY89" fmla="*/ 6636360 h 6858000"/>
                <a:gd name="connsiteX90" fmla="*/ 7273394 w 9747620"/>
                <a:gd name="connsiteY90" fmla="*/ 6858000 h 6858000"/>
                <a:gd name="connsiteX91" fmla="*/ 6780690 w 9747620"/>
                <a:gd name="connsiteY91" fmla="*/ 6858000 h 6858000"/>
                <a:gd name="connsiteX92" fmla="*/ 6854939 w 9747620"/>
                <a:gd name="connsiteY92" fmla="*/ 6783597 h 6858000"/>
                <a:gd name="connsiteX93" fmla="*/ 6932087 w 9747620"/>
                <a:gd name="connsiteY93" fmla="*/ 6705809 h 6858000"/>
                <a:gd name="connsiteX94" fmla="*/ 7241130 w 9747620"/>
                <a:gd name="connsiteY94" fmla="*/ 6390965 h 6858000"/>
                <a:gd name="connsiteX95" fmla="*/ 7397564 w 9747620"/>
                <a:gd name="connsiteY95" fmla="*/ 6233087 h 6858000"/>
                <a:gd name="connsiteX96" fmla="*/ 7478142 w 9747620"/>
                <a:gd name="connsiteY96" fmla="*/ 6153670 h 6858000"/>
                <a:gd name="connsiteX97" fmla="*/ 7519600 w 9747620"/>
                <a:gd name="connsiteY97" fmla="*/ 6113937 h 6858000"/>
                <a:gd name="connsiteX98" fmla="*/ 7561207 w 9747620"/>
                <a:gd name="connsiteY98" fmla="*/ 6075067 h 6858000"/>
                <a:gd name="connsiteX99" fmla="*/ 7604204 w 9747620"/>
                <a:gd name="connsiteY99" fmla="*/ 6035526 h 6858000"/>
                <a:gd name="connsiteX100" fmla="*/ 7648644 w 9747620"/>
                <a:gd name="connsiteY100" fmla="*/ 5996416 h 6858000"/>
                <a:gd name="connsiteX101" fmla="*/ 7693830 w 9747620"/>
                <a:gd name="connsiteY101" fmla="*/ 5958264 h 6858000"/>
                <a:gd name="connsiteX102" fmla="*/ 7739662 w 9747620"/>
                <a:gd name="connsiteY102" fmla="*/ 5921073 h 6858000"/>
                <a:gd name="connsiteX103" fmla="*/ 7928458 w 9747620"/>
                <a:gd name="connsiteY103" fmla="*/ 5781025 h 6858000"/>
                <a:gd name="connsiteX104" fmla="*/ 8325882 w 9747620"/>
                <a:gd name="connsiteY104" fmla="*/ 5537450 h 6858000"/>
                <a:gd name="connsiteX105" fmla="*/ 8424555 w 9747620"/>
                <a:gd name="connsiteY105" fmla="*/ 5484106 h 6858000"/>
                <a:gd name="connsiteX106" fmla="*/ 8521737 w 9747620"/>
                <a:gd name="connsiteY106" fmla="*/ 5431289 h 6858000"/>
                <a:gd name="connsiteX107" fmla="*/ 8702677 w 9747620"/>
                <a:gd name="connsiteY107" fmla="*/ 5325942 h 6858000"/>
                <a:gd name="connsiteX108" fmla="*/ 8743986 w 9747620"/>
                <a:gd name="connsiteY108" fmla="*/ 5298717 h 6858000"/>
                <a:gd name="connsiteX109" fmla="*/ 8764167 w 9747620"/>
                <a:gd name="connsiteY109" fmla="*/ 5284723 h 6858000"/>
                <a:gd name="connsiteX110" fmla="*/ 8783704 w 9747620"/>
                <a:gd name="connsiteY110" fmla="*/ 5270679 h 6858000"/>
                <a:gd name="connsiteX111" fmla="*/ 8856776 w 9747620"/>
                <a:gd name="connsiteY111" fmla="*/ 5212399 h 6858000"/>
                <a:gd name="connsiteX112" fmla="*/ 8979856 w 9747620"/>
                <a:gd name="connsiteY112" fmla="*/ 5082081 h 6858000"/>
                <a:gd name="connsiteX113" fmla="*/ 9006699 w 9747620"/>
                <a:gd name="connsiteY113" fmla="*/ 5044984 h 6858000"/>
                <a:gd name="connsiteX114" fmla="*/ 9013509 w 9747620"/>
                <a:gd name="connsiteY114" fmla="*/ 5035254 h 6858000"/>
                <a:gd name="connsiteX115" fmla="*/ 9019773 w 9747620"/>
                <a:gd name="connsiteY115" fmla="*/ 5025812 h 6858000"/>
                <a:gd name="connsiteX116" fmla="*/ 9032050 w 9747620"/>
                <a:gd name="connsiteY116" fmla="*/ 5006833 h 6858000"/>
                <a:gd name="connsiteX117" fmla="*/ 9077733 w 9747620"/>
                <a:gd name="connsiteY117" fmla="*/ 4926839 h 6858000"/>
                <a:gd name="connsiteX118" fmla="*/ 9154285 w 9747620"/>
                <a:gd name="connsiteY118" fmla="*/ 4750223 h 6858000"/>
                <a:gd name="connsiteX119" fmla="*/ 9213936 w 9747620"/>
                <a:gd name="connsiteY119" fmla="*/ 4559945 h 6858000"/>
                <a:gd name="connsiteX120" fmla="*/ 9238592 w 9747620"/>
                <a:gd name="connsiteY120" fmla="*/ 4461357 h 6858000"/>
                <a:gd name="connsiteX121" fmla="*/ 9249776 w 9747620"/>
                <a:gd name="connsiteY121" fmla="*/ 4411319 h 6858000"/>
                <a:gd name="connsiteX122" fmla="*/ 9255046 w 9747620"/>
                <a:gd name="connsiteY122" fmla="*/ 4386299 h 6858000"/>
                <a:gd name="connsiteX123" fmla="*/ 9259718 w 9747620"/>
                <a:gd name="connsiteY123" fmla="*/ 4363342 h 6858000"/>
                <a:gd name="connsiteX124" fmla="*/ 9269959 w 9747620"/>
                <a:gd name="connsiteY124" fmla="*/ 4309566 h 6858000"/>
                <a:gd name="connsiteX125" fmla="*/ 9274233 w 9747620"/>
                <a:gd name="connsiteY125" fmla="*/ 4286176 h 6858000"/>
                <a:gd name="connsiteX126" fmla="*/ 9276022 w 9747620"/>
                <a:gd name="connsiteY126" fmla="*/ 4275489 h 6858000"/>
                <a:gd name="connsiteX127" fmla="*/ 9277861 w 9747620"/>
                <a:gd name="connsiteY127" fmla="*/ 4263506 h 6858000"/>
                <a:gd name="connsiteX128" fmla="*/ 9286014 w 9747620"/>
                <a:gd name="connsiteY128" fmla="*/ 4211696 h 6858000"/>
                <a:gd name="connsiteX129" fmla="*/ 9290092 w 9747620"/>
                <a:gd name="connsiteY129" fmla="*/ 4185767 h 6858000"/>
                <a:gd name="connsiteX130" fmla="*/ 9292128 w 9747620"/>
                <a:gd name="connsiteY130" fmla="*/ 4172826 h 6858000"/>
                <a:gd name="connsiteX131" fmla="*/ 9293720 w 9747620"/>
                <a:gd name="connsiteY131" fmla="*/ 4159693 h 6858000"/>
                <a:gd name="connsiteX132" fmla="*/ 9305650 w 9747620"/>
                <a:gd name="connsiteY132" fmla="*/ 4057941 h 6858000"/>
                <a:gd name="connsiteX133" fmla="*/ 9309378 w 9747620"/>
                <a:gd name="connsiteY133" fmla="*/ 4010779 h 6858000"/>
                <a:gd name="connsiteX134" fmla="*/ 9313454 w 9747620"/>
                <a:gd name="connsiteY134" fmla="*/ 3956428 h 6858000"/>
                <a:gd name="connsiteX135" fmla="*/ 9320811 w 9747620"/>
                <a:gd name="connsiteY135" fmla="*/ 3753546 h 6858000"/>
                <a:gd name="connsiteX136" fmla="*/ 9319617 w 9747620"/>
                <a:gd name="connsiteY136" fmla="*/ 3650643 h 6858000"/>
                <a:gd name="connsiteX137" fmla="*/ 9318176 w 9747620"/>
                <a:gd name="connsiteY137" fmla="*/ 3600030 h 6858000"/>
                <a:gd name="connsiteX138" fmla="*/ 9317778 w 9747620"/>
                <a:gd name="connsiteY138" fmla="*/ 3588096 h 6858000"/>
                <a:gd name="connsiteX139" fmla="*/ 9316983 w 9747620"/>
                <a:gd name="connsiteY139" fmla="*/ 3575107 h 6858000"/>
                <a:gd name="connsiteX140" fmla="*/ 9315443 w 9747620"/>
                <a:gd name="connsiteY140" fmla="*/ 3549130 h 6858000"/>
                <a:gd name="connsiteX141" fmla="*/ 9312311 w 9747620"/>
                <a:gd name="connsiteY141" fmla="*/ 3497176 h 6858000"/>
                <a:gd name="connsiteX142" fmla="*/ 9307587 w 9747620"/>
                <a:gd name="connsiteY142" fmla="*/ 3445029 h 6858000"/>
                <a:gd name="connsiteX143" fmla="*/ 9302618 w 9747620"/>
                <a:gd name="connsiteY143" fmla="*/ 3392835 h 6858000"/>
                <a:gd name="connsiteX144" fmla="*/ 9301574 w 9747620"/>
                <a:gd name="connsiteY144" fmla="*/ 3381476 h 6858000"/>
                <a:gd name="connsiteX145" fmla="*/ 9300430 w 9747620"/>
                <a:gd name="connsiteY145" fmla="*/ 3370740 h 6858000"/>
                <a:gd name="connsiteX146" fmla="*/ 9297547 w 9747620"/>
                <a:gd name="connsiteY146" fmla="*/ 3346966 h 6858000"/>
                <a:gd name="connsiteX147" fmla="*/ 9294017 w 9747620"/>
                <a:gd name="connsiteY147" fmla="*/ 3320030 h 6858000"/>
                <a:gd name="connsiteX148" fmla="*/ 9290439 w 9747620"/>
                <a:gd name="connsiteY148" fmla="*/ 3290410 h 6858000"/>
                <a:gd name="connsiteX149" fmla="*/ 9284275 w 9747620"/>
                <a:gd name="connsiteY149" fmla="*/ 3244544 h 6858000"/>
                <a:gd name="connsiteX150" fmla="*/ 9275974 w 9747620"/>
                <a:gd name="connsiteY150" fmla="*/ 3193116 h 6858000"/>
                <a:gd name="connsiteX151" fmla="*/ 9267224 w 9747620"/>
                <a:gd name="connsiteY151" fmla="*/ 3142264 h 6858000"/>
                <a:gd name="connsiteX152" fmla="*/ 9225320 w 9747620"/>
                <a:gd name="connsiteY152" fmla="*/ 2939909 h 6858000"/>
                <a:gd name="connsiteX153" fmla="*/ 9200466 w 9747620"/>
                <a:gd name="connsiteY153" fmla="*/ 2839449 h 6858000"/>
                <a:gd name="connsiteX154" fmla="*/ 9193953 w 9747620"/>
                <a:gd name="connsiteY154" fmla="*/ 2814958 h 6858000"/>
                <a:gd name="connsiteX155" fmla="*/ 9186993 w 9747620"/>
                <a:gd name="connsiteY155" fmla="*/ 2790276 h 6858000"/>
                <a:gd name="connsiteX156" fmla="*/ 9172628 w 9747620"/>
                <a:gd name="connsiteY156" fmla="*/ 2740621 h 6858000"/>
                <a:gd name="connsiteX157" fmla="*/ 9035082 w 9747620"/>
                <a:gd name="connsiteY157" fmla="*/ 2347463 h 6858000"/>
                <a:gd name="connsiteX158" fmla="*/ 8952118 w 9747620"/>
                <a:gd name="connsiteY158" fmla="*/ 2155413 h 6858000"/>
                <a:gd name="connsiteX159" fmla="*/ 8929948 w 9747620"/>
                <a:gd name="connsiteY159" fmla="*/ 2107915 h 6858000"/>
                <a:gd name="connsiteX160" fmla="*/ 8907429 w 9747620"/>
                <a:gd name="connsiteY160" fmla="*/ 2060753 h 6858000"/>
                <a:gd name="connsiteX161" fmla="*/ 8860404 w 9747620"/>
                <a:gd name="connsiteY161" fmla="*/ 1966478 h 6858000"/>
                <a:gd name="connsiteX162" fmla="*/ 8760788 w 9747620"/>
                <a:gd name="connsiteY162" fmla="*/ 1780274 h 6858000"/>
                <a:gd name="connsiteX163" fmla="*/ 8734740 w 9747620"/>
                <a:gd name="connsiteY163" fmla="*/ 1734311 h 6858000"/>
                <a:gd name="connsiteX164" fmla="*/ 8708046 w 9747620"/>
                <a:gd name="connsiteY164" fmla="*/ 1687963 h 6858000"/>
                <a:gd name="connsiteX165" fmla="*/ 8654062 w 9747620"/>
                <a:gd name="connsiteY165" fmla="*/ 1597234 h 6858000"/>
                <a:gd name="connsiteX166" fmla="*/ 8540278 w 9747620"/>
                <a:gd name="connsiteY166" fmla="*/ 1418077 h 6858000"/>
                <a:gd name="connsiteX167" fmla="*/ 8510701 w 9747620"/>
                <a:gd name="connsiteY167" fmla="*/ 1373695 h 6858000"/>
                <a:gd name="connsiteX168" fmla="*/ 8480676 w 9747620"/>
                <a:gd name="connsiteY168" fmla="*/ 1329457 h 6858000"/>
                <a:gd name="connsiteX169" fmla="*/ 8419782 w 9747620"/>
                <a:gd name="connsiteY169" fmla="*/ 1242275 h 6858000"/>
                <a:gd name="connsiteX170" fmla="*/ 8292478 w 9747620"/>
                <a:gd name="connsiteY170" fmla="*/ 1069875 h 6858000"/>
                <a:gd name="connsiteX171" fmla="*/ 8259620 w 9747620"/>
                <a:gd name="connsiteY171" fmla="*/ 1027123 h 6858000"/>
                <a:gd name="connsiteX172" fmla="*/ 8243416 w 9747620"/>
                <a:gd name="connsiteY172" fmla="*/ 1006130 h 6858000"/>
                <a:gd name="connsiteX173" fmla="*/ 8227110 w 9747620"/>
                <a:gd name="connsiteY173" fmla="*/ 985473 h 6858000"/>
                <a:gd name="connsiteX174" fmla="*/ 8159604 w 9747620"/>
                <a:gd name="connsiteY174" fmla="*/ 902029 h 6858000"/>
                <a:gd name="connsiteX175" fmla="*/ 8020022 w 9747620"/>
                <a:gd name="connsiteY175" fmla="*/ 738209 h 6858000"/>
                <a:gd name="connsiteX176" fmla="*/ 7984182 w 9747620"/>
                <a:gd name="connsiteY176" fmla="*/ 697901 h 6858000"/>
                <a:gd name="connsiteX177" fmla="*/ 7948043 w 9747620"/>
                <a:gd name="connsiteY177" fmla="*/ 657976 h 6858000"/>
                <a:gd name="connsiteX178" fmla="*/ 7874324 w 9747620"/>
                <a:gd name="connsiteY178" fmla="*/ 578607 h 6858000"/>
                <a:gd name="connsiteX179" fmla="*/ 7723308 w 9747620"/>
                <a:gd name="connsiteY179" fmla="*/ 424085 h 6858000"/>
                <a:gd name="connsiteX180" fmla="*/ 7565532 w 9747620"/>
                <a:gd name="connsiteY180" fmla="*/ 275602 h 6858000"/>
                <a:gd name="connsiteX181" fmla="*/ 1832515 w 9747620"/>
                <a:gd name="connsiteY181" fmla="*/ 0 h 6858000"/>
                <a:gd name="connsiteX182" fmla="*/ 2158449 w 9747620"/>
                <a:gd name="connsiteY182" fmla="*/ 0 h 6858000"/>
                <a:gd name="connsiteX183" fmla="*/ 2108797 w 9747620"/>
                <a:gd name="connsiteY183" fmla="*/ 37845 h 6858000"/>
                <a:gd name="connsiteX184" fmla="*/ 1942830 w 9747620"/>
                <a:gd name="connsiteY184" fmla="*/ 177587 h 6858000"/>
                <a:gd name="connsiteX185" fmla="*/ 1633191 w 9747620"/>
                <a:gd name="connsiteY185" fmla="*/ 477909 h 6858000"/>
                <a:gd name="connsiteX186" fmla="*/ 702686 w 9747620"/>
                <a:gd name="connsiteY186" fmla="*/ 1889935 h 6858000"/>
                <a:gd name="connsiteX187" fmla="*/ 551769 w 9747620"/>
                <a:gd name="connsiteY187" fmla="*/ 2281416 h 6858000"/>
                <a:gd name="connsiteX188" fmla="*/ 438383 w 9747620"/>
                <a:gd name="connsiteY188" fmla="*/ 2682772 h 6858000"/>
                <a:gd name="connsiteX189" fmla="*/ 397124 w 9747620"/>
                <a:gd name="connsiteY189" fmla="*/ 2887044 h 6858000"/>
                <a:gd name="connsiteX190" fmla="*/ 365658 w 9747620"/>
                <a:gd name="connsiteY190" fmla="*/ 3093424 h 6858000"/>
                <a:gd name="connsiteX191" fmla="*/ 332105 w 9747620"/>
                <a:gd name="connsiteY191" fmla="*/ 3509828 h 6858000"/>
                <a:gd name="connsiteX192" fmla="*/ 383653 w 9747620"/>
                <a:gd name="connsiteY192" fmla="*/ 4346327 h 6858000"/>
                <a:gd name="connsiteX193" fmla="*/ 422327 w 9747620"/>
                <a:gd name="connsiteY193" fmla="*/ 4552900 h 6858000"/>
                <a:gd name="connsiteX194" fmla="*/ 472184 w 9747620"/>
                <a:gd name="connsiteY194" fmla="*/ 4757939 h 6858000"/>
                <a:gd name="connsiteX195" fmla="*/ 533078 w 9747620"/>
                <a:gd name="connsiteY195" fmla="*/ 4960916 h 6858000"/>
                <a:gd name="connsiteX196" fmla="*/ 604710 w 9747620"/>
                <a:gd name="connsiteY196" fmla="*/ 5160875 h 6858000"/>
                <a:gd name="connsiteX197" fmla="*/ 996766 w 9747620"/>
                <a:gd name="connsiteY197" fmla="*/ 5920640 h 6858000"/>
                <a:gd name="connsiteX198" fmla="*/ 1549183 w 9747620"/>
                <a:gd name="connsiteY198" fmla="*/ 6586417 h 6858000"/>
                <a:gd name="connsiteX199" fmla="*/ 1709890 w 9747620"/>
                <a:gd name="connsiteY199" fmla="*/ 6734063 h 6858000"/>
                <a:gd name="connsiteX200" fmla="*/ 1859761 w 9747620"/>
                <a:gd name="connsiteY200" fmla="*/ 6858000 h 6858000"/>
                <a:gd name="connsiteX201" fmla="*/ 1671798 w 9747620"/>
                <a:gd name="connsiteY201" fmla="*/ 6858000 h 6858000"/>
                <a:gd name="connsiteX202" fmla="*/ 1628044 w 9747620"/>
                <a:gd name="connsiteY202" fmla="*/ 6822717 h 6858000"/>
                <a:gd name="connsiteX203" fmla="*/ 1459756 w 9747620"/>
                <a:gd name="connsiteY203" fmla="*/ 6674223 h 6858000"/>
                <a:gd name="connsiteX204" fmla="*/ 402543 w 9747620"/>
                <a:gd name="connsiteY204" fmla="*/ 5241588 h 6858000"/>
                <a:gd name="connsiteX205" fmla="*/ 311923 w 9747620"/>
                <a:gd name="connsiteY205" fmla="*/ 5036741 h 6858000"/>
                <a:gd name="connsiteX206" fmla="*/ 232140 w 9747620"/>
                <a:gd name="connsiteY206" fmla="*/ 4827483 h 6858000"/>
                <a:gd name="connsiteX207" fmla="*/ 163392 w 9747620"/>
                <a:gd name="connsiteY207" fmla="*/ 4613913 h 6858000"/>
                <a:gd name="connsiteX208" fmla="*/ 106823 w 9747620"/>
                <a:gd name="connsiteY208" fmla="*/ 4396365 h 6858000"/>
                <a:gd name="connsiteX209" fmla="*/ 29326 w 9747620"/>
                <a:gd name="connsiteY209" fmla="*/ 3954702 h 6858000"/>
                <a:gd name="connsiteX210" fmla="*/ 8647 w 9747620"/>
                <a:gd name="connsiteY210" fmla="*/ 3730971 h 6858000"/>
                <a:gd name="connsiteX211" fmla="*/ 2880 w 9747620"/>
                <a:gd name="connsiteY211" fmla="*/ 3618674 h 6858000"/>
                <a:gd name="connsiteX212" fmla="*/ 296 w 9747620"/>
                <a:gd name="connsiteY212" fmla="*/ 3506425 h 6858000"/>
                <a:gd name="connsiteX213" fmla="*/ 20030 w 9747620"/>
                <a:gd name="connsiteY213" fmla="*/ 3056711 h 6858000"/>
                <a:gd name="connsiteX214" fmla="*/ 48664 w 9747620"/>
                <a:gd name="connsiteY214" fmla="*/ 2832980 h 6858000"/>
                <a:gd name="connsiteX215" fmla="*/ 89922 w 9747620"/>
                <a:gd name="connsiteY215" fmla="*/ 2610639 h 6858000"/>
                <a:gd name="connsiteX216" fmla="*/ 211163 w 9747620"/>
                <a:gd name="connsiteY216" fmla="*/ 2174343 h 6858000"/>
                <a:gd name="connsiteX217" fmla="*/ 379129 w 9747620"/>
                <a:gd name="connsiteY217" fmla="*/ 1754393 h 6858000"/>
                <a:gd name="connsiteX218" fmla="*/ 841424 w 9747620"/>
                <a:gd name="connsiteY218" fmla="*/ 976270 h 6858000"/>
                <a:gd name="connsiteX219" fmla="*/ 1130234 w 9747620"/>
                <a:gd name="connsiteY219" fmla="*/ 625768 h 6858000"/>
                <a:gd name="connsiteX220" fmla="*/ 1452897 w 9747620"/>
                <a:gd name="connsiteY220" fmla="*/ 305748 h 6858000"/>
                <a:gd name="connsiteX221" fmla="*/ 1805682 w 9747620"/>
                <a:gd name="connsiteY221" fmla="*/ 18752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Lst>
              <a:rect l="l" t="t" r="r" b="b"/>
              <a:pathLst>
                <a:path w="9747620" h="6858000">
                  <a:moveTo>
                    <a:pt x="7235453" y="0"/>
                  </a:moveTo>
                  <a:lnTo>
                    <a:pt x="7548130" y="0"/>
                  </a:lnTo>
                  <a:lnTo>
                    <a:pt x="7710334" y="111973"/>
                  </a:lnTo>
                  <a:cubicBezTo>
                    <a:pt x="7770781" y="157314"/>
                    <a:pt x="7830282" y="203517"/>
                    <a:pt x="7889188" y="251542"/>
                  </a:cubicBezTo>
                  <a:cubicBezTo>
                    <a:pt x="7947894" y="299470"/>
                    <a:pt x="8005557" y="348453"/>
                    <a:pt x="8061828" y="398586"/>
                  </a:cubicBezTo>
                  <a:cubicBezTo>
                    <a:pt x="8090013" y="423605"/>
                    <a:pt x="8117948" y="448816"/>
                    <a:pt x="8145637" y="474218"/>
                  </a:cubicBezTo>
                  <a:cubicBezTo>
                    <a:pt x="8159506" y="486918"/>
                    <a:pt x="8173375" y="499764"/>
                    <a:pt x="8187242" y="512753"/>
                  </a:cubicBezTo>
                  <a:lnTo>
                    <a:pt x="8228402" y="551575"/>
                  </a:lnTo>
                  <a:cubicBezTo>
                    <a:pt x="8283082" y="603577"/>
                    <a:pt x="8336569" y="656778"/>
                    <a:pt x="8389211" y="710937"/>
                  </a:cubicBezTo>
                  <a:cubicBezTo>
                    <a:pt x="8415458" y="738065"/>
                    <a:pt x="8441455" y="765432"/>
                    <a:pt x="8467206" y="793088"/>
                  </a:cubicBezTo>
                  <a:lnTo>
                    <a:pt x="8486791" y="814223"/>
                  </a:lnTo>
                  <a:lnTo>
                    <a:pt x="8505979" y="835409"/>
                  </a:lnTo>
                  <a:lnTo>
                    <a:pt x="8543509" y="877346"/>
                  </a:lnTo>
                  <a:cubicBezTo>
                    <a:pt x="8593418" y="933423"/>
                    <a:pt x="8642579" y="990601"/>
                    <a:pt x="8690549" y="1048978"/>
                  </a:cubicBezTo>
                  <a:cubicBezTo>
                    <a:pt x="8714558" y="1078168"/>
                    <a:pt x="8738368" y="1107644"/>
                    <a:pt x="8761732" y="1137502"/>
                  </a:cubicBezTo>
                  <a:lnTo>
                    <a:pt x="8796379" y="1182077"/>
                  </a:lnTo>
                  <a:lnTo>
                    <a:pt x="8830678" y="1226986"/>
                  </a:lnTo>
                  <a:cubicBezTo>
                    <a:pt x="8876112" y="1287185"/>
                    <a:pt x="8920304" y="1348532"/>
                    <a:pt x="8963353" y="1410936"/>
                  </a:cubicBezTo>
                  <a:cubicBezTo>
                    <a:pt x="8984727" y="1442137"/>
                    <a:pt x="9005954" y="1473915"/>
                    <a:pt x="9026483" y="1505499"/>
                  </a:cubicBezTo>
                  <a:lnTo>
                    <a:pt x="9057004" y="1552613"/>
                  </a:lnTo>
                  <a:cubicBezTo>
                    <a:pt x="9067245" y="1568525"/>
                    <a:pt x="9077336" y="1584534"/>
                    <a:pt x="9087278" y="1600542"/>
                  </a:cubicBezTo>
                  <a:cubicBezTo>
                    <a:pt x="9127145" y="1664766"/>
                    <a:pt x="9165966" y="1729613"/>
                    <a:pt x="9202851" y="1795515"/>
                  </a:cubicBezTo>
                  <a:cubicBezTo>
                    <a:pt x="9221342" y="1828491"/>
                    <a:pt x="9239437" y="1861417"/>
                    <a:pt x="9257332" y="1894920"/>
                  </a:cubicBezTo>
                  <a:lnTo>
                    <a:pt x="9283778" y="1945436"/>
                  </a:lnTo>
                  <a:lnTo>
                    <a:pt x="9309428" y="1996193"/>
                  </a:lnTo>
                  <a:cubicBezTo>
                    <a:pt x="9343280" y="2064013"/>
                    <a:pt x="9375491" y="2132695"/>
                    <a:pt x="9405714" y="2202191"/>
                  </a:cubicBezTo>
                  <a:cubicBezTo>
                    <a:pt x="9466260" y="2341183"/>
                    <a:pt x="9520493" y="2483053"/>
                    <a:pt x="9566524" y="2627653"/>
                  </a:cubicBezTo>
                  <a:cubicBezTo>
                    <a:pt x="9572289" y="2645675"/>
                    <a:pt x="9578056" y="2663792"/>
                    <a:pt x="9583573" y="2682195"/>
                  </a:cubicBezTo>
                  <a:lnTo>
                    <a:pt x="9591974" y="2709707"/>
                  </a:lnTo>
                  <a:lnTo>
                    <a:pt x="9600027" y="2737650"/>
                  </a:lnTo>
                  <a:cubicBezTo>
                    <a:pt x="9610416" y="2774171"/>
                    <a:pt x="9620358" y="2810884"/>
                    <a:pt x="9629803" y="2847694"/>
                  </a:cubicBezTo>
                  <a:cubicBezTo>
                    <a:pt x="9648692" y="2921312"/>
                    <a:pt x="9665196" y="2995506"/>
                    <a:pt x="9679909" y="3070131"/>
                  </a:cubicBezTo>
                  <a:cubicBezTo>
                    <a:pt x="9683587" y="3088775"/>
                    <a:pt x="9687118" y="3107418"/>
                    <a:pt x="9690498" y="3126159"/>
                  </a:cubicBezTo>
                  <a:lnTo>
                    <a:pt x="9700390" y="3181805"/>
                  </a:lnTo>
                  <a:cubicBezTo>
                    <a:pt x="9703670" y="3201120"/>
                    <a:pt x="9706952" y="3222112"/>
                    <a:pt x="9709685" y="3243392"/>
                  </a:cubicBezTo>
                  <a:lnTo>
                    <a:pt x="9713016" y="3267597"/>
                  </a:lnTo>
                  <a:lnTo>
                    <a:pt x="9716844" y="3294437"/>
                  </a:lnTo>
                  <a:cubicBezTo>
                    <a:pt x="9718186" y="3303926"/>
                    <a:pt x="9719527" y="3313895"/>
                    <a:pt x="9720820" y="3324488"/>
                  </a:cubicBezTo>
                  <a:lnTo>
                    <a:pt x="9722709" y="3340737"/>
                  </a:lnTo>
                  <a:lnTo>
                    <a:pt x="9724301" y="3356361"/>
                  </a:lnTo>
                  <a:lnTo>
                    <a:pt x="9730166" y="3412197"/>
                  </a:lnTo>
                  <a:cubicBezTo>
                    <a:pt x="9732005" y="3430842"/>
                    <a:pt x="9734291" y="3449342"/>
                    <a:pt x="9735783" y="3468083"/>
                  </a:cubicBezTo>
                  <a:lnTo>
                    <a:pt x="9739760" y="3524399"/>
                  </a:lnTo>
                  <a:lnTo>
                    <a:pt x="9741748" y="3552580"/>
                  </a:lnTo>
                  <a:lnTo>
                    <a:pt x="9742742" y="3566672"/>
                  </a:lnTo>
                  <a:lnTo>
                    <a:pt x="9743488" y="3581865"/>
                  </a:lnTo>
                  <a:lnTo>
                    <a:pt x="9744731" y="3611341"/>
                  </a:lnTo>
                  <a:lnTo>
                    <a:pt x="9745725" y="3639715"/>
                  </a:lnTo>
                  <a:cubicBezTo>
                    <a:pt x="9746868" y="3677579"/>
                    <a:pt x="9747514" y="3715587"/>
                    <a:pt x="9747613" y="3753786"/>
                  </a:cubicBezTo>
                  <a:cubicBezTo>
                    <a:pt x="9747763" y="3830232"/>
                    <a:pt x="9745675" y="3906870"/>
                    <a:pt x="9740405" y="3984609"/>
                  </a:cubicBezTo>
                  <a:lnTo>
                    <a:pt x="9736329" y="4038434"/>
                  </a:lnTo>
                  <a:cubicBezTo>
                    <a:pt x="9735087" y="4055976"/>
                    <a:pt x="9733794" y="4076346"/>
                    <a:pt x="9731408" y="4099446"/>
                  </a:cubicBezTo>
                  <a:lnTo>
                    <a:pt x="9717987" y="4213325"/>
                  </a:lnTo>
                  <a:cubicBezTo>
                    <a:pt x="9717441" y="4217926"/>
                    <a:pt x="9716943" y="4222527"/>
                    <a:pt x="9716297" y="4227129"/>
                  </a:cubicBezTo>
                  <a:lnTo>
                    <a:pt x="9714110" y="4240981"/>
                  </a:lnTo>
                  <a:lnTo>
                    <a:pt x="9709785" y="4268731"/>
                  </a:lnTo>
                  <a:lnTo>
                    <a:pt x="9701086" y="4324185"/>
                  </a:lnTo>
                  <a:lnTo>
                    <a:pt x="9698699" y="4338994"/>
                  </a:lnTo>
                  <a:lnTo>
                    <a:pt x="9695966" y="4355050"/>
                  </a:lnTo>
                  <a:cubicBezTo>
                    <a:pt x="9694077" y="4365547"/>
                    <a:pt x="9692188" y="4375516"/>
                    <a:pt x="9690299" y="4385054"/>
                  </a:cubicBezTo>
                  <a:lnTo>
                    <a:pt x="9679909" y="4437919"/>
                  </a:lnTo>
                  <a:cubicBezTo>
                    <a:pt x="9677871" y="4448320"/>
                    <a:pt x="9675735" y="4458097"/>
                    <a:pt x="9673647" y="4468162"/>
                  </a:cubicBezTo>
                  <a:lnTo>
                    <a:pt x="9667532" y="4496296"/>
                  </a:lnTo>
                  <a:cubicBezTo>
                    <a:pt x="9663406" y="4514941"/>
                    <a:pt x="9659081" y="4533585"/>
                    <a:pt x="9654658" y="4552277"/>
                  </a:cubicBezTo>
                  <a:cubicBezTo>
                    <a:pt x="9645760" y="4589613"/>
                    <a:pt x="9636265" y="4627045"/>
                    <a:pt x="9625876" y="4664478"/>
                  </a:cubicBezTo>
                  <a:cubicBezTo>
                    <a:pt x="9605048" y="4739247"/>
                    <a:pt x="9581088" y="4814303"/>
                    <a:pt x="9552803" y="4888737"/>
                  </a:cubicBezTo>
                  <a:cubicBezTo>
                    <a:pt x="9524668" y="4962930"/>
                    <a:pt x="9492109" y="5037459"/>
                    <a:pt x="9452639" y="5110934"/>
                  </a:cubicBezTo>
                  <a:cubicBezTo>
                    <a:pt x="9432905" y="5147695"/>
                    <a:pt x="9411431" y="5184169"/>
                    <a:pt x="9388017" y="5220020"/>
                  </a:cubicBezTo>
                  <a:cubicBezTo>
                    <a:pt x="9382201" y="5228982"/>
                    <a:pt x="9376236" y="5237945"/>
                    <a:pt x="9370073" y="5246811"/>
                  </a:cubicBezTo>
                  <a:lnTo>
                    <a:pt x="9360926" y="5260040"/>
                  </a:lnTo>
                  <a:lnTo>
                    <a:pt x="9351829" y="5272646"/>
                  </a:lnTo>
                  <a:cubicBezTo>
                    <a:pt x="9339700" y="5289468"/>
                    <a:pt x="9327174" y="5306387"/>
                    <a:pt x="9313305" y="5323881"/>
                  </a:cubicBezTo>
                  <a:cubicBezTo>
                    <a:pt x="9258625" y="5393042"/>
                    <a:pt x="9196489" y="5455445"/>
                    <a:pt x="9130375" y="5510802"/>
                  </a:cubicBezTo>
                  <a:cubicBezTo>
                    <a:pt x="9097319" y="5538505"/>
                    <a:pt x="9063268" y="5564530"/>
                    <a:pt x="9028422" y="5588878"/>
                  </a:cubicBezTo>
                  <a:cubicBezTo>
                    <a:pt x="9019723" y="5595109"/>
                    <a:pt x="9011074" y="5600909"/>
                    <a:pt x="9002424" y="5606707"/>
                  </a:cubicBezTo>
                  <a:cubicBezTo>
                    <a:pt x="8993774" y="5612603"/>
                    <a:pt x="8985124" y="5618211"/>
                    <a:pt x="8976525" y="5623866"/>
                  </a:cubicBezTo>
                  <a:cubicBezTo>
                    <a:pt x="8959277" y="5635130"/>
                    <a:pt x="8941629" y="5646201"/>
                    <a:pt x="8924181" y="5656793"/>
                  </a:cubicBezTo>
                  <a:cubicBezTo>
                    <a:pt x="8854291" y="5699259"/>
                    <a:pt x="8784946" y="5736451"/>
                    <a:pt x="8717291" y="5771582"/>
                  </a:cubicBezTo>
                  <a:lnTo>
                    <a:pt x="8617129" y="5823105"/>
                  </a:lnTo>
                  <a:lnTo>
                    <a:pt x="8518207" y="5873671"/>
                  </a:lnTo>
                  <a:cubicBezTo>
                    <a:pt x="8391200" y="5939188"/>
                    <a:pt x="8267922" y="6009788"/>
                    <a:pt x="8150558" y="6086761"/>
                  </a:cubicBezTo>
                  <a:cubicBezTo>
                    <a:pt x="8091901" y="6125248"/>
                    <a:pt x="8034736" y="6165317"/>
                    <a:pt x="7979410" y="6207158"/>
                  </a:cubicBezTo>
                  <a:cubicBezTo>
                    <a:pt x="7965739" y="6217750"/>
                    <a:pt x="7951771" y="6228103"/>
                    <a:pt x="7938300" y="6238887"/>
                  </a:cubicBezTo>
                  <a:lnTo>
                    <a:pt x="7897936" y="6271286"/>
                  </a:lnTo>
                  <a:lnTo>
                    <a:pt x="7858367" y="6304357"/>
                  </a:lnTo>
                  <a:lnTo>
                    <a:pt x="7819048" y="6338770"/>
                  </a:lnTo>
                  <a:cubicBezTo>
                    <a:pt x="7804882" y="6351232"/>
                    <a:pt x="7792105" y="6362591"/>
                    <a:pt x="7778882" y="6374477"/>
                  </a:cubicBezTo>
                  <a:lnTo>
                    <a:pt x="7739563" y="6410328"/>
                  </a:lnTo>
                  <a:cubicBezTo>
                    <a:pt x="7713366" y="6434485"/>
                    <a:pt x="7687168" y="6459120"/>
                    <a:pt x="7660824" y="6484138"/>
                  </a:cubicBezTo>
                  <a:lnTo>
                    <a:pt x="7502302" y="6636360"/>
                  </a:lnTo>
                  <a:lnTo>
                    <a:pt x="7273394" y="6858000"/>
                  </a:lnTo>
                  <a:lnTo>
                    <a:pt x="6780690" y="6858000"/>
                  </a:lnTo>
                  <a:lnTo>
                    <a:pt x="6854939" y="6783597"/>
                  </a:lnTo>
                  <a:cubicBezTo>
                    <a:pt x="6880688" y="6757810"/>
                    <a:pt x="6906338" y="6732265"/>
                    <a:pt x="6932087" y="6705809"/>
                  </a:cubicBezTo>
                  <a:lnTo>
                    <a:pt x="7241130" y="6390965"/>
                  </a:lnTo>
                  <a:lnTo>
                    <a:pt x="7397564" y="6233087"/>
                  </a:lnTo>
                  <a:cubicBezTo>
                    <a:pt x="7424009" y="6206679"/>
                    <a:pt x="7450802" y="6180175"/>
                    <a:pt x="7478142" y="6153670"/>
                  </a:cubicBezTo>
                  <a:lnTo>
                    <a:pt x="7519600" y="6113937"/>
                  </a:lnTo>
                  <a:cubicBezTo>
                    <a:pt x="7533469" y="6100805"/>
                    <a:pt x="7547934" y="6087288"/>
                    <a:pt x="7561207" y="6075067"/>
                  </a:cubicBezTo>
                  <a:lnTo>
                    <a:pt x="7604204" y="6035526"/>
                  </a:lnTo>
                  <a:lnTo>
                    <a:pt x="7648644" y="5996416"/>
                  </a:lnTo>
                  <a:cubicBezTo>
                    <a:pt x="7663608" y="5983570"/>
                    <a:pt x="7678768" y="5971013"/>
                    <a:pt x="7693830" y="5958264"/>
                  </a:cubicBezTo>
                  <a:cubicBezTo>
                    <a:pt x="7708942" y="5945611"/>
                    <a:pt x="7724352" y="5933485"/>
                    <a:pt x="7739662" y="5921073"/>
                  </a:cubicBezTo>
                  <a:cubicBezTo>
                    <a:pt x="7801154" y="5872088"/>
                    <a:pt x="7864234" y="5825502"/>
                    <a:pt x="7928458" y="5781025"/>
                  </a:cubicBezTo>
                  <a:cubicBezTo>
                    <a:pt x="8057005" y="5692164"/>
                    <a:pt x="8190077" y="5611500"/>
                    <a:pt x="8325882" y="5537450"/>
                  </a:cubicBezTo>
                  <a:lnTo>
                    <a:pt x="8424555" y="5484106"/>
                  </a:lnTo>
                  <a:lnTo>
                    <a:pt x="8521737" y="5431289"/>
                  </a:lnTo>
                  <a:cubicBezTo>
                    <a:pt x="8585315" y="5396349"/>
                    <a:pt x="8646456" y="5361840"/>
                    <a:pt x="8702677" y="5325942"/>
                  </a:cubicBezTo>
                  <a:cubicBezTo>
                    <a:pt x="8716795" y="5316931"/>
                    <a:pt x="8730365" y="5308017"/>
                    <a:pt x="8743986" y="5298717"/>
                  </a:cubicBezTo>
                  <a:cubicBezTo>
                    <a:pt x="8750747" y="5294069"/>
                    <a:pt x="8757606" y="5289420"/>
                    <a:pt x="8764167" y="5284723"/>
                  </a:cubicBezTo>
                  <a:cubicBezTo>
                    <a:pt x="8770778" y="5280074"/>
                    <a:pt x="8777440" y="5275377"/>
                    <a:pt x="8783704" y="5270679"/>
                  </a:cubicBezTo>
                  <a:cubicBezTo>
                    <a:pt x="8809155" y="5251987"/>
                    <a:pt x="8833611" y="5232577"/>
                    <a:pt x="8856776" y="5212399"/>
                  </a:cubicBezTo>
                  <a:cubicBezTo>
                    <a:pt x="8903104" y="5172043"/>
                    <a:pt x="8944463" y="5128668"/>
                    <a:pt x="8979856" y="5082081"/>
                  </a:cubicBezTo>
                  <a:cubicBezTo>
                    <a:pt x="8988555" y="5070722"/>
                    <a:pt x="8997602" y="5057973"/>
                    <a:pt x="9006699" y="5044984"/>
                  </a:cubicBezTo>
                  <a:lnTo>
                    <a:pt x="9013509" y="5035254"/>
                  </a:lnTo>
                  <a:lnTo>
                    <a:pt x="9019773" y="5025812"/>
                  </a:lnTo>
                  <a:cubicBezTo>
                    <a:pt x="9023997" y="5019629"/>
                    <a:pt x="9028073" y="5013254"/>
                    <a:pt x="9032050" y="5006833"/>
                  </a:cubicBezTo>
                  <a:cubicBezTo>
                    <a:pt x="9048206" y="4981238"/>
                    <a:pt x="9063417" y="4954542"/>
                    <a:pt x="9077733" y="4926839"/>
                  </a:cubicBezTo>
                  <a:cubicBezTo>
                    <a:pt x="9106415" y="4871434"/>
                    <a:pt x="9131469" y="4812050"/>
                    <a:pt x="9154285" y="4750223"/>
                  </a:cubicBezTo>
                  <a:cubicBezTo>
                    <a:pt x="9176904" y="4688586"/>
                    <a:pt x="9196537" y="4625032"/>
                    <a:pt x="9213936" y="4559945"/>
                  </a:cubicBezTo>
                  <a:cubicBezTo>
                    <a:pt x="9222635" y="4527402"/>
                    <a:pt x="9230887" y="4494523"/>
                    <a:pt x="9238592" y="4461357"/>
                  </a:cubicBezTo>
                  <a:cubicBezTo>
                    <a:pt x="9242419" y="4444773"/>
                    <a:pt x="9246147" y="4428094"/>
                    <a:pt x="9249776" y="4411319"/>
                  </a:cubicBezTo>
                  <a:lnTo>
                    <a:pt x="9255046" y="4386299"/>
                  </a:lnTo>
                  <a:lnTo>
                    <a:pt x="9259718" y="4363342"/>
                  </a:lnTo>
                  <a:lnTo>
                    <a:pt x="9269959" y="4309566"/>
                  </a:lnTo>
                  <a:lnTo>
                    <a:pt x="9274233" y="4286176"/>
                  </a:lnTo>
                  <a:lnTo>
                    <a:pt x="9276022" y="4275489"/>
                  </a:lnTo>
                  <a:lnTo>
                    <a:pt x="9277861" y="4263506"/>
                  </a:lnTo>
                  <a:lnTo>
                    <a:pt x="9286014" y="4211696"/>
                  </a:lnTo>
                  <a:lnTo>
                    <a:pt x="9290092" y="4185767"/>
                  </a:lnTo>
                  <a:lnTo>
                    <a:pt x="9292128" y="4172826"/>
                  </a:lnTo>
                  <a:cubicBezTo>
                    <a:pt x="9292774" y="4168464"/>
                    <a:pt x="9293173" y="4164055"/>
                    <a:pt x="9293720" y="4159693"/>
                  </a:cubicBezTo>
                  <a:lnTo>
                    <a:pt x="9305650" y="4057941"/>
                  </a:lnTo>
                  <a:cubicBezTo>
                    <a:pt x="9306991" y="4045048"/>
                    <a:pt x="9308085" y="4029328"/>
                    <a:pt x="9309378" y="4010779"/>
                  </a:cubicBezTo>
                  <a:lnTo>
                    <a:pt x="9313454" y="3956428"/>
                  </a:lnTo>
                  <a:cubicBezTo>
                    <a:pt x="9318326" y="3889806"/>
                    <a:pt x="9320611" y="3821796"/>
                    <a:pt x="9320811" y="3753546"/>
                  </a:cubicBezTo>
                  <a:cubicBezTo>
                    <a:pt x="9320910" y="3719373"/>
                    <a:pt x="9320513" y="3685056"/>
                    <a:pt x="9319617" y="3650643"/>
                  </a:cubicBezTo>
                  <a:lnTo>
                    <a:pt x="9318176" y="3600030"/>
                  </a:lnTo>
                  <a:lnTo>
                    <a:pt x="9317778" y="3588096"/>
                  </a:lnTo>
                  <a:lnTo>
                    <a:pt x="9316983" y="3575107"/>
                  </a:lnTo>
                  <a:lnTo>
                    <a:pt x="9315443" y="3549130"/>
                  </a:lnTo>
                  <a:lnTo>
                    <a:pt x="9312311" y="3497176"/>
                  </a:lnTo>
                  <a:cubicBezTo>
                    <a:pt x="9311118" y="3479825"/>
                    <a:pt x="9309129" y="3462427"/>
                    <a:pt x="9307587" y="3445029"/>
                  </a:cubicBezTo>
                  <a:lnTo>
                    <a:pt x="9302618" y="3392835"/>
                  </a:lnTo>
                  <a:lnTo>
                    <a:pt x="9301574" y="3381476"/>
                  </a:lnTo>
                  <a:lnTo>
                    <a:pt x="9300430" y="3370740"/>
                  </a:lnTo>
                  <a:lnTo>
                    <a:pt x="9297547" y="3346966"/>
                  </a:lnTo>
                  <a:lnTo>
                    <a:pt x="9294017" y="3320030"/>
                  </a:lnTo>
                  <a:lnTo>
                    <a:pt x="9290439" y="3290410"/>
                  </a:lnTo>
                  <a:cubicBezTo>
                    <a:pt x="9288849" y="3275745"/>
                    <a:pt x="9286761" y="3260934"/>
                    <a:pt x="9284275" y="3244544"/>
                  </a:cubicBezTo>
                  <a:lnTo>
                    <a:pt x="9275974" y="3193116"/>
                  </a:lnTo>
                  <a:cubicBezTo>
                    <a:pt x="9273189" y="3176197"/>
                    <a:pt x="9270256" y="3159230"/>
                    <a:pt x="9267224" y="3142264"/>
                  </a:cubicBezTo>
                  <a:cubicBezTo>
                    <a:pt x="9255146" y="3074493"/>
                    <a:pt x="9240929" y="3007057"/>
                    <a:pt x="9225320" y="2939909"/>
                  </a:cubicBezTo>
                  <a:cubicBezTo>
                    <a:pt x="9217465" y="2906311"/>
                    <a:pt x="9209214" y="2872809"/>
                    <a:pt x="9200466" y="2839449"/>
                  </a:cubicBezTo>
                  <a:lnTo>
                    <a:pt x="9193953" y="2814958"/>
                  </a:lnTo>
                  <a:lnTo>
                    <a:pt x="9186993" y="2790276"/>
                  </a:lnTo>
                  <a:cubicBezTo>
                    <a:pt x="9182471" y="2773836"/>
                    <a:pt x="9177599" y="2757252"/>
                    <a:pt x="9172628" y="2740621"/>
                  </a:cubicBezTo>
                  <a:cubicBezTo>
                    <a:pt x="9133110" y="2607859"/>
                    <a:pt x="9087527" y="2476533"/>
                    <a:pt x="9035082" y="2347463"/>
                  </a:cubicBezTo>
                  <a:cubicBezTo>
                    <a:pt x="9008836" y="2282951"/>
                    <a:pt x="8981298" y="2218870"/>
                    <a:pt x="8952118" y="2155413"/>
                  </a:cubicBezTo>
                  <a:lnTo>
                    <a:pt x="8929948" y="2107915"/>
                  </a:lnTo>
                  <a:lnTo>
                    <a:pt x="8907429" y="2060753"/>
                  </a:lnTo>
                  <a:cubicBezTo>
                    <a:pt x="8892170" y="2029408"/>
                    <a:pt x="8876411" y="1997726"/>
                    <a:pt x="8860404" y="1966478"/>
                  </a:cubicBezTo>
                  <a:cubicBezTo>
                    <a:pt x="8828243" y="1903931"/>
                    <a:pt x="8795336" y="1841670"/>
                    <a:pt x="8760788" y="1780274"/>
                  </a:cubicBezTo>
                  <a:lnTo>
                    <a:pt x="8734740" y="1734311"/>
                  </a:lnTo>
                  <a:lnTo>
                    <a:pt x="8708046" y="1687963"/>
                  </a:lnTo>
                  <a:cubicBezTo>
                    <a:pt x="8690300" y="1657337"/>
                    <a:pt x="8672455" y="1627334"/>
                    <a:pt x="8654062" y="1597234"/>
                  </a:cubicBezTo>
                  <a:cubicBezTo>
                    <a:pt x="8617575" y="1536988"/>
                    <a:pt x="8579398" y="1477365"/>
                    <a:pt x="8540278" y="1418077"/>
                  </a:cubicBezTo>
                  <a:lnTo>
                    <a:pt x="8510701" y="1373695"/>
                  </a:lnTo>
                  <a:lnTo>
                    <a:pt x="8480676" y="1329457"/>
                  </a:lnTo>
                  <a:cubicBezTo>
                    <a:pt x="8460643" y="1300269"/>
                    <a:pt x="8440411" y="1271224"/>
                    <a:pt x="8419782" y="1242275"/>
                  </a:cubicBezTo>
                  <a:cubicBezTo>
                    <a:pt x="8378476" y="1184425"/>
                    <a:pt x="8335923" y="1127006"/>
                    <a:pt x="8292478" y="1069875"/>
                  </a:cubicBezTo>
                  <a:lnTo>
                    <a:pt x="8259620" y="1027123"/>
                  </a:lnTo>
                  <a:lnTo>
                    <a:pt x="8243416" y="1006130"/>
                  </a:lnTo>
                  <a:lnTo>
                    <a:pt x="8227110" y="985473"/>
                  </a:lnTo>
                  <a:cubicBezTo>
                    <a:pt x="8204890" y="957483"/>
                    <a:pt x="8182422" y="929684"/>
                    <a:pt x="8159604" y="902029"/>
                  </a:cubicBezTo>
                  <a:cubicBezTo>
                    <a:pt x="8114170" y="846671"/>
                    <a:pt x="8067494" y="792177"/>
                    <a:pt x="8020022" y="738209"/>
                  </a:cubicBezTo>
                  <a:lnTo>
                    <a:pt x="7984182" y="697901"/>
                  </a:lnTo>
                  <a:lnTo>
                    <a:pt x="7948043" y="657976"/>
                  </a:lnTo>
                  <a:cubicBezTo>
                    <a:pt x="7923636" y="631328"/>
                    <a:pt x="7899079" y="604823"/>
                    <a:pt x="7874324" y="578607"/>
                  </a:cubicBezTo>
                  <a:cubicBezTo>
                    <a:pt x="7824714" y="526221"/>
                    <a:pt x="7774608" y="474458"/>
                    <a:pt x="7723308" y="424085"/>
                  </a:cubicBezTo>
                  <a:cubicBezTo>
                    <a:pt x="7672157" y="373808"/>
                    <a:pt x="7619168" y="324153"/>
                    <a:pt x="7565532" y="275602"/>
                  </a:cubicBezTo>
                  <a:close/>
                  <a:moveTo>
                    <a:pt x="1832515" y="0"/>
                  </a:moveTo>
                  <a:lnTo>
                    <a:pt x="2158449" y="0"/>
                  </a:lnTo>
                  <a:lnTo>
                    <a:pt x="2108797" y="37845"/>
                  </a:lnTo>
                  <a:cubicBezTo>
                    <a:pt x="2052253" y="83168"/>
                    <a:pt x="1996914" y="129778"/>
                    <a:pt x="1942830" y="177587"/>
                  </a:cubicBezTo>
                  <a:cubicBezTo>
                    <a:pt x="1834563" y="273109"/>
                    <a:pt x="1731317" y="373472"/>
                    <a:pt x="1633191" y="477909"/>
                  </a:cubicBezTo>
                  <a:cubicBezTo>
                    <a:pt x="1240290" y="896038"/>
                    <a:pt x="927123" y="1375900"/>
                    <a:pt x="702686" y="1889935"/>
                  </a:cubicBezTo>
                  <a:cubicBezTo>
                    <a:pt x="646565" y="2018192"/>
                    <a:pt x="596210" y="2149182"/>
                    <a:pt x="551769" y="2281416"/>
                  </a:cubicBezTo>
                  <a:cubicBezTo>
                    <a:pt x="507429" y="2413700"/>
                    <a:pt x="469451" y="2547613"/>
                    <a:pt x="438383" y="2682772"/>
                  </a:cubicBezTo>
                  <a:cubicBezTo>
                    <a:pt x="423122" y="2750111"/>
                    <a:pt x="409203" y="2818553"/>
                    <a:pt x="397124" y="2887044"/>
                  </a:cubicBezTo>
                  <a:cubicBezTo>
                    <a:pt x="385144" y="2955581"/>
                    <a:pt x="374357" y="3024359"/>
                    <a:pt x="365658" y="3093424"/>
                  </a:cubicBezTo>
                  <a:cubicBezTo>
                    <a:pt x="347813" y="3231506"/>
                    <a:pt x="336727" y="3370260"/>
                    <a:pt x="332105" y="3509828"/>
                  </a:cubicBezTo>
                  <a:cubicBezTo>
                    <a:pt x="322311" y="3788822"/>
                    <a:pt x="339660" y="4068628"/>
                    <a:pt x="383653" y="4346327"/>
                  </a:cubicBezTo>
                  <a:cubicBezTo>
                    <a:pt x="394539" y="4415489"/>
                    <a:pt x="407464" y="4484267"/>
                    <a:pt x="422327" y="4552900"/>
                  </a:cubicBezTo>
                  <a:cubicBezTo>
                    <a:pt x="437041" y="4621534"/>
                    <a:pt x="453693" y="4689881"/>
                    <a:pt x="472184" y="4757939"/>
                  </a:cubicBezTo>
                  <a:cubicBezTo>
                    <a:pt x="490677" y="4825949"/>
                    <a:pt x="511007" y="4893673"/>
                    <a:pt x="533078" y="4960916"/>
                  </a:cubicBezTo>
                  <a:cubicBezTo>
                    <a:pt x="555249" y="5028208"/>
                    <a:pt x="578662" y="5095022"/>
                    <a:pt x="604710" y="5160875"/>
                  </a:cubicBezTo>
                  <a:cubicBezTo>
                    <a:pt x="707358" y="5425298"/>
                    <a:pt x="838443" y="5680902"/>
                    <a:pt x="996766" y="5920640"/>
                  </a:cubicBezTo>
                  <a:cubicBezTo>
                    <a:pt x="1154790" y="6160571"/>
                    <a:pt x="1340404" y="6384350"/>
                    <a:pt x="1549183" y="6586417"/>
                  </a:cubicBezTo>
                  <a:cubicBezTo>
                    <a:pt x="1601365" y="6636982"/>
                    <a:pt x="1654970" y="6686208"/>
                    <a:pt x="1709890" y="6734063"/>
                  </a:cubicBezTo>
                  <a:lnTo>
                    <a:pt x="1859761" y="6858000"/>
                  </a:lnTo>
                  <a:lnTo>
                    <a:pt x="1671798" y="6858000"/>
                  </a:lnTo>
                  <a:lnTo>
                    <a:pt x="1628044" y="6822717"/>
                  </a:lnTo>
                  <a:cubicBezTo>
                    <a:pt x="1570828" y="6774460"/>
                    <a:pt x="1514710" y="6724955"/>
                    <a:pt x="1459756" y="6674223"/>
                  </a:cubicBezTo>
                  <a:cubicBezTo>
                    <a:pt x="1019931" y="6268363"/>
                    <a:pt x="658296" y="5781216"/>
                    <a:pt x="402543" y="5241588"/>
                  </a:cubicBezTo>
                  <a:cubicBezTo>
                    <a:pt x="370231" y="5174103"/>
                    <a:pt x="340306" y="5105661"/>
                    <a:pt x="311923" y="5036741"/>
                  </a:cubicBezTo>
                  <a:cubicBezTo>
                    <a:pt x="283539" y="4967771"/>
                    <a:pt x="256895" y="4897986"/>
                    <a:pt x="232140" y="4827483"/>
                  </a:cubicBezTo>
                  <a:cubicBezTo>
                    <a:pt x="207334" y="4756981"/>
                    <a:pt x="184368" y="4685758"/>
                    <a:pt x="163392" y="4613913"/>
                  </a:cubicBezTo>
                  <a:cubicBezTo>
                    <a:pt x="142514" y="4542020"/>
                    <a:pt x="123624" y="4469360"/>
                    <a:pt x="106823" y="4396365"/>
                  </a:cubicBezTo>
                  <a:cubicBezTo>
                    <a:pt x="73120" y="4250902"/>
                    <a:pt x="47371" y="4103281"/>
                    <a:pt x="29326" y="3954702"/>
                  </a:cubicBezTo>
                  <a:cubicBezTo>
                    <a:pt x="20478" y="3880365"/>
                    <a:pt x="13320" y="3805789"/>
                    <a:pt x="8647" y="3730971"/>
                  </a:cubicBezTo>
                  <a:cubicBezTo>
                    <a:pt x="6311" y="3693587"/>
                    <a:pt x="4322" y="3656106"/>
                    <a:pt x="2880" y="3618674"/>
                  </a:cubicBezTo>
                  <a:cubicBezTo>
                    <a:pt x="1539" y="3581146"/>
                    <a:pt x="694" y="3543809"/>
                    <a:pt x="296" y="3506425"/>
                  </a:cubicBezTo>
                  <a:cubicBezTo>
                    <a:pt x="-1543" y="3356649"/>
                    <a:pt x="5217" y="3206200"/>
                    <a:pt x="20030" y="3056711"/>
                  </a:cubicBezTo>
                  <a:cubicBezTo>
                    <a:pt x="27686" y="2981942"/>
                    <a:pt x="36931" y="2907317"/>
                    <a:pt x="48664" y="2832980"/>
                  </a:cubicBezTo>
                  <a:cubicBezTo>
                    <a:pt x="60395" y="2758642"/>
                    <a:pt x="73716" y="2684784"/>
                    <a:pt x="89922" y="2610639"/>
                  </a:cubicBezTo>
                  <a:cubicBezTo>
                    <a:pt x="121736" y="2462826"/>
                    <a:pt x="162645" y="2317220"/>
                    <a:pt x="211163" y="2174343"/>
                  </a:cubicBezTo>
                  <a:cubicBezTo>
                    <a:pt x="259778" y="2031468"/>
                    <a:pt x="315601" y="1891517"/>
                    <a:pt x="379129" y="1754393"/>
                  </a:cubicBezTo>
                  <a:cubicBezTo>
                    <a:pt x="505540" y="1480433"/>
                    <a:pt x="660930" y="1219318"/>
                    <a:pt x="841424" y="976270"/>
                  </a:cubicBezTo>
                  <a:cubicBezTo>
                    <a:pt x="931498" y="854627"/>
                    <a:pt x="1028182" y="737777"/>
                    <a:pt x="1130234" y="625768"/>
                  </a:cubicBezTo>
                  <a:cubicBezTo>
                    <a:pt x="1232486" y="513855"/>
                    <a:pt x="1340157" y="407117"/>
                    <a:pt x="1452897" y="305748"/>
                  </a:cubicBezTo>
                  <a:cubicBezTo>
                    <a:pt x="1565736" y="204380"/>
                    <a:pt x="1683596" y="108665"/>
                    <a:pt x="1805682" y="18752"/>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19" name="Freeform: Shape 18">
              <a:extLst>
                <a:ext uri="{FF2B5EF4-FFF2-40B4-BE49-F238E27FC236}">
                  <a16:creationId xmlns:a16="http://schemas.microsoft.com/office/drawing/2014/main" id="{C05864E7-BA7D-AB9B-8753-AE64CBB0FB5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08320" y="36937"/>
              <a:ext cx="9767847" cy="6858000"/>
            </a:xfrm>
            <a:custGeom>
              <a:avLst/>
              <a:gdLst>
                <a:gd name="connsiteX0" fmla="*/ 7151367 w 9767847"/>
                <a:gd name="connsiteY0" fmla="*/ 0 h 6858000"/>
                <a:gd name="connsiteX1" fmla="*/ 7881247 w 9767847"/>
                <a:gd name="connsiteY1" fmla="*/ 0 h 6858000"/>
                <a:gd name="connsiteX2" fmla="*/ 7990553 w 9767847"/>
                <a:gd name="connsiteY2" fmla="*/ 81317 h 6858000"/>
                <a:gd name="connsiteX3" fmla="*/ 9767847 w 9767847"/>
                <a:gd name="connsiteY3" fmla="*/ 3649031 h 6858000"/>
                <a:gd name="connsiteX4" fmla="*/ 8652597 w 9767847"/>
                <a:gd name="connsiteY4" fmla="*/ 6590005 h 6858000"/>
                <a:gd name="connsiteX5" fmla="*/ 8395306 w 9767847"/>
                <a:gd name="connsiteY5" fmla="*/ 6858000 h 6858000"/>
                <a:gd name="connsiteX6" fmla="*/ 6762603 w 9767847"/>
                <a:gd name="connsiteY6" fmla="*/ 6858000 h 6858000"/>
                <a:gd name="connsiteX7" fmla="*/ 6765962 w 9767847"/>
                <a:gd name="connsiteY7" fmla="*/ 6854844 h 6858000"/>
                <a:gd name="connsiteX8" fmla="*/ 6804586 w 9767847"/>
                <a:gd name="connsiteY8" fmla="*/ 6817103 h 6858000"/>
                <a:gd name="connsiteX9" fmla="*/ 6881735 w 9767847"/>
                <a:gd name="connsiteY9" fmla="*/ 6741197 h 6858000"/>
                <a:gd name="connsiteX10" fmla="*/ 6958883 w 9767847"/>
                <a:gd name="connsiteY10" fmla="*/ 6664822 h 6858000"/>
                <a:gd name="connsiteX11" fmla="*/ 7267925 w 9767847"/>
                <a:gd name="connsiteY11" fmla="*/ 6355694 h 6858000"/>
                <a:gd name="connsiteX12" fmla="*/ 7424360 w 9767847"/>
                <a:gd name="connsiteY12" fmla="*/ 6200685 h 6858000"/>
                <a:gd name="connsiteX13" fmla="*/ 7504938 w 9767847"/>
                <a:gd name="connsiteY13" fmla="*/ 6122708 h 6858000"/>
                <a:gd name="connsiteX14" fmla="*/ 7546396 w 9767847"/>
                <a:gd name="connsiteY14" fmla="*/ 6083697 h 6858000"/>
                <a:gd name="connsiteX15" fmla="*/ 7588002 w 9767847"/>
                <a:gd name="connsiteY15" fmla="*/ 6045532 h 6858000"/>
                <a:gd name="connsiteX16" fmla="*/ 7631000 w 9767847"/>
                <a:gd name="connsiteY16" fmla="*/ 6006709 h 6858000"/>
                <a:gd name="connsiteX17" fmla="*/ 7675440 w 9767847"/>
                <a:gd name="connsiteY17" fmla="*/ 5968309 h 6858000"/>
                <a:gd name="connsiteX18" fmla="*/ 7720626 w 9767847"/>
                <a:gd name="connsiteY18" fmla="*/ 5930851 h 6858000"/>
                <a:gd name="connsiteX19" fmla="*/ 7766458 w 9767847"/>
                <a:gd name="connsiteY19" fmla="*/ 5894334 h 6858000"/>
                <a:gd name="connsiteX20" fmla="*/ 7955254 w 9767847"/>
                <a:gd name="connsiteY20" fmla="*/ 5756828 h 6858000"/>
                <a:gd name="connsiteX21" fmla="*/ 8352678 w 9767847"/>
                <a:gd name="connsiteY21" fmla="*/ 5517630 h 6858000"/>
                <a:gd name="connsiteX22" fmla="*/ 8451350 w 9767847"/>
                <a:gd name="connsiteY22" fmla="*/ 5465254 h 6858000"/>
                <a:gd name="connsiteX23" fmla="*/ 8548532 w 9767847"/>
                <a:gd name="connsiteY23" fmla="*/ 5413395 h 6858000"/>
                <a:gd name="connsiteX24" fmla="*/ 8729473 w 9767847"/>
                <a:gd name="connsiteY24" fmla="*/ 5309961 h 6858000"/>
                <a:gd name="connsiteX25" fmla="*/ 8770781 w 9767847"/>
                <a:gd name="connsiteY25" fmla="*/ 5283232 h 6858000"/>
                <a:gd name="connsiteX26" fmla="*/ 8790964 w 9767847"/>
                <a:gd name="connsiteY26" fmla="*/ 5269492 h 6858000"/>
                <a:gd name="connsiteX27" fmla="*/ 8810499 w 9767847"/>
                <a:gd name="connsiteY27" fmla="*/ 5255703 h 6858000"/>
                <a:gd name="connsiteX28" fmla="*/ 8883571 w 9767847"/>
                <a:gd name="connsiteY28" fmla="*/ 5198479 h 6858000"/>
                <a:gd name="connsiteX29" fmla="*/ 9006651 w 9767847"/>
                <a:gd name="connsiteY29" fmla="*/ 5070527 h 6858000"/>
                <a:gd name="connsiteX30" fmla="*/ 9033494 w 9767847"/>
                <a:gd name="connsiteY30" fmla="*/ 5034105 h 6858000"/>
                <a:gd name="connsiteX31" fmla="*/ 9040305 w 9767847"/>
                <a:gd name="connsiteY31" fmla="*/ 5024551 h 6858000"/>
                <a:gd name="connsiteX32" fmla="*/ 9046568 w 9767847"/>
                <a:gd name="connsiteY32" fmla="*/ 5015281 h 6858000"/>
                <a:gd name="connsiteX33" fmla="*/ 9058846 w 9767847"/>
                <a:gd name="connsiteY33" fmla="*/ 4996645 h 6858000"/>
                <a:gd name="connsiteX34" fmla="*/ 9104529 w 9767847"/>
                <a:gd name="connsiteY34" fmla="*/ 4918105 h 6858000"/>
                <a:gd name="connsiteX35" fmla="*/ 9181081 w 9767847"/>
                <a:gd name="connsiteY35" fmla="*/ 4744694 h 6858000"/>
                <a:gd name="connsiteX36" fmla="*/ 9240731 w 9767847"/>
                <a:gd name="connsiteY36" fmla="*/ 4557872 h 6858000"/>
                <a:gd name="connsiteX37" fmla="*/ 9265388 w 9767847"/>
                <a:gd name="connsiteY37" fmla="*/ 4461073 h 6858000"/>
                <a:gd name="connsiteX38" fmla="*/ 9276571 w 9767847"/>
                <a:gd name="connsiteY38" fmla="*/ 4411943 h 6858000"/>
                <a:gd name="connsiteX39" fmla="*/ 9281841 w 9767847"/>
                <a:gd name="connsiteY39" fmla="*/ 4387379 h 6858000"/>
                <a:gd name="connsiteX40" fmla="*/ 9286513 w 9767847"/>
                <a:gd name="connsiteY40" fmla="*/ 4364838 h 6858000"/>
                <a:gd name="connsiteX41" fmla="*/ 9296754 w 9767847"/>
                <a:gd name="connsiteY41" fmla="*/ 4312038 h 6858000"/>
                <a:gd name="connsiteX42" fmla="*/ 9301029 w 9767847"/>
                <a:gd name="connsiteY42" fmla="*/ 4289074 h 6858000"/>
                <a:gd name="connsiteX43" fmla="*/ 9302818 w 9767847"/>
                <a:gd name="connsiteY43" fmla="*/ 4278581 h 6858000"/>
                <a:gd name="connsiteX44" fmla="*/ 9304658 w 9767847"/>
                <a:gd name="connsiteY44" fmla="*/ 4266816 h 6858000"/>
                <a:gd name="connsiteX45" fmla="*/ 9312810 w 9767847"/>
                <a:gd name="connsiteY45" fmla="*/ 4215945 h 6858000"/>
                <a:gd name="connsiteX46" fmla="*/ 9316887 w 9767847"/>
                <a:gd name="connsiteY46" fmla="*/ 4190486 h 6858000"/>
                <a:gd name="connsiteX47" fmla="*/ 9318923 w 9767847"/>
                <a:gd name="connsiteY47" fmla="*/ 4177780 h 6858000"/>
                <a:gd name="connsiteX48" fmla="*/ 9320515 w 9767847"/>
                <a:gd name="connsiteY48" fmla="*/ 4164886 h 6858000"/>
                <a:gd name="connsiteX49" fmla="*/ 9332445 w 9767847"/>
                <a:gd name="connsiteY49" fmla="*/ 4064981 h 6858000"/>
                <a:gd name="connsiteX50" fmla="*/ 9336173 w 9767847"/>
                <a:gd name="connsiteY50" fmla="*/ 4018676 h 6858000"/>
                <a:gd name="connsiteX51" fmla="*/ 9340199 w 9767847"/>
                <a:gd name="connsiteY51" fmla="*/ 3965171 h 6858000"/>
                <a:gd name="connsiteX52" fmla="*/ 9347557 w 9767847"/>
                <a:gd name="connsiteY52" fmla="*/ 3765972 h 6858000"/>
                <a:gd name="connsiteX53" fmla="*/ 9346364 w 9767847"/>
                <a:gd name="connsiteY53" fmla="*/ 3664938 h 6858000"/>
                <a:gd name="connsiteX54" fmla="*/ 9344921 w 9767847"/>
                <a:gd name="connsiteY54" fmla="*/ 3615243 h 6858000"/>
                <a:gd name="connsiteX55" fmla="*/ 9344524 w 9767847"/>
                <a:gd name="connsiteY55" fmla="*/ 3603526 h 6858000"/>
                <a:gd name="connsiteX56" fmla="*/ 9343728 w 9767847"/>
                <a:gd name="connsiteY56" fmla="*/ 3590774 h 6858000"/>
                <a:gd name="connsiteX57" fmla="*/ 9342188 w 9767847"/>
                <a:gd name="connsiteY57" fmla="*/ 3565268 h 6858000"/>
                <a:gd name="connsiteX58" fmla="*/ 9339056 w 9767847"/>
                <a:gd name="connsiteY58" fmla="*/ 3514256 h 6858000"/>
                <a:gd name="connsiteX59" fmla="*/ 9334334 w 9767847"/>
                <a:gd name="connsiteY59" fmla="*/ 3463057 h 6858000"/>
                <a:gd name="connsiteX60" fmla="*/ 9329363 w 9767847"/>
                <a:gd name="connsiteY60" fmla="*/ 3411810 h 6858000"/>
                <a:gd name="connsiteX61" fmla="*/ 9328319 w 9767847"/>
                <a:gd name="connsiteY61" fmla="*/ 3400657 h 6858000"/>
                <a:gd name="connsiteX62" fmla="*/ 9327177 w 9767847"/>
                <a:gd name="connsiteY62" fmla="*/ 3390116 h 6858000"/>
                <a:gd name="connsiteX63" fmla="*/ 9324293 w 9767847"/>
                <a:gd name="connsiteY63" fmla="*/ 3366774 h 6858000"/>
                <a:gd name="connsiteX64" fmla="*/ 9320763 w 9767847"/>
                <a:gd name="connsiteY64" fmla="*/ 3340329 h 6858000"/>
                <a:gd name="connsiteX65" fmla="*/ 9317184 w 9767847"/>
                <a:gd name="connsiteY65" fmla="*/ 3311245 h 6858000"/>
                <a:gd name="connsiteX66" fmla="*/ 9311021 w 9767847"/>
                <a:gd name="connsiteY66" fmla="*/ 3266211 h 6858000"/>
                <a:gd name="connsiteX67" fmla="*/ 9302719 w 9767847"/>
                <a:gd name="connsiteY67" fmla="*/ 3215717 h 6858000"/>
                <a:gd name="connsiteX68" fmla="*/ 9293970 w 9767847"/>
                <a:gd name="connsiteY68" fmla="*/ 3165789 h 6858000"/>
                <a:gd name="connsiteX69" fmla="*/ 9252065 w 9767847"/>
                <a:gd name="connsiteY69" fmla="*/ 2967107 h 6858000"/>
                <a:gd name="connsiteX70" fmla="*/ 9227211 w 9767847"/>
                <a:gd name="connsiteY70" fmla="*/ 2868473 h 6858000"/>
                <a:gd name="connsiteX71" fmla="*/ 9220699 w 9767847"/>
                <a:gd name="connsiteY71" fmla="*/ 2844426 h 6858000"/>
                <a:gd name="connsiteX72" fmla="*/ 9213740 w 9767847"/>
                <a:gd name="connsiteY72" fmla="*/ 2820191 h 6858000"/>
                <a:gd name="connsiteX73" fmla="*/ 9199374 w 9767847"/>
                <a:gd name="connsiteY73" fmla="*/ 2771438 h 6858000"/>
                <a:gd name="connsiteX74" fmla="*/ 9061829 w 9767847"/>
                <a:gd name="connsiteY74" fmla="*/ 2385418 h 6858000"/>
                <a:gd name="connsiteX75" fmla="*/ 8978865 w 9767847"/>
                <a:gd name="connsiteY75" fmla="*/ 2196855 h 6858000"/>
                <a:gd name="connsiteX76" fmla="*/ 8956694 w 9767847"/>
                <a:gd name="connsiteY76" fmla="*/ 2150219 h 6858000"/>
                <a:gd name="connsiteX77" fmla="*/ 8934176 w 9767847"/>
                <a:gd name="connsiteY77" fmla="*/ 2103914 h 6858000"/>
                <a:gd name="connsiteX78" fmla="*/ 8887151 w 9767847"/>
                <a:gd name="connsiteY78" fmla="*/ 2011350 h 6858000"/>
                <a:gd name="connsiteX79" fmla="*/ 8787533 w 9767847"/>
                <a:gd name="connsiteY79" fmla="*/ 1828527 h 6858000"/>
                <a:gd name="connsiteX80" fmla="*/ 8761485 w 9767847"/>
                <a:gd name="connsiteY80" fmla="*/ 1783398 h 6858000"/>
                <a:gd name="connsiteX81" fmla="*/ 8734791 w 9767847"/>
                <a:gd name="connsiteY81" fmla="*/ 1737893 h 6858000"/>
                <a:gd name="connsiteX82" fmla="*/ 8680808 w 9767847"/>
                <a:gd name="connsiteY82" fmla="*/ 1648812 h 6858000"/>
                <a:gd name="connsiteX83" fmla="*/ 8567024 w 9767847"/>
                <a:gd name="connsiteY83" fmla="*/ 1472906 h 6858000"/>
                <a:gd name="connsiteX84" fmla="*/ 8537446 w 9767847"/>
                <a:gd name="connsiteY84" fmla="*/ 1429330 h 6858000"/>
                <a:gd name="connsiteX85" fmla="*/ 8507423 w 9767847"/>
                <a:gd name="connsiteY85" fmla="*/ 1385896 h 6858000"/>
                <a:gd name="connsiteX86" fmla="*/ 8446529 w 9767847"/>
                <a:gd name="connsiteY86" fmla="*/ 1300295 h 6858000"/>
                <a:gd name="connsiteX87" fmla="*/ 8319224 w 9767847"/>
                <a:gd name="connsiteY87" fmla="*/ 1131026 h 6858000"/>
                <a:gd name="connsiteX88" fmla="*/ 8286366 w 9767847"/>
                <a:gd name="connsiteY88" fmla="*/ 1089050 h 6858000"/>
                <a:gd name="connsiteX89" fmla="*/ 8270161 w 9767847"/>
                <a:gd name="connsiteY89" fmla="*/ 1068439 h 6858000"/>
                <a:gd name="connsiteX90" fmla="*/ 8253856 w 9767847"/>
                <a:gd name="connsiteY90" fmla="*/ 1048156 h 6858000"/>
                <a:gd name="connsiteX91" fmla="*/ 8186352 w 9767847"/>
                <a:gd name="connsiteY91" fmla="*/ 966275 h 6858000"/>
                <a:gd name="connsiteX92" fmla="*/ 8046768 w 9767847"/>
                <a:gd name="connsiteY92" fmla="*/ 805429 h 6858000"/>
                <a:gd name="connsiteX93" fmla="*/ 8010927 w 9767847"/>
                <a:gd name="connsiteY93" fmla="*/ 765853 h 6858000"/>
                <a:gd name="connsiteX94" fmla="*/ 7974788 w 9767847"/>
                <a:gd name="connsiteY94" fmla="*/ 726653 h 6858000"/>
                <a:gd name="connsiteX95" fmla="*/ 7901070 w 9767847"/>
                <a:gd name="connsiteY95" fmla="*/ 648724 h 6858000"/>
                <a:gd name="connsiteX96" fmla="*/ 7750054 w 9767847"/>
                <a:gd name="connsiteY96" fmla="*/ 497008 h 6858000"/>
                <a:gd name="connsiteX97" fmla="*/ 7592277 w 9767847"/>
                <a:gd name="connsiteY97" fmla="*/ 351221 h 6858000"/>
                <a:gd name="connsiteX98" fmla="*/ 7257734 w 9767847"/>
                <a:gd name="connsiteY98" fmla="*/ 76964 h 6858000"/>
                <a:gd name="connsiteX99" fmla="*/ 1886601 w 9767847"/>
                <a:gd name="connsiteY99" fmla="*/ 0 h 6858000"/>
                <a:gd name="connsiteX100" fmla="*/ 2292926 w 9767847"/>
                <a:gd name="connsiteY100" fmla="*/ 0 h 6858000"/>
                <a:gd name="connsiteX101" fmla="*/ 2135542 w 9767847"/>
                <a:gd name="connsiteY101" fmla="*/ 117781 h 6858000"/>
                <a:gd name="connsiteX102" fmla="*/ 1969576 w 9767847"/>
                <a:gd name="connsiteY102" fmla="*/ 254986 h 6858000"/>
                <a:gd name="connsiteX103" fmla="*/ 1659938 w 9767847"/>
                <a:gd name="connsiteY103" fmla="*/ 549855 h 6858000"/>
                <a:gd name="connsiteX104" fmla="*/ 729383 w 9767847"/>
                <a:gd name="connsiteY104" fmla="*/ 1936480 h 6858000"/>
                <a:gd name="connsiteX105" fmla="*/ 578465 w 9767847"/>
                <a:gd name="connsiteY105" fmla="*/ 2320807 h 6858000"/>
                <a:gd name="connsiteX106" fmla="*/ 465080 w 9767847"/>
                <a:gd name="connsiteY106" fmla="*/ 2714875 h 6858000"/>
                <a:gd name="connsiteX107" fmla="*/ 423820 w 9767847"/>
                <a:gd name="connsiteY107" fmla="*/ 2915436 h 6858000"/>
                <a:gd name="connsiteX108" fmla="*/ 392355 w 9767847"/>
                <a:gd name="connsiteY108" fmla="*/ 3118071 h 6858000"/>
                <a:gd name="connsiteX109" fmla="*/ 358801 w 9767847"/>
                <a:gd name="connsiteY109" fmla="*/ 3526915 h 6858000"/>
                <a:gd name="connsiteX110" fmla="*/ 410350 w 9767847"/>
                <a:gd name="connsiteY110" fmla="*/ 4348226 h 6858000"/>
                <a:gd name="connsiteX111" fmla="*/ 449022 w 9767847"/>
                <a:gd name="connsiteY111" fmla="*/ 4551049 h 6858000"/>
                <a:gd name="connsiteX112" fmla="*/ 498882 w 9767847"/>
                <a:gd name="connsiteY112" fmla="*/ 4752365 h 6858000"/>
                <a:gd name="connsiteX113" fmla="*/ 559775 w 9767847"/>
                <a:gd name="connsiteY113" fmla="*/ 4951657 h 6858000"/>
                <a:gd name="connsiteX114" fmla="*/ 631406 w 9767847"/>
                <a:gd name="connsiteY114" fmla="*/ 5147986 h 6858000"/>
                <a:gd name="connsiteX115" fmla="*/ 1023461 w 9767847"/>
                <a:gd name="connsiteY115" fmla="*/ 5893957 h 6858000"/>
                <a:gd name="connsiteX116" fmla="*/ 1575880 w 9767847"/>
                <a:gd name="connsiteY116" fmla="*/ 6547646 h 6858000"/>
                <a:gd name="connsiteX117" fmla="*/ 1905228 w 9767847"/>
                <a:gd name="connsiteY117" fmla="*/ 6829468 h 6858000"/>
                <a:gd name="connsiteX118" fmla="*/ 1944230 w 9767847"/>
                <a:gd name="connsiteY118" fmla="*/ 6858000 h 6858000"/>
                <a:gd name="connsiteX119" fmla="*/ 1372541 w 9767847"/>
                <a:gd name="connsiteY119" fmla="*/ 6858000 h 6858000"/>
                <a:gd name="connsiteX120" fmla="*/ 1115251 w 9767847"/>
                <a:gd name="connsiteY120" fmla="*/ 6590005 h 6858000"/>
                <a:gd name="connsiteX121" fmla="*/ 0 w 9767847"/>
                <a:gd name="connsiteY121" fmla="*/ 3649031 h 6858000"/>
                <a:gd name="connsiteX122" fmla="*/ 1777294 w 9767847"/>
                <a:gd name="connsiteY122" fmla="*/ 81317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Lst>
              <a:rect l="l" t="t" r="r" b="b"/>
              <a:pathLst>
                <a:path w="9767847" h="6858000">
                  <a:moveTo>
                    <a:pt x="7151367" y="0"/>
                  </a:moveTo>
                  <a:lnTo>
                    <a:pt x="7881247" y="0"/>
                  </a:lnTo>
                  <a:lnTo>
                    <a:pt x="7990553" y="81317"/>
                  </a:lnTo>
                  <a:cubicBezTo>
                    <a:pt x="9075991" y="929334"/>
                    <a:pt x="9767847" y="2212695"/>
                    <a:pt x="9767847" y="3649031"/>
                  </a:cubicBezTo>
                  <a:cubicBezTo>
                    <a:pt x="9767847" y="4766182"/>
                    <a:pt x="9349317" y="5790792"/>
                    <a:pt x="8652597" y="6590005"/>
                  </a:cubicBezTo>
                  <a:lnTo>
                    <a:pt x="8395306" y="6858000"/>
                  </a:lnTo>
                  <a:lnTo>
                    <a:pt x="6762603" y="6858000"/>
                  </a:lnTo>
                  <a:lnTo>
                    <a:pt x="6765962" y="6854844"/>
                  </a:lnTo>
                  <a:cubicBezTo>
                    <a:pt x="6779036" y="6842703"/>
                    <a:pt x="6791663" y="6829621"/>
                    <a:pt x="6804586" y="6817103"/>
                  </a:cubicBezTo>
                  <a:lnTo>
                    <a:pt x="6881735" y="6741197"/>
                  </a:lnTo>
                  <a:cubicBezTo>
                    <a:pt x="6907435" y="6715881"/>
                    <a:pt x="6933134" y="6690798"/>
                    <a:pt x="6958883" y="6664822"/>
                  </a:cubicBezTo>
                  <a:lnTo>
                    <a:pt x="7267925" y="6355694"/>
                  </a:lnTo>
                  <a:lnTo>
                    <a:pt x="7424360" y="6200685"/>
                  </a:lnTo>
                  <a:cubicBezTo>
                    <a:pt x="7450754" y="6174802"/>
                    <a:pt x="7477598" y="6148731"/>
                    <a:pt x="7504938" y="6122708"/>
                  </a:cubicBezTo>
                  <a:lnTo>
                    <a:pt x="7546396" y="6083697"/>
                  </a:lnTo>
                  <a:cubicBezTo>
                    <a:pt x="7560264" y="6070803"/>
                    <a:pt x="7574780" y="6057532"/>
                    <a:pt x="7588002" y="6045532"/>
                  </a:cubicBezTo>
                  <a:lnTo>
                    <a:pt x="7631000" y="6006709"/>
                  </a:lnTo>
                  <a:lnTo>
                    <a:pt x="7675440" y="5968309"/>
                  </a:lnTo>
                  <a:cubicBezTo>
                    <a:pt x="7690404" y="5955698"/>
                    <a:pt x="7705564" y="5943321"/>
                    <a:pt x="7720626" y="5930851"/>
                  </a:cubicBezTo>
                  <a:cubicBezTo>
                    <a:pt x="7735738" y="5918427"/>
                    <a:pt x="7751197" y="5906521"/>
                    <a:pt x="7766458" y="5894334"/>
                  </a:cubicBezTo>
                  <a:cubicBezTo>
                    <a:pt x="7827949" y="5846192"/>
                    <a:pt x="7890979" y="5800499"/>
                    <a:pt x="7955254" y="5756828"/>
                  </a:cubicBezTo>
                  <a:cubicBezTo>
                    <a:pt x="8083800" y="5669534"/>
                    <a:pt x="8216872" y="5590336"/>
                    <a:pt x="8352678" y="5517630"/>
                  </a:cubicBezTo>
                  <a:lnTo>
                    <a:pt x="8451350" y="5465254"/>
                  </a:lnTo>
                  <a:lnTo>
                    <a:pt x="8548532" y="5413395"/>
                  </a:lnTo>
                  <a:cubicBezTo>
                    <a:pt x="8612110" y="5379090"/>
                    <a:pt x="8673251" y="5345208"/>
                    <a:pt x="8729473" y="5309961"/>
                  </a:cubicBezTo>
                  <a:cubicBezTo>
                    <a:pt x="8743591" y="5301115"/>
                    <a:pt x="8757161" y="5292361"/>
                    <a:pt x="8770781" y="5283232"/>
                  </a:cubicBezTo>
                  <a:cubicBezTo>
                    <a:pt x="8777591" y="5278667"/>
                    <a:pt x="8784451" y="5274103"/>
                    <a:pt x="8790964" y="5269492"/>
                  </a:cubicBezTo>
                  <a:cubicBezTo>
                    <a:pt x="8797574" y="5264879"/>
                    <a:pt x="8804235" y="5260314"/>
                    <a:pt x="8810499" y="5255703"/>
                  </a:cubicBezTo>
                  <a:cubicBezTo>
                    <a:pt x="8835999" y="5237303"/>
                    <a:pt x="8860407" y="5218291"/>
                    <a:pt x="8883571" y="5198479"/>
                  </a:cubicBezTo>
                  <a:cubicBezTo>
                    <a:pt x="8929900" y="5158856"/>
                    <a:pt x="8971258" y="5116315"/>
                    <a:pt x="9006651" y="5070527"/>
                  </a:cubicBezTo>
                  <a:cubicBezTo>
                    <a:pt x="9015351" y="5059328"/>
                    <a:pt x="9024398" y="5046857"/>
                    <a:pt x="9033494" y="5034105"/>
                  </a:cubicBezTo>
                  <a:lnTo>
                    <a:pt x="9040305" y="5024551"/>
                  </a:lnTo>
                  <a:lnTo>
                    <a:pt x="9046568" y="5015281"/>
                  </a:lnTo>
                  <a:cubicBezTo>
                    <a:pt x="9050743" y="5009163"/>
                    <a:pt x="9054819" y="5002952"/>
                    <a:pt x="9058846" y="4996645"/>
                  </a:cubicBezTo>
                  <a:cubicBezTo>
                    <a:pt x="9075002" y="4971517"/>
                    <a:pt x="9090212" y="4945305"/>
                    <a:pt x="9104529" y="4918105"/>
                  </a:cubicBezTo>
                  <a:cubicBezTo>
                    <a:pt x="9133211" y="4863752"/>
                    <a:pt x="9158313" y="4805447"/>
                    <a:pt x="9181081" y="4744694"/>
                  </a:cubicBezTo>
                  <a:cubicBezTo>
                    <a:pt x="9203748" y="4684178"/>
                    <a:pt x="9223383" y="4621778"/>
                    <a:pt x="9240731" y="4557872"/>
                  </a:cubicBezTo>
                  <a:cubicBezTo>
                    <a:pt x="9249481" y="4525966"/>
                    <a:pt x="9257682" y="4493684"/>
                    <a:pt x="9265388" y="4461073"/>
                  </a:cubicBezTo>
                  <a:cubicBezTo>
                    <a:pt x="9269215" y="4444744"/>
                    <a:pt x="9272943" y="4428367"/>
                    <a:pt x="9276571" y="4411943"/>
                  </a:cubicBezTo>
                  <a:lnTo>
                    <a:pt x="9281841" y="4387379"/>
                  </a:lnTo>
                  <a:lnTo>
                    <a:pt x="9286513" y="4364838"/>
                  </a:lnTo>
                  <a:lnTo>
                    <a:pt x="9296754" y="4312038"/>
                  </a:lnTo>
                  <a:lnTo>
                    <a:pt x="9301029" y="4289074"/>
                  </a:lnTo>
                  <a:lnTo>
                    <a:pt x="9302818" y="4278581"/>
                  </a:lnTo>
                  <a:lnTo>
                    <a:pt x="9304658" y="4266816"/>
                  </a:lnTo>
                  <a:lnTo>
                    <a:pt x="9312810" y="4215945"/>
                  </a:lnTo>
                  <a:lnTo>
                    <a:pt x="9316887" y="4190486"/>
                  </a:lnTo>
                  <a:lnTo>
                    <a:pt x="9318923" y="4177780"/>
                  </a:lnTo>
                  <a:cubicBezTo>
                    <a:pt x="9319570" y="4173546"/>
                    <a:pt x="9319969" y="4169169"/>
                    <a:pt x="9320515" y="4164886"/>
                  </a:cubicBezTo>
                  <a:lnTo>
                    <a:pt x="9332445" y="4064981"/>
                  </a:lnTo>
                  <a:cubicBezTo>
                    <a:pt x="9333836" y="4052370"/>
                    <a:pt x="9334880" y="4036888"/>
                    <a:pt x="9336173" y="4018676"/>
                  </a:cubicBezTo>
                  <a:lnTo>
                    <a:pt x="9340199" y="3965171"/>
                  </a:lnTo>
                  <a:cubicBezTo>
                    <a:pt x="9345071" y="3899806"/>
                    <a:pt x="9347358" y="3832983"/>
                    <a:pt x="9347557" y="3765972"/>
                  </a:cubicBezTo>
                  <a:cubicBezTo>
                    <a:pt x="9347656" y="3732420"/>
                    <a:pt x="9347209" y="3698773"/>
                    <a:pt x="9346364" y="3664938"/>
                  </a:cubicBezTo>
                  <a:lnTo>
                    <a:pt x="9344921" y="3615243"/>
                  </a:lnTo>
                  <a:lnTo>
                    <a:pt x="9344524" y="3603526"/>
                  </a:lnTo>
                  <a:lnTo>
                    <a:pt x="9343728" y="3590774"/>
                  </a:lnTo>
                  <a:lnTo>
                    <a:pt x="9342188" y="3565268"/>
                  </a:lnTo>
                  <a:lnTo>
                    <a:pt x="9339056" y="3514256"/>
                  </a:lnTo>
                  <a:cubicBezTo>
                    <a:pt x="9337914" y="3497221"/>
                    <a:pt x="9335874" y="3480138"/>
                    <a:pt x="9334334" y="3463057"/>
                  </a:cubicBezTo>
                  <a:lnTo>
                    <a:pt x="9329363" y="3411810"/>
                  </a:lnTo>
                  <a:lnTo>
                    <a:pt x="9328319" y="3400657"/>
                  </a:lnTo>
                  <a:lnTo>
                    <a:pt x="9327177" y="3390116"/>
                  </a:lnTo>
                  <a:lnTo>
                    <a:pt x="9324293" y="3366774"/>
                  </a:lnTo>
                  <a:lnTo>
                    <a:pt x="9320763" y="3340329"/>
                  </a:lnTo>
                  <a:lnTo>
                    <a:pt x="9317184" y="3311245"/>
                  </a:lnTo>
                  <a:cubicBezTo>
                    <a:pt x="9315594" y="3296893"/>
                    <a:pt x="9313506" y="3282306"/>
                    <a:pt x="9311021" y="3266211"/>
                  </a:cubicBezTo>
                  <a:lnTo>
                    <a:pt x="9302719" y="3215717"/>
                  </a:lnTo>
                  <a:cubicBezTo>
                    <a:pt x="9299936" y="3199059"/>
                    <a:pt x="9297003" y="3182400"/>
                    <a:pt x="9293970" y="3165789"/>
                  </a:cubicBezTo>
                  <a:cubicBezTo>
                    <a:pt x="9281891" y="3099295"/>
                    <a:pt x="9267674" y="3033084"/>
                    <a:pt x="9252065" y="2967107"/>
                  </a:cubicBezTo>
                  <a:cubicBezTo>
                    <a:pt x="9244261" y="2934167"/>
                    <a:pt x="9235959" y="2901273"/>
                    <a:pt x="9227211" y="2868473"/>
                  </a:cubicBezTo>
                  <a:lnTo>
                    <a:pt x="9220699" y="2844426"/>
                  </a:lnTo>
                  <a:lnTo>
                    <a:pt x="9213740" y="2820191"/>
                  </a:lnTo>
                  <a:cubicBezTo>
                    <a:pt x="9209216" y="2804049"/>
                    <a:pt x="9204345" y="2787768"/>
                    <a:pt x="9199374" y="2771438"/>
                  </a:cubicBezTo>
                  <a:cubicBezTo>
                    <a:pt x="9159855" y="2641086"/>
                    <a:pt x="9114272" y="2512099"/>
                    <a:pt x="9061829" y="2385418"/>
                  </a:cubicBezTo>
                  <a:cubicBezTo>
                    <a:pt x="9035582" y="2322077"/>
                    <a:pt x="9008043" y="2259160"/>
                    <a:pt x="8978865" y="2196855"/>
                  </a:cubicBezTo>
                  <a:lnTo>
                    <a:pt x="8956694" y="2150219"/>
                  </a:lnTo>
                  <a:lnTo>
                    <a:pt x="8934176" y="2103914"/>
                  </a:lnTo>
                  <a:cubicBezTo>
                    <a:pt x="8918915" y="2073091"/>
                    <a:pt x="8903157" y="2042032"/>
                    <a:pt x="8887151" y="2011350"/>
                  </a:cubicBezTo>
                  <a:cubicBezTo>
                    <a:pt x="8854988" y="1949891"/>
                    <a:pt x="8822082" y="1888810"/>
                    <a:pt x="8787533" y="1828527"/>
                  </a:cubicBezTo>
                  <a:lnTo>
                    <a:pt x="8761485" y="1783398"/>
                  </a:lnTo>
                  <a:lnTo>
                    <a:pt x="8734791" y="1737893"/>
                  </a:lnTo>
                  <a:cubicBezTo>
                    <a:pt x="8717047" y="1707823"/>
                    <a:pt x="8699200" y="1678363"/>
                    <a:pt x="8680808" y="1648812"/>
                  </a:cubicBezTo>
                  <a:cubicBezTo>
                    <a:pt x="8644322" y="1589658"/>
                    <a:pt x="8606194" y="1531118"/>
                    <a:pt x="8567024" y="1472906"/>
                  </a:cubicBezTo>
                  <a:lnTo>
                    <a:pt x="8537446" y="1429330"/>
                  </a:lnTo>
                  <a:lnTo>
                    <a:pt x="8507423" y="1385896"/>
                  </a:lnTo>
                  <a:cubicBezTo>
                    <a:pt x="8487390" y="1357284"/>
                    <a:pt x="8467158" y="1328719"/>
                    <a:pt x="8446529" y="1300295"/>
                  </a:cubicBezTo>
                  <a:cubicBezTo>
                    <a:pt x="8405271" y="1243496"/>
                    <a:pt x="8362718" y="1187120"/>
                    <a:pt x="8319224" y="1131026"/>
                  </a:cubicBezTo>
                  <a:lnTo>
                    <a:pt x="8286366" y="1089050"/>
                  </a:lnTo>
                  <a:lnTo>
                    <a:pt x="8270161" y="1068439"/>
                  </a:lnTo>
                  <a:lnTo>
                    <a:pt x="8253856" y="1048156"/>
                  </a:lnTo>
                  <a:cubicBezTo>
                    <a:pt x="8231636" y="1020675"/>
                    <a:pt x="8209117" y="993381"/>
                    <a:pt x="8186352" y="966275"/>
                  </a:cubicBezTo>
                  <a:cubicBezTo>
                    <a:pt x="8140917" y="911922"/>
                    <a:pt x="8094240" y="858417"/>
                    <a:pt x="8046768" y="805429"/>
                  </a:cubicBezTo>
                  <a:lnTo>
                    <a:pt x="8010927" y="765853"/>
                  </a:lnTo>
                  <a:lnTo>
                    <a:pt x="7974788" y="726653"/>
                  </a:lnTo>
                  <a:cubicBezTo>
                    <a:pt x="7950382" y="700489"/>
                    <a:pt x="7925824" y="674465"/>
                    <a:pt x="7901070" y="648724"/>
                  </a:cubicBezTo>
                  <a:cubicBezTo>
                    <a:pt x="7851510" y="597289"/>
                    <a:pt x="7801404" y="546514"/>
                    <a:pt x="7750054" y="497008"/>
                  </a:cubicBezTo>
                  <a:cubicBezTo>
                    <a:pt x="7698902" y="447644"/>
                    <a:pt x="7645913" y="398938"/>
                    <a:pt x="7592277" y="351221"/>
                  </a:cubicBezTo>
                  <a:cubicBezTo>
                    <a:pt x="7484856" y="255786"/>
                    <a:pt x="7373308" y="164304"/>
                    <a:pt x="7257734" y="76964"/>
                  </a:cubicBezTo>
                  <a:close/>
                  <a:moveTo>
                    <a:pt x="1886601" y="0"/>
                  </a:moveTo>
                  <a:lnTo>
                    <a:pt x="2292926" y="0"/>
                  </a:lnTo>
                  <a:lnTo>
                    <a:pt x="2135542" y="117781"/>
                  </a:lnTo>
                  <a:cubicBezTo>
                    <a:pt x="2078998" y="162280"/>
                    <a:pt x="2023659" y="208045"/>
                    <a:pt x="1969576" y="254986"/>
                  </a:cubicBezTo>
                  <a:cubicBezTo>
                    <a:pt x="1861309" y="348820"/>
                    <a:pt x="1758064" y="447314"/>
                    <a:pt x="1659938" y="549855"/>
                  </a:cubicBezTo>
                  <a:cubicBezTo>
                    <a:pt x="1266987" y="960346"/>
                    <a:pt x="953820" y="1431495"/>
                    <a:pt x="729383" y="1936480"/>
                  </a:cubicBezTo>
                  <a:cubicBezTo>
                    <a:pt x="673260" y="2062362"/>
                    <a:pt x="622855" y="2190972"/>
                    <a:pt x="578465" y="2320807"/>
                  </a:cubicBezTo>
                  <a:cubicBezTo>
                    <a:pt x="534125" y="2450687"/>
                    <a:pt x="496147" y="2582216"/>
                    <a:pt x="465080" y="2714875"/>
                  </a:cubicBezTo>
                  <a:cubicBezTo>
                    <a:pt x="449769" y="2780991"/>
                    <a:pt x="435850" y="2848191"/>
                    <a:pt x="423820" y="2915436"/>
                  </a:cubicBezTo>
                  <a:cubicBezTo>
                    <a:pt x="411840" y="2982731"/>
                    <a:pt x="401054" y="3050260"/>
                    <a:pt x="392355" y="3118071"/>
                  </a:cubicBezTo>
                  <a:cubicBezTo>
                    <a:pt x="374509" y="3253646"/>
                    <a:pt x="363424" y="3389880"/>
                    <a:pt x="358801" y="3526915"/>
                  </a:cubicBezTo>
                  <a:cubicBezTo>
                    <a:pt x="349009" y="3800843"/>
                    <a:pt x="366357" y="4075570"/>
                    <a:pt x="410350" y="4348226"/>
                  </a:cubicBezTo>
                  <a:cubicBezTo>
                    <a:pt x="421286" y="4416132"/>
                    <a:pt x="434209" y="4483660"/>
                    <a:pt x="449022" y="4551049"/>
                  </a:cubicBezTo>
                  <a:cubicBezTo>
                    <a:pt x="463737" y="4618436"/>
                    <a:pt x="480389" y="4685588"/>
                    <a:pt x="498882" y="4752365"/>
                  </a:cubicBezTo>
                  <a:cubicBezTo>
                    <a:pt x="517373" y="4819141"/>
                    <a:pt x="537704" y="4885635"/>
                    <a:pt x="559775" y="4951657"/>
                  </a:cubicBezTo>
                  <a:cubicBezTo>
                    <a:pt x="581946" y="5017775"/>
                    <a:pt x="605358" y="5083375"/>
                    <a:pt x="631406" y="5147986"/>
                  </a:cubicBezTo>
                  <a:cubicBezTo>
                    <a:pt x="734055" y="5407608"/>
                    <a:pt x="865188" y="5658570"/>
                    <a:pt x="1023461" y="5893957"/>
                  </a:cubicBezTo>
                  <a:cubicBezTo>
                    <a:pt x="1181487" y="6129578"/>
                    <a:pt x="1367051" y="6349247"/>
                    <a:pt x="1575880" y="6547646"/>
                  </a:cubicBezTo>
                  <a:cubicBezTo>
                    <a:pt x="1680269" y="6646916"/>
                    <a:pt x="1790338" y="6740939"/>
                    <a:pt x="1905228" y="6829468"/>
                  </a:cubicBezTo>
                  <a:lnTo>
                    <a:pt x="1944230" y="6858000"/>
                  </a:lnTo>
                  <a:lnTo>
                    <a:pt x="1372541" y="6858000"/>
                  </a:lnTo>
                  <a:lnTo>
                    <a:pt x="1115251" y="6590005"/>
                  </a:lnTo>
                  <a:cubicBezTo>
                    <a:pt x="418530" y="5790792"/>
                    <a:pt x="0" y="4766182"/>
                    <a:pt x="0" y="3649031"/>
                  </a:cubicBezTo>
                  <a:cubicBezTo>
                    <a:pt x="0" y="2212695"/>
                    <a:pt x="691856" y="929334"/>
                    <a:pt x="1777294" y="81317"/>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0" name="Freeform: Shape 19">
              <a:extLst>
                <a:ext uri="{FF2B5EF4-FFF2-40B4-BE49-F238E27FC236}">
                  <a16:creationId xmlns:a16="http://schemas.microsoft.com/office/drawing/2014/main" id="{F669D457-4CFB-AC9B-277E-97E58090B1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03402" y="36937"/>
              <a:ext cx="9767847" cy="6858000"/>
            </a:xfrm>
            <a:custGeom>
              <a:avLst/>
              <a:gdLst>
                <a:gd name="connsiteX0" fmla="*/ 7145704 w 9767847"/>
                <a:gd name="connsiteY0" fmla="*/ 0 h 6858000"/>
                <a:gd name="connsiteX1" fmla="*/ 7875738 w 9767847"/>
                <a:gd name="connsiteY1" fmla="*/ 0 h 6858000"/>
                <a:gd name="connsiteX2" fmla="*/ 7990553 w 9767847"/>
                <a:gd name="connsiteY2" fmla="*/ 85415 h 6858000"/>
                <a:gd name="connsiteX3" fmla="*/ 9767847 w 9767847"/>
                <a:gd name="connsiteY3" fmla="*/ 3653129 h 6858000"/>
                <a:gd name="connsiteX4" fmla="*/ 8652597 w 9767847"/>
                <a:gd name="connsiteY4" fmla="*/ 6594103 h 6858000"/>
                <a:gd name="connsiteX5" fmla="*/ 8399240 w 9767847"/>
                <a:gd name="connsiteY5" fmla="*/ 6858000 h 6858000"/>
                <a:gd name="connsiteX6" fmla="*/ 6766926 w 9767847"/>
                <a:gd name="connsiteY6" fmla="*/ 6858000 h 6858000"/>
                <a:gd name="connsiteX7" fmla="*/ 6804586 w 9767847"/>
                <a:gd name="connsiteY7" fmla="*/ 6821201 h 6858000"/>
                <a:gd name="connsiteX8" fmla="*/ 6881735 w 9767847"/>
                <a:gd name="connsiteY8" fmla="*/ 6745295 h 6858000"/>
                <a:gd name="connsiteX9" fmla="*/ 6958883 w 9767847"/>
                <a:gd name="connsiteY9" fmla="*/ 6668920 h 6858000"/>
                <a:gd name="connsiteX10" fmla="*/ 7267925 w 9767847"/>
                <a:gd name="connsiteY10" fmla="*/ 6359792 h 6858000"/>
                <a:gd name="connsiteX11" fmla="*/ 7424360 w 9767847"/>
                <a:gd name="connsiteY11" fmla="*/ 6204783 h 6858000"/>
                <a:gd name="connsiteX12" fmla="*/ 7504938 w 9767847"/>
                <a:gd name="connsiteY12" fmla="*/ 6126806 h 6858000"/>
                <a:gd name="connsiteX13" fmla="*/ 7546396 w 9767847"/>
                <a:gd name="connsiteY13" fmla="*/ 6087795 h 6858000"/>
                <a:gd name="connsiteX14" fmla="*/ 7588002 w 9767847"/>
                <a:gd name="connsiteY14" fmla="*/ 6049630 h 6858000"/>
                <a:gd name="connsiteX15" fmla="*/ 7631000 w 9767847"/>
                <a:gd name="connsiteY15" fmla="*/ 6010807 h 6858000"/>
                <a:gd name="connsiteX16" fmla="*/ 7675440 w 9767847"/>
                <a:gd name="connsiteY16" fmla="*/ 5972407 h 6858000"/>
                <a:gd name="connsiteX17" fmla="*/ 7720626 w 9767847"/>
                <a:gd name="connsiteY17" fmla="*/ 5934949 h 6858000"/>
                <a:gd name="connsiteX18" fmla="*/ 7766458 w 9767847"/>
                <a:gd name="connsiteY18" fmla="*/ 5898432 h 6858000"/>
                <a:gd name="connsiteX19" fmla="*/ 7955254 w 9767847"/>
                <a:gd name="connsiteY19" fmla="*/ 5760926 h 6858000"/>
                <a:gd name="connsiteX20" fmla="*/ 8352678 w 9767847"/>
                <a:gd name="connsiteY20" fmla="*/ 5521728 h 6858000"/>
                <a:gd name="connsiteX21" fmla="*/ 8451350 w 9767847"/>
                <a:gd name="connsiteY21" fmla="*/ 5469352 h 6858000"/>
                <a:gd name="connsiteX22" fmla="*/ 8548532 w 9767847"/>
                <a:gd name="connsiteY22" fmla="*/ 5417493 h 6858000"/>
                <a:gd name="connsiteX23" fmla="*/ 8729473 w 9767847"/>
                <a:gd name="connsiteY23" fmla="*/ 5314059 h 6858000"/>
                <a:gd name="connsiteX24" fmla="*/ 8770781 w 9767847"/>
                <a:gd name="connsiteY24" fmla="*/ 5287330 h 6858000"/>
                <a:gd name="connsiteX25" fmla="*/ 8790964 w 9767847"/>
                <a:gd name="connsiteY25" fmla="*/ 5273590 h 6858000"/>
                <a:gd name="connsiteX26" fmla="*/ 8810499 w 9767847"/>
                <a:gd name="connsiteY26" fmla="*/ 5259801 h 6858000"/>
                <a:gd name="connsiteX27" fmla="*/ 8883571 w 9767847"/>
                <a:gd name="connsiteY27" fmla="*/ 5202577 h 6858000"/>
                <a:gd name="connsiteX28" fmla="*/ 9006651 w 9767847"/>
                <a:gd name="connsiteY28" fmla="*/ 5074625 h 6858000"/>
                <a:gd name="connsiteX29" fmla="*/ 9033494 w 9767847"/>
                <a:gd name="connsiteY29" fmla="*/ 5038203 h 6858000"/>
                <a:gd name="connsiteX30" fmla="*/ 9040305 w 9767847"/>
                <a:gd name="connsiteY30" fmla="*/ 5028649 h 6858000"/>
                <a:gd name="connsiteX31" fmla="*/ 9046568 w 9767847"/>
                <a:gd name="connsiteY31" fmla="*/ 5019379 h 6858000"/>
                <a:gd name="connsiteX32" fmla="*/ 9058846 w 9767847"/>
                <a:gd name="connsiteY32" fmla="*/ 5000743 h 6858000"/>
                <a:gd name="connsiteX33" fmla="*/ 9104529 w 9767847"/>
                <a:gd name="connsiteY33" fmla="*/ 4922203 h 6858000"/>
                <a:gd name="connsiteX34" fmla="*/ 9181081 w 9767847"/>
                <a:gd name="connsiteY34" fmla="*/ 4748792 h 6858000"/>
                <a:gd name="connsiteX35" fmla="*/ 9240731 w 9767847"/>
                <a:gd name="connsiteY35" fmla="*/ 4561970 h 6858000"/>
                <a:gd name="connsiteX36" fmla="*/ 9265388 w 9767847"/>
                <a:gd name="connsiteY36" fmla="*/ 4465171 h 6858000"/>
                <a:gd name="connsiteX37" fmla="*/ 9276571 w 9767847"/>
                <a:gd name="connsiteY37" fmla="*/ 4416041 h 6858000"/>
                <a:gd name="connsiteX38" fmla="*/ 9281841 w 9767847"/>
                <a:gd name="connsiteY38" fmla="*/ 4391477 h 6858000"/>
                <a:gd name="connsiteX39" fmla="*/ 9286513 w 9767847"/>
                <a:gd name="connsiteY39" fmla="*/ 4368936 h 6858000"/>
                <a:gd name="connsiteX40" fmla="*/ 9296754 w 9767847"/>
                <a:gd name="connsiteY40" fmla="*/ 4316136 h 6858000"/>
                <a:gd name="connsiteX41" fmla="*/ 9301029 w 9767847"/>
                <a:gd name="connsiteY41" fmla="*/ 4293172 h 6858000"/>
                <a:gd name="connsiteX42" fmla="*/ 9302818 w 9767847"/>
                <a:gd name="connsiteY42" fmla="*/ 4282679 h 6858000"/>
                <a:gd name="connsiteX43" fmla="*/ 9304658 w 9767847"/>
                <a:gd name="connsiteY43" fmla="*/ 4270914 h 6858000"/>
                <a:gd name="connsiteX44" fmla="*/ 9312810 w 9767847"/>
                <a:gd name="connsiteY44" fmla="*/ 4220043 h 6858000"/>
                <a:gd name="connsiteX45" fmla="*/ 9316887 w 9767847"/>
                <a:gd name="connsiteY45" fmla="*/ 4194584 h 6858000"/>
                <a:gd name="connsiteX46" fmla="*/ 9318923 w 9767847"/>
                <a:gd name="connsiteY46" fmla="*/ 4181878 h 6858000"/>
                <a:gd name="connsiteX47" fmla="*/ 9320515 w 9767847"/>
                <a:gd name="connsiteY47" fmla="*/ 4168984 h 6858000"/>
                <a:gd name="connsiteX48" fmla="*/ 9332445 w 9767847"/>
                <a:gd name="connsiteY48" fmla="*/ 4069079 h 6858000"/>
                <a:gd name="connsiteX49" fmla="*/ 9336173 w 9767847"/>
                <a:gd name="connsiteY49" fmla="*/ 4022774 h 6858000"/>
                <a:gd name="connsiteX50" fmla="*/ 9340199 w 9767847"/>
                <a:gd name="connsiteY50" fmla="*/ 3969269 h 6858000"/>
                <a:gd name="connsiteX51" fmla="*/ 9347557 w 9767847"/>
                <a:gd name="connsiteY51" fmla="*/ 3770070 h 6858000"/>
                <a:gd name="connsiteX52" fmla="*/ 9346364 w 9767847"/>
                <a:gd name="connsiteY52" fmla="*/ 3669036 h 6858000"/>
                <a:gd name="connsiteX53" fmla="*/ 9344921 w 9767847"/>
                <a:gd name="connsiteY53" fmla="*/ 3619341 h 6858000"/>
                <a:gd name="connsiteX54" fmla="*/ 9344524 w 9767847"/>
                <a:gd name="connsiteY54" fmla="*/ 3607624 h 6858000"/>
                <a:gd name="connsiteX55" fmla="*/ 9343728 w 9767847"/>
                <a:gd name="connsiteY55" fmla="*/ 3594872 h 6858000"/>
                <a:gd name="connsiteX56" fmla="*/ 9342188 w 9767847"/>
                <a:gd name="connsiteY56" fmla="*/ 3569366 h 6858000"/>
                <a:gd name="connsiteX57" fmla="*/ 9339056 w 9767847"/>
                <a:gd name="connsiteY57" fmla="*/ 3518354 h 6858000"/>
                <a:gd name="connsiteX58" fmla="*/ 9334334 w 9767847"/>
                <a:gd name="connsiteY58" fmla="*/ 3467155 h 6858000"/>
                <a:gd name="connsiteX59" fmla="*/ 9329363 w 9767847"/>
                <a:gd name="connsiteY59" fmla="*/ 3415908 h 6858000"/>
                <a:gd name="connsiteX60" fmla="*/ 9328319 w 9767847"/>
                <a:gd name="connsiteY60" fmla="*/ 3404755 h 6858000"/>
                <a:gd name="connsiteX61" fmla="*/ 9327177 w 9767847"/>
                <a:gd name="connsiteY61" fmla="*/ 3394214 h 6858000"/>
                <a:gd name="connsiteX62" fmla="*/ 9324293 w 9767847"/>
                <a:gd name="connsiteY62" fmla="*/ 3370872 h 6858000"/>
                <a:gd name="connsiteX63" fmla="*/ 9320763 w 9767847"/>
                <a:gd name="connsiteY63" fmla="*/ 3344427 h 6858000"/>
                <a:gd name="connsiteX64" fmla="*/ 9317184 w 9767847"/>
                <a:gd name="connsiteY64" fmla="*/ 3315343 h 6858000"/>
                <a:gd name="connsiteX65" fmla="*/ 9311021 w 9767847"/>
                <a:gd name="connsiteY65" fmla="*/ 3270309 h 6858000"/>
                <a:gd name="connsiteX66" fmla="*/ 9302719 w 9767847"/>
                <a:gd name="connsiteY66" fmla="*/ 3219815 h 6858000"/>
                <a:gd name="connsiteX67" fmla="*/ 9293970 w 9767847"/>
                <a:gd name="connsiteY67" fmla="*/ 3169887 h 6858000"/>
                <a:gd name="connsiteX68" fmla="*/ 9252065 w 9767847"/>
                <a:gd name="connsiteY68" fmla="*/ 2971205 h 6858000"/>
                <a:gd name="connsiteX69" fmla="*/ 9227211 w 9767847"/>
                <a:gd name="connsiteY69" fmla="*/ 2872571 h 6858000"/>
                <a:gd name="connsiteX70" fmla="*/ 9220699 w 9767847"/>
                <a:gd name="connsiteY70" fmla="*/ 2848524 h 6858000"/>
                <a:gd name="connsiteX71" fmla="*/ 9213740 w 9767847"/>
                <a:gd name="connsiteY71" fmla="*/ 2824289 h 6858000"/>
                <a:gd name="connsiteX72" fmla="*/ 9199374 w 9767847"/>
                <a:gd name="connsiteY72" fmla="*/ 2775536 h 6858000"/>
                <a:gd name="connsiteX73" fmla="*/ 9061829 w 9767847"/>
                <a:gd name="connsiteY73" fmla="*/ 2389515 h 6858000"/>
                <a:gd name="connsiteX74" fmla="*/ 8978865 w 9767847"/>
                <a:gd name="connsiteY74" fmla="*/ 2200953 h 6858000"/>
                <a:gd name="connsiteX75" fmla="*/ 8956694 w 9767847"/>
                <a:gd name="connsiteY75" fmla="*/ 2154317 h 6858000"/>
                <a:gd name="connsiteX76" fmla="*/ 8934176 w 9767847"/>
                <a:gd name="connsiteY76" fmla="*/ 2108012 h 6858000"/>
                <a:gd name="connsiteX77" fmla="*/ 8887151 w 9767847"/>
                <a:gd name="connsiteY77" fmla="*/ 2015448 h 6858000"/>
                <a:gd name="connsiteX78" fmla="*/ 8787533 w 9767847"/>
                <a:gd name="connsiteY78" fmla="*/ 1832625 h 6858000"/>
                <a:gd name="connsiteX79" fmla="*/ 8761485 w 9767847"/>
                <a:gd name="connsiteY79" fmla="*/ 1787496 h 6858000"/>
                <a:gd name="connsiteX80" fmla="*/ 8734791 w 9767847"/>
                <a:gd name="connsiteY80" fmla="*/ 1741991 h 6858000"/>
                <a:gd name="connsiteX81" fmla="*/ 8680808 w 9767847"/>
                <a:gd name="connsiteY81" fmla="*/ 1652910 h 6858000"/>
                <a:gd name="connsiteX82" fmla="*/ 8567024 w 9767847"/>
                <a:gd name="connsiteY82" fmla="*/ 1477004 h 6858000"/>
                <a:gd name="connsiteX83" fmla="*/ 8537446 w 9767847"/>
                <a:gd name="connsiteY83" fmla="*/ 1433428 h 6858000"/>
                <a:gd name="connsiteX84" fmla="*/ 8507423 w 9767847"/>
                <a:gd name="connsiteY84" fmla="*/ 1389994 h 6858000"/>
                <a:gd name="connsiteX85" fmla="*/ 8446529 w 9767847"/>
                <a:gd name="connsiteY85" fmla="*/ 1304393 h 6858000"/>
                <a:gd name="connsiteX86" fmla="*/ 8319224 w 9767847"/>
                <a:gd name="connsiteY86" fmla="*/ 1135124 h 6858000"/>
                <a:gd name="connsiteX87" fmla="*/ 8286366 w 9767847"/>
                <a:gd name="connsiteY87" fmla="*/ 1093148 h 6858000"/>
                <a:gd name="connsiteX88" fmla="*/ 8270161 w 9767847"/>
                <a:gd name="connsiteY88" fmla="*/ 1072538 h 6858000"/>
                <a:gd name="connsiteX89" fmla="*/ 8253856 w 9767847"/>
                <a:gd name="connsiteY89" fmla="*/ 1052254 h 6858000"/>
                <a:gd name="connsiteX90" fmla="*/ 8186352 w 9767847"/>
                <a:gd name="connsiteY90" fmla="*/ 970373 h 6858000"/>
                <a:gd name="connsiteX91" fmla="*/ 8046768 w 9767847"/>
                <a:gd name="connsiteY91" fmla="*/ 809527 h 6858000"/>
                <a:gd name="connsiteX92" fmla="*/ 8010927 w 9767847"/>
                <a:gd name="connsiteY92" fmla="*/ 769951 h 6858000"/>
                <a:gd name="connsiteX93" fmla="*/ 7974788 w 9767847"/>
                <a:gd name="connsiteY93" fmla="*/ 730751 h 6858000"/>
                <a:gd name="connsiteX94" fmla="*/ 7901070 w 9767847"/>
                <a:gd name="connsiteY94" fmla="*/ 652823 h 6858000"/>
                <a:gd name="connsiteX95" fmla="*/ 7750054 w 9767847"/>
                <a:gd name="connsiteY95" fmla="*/ 501106 h 6858000"/>
                <a:gd name="connsiteX96" fmla="*/ 7592277 w 9767847"/>
                <a:gd name="connsiteY96" fmla="*/ 355319 h 6858000"/>
                <a:gd name="connsiteX97" fmla="*/ 7257734 w 9767847"/>
                <a:gd name="connsiteY97" fmla="*/ 81062 h 6858000"/>
                <a:gd name="connsiteX98" fmla="*/ 1892109 w 9767847"/>
                <a:gd name="connsiteY98" fmla="*/ 0 h 6858000"/>
                <a:gd name="connsiteX99" fmla="*/ 2298402 w 9767847"/>
                <a:gd name="connsiteY99" fmla="*/ 0 h 6858000"/>
                <a:gd name="connsiteX100" fmla="*/ 2135542 w 9767847"/>
                <a:gd name="connsiteY100" fmla="*/ 121879 h 6858000"/>
                <a:gd name="connsiteX101" fmla="*/ 1969576 w 9767847"/>
                <a:gd name="connsiteY101" fmla="*/ 259084 h 6858000"/>
                <a:gd name="connsiteX102" fmla="*/ 1659938 w 9767847"/>
                <a:gd name="connsiteY102" fmla="*/ 553953 h 6858000"/>
                <a:gd name="connsiteX103" fmla="*/ 729383 w 9767847"/>
                <a:gd name="connsiteY103" fmla="*/ 1940578 h 6858000"/>
                <a:gd name="connsiteX104" fmla="*/ 578465 w 9767847"/>
                <a:gd name="connsiteY104" fmla="*/ 2324905 h 6858000"/>
                <a:gd name="connsiteX105" fmla="*/ 465080 w 9767847"/>
                <a:gd name="connsiteY105" fmla="*/ 2718973 h 6858000"/>
                <a:gd name="connsiteX106" fmla="*/ 423820 w 9767847"/>
                <a:gd name="connsiteY106" fmla="*/ 2919535 h 6858000"/>
                <a:gd name="connsiteX107" fmla="*/ 392355 w 9767847"/>
                <a:gd name="connsiteY107" fmla="*/ 3122169 h 6858000"/>
                <a:gd name="connsiteX108" fmla="*/ 358801 w 9767847"/>
                <a:gd name="connsiteY108" fmla="*/ 3531013 h 6858000"/>
                <a:gd name="connsiteX109" fmla="*/ 410350 w 9767847"/>
                <a:gd name="connsiteY109" fmla="*/ 4352324 h 6858000"/>
                <a:gd name="connsiteX110" fmla="*/ 449022 w 9767847"/>
                <a:gd name="connsiteY110" fmla="*/ 4555147 h 6858000"/>
                <a:gd name="connsiteX111" fmla="*/ 498882 w 9767847"/>
                <a:gd name="connsiteY111" fmla="*/ 4756463 h 6858000"/>
                <a:gd name="connsiteX112" fmla="*/ 559775 w 9767847"/>
                <a:gd name="connsiteY112" fmla="*/ 4955755 h 6858000"/>
                <a:gd name="connsiteX113" fmla="*/ 631406 w 9767847"/>
                <a:gd name="connsiteY113" fmla="*/ 5152084 h 6858000"/>
                <a:gd name="connsiteX114" fmla="*/ 1023461 w 9767847"/>
                <a:gd name="connsiteY114" fmla="*/ 5898055 h 6858000"/>
                <a:gd name="connsiteX115" fmla="*/ 1575880 w 9767847"/>
                <a:gd name="connsiteY115" fmla="*/ 6551744 h 6858000"/>
                <a:gd name="connsiteX116" fmla="*/ 1905228 w 9767847"/>
                <a:gd name="connsiteY116" fmla="*/ 6833566 h 6858000"/>
                <a:gd name="connsiteX117" fmla="*/ 1938629 w 9767847"/>
                <a:gd name="connsiteY117" fmla="*/ 6858000 h 6858000"/>
                <a:gd name="connsiteX118" fmla="*/ 1368607 w 9767847"/>
                <a:gd name="connsiteY118" fmla="*/ 6858000 h 6858000"/>
                <a:gd name="connsiteX119" fmla="*/ 1115251 w 9767847"/>
                <a:gd name="connsiteY119" fmla="*/ 6594103 h 6858000"/>
                <a:gd name="connsiteX120" fmla="*/ 0 w 9767847"/>
                <a:gd name="connsiteY120" fmla="*/ 3653129 h 6858000"/>
                <a:gd name="connsiteX121" fmla="*/ 1777294 w 9767847"/>
                <a:gd name="connsiteY121" fmla="*/ 85415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Lst>
              <a:rect l="l" t="t" r="r" b="b"/>
              <a:pathLst>
                <a:path w="9767847" h="6858000">
                  <a:moveTo>
                    <a:pt x="7145704" y="0"/>
                  </a:moveTo>
                  <a:lnTo>
                    <a:pt x="7875738" y="0"/>
                  </a:lnTo>
                  <a:lnTo>
                    <a:pt x="7990553" y="85415"/>
                  </a:lnTo>
                  <a:cubicBezTo>
                    <a:pt x="9075991" y="933432"/>
                    <a:pt x="9767847" y="2216793"/>
                    <a:pt x="9767847" y="3653129"/>
                  </a:cubicBezTo>
                  <a:cubicBezTo>
                    <a:pt x="9767847" y="4770280"/>
                    <a:pt x="9349317" y="5794890"/>
                    <a:pt x="8652597" y="6594103"/>
                  </a:cubicBezTo>
                  <a:lnTo>
                    <a:pt x="8399240" y="6858000"/>
                  </a:lnTo>
                  <a:lnTo>
                    <a:pt x="6766926" y="6858000"/>
                  </a:lnTo>
                  <a:lnTo>
                    <a:pt x="6804586" y="6821201"/>
                  </a:lnTo>
                  <a:lnTo>
                    <a:pt x="6881735" y="6745295"/>
                  </a:lnTo>
                  <a:cubicBezTo>
                    <a:pt x="6907435" y="6719979"/>
                    <a:pt x="6933134" y="6694896"/>
                    <a:pt x="6958883" y="6668920"/>
                  </a:cubicBezTo>
                  <a:lnTo>
                    <a:pt x="7267925" y="6359792"/>
                  </a:lnTo>
                  <a:lnTo>
                    <a:pt x="7424360" y="6204783"/>
                  </a:lnTo>
                  <a:cubicBezTo>
                    <a:pt x="7450754" y="6178900"/>
                    <a:pt x="7477598" y="6152829"/>
                    <a:pt x="7504938" y="6126806"/>
                  </a:cubicBezTo>
                  <a:lnTo>
                    <a:pt x="7546396" y="6087795"/>
                  </a:lnTo>
                  <a:cubicBezTo>
                    <a:pt x="7560264" y="6074901"/>
                    <a:pt x="7574780" y="6061630"/>
                    <a:pt x="7588002" y="6049630"/>
                  </a:cubicBezTo>
                  <a:lnTo>
                    <a:pt x="7631000" y="6010807"/>
                  </a:lnTo>
                  <a:lnTo>
                    <a:pt x="7675440" y="5972407"/>
                  </a:lnTo>
                  <a:cubicBezTo>
                    <a:pt x="7690404" y="5959796"/>
                    <a:pt x="7705564" y="5947419"/>
                    <a:pt x="7720626" y="5934949"/>
                  </a:cubicBezTo>
                  <a:cubicBezTo>
                    <a:pt x="7735738" y="5922525"/>
                    <a:pt x="7751197" y="5910619"/>
                    <a:pt x="7766458" y="5898432"/>
                  </a:cubicBezTo>
                  <a:cubicBezTo>
                    <a:pt x="7827949" y="5850290"/>
                    <a:pt x="7890979" y="5804597"/>
                    <a:pt x="7955254" y="5760926"/>
                  </a:cubicBezTo>
                  <a:cubicBezTo>
                    <a:pt x="8083800" y="5673632"/>
                    <a:pt x="8216872" y="5594434"/>
                    <a:pt x="8352678" y="5521728"/>
                  </a:cubicBezTo>
                  <a:lnTo>
                    <a:pt x="8451350" y="5469352"/>
                  </a:lnTo>
                  <a:lnTo>
                    <a:pt x="8548532" y="5417493"/>
                  </a:lnTo>
                  <a:cubicBezTo>
                    <a:pt x="8612110" y="5383188"/>
                    <a:pt x="8673251" y="5349306"/>
                    <a:pt x="8729473" y="5314059"/>
                  </a:cubicBezTo>
                  <a:cubicBezTo>
                    <a:pt x="8743591" y="5305213"/>
                    <a:pt x="8757161" y="5296459"/>
                    <a:pt x="8770781" y="5287330"/>
                  </a:cubicBezTo>
                  <a:cubicBezTo>
                    <a:pt x="8777591" y="5282765"/>
                    <a:pt x="8784451" y="5278201"/>
                    <a:pt x="8790964" y="5273590"/>
                  </a:cubicBezTo>
                  <a:cubicBezTo>
                    <a:pt x="8797574" y="5268977"/>
                    <a:pt x="8804235" y="5264412"/>
                    <a:pt x="8810499" y="5259801"/>
                  </a:cubicBezTo>
                  <a:cubicBezTo>
                    <a:pt x="8835999" y="5241401"/>
                    <a:pt x="8860407" y="5222389"/>
                    <a:pt x="8883571" y="5202577"/>
                  </a:cubicBezTo>
                  <a:cubicBezTo>
                    <a:pt x="8929900" y="5162954"/>
                    <a:pt x="8971258" y="5120413"/>
                    <a:pt x="9006651" y="5074625"/>
                  </a:cubicBezTo>
                  <a:cubicBezTo>
                    <a:pt x="9015351" y="5063426"/>
                    <a:pt x="9024398" y="5050955"/>
                    <a:pt x="9033494" y="5038203"/>
                  </a:cubicBezTo>
                  <a:lnTo>
                    <a:pt x="9040305" y="5028649"/>
                  </a:lnTo>
                  <a:lnTo>
                    <a:pt x="9046568" y="5019379"/>
                  </a:lnTo>
                  <a:cubicBezTo>
                    <a:pt x="9050743" y="5013261"/>
                    <a:pt x="9054819" y="5007050"/>
                    <a:pt x="9058846" y="5000743"/>
                  </a:cubicBezTo>
                  <a:cubicBezTo>
                    <a:pt x="9075002" y="4975615"/>
                    <a:pt x="9090212" y="4949403"/>
                    <a:pt x="9104529" y="4922203"/>
                  </a:cubicBezTo>
                  <a:cubicBezTo>
                    <a:pt x="9133211" y="4867850"/>
                    <a:pt x="9158313" y="4809545"/>
                    <a:pt x="9181081" y="4748792"/>
                  </a:cubicBezTo>
                  <a:cubicBezTo>
                    <a:pt x="9203748" y="4688276"/>
                    <a:pt x="9223383" y="4625876"/>
                    <a:pt x="9240731" y="4561970"/>
                  </a:cubicBezTo>
                  <a:cubicBezTo>
                    <a:pt x="9249481" y="4530064"/>
                    <a:pt x="9257682" y="4497782"/>
                    <a:pt x="9265388" y="4465171"/>
                  </a:cubicBezTo>
                  <a:cubicBezTo>
                    <a:pt x="9269215" y="4448842"/>
                    <a:pt x="9272943" y="4432465"/>
                    <a:pt x="9276571" y="4416041"/>
                  </a:cubicBezTo>
                  <a:lnTo>
                    <a:pt x="9281841" y="4391477"/>
                  </a:lnTo>
                  <a:lnTo>
                    <a:pt x="9286513" y="4368936"/>
                  </a:lnTo>
                  <a:lnTo>
                    <a:pt x="9296754" y="4316136"/>
                  </a:lnTo>
                  <a:lnTo>
                    <a:pt x="9301029" y="4293172"/>
                  </a:lnTo>
                  <a:lnTo>
                    <a:pt x="9302818" y="4282679"/>
                  </a:lnTo>
                  <a:lnTo>
                    <a:pt x="9304658" y="4270914"/>
                  </a:lnTo>
                  <a:lnTo>
                    <a:pt x="9312810" y="4220043"/>
                  </a:lnTo>
                  <a:lnTo>
                    <a:pt x="9316887" y="4194584"/>
                  </a:lnTo>
                  <a:lnTo>
                    <a:pt x="9318923" y="4181878"/>
                  </a:lnTo>
                  <a:cubicBezTo>
                    <a:pt x="9319570" y="4177644"/>
                    <a:pt x="9319969" y="4173267"/>
                    <a:pt x="9320515" y="4168984"/>
                  </a:cubicBezTo>
                  <a:lnTo>
                    <a:pt x="9332445" y="4069079"/>
                  </a:lnTo>
                  <a:cubicBezTo>
                    <a:pt x="9333836" y="4056468"/>
                    <a:pt x="9334880" y="4040986"/>
                    <a:pt x="9336173" y="4022774"/>
                  </a:cubicBezTo>
                  <a:lnTo>
                    <a:pt x="9340199" y="3969269"/>
                  </a:lnTo>
                  <a:cubicBezTo>
                    <a:pt x="9345071" y="3903904"/>
                    <a:pt x="9347358" y="3837081"/>
                    <a:pt x="9347557" y="3770070"/>
                  </a:cubicBezTo>
                  <a:cubicBezTo>
                    <a:pt x="9347656" y="3736518"/>
                    <a:pt x="9347209" y="3702871"/>
                    <a:pt x="9346364" y="3669036"/>
                  </a:cubicBezTo>
                  <a:lnTo>
                    <a:pt x="9344921" y="3619341"/>
                  </a:lnTo>
                  <a:lnTo>
                    <a:pt x="9344524" y="3607624"/>
                  </a:lnTo>
                  <a:lnTo>
                    <a:pt x="9343728" y="3594872"/>
                  </a:lnTo>
                  <a:lnTo>
                    <a:pt x="9342188" y="3569366"/>
                  </a:lnTo>
                  <a:lnTo>
                    <a:pt x="9339056" y="3518354"/>
                  </a:lnTo>
                  <a:cubicBezTo>
                    <a:pt x="9337914" y="3501319"/>
                    <a:pt x="9335874" y="3484236"/>
                    <a:pt x="9334334" y="3467155"/>
                  </a:cubicBezTo>
                  <a:lnTo>
                    <a:pt x="9329363" y="3415908"/>
                  </a:lnTo>
                  <a:lnTo>
                    <a:pt x="9328319" y="3404755"/>
                  </a:lnTo>
                  <a:lnTo>
                    <a:pt x="9327177" y="3394214"/>
                  </a:lnTo>
                  <a:lnTo>
                    <a:pt x="9324293" y="3370872"/>
                  </a:lnTo>
                  <a:lnTo>
                    <a:pt x="9320763" y="3344427"/>
                  </a:lnTo>
                  <a:lnTo>
                    <a:pt x="9317184" y="3315343"/>
                  </a:lnTo>
                  <a:cubicBezTo>
                    <a:pt x="9315594" y="3300991"/>
                    <a:pt x="9313506" y="3286404"/>
                    <a:pt x="9311021" y="3270309"/>
                  </a:cubicBezTo>
                  <a:lnTo>
                    <a:pt x="9302719" y="3219815"/>
                  </a:lnTo>
                  <a:cubicBezTo>
                    <a:pt x="9299936" y="3203157"/>
                    <a:pt x="9297003" y="3186498"/>
                    <a:pt x="9293970" y="3169887"/>
                  </a:cubicBezTo>
                  <a:cubicBezTo>
                    <a:pt x="9281891" y="3103393"/>
                    <a:pt x="9267674" y="3037182"/>
                    <a:pt x="9252065" y="2971205"/>
                  </a:cubicBezTo>
                  <a:cubicBezTo>
                    <a:pt x="9244261" y="2938265"/>
                    <a:pt x="9235959" y="2905371"/>
                    <a:pt x="9227211" y="2872571"/>
                  </a:cubicBezTo>
                  <a:lnTo>
                    <a:pt x="9220699" y="2848524"/>
                  </a:lnTo>
                  <a:lnTo>
                    <a:pt x="9213740" y="2824289"/>
                  </a:lnTo>
                  <a:cubicBezTo>
                    <a:pt x="9209216" y="2808147"/>
                    <a:pt x="9204345" y="2791866"/>
                    <a:pt x="9199374" y="2775536"/>
                  </a:cubicBezTo>
                  <a:cubicBezTo>
                    <a:pt x="9159855" y="2645184"/>
                    <a:pt x="9114272" y="2516197"/>
                    <a:pt x="9061829" y="2389515"/>
                  </a:cubicBezTo>
                  <a:cubicBezTo>
                    <a:pt x="9035582" y="2326175"/>
                    <a:pt x="9008043" y="2263258"/>
                    <a:pt x="8978865" y="2200953"/>
                  </a:cubicBezTo>
                  <a:lnTo>
                    <a:pt x="8956694" y="2154317"/>
                  </a:lnTo>
                  <a:lnTo>
                    <a:pt x="8934176" y="2108012"/>
                  </a:lnTo>
                  <a:cubicBezTo>
                    <a:pt x="8918915" y="2077189"/>
                    <a:pt x="8903157" y="2046130"/>
                    <a:pt x="8887151" y="2015448"/>
                  </a:cubicBezTo>
                  <a:cubicBezTo>
                    <a:pt x="8854988" y="1953989"/>
                    <a:pt x="8822082" y="1892908"/>
                    <a:pt x="8787533" y="1832625"/>
                  </a:cubicBezTo>
                  <a:lnTo>
                    <a:pt x="8761485" y="1787496"/>
                  </a:lnTo>
                  <a:lnTo>
                    <a:pt x="8734791" y="1741991"/>
                  </a:lnTo>
                  <a:cubicBezTo>
                    <a:pt x="8717047" y="1711921"/>
                    <a:pt x="8699200" y="1682461"/>
                    <a:pt x="8680808" y="1652910"/>
                  </a:cubicBezTo>
                  <a:cubicBezTo>
                    <a:pt x="8644322" y="1593756"/>
                    <a:pt x="8606194" y="1535216"/>
                    <a:pt x="8567024" y="1477004"/>
                  </a:cubicBezTo>
                  <a:lnTo>
                    <a:pt x="8537446" y="1433428"/>
                  </a:lnTo>
                  <a:lnTo>
                    <a:pt x="8507423" y="1389994"/>
                  </a:lnTo>
                  <a:cubicBezTo>
                    <a:pt x="8487390" y="1361382"/>
                    <a:pt x="8467158" y="1332817"/>
                    <a:pt x="8446529" y="1304393"/>
                  </a:cubicBezTo>
                  <a:cubicBezTo>
                    <a:pt x="8405271" y="1247595"/>
                    <a:pt x="8362718" y="1191218"/>
                    <a:pt x="8319224" y="1135124"/>
                  </a:cubicBezTo>
                  <a:lnTo>
                    <a:pt x="8286366" y="1093148"/>
                  </a:lnTo>
                  <a:lnTo>
                    <a:pt x="8270161" y="1072538"/>
                  </a:lnTo>
                  <a:lnTo>
                    <a:pt x="8253856" y="1052254"/>
                  </a:lnTo>
                  <a:cubicBezTo>
                    <a:pt x="8231636" y="1024773"/>
                    <a:pt x="8209117" y="997479"/>
                    <a:pt x="8186352" y="970373"/>
                  </a:cubicBezTo>
                  <a:cubicBezTo>
                    <a:pt x="8140917" y="916020"/>
                    <a:pt x="8094240" y="862515"/>
                    <a:pt x="8046768" y="809527"/>
                  </a:cubicBezTo>
                  <a:lnTo>
                    <a:pt x="8010927" y="769951"/>
                  </a:lnTo>
                  <a:lnTo>
                    <a:pt x="7974788" y="730751"/>
                  </a:lnTo>
                  <a:cubicBezTo>
                    <a:pt x="7950382" y="704587"/>
                    <a:pt x="7925824" y="678563"/>
                    <a:pt x="7901070" y="652823"/>
                  </a:cubicBezTo>
                  <a:cubicBezTo>
                    <a:pt x="7851510" y="601387"/>
                    <a:pt x="7801404" y="550612"/>
                    <a:pt x="7750054" y="501106"/>
                  </a:cubicBezTo>
                  <a:cubicBezTo>
                    <a:pt x="7698902" y="451742"/>
                    <a:pt x="7645913" y="403036"/>
                    <a:pt x="7592277" y="355319"/>
                  </a:cubicBezTo>
                  <a:cubicBezTo>
                    <a:pt x="7484856" y="259884"/>
                    <a:pt x="7373308" y="168402"/>
                    <a:pt x="7257734" y="81062"/>
                  </a:cubicBezTo>
                  <a:close/>
                  <a:moveTo>
                    <a:pt x="1892109" y="0"/>
                  </a:moveTo>
                  <a:lnTo>
                    <a:pt x="2298402" y="0"/>
                  </a:lnTo>
                  <a:lnTo>
                    <a:pt x="2135542" y="121879"/>
                  </a:lnTo>
                  <a:cubicBezTo>
                    <a:pt x="2078998" y="166378"/>
                    <a:pt x="2023659" y="212143"/>
                    <a:pt x="1969576" y="259084"/>
                  </a:cubicBezTo>
                  <a:cubicBezTo>
                    <a:pt x="1861309" y="352918"/>
                    <a:pt x="1758064" y="451412"/>
                    <a:pt x="1659938" y="553953"/>
                  </a:cubicBezTo>
                  <a:cubicBezTo>
                    <a:pt x="1266987" y="964444"/>
                    <a:pt x="953820" y="1435593"/>
                    <a:pt x="729383" y="1940578"/>
                  </a:cubicBezTo>
                  <a:cubicBezTo>
                    <a:pt x="673260" y="2066459"/>
                    <a:pt x="622855" y="2195070"/>
                    <a:pt x="578465" y="2324905"/>
                  </a:cubicBezTo>
                  <a:cubicBezTo>
                    <a:pt x="534125" y="2454785"/>
                    <a:pt x="496147" y="2586314"/>
                    <a:pt x="465080" y="2718973"/>
                  </a:cubicBezTo>
                  <a:cubicBezTo>
                    <a:pt x="449769" y="2785089"/>
                    <a:pt x="435850" y="2852289"/>
                    <a:pt x="423820" y="2919535"/>
                  </a:cubicBezTo>
                  <a:cubicBezTo>
                    <a:pt x="411840" y="2986829"/>
                    <a:pt x="401054" y="3054358"/>
                    <a:pt x="392355" y="3122169"/>
                  </a:cubicBezTo>
                  <a:cubicBezTo>
                    <a:pt x="374509" y="3257744"/>
                    <a:pt x="363424" y="3393978"/>
                    <a:pt x="358801" y="3531013"/>
                  </a:cubicBezTo>
                  <a:cubicBezTo>
                    <a:pt x="349009" y="3804941"/>
                    <a:pt x="366357" y="4079668"/>
                    <a:pt x="410350" y="4352324"/>
                  </a:cubicBezTo>
                  <a:cubicBezTo>
                    <a:pt x="421286" y="4420230"/>
                    <a:pt x="434209" y="4487758"/>
                    <a:pt x="449022" y="4555147"/>
                  </a:cubicBezTo>
                  <a:cubicBezTo>
                    <a:pt x="463737" y="4622534"/>
                    <a:pt x="480389" y="4689686"/>
                    <a:pt x="498882" y="4756463"/>
                  </a:cubicBezTo>
                  <a:cubicBezTo>
                    <a:pt x="517373" y="4823239"/>
                    <a:pt x="537704" y="4889733"/>
                    <a:pt x="559775" y="4955755"/>
                  </a:cubicBezTo>
                  <a:cubicBezTo>
                    <a:pt x="581946" y="5021873"/>
                    <a:pt x="605358" y="5087473"/>
                    <a:pt x="631406" y="5152084"/>
                  </a:cubicBezTo>
                  <a:cubicBezTo>
                    <a:pt x="734055" y="5411706"/>
                    <a:pt x="865188" y="5662668"/>
                    <a:pt x="1023461" y="5898055"/>
                  </a:cubicBezTo>
                  <a:cubicBezTo>
                    <a:pt x="1181487" y="6133676"/>
                    <a:pt x="1367051" y="6353345"/>
                    <a:pt x="1575880" y="6551744"/>
                  </a:cubicBezTo>
                  <a:cubicBezTo>
                    <a:pt x="1680269" y="6651014"/>
                    <a:pt x="1790338" y="6745037"/>
                    <a:pt x="1905228" y="6833566"/>
                  </a:cubicBezTo>
                  <a:lnTo>
                    <a:pt x="1938629" y="6858000"/>
                  </a:lnTo>
                  <a:lnTo>
                    <a:pt x="1368607" y="6858000"/>
                  </a:lnTo>
                  <a:lnTo>
                    <a:pt x="1115251" y="6594103"/>
                  </a:lnTo>
                  <a:cubicBezTo>
                    <a:pt x="418530" y="5794890"/>
                    <a:pt x="0" y="4770280"/>
                    <a:pt x="0" y="3653129"/>
                  </a:cubicBezTo>
                  <a:cubicBezTo>
                    <a:pt x="0" y="2216793"/>
                    <a:pt x="691856" y="933432"/>
                    <a:pt x="1777294" y="85415"/>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solidFill>
                  <a:schemeClr val="lt1"/>
                </a:solidFill>
              </a:endParaRPr>
            </a:p>
          </p:txBody>
        </p:sp>
      </p:grpSp>
      <p:sp>
        <p:nvSpPr>
          <p:cNvPr id="2" name="Title 1">
            <a:extLst>
              <a:ext uri="{FF2B5EF4-FFF2-40B4-BE49-F238E27FC236}">
                <a16:creationId xmlns:a16="http://schemas.microsoft.com/office/drawing/2014/main" id="{CDF612E9-84C9-2D1A-5F1B-19A89B43853F}"/>
              </a:ext>
            </a:extLst>
          </p:cNvPr>
          <p:cNvSpPr>
            <a:spLocks noGrp="1"/>
          </p:cNvSpPr>
          <p:nvPr>
            <p:ph type="title"/>
          </p:nvPr>
        </p:nvSpPr>
        <p:spPr>
          <a:xfrm>
            <a:off x="3371787" y="1741337"/>
            <a:ext cx="5448730" cy="2387918"/>
          </a:xfrm>
        </p:spPr>
        <p:txBody>
          <a:bodyPr vert="horz" lIns="91440" tIns="45720" rIns="91440" bIns="45720" rtlCol="0" anchor="b">
            <a:normAutofit/>
          </a:bodyPr>
          <a:lstStyle/>
          <a:p>
            <a:pPr algn="ctr"/>
            <a:r>
              <a:rPr lang="en-US" sz="5200" kern="1200" dirty="0">
                <a:solidFill>
                  <a:schemeClr val="tx2"/>
                </a:solidFill>
                <a:latin typeface="+mj-lt"/>
                <a:ea typeface="+mj-ea"/>
                <a:cs typeface="+mj-cs"/>
              </a:rPr>
              <a:t>Microbiome data</a:t>
            </a:r>
          </a:p>
        </p:txBody>
      </p:sp>
      <p:grpSp>
        <p:nvGrpSpPr>
          <p:cNvPr id="22" name="Group 21">
            <a:extLst>
              <a:ext uri="{FF2B5EF4-FFF2-40B4-BE49-F238E27FC236}">
                <a16:creationId xmlns:a16="http://schemas.microsoft.com/office/drawing/2014/main" id="{BDAC4BA2-E88D-E427-24F3-B8F3A3C30A0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7142" y="2854"/>
            <a:ext cx="2783421" cy="2406445"/>
            <a:chOff x="-305" y="-4155"/>
            <a:chExt cx="2514948" cy="2174333"/>
          </a:xfrm>
        </p:grpSpPr>
        <p:sp>
          <p:nvSpPr>
            <p:cNvPr id="23" name="Freeform: Shape 22">
              <a:extLst>
                <a:ext uri="{FF2B5EF4-FFF2-40B4-BE49-F238E27FC236}">
                  <a16:creationId xmlns:a16="http://schemas.microsoft.com/office/drawing/2014/main" id="{619BD1A1-65B6-4618-D7A3-6F5F968E381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14948" cy="2170178"/>
            </a:xfrm>
            <a:custGeom>
              <a:avLst/>
              <a:gdLst>
                <a:gd name="connsiteX0" fmla="*/ 2466091 w 2514948"/>
                <a:gd name="connsiteY0" fmla="*/ 0 h 2170178"/>
                <a:gd name="connsiteX1" fmla="*/ 2514948 w 2514948"/>
                <a:gd name="connsiteY1" fmla="*/ 0 h 2170178"/>
                <a:gd name="connsiteX2" fmla="*/ 2512286 w 2514948"/>
                <a:gd name="connsiteY2" fmla="*/ 12375 h 2170178"/>
                <a:gd name="connsiteX3" fmla="*/ 2394961 w 2514948"/>
                <a:gd name="connsiteY3" fmla="*/ 368660 h 2170178"/>
                <a:gd name="connsiteX4" fmla="*/ 2289734 w 2514948"/>
                <a:gd name="connsiteY4" fmla="*/ 598078 h 2170178"/>
                <a:gd name="connsiteX5" fmla="*/ 2163747 w 2514948"/>
                <a:gd name="connsiteY5" fmla="*/ 819078 h 2170178"/>
                <a:gd name="connsiteX6" fmla="*/ 1852241 w 2514948"/>
                <a:gd name="connsiteY6" fmla="*/ 1228932 h 2170178"/>
                <a:gd name="connsiteX7" fmla="*/ 1668235 w 2514948"/>
                <a:gd name="connsiteY7" fmla="*/ 1413844 h 2170178"/>
                <a:gd name="connsiteX8" fmla="*/ 1619510 w 2514948"/>
                <a:gd name="connsiteY8" fmla="*/ 1457722 h 2170178"/>
                <a:gd name="connsiteX9" fmla="*/ 1569835 w 2514948"/>
                <a:gd name="connsiteY9" fmla="*/ 1500704 h 2170178"/>
                <a:gd name="connsiteX10" fmla="*/ 1467169 w 2514948"/>
                <a:gd name="connsiteY10" fmla="*/ 1583266 h 2170178"/>
                <a:gd name="connsiteX11" fmla="*/ 1018393 w 2514948"/>
                <a:gd name="connsiteY11" fmla="*/ 1867576 h 2170178"/>
                <a:gd name="connsiteX12" fmla="*/ 255857 w 2514948"/>
                <a:gd name="connsiteY12" fmla="*/ 2133049 h 2170178"/>
                <a:gd name="connsiteX13" fmla="*/ 0 w 2514948"/>
                <a:gd name="connsiteY13" fmla="*/ 2170178 h 2170178"/>
                <a:gd name="connsiteX14" fmla="*/ 0 w 2514948"/>
                <a:gd name="connsiteY14" fmla="*/ 1940056 h 2170178"/>
                <a:gd name="connsiteX15" fmla="*/ 201609 w 2514948"/>
                <a:gd name="connsiteY15" fmla="*/ 1902856 h 2170178"/>
                <a:gd name="connsiteX16" fmla="*/ 440974 w 2514948"/>
                <a:gd name="connsiteY16" fmla="*/ 1838472 h 2170178"/>
                <a:gd name="connsiteX17" fmla="*/ 674558 w 2514948"/>
                <a:gd name="connsiteY17" fmla="*/ 1756359 h 2170178"/>
                <a:gd name="connsiteX18" fmla="*/ 901222 w 2514948"/>
                <a:gd name="connsiteY18" fmla="*/ 1657142 h 2170178"/>
                <a:gd name="connsiteX19" fmla="*/ 1330943 w 2514948"/>
                <a:gd name="connsiteY19" fmla="*/ 1413396 h 2170178"/>
                <a:gd name="connsiteX20" fmla="*/ 1432566 w 2514948"/>
                <a:gd name="connsiteY20" fmla="*/ 1343193 h 2170178"/>
                <a:gd name="connsiteX21" fmla="*/ 1482527 w 2514948"/>
                <a:gd name="connsiteY21" fmla="*/ 1306926 h 2170178"/>
                <a:gd name="connsiteX22" fmla="*/ 1531821 w 2514948"/>
                <a:gd name="connsiteY22" fmla="*/ 1269765 h 2170178"/>
                <a:gd name="connsiteX23" fmla="*/ 1721986 w 2514948"/>
                <a:gd name="connsiteY23" fmla="*/ 1112073 h 2170178"/>
                <a:gd name="connsiteX24" fmla="*/ 2061460 w 2514948"/>
                <a:gd name="connsiteY24" fmla="*/ 754336 h 2170178"/>
                <a:gd name="connsiteX25" fmla="*/ 2206218 w 2514948"/>
                <a:gd name="connsiteY25" fmla="*/ 554827 h 2170178"/>
                <a:gd name="connsiteX26" fmla="*/ 2329455 w 2514948"/>
                <a:gd name="connsiteY26" fmla="*/ 341886 h 2170178"/>
                <a:gd name="connsiteX27" fmla="*/ 2356757 w 2514948"/>
                <a:gd name="connsiteY27" fmla="*/ 286815 h 2170178"/>
                <a:gd name="connsiteX28" fmla="*/ 2370030 w 2514948"/>
                <a:gd name="connsiteY28" fmla="*/ 259056 h 2170178"/>
                <a:gd name="connsiteX29" fmla="*/ 2382637 w 2514948"/>
                <a:gd name="connsiteY29" fmla="*/ 231028 h 2170178"/>
                <a:gd name="connsiteX30" fmla="*/ 2406716 w 2514948"/>
                <a:gd name="connsiteY30" fmla="*/ 174525 h 2170178"/>
                <a:gd name="connsiteX31" fmla="*/ 2429278 w 2514948"/>
                <a:gd name="connsiteY31" fmla="*/ 117393 h 2170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2514948" h="2170178">
                  <a:moveTo>
                    <a:pt x="2466091" y="0"/>
                  </a:moveTo>
                  <a:lnTo>
                    <a:pt x="2514948" y="0"/>
                  </a:lnTo>
                  <a:lnTo>
                    <a:pt x="2512286" y="12375"/>
                  </a:lnTo>
                  <a:cubicBezTo>
                    <a:pt x="2481760" y="133161"/>
                    <a:pt x="2442526" y="252239"/>
                    <a:pt x="2394961" y="368660"/>
                  </a:cubicBezTo>
                  <a:cubicBezTo>
                    <a:pt x="2363109" y="446208"/>
                    <a:pt x="2328603" y="523039"/>
                    <a:pt x="2289734" y="598078"/>
                  </a:cubicBezTo>
                  <a:cubicBezTo>
                    <a:pt x="2251436" y="673387"/>
                    <a:pt x="2209251" y="747083"/>
                    <a:pt x="2163747" y="819078"/>
                  </a:cubicBezTo>
                  <a:cubicBezTo>
                    <a:pt x="2072646" y="962979"/>
                    <a:pt x="1968652" y="1100611"/>
                    <a:pt x="1852241" y="1228932"/>
                  </a:cubicBezTo>
                  <a:cubicBezTo>
                    <a:pt x="1793748" y="1292868"/>
                    <a:pt x="1732698" y="1354923"/>
                    <a:pt x="1668235" y="1413844"/>
                  </a:cubicBezTo>
                  <a:cubicBezTo>
                    <a:pt x="1652214" y="1428709"/>
                    <a:pt x="1636100" y="1443395"/>
                    <a:pt x="1619510" y="1457722"/>
                  </a:cubicBezTo>
                  <a:cubicBezTo>
                    <a:pt x="1603015" y="1472140"/>
                    <a:pt x="1586805" y="1486825"/>
                    <a:pt x="1569835" y="1500704"/>
                  </a:cubicBezTo>
                  <a:cubicBezTo>
                    <a:pt x="1536276" y="1528911"/>
                    <a:pt x="1501865" y="1556223"/>
                    <a:pt x="1467169" y="1583266"/>
                  </a:cubicBezTo>
                  <a:cubicBezTo>
                    <a:pt x="1327719" y="1690722"/>
                    <a:pt x="1177085" y="1785910"/>
                    <a:pt x="1018393" y="1867576"/>
                  </a:cubicBezTo>
                  <a:cubicBezTo>
                    <a:pt x="780425" y="1990142"/>
                    <a:pt x="522567" y="2080875"/>
                    <a:pt x="255857" y="2133049"/>
                  </a:cubicBezTo>
                  <a:lnTo>
                    <a:pt x="0" y="2170178"/>
                  </a:lnTo>
                  <a:lnTo>
                    <a:pt x="0" y="1940056"/>
                  </a:lnTo>
                  <a:lnTo>
                    <a:pt x="201609" y="1902856"/>
                  </a:lnTo>
                  <a:cubicBezTo>
                    <a:pt x="282186" y="1884231"/>
                    <a:pt x="362102" y="1863008"/>
                    <a:pt x="440974" y="1838472"/>
                  </a:cubicBezTo>
                  <a:cubicBezTo>
                    <a:pt x="519848" y="1814027"/>
                    <a:pt x="597771" y="1786627"/>
                    <a:pt x="674558" y="1756359"/>
                  </a:cubicBezTo>
                  <a:cubicBezTo>
                    <a:pt x="751250" y="1726003"/>
                    <a:pt x="826900" y="1692870"/>
                    <a:pt x="901222" y="1657142"/>
                  </a:cubicBezTo>
                  <a:cubicBezTo>
                    <a:pt x="1049865" y="1585774"/>
                    <a:pt x="1193581" y="1504376"/>
                    <a:pt x="1330943" y="1413396"/>
                  </a:cubicBezTo>
                  <a:cubicBezTo>
                    <a:pt x="1365165" y="1390563"/>
                    <a:pt x="1399293" y="1367370"/>
                    <a:pt x="1432566" y="1343193"/>
                  </a:cubicBezTo>
                  <a:cubicBezTo>
                    <a:pt x="1449441" y="1331373"/>
                    <a:pt x="1465936" y="1319104"/>
                    <a:pt x="1482527" y="1306926"/>
                  </a:cubicBezTo>
                  <a:cubicBezTo>
                    <a:pt x="1499210" y="1294837"/>
                    <a:pt x="1515611" y="1282391"/>
                    <a:pt x="1531821" y="1269765"/>
                  </a:cubicBezTo>
                  <a:cubicBezTo>
                    <a:pt x="1596947" y="1219350"/>
                    <a:pt x="1660652" y="1167055"/>
                    <a:pt x="1721986" y="1112073"/>
                  </a:cubicBezTo>
                  <a:cubicBezTo>
                    <a:pt x="1844940" y="1002469"/>
                    <a:pt x="1958983" y="882926"/>
                    <a:pt x="2061460" y="754336"/>
                  </a:cubicBezTo>
                  <a:cubicBezTo>
                    <a:pt x="2112652" y="690042"/>
                    <a:pt x="2161094" y="623510"/>
                    <a:pt x="2206218" y="554827"/>
                  </a:cubicBezTo>
                  <a:cubicBezTo>
                    <a:pt x="2250583" y="485787"/>
                    <a:pt x="2292484" y="415046"/>
                    <a:pt x="2329455" y="341886"/>
                  </a:cubicBezTo>
                  <a:cubicBezTo>
                    <a:pt x="2339030" y="323709"/>
                    <a:pt x="2347941" y="305261"/>
                    <a:pt x="2356757" y="286815"/>
                  </a:cubicBezTo>
                  <a:lnTo>
                    <a:pt x="2370030" y="259056"/>
                  </a:lnTo>
                  <a:lnTo>
                    <a:pt x="2382637" y="231028"/>
                  </a:lnTo>
                  <a:cubicBezTo>
                    <a:pt x="2390885" y="212312"/>
                    <a:pt x="2399227" y="193598"/>
                    <a:pt x="2406716" y="174525"/>
                  </a:cubicBezTo>
                  <a:cubicBezTo>
                    <a:pt x="2414206" y="155452"/>
                    <a:pt x="2422453" y="136646"/>
                    <a:pt x="2429278" y="11739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Freeform: Shape 23">
              <a:extLst>
                <a:ext uri="{FF2B5EF4-FFF2-40B4-BE49-F238E27FC236}">
                  <a16:creationId xmlns:a16="http://schemas.microsoft.com/office/drawing/2014/main" id="{2F259CFE-93E7-ADFC-6DC4-6BC5AD2E81B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4155"/>
              <a:ext cx="2493062" cy="1947896"/>
            </a:xfrm>
            <a:custGeom>
              <a:avLst/>
              <a:gdLst>
                <a:gd name="connsiteX0" fmla="*/ 1896911 w 2493062"/>
                <a:gd name="connsiteY0" fmla="*/ 0 h 1947896"/>
                <a:gd name="connsiteX1" fmla="*/ 2493062 w 2493062"/>
                <a:gd name="connsiteY1" fmla="*/ 0 h 1947896"/>
                <a:gd name="connsiteX2" fmla="*/ 2435315 w 2493062"/>
                <a:gd name="connsiteY2" fmla="*/ 178165 h 1947896"/>
                <a:gd name="connsiteX3" fmla="*/ 93066 w 2493062"/>
                <a:gd name="connsiteY3" fmla="*/ 1935859 h 1947896"/>
                <a:gd name="connsiteX4" fmla="*/ 0 w 2493062"/>
                <a:gd name="connsiteY4" fmla="*/ 1947896 h 1947896"/>
                <a:gd name="connsiteX5" fmla="*/ 0 w 2493062"/>
                <a:gd name="connsiteY5" fmla="*/ 1404756 h 1947896"/>
                <a:gd name="connsiteX6" fmla="*/ 17392 w 2493062"/>
                <a:gd name="connsiteY6" fmla="*/ 1402364 h 1947896"/>
                <a:gd name="connsiteX7" fmla="*/ 464249 w 2493062"/>
                <a:gd name="connsiteY7" fmla="*/ 1281208 h 1947896"/>
                <a:gd name="connsiteX8" fmla="*/ 1260556 w 2493062"/>
                <a:gd name="connsiteY8" fmla="*/ 833835 h 1947896"/>
                <a:gd name="connsiteX9" fmla="*/ 1807924 w 2493062"/>
                <a:gd name="connsiteY9" fmla="*/ 193222 h 1947896"/>
                <a:gd name="connsiteX10" fmla="*/ 1874357 w 2493062"/>
                <a:gd name="connsiteY10" fmla="*/ 58333 h 1947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3062" h="1947896">
                  <a:moveTo>
                    <a:pt x="1896911" y="0"/>
                  </a:moveTo>
                  <a:lnTo>
                    <a:pt x="2493062" y="0"/>
                  </a:lnTo>
                  <a:lnTo>
                    <a:pt x="2435315" y="178165"/>
                  </a:lnTo>
                  <a:cubicBezTo>
                    <a:pt x="2088122" y="1071812"/>
                    <a:pt x="1129732" y="1758033"/>
                    <a:pt x="93066" y="1935859"/>
                  </a:cubicBezTo>
                  <a:lnTo>
                    <a:pt x="0" y="1947896"/>
                  </a:lnTo>
                  <a:lnTo>
                    <a:pt x="0" y="1404756"/>
                  </a:lnTo>
                  <a:lnTo>
                    <a:pt x="17392" y="1402364"/>
                  </a:lnTo>
                  <a:cubicBezTo>
                    <a:pt x="167719" y="1375030"/>
                    <a:pt x="318070" y="1334398"/>
                    <a:pt x="464249" y="1281208"/>
                  </a:cubicBezTo>
                  <a:cubicBezTo>
                    <a:pt x="753480" y="1176081"/>
                    <a:pt x="1028869" y="1021346"/>
                    <a:pt x="1260556" y="833835"/>
                  </a:cubicBezTo>
                  <a:cubicBezTo>
                    <a:pt x="1491960" y="646594"/>
                    <a:pt x="1681177" y="425056"/>
                    <a:pt x="1807924" y="193222"/>
                  </a:cubicBezTo>
                  <a:cubicBezTo>
                    <a:pt x="1832328" y="148578"/>
                    <a:pt x="1854477" y="103599"/>
                    <a:pt x="1874357" y="5833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Freeform: Shape 24">
              <a:extLst>
                <a:ext uri="{FF2B5EF4-FFF2-40B4-BE49-F238E27FC236}">
                  <a16:creationId xmlns:a16="http://schemas.microsoft.com/office/drawing/2014/main" id="{ACA58F4B-7FD9-37C9-5226-0FF057D0448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01089" cy="1972702"/>
            </a:xfrm>
            <a:custGeom>
              <a:avLst/>
              <a:gdLst>
                <a:gd name="connsiteX0" fmla="*/ 2318728 w 2501089"/>
                <a:gd name="connsiteY0" fmla="*/ 0 h 1972702"/>
                <a:gd name="connsiteX1" fmla="*/ 2501089 w 2501089"/>
                <a:gd name="connsiteY1" fmla="*/ 0 h 1972702"/>
                <a:gd name="connsiteX2" fmla="*/ 2453909 w 2501089"/>
                <a:gd name="connsiteY2" fmla="*/ 167837 h 1972702"/>
                <a:gd name="connsiteX3" fmla="*/ 2361125 w 2501089"/>
                <a:gd name="connsiteY3" fmla="*/ 392084 h 1972702"/>
                <a:gd name="connsiteX4" fmla="*/ 1768255 w 2501089"/>
                <a:gd name="connsiteY4" fmla="*/ 1167644 h 1972702"/>
                <a:gd name="connsiteX5" fmla="*/ 1375125 w 2501089"/>
                <a:gd name="connsiteY5" fmla="*/ 1471474 h 1972702"/>
                <a:gd name="connsiteX6" fmla="*/ 935735 w 2501089"/>
                <a:gd name="connsiteY6" fmla="*/ 1712713 h 1972702"/>
                <a:gd name="connsiteX7" fmla="*/ 212353 w 2501089"/>
                <a:gd name="connsiteY7" fmla="*/ 1940294 h 1972702"/>
                <a:gd name="connsiteX8" fmla="*/ 0 w 2501089"/>
                <a:gd name="connsiteY8" fmla="*/ 1972702 h 1972702"/>
                <a:gd name="connsiteX9" fmla="*/ 0 w 2501089"/>
                <a:gd name="connsiteY9" fmla="*/ 1732181 h 1972702"/>
                <a:gd name="connsiteX10" fmla="*/ 161195 w 2501089"/>
                <a:gd name="connsiteY10" fmla="*/ 1706590 h 1972702"/>
                <a:gd name="connsiteX11" fmla="*/ 388463 w 2501089"/>
                <a:gd name="connsiteY11" fmla="*/ 1652268 h 1972702"/>
                <a:gd name="connsiteX12" fmla="*/ 826716 w 2501089"/>
                <a:gd name="connsiteY12" fmla="*/ 1493950 h 1972702"/>
                <a:gd name="connsiteX13" fmla="*/ 1609847 w 2501089"/>
                <a:gd name="connsiteY13" fmla="*/ 1007535 h 1972702"/>
                <a:gd name="connsiteX14" fmla="*/ 1929982 w 2501089"/>
                <a:gd name="connsiteY14" fmla="*/ 682930 h 1972702"/>
                <a:gd name="connsiteX15" fmla="*/ 2183093 w 2501089"/>
                <a:gd name="connsiteY15" fmla="*/ 310149 h 1972702"/>
                <a:gd name="connsiteX16" fmla="*/ 2280286 w 2501089"/>
                <a:gd name="connsiteY16" fmla="*/ 108435 h 19727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01089" h="1972702">
                  <a:moveTo>
                    <a:pt x="2318728" y="0"/>
                  </a:moveTo>
                  <a:lnTo>
                    <a:pt x="2501089" y="0"/>
                  </a:lnTo>
                  <a:lnTo>
                    <a:pt x="2453909" y="167837"/>
                  </a:lnTo>
                  <a:cubicBezTo>
                    <a:pt x="2427555" y="244153"/>
                    <a:pt x="2396627" y="319103"/>
                    <a:pt x="2361125" y="392084"/>
                  </a:cubicBezTo>
                  <a:cubicBezTo>
                    <a:pt x="2218453" y="684005"/>
                    <a:pt x="2011698" y="945211"/>
                    <a:pt x="1768255" y="1167644"/>
                  </a:cubicBezTo>
                  <a:cubicBezTo>
                    <a:pt x="1646250" y="1278860"/>
                    <a:pt x="1514385" y="1380316"/>
                    <a:pt x="1375125" y="1471474"/>
                  </a:cubicBezTo>
                  <a:cubicBezTo>
                    <a:pt x="1235677" y="1562542"/>
                    <a:pt x="1088928" y="1643672"/>
                    <a:pt x="935735" y="1712713"/>
                  </a:cubicBezTo>
                  <a:cubicBezTo>
                    <a:pt x="705659" y="1815533"/>
                    <a:pt x="462359" y="1892212"/>
                    <a:pt x="212353" y="1940294"/>
                  </a:cubicBezTo>
                  <a:lnTo>
                    <a:pt x="0" y="1972702"/>
                  </a:lnTo>
                  <a:lnTo>
                    <a:pt x="0" y="1732181"/>
                  </a:lnTo>
                  <a:lnTo>
                    <a:pt x="161195" y="1706590"/>
                  </a:lnTo>
                  <a:cubicBezTo>
                    <a:pt x="237638" y="1691378"/>
                    <a:pt x="313477" y="1673222"/>
                    <a:pt x="388463" y="1652268"/>
                  </a:cubicBezTo>
                  <a:cubicBezTo>
                    <a:pt x="538529" y="1610539"/>
                    <a:pt x="684898" y="1556543"/>
                    <a:pt x="826716" y="1493950"/>
                  </a:cubicBezTo>
                  <a:cubicBezTo>
                    <a:pt x="1111207" y="1370107"/>
                    <a:pt x="1376832" y="1205881"/>
                    <a:pt x="1609847" y="1007535"/>
                  </a:cubicBezTo>
                  <a:cubicBezTo>
                    <a:pt x="1725975" y="908049"/>
                    <a:pt x="1833571" y="799519"/>
                    <a:pt x="1929982" y="682930"/>
                  </a:cubicBezTo>
                  <a:cubicBezTo>
                    <a:pt x="2026581" y="566520"/>
                    <a:pt x="2111806" y="441692"/>
                    <a:pt x="2183093" y="310149"/>
                  </a:cubicBezTo>
                  <a:cubicBezTo>
                    <a:pt x="2218738" y="244422"/>
                    <a:pt x="2251396" y="177150"/>
                    <a:pt x="2280286" y="10843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800"/>
            </a:p>
          </p:txBody>
        </p:sp>
        <p:sp>
          <p:nvSpPr>
            <p:cNvPr id="26" name="Freeform: Shape 25">
              <a:extLst>
                <a:ext uri="{FF2B5EF4-FFF2-40B4-BE49-F238E27FC236}">
                  <a16:creationId xmlns:a16="http://schemas.microsoft.com/office/drawing/2014/main" id="{7D4B97FF-A861-1CDC-47FA-E6208D34974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2491105" cy="1943661"/>
            </a:xfrm>
            <a:custGeom>
              <a:avLst/>
              <a:gdLst>
                <a:gd name="connsiteX0" fmla="*/ 1995408 w 2491105"/>
                <a:gd name="connsiteY0" fmla="*/ 0 h 1943661"/>
                <a:gd name="connsiteX1" fmla="*/ 2491105 w 2491105"/>
                <a:gd name="connsiteY1" fmla="*/ 0 h 1943661"/>
                <a:gd name="connsiteX2" fmla="*/ 2434705 w 2491105"/>
                <a:gd name="connsiteY2" fmla="*/ 174009 h 1943661"/>
                <a:gd name="connsiteX3" fmla="*/ 92457 w 2491105"/>
                <a:gd name="connsiteY3" fmla="*/ 1931703 h 1943661"/>
                <a:gd name="connsiteX4" fmla="*/ 0 w 2491105"/>
                <a:gd name="connsiteY4" fmla="*/ 1943661 h 1943661"/>
                <a:gd name="connsiteX5" fmla="*/ 0 w 2491105"/>
                <a:gd name="connsiteY5" fmla="*/ 1491489 h 1943661"/>
                <a:gd name="connsiteX6" fmla="*/ 34107 w 2491105"/>
                <a:gd name="connsiteY6" fmla="*/ 1486836 h 1943661"/>
                <a:gd name="connsiteX7" fmla="*/ 497577 w 2491105"/>
                <a:gd name="connsiteY7" fmla="*/ 1360598 h 1943661"/>
                <a:gd name="connsiteX8" fmla="*/ 1321566 w 2491105"/>
                <a:gd name="connsiteY8" fmla="*/ 897645 h 1943661"/>
                <a:gd name="connsiteX9" fmla="*/ 1891495 w 2491105"/>
                <a:gd name="connsiteY9" fmla="*/ 230078 h 1943661"/>
                <a:gd name="connsiteX10" fmla="*/ 1961469 w 2491105"/>
                <a:gd name="connsiteY10" fmla="*/ 87885 h 1943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1105" h="1943661">
                  <a:moveTo>
                    <a:pt x="1995408" y="0"/>
                  </a:moveTo>
                  <a:lnTo>
                    <a:pt x="2491105" y="0"/>
                  </a:lnTo>
                  <a:lnTo>
                    <a:pt x="2434705" y="174009"/>
                  </a:lnTo>
                  <a:cubicBezTo>
                    <a:pt x="2087512" y="1067655"/>
                    <a:pt x="1129122" y="1753877"/>
                    <a:pt x="92457" y="1931703"/>
                  </a:cubicBezTo>
                  <a:lnTo>
                    <a:pt x="0" y="1943661"/>
                  </a:lnTo>
                  <a:lnTo>
                    <a:pt x="0" y="1491489"/>
                  </a:lnTo>
                  <a:lnTo>
                    <a:pt x="34107" y="1486836"/>
                  </a:lnTo>
                  <a:cubicBezTo>
                    <a:pt x="189055" y="1458696"/>
                    <a:pt x="343908" y="1416565"/>
                    <a:pt x="497577" y="1360598"/>
                  </a:cubicBezTo>
                  <a:cubicBezTo>
                    <a:pt x="796856" y="1251889"/>
                    <a:pt x="1081725" y="1091781"/>
                    <a:pt x="1321566" y="897645"/>
                  </a:cubicBezTo>
                  <a:cubicBezTo>
                    <a:pt x="1565577" y="700195"/>
                    <a:pt x="1757355" y="475523"/>
                    <a:pt x="1891495" y="230078"/>
                  </a:cubicBezTo>
                  <a:cubicBezTo>
                    <a:pt x="1917197" y="183033"/>
                    <a:pt x="1940526" y="135619"/>
                    <a:pt x="1961469" y="8788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grpSp>
        <p:nvGrpSpPr>
          <p:cNvPr id="28" name="Group 27">
            <a:extLst>
              <a:ext uri="{FF2B5EF4-FFF2-40B4-BE49-F238E27FC236}">
                <a16:creationId xmlns:a16="http://schemas.microsoft.com/office/drawing/2014/main" id="{052074F3-D889-5B0D-ACA3-BDC0B382B532}"/>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10800000">
            <a:off x="9417253" y="4456669"/>
            <a:ext cx="2783421" cy="2406445"/>
            <a:chOff x="-305" y="-4155"/>
            <a:chExt cx="2514948" cy="2174333"/>
          </a:xfrm>
        </p:grpSpPr>
        <p:sp>
          <p:nvSpPr>
            <p:cNvPr id="29" name="Freeform: Shape 28">
              <a:extLst>
                <a:ext uri="{FF2B5EF4-FFF2-40B4-BE49-F238E27FC236}">
                  <a16:creationId xmlns:a16="http://schemas.microsoft.com/office/drawing/2014/main" id="{F31148EF-0E78-9879-AE90-071E5EF8D8B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14948" cy="2170178"/>
            </a:xfrm>
            <a:custGeom>
              <a:avLst/>
              <a:gdLst>
                <a:gd name="connsiteX0" fmla="*/ 2466091 w 2514948"/>
                <a:gd name="connsiteY0" fmla="*/ 0 h 2170178"/>
                <a:gd name="connsiteX1" fmla="*/ 2514948 w 2514948"/>
                <a:gd name="connsiteY1" fmla="*/ 0 h 2170178"/>
                <a:gd name="connsiteX2" fmla="*/ 2512286 w 2514948"/>
                <a:gd name="connsiteY2" fmla="*/ 12375 h 2170178"/>
                <a:gd name="connsiteX3" fmla="*/ 2394961 w 2514948"/>
                <a:gd name="connsiteY3" fmla="*/ 368660 h 2170178"/>
                <a:gd name="connsiteX4" fmla="*/ 2289734 w 2514948"/>
                <a:gd name="connsiteY4" fmla="*/ 598078 h 2170178"/>
                <a:gd name="connsiteX5" fmla="*/ 2163747 w 2514948"/>
                <a:gd name="connsiteY5" fmla="*/ 819078 h 2170178"/>
                <a:gd name="connsiteX6" fmla="*/ 1852241 w 2514948"/>
                <a:gd name="connsiteY6" fmla="*/ 1228932 h 2170178"/>
                <a:gd name="connsiteX7" fmla="*/ 1668235 w 2514948"/>
                <a:gd name="connsiteY7" fmla="*/ 1413844 h 2170178"/>
                <a:gd name="connsiteX8" fmla="*/ 1619510 w 2514948"/>
                <a:gd name="connsiteY8" fmla="*/ 1457722 h 2170178"/>
                <a:gd name="connsiteX9" fmla="*/ 1569835 w 2514948"/>
                <a:gd name="connsiteY9" fmla="*/ 1500704 h 2170178"/>
                <a:gd name="connsiteX10" fmla="*/ 1467169 w 2514948"/>
                <a:gd name="connsiteY10" fmla="*/ 1583266 h 2170178"/>
                <a:gd name="connsiteX11" fmla="*/ 1018393 w 2514948"/>
                <a:gd name="connsiteY11" fmla="*/ 1867576 h 2170178"/>
                <a:gd name="connsiteX12" fmla="*/ 255857 w 2514948"/>
                <a:gd name="connsiteY12" fmla="*/ 2133049 h 2170178"/>
                <a:gd name="connsiteX13" fmla="*/ 0 w 2514948"/>
                <a:gd name="connsiteY13" fmla="*/ 2170178 h 2170178"/>
                <a:gd name="connsiteX14" fmla="*/ 0 w 2514948"/>
                <a:gd name="connsiteY14" fmla="*/ 1940056 h 2170178"/>
                <a:gd name="connsiteX15" fmla="*/ 201609 w 2514948"/>
                <a:gd name="connsiteY15" fmla="*/ 1902856 h 2170178"/>
                <a:gd name="connsiteX16" fmla="*/ 440974 w 2514948"/>
                <a:gd name="connsiteY16" fmla="*/ 1838472 h 2170178"/>
                <a:gd name="connsiteX17" fmla="*/ 674558 w 2514948"/>
                <a:gd name="connsiteY17" fmla="*/ 1756359 h 2170178"/>
                <a:gd name="connsiteX18" fmla="*/ 901222 w 2514948"/>
                <a:gd name="connsiteY18" fmla="*/ 1657142 h 2170178"/>
                <a:gd name="connsiteX19" fmla="*/ 1330943 w 2514948"/>
                <a:gd name="connsiteY19" fmla="*/ 1413396 h 2170178"/>
                <a:gd name="connsiteX20" fmla="*/ 1432566 w 2514948"/>
                <a:gd name="connsiteY20" fmla="*/ 1343193 h 2170178"/>
                <a:gd name="connsiteX21" fmla="*/ 1482527 w 2514948"/>
                <a:gd name="connsiteY21" fmla="*/ 1306926 h 2170178"/>
                <a:gd name="connsiteX22" fmla="*/ 1531821 w 2514948"/>
                <a:gd name="connsiteY22" fmla="*/ 1269765 h 2170178"/>
                <a:gd name="connsiteX23" fmla="*/ 1721986 w 2514948"/>
                <a:gd name="connsiteY23" fmla="*/ 1112073 h 2170178"/>
                <a:gd name="connsiteX24" fmla="*/ 2061460 w 2514948"/>
                <a:gd name="connsiteY24" fmla="*/ 754336 h 2170178"/>
                <a:gd name="connsiteX25" fmla="*/ 2206218 w 2514948"/>
                <a:gd name="connsiteY25" fmla="*/ 554827 h 2170178"/>
                <a:gd name="connsiteX26" fmla="*/ 2329455 w 2514948"/>
                <a:gd name="connsiteY26" fmla="*/ 341886 h 2170178"/>
                <a:gd name="connsiteX27" fmla="*/ 2356757 w 2514948"/>
                <a:gd name="connsiteY27" fmla="*/ 286815 h 2170178"/>
                <a:gd name="connsiteX28" fmla="*/ 2370030 w 2514948"/>
                <a:gd name="connsiteY28" fmla="*/ 259056 h 2170178"/>
                <a:gd name="connsiteX29" fmla="*/ 2382637 w 2514948"/>
                <a:gd name="connsiteY29" fmla="*/ 231028 h 2170178"/>
                <a:gd name="connsiteX30" fmla="*/ 2406716 w 2514948"/>
                <a:gd name="connsiteY30" fmla="*/ 174525 h 2170178"/>
                <a:gd name="connsiteX31" fmla="*/ 2429278 w 2514948"/>
                <a:gd name="connsiteY31" fmla="*/ 117393 h 2170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2514948" h="2170178">
                  <a:moveTo>
                    <a:pt x="2466091" y="0"/>
                  </a:moveTo>
                  <a:lnTo>
                    <a:pt x="2514948" y="0"/>
                  </a:lnTo>
                  <a:lnTo>
                    <a:pt x="2512286" y="12375"/>
                  </a:lnTo>
                  <a:cubicBezTo>
                    <a:pt x="2481760" y="133161"/>
                    <a:pt x="2442526" y="252239"/>
                    <a:pt x="2394961" y="368660"/>
                  </a:cubicBezTo>
                  <a:cubicBezTo>
                    <a:pt x="2363109" y="446208"/>
                    <a:pt x="2328603" y="523039"/>
                    <a:pt x="2289734" y="598078"/>
                  </a:cubicBezTo>
                  <a:cubicBezTo>
                    <a:pt x="2251436" y="673387"/>
                    <a:pt x="2209251" y="747083"/>
                    <a:pt x="2163747" y="819078"/>
                  </a:cubicBezTo>
                  <a:cubicBezTo>
                    <a:pt x="2072646" y="962979"/>
                    <a:pt x="1968652" y="1100611"/>
                    <a:pt x="1852241" y="1228932"/>
                  </a:cubicBezTo>
                  <a:cubicBezTo>
                    <a:pt x="1793748" y="1292868"/>
                    <a:pt x="1732698" y="1354923"/>
                    <a:pt x="1668235" y="1413844"/>
                  </a:cubicBezTo>
                  <a:cubicBezTo>
                    <a:pt x="1652214" y="1428709"/>
                    <a:pt x="1636100" y="1443395"/>
                    <a:pt x="1619510" y="1457722"/>
                  </a:cubicBezTo>
                  <a:cubicBezTo>
                    <a:pt x="1603015" y="1472140"/>
                    <a:pt x="1586805" y="1486825"/>
                    <a:pt x="1569835" y="1500704"/>
                  </a:cubicBezTo>
                  <a:cubicBezTo>
                    <a:pt x="1536276" y="1528911"/>
                    <a:pt x="1501865" y="1556223"/>
                    <a:pt x="1467169" y="1583266"/>
                  </a:cubicBezTo>
                  <a:cubicBezTo>
                    <a:pt x="1327719" y="1690722"/>
                    <a:pt x="1177085" y="1785910"/>
                    <a:pt x="1018393" y="1867576"/>
                  </a:cubicBezTo>
                  <a:cubicBezTo>
                    <a:pt x="780425" y="1990142"/>
                    <a:pt x="522567" y="2080875"/>
                    <a:pt x="255857" y="2133049"/>
                  </a:cubicBezTo>
                  <a:lnTo>
                    <a:pt x="0" y="2170178"/>
                  </a:lnTo>
                  <a:lnTo>
                    <a:pt x="0" y="1940056"/>
                  </a:lnTo>
                  <a:lnTo>
                    <a:pt x="201609" y="1902856"/>
                  </a:lnTo>
                  <a:cubicBezTo>
                    <a:pt x="282186" y="1884231"/>
                    <a:pt x="362102" y="1863008"/>
                    <a:pt x="440974" y="1838472"/>
                  </a:cubicBezTo>
                  <a:cubicBezTo>
                    <a:pt x="519848" y="1814027"/>
                    <a:pt x="597771" y="1786627"/>
                    <a:pt x="674558" y="1756359"/>
                  </a:cubicBezTo>
                  <a:cubicBezTo>
                    <a:pt x="751250" y="1726003"/>
                    <a:pt x="826900" y="1692870"/>
                    <a:pt x="901222" y="1657142"/>
                  </a:cubicBezTo>
                  <a:cubicBezTo>
                    <a:pt x="1049865" y="1585774"/>
                    <a:pt x="1193581" y="1504376"/>
                    <a:pt x="1330943" y="1413396"/>
                  </a:cubicBezTo>
                  <a:cubicBezTo>
                    <a:pt x="1365165" y="1390563"/>
                    <a:pt x="1399293" y="1367370"/>
                    <a:pt x="1432566" y="1343193"/>
                  </a:cubicBezTo>
                  <a:cubicBezTo>
                    <a:pt x="1449441" y="1331373"/>
                    <a:pt x="1465936" y="1319104"/>
                    <a:pt x="1482527" y="1306926"/>
                  </a:cubicBezTo>
                  <a:cubicBezTo>
                    <a:pt x="1499210" y="1294837"/>
                    <a:pt x="1515611" y="1282391"/>
                    <a:pt x="1531821" y="1269765"/>
                  </a:cubicBezTo>
                  <a:cubicBezTo>
                    <a:pt x="1596947" y="1219350"/>
                    <a:pt x="1660652" y="1167055"/>
                    <a:pt x="1721986" y="1112073"/>
                  </a:cubicBezTo>
                  <a:cubicBezTo>
                    <a:pt x="1844940" y="1002469"/>
                    <a:pt x="1958983" y="882926"/>
                    <a:pt x="2061460" y="754336"/>
                  </a:cubicBezTo>
                  <a:cubicBezTo>
                    <a:pt x="2112652" y="690042"/>
                    <a:pt x="2161094" y="623510"/>
                    <a:pt x="2206218" y="554827"/>
                  </a:cubicBezTo>
                  <a:cubicBezTo>
                    <a:pt x="2250583" y="485787"/>
                    <a:pt x="2292484" y="415046"/>
                    <a:pt x="2329455" y="341886"/>
                  </a:cubicBezTo>
                  <a:cubicBezTo>
                    <a:pt x="2339030" y="323709"/>
                    <a:pt x="2347941" y="305261"/>
                    <a:pt x="2356757" y="286815"/>
                  </a:cubicBezTo>
                  <a:lnTo>
                    <a:pt x="2370030" y="259056"/>
                  </a:lnTo>
                  <a:lnTo>
                    <a:pt x="2382637" y="231028"/>
                  </a:lnTo>
                  <a:cubicBezTo>
                    <a:pt x="2390885" y="212312"/>
                    <a:pt x="2399227" y="193598"/>
                    <a:pt x="2406716" y="174525"/>
                  </a:cubicBezTo>
                  <a:cubicBezTo>
                    <a:pt x="2414206" y="155452"/>
                    <a:pt x="2422453" y="136646"/>
                    <a:pt x="2429278" y="11739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Freeform: Shape 29">
              <a:extLst>
                <a:ext uri="{FF2B5EF4-FFF2-40B4-BE49-F238E27FC236}">
                  <a16:creationId xmlns:a16="http://schemas.microsoft.com/office/drawing/2014/main" id="{7454B015-E0C0-81ED-C7E1-1294EDD7DC5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4155"/>
              <a:ext cx="2493062" cy="1947896"/>
            </a:xfrm>
            <a:custGeom>
              <a:avLst/>
              <a:gdLst>
                <a:gd name="connsiteX0" fmla="*/ 1896911 w 2493062"/>
                <a:gd name="connsiteY0" fmla="*/ 0 h 1947896"/>
                <a:gd name="connsiteX1" fmla="*/ 2493062 w 2493062"/>
                <a:gd name="connsiteY1" fmla="*/ 0 h 1947896"/>
                <a:gd name="connsiteX2" fmla="*/ 2435315 w 2493062"/>
                <a:gd name="connsiteY2" fmla="*/ 178165 h 1947896"/>
                <a:gd name="connsiteX3" fmla="*/ 93066 w 2493062"/>
                <a:gd name="connsiteY3" fmla="*/ 1935859 h 1947896"/>
                <a:gd name="connsiteX4" fmla="*/ 0 w 2493062"/>
                <a:gd name="connsiteY4" fmla="*/ 1947896 h 1947896"/>
                <a:gd name="connsiteX5" fmla="*/ 0 w 2493062"/>
                <a:gd name="connsiteY5" fmla="*/ 1404756 h 1947896"/>
                <a:gd name="connsiteX6" fmla="*/ 17392 w 2493062"/>
                <a:gd name="connsiteY6" fmla="*/ 1402364 h 1947896"/>
                <a:gd name="connsiteX7" fmla="*/ 464249 w 2493062"/>
                <a:gd name="connsiteY7" fmla="*/ 1281208 h 1947896"/>
                <a:gd name="connsiteX8" fmla="*/ 1260556 w 2493062"/>
                <a:gd name="connsiteY8" fmla="*/ 833835 h 1947896"/>
                <a:gd name="connsiteX9" fmla="*/ 1807924 w 2493062"/>
                <a:gd name="connsiteY9" fmla="*/ 193222 h 1947896"/>
                <a:gd name="connsiteX10" fmla="*/ 1874357 w 2493062"/>
                <a:gd name="connsiteY10" fmla="*/ 58333 h 1947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3062" h="1947896">
                  <a:moveTo>
                    <a:pt x="1896911" y="0"/>
                  </a:moveTo>
                  <a:lnTo>
                    <a:pt x="2493062" y="0"/>
                  </a:lnTo>
                  <a:lnTo>
                    <a:pt x="2435315" y="178165"/>
                  </a:lnTo>
                  <a:cubicBezTo>
                    <a:pt x="2088122" y="1071812"/>
                    <a:pt x="1129732" y="1758033"/>
                    <a:pt x="93066" y="1935859"/>
                  </a:cubicBezTo>
                  <a:lnTo>
                    <a:pt x="0" y="1947896"/>
                  </a:lnTo>
                  <a:lnTo>
                    <a:pt x="0" y="1404756"/>
                  </a:lnTo>
                  <a:lnTo>
                    <a:pt x="17392" y="1402364"/>
                  </a:lnTo>
                  <a:cubicBezTo>
                    <a:pt x="167719" y="1375030"/>
                    <a:pt x="318070" y="1334398"/>
                    <a:pt x="464249" y="1281208"/>
                  </a:cubicBezTo>
                  <a:cubicBezTo>
                    <a:pt x="753480" y="1176081"/>
                    <a:pt x="1028869" y="1021346"/>
                    <a:pt x="1260556" y="833835"/>
                  </a:cubicBezTo>
                  <a:cubicBezTo>
                    <a:pt x="1491960" y="646594"/>
                    <a:pt x="1681177" y="425056"/>
                    <a:pt x="1807924" y="193222"/>
                  </a:cubicBezTo>
                  <a:cubicBezTo>
                    <a:pt x="1832328" y="148578"/>
                    <a:pt x="1854477" y="103599"/>
                    <a:pt x="1874357" y="58333"/>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Freeform: Shape 30">
              <a:extLst>
                <a:ext uri="{FF2B5EF4-FFF2-40B4-BE49-F238E27FC236}">
                  <a16:creationId xmlns:a16="http://schemas.microsoft.com/office/drawing/2014/main" id="{DFCF7AFB-90A8-6330-DE42-A13FEB44FE6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01089" cy="1972702"/>
            </a:xfrm>
            <a:custGeom>
              <a:avLst/>
              <a:gdLst>
                <a:gd name="connsiteX0" fmla="*/ 2318728 w 2501089"/>
                <a:gd name="connsiteY0" fmla="*/ 0 h 1972702"/>
                <a:gd name="connsiteX1" fmla="*/ 2501089 w 2501089"/>
                <a:gd name="connsiteY1" fmla="*/ 0 h 1972702"/>
                <a:gd name="connsiteX2" fmla="*/ 2453909 w 2501089"/>
                <a:gd name="connsiteY2" fmla="*/ 167837 h 1972702"/>
                <a:gd name="connsiteX3" fmla="*/ 2361125 w 2501089"/>
                <a:gd name="connsiteY3" fmla="*/ 392084 h 1972702"/>
                <a:gd name="connsiteX4" fmla="*/ 1768255 w 2501089"/>
                <a:gd name="connsiteY4" fmla="*/ 1167644 h 1972702"/>
                <a:gd name="connsiteX5" fmla="*/ 1375125 w 2501089"/>
                <a:gd name="connsiteY5" fmla="*/ 1471474 h 1972702"/>
                <a:gd name="connsiteX6" fmla="*/ 935735 w 2501089"/>
                <a:gd name="connsiteY6" fmla="*/ 1712713 h 1972702"/>
                <a:gd name="connsiteX7" fmla="*/ 212353 w 2501089"/>
                <a:gd name="connsiteY7" fmla="*/ 1940294 h 1972702"/>
                <a:gd name="connsiteX8" fmla="*/ 0 w 2501089"/>
                <a:gd name="connsiteY8" fmla="*/ 1972702 h 1972702"/>
                <a:gd name="connsiteX9" fmla="*/ 0 w 2501089"/>
                <a:gd name="connsiteY9" fmla="*/ 1732181 h 1972702"/>
                <a:gd name="connsiteX10" fmla="*/ 161195 w 2501089"/>
                <a:gd name="connsiteY10" fmla="*/ 1706590 h 1972702"/>
                <a:gd name="connsiteX11" fmla="*/ 388463 w 2501089"/>
                <a:gd name="connsiteY11" fmla="*/ 1652268 h 1972702"/>
                <a:gd name="connsiteX12" fmla="*/ 826716 w 2501089"/>
                <a:gd name="connsiteY12" fmla="*/ 1493950 h 1972702"/>
                <a:gd name="connsiteX13" fmla="*/ 1609847 w 2501089"/>
                <a:gd name="connsiteY13" fmla="*/ 1007535 h 1972702"/>
                <a:gd name="connsiteX14" fmla="*/ 1929982 w 2501089"/>
                <a:gd name="connsiteY14" fmla="*/ 682930 h 1972702"/>
                <a:gd name="connsiteX15" fmla="*/ 2183093 w 2501089"/>
                <a:gd name="connsiteY15" fmla="*/ 310149 h 1972702"/>
                <a:gd name="connsiteX16" fmla="*/ 2280286 w 2501089"/>
                <a:gd name="connsiteY16" fmla="*/ 108435 h 19727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01089" h="1972702">
                  <a:moveTo>
                    <a:pt x="2318728" y="0"/>
                  </a:moveTo>
                  <a:lnTo>
                    <a:pt x="2501089" y="0"/>
                  </a:lnTo>
                  <a:lnTo>
                    <a:pt x="2453909" y="167837"/>
                  </a:lnTo>
                  <a:cubicBezTo>
                    <a:pt x="2427555" y="244153"/>
                    <a:pt x="2396627" y="319103"/>
                    <a:pt x="2361125" y="392084"/>
                  </a:cubicBezTo>
                  <a:cubicBezTo>
                    <a:pt x="2218453" y="684005"/>
                    <a:pt x="2011698" y="945211"/>
                    <a:pt x="1768255" y="1167644"/>
                  </a:cubicBezTo>
                  <a:cubicBezTo>
                    <a:pt x="1646250" y="1278860"/>
                    <a:pt x="1514385" y="1380316"/>
                    <a:pt x="1375125" y="1471474"/>
                  </a:cubicBezTo>
                  <a:cubicBezTo>
                    <a:pt x="1235677" y="1562542"/>
                    <a:pt x="1088928" y="1643672"/>
                    <a:pt x="935735" y="1712713"/>
                  </a:cubicBezTo>
                  <a:cubicBezTo>
                    <a:pt x="705659" y="1815533"/>
                    <a:pt x="462359" y="1892212"/>
                    <a:pt x="212353" y="1940294"/>
                  </a:cubicBezTo>
                  <a:lnTo>
                    <a:pt x="0" y="1972702"/>
                  </a:lnTo>
                  <a:lnTo>
                    <a:pt x="0" y="1732181"/>
                  </a:lnTo>
                  <a:lnTo>
                    <a:pt x="161195" y="1706590"/>
                  </a:lnTo>
                  <a:cubicBezTo>
                    <a:pt x="237638" y="1691378"/>
                    <a:pt x="313477" y="1673222"/>
                    <a:pt x="388463" y="1652268"/>
                  </a:cubicBezTo>
                  <a:cubicBezTo>
                    <a:pt x="538529" y="1610539"/>
                    <a:pt x="684898" y="1556543"/>
                    <a:pt x="826716" y="1493950"/>
                  </a:cubicBezTo>
                  <a:cubicBezTo>
                    <a:pt x="1111207" y="1370107"/>
                    <a:pt x="1376832" y="1205881"/>
                    <a:pt x="1609847" y="1007535"/>
                  </a:cubicBezTo>
                  <a:cubicBezTo>
                    <a:pt x="1725975" y="908049"/>
                    <a:pt x="1833571" y="799519"/>
                    <a:pt x="1929982" y="682930"/>
                  </a:cubicBezTo>
                  <a:cubicBezTo>
                    <a:pt x="2026581" y="566520"/>
                    <a:pt x="2111806" y="441692"/>
                    <a:pt x="2183093" y="310149"/>
                  </a:cubicBezTo>
                  <a:cubicBezTo>
                    <a:pt x="2218738" y="244422"/>
                    <a:pt x="2251396" y="177150"/>
                    <a:pt x="2280286" y="10843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800"/>
            </a:p>
          </p:txBody>
        </p:sp>
        <p:sp>
          <p:nvSpPr>
            <p:cNvPr id="32" name="Freeform: Shape 31">
              <a:extLst>
                <a:ext uri="{FF2B5EF4-FFF2-40B4-BE49-F238E27FC236}">
                  <a16:creationId xmlns:a16="http://schemas.microsoft.com/office/drawing/2014/main" id="{E5D3ACE2-A9D6-A6EF-4942-940A1CC1E14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2491105" cy="1943661"/>
            </a:xfrm>
            <a:custGeom>
              <a:avLst/>
              <a:gdLst>
                <a:gd name="connsiteX0" fmla="*/ 1995408 w 2491105"/>
                <a:gd name="connsiteY0" fmla="*/ 0 h 1943661"/>
                <a:gd name="connsiteX1" fmla="*/ 2491105 w 2491105"/>
                <a:gd name="connsiteY1" fmla="*/ 0 h 1943661"/>
                <a:gd name="connsiteX2" fmla="*/ 2434705 w 2491105"/>
                <a:gd name="connsiteY2" fmla="*/ 174009 h 1943661"/>
                <a:gd name="connsiteX3" fmla="*/ 92457 w 2491105"/>
                <a:gd name="connsiteY3" fmla="*/ 1931703 h 1943661"/>
                <a:gd name="connsiteX4" fmla="*/ 0 w 2491105"/>
                <a:gd name="connsiteY4" fmla="*/ 1943661 h 1943661"/>
                <a:gd name="connsiteX5" fmla="*/ 0 w 2491105"/>
                <a:gd name="connsiteY5" fmla="*/ 1491489 h 1943661"/>
                <a:gd name="connsiteX6" fmla="*/ 34107 w 2491105"/>
                <a:gd name="connsiteY6" fmla="*/ 1486836 h 1943661"/>
                <a:gd name="connsiteX7" fmla="*/ 497577 w 2491105"/>
                <a:gd name="connsiteY7" fmla="*/ 1360598 h 1943661"/>
                <a:gd name="connsiteX8" fmla="*/ 1321566 w 2491105"/>
                <a:gd name="connsiteY8" fmla="*/ 897645 h 1943661"/>
                <a:gd name="connsiteX9" fmla="*/ 1891495 w 2491105"/>
                <a:gd name="connsiteY9" fmla="*/ 230078 h 1943661"/>
                <a:gd name="connsiteX10" fmla="*/ 1961469 w 2491105"/>
                <a:gd name="connsiteY10" fmla="*/ 87885 h 1943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1105" h="1943661">
                  <a:moveTo>
                    <a:pt x="1995408" y="0"/>
                  </a:moveTo>
                  <a:lnTo>
                    <a:pt x="2491105" y="0"/>
                  </a:lnTo>
                  <a:lnTo>
                    <a:pt x="2434705" y="174009"/>
                  </a:lnTo>
                  <a:cubicBezTo>
                    <a:pt x="2087512" y="1067655"/>
                    <a:pt x="1129122" y="1753877"/>
                    <a:pt x="92457" y="1931703"/>
                  </a:cubicBezTo>
                  <a:lnTo>
                    <a:pt x="0" y="1943661"/>
                  </a:lnTo>
                  <a:lnTo>
                    <a:pt x="0" y="1491489"/>
                  </a:lnTo>
                  <a:lnTo>
                    <a:pt x="34107" y="1486836"/>
                  </a:lnTo>
                  <a:cubicBezTo>
                    <a:pt x="189055" y="1458696"/>
                    <a:pt x="343908" y="1416565"/>
                    <a:pt x="497577" y="1360598"/>
                  </a:cubicBezTo>
                  <a:cubicBezTo>
                    <a:pt x="796856" y="1251889"/>
                    <a:pt x="1081725" y="1091781"/>
                    <a:pt x="1321566" y="897645"/>
                  </a:cubicBezTo>
                  <a:cubicBezTo>
                    <a:pt x="1565577" y="700195"/>
                    <a:pt x="1757355" y="475523"/>
                    <a:pt x="1891495" y="230078"/>
                  </a:cubicBezTo>
                  <a:cubicBezTo>
                    <a:pt x="1917197" y="183033"/>
                    <a:pt x="1940526" y="135619"/>
                    <a:pt x="1961469" y="87885"/>
                  </a:cubicBezTo>
                  <a:close/>
                </a:path>
              </a:pathLst>
            </a:custGeom>
            <a:gradFill>
              <a:gsLst>
                <a:gs pos="2000">
                  <a:schemeClr val="bg1">
                    <a:alpha val="10000"/>
                  </a:schemeClr>
                </a:gs>
                <a:gs pos="16000">
                  <a:schemeClr val="accent6">
                    <a:alpha val="10000"/>
                  </a:schemeClr>
                </a:gs>
                <a:gs pos="100000">
                  <a:schemeClr val="bg1">
                    <a:alpha val="10000"/>
                  </a:schemeClr>
                </a:gs>
                <a:gs pos="85000">
                  <a:schemeClr val="accent1">
                    <a:alpha val="10000"/>
                  </a:schemeClr>
                </a:gs>
              </a:gsLst>
              <a:lin ang="12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Tree>
    <p:extLst>
      <p:ext uri="{BB962C8B-B14F-4D97-AF65-F5344CB8AC3E}">
        <p14:creationId xmlns:p14="http://schemas.microsoft.com/office/powerpoint/2010/main" val="69156067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4720C8-ABA1-35DB-5593-DAE69D688CA2}"/>
              </a:ext>
            </a:extLst>
          </p:cNvPr>
          <p:cNvSpPr>
            <a:spLocks noGrp="1"/>
          </p:cNvSpPr>
          <p:nvPr>
            <p:ph type="title"/>
          </p:nvPr>
        </p:nvSpPr>
        <p:spPr/>
        <p:txBody>
          <a:bodyPr/>
          <a:lstStyle/>
          <a:p>
            <a:r>
              <a:rPr lang="en-DK" dirty="0"/>
              <a:t>Microbiome data</a:t>
            </a:r>
          </a:p>
        </p:txBody>
      </p:sp>
      <p:sp>
        <p:nvSpPr>
          <p:cNvPr id="3" name="Content Placeholder 2">
            <a:extLst>
              <a:ext uri="{FF2B5EF4-FFF2-40B4-BE49-F238E27FC236}">
                <a16:creationId xmlns:a16="http://schemas.microsoft.com/office/drawing/2014/main" id="{F3039B2E-6A88-E4A3-7C7E-6379278F32AB}"/>
              </a:ext>
            </a:extLst>
          </p:cNvPr>
          <p:cNvSpPr>
            <a:spLocks noGrp="1"/>
          </p:cNvSpPr>
          <p:nvPr>
            <p:ph idx="1"/>
          </p:nvPr>
        </p:nvSpPr>
        <p:spPr>
          <a:xfrm>
            <a:off x="838200" y="2477236"/>
            <a:ext cx="2618946" cy="1903527"/>
          </a:xfrm>
        </p:spPr>
        <p:txBody>
          <a:bodyPr>
            <a:normAutofit lnSpcReduction="10000"/>
          </a:bodyPr>
          <a:lstStyle/>
          <a:p>
            <a:r>
              <a:rPr lang="en-DK" sz="1800" b="1" dirty="0"/>
              <a:t>Sparsity</a:t>
            </a:r>
          </a:p>
          <a:p>
            <a:r>
              <a:rPr lang="en-DK" sz="1800" b="1" dirty="0"/>
              <a:t>Dinamic range</a:t>
            </a:r>
          </a:p>
          <a:p>
            <a:r>
              <a:rPr lang="en-DK" sz="1800" dirty="0"/>
              <a:t>Usually expressed as Relative, not Absolute abundance</a:t>
            </a:r>
          </a:p>
          <a:p>
            <a:r>
              <a:rPr lang="en-DK" sz="1800" dirty="0"/>
              <a:t>Compositional data</a:t>
            </a:r>
          </a:p>
        </p:txBody>
      </p:sp>
      <p:graphicFrame>
        <p:nvGraphicFramePr>
          <p:cNvPr id="4" name="Table 3">
            <a:extLst>
              <a:ext uri="{FF2B5EF4-FFF2-40B4-BE49-F238E27FC236}">
                <a16:creationId xmlns:a16="http://schemas.microsoft.com/office/drawing/2014/main" id="{954EBB14-E739-E73E-B8D3-6CB23616F2E0}"/>
              </a:ext>
            </a:extLst>
          </p:cNvPr>
          <p:cNvGraphicFramePr>
            <a:graphicFrameLocks noGrp="1"/>
          </p:cNvGraphicFramePr>
          <p:nvPr>
            <p:extLst>
              <p:ext uri="{D42A27DB-BD31-4B8C-83A1-F6EECF244321}">
                <p14:modId xmlns:p14="http://schemas.microsoft.com/office/powerpoint/2010/main" val="788426687"/>
              </p:ext>
            </p:extLst>
          </p:nvPr>
        </p:nvGraphicFramePr>
        <p:xfrm>
          <a:off x="5444836" y="1945640"/>
          <a:ext cx="5676804" cy="3337560"/>
        </p:xfrm>
        <a:graphic>
          <a:graphicData uri="http://schemas.openxmlformats.org/drawingml/2006/table">
            <a:tbl>
              <a:tblPr firstRow="1" bandRow="1">
                <a:tableStyleId>{5940675A-B579-460E-94D1-54222C63F5DA}</a:tableStyleId>
              </a:tblPr>
              <a:tblGrid>
                <a:gridCol w="630756">
                  <a:extLst>
                    <a:ext uri="{9D8B030D-6E8A-4147-A177-3AD203B41FA5}">
                      <a16:colId xmlns:a16="http://schemas.microsoft.com/office/drawing/2014/main" val="1596159346"/>
                    </a:ext>
                  </a:extLst>
                </a:gridCol>
                <a:gridCol w="630756">
                  <a:extLst>
                    <a:ext uri="{9D8B030D-6E8A-4147-A177-3AD203B41FA5}">
                      <a16:colId xmlns:a16="http://schemas.microsoft.com/office/drawing/2014/main" val="4174716008"/>
                    </a:ext>
                  </a:extLst>
                </a:gridCol>
                <a:gridCol w="630756">
                  <a:extLst>
                    <a:ext uri="{9D8B030D-6E8A-4147-A177-3AD203B41FA5}">
                      <a16:colId xmlns:a16="http://schemas.microsoft.com/office/drawing/2014/main" val="2103857479"/>
                    </a:ext>
                  </a:extLst>
                </a:gridCol>
                <a:gridCol w="630756">
                  <a:extLst>
                    <a:ext uri="{9D8B030D-6E8A-4147-A177-3AD203B41FA5}">
                      <a16:colId xmlns:a16="http://schemas.microsoft.com/office/drawing/2014/main" val="1959333594"/>
                    </a:ext>
                  </a:extLst>
                </a:gridCol>
                <a:gridCol w="630756">
                  <a:extLst>
                    <a:ext uri="{9D8B030D-6E8A-4147-A177-3AD203B41FA5}">
                      <a16:colId xmlns:a16="http://schemas.microsoft.com/office/drawing/2014/main" val="3677141101"/>
                    </a:ext>
                  </a:extLst>
                </a:gridCol>
                <a:gridCol w="630756">
                  <a:extLst>
                    <a:ext uri="{9D8B030D-6E8A-4147-A177-3AD203B41FA5}">
                      <a16:colId xmlns:a16="http://schemas.microsoft.com/office/drawing/2014/main" val="591815414"/>
                    </a:ext>
                  </a:extLst>
                </a:gridCol>
                <a:gridCol w="630756">
                  <a:extLst>
                    <a:ext uri="{9D8B030D-6E8A-4147-A177-3AD203B41FA5}">
                      <a16:colId xmlns:a16="http://schemas.microsoft.com/office/drawing/2014/main" val="1544382731"/>
                    </a:ext>
                  </a:extLst>
                </a:gridCol>
                <a:gridCol w="630756">
                  <a:extLst>
                    <a:ext uri="{9D8B030D-6E8A-4147-A177-3AD203B41FA5}">
                      <a16:colId xmlns:a16="http://schemas.microsoft.com/office/drawing/2014/main" val="223596215"/>
                    </a:ext>
                  </a:extLst>
                </a:gridCol>
                <a:gridCol w="630756">
                  <a:extLst>
                    <a:ext uri="{9D8B030D-6E8A-4147-A177-3AD203B41FA5}">
                      <a16:colId xmlns:a16="http://schemas.microsoft.com/office/drawing/2014/main" val="567921591"/>
                    </a:ext>
                  </a:extLst>
                </a:gridCol>
              </a:tblGrid>
              <a:tr h="370840">
                <a:tc>
                  <a:txBody>
                    <a:bodyPr/>
                    <a:lstStyle/>
                    <a:p>
                      <a:r>
                        <a:rPr lang="en-DK" dirty="0"/>
                        <a:t>1</a:t>
                      </a:r>
                    </a:p>
                  </a:txBody>
                  <a:tcPr>
                    <a:solidFill>
                      <a:srgbClr val="FF0000"/>
                    </a:solidFill>
                  </a:tcPr>
                </a:tc>
                <a:tc>
                  <a:txBody>
                    <a:bodyPr/>
                    <a:lstStyle/>
                    <a:p>
                      <a:r>
                        <a:rPr lang="en-DK" dirty="0"/>
                        <a:t>2</a:t>
                      </a:r>
                    </a:p>
                  </a:txBody>
                  <a:tcPr>
                    <a:solidFill>
                      <a:schemeClr val="tx2">
                        <a:lumMod val="75000"/>
                        <a:lumOff val="25000"/>
                      </a:schemeClr>
                    </a:solidFill>
                  </a:tcPr>
                </a:tc>
                <a:tc>
                  <a:txBody>
                    <a:bodyPr/>
                    <a:lstStyle/>
                    <a:p>
                      <a:r>
                        <a:rPr lang="en-DK" dirty="0"/>
                        <a:t>3</a:t>
                      </a:r>
                    </a:p>
                  </a:txBody>
                  <a:tcPr>
                    <a:solidFill>
                      <a:schemeClr val="accent3"/>
                    </a:solidFill>
                  </a:tcPr>
                </a:tc>
                <a:tc>
                  <a:txBody>
                    <a:bodyPr/>
                    <a:lstStyle/>
                    <a:p>
                      <a:r>
                        <a:rPr lang="en-DK" dirty="0"/>
                        <a:t>1</a:t>
                      </a:r>
                    </a:p>
                  </a:txBody>
                  <a:tcPr>
                    <a:solidFill>
                      <a:srgbClr val="FF0000"/>
                    </a:solidFill>
                  </a:tcPr>
                </a:tc>
                <a:tc>
                  <a:txBody>
                    <a:bodyPr/>
                    <a:lstStyle/>
                    <a:p>
                      <a:r>
                        <a:rPr lang="en-DK" dirty="0"/>
                        <a:t>2</a:t>
                      </a:r>
                    </a:p>
                  </a:txBody>
                  <a:tcPr>
                    <a:solidFill>
                      <a:schemeClr val="tx2">
                        <a:lumMod val="75000"/>
                        <a:lumOff val="25000"/>
                      </a:schemeClr>
                    </a:solidFill>
                  </a:tcPr>
                </a:tc>
                <a:tc>
                  <a:txBody>
                    <a:bodyPr/>
                    <a:lstStyle/>
                    <a:p>
                      <a:r>
                        <a:rPr lang="en-DK" dirty="0"/>
                        <a:t>3</a:t>
                      </a:r>
                    </a:p>
                  </a:txBody>
                  <a:tcPr>
                    <a:solidFill>
                      <a:schemeClr val="accent3"/>
                    </a:solidFill>
                  </a:tcPr>
                </a:tc>
                <a:tc>
                  <a:txBody>
                    <a:bodyPr/>
                    <a:lstStyle/>
                    <a:p>
                      <a:r>
                        <a:rPr lang="en-DK" dirty="0"/>
                        <a:t>1</a:t>
                      </a:r>
                    </a:p>
                  </a:txBody>
                  <a:tcPr>
                    <a:solidFill>
                      <a:srgbClr val="FF0000"/>
                    </a:solidFill>
                  </a:tcPr>
                </a:tc>
                <a:tc>
                  <a:txBody>
                    <a:bodyPr/>
                    <a:lstStyle/>
                    <a:p>
                      <a:r>
                        <a:rPr lang="en-DK" dirty="0"/>
                        <a:t>2</a:t>
                      </a:r>
                    </a:p>
                  </a:txBody>
                  <a:tcPr>
                    <a:solidFill>
                      <a:schemeClr val="tx2">
                        <a:lumMod val="75000"/>
                        <a:lumOff val="25000"/>
                      </a:schemeClr>
                    </a:solidFill>
                  </a:tcPr>
                </a:tc>
                <a:tc>
                  <a:txBody>
                    <a:bodyPr/>
                    <a:lstStyle/>
                    <a:p>
                      <a:r>
                        <a:rPr lang="en-DK" dirty="0"/>
                        <a:t>3</a:t>
                      </a:r>
                    </a:p>
                  </a:txBody>
                  <a:tcPr>
                    <a:solidFill>
                      <a:schemeClr val="accent3"/>
                    </a:solidFill>
                  </a:tcPr>
                </a:tc>
                <a:extLst>
                  <a:ext uri="{0D108BD9-81ED-4DB2-BD59-A6C34878D82A}">
                    <a16:rowId xmlns:a16="http://schemas.microsoft.com/office/drawing/2014/main" val="3576899500"/>
                  </a:ext>
                </a:extLst>
              </a:tr>
              <a:tr h="370840">
                <a:tc>
                  <a:txBody>
                    <a:bodyPr/>
                    <a:lstStyle/>
                    <a:p>
                      <a:r>
                        <a:rPr lang="en-DK" dirty="0"/>
                        <a:t>X</a:t>
                      </a:r>
                    </a:p>
                  </a:txBody>
                  <a:tcPr>
                    <a:solidFill>
                      <a:srgbClr val="FFC000"/>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DK" dirty="0"/>
                        <a:t>X</a:t>
                      </a:r>
                    </a:p>
                  </a:txBody>
                  <a:tcPr>
                    <a:solidFill>
                      <a:srgbClr val="FFC000"/>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DK" dirty="0"/>
                        <a:t>X</a:t>
                      </a:r>
                    </a:p>
                  </a:txBody>
                  <a:tcPr>
                    <a:solidFill>
                      <a:srgbClr val="FFC000"/>
                    </a:solidFill>
                  </a:tcPr>
                </a:tc>
                <a:tc>
                  <a:txBody>
                    <a:bodyPr/>
                    <a:lstStyle/>
                    <a:p>
                      <a:r>
                        <a:rPr lang="en-DK" dirty="0"/>
                        <a:t>Y</a:t>
                      </a:r>
                    </a:p>
                  </a:txBody>
                  <a:tcPr>
                    <a:solidFill>
                      <a:schemeClr val="accent2"/>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DK" dirty="0"/>
                        <a:t>Y</a:t>
                      </a:r>
                    </a:p>
                  </a:txBody>
                  <a:tcPr>
                    <a:solidFill>
                      <a:schemeClr val="accent2"/>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DK" dirty="0"/>
                        <a:t>Y</a:t>
                      </a:r>
                    </a:p>
                  </a:txBody>
                  <a:tcPr>
                    <a:solidFill>
                      <a:schemeClr val="accent2"/>
                    </a:solidFill>
                  </a:tcPr>
                </a:tc>
                <a:tc>
                  <a:txBody>
                    <a:bodyPr/>
                    <a:lstStyle/>
                    <a:p>
                      <a:r>
                        <a:rPr lang="en-DK" dirty="0"/>
                        <a:t>Z</a:t>
                      </a:r>
                    </a:p>
                  </a:txBody>
                  <a:tcPr>
                    <a:solidFill>
                      <a:schemeClr val="accent2">
                        <a:lumMod val="75000"/>
                      </a:schemeClr>
                    </a:solidFill>
                  </a:tcPr>
                </a:tc>
                <a:tc>
                  <a:txBody>
                    <a:bodyPr/>
                    <a:lstStyle/>
                    <a:p>
                      <a:r>
                        <a:rPr lang="en-DK" dirty="0"/>
                        <a:t>Z</a:t>
                      </a:r>
                    </a:p>
                  </a:txBody>
                  <a:tcPr>
                    <a:solidFill>
                      <a:schemeClr val="accent2">
                        <a:lumMod val="75000"/>
                      </a:schemeClr>
                    </a:solidFill>
                  </a:tcPr>
                </a:tc>
                <a:tc>
                  <a:txBody>
                    <a:bodyPr/>
                    <a:lstStyle/>
                    <a:p>
                      <a:r>
                        <a:rPr lang="en-DK" dirty="0"/>
                        <a:t>Z</a:t>
                      </a:r>
                    </a:p>
                  </a:txBody>
                  <a:tcPr>
                    <a:solidFill>
                      <a:schemeClr val="accent2">
                        <a:lumMod val="75000"/>
                      </a:schemeClr>
                    </a:solidFill>
                  </a:tcPr>
                </a:tc>
                <a:extLst>
                  <a:ext uri="{0D108BD9-81ED-4DB2-BD59-A6C34878D82A}">
                    <a16:rowId xmlns:a16="http://schemas.microsoft.com/office/drawing/2014/main" val="4183628834"/>
                  </a:ext>
                </a:extLst>
              </a:tr>
              <a:tr h="370840">
                <a:tc>
                  <a:txBody>
                    <a:bodyPr/>
                    <a:lstStyle/>
                    <a:p>
                      <a:r>
                        <a:rPr lang="en-DK" dirty="0"/>
                        <a:t>10</a:t>
                      </a:r>
                    </a:p>
                  </a:txBody>
                  <a:tcPr/>
                </a:tc>
                <a:tc>
                  <a:txBody>
                    <a:bodyPr/>
                    <a:lstStyle/>
                    <a:p>
                      <a:r>
                        <a:rPr lang="en-DK" dirty="0"/>
                        <a:t>11</a:t>
                      </a:r>
                    </a:p>
                  </a:txBody>
                  <a:tcPr/>
                </a:tc>
                <a:tc>
                  <a:txBody>
                    <a:bodyPr/>
                    <a:lstStyle/>
                    <a:p>
                      <a:r>
                        <a:rPr lang="en-DK" dirty="0"/>
                        <a:t>20</a:t>
                      </a:r>
                    </a:p>
                  </a:txBody>
                  <a:tcPr/>
                </a:tc>
                <a:tc>
                  <a:txBody>
                    <a:bodyPr/>
                    <a:lstStyle/>
                    <a:p>
                      <a:r>
                        <a:rPr lang="en-DK" dirty="0"/>
                        <a:t>12</a:t>
                      </a:r>
                    </a:p>
                  </a:txBody>
                  <a:tcPr/>
                </a:tc>
                <a:tc>
                  <a:txBody>
                    <a:bodyPr/>
                    <a:lstStyle/>
                    <a:p>
                      <a:r>
                        <a:rPr lang="en-DK" dirty="0"/>
                        <a:t>14</a:t>
                      </a:r>
                    </a:p>
                  </a:txBody>
                  <a:tcPr/>
                </a:tc>
                <a:tc>
                  <a:txBody>
                    <a:bodyPr/>
                    <a:lstStyle/>
                    <a:p>
                      <a:r>
                        <a:rPr lang="en-DK" dirty="0"/>
                        <a:t>16</a:t>
                      </a:r>
                    </a:p>
                  </a:txBody>
                  <a:tcPr/>
                </a:tc>
                <a:tc>
                  <a:txBody>
                    <a:bodyPr/>
                    <a:lstStyle/>
                    <a:p>
                      <a:r>
                        <a:rPr lang="en-DK" dirty="0"/>
                        <a:t>25</a:t>
                      </a:r>
                    </a:p>
                  </a:txBody>
                  <a:tcPr/>
                </a:tc>
                <a:tc>
                  <a:txBody>
                    <a:bodyPr/>
                    <a:lstStyle/>
                    <a:p>
                      <a:r>
                        <a:rPr lang="en-DK" dirty="0"/>
                        <a:t>34</a:t>
                      </a:r>
                    </a:p>
                  </a:txBody>
                  <a:tcPr/>
                </a:tc>
                <a:tc>
                  <a:txBody>
                    <a:bodyPr/>
                    <a:lstStyle/>
                    <a:p>
                      <a:r>
                        <a:rPr lang="en-DK" dirty="0"/>
                        <a:t>22</a:t>
                      </a:r>
                    </a:p>
                  </a:txBody>
                  <a:tcPr/>
                </a:tc>
                <a:extLst>
                  <a:ext uri="{0D108BD9-81ED-4DB2-BD59-A6C34878D82A}">
                    <a16:rowId xmlns:a16="http://schemas.microsoft.com/office/drawing/2014/main" val="250882849"/>
                  </a:ext>
                </a:extLst>
              </a:tr>
              <a:tr h="370840">
                <a:tc>
                  <a:txBody>
                    <a:bodyPr/>
                    <a:lstStyle/>
                    <a:p>
                      <a:r>
                        <a:rPr lang="en-DK" dirty="0"/>
                        <a:t>70</a:t>
                      </a:r>
                    </a:p>
                  </a:txBody>
                  <a:tcPr/>
                </a:tc>
                <a:tc>
                  <a:txBody>
                    <a:bodyPr/>
                    <a:lstStyle/>
                    <a:p>
                      <a:r>
                        <a:rPr lang="en-DK" dirty="0"/>
                        <a:t>49</a:t>
                      </a:r>
                    </a:p>
                  </a:txBody>
                  <a:tcPr/>
                </a:tc>
                <a:tc>
                  <a:txBody>
                    <a:bodyPr/>
                    <a:lstStyle/>
                    <a:p>
                      <a:r>
                        <a:rPr lang="en-DK" dirty="0"/>
                        <a:t>56</a:t>
                      </a:r>
                    </a:p>
                  </a:txBody>
                  <a:tcPr/>
                </a:tc>
                <a:tc>
                  <a:txBody>
                    <a:bodyPr/>
                    <a:lstStyle/>
                    <a:p>
                      <a:r>
                        <a:rPr lang="en-DK" dirty="0"/>
                        <a:t>0.9</a:t>
                      </a:r>
                    </a:p>
                  </a:txBody>
                  <a:tcPr/>
                </a:tc>
                <a:tc>
                  <a:txBody>
                    <a:bodyPr/>
                    <a:lstStyle/>
                    <a:p>
                      <a:r>
                        <a:rPr lang="en-DK" dirty="0"/>
                        <a:t>0.5</a:t>
                      </a:r>
                    </a:p>
                  </a:txBody>
                  <a:tcPr/>
                </a:tc>
                <a:tc>
                  <a:txBody>
                    <a:bodyPr/>
                    <a:lstStyle/>
                    <a:p>
                      <a:r>
                        <a:rPr lang="en-DK" dirty="0"/>
                        <a:t>0</a:t>
                      </a:r>
                    </a:p>
                  </a:txBody>
                  <a:tcPr/>
                </a:tc>
                <a:tc>
                  <a:txBody>
                    <a:bodyPr/>
                    <a:lstStyle/>
                    <a:p>
                      <a:r>
                        <a:rPr lang="en-DK" dirty="0"/>
                        <a:t>0</a:t>
                      </a:r>
                    </a:p>
                  </a:txBody>
                  <a:tcPr/>
                </a:tc>
                <a:tc>
                  <a:txBody>
                    <a:bodyPr/>
                    <a:lstStyle/>
                    <a:p>
                      <a:r>
                        <a:rPr lang="en-DK" dirty="0"/>
                        <a:t>0.1</a:t>
                      </a:r>
                    </a:p>
                  </a:txBody>
                  <a:tcPr/>
                </a:tc>
                <a:tc>
                  <a:txBody>
                    <a:bodyPr/>
                    <a:lstStyle/>
                    <a:p>
                      <a:r>
                        <a:rPr lang="en-DK" dirty="0"/>
                        <a:t>0</a:t>
                      </a:r>
                    </a:p>
                  </a:txBody>
                  <a:tcPr/>
                </a:tc>
                <a:extLst>
                  <a:ext uri="{0D108BD9-81ED-4DB2-BD59-A6C34878D82A}">
                    <a16:rowId xmlns:a16="http://schemas.microsoft.com/office/drawing/2014/main" val="920454737"/>
                  </a:ext>
                </a:extLst>
              </a:tr>
              <a:tr h="370840">
                <a:tc>
                  <a:txBody>
                    <a:bodyPr/>
                    <a:lstStyle/>
                    <a:p>
                      <a:r>
                        <a:rPr lang="en-DK" dirty="0"/>
                        <a:t>0</a:t>
                      </a:r>
                    </a:p>
                  </a:txBody>
                  <a:tcPr/>
                </a:tc>
                <a:tc>
                  <a:txBody>
                    <a:bodyPr/>
                    <a:lstStyle/>
                    <a:p>
                      <a:r>
                        <a:rPr lang="en-DK" dirty="0"/>
                        <a:t>0</a:t>
                      </a:r>
                    </a:p>
                  </a:txBody>
                  <a:tcPr/>
                </a:tc>
                <a:tc>
                  <a:txBody>
                    <a:bodyPr/>
                    <a:lstStyle/>
                    <a:p>
                      <a:r>
                        <a:rPr lang="en-DK" dirty="0"/>
                        <a:t>0</a:t>
                      </a:r>
                    </a:p>
                  </a:txBody>
                  <a:tcPr/>
                </a:tc>
                <a:tc>
                  <a:txBody>
                    <a:bodyPr/>
                    <a:lstStyle/>
                    <a:p>
                      <a:r>
                        <a:rPr lang="en-DK" dirty="0"/>
                        <a:t>0.4</a:t>
                      </a:r>
                    </a:p>
                  </a:txBody>
                  <a:tcPr/>
                </a:tc>
                <a:tc>
                  <a:txBody>
                    <a:bodyPr/>
                    <a:lstStyle/>
                    <a:p>
                      <a:r>
                        <a:rPr lang="en-DK" dirty="0"/>
                        <a:t>0.1</a:t>
                      </a:r>
                    </a:p>
                  </a:txBody>
                  <a:tcPr/>
                </a:tc>
                <a:tc>
                  <a:txBody>
                    <a:bodyPr/>
                    <a:lstStyle/>
                    <a:p>
                      <a:r>
                        <a:rPr lang="en-DK" dirty="0"/>
                        <a:t>0</a:t>
                      </a:r>
                    </a:p>
                  </a:txBody>
                  <a:tcPr/>
                </a:tc>
                <a:tc>
                  <a:txBody>
                    <a:bodyPr/>
                    <a:lstStyle/>
                    <a:p>
                      <a:r>
                        <a:rPr lang="en-DK" dirty="0"/>
                        <a:t>0</a:t>
                      </a:r>
                    </a:p>
                  </a:txBody>
                  <a:tcPr/>
                </a:tc>
                <a:tc>
                  <a:txBody>
                    <a:bodyPr/>
                    <a:lstStyle/>
                    <a:p>
                      <a:r>
                        <a:rPr lang="en-DK" dirty="0"/>
                        <a:t>0</a:t>
                      </a:r>
                    </a:p>
                  </a:txBody>
                  <a:tcPr/>
                </a:tc>
                <a:tc>
                  <a:txBody>
                    <a:bodyPr/>
                    <a:lstStyle/>
                    <a:p>
                      <a:r>
                        <a:rPr lang="en-DK" dirty="0"/>
                        <a:t>0</a:t>
                      </a:r>
                    </a:p>
                  </a:txBody>
                  <a:tcPr/>
                </a:tc>
                <a:extLst>
                  <a:ext uri="{0D108BD9-81ED-4DB2-BD59-A6C34878D82A}">
                    <a16:rowId xmlns:a16="http://schemas.microsoft.com/office/drawing/2014/main" val="2105741713"/>
                  </a:ext>
                </a:extLst>
              </a:tr>
              <a:tr h="370840">
                <a:tc>
                  <a:txBody>
                    <a:bodyPr/>
                    <a:lstStyle/>
                    <a:p>
                      <a:r>
                        <a:rPr lang="en-DK" dirty="0"/>
                        <a:t>0.3</a:t>
                      </a:r>
                    </a:p>
                  </a:txBody>
                  <a:tcPr/>
                </a:tc>
                <a:tc>
                  <a:txBody>
                    <a:bodyPr/>
                    <a:lstStyle/>
                    <a:p>
                      <a:r>
                        <a:rPr lang="en-DK" dirty="0"/>
                        <a:t>0.4</a:t>
                      </a:r>
                    </a:p>
                  </a:txBody>
                  <a:tcPr/>
                </a:tc>
                <a:tc>
                  <a:txBody>
                    <a:bodyPr/>
                    <a:lstStyle/>
                    <a:p>
                      <a:r>
                        <a:rPr lang="en-DK" dirty="0"/>
                        <a:t>0.45</a:t>
                      </a:r>
                    </a:p>
                  </a:txBody>
                  <a:tcPr/>
                </a:tc>
                <a:tc>
                  <a:txBody>
                    <a:bodyPr/>
                    <a:lstStyle/>
                    <a:p>
                      <a:r>
                        <a:rPr lang="en-DK" dirty="0"/>
                        <a:t>0</a:t>
                      </a:r>
                    </a:p>
                  </a:txBody>
                  <a:tcPr/>
                </a:tc>
                <a:tc>
                  <a:txBody>
                    <a:bodyPr/>
                    <a:lstStyle/>
                    <a:p>
                      <a:r>
                        <a:rPr lang="en-DK" dirty="0"/>
                        <a:t>0.1</a:t>
                      </a:r>
                    </a:p>
                  </a:txBody>
                  <a:tcPr/>
                </a:tc>
                <a:tc>
                  <a:txBody>
                    <a:bodyPr/>
                    <a:lstStyle/>
                    <a:p>
                      <a:r>
                        <a:rPr lang="en-DK" dirty="0"/>
                        <a:t>1</a:t>
                      </a:r>
                    </a:p>
                  </a:txBody>
                  <a:tcPr/>
                </a:tc>
                <a:tc>
                  <a:txBody>
                    <a:bodyPr/>
                    <a:lstStyle/>
                    <a:p>
                      <a:r>
                        <a:rPr lang="en-DK" dirty="0"/>
                        <a:t>2</a:t>
                      </a:r>
                    </a:p>
                  </a:txBody>
                  <a:tcPr/>
                </a:tc>
                <a:tc>
                  <a:txBody>
                    <a:bodyPr/>
                    <a:lstStyle/>
                    <a:p>
                      <a:r>
                        <a:rPr lang="en-DK" dirty="0"/>
                        <a:t>3</a:t>
                      </a:r>
                    </a:p>
                  </a:txBody>
                  <a:tcPr/>
                </a:tc>
                <a:tc>
                  <a:txBody>
                    <a:bodyPr/>
                    <a:lstStyle/>
                    <a:p>
                      <a:r>
                        <a:rPr lang="en-DK" dirty="0"/>
                        <a:t>4</a:t>
                      </a:r>
                    </a:p>
                  </a:txBody>
                  <a:tcPr/>
                </a:tc>
                <a:extLst>
                  <a:ext uri="{0D108BD9-81ED-4DB2-BD59-A6C34878D82A}">
                    <a16:rowId xmlns:a16="http://schemas.microsoft.com/office/drawing/2014/main" val="3378309817"/>
                  </a:ext>
                </a:extLst>
              </a:tr>
              <a:tr h="370840">
                <a:tc>
                  <a:txBody>
                    <a:bodyPr/>
                    <a:lstStyle/>
                    <a:p>
                      <a:r>
                        <a:rPr lang="en-DK" dirty="0"/>
                        <a:t>2</a:t>
                      </a:r>
                    </a:p>
                  </a:txBody>
                  <a:tcPr/>
                </a:tc>
                <a:tc>
                  <a:txBody>
                    <a:bodyPr/>
                    <a:lstStyle/>
                    <a:p>
                      <a:r>
                        <a:rPr lang="en-DK" dirty="0"/>
                        <a:t>2</a:t>
                      </a:r>
                    </a:p>
                  </a:txBody>
                  <a:tcPr/>
                </a:tc>
                <a:tc>
                  <a:txBody>
                    <a:bodyPr/>
                    <a:lstStyle/>
                    <a:p>
                      <a:r>
                        <a:rPr lang="en-DK" dirty="0"/>
                        <a:t>3</a:t>
                      </a:r>
                    </a:p>
                  </a:txBody>
                  <a:tcPr/>
                </a:tc>
                <a:tc>
                  <a:txBody>
                    <a:bodyPr/>
                    <a:lstStyle/>
                    <a:p>
                      <a:r>
                        <a:rPr lang="en-DK" dirty="0"/>
                        <a:t>0</a:t>
                      </a:r>
                    </a:p>
                  </a:txBody>
                  <a:tcPr/>
                </a:tc>
                <a:tc>
                  <a:txBody>
                    <a:bodyPr/>
                    <a:lstStyle/>
                    <a:p>
                      <a:r>
                        <a:rPr lang="en-DK" dirty="0"/>
                        <a:t>0</a:t>
                      </a:r>
                    </a:p>
                  </a:txBody>
                  <a:tcPr/>
                </a:tc>
                <a:tc>
                  <a:txBody>
                    <a:bodyPr/>
                    <a:lstStyle/>
                    <a:p>
                      <a:r>
                        <a:rPr lang="en-DK" dirty="0"/>
                        <a:t>0.01</a:t>
                      </a:r>
                    </a:p>
                  </a:txBody>
                  <a:tcPr/>
                </a:tc>
                <a:tc>
                  <a:txBody>
                    <a:bodyPr/>
                    <a:lstStyle/>
                    <a:p>
                      <a:r>
                        <a:rPr lang="en-DK" dirty="0"/>
                        <a:t>1</a:t>
                      </a:r>
                    </a:p>
                  </a:txBody>
                  <a:tcPr/>
                </a:tc>
                <a:tc>
                  <a:txBody>
                    <a:bodyPr/>
                    <a:lstStyle/>
                    <a:p>
                      <a:r>
                        <a:rPr lang="en-DK" dirty="0"/>
                        <a:t>1</a:t>
                      </a:r>
                    </a:p>
                  </a:txBody>
                  <a:tcPr/>
                </a:tc>
                <a:tc>
                  <a:txBody>
                    <a:bodyPr/>
                    <a:lstStyle/>
                    <a:p>
                      <a:r>
                        <a:rPr lang="en-DK" dirty="0"/>
                        <a:t>2</a:t>
                      </a:r>
                    </a:p>
                  </a:txBody>
                  <a:tcPr/>
                </a:tc>
                <a:extLst>
                  <a:ext uri="{0D108BD9-81ED-4DB2-BD59-A6C34878D82A}">
                    <a16:rowId xmlns:a16="http://schemas.microsoft.com/office/drawing/2014/main" val="4055290594"/>
                  </a:ext>
                </a:extLst>
              </a:tr>
              <a:tr h="370840">
                <a:tc>
                  <a:txBody>
                    <a:bodyPr/>
                    <a:lstStyle/>
                    <a:p>
                      <a:endParaRPr lang="en-DK" dirty="0"/>
                    </a:p>
                  </a:txBody>
                  <a:tcPr/>
                </a:tc>
                <a:tc>
                  <a:txBody>
                    <a:bodyPr/>
                    <a:lstStyle/>
                    <a:p>
                      <a:endParaRPr lang="en-DK" dirty="0"/>
                    </a:p>
                  </a:txBody>
                  <a:tcPr/>
                </a:tc>
                <a:tc>
                  <a:txBody>
                    <a:bodyPr/>
                    <a:lstStyle/>
                    <a:p>
                      <a:endParaRPr lang="en-DK" dirty="0"/>
                    </a:p>
                  </a:txBody>
                  <a:tcPr/>
                </a:tc>
                <a:tc>
                  <a:txBody>
                    <a:bodyPr/>
                    <a:lstStyle/>
                    <a:p>
                      <a:endParaRPr lang="en-DK" dirty="0"/>
                    </a:p>
                  </a:txBody>
                  <a:tcPr/>
                </a:tc>
                <a:tc>
                  <a:txBody>
                    <a:bodyPr/>
                    <a:lstStyle/>
                    <a:p>
                      <a:endParaRPr lang="en-DK" dirty="0"/>
                    </a:p>
                  </a:txBody>
                  <a:tcPr/>
                </a:tc>
                <a:tc>
                  <a:txBody>
                    <a:bodyPr/>
                    <a:lstStyle/>
                    <a:p>
                      <a:endParaRPr lang="en-DK" dirty="0"/>
                    </a:p>
                  </a:txBody>
                  <a:tcPr/>
                </a:tc>
                <a:tc>
                  <a:txBody>
                    <a:bodyPr/>
                    <a:lstStyle/>
                    <a:p>
                      <a:endParaRPr lang="en-DK" dirty="0"/>
                    </a:p>
                  </a:txBody>
                  <a:tcPr/>
                </a:tc>
                <a:tc>
                  <a:txBody>
                    <a:bodyPr/>
                    <a:lstStyle/>
                    <a:p>
                      <a:endParaRPr lang="en-DK" dirty="0"/>
                    </a:p>
                  </a:txBody>
                  <a:tcPr/>
                </a:tc>
                <a:tc>
                  <a:txBody>
                    <a:bodyPr/>
                    <a:lstStyle/>
                    <a:p>
                      <a:endParaRPr lang="en-DK" dirty="0"/>
                    </a:p>
                  </a:txBody>
                  <a:tcPr/>
                </a:tc>
                <a:extLst>
                  <a:ext uri="{0D108BD9-81ED-4DB2-BD59-A6C34878D82A}">
                    <a16:rowId xmlns:a16="http://schemas.microsoft.com/office/drawing/2014/main" val="3993467441"/>
                  </a:ext>
                </a:extLst>
              </a:tr>
              <a:tr h="370840">
                <a:tc>
                  <a:txBody>
                    <a:bodyPr/>
                    <a:lstStyle/>
                    <a:p>
                      <a:endParaRPr lang="en-DK" dirty="0"/>
                    </a:p>
                  </a:txBody>
                  <a:tcPr/>
                </a:tc>
                <a:tc>
                  <a:txBody>
                    <a:bodyPr/>
                    <a:lstStyle/>
                    <a:p>
                      <a:endParaRPr lang="en-DK" dirty="0"/>
                    </a:p>
                  </a:txBody>
                  <a:tcPr/>
                </a:tc>
                <a:tc>
                  <a:txBody>
                    <a:bodyPr/>
                    <a:lstStyle/>
                    <a:p>
                      <a:endParaRPr lang="en-DK" dirty="0"/>
                    </a:p>
                  </a:txBody>
                  <a:tcPr/>
                </a:tc>
                <a:tc>
                  <a:txBody>
                    <a:bodyPr/>
                    <a:lstStyle/>
                    <a:p>
                      <a:endParaRPr lang="en-DK" dirty="0"/>
                    </a:p>
                  </a:txBody>
                  <a:tcPr/>
                </a:tc>
                <a:tc>
                  <a:txBody>
                    <a:bodyPr/>
                    <a:lstStyle/>
                    <a:p>
                      <a:endParaRPr lang="en-DK" dirty="0"/>
                    </a:p>
                  </a:txBody>
                  <a:tcPr/>
                </a:tc>
                <a:tc>
                  <a:txBody>
                    <a:bodyPr/>
                    <a:lstStyle/>
                    <a:p>
                      <a:endParaRPr lang="en-DK" dirty="0"/>
                    </a:p>
                  </a:txBody>
                  <a:tcPr/>
                </a:tc>
                <a:tc>
                  <a:txBody>
                    <a:bodyPr/>
                    <a:lstStyle/>
                    <a:p>
                      <a:endParaRPr lang="en-DK" dirty="0"/>
                    </a:p>
                  </a:txBody>
                  <a:tcPr/>
                </a:tc>
                <a:tc>
                  <a:txBody>
                    <a:bodyPr/>
                    <a:lstStyle/>
                    <a:p>
                      <a:endParaRPr lang="en-DK" dirty="0"/>
                    </a:p>
                  </a:txBody>
                  <a:tcPr/>
                </a:tc>
                <a:tc>
                  <a:txBody>
                    <a:bodyPr/>
                    <a:lstStyle/>
                    <a:p>
                      <a:endParaRPr lang="en-DK" dirty="0"/>
                    </a:p>
                  </a:txBody>
                  <a:tcPr/>
                </a:tc>
                <a:extLst>
                  <a:ext uri="{0D108BD9-81ED-4DB2-BD59-A6C34878D82A}">
                    <a16:rowId xmlns:a16="http://schemas.microsoft.com/office/drawing/2014/main" val="864364478"/>
                  </a:ext>
                </a:extLst>
              </a:tr>
            </a:tbl>
          </a:graphicData>
        </a:graphic>
      </p:graphicFrame>
      <p:sp>
        <p:nvSpPr>
          <p:cNvPr id="5" name="TextBox 4">
            <a:extLst>
              <a:ext uri="{FF2B5EF4-FFF2-40B4-BE49-F238E27FC236}">
                <a16:creationId xmlns:a16="http://schemas.microsoft.com/office/drawing/2014/main" id="{4E18B442-B50E-53CA-9B4E-584FDE7AD83F}"/>
              </a:ext>
            </a:extLst>
          </p:cNvPr>
          <p:cNvSpPr txBox="1"/>
          <p:nvPr/>
        </p:nvSpPr>
        <p:spPr>
          <a:xfrm>
            <a:off x="4592783" y="1945640"/>
            <a:ext cx="803564" cy="369332"/>
          </a:xfrm>
          <a:prstGeom prst="rect">
            <a:avLst/>
          </a:prstGeom>
          <a:noFill/>
        </p:spPr>
        <p:txBody>
          <a:bodyPr wrap="square" rtlCol="0">
            <a:spAutoFit/>
          </a:bodyPr>
          <a:lstStyle/>
          <a:p>
            <a:r>
              <a:rPr lang="en-DK" dirty="0"/>
              <a:t>Area</a:t>
            </a:r>
          </a:p>
        </p:txBody>
      </p:sp>
      <p:sp>
        <p:nvSpPr>
          <p:cNvPr id="6" name="TextBox 5">
            <a:extLst>
              <a:ext uri="{FF2B5EF4-FFF2-40B4-BE49-F238E27FC236}">
                <a16:creationId xmlns:a16="http://schemas.microsoft.com/office/drawing/2014/main" id="{8E268A1C-E245-3146-1A68-235F1801791A}"/>
              </a:ext>
            </a:extLst>
          </p:cNvPr>
          <p:cNvSpPr txBox="1"/>
          <p:nvPr/>
        </p:nvSpPr>
        <p:spPr>
          <a:xfrm>
            <a:off x="4128655" y="2314972"/>
            <a:ext cx="1163782" cy="369332"/>
          </a:xfrm>
          <a:prstGeom prst="rect">
            <a:avLst/>
          </a:prstGeom>
          <a:noFill/>
        </p:spPr>
        <p:txBody>
          <a:bodyPr wrap="square" rtlCol="0">
            <a:spAutoFit/>
          </a:bodyPr>
          <a:lstStyle/>
          <a:p>
            <a:r>
              <a:rPr lang="en-DK" dirty="0"/>
              <a:t>Condition</a:t>
            </a:r>
          </a:p>
        </p:txBody>
      </p:sp>
      <p:sp>
        <p:nvSpPr>
          <p:cNvPr id="7" name="TextBox 6">
            <a:extLst>
              <a:ext uri="{FF2B5EF4-FFF2-40B4-BE49-F238E27FC236}">
                <a16:creationId xmlns:a16="http://schemas.microsoft.com/office/drawing/2014/main" id="{A8DACCEC-0376-D02D-57D7-BF101289143E}"/>
              </a:ext>
            </a:extLst>
          </p:cNvPr>
          <p:cNvSpPr txBox="1"/>
          <p:nvPr/>
        </p:nvSpPr>
        <p:spPr>
          <a:xfrm>
            <a:off x="7722129" y="5412558"/>
            <a:ext cx="1122218" cy="369332"/>
          </a:xfrm>
          <a:prstGeom prst="rect">
            <a:avLst/>
          </a:prstGeom>
          <a:noFill/>
        </p:spPr>
        <p:txBody>
          <a:bodyPr wrap="square" rtlCol="0">
            <a:spAutoFit/>
          </a:bodyPr>
          <a:lstStyle/>
          <a:p>
            <a:r>
              <a:rPr lang="en-DK" dirty="0"/>
              <a:t>Samples</a:t>
            </a:r>
          </a:p>
        </p:txBody>
      </p:sp>
      <p:sp>
        <p:nvSpPr>
          <p:cNvPr id="8" name="TextBox 7">
            <a:extLst>
              <a:ext uri="{FF2B5EF4-FFF2-40B4-BE49-F238E27FC236}">
                <a16:creationId xmlns:a16="http://schemas.microsoft.com/office/drawing/2014/main" id="{B04889E3-A486-F9EF-D476-05F1DE223A52}"/>
              </a:ext>
            </a:extLst>
          </p:cNvPr>
          <p:cNvSpPr txBox="1"/>
          <p:nvPr/>
        </p:nvSpPr>
        <p:spPr>
          <a:xfrm rot="16200000">
            <a:off x="3594177" y="3733949"/>
            <a:ext cx="2743165" cy="646331"/>
          </a:xfrm>
          <a:prstGeom prst="rect">
            <a:avLst/>
          </a:prstGeom>
          <a:noFill/>
        </p:spPr>
        <p:txBody>
          <a:bodyPr wrap="square" rtlCol="0">
            <a:spAutoFit/>
          </a:bodyPr>
          <a:lstStyle/>
          <a:p>
            <a:r>
              <a:rPr lang="en-DK" dirty="0"/>
              <a:t>Relative abundance</a:t>
            </a:r>
          </a:p>
          <a:p>
            <a:r>
              <a:rPr lang="en-DK" dirty="0"/>
              <a:t>Taxa or functional feature</a:t>
            </a:r>
          </a:p>
        </p:txBody>
      </p:sp>
      <p:sp>
        <p:nvSpPr>
          <p:cNvPr id="9" name="TextBox 8">
            <a:extLst>
              <a:ext uri="{FF2B5EF4-FFF2-40B4-BE49-F238E27FC236}">
                <a16:creationId xmlns:a16="http://schemas.microsoft.com/office/drawing/2014/main" id="{39B49270-5D7A-9FF3-C470-1469D9E1D635}"/>
              </a:ext>
            </a:extLst>
          </p:cNvPr>
          <p:cNvSpPr txBox="1"/>
          <p:nvPr/>
        </p:nvSpPr>
        <p:spPr>
          <a:xfrm>
            <a:off x="7162800" y="1318754"/>
            <a:ext cx="2507673" cy="369332"/>
          </a:xfrm>
          <a:prstGeom prst="rect">
            <a:avLst/>
          </a:prstGeom>
          <a:noFill/>
        </p:spPr>
        <p:txBody>
          <a:bodyPr wrap="square" rtlCol="0">
            <a:spAutoFit/>
          </a:bodyPr>
          <a:lstStyle/>
          <a:p>
            <a:r>
              <a:rPr lang="en-DK" dirty="0"/>
              <a:t>Relative abundace (%)</a:t>
            </a:r>
          </a:p>
        </p:txBody>
      </p:sp>
    </p:spTree>
    <p:extLst>
      <p:ext uri="{BB962C8B-B14F-4D97-AF65-F5344CB8AC3E}">
        <p14:creationId xmlns:p14="http://schemas.microsoft.com/office/powerpoint/2010/main" val="163292139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5908E8A-B4BF-BEE4-D88C-461A883100BA}"/>
              </a:ext>
            </a:extLst>
          </p:cNvPr>
          <p:cNvSpPr>
            <a:spLocks noGrp="1"/>
          </p:cNvSpPr>
          <p:nvPr>
            <p:ph type="title"/>
          </p:nvPr>
        </p:nvSpPr>
        <p:spPr/>
        <p:txBody>
          <a:bodyPr/>
          <a:lstStyle/>
          <a:p>
            <a:r>
              <a:rPr lang="en-DK" dirty="0"/>
              <a:t>Microbiome data</a:t>
            </a:r>
          </a:p>
        </p:txBody>
      </p:sp>
      <p:sp>
        <p:nvSpPr>
          <p:cNvPr id="4" name="Content Placeholder 2">
            <a:extLst>
              <a:ext uri="{FF2B5EF4-FFF2-40B4-BE49-F238E27FC236}">
                <a16:creationId xmlns:a16="http://schemas.microsoft.com/office/drawing/2014/main" id="{4F7BEA05-D693-8BF3-4B58-3A3684DBE82E}"/>
              </a:ext>
            </a:extLst>
          </p:cNvPr>
          <p:cNvSpPr>
            <a:spLocks noGrp="1"/>
          </p:cNvSpPr>
          <p:nvPr>
            <p:ph idx="1"/>
          </p:nvPr>
        </p:nvSpPr>
        <p:spPr>
          <a:xfrm>
            <a:off x="838200" y="2477236"/>
            <a:ext cx="2618946" cy="1903527"/>
          </a:xfrm>
        </p:spPr>
        <p:txBody>
          <a:bodyPr>
            <a:normAutofit lnSpcReduction="10000"/>
          </a:bodyPr>
          <a:lstStyle/>
          <a:p>
            <a:r>
              <a:rPr lang="en-DK" sz="1800" dirty="0"/>
              <a:t>Sparsity</a:t>
            </a:r>
          </a:p>
          <a:p>
            <a:r>
              <a:rPr lang="en-DK" sz="1800" dirty="0"/>
              <a:t>Dinamic range</a:t>
            </a:r>
          </a:p>
          <a:p>
            <a:r>
              <a:rPr lang="en-DK" sz="1800" b="1" dirty="0"/>
              <a:t>Usually expressed as Relative, not Absolute abundance</a:t>
            </a:r>
          </a:p>
          <a:p>
            <a:r>
              <a:rPr lang="en-DK" sz="1800" b="1" dirty="0"/>
              <a:t>Compositional data</a:t>
            </a:r>
          </a:p>
        </p:txBody>
      </p:sp>
      <p:sp>
        <p:nvSpPr>
          <p:cNvPr id="5" name="TextBox 4">
            <a:extLst>
              <a:ext uri="{FF2B5EF4-FFF2-40B4-BE49-F238E27FC236}">
                <a16:creationId xmlns:a16="http://schemas.microsoft.com/office/drawing/2014/main" id="{A80BDCF2-DCEB-8B54-BFF1-64AAF59ADC82}"/>
              </a:ext>
            </a:extLst>
          </p:cNvPr>
          <p:cNvSpPr txBox="1"/>
          <p:nvPr/>
        </p:nvSpPr>
        <p:spPr>
          <a:xfrm>
            <a:off x="4523507" y="1801525"/>
            <a:ext cx="6830293" cy="5355312"/>
          </a:xfrm>
          <a:prstGeom prst="rect">
            <a:avLst/>
          </a:prstGeom>
          <a:noFill/>
        </p:spPr>
        <p:txBody>
          <a:bodyPr wrap="square" rtlCol="0">
            <a:spAutoFit/>
          </a:bodyPr>
          <a:lstStyle/>
          <a:p>
            <a:r>
              <a:rPr lang="en-DK" dirty="0"/>
              <a:t>Microbiome data is compositional:</a:t>
            </a:r>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r>
              <a:rPr lang="en-GB" dirty="0"/>
              <a:t>Sampling of a fraction of the total genomic DNA</a:t>
            </a:r>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r>
              <a:rPr lang="en-GB" dirty="0"/>
              <a:t>Different sequencing depth between samples</a:t>
            </a:r>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r>
              <a:rPr lang="en-GB" dirty="0"/>
              <a:t>Both sampling depth and sequencing depth can vary several orders of magnitude between samples</a:t>
            </a:r>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r>
              <a:rPr lang="en-GB" dirty="0"/>
              <a:t>Absolute abundances are normally not known – abundances are relative and constraint to sum to 1 (or 100%)</a:t>
            </a:r>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r>
              <a:rPr lang="en-GB" dirty="0"/>
              <a:t>Proportions or percentages of total reads per sample — not true cell counts.</a:t>
            </a:r>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r>
              <a:rPr lang="en-GB" dirty="0"/>
              <a:t>Relative abundances are susceptible to compositional effects</a:t>
            </a:r>
          </a:p>
          <a:p>
            <a:endParaRPr lang="en-DK" dirty="0"/>
          </a:p>
          <a:p>
            <a:endParaRPr lang="en-DK" dirty="0"/>
          </a:p>
          <a:p>
            <a:pPr marL="285750" indent="-285750">
              <a:buFont typeface="Arial" panose="020B0604020202020204" pitchFamily="34" charset="0"/>
              <a:buChar char="•"/>
            </a:pPr>
            <a:endParaRPr lang="en-DK" dirty="0"/>
          </a:p>
        </p:txBody>
      </p:sp>
      <p:sp>
        <p:nvSpPr>
          <p:cNvPr id="6" name="TextBox 5">
            <a:extLst>
              <a:ext uri="{FF2B5EF4-FFF2-40B4-BE49-F238E27FC236}">
                <a16:creationId xmlns:a16="http://schemas.microsoft.com/office/drawing/2014/main" id="{CCBF63FC-D338-375C-63D6-6D5F0AAA4278}"/>
              </a:ext>
            </a:extLst>
          </p:cNvPr>
          <p:cNvSpPr txBox="1"/>
          <p:nvPr/>
        </p:nvSpPr>
        <p:spPr>
          <a:xfrm>
            <a:off x="526093" y="6388274"/>
            <a:ext cx="4835048" cy="646331"/>
          </a:xfrm>
          <a:prstGeom prst="rect">
            <a:avLst/>
          </a:prstGeom>
          <a:noFill/>
        </p:spPr>
        <p:txBody>
          <a:bodyPr wrap="square" rtlCol="0">
            <a:spAutoFit/>
          </a:bodyPr>
          <a:lstStyle/>
          <a:p>
            <a:r>
              <a:rPr lang="en-GB" dirty="0">
                <a:hlinkClick r:id="rId3"/>
              </a:rPr>
              <a:t>https://pubmed.ncbi.nlm.nih.gov/27306058/</a:t>
            </a:r>
            <a:endParaRPr lang="en-GB" dirty="0"/>
          </a:p>
          <a:p>
            <a:endParaRPr lang="en-DK" dirty="0"/>
          </a:p>
        </p:txBody>
      </p:sp>
    </p:spTree>
    <p:extLst>
      <p:ext uri="{BB962C8B-B14F-4D97-AF65-F5344CB8AC3E}">
        <p14:creationId xmlns:p14="http://schemas.microsoft.com/office/powerpoint/2010/main" val="11071766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647F40-DFB8-B236-BDB6-2ACE78B5035C}"/>
              </a:ext>
            </a:extLst>
          </p:cNvPr>
          <p:cNvSpPr>
            <a:spLocks noGrp="1"/>
          </p:cNvSpPr>
          <p:nvPr>
            <p:ph type="title"/>
          </p:nvPr>
        </p:nvSpPr>
        <p:spPr>
          <a:xfrm>
            <a:off x="838200" y="0"/>
            <a:ext cx="10515600" cy="1325563"/>
          </a:xfrm>
        </p:spPr>
        <p:txBody>
          <a:bodyPr/>
          <a:lstStyle/>
          <a:p>
            <a:r>
              <a:rPr lang="en-DK" dirty="0"/>
              <a:t>Compositional data</a:t>
            </a:r>
          </a:p>
        </p:txBody>
      </p:sp>
      <p:graphicFrame>
        <p:nvGraphicFramePr>
          <p:cNvPr id="4" name="Table 3">
            <a:extLst>
              <a:ext uri="{FF2B5EF4-FFF2-40B4-BE49-F238E27FC236}">
                <a16:creationId xmlns:a16="http://schemas.microsoft.com/office/drawing/2014/main" id="{91BC007C-5F85-A71D-6CB1-F6A0D238FD24}"/>
              </a:ext>
            </a:extLst>
          </p:cNvPr>
          <p:cNvGraphicFramePr>
            <a:graphicFrameLocks noGrp="1"/>
          </p:cNvGraphicFramePr>
          <p:nvPr>
            <p:extLst>
              <p:ext uri="{D42A27DB-BD31-4B8C-83A1-F6EECF244321}">
                <p14:modId xmlns:p14="http://schemas.microsoft.com/office/powerpoint/2010/main" val="2028616950"/>
              </p:ext>
            </p:extLst>
          </p:nvPr>
        </p:nvGraphicFramePr>
        <p:xfrm>
          <a:off x="2032000" y="2201064"/>
          <a:ext cx="8128000" cy="2225040"/>
        </p:xfrm>
        <a:graphic>
          <a:graphicData uri="http://schemas.openxmlformats.org/drawingml/2006/table">
            <a:tbl>
              <a:tblPr firstRow="1" bandRow="1">
                <a:tableStyleId>{5C22544A-7EE6-4342-B048-85BDC9FD1C3A}</a:tableStyleId>
              </a:tblPr>
              <a:tblGrid>
                <a:gridCol w="1625600">
                  <a:extLst>
                    <a:ext uri="{9D8B030D-6E8A-4147-A177-3AD203B41FA5}">
                      <a16:colId xmlns:a16="http://schemas.microsoft.com/office/drawing/2014/main" val="2731085935"/>
                    </a:ext>
                  </a:extLst>
                </a:gridCol>
                <a:gridCol w="1625600">
                  <a:extLst>
                    <a:ext uri="{9D8B030D-6E8A-4147-A177-3AD203B41FA5}">
                      <a16:colId xmlns:a16="http://schemas.microsoft.com/office/drawing/2014/main" val="1087479908"/>
                    </a:ext>
                  </a:extLst>
                </a:gridCol>
                <a:gridCol w="1625600">
                  <a:extLst>
                    <a:ext uri="{9D8B030D-6E8A-4147-A177-3AD203B41FA5}">
                      <a16:colId xmlns:a16="http://schemas.microsoft.com/office/drawing/2014/main" val="4086368804"/>
                    </a:ext>
                  </a:extLst>
                </a:gridCol>
                <a:gridCol w="1625600">
                  <a:extLst>
                    <a:ext uri="{9D8B030D-6E8A-4147-A177-3AD203B41FA5}">
                      <a16:colId xmlns:a16="http://schemas.microsoft.com/office/drawing/2014/main" val="97060660"/>
                    </a:ext>
                  </a:extLst>
                </a:gridCol>
                <a:gridCol w="1625600">
                  <a:extLst>
                    <a:ext uri="{9D8B030D-6E8A-4147-A177-3AD203B41FA5}">
                      <a16:colId xmlns:a16="http://schemas.microsoft.com/office/drawing/2014/main" val="3585417345"/>
                    </a:ext>
                  </a:extLst>
                </a:gridCol>
              </a:tblGrid>
              <a:tr h="370840">
                <a:tc>
                  <a:txBody>
                    <a:bodyPr/>
                    <a:lstStyle/>
                    <a:p>
                      <a:endParaRPr lang="en-DK"/>
                    </a:p>
                  </a:txBody>
                  <a:tcPr/>
                </a:tc>
                <a:tc>
                  <a:txBody>
                    <a:bodyPr/>
                    <a:lstStyle/>
                    <a:p>
                      <a:r>
                        <a:rPr lang="en-DK" dirty="0"/>
                        <a:t>S1 cells</a:t>
                      </a:r>
                    </a:p>
                  </a:txBody>
                  <a:tcPr/>
                </a:tc>
                <a:tc>
                  <a:txBody>
                    <a:bodyPr/>
                    <a:lstStyle/>
                    <a:p>
                      <a:r>
                        <a:rPr lang="en-DK" dirty="0"/>
                        <a:t>S1 Rel ab %</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DK" dirty="0"/>
                        <a:t>S2 cells</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DK" dirty="0"/>
                        <a:t>S2 Rel ab %</a:t>
                      </a:r>
                    </a:p>
                  </a:txBody>
                  <a:tcPr/>
                </a:tc>
                <a:extLst>
                  <a:ext uri="{0D108BD9-81ED-4DB2-BD59-A6C34878D82A}">
                    <a16:rowId xmlns:a16="http://schemas.microsoft.com/office/drawing/2014/main" val="675318643"/>
                  </a:ext>
                </a:extLst>
              </a:tr>
              <a:tr h="370840">
                <a:tc>
                  <a:txBody>
                    <a:bodyPr/>
                    <a:lstStyle/>
                    <a:p>
                      <a:r>
                        <a:rPr lang="en-DK" dirty="0"/>
                        <a:t>Taxa 1</a:t>
                      </a:r>
                    </a:p>
                  </a:txBody>
                  <a:tcPr/>
                </a:tc>
                <a:tc>
                  <a:txBody>
                    <a:bodyPr/>
                    <a:lstStyle/>
                    <a:p>
                      <a:r>
                        <a:rPr lang="en-DK" dirty="0"/>
                        <a:t>250</a:t>
                      </a:r>
                    </a:p>
                  </a:txBody>
                  <a:tcPr/>
                </a:tc>
                <a:tc>
                  <a:txBody>
                    <a:bodyPr/>
                    <a:lstStyle/>
                    <a:p>
                      <a:r>
                        <a:rPr lang="en-DK" dirty="0"/>
                        <a:t>25</a:t>
                      </a:r>
                    </a:p>
                  </a:txBody>
                  <a:tcPr/>
                </a:tc>
                <a:tc>
                  <a:txBody>
                    <a:bodyPr/>
                    <a:lstStyle/>
                    <a:p>
                      <a:r>
                        <a:rPr lang="en-DK" dirty="0"/>
                        <a:t>250</a:t>
                      </a:r>
                    </a:p>
                  </a:txBody>
                  <a:tcPr/>
                </a:tc>
                <a:tc>
                  <a:txBody>
                    <a:bodyPr/>
                    <a:lstStyle/>
                    <a:p>
                      <a:r>
                        <a:rPr lang="en-DK" dirty="0"/>
                        <a:t>33.33</a:t>
                      </a:r>
                    </a:p>
                  </a:txBody>
                  <a:tcPr/>
                </a:tc>
                <a:extLst>
                  <a:ext uri="{0D108BD9-81ED-4DB2-BD59-A6C34878D82A}">
                    <a16:rowId xmlns:a16="http://schemas.microsoft.com/office/drawing/2014/main" val="1169449457"/>
                  </a:ext>
                </a:extLst>
              </a:tr>
              <a:tr h="370840">
                <a:tc>
                  <a:txBody>
                    <a:bodyPr/>
                    <a:lstStyle/>
                    <a:p>
                      <a:r>
                        <a:rPr lang="en-DK" dirty="0"/>
                        <a:t>Taxa 2</a:t>
                      </a:r>
                    </a:p>
                  </a:txBody>
                  <a:tcPr/>
                </a:tc>
                <a:tc>
                  <a:txBody>
                    <a:bodyPr/>
                    <a:lstStyle/>
                    <a:p>
                      <a:r>
                        <a:rPr lang="en-DK" dirty="0"/>
                        <a:t>250</a:t>
                      </a:r>
                    </a:p>
                  </a:txBody>
                  <a:tcPr/>
                </a:tc>
                <a:tc>
                  <a:txBody>
                    <a:bodyPr/>
                    <a:lstStyle/>
                    <a:p>
                      <a:r>
                        <a:rPr lang="en-DK" dirty="0"/>
                        <a:t>25</a:t>
                      </a:r>
                    </a:p>
                  </a:txBody>
                  <a:tcPr/>
                </a:tc>
                <a:tc>
                  <a:txBody>
                    <a:bodyPr/>
                    <a:lstStyle/>
                    <a:p>
                      <a:r>
                        <a:rPr lang="en-DK" dirty="0"/>
                        <a:t>250</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DK" dirty="0"/>
                        <a:t>33.33</a:t>
                      </a:r>
                    </a:p>
                  </a:txBody>
                  <a:tcPr/>
                </a:tc>
                <a:extLst>
                  <a:ext uri="{0D108BD9-81ED-4DB2-BD59-A6C34878D82A}">
                    <a16:rowId xmlns:a16="http://schemas.microsoft.com/office/drawing/2014/main" val="802690523"/>
                  </a:ext>
                </a:extLst>
              </a:tr>
              <a:tr h="370840">
                <a:tc>
                  <a:txBody>
                    <a:bodyPr/>
                    <a:lstStyle/>
                    <a:p>
                      <a:r>
                        <a:rPr lang="en-DK" dirty="0"/>
                        <a:t>Taxa 3</a:t>
                      </a:r>
                    </a:p>
                  </a:txBody>
                  <a:tcPr/>
                </a:tc>
                <a:tc>
                  <a:txBody>
                    <a:bodyPr/>
                    <a:lstStyle/>
                    <a:p>
                      <a:r>
                        <a:rPr lang="en-DK" dirty="0"/>
                        <a:t>300</a:t>
                      </a:r>
                    </a:p>
                  </a:txBody>
                  <a:tcPr/>
                </a:tc>
                <a:tc>
                  <a:txBody>
                    <a:bodyPr/>
                    <a:lstStyle/>
                    <a:p>
                      <a:r>
                        <a:rPr lang="en-DK" dirty="0"/>
                        <a:t>30</a:t>
                      </a:r>
                    </a:p>
                  </a:txBody>
                  <a:tcPr/>
                </a:tc>
                <a:tc>
                  <a:txBody>
                    <a:bodyPr/>
                    <a:lstStyle/>
                    <a:p>
                      <a:r>
                        <a:rPr lang="en-DK" dirty="0"/>
                        <a:t>50</a:t>
                      </a:r>
                    </a:p>
                  </a:txBody>
                  <a:tcPr/>
                </a:tc>
                <a:tc>
                  <a:txBody>
                    <a:bodyPr/>
                    <a:lstStyle/>
                    <a:p>
                      <a:r>
                        <a:rPr lang="en-DK" dirty="0"/>
                        <a:t>6.67</a:t>
                      </a:r>
                    </a:p>
                  </a:txBody>
                  <a:tcPr/>
                </a:tc>
                <a:extLst>
                  <a:ext uri="{0D108BD9-81ED-4DB2-BD59-A6C34878D82A}">
                    <a16:rowId xmlns:a16="http://schemas.microsoft.com/office/drawing/2014/main" val="2547255210"/>
                  </a:ext>
                </a:extLst>
              </a:tr>
              <a:tr h="370840">
                <a:tc>
                  <a:txBody>
                    <a:bodyPr/>
                    <a:lstStyle/>
                    <a:p>
                      <a:r>
                        <a:rPr lang="en-DK" dirty="0"/>
                        <a:t>Taxa 4</a:t>
                      </a:r>
                    </a:p>
                  </a:txBody>
                  <a:tcPr/>
                </a:tc>
                <a:tc>
                  <a:txBody>
                    <a:bodyPr/>
                    <a:lstStyle/>
                    <a:p>
                      <a:r>
                        <a:rPr lang="en-DK" dirty="0"/>
                        <a:t>200</a:t>
                      </a:r>
                    </a:p>
                  </a:txBody>
                  <a:tcPr/>
                </a:tc>
                <a:tc>
                  <a:txBody>
                    <a:bodyPr/>
                    <a:lstStyle/>
                    <a:p>
                      <a:r>
                        <a:rPr lang="en-DK" dirty="0"/>
                        <a:t>20</a:t>
                      </a:r>
                    </a:p>
                  </a:txBody>
                  <a:tcPr/>
                </a:tc>
                <a:tc>
                  <a:txBody>
                    <a:bodyPr/>
                    <a:lstStyle/>
                    <a:p>
                      <a:r>
                        <a:rPr lang="en-DK" dirty="0"/>
                        <a:t>200</a:t>
                      </a:r>
                    </a:p>
                  </a:txBody>
                  <a:tcPr/>
                </a:tc>
                <a:tc>
                  <a:txBody>
                    <a:bodyPr/>
                    <a:lstStyle/>
                    <a:p>
                      <a:r>
                        <a:rPr lang="en-DK" dirty="0"/>
                        <a:t>26.67</a:t>
                      </a:r>
                    </a:p>
                  </a:txBody>
                  <a:tcPr/>
                </a:tc>
                <a:extLst>
                  <a:ext uri="{0D108BD9-81ED-4DB2-BD59-A6C34878D82A}">
                    <a16:rowId xmlns:a16="http://schemas.microsoft.com/office/drawing/2014/main" val="1052934961"/>
                  </a:ext>
                </a:extLst>
              </a:tr>
              <a:tr h="370840">
                <a:tc>
                  <a:txBody>
                    <a:bodyPr/>
                    <a:lstStyle/>
                    <a:p>
                      <a:r>
                        <a:rPr lang="en-DK" dirty="0"/>
                        <a:t>Total </a:t>
                      </a:r>
                    </a:p>
                  </a:txBody>
                  <a:tcPr/>
                </a:tc>
                <a:tc>
                  <a:txBody>
                    <a:bodyPr/>
                    <a:lstStyle/>
                    <a:p>
                      <a:r>
                        <a:rPr lang="en-DK" dirty="0"/>
                        <a:t>1000</a:t>
                      </a:r>
                    </a:p>
                  </a:txBody>
                  <a:tcPr/>
                </a:tc>
                <a:tc>
                  <a:txBody>
                    <a:bodyPr/>
                    <a:lstStyle/>
                    <a:p>
                      <a:r>
                        <a:rPr lang="en-DK" dirty="0"/>
                        <a:t>100</a:t>
                      </a:r>
                    </a:p>
                  </a:txBody>
                  <a:tcPr/>
                </a:tc>
                <a:tc>
                  <a:txBody>
                    <a:bodyPr/>
                    <a:lstStyle/>
                    <a:p>
                      <a:r>
                        <a:rPr lang="en-DK" dirty="0"/>
                        <a:t>750</a:t>
                      </a:r>
                    </a:p>
                  </a:txBody>
                  <a:tcPr/>
                </a:tc>
                <a:tc>
                  <a:txBody>
                    <a:bodyPr/>
                    <a:lstStyle/>
                    <a:p>
                      <a:r>
                        <a:rPr lang="en-DK" dirty="0"/>
                        <a:t>100</a:t>
                      </a:r>
                    </a:p>
                  </a:txBody>
                  <a:tcPr/>
                </a:tc>
                <a:extLst>
                  <a:ext uri="{0D108BD9-81ED-4DB2-BD59-A6C34878D82A}">
                    <a16:rowId xmlns:a16="http://schemas.microsoft.com/office/drawing/2014/main" val="283180886"/>
                  </a:ext>
                </a:extLst>
              </a:tr>
            </a:tbl>
          </a:graphicData>
        </a:graphic>
      </p:graphicFrame>
      <p:sp>
        <p:nvSpPr>
          <p:cNvPr id="5" name="TextBox 4">
            <a:extLst>
              <a:ext uri="{FF2B5EF4-FFF2-40B4-BE49-F238E27FC236}">
                <a16:creationId xmlns:a16="http://schemas.microsoft.com/office/drawing/2014/main" id="{11BBB3E0-535D-4FC8-4500-B23EB8165D4A}"/>
              </a:ext>
            </a:extLst>
          </p:cNvPr>
          <p:cNvSpPr txBox="1"/>
          <p:nvPr/>
        </p:nvSpPr>
        <p:spPr>
          <a:xfrm>
            <a:off x="1454727" y="4750092"/>
            <a:ext cx="9282546" cy="1815882"/>
          </a:xfrm>
          <a:prstGeom prst="rect">
            <a:avLst/>
          </a:prstGeom>
          <a:noFill/>
        </p:spPr>
        <p:txBody>
          <a:bodyPr wrap="square" rtlCol="0">
            <a:spAutoFit/>
          </a:bodyPr>
          <a:lstStyle/>
          <a:p>
            <a:pPr marL="285750" indent="-285750">
              <a:buFont typeface="Arial" panose="020B0604020202020204" pitchFamily="34" charset="0"/>
              <a:buChar char="•"/>
            </a:pPr>
            <a:r>
              <a:rPr lang="en-DK" sz="1600" dirty="0"/>
              <a:t>Only Taxon 3 reduced its abundance after antibiotic treament, but 1,2, and 4 seem that they increase</a:t>
            </a:r>
          </a:p>
          <a:p>
            <a:pPr marL="285750" indent="-285750">
              <a:buFont typeface="Arial" panose="020B0604020202020204" pitchFamily="34" charset="0"/>
              <a:buChar char="•"/>
            </a:pPr>
            <a:r>
              <a:rPr lang="en-DK" sz="1600" dirty="0"/>
              <a:t>Affects downstream analysis and interpretations</a:t>
            </a:r>
          </a:p>
          <a:p>
            <a:pPr marL="742950" lvl="1" indent="-285750">
              <a:buFont typeface="Arial" panose="020B0604020202020204" pitchFamily="34" charset="0"/>
              <a:buChar char="•"/>
            </a:pPr>
            <a:r>
              <a:rPr lang="en-DK" sz="1600" dirty="0"/>
              <a:t>e.g. correlations or regression assume independent variables</a:t>
            </a:r>
          </a:p>
          <a:p>
            <a:pPr marL="742950" lvl="1" indent="-285750">
              <a:buFont typeface="Arial" panose="020B0604020202020204" pitchFamily="34" charset="0"/>
              <a:buChar char="•"/>
            </a:pPr>
            <a:r>
              <a:rPr lang="en-DK" sz="1600" dirty="0"/>
              <a:t>analysis alternatives and data transformations have been proposed: center-log-ration transformation (clr), ALDEx2, ANCOM</a:t>
            </a:r>
          </a:p>
          <a:p>
            <a:pPr marL="742950" lvl="1" indent="-285750">
              <a:buFont typeface="Arial" panose="020B0604020202020204" pitchFamily="34" charset="0"/>
              <a:buChar char="•"/>
            </a:pPr>
            <a:r>
              <a:rPr lang="en-DK" sz="1600" dirty="0"/>
              <a:t>however, they introduce </a:t>
            </a:r>
            <a:r>
              <a:rPr lang="en-GB" sz="1600" dirty="0"/>
              <a:t>practical limitations — especially with zero handling, computational cost, and difficult interpretation</a:t>
            </a:r>
            <a:endParaRPr lang="en-DK" sz="1600" dirty="0"/>
          </a:p>
        </p:txBody>
      </p:sp>
      <p:sp>
        <p:nvSpPr>
          <p:cNvPr id="6" name="TextBox 5">
            <a:extLst>
              <a:ext uri="{FF2B5EF4-FFF2-40B4-BE49-F238E27FC236}">
                <a16:creationId xmlns:a16="http://schemas.microsoft.com/office/drawing/2014/main" id="{1E306F24-01F6-6587-BD82-BB4FD6190EB2}"/>
              </a:ext>
            </a:extLst>
          </p:cNvPr>
          <p:cNvSpPr txBox="1"/>
          <p:nvPr/>
        </p:nvSpPr>
        <p:spPr>
          <a:xfrm>
            <a:off x="891944" y="1090643"/>
            <a:ext cx="10515600" cy="830997"/>
          </a:xfrm>
          <a:prstGeom prst="rect">
            <a:avLst/>
          </a:prstGeom>
          <a:noFill/>
        </p:spPr>
        <p:txBody>
          <a:bodyPr wrap="square" rtlCol="0">
            <a:spAutoFit/>
          </a:bodyPr>
          <a:lstStyle/>
          <a:p>
            <a:r>
              <a:rPr lang="en-DK" sz="1600" dirty="0"/>
              <a:t>Consider read counts as a proxy for cell abundance (not perfect as 16S gene can have multiple gene copies in some genomes, and in shotgun metagenomics we have different genome sizes – larger genomes contributing with more reads per cell, extraction efficiency, lib</a:t>
            </a:r>
            <a:r>
              <a:rPr lang="en-GB" sz="1600" dirty="0"/>
              <a:t>r</a:t>
            </a:r>
            <a:r>
              <a:rPr lang="en-DK" sz="1600" dirty="0"/>
              <a:t>ary prep bias, etc ...)</a:t>
            </a:r>
          </a:p>
        </p:txBody>
      </p:sp>
    </p:spTree>
    <p:extLst>
      <p:ext uri="{BB962C8B-B14F-4D97-AF65-F5344CB8AC3E}">
        <p14:creationId xmlns:p14="http://schemas.microsoft.com/office/powerpoint/2010/main" val="3932441471"/>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862714-F276-4CF3-F82E-9FDCE5F77D78}"/>
              </a:ext>
            </a:extLst>
          </p:cNvPr>
          <p:cNvSpPr>
            <a:spLocks noGrp="1"/>
          </p:cNvSpPr>
          <p:nvPr>
            <p:ph type="title"/>
          </p:nvPr>
        </p:nvSpPr>
        <p:spPr/>
        <p:txBody>
          <a:bodyPr/>
          <a:lstStyle/>
          <a:p>
            <a:r>
              <a:rPr lang="en-DK" dirty="0"/>
              <a:t>Ideal scenario: absolute abundances</a:t>
            </a:r>
          </a:p>
        </p:txBody>
      </p:sp>
      <p:sp>
        <p:nvSpPr>
          <p:cNvPr id="4" name="TextBox 3">
            <a:extLst>
              <a:ext uri="{FF2B5EF4-FFF2-40B4-BE49-F238E27FC236}">
                <a16:creationId xmlns:a16="http://schemas.microsoft.com/office/drawing/2014/main" id="{A57867A6-808A-252C-742A-DF82F00AB161}"/>
              </a:ext>
            </a:extLst>
          </p:cNvPr>
          <p:cNvSpPr txBox="1"/>
          <p:nvPr/>
        </p:nvSpPr>
        <p:spPr>
          <a:xfrm>
            <a:off x="1274618" y="1981200"/>
            <a:ext cx="9601200" cy="2031325"/>
          </a:xfrm>
          <a:prstGeom prst="rect">
            <a:avLst/>
          </a:prstGeom>
          <a:noFill/>
        </p:spPr>
        <p:txBody>
          <a:bodyPr wrap="square" rtlCol="0">
            <a:spAutoFit/>
          </a:bodyPr>
          <a:lstStyle/>
          <a:p>
            <a:r>
              <a:rPr lang="en-GB" dirty="0"/>
              <a:t>If we want to know </a:t>
            </a:r>
            <a:r>
              <a:rPr lang="en-GB" b="1" dirty="0"/>
              <a:t>true cell counts</a:t>
            </a:r>
            <a:r>
              <a:rPr lang="en-GB" dirty="0"/>
              <a:t>, we need to:</a:t>
            </a:r>
          </a:p>
          <a:p>
            <a:endParaRPr lang="en-GB" dirty="0"/>
          </a:p>
          <a:p>
            <a:pPr marL="285750" indent="-285750">
              <a:buFont typeface="Arial" panose="020B0604020202020204" pitchFamily="34" charset="0"/>
              <a:buChar char="•"/>
            </a:pPr>
            <a:r>
              <a:rPr lang="en-GB" dirty="0"/>
              <a:t>Add </a:t>
            </a:r>
            <a:r>
              <a:rPr lang="en-GB" b="1" dirty="0"/>
              <a:t>internal spike-in controls</a:t>
            </a:r>
            <a:r>
              <a:rPr lang="en-GB" dirty="0"/>
              <a:t> (known amounts of reference DNA).</a:t>
            </a:r>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r>
              <a:rPr lang="en-GB" dirty="0"/>
              <a:t>Use </a:t>
            </a:r>
            <a:r>
              <a:rPr lang="en-GB" b="1" dirty="0"/>
              <a:t>qPCR or flow cytometry</a:t>
            </a:r>
            <a:r>
              <a:rPr lang="en-GB" dirty="0"/>
              <a:t> to estimate </a:t>
            </a:r>
            <a:r>
              <a:rPr lang="en-GB" b="1" dirty="0"/>
              <a:t>total bacterial load</a:t>
            </a:r>
            <a:r>
              <a:rPr lang="en-GB" dirty="0"/>
              <a:t>.</a:t>
            </a:r>
          </a:p>
          <a:p>
            <a:pPr marL="285750" indent="-285750">
              <a:buFont typeface="Arial" panose="020B0604020202020204" pitchFamily="34" charset="0"/>
              <a:buChar char="•"/>
            </a:pPr>
            <a:endParaRPr lang="en-GB" dirty="0"/>
          </a:p>
          <a:p>
            <a:pPr marL="285750" indent="-285750">
              <a:buFont typeface="Arial" panose="020B0604020202020204" pitchFamily="34" charset="0"/>
              <a:buChar char="•"/>
            </a:pPr>
            <a:r>
              <a:rPr lang="en-GB" dirty="0"/>
              <a:t>This allows you to correct read counts to reflect </a:t>
            </a:r>
            <a:r>
              <a:rPr lang="en-GB" b="1" dirty="0"/>
              <a:t>absolute abundance</a:t>
            </a:r>
            <a:r>
              <a:rPr lang="en-GB" dirty="0"/>
              <a:t>, not just proportions.</a:t>
            </a:r>
          </a:p>
        </p:txBody>
      </p:sp>
    </p:spTree>
    <p:extLst>
      <p:ext uri="{BB962C8B-B14F-4D97-AF65-F5344CB8AC3E}">
        <p14:creationId xmlns:p14="http://schemas.microsoft.com/office/powerpoint/2010/main" val="1487927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5FC0832-A44F-0D84-B6FD-1544DCD731AD}"/>
            </a:ext>
          </a:extLst>
        </p:cNvPr>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8C45A364-536A-D721-C1AD-EFDA16490ED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197073CB-7F03-1FD3-1029-72B13237AB3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00"/>
          </a:p>
        </p:txBody>
      </p:sp>
      <p:sp>
        <p:nvSpPr>
          <p:cNvPr id="11" name="Rectangle 10">
            <a:extLst>
              <a:ext uri="{FF2B5EF4-FFF2-40B4-BE49-F238E27FC236}">
                <a16:creationId xmlns:a16="http://schemas.microsoft.com/office/drawing/2014/main" id="{5F8430D5-BD88-5D05-103E-906C7B8C86B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695" cy="6858000"/>
          </a:xfrm>
          <a:prstGeom prst="rect">
            <a:avLst/>
          </a:prstGeom>
          <a:gradFill flip="none" rotWithShape="1">
            <a:gsLst>
              <a:gs pos="16000">
                <a:schemeClr val="accent6">
                  <a:alpha val="20000"/>
                </a:schemeClr>
              </a:gs>
              <a:gs pos="85000">
                <a:schemeClr val="accent1">
                  <a:alpha val="40000"/>
                </a:schemeClr>
              </a:gs>
            </a:gsLst>
            <a:lin ang="120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C84065C-9D49-AF22-A29E-0F08BC21D525}"/>
              </a:ext>
            </a:extLst>
          </p:cNvPr>
          <p:cNvSpPr>
            <a:spLocks noGrp="1"/>
          </p:cNvSpPr>
          <p:nvPr>
            <p:ph type="title"/>
          </p:nvPr>
        </p:nvSpPr>
        <p:spPr>
          <a:xfrm>
            <a:off x="3371787" y="1741337"/>
            <a:ext cx="5448730" cy="2387918"/>
          </a:xfrm>
        </p:spPr>
        <p:txBody>
          <a:bodyPr vert="horz" lIns="91440" tIns="45720" rIns="91440" bIns="45720" rtlCol="0" anchor="b">
            <a:normAutofit/>
          </a:bodyPr>
          <a:lstStyle/>
          <a:p>
            <a:pPr algn="ctr"/>
            <a:r>
              <a:rPr lang="en-US" sz="5200" kern="1200" dirty="0">
                <a:solidFill>
                  <a:schemeClr val="tx2"/>
                </a:solidFill>
                <a:latin typeface="+mj-lt"/>
                <a:ea typeface="+mj-ea"/>
                <a:cs typeface="+mj-cs"/>
              </a:rPr>
              <a:t>Diversity measures</a:t>
            </a:r>
          </a:p>
        </p:txBody>
      </p:sp>
      <p:grpSp>
        <p:nvGrpSpPr>
          <p:cNvPr id="13" name="Group 12">
            <a:extLst>
              <a:ext uri="{FF2B5EF4-FFF2-40B4-BE49-F238E27FC236}">
                <a16:creationId xmlns:a16="http://schemas.microsoft.com/office/drawing/2014/main" id="{E1C756D9-DE83-837C-2404-15787EA8B065}"/>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18230" y="-43336"/>
            <a:ext cx="5163047" cy="2657478"/>
            <a:chOff x="6867015" y="-1"/>
            <a:chExt cx="5324985" cy="3251912"/>
          </a:xfrm>
          <a:solidFill>
            <a:schemeClr val="bg1">
              <a:alpha val="30000"/>
            </a:schemeClr>
          </a:solidFill>
        </p:grpSpPr>
        <p:sp>
          <p:nvSpPr>
            <p:cNvPr id="14" name="Freeform: Shape 13">
              <a:extLst>
                <a:ext uri="{FF2B5EF4-FFF2-40B4-BE49-F238E27FC236}">
                  <a16:creationId xmlns:a16="http://schemas.microsoft.com/office/drawing/2014/main" id="{622EBF24-38B5-1960-EEA4-69112B644EC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67015" y="-1"/>
              <a:ext cx="5324985" cy="3251912"/>
            </a:xfrm>
            <a:custGeom>
              <a:avLst/>
              <a:gdLst>
                <a:gd name="connsiteX0" fmla="*/ 0 w 5324985"/>
                <a:gd name="connsiteY0" fmla="*/ 0 h 3251912"/>
                <a:gd name="connsiteX1" fmla="*/ 36826 w 5324985"/>
                <a:gd name="connsiteY1" fmla="*/ 0 h 3251912"/>
                <a:gd name="connsiteX2" fmla="*/ 45003 w 5324985"/>
                <a:gd name="connsiteY2" fmla="*/ 152909 h 3251912"/>
                <a:gd name="connsiteX3" fmla="*/ 68956 w 5324985"/>
                <a:gd name="connsiteY3" fmla="*/ 308600 h 3251912"/>
                <a:gd name="connsiteX4" fmla="*/ 167774 w 5324985"/>
                <a:gd name="connsiteY4" fmla="*/ 607968 h 3251912"/>
                <a:gd name="connsiteX5" fmla="*/ 201857 w 5324985"/>
                <a:gd name="connsiteY5" fmla="*/ 679539 h 3251912"/>
                <a:gd name="connsiteX6" fmla="*/ 239741 w 5324985"/>
                <a:gd name="connsiteY6" fmla="*/ 749488 h 3251912"/>
                <a:gd name="connsiteX7" fmla="*/ 323724 w 5324985"/>
                <a:gd name="connsiteY7" fmla="*/ 885101 h 3251912"/>
                <a:gd name="connsiteX8" fmla="*/ 416412 w 5324985"/>
                <a:gd name="connsiteY8" fmla="*/ 1016081 h 3251912"/>
                <a:gd name="connsiteX9" fmla="*/ 515719 w 5324985"/>
                <a:gd name="connsiteY9" fmla="*/ 1143356 h 3251912"/>
                <a:gd name="connsiteX10" fmla="*/ 722427 w 5324985"/>
                <a:gd name="connsiteY10" fmla="*/ 1395127 h 3251912"/>
                <a:gd name="connsiteX11" fmla="*/ 825780 w 5324985"/>
                <a:gd name="connsiteY11" fmla="*/ 1522749 h 3251912"/>
                <a:gd name="connsiteX12" fmla="*/ 926314 w 5324985"/>
                <a:gd name="connsiteY12" fmla="*/ 1651992 h 3251912"/>
                <a:gd name="connsiteX13" fmla="*/ 1026848 w 5324985"/>
                <a:gd name="connsiteY13" fmla="*/ 1776836 h 3251912"/>
                <a:gd name="connsiteX14" fmla="*/ 1131918 w 5324985"/>
                <a:gd name="connsiteY14" fmla="*/ 1897393 h 3251912"/>
                <a:gd name="connsiteX15" fmla="*/ 1354688 w 5324985"/>
                <a:gd name="connsiteY15" fmla="*/ 2124728 h 3251912"/>
                <a:gd name="connsiteX16" fmla="*/ 1855027 w 5324985"/>
                <a:gd name="connsiteY16" fmla="*/ 2504236 h 3251912"/>
                <a:gd name="connsiteX17" fmla="*/ 2131618 w 5324985"/>
                <a:gd name="connsiteY17" fmla="*/ 2646913 h 3251912"/>
                <a:gd name="connsiteX18" fmla="*/ 2423534 w 5324985"/>
                <a:gd name="connsiteY18" fmla="*/ 2754732 h 3251912"/>
                <a:gd name="connsiteX19" fmla="*/ 2727588 w 5324985"/>
                <a:gd name="connsiteY19" fmla="*/ 2829197 h 3251912"/>
                <a:gd name="connsiteX20" fmla="*/ 3041083 w 5324985"/>
                <a:gd name="connsiteY20" fmla="*/ 2870890 h 3251912"/>
                <a:gd name="connsiteX21" fmla="*/ 3360340 w 5324985"/>
                <a:gd name="connsiteY21" fmla="*/ 2883976 h 3251912"/>
                <a:gd name="connsiteX22" fmla="*/ 3439663 w 5324985"/>
                <a:gd name="connsiteY22" fmla="*/ 2883396 h 3251912"/>
                <a:gd name="connsiteX23" fmla="*/ 3478529 w 5324985"/>
                <a:gd name="connsiteY23" fmla="*/ 2882471 h 3251912"/>
                <a:gd name="connsiteX24" fmla="*/ 3517271 w 5324985"/>
                <a:gd name="connsiteY24" fmla="*/ 2880616 h 3251912"/>
                <a:gd name="connsiteX25" fmla="*/ 3671260 w 5324985"/>
                <a:gd name="connsiteY25" fmla="*/ 2867878 h 3251912"/>
                <a:gd name="connsiteX26" fmla="*/ 4265268 w 5324985"/>
                <a:gd name="connsiteY26" fmla="*/ 2716283 h 3251912"/>
                <a:gd name="connsiteX27" fmla="*/ 4546395 w 5324985"/>
                <a:gd name="connsiteY27" fmla="*/ 2584724 h 3251912"/>
                <a:gd name="connsiteX28" fmla="*/ 4817837 w 5324985"/>
                <a:gd name="connsiteY28" fmla="*/ 2424674 h 3251912"/>
                <a:gd name="connsiteX29" fmla="*/ 5081677 w 5324985"/>
                <a:gd name="connsiteY29" fmla="*/ 2243548 h 3251912"/>
                <a:gd name="connsiteX30" fmla="*/ 5211881 w 5324985"/>
                <a:gd name="connsiteY30" fmla="*/ 2147658 h 3251912"/>
                <a:gd name="connsiteX31" fmla="*/ 5324985 w 5324985"/>
                <a:gd name="connsiteY31" fmla="*/ 2062128 h 3251912"/>
                <a:gd name="connsiteX32" fmla="*/ 5324985 w 5324985"/>
                <a:gd name="connsiteY32" fmla="*/ 2514993 h 3251912"/>
                <a:gd name="connsiteX33" fmla="*/ 5314867 w 5324985"/>
                <a:gd name="connsiteY33" fmla="*/ 2522881 h 3251912"/>
                <a:gd name="connsiteX34" fmla="*/ 5038276 w 5324985"/>
                <a:gd name="connsiteY34" fmla="*/ 2722421 h 3251912"/>
                <a:gd name="connsiteX35" fmla="*/ 4741701 w 5324985"/>
                <a:gd name="connsiteY35" fmla="*/ 2904937 h 3251912"/>
                <a:gd name="connsiteX36" fmla="*/ 4420728 w 5324985"/>
                <a:gd name="connsiteY36" fmla="*/ 3058848 h 3251912"/>
                <a:gd name="connsiteX37" fmla="*/ 3717481 w 5324985"/>
                <a:gd name="connsiteY37" fmla="*/ 3237079 h 3251912"/>
                <a:gd name="connsiteX38" fmla="*/ 3535661 w 5324985"/>
                <a:gd name="connsiteY38" fmla="*/ 3249934 h 3251912"/>
                <a:gd name="connsiteX39" fmla="*/ 3490175 w 5324985"/>
                <a:gd name="connsiteY39" fmla="*/ 3251555 h 3251912"/>
                <a:gd name="connsiteX40" fmla="*/ 3444813 w 5324985"/>
                <a:gd name="connsiteY40" fmla="*/ 3251787 h 3251912"/>
                <a:gd name="connsiteX41" fmla="*/ 3355681 w 5324985"/>
                <a:gd name="connsiteY41" fmla="*/ 3250745 h 3251912"/>
                <a:gd name="connsiteX42" fmla="*/ 3179011 w 5324985"/>
                <a:gd name="connsiteY42" fmla="*/ 3243795 h 3251912"/>
                <a:gd name="connsiteX43" fmla="*/ 3002217 w 5324985"/>
                <a:gd name="connsiteY43" fmla="*/ 3227814 h 3251912"/>
                <a:gd name="connsiteX44" fmla="*/ 2650103 w 5324985"/>
                <a:gd name="connsiteY44" fmla="*/ 3170836 h 3251912"/>
                <a:gd name="connsiteX45" fmla="*/ 2305836 w 5324985"/>
                <a:gd name="connsiteY45" fmla="*/ 3072514 h 3251912"/>
                <a:gd name="connsiteX46" fmla="*/ 1978611 w 5324985"/>
                <a:gd name="connsiteY46" fmla="*/ 2929952 h 3251912"/>
                <a:gd name="connsiteX47" fmla="*/ 1678235 w 5324985"/>
                <a:gd name="connsiteY47" fmla="*/ 2744424 h 3251912"/>
                <a:gd name="connsiteX48" fmla="*/ 1175688 w 5324985"/>
                <a:gd name="connsiteY48" fmla="*/ 2277018 h 3251912"/>
                <a:gd name="connsiteX49" fmla="*/ 971310 w 5324985"/>
                <a:gd name="connsiteY49" fmla="*/ 2012044 h 3251912"/>
                <a:gd name="connsiteX50" fmla="*/ 790717 w 5324985"/>
                <a:gd name="connsiteY50" fmla="*/ 1735723 h 3251912"/>
                <a:gd name="connsiteX51" fmla="*/ 706488 w 5324985"/>
                <a:gd name="connsiteY51" fmla="*/ 1598604 h 3251912"/>
                <a:gd name="connsiteX52" fmla="*/ 618951 w 5324985"/>
                <a:gd name="connsiteY52" fmla="*/ 1463802 h 3251912"/>
                <a:gd name="connsiteX53" fmla="*/ 436273 w 5324985"/>
                <a:gd name="connsiteY53" fmla="*/ 1195355 h 3251912"/>
                <a:gd name="connsiteX54" fmla="*/ 346896 w 5324985"/>
                <a:gd name="connsiteY54" fmla="*/ 1058816 h 3251912"/>
                <a:gd name="connsiteX55" fmla="*/ 261809 w 5324985"/>
                <a:gd name="connsiteY55" fmla="*/ 919264 h 3251912"/>
                <a:gd name="connsiteX56" fmla="*/ 118487 w 5324985"/>
                <a:gd name="connsiteY56" fmla="*/ 626498 h 3251912"/>
                <a:gd name="connsiteX57" fmla="*/ 28130 w 5324985"/>
                <a:gd name="connsiteY57" fmla="*/ 315781 h 3251912"/>
                <a:gd name="connsiteX58" fmla="*/ 6751 w 5324985"/>
                <a:gd name="connsiteY58" fmla="*/ 156195 h 32519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Lst>
              <a:rect l="l" t="t" r="r" b="b"/>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Freeform: Shape 14">
              <a:extLst>
                <a:ext uri="{FF2B5EF4-FFF2-40B4-BE49-F238E27FC236}">
                  <a16:creationId xmlns:a16="http://schemas.microsoft.com/office/drawing/2014/main" id="{37737116-0ED8-FBAE-DEFD-A8FBA92D169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16467" y="-1"/>
              <a:ext cx="5275533" cy="2980757"/>
            </a:xfrm>
            <a:custGeom>
              <a:avLst/>
              <a:gdLst>
                <a:gd name="connsiteX0" fmla="*/ 0 w 5275533"/>
                <a:gd name="connsiteY0" fmla="*/ 0 h 2980757"/>
                <a:gd name="connsiteX1" fmla="*/ 201166 w 5275533"/>
                <a:gd name="connsiteY1" fmla="*/ 0 h 2980757"/>
                <a:gd name="connsiteX2" fmla="*/ 206734 w 5275533"/>
                <a:gd name="connsiteY2" fmla="*/ 89286 h 2980757"/>
                <a:gd name="connsiteX3" fmla="*/ 232051 w 5275533"/>
                <a:gd name="connsiteY3" fmla="*/ 226897 h 2980757"/>
                <a:gd name="connsiteX4" fmla="*/ 332707 w 5275533"/>
                <a:gd name="connsiteY4" fmla="*/ 487120 h 2980757"/>
                <a:gd name="connsiteX5" fmla="*/ 402959 w 5275533"/>
                <a:gd name="connsiteY5" fmla="*/ 609647 h 2980757"/>
                <a:gd name="connsiteX6" fmla="*/ 483631 w 5275533"/>
                <a:gd name="connsiteY6" fmla="*/ 728236 h 2980757"/>
                <a:gd name="connsiteX7" fmla="*/ 669986 w 5275533"/>
                <a:gd name="connsiteY7" fmla="*/ 957424 h 2980757"/>
                <a:gd name="connsiteX8" fmla="*/ 871667 w 5275533"/>
                <a:gd name="connsiteY8" fmla="*/ 1188348 h 2980757"/>
                <a:gd name="connsiteX9" fmla="*/ 971956 w 5275533"/>
                <a:gd name="connsiteY9" fmla="*/ 1308905 h 2980757"/>
                <a:gd name="connsiteX10" fmla="*/ 1020139 w 5275533"/>
                <a:gd name="connsiteY10" fmla="*/ 1368084 h 2980757"/>
                <a:gd name="connsiteX11" fmla="*/ 1067340 w 5275533"/>
                <a:gd name="connsiteY11" fmla="*/ 1424715 h 2980757"/>
                <a:gd name="connsiteX12" fmla="*/ 1472909 w 5275533"/>
                <a:gd name="connsiteY12" fmla="*/ 1843252 h 2980757"/>
                <a:gd name="connsiteX13" fmla="*/ 1688567 w 5275533"/>
                <a:gd name="connsiteY13" fmla="*/ 2031559 h 2980757"/>
                <a:gd name="connsiteX14" fmla="*/ 1914401 w 5275533"/>
                <a:gd name="connsiteY14" fmla="*/ 2205156 h 2980757"/>
                <a:gd name="connsiteX15" fmla="*/ 2418909 w 5275533"/>
                <a:gd name="connsiteY15" fmla="*/ 2479741 h 2980757"/>
                <a:gd name="connsiteX16" fmla="*/ 2701141 w 5275533"/>
                <a:gd name="connsiteY16" fmla="*/ 2557333 h 2980757"/>
                <a:gd name="connsiteX17" fmla="*/ 2773475 w 5275533"/>
                <a:gd name="connsiteY17" fmla="*/ 2570999 h 2980757"/>
                <a:gd name="connsiteX18" fmla="*/ 2846424 w 5275533"/>
                <a:gd name="connsiteY18" fmla="*/ 2582465 h 2980757"/>
                <a:gd name="connsiteX19" fmla="*/ 2993669 w 5275533"/>
                <a:gd name="connsiteY19" fmla="*/ 2598909 h 2980757"/>
                <a:gd name="connsiteX20" fmla="*/ 3067721 w 5275533"/>
                <a:gd name="connsiteY20" fmla="*/ 2604237 h 2980757"/>
                <a:gd name="connsiteX21" fmla="*/ 3142019 w 5275533"/>
                <a:gd name="connsiteY21" fmla="*/ 2607943 h 2980757"/>
                <a:gd name="connsiteX22" fmla="*/ 3216561 w 5275533"/>
                <a:gd name="connsiteY22" fmla="*/ 2609564 h 2980757"/>
                <a:gd name="connsiteX23" fmla="*/ 3291225 w 5275533"/>
                <a:gd name="connsiteY23" fmla="*/ 2609217 h 2980757"/>
                <a:gd name="connsiteX24" fmla="*/ 3328619 w 5275533"/>
                <a:gd name="connsiteY24" fmla="*/ 2608869 h 2980757"/>
                <a:gd name="connsiteX25" fmla="*/ 3364665 w 5275533"/>
                <a:gd name="connsiteY25" fmla="*/ 2607363 h 2980757"/>
                <a:gd name="connsiteX26" fmla="*/ 3400587 w 5275533"/>
                <a:gd name="connsiteY26" fmla="*/ 2605627 h 2980757"/>
                <a:gd name="connsiteX27" fmla="*/ 3436387 w 5275533"/>
                <a:gd name="connsiteY27" fmla="*/ 2602847 h 2980757"/>
                <a:gd name="connsiteX28" fmla="*/ 3578361 w 5275533"/>
                <a:gd name="connsiteY28" fmla="*/ 2586286 h 2980757"/>
                <a:gd name="connsiteX29" fmla="*/ 4119159 w 5275533"/>
                <a:gd name="connsiteY29" fmla="*/ 2418594 h 2980757"/>
                <a:gd name="connsiteX30" fmla="*/ 4618765 w 5275533"/>
                <a:gd name="connsiteY30" fmla="*/ 2124668 h 2980757"/>
                <a:gd name="connsiteX31" fmla="*/ 4739895 w 5275533"/>
                <a:gd name="connsiteY31" fmla="*/ 2038275 h 2980757"/>
                <a:gd name="connsiteX32" fmla="*/ 4861027 w 5275533"/>
                <a:gd name="connsiteY32" fmla="*/ 1948986 h 2980757"/>
                <a:gd name="connsiteX33" fmla="*/ 5106354 w 5275533"/>
                <a:gd name="connsiteY33" fmla="*/ 1763690 h 2980757"/>
                <a:gd name="connsiteX34" fmla="*/ 5275533 w 5275533"/>
                <a:gd name="connsiteY34" fmla="*/ 1641017 h 2980757"/>
                <a:gd name="connsiteX35" fmla="*/ 5275533 w 5275533"/>
                <a:gd name="connsiteY35" fmla="*/ 2257481 h 2980757"/>
                <a:gd name="connsiteX36" fmla="*/ 5168881 w 5275533"/>
                <a:gd name="connsiteY36" fmla="*/ 2332084 h 2980757"/>
                <a:gd name="connsiteX37" fmla="*/ 5036225 w 5275533"/>
                <a:gd name="connsiteY37" fmla="*/ 2421489 h 2980757"/>
                <a:gd name="connsiteX38" fmla="*/ 4899401 w 5275533"/>
                <a:gd name="connsiteY38" fmla="*/ 2508347 h 2980757"/>
                <a:gd name="connsiteX39" fmla="*/ 4612145 w 5275533"/>
                <a:gd name="connsiteY39" fmla="*/ 2671407 h 2980757"/>
                <a:gd name="connsiteX40" fmla="*/ 4303187 w 5275533"/>
                <a:gd name="connsiteY40" fmla="*/ 2810030 h 2980757"/>
                <a:gd name="connsiteX41" fmla="*/ 3630835 w 5275533"/>
                <a:gd name="connsiteY41" fmla="*/ 2969500 h 2980757"/>
                <a:gd name="connsiteX42" fmla="*/ 3457719 w 5275533"/>
                <a:gd name="connsiteY42" fmla="*/ 2979808 h 2980757"/>
                <a:gd name="connsiteX43" fmla="*/ 3414441 w 5275533"/>
                <a:gd name="connsiteY43" fmla="*/ 2980733 h 2980757"/>
                <a:gd name="connsiteX44" fmla="*/ 3371285 w 5275533"/>
                <a:gd name="connsiteY44" fmla="*/ 2980502 h 2980757"/>
                <a:gd name="connsiteX45" fmla="*/ 3328252 w 5275533"/>
                <a:gd name="connsiteY45" fmla="*/ 2980039 h 2980757"/>
                <a:gd name="connsiteX46" fmla="*/ 3286445 w 5275533"/>
                <a:gd name="connsiteY46" fmla="*/ 2978534 h 2980757"/>
                <a:gd name="connsiteX47" fmla="*/ 2952475 w 5275533"/>
                <a:gd name="connsiteY47" fmla="*/ 2953402 h 2980757"/>
                <a:gd name="connsiteX48" fmla="*/ 2620591 w 5275533"/>
                <a:gd name="connsiteY48" fmla="*/ 2898046 h 2980757"/>
                <a:gd name="connsiteX49" fmla="*/ 2294591 w 5275533"/>
                <a:gd name="connsiteY49" fmla="*/ 2811305 h 2980757"/>
                <a:gd name="connsiteX50" fmla="*/ 1670544 w 5275533"/>
                <a:gd name="connsiteY50" fmla="*/ 2550501 h 2980757"/>
                <a:gd name="connsiteX51" fmla="*/ 1144703 w 5275533"/>
                <a:gd name="connsiteY51" fmla="*/ 2144472 h 2980757"/>
                <a:gd name="connsiteX52" fmla="*/ 931497 w 5275533"/>
                <a:gd name="connsiteY52" fmla="*/ 1900114 h 2980757"/>
                <a:gd name="connsiteX53" fmla="*/ 745265 w 5275533"/>
                <a:gd name="connsiteY53" fmla="*/ 1641395 h 2980757"/>
                <a:gd name="connsiteX54" fmla="*/ 701741 w 5275533"/>
                <a:gd name="connsiteY54" fmla="*/ 1575500 h 2980757"/>
                <a:gd name="connsiteX55" fmla="*/ 660178 w 5275533"/>
                <a:gd name="connsiteY55" fmla="*/ 1511573 h 2980757"/>
                <a:gd name="connsiteX56" fmla="*/ 578158 w 5275533"/>
                <a:gd name="connsiteY56" fmla="*/ 1387656 h 2980757"/>
                <a:gd name="connsiteX57" fmla="*/ 408230 w 5275533"/>
                <a:gd name="connsiteY57" fmla="*/ 1134497 h 2980757"/>
                <a:gd name="connsiteX58" fmla="*/ 242349 w 5275533"/>
                <a:gd name="connsiteY58" fmla="*/ 866860 h 2980757"/>
                <a:gd name="connsiteX59" fmla="*/ 167562 w 5275533"/>
                <a:gd name="connsiteY59" fmla="*/ 724994 h 2980757"/>
                <a:gd name="connsiteX60" fmla="*/ 104054 w 5275533"/>
                <a:gd name="connsiteY60" fmla="*/ 576525 h 2980757"/>
                <a:gd name="connsiteX61" fmla="*/ 55381 w 5275533"/>
                <a:gd name="connsiteY61" fmla="*/ 422499 h 2980757"/>
                <a:gd name="connsiteX62" fmla="*/ 37236 w 5275533"/>
                <a:gd name="connsiteY62" fmla="*/ 343980 h 2980757"/>
                <a:gd name="connsiteX63" fmla="*/ 29267 w 5275533"/>
                <a:gd name="connsiteY63" fmla="*/ 304604 h 2980757"/>
                <a:gd name="connsiteX64" fmla="*/ 22646 w 5275533"/>
                <a:gd name="connsiteY64" fmla="*/ 265113 h 2980757"/>
                <a:gd name="connsiteX65" fmla="*/ 3903 w 5275533"/>
                <a:gd name="connsiteY65" fmla="*/ 106787 h 29807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Lst>
              <a:rect l="l" t="t" r="r" b="b"/>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Freeform: Shape 15">
              <a:extLst>
                <a:ext uri="{FF2B5EF4-FFF2-40B4-BE49-F238E27FC236}">
                  <a16:creationId xmlns:a16="http://schemas.microsoft.com/office/drawing/2014/main" id="{F7346260-92E3-0680-7D7F-D528BE36C21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21214" y="-1"/>
              <a:ext cx="5270786" cy="2927775"/>
            </a:xfrm>
            <a:custGeom>
              <a:avLst/>
              <a:gdLst>
                <a:gd name="connsiteX0" fmla="*/ 0 w 5270786"/>
                <a:gd name="connsiteY0" fmla="*/ 0 h 2927775"/>
                <a:gd name="connsiteX1" fmla="*/ 613805 w 5270786"/>
                <a:gd name="connsiteY1" fmla="*/ 0 h 2927775"/>
                <a:gd name="connsiteX2" fmla="*/ 618487 w 5270786"/>
                <a:gd name="connsiteY2" fmla="*/ 85404 h 2927775"/>
                <a:gd name="connsiteX3" fmla="*/ 1054084 w 5270786"/>
                <a:gd name="connsiteY3" fmla="*/ 895200 h 2927775"/>
                <a:gd name="connsiteX4" fmla="*/ 1276976 w 5270786"/>
                <a:gd name="connsiteY4" fmla="*/ 1191325 h 2927775"/>
                <a:gd name="connsiteX5" fmla="*/ 3368450 w 5270786"/>
                <a:gd name="connsiteY5" fmla="*/ 2348843 h 2927775"/>
                <a:gd name="connsiteX6" fmla="*/ 4956151 w 5270786"/>
                <a:gd name="connsiteY6" fmla="*/ 1636730 h 2927775"/>
                <a:gd name="connsiteX7" fmla="*/ 5149372 w 5270786"/>
                <a:gd name="connsiteY7" fmla="*/ 1495325 h 2927775"/>
                <a:gd name="connsiteX8" fmla="*/ 5270786 w 5270786"/>
                <a:gd name="connsiteY8" fmla="*/ 1406110 h 2927775"/>
                <a:gd name="connsiteX9" fmla="*/ 5270786 w 5270786"/>
                <a:gd name="connsiteY9" fmla="*/ 2138641 h 2927775"/>
                <a:gd name="connsiteX10" fmla="*/ 5112925 w 5270786"/>
                <a:gd name="connsiteY10" fmla="*/ 2253730 h 2927775"/>
                <a:gd name="connsiteX11" fmla="*/ 3368327 w 5270786"/>
                <a:gd name="connsiteY11" fmla="*/ 2927775 h 2927775"/>
                <a:gd name="connsiteX12" fmla="*/ 769646 w 5270786"/>
                <a:gd name="connsiteY12" fmla="*/ 1516288 h 2927775"/>
                <a:gd name="connsiteX13" fmla="*/ 3149 w 5270786"/>
                <a:gd name="connsiteY13" fmla="*/ 85252 h 2927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Freeform: Shape 16">
              <a:extLst>
                <a:ext uri="{FF2B5EF4-FFF2-40B4-BE49-F238E27FC236}">
                  <a16:creationId xmlns:a16="http://schemas.microsoft.com/office/drawing/2014/main" id="{683F5C54-D84A-5BA7-FDA2-C5C68765C2E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21214" y="-1"/>
              <a:ext cx="5270786" cy="2927775"/>
            </a:xfrm>
            <a:custGeom>
              <a:avLst/>
              <a:gdLst>
                <a:gd name="connsiteX0" fmla="*/ 0 w 5270786"/>
                <a:gd name="connsiteY0" fmla="*/ 0 h 2927775"/>
                <a:gd name="connsiteX1" fmla="*/ 736294 w 5270786"/>
                <a:gd name="connsiteY1" fmla="*/ 0 h 2927775"/>
                <a:gd name="connsiteX2" fmla="*/ 740298 w 5270786"/>
                <a:gd name="connsiteY2" fmla="*/ 72745 h 2927775"/>
                <a:gd name="connsiteX3" fmla="*/ 1153024 w 5270786"/>
                <a:gd name="connsiteY3" fmla="*/ 826989 h 2927775"/>
                <a:gd name="connsiteX4" fmla="*/ 1378368 w 5270786"/>
                <a:gd name="connsiteY4" fmla="*/ 1126356 h 2927775"/>
                <a:gd name="connsiteX5" fmla="*/ 2238056 w 5270786"/>
                <a:gd name="connsiteY5" fmla="*/ 1955322 h 2927775"/>
                <a:gd name="connsiteX6" fmla="*/ 3368327 w 5270786"/>
                <a:gd name="connsiteY6" fmla="*/ 2233033 h 2927775"/>
                <a:gd name="connsiteX7" fmla="*/ 4095360 w 5270786"/>
                <a:gd name="connsiteY7" fmla="*/ 2056192 h 2927775"/>
                <a:gd name="connsiteX8" fmla="*/ 4880506 w 5270786"/>
                <a:gd name="connsiteY8" fmla="*/ 1545587 h 2927775"/>
                <a:gd name="connsiteX9" fmla="*/ 5074340 w 5270786"/>
                <a:gd name="connsiteY9" fmla="*/ 1403721 h 2927775"/>
                <a:gd name="connsiteX10" fmla="*/ 5270786 w 5270786"/>
                <a:gd name="connsiteY10" fmla="*/ 1259367 h 2927775"/>
                <a:gd name="connsiteX11" fmla="*/ 5270786 w 5270786"/>
                <a:gd name="connsiteY11" fmla="*/ 2138641 h 2927775"/>
                <a:gd name="connsiteX12" fmla="*/ 5112925 w 5270786"/>
                <a:gd name="connsiteY12" fmla="*/ 2253730 h 2927775"/>
                <a:gd name="connsiteX13" fmla="*/ 3368327 w 5270786"/>
                <a:gd name="connsiteY13" fmla="*/ 2927775 h 2927775"/>
                <a:gd name="connsiteX14" fmla="*/ 769646 w 5270786"/>
                <a:gd name="connsiteY14" fmla="*/ 1516288 h 2927775"/>
                <a:gd name="connsiteX15" fmla="*/ 3149 w 5270786"/>
                <a:gd name="connsiteY15" fmla="*/ 85252 h 2927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9" name="Group 18">
            <a:extLst>
              <a:ext uri="{FF2B5EF4-FFF2-40B4-BE49-F238E27FC236}">
                <a16:creationId xmlns:a16="http://schemas.microsoft.com/office/drawing/2014/main" id="{4F130C4B-1B33-E3FD-5663-7AB7AB02802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10800000">
            <a:off x="9058275" y="4146310"/>
            <a:ext cx="3142400" cy="2716805"/>
            <a:chOff x="-305" y="-4155"/>
            <a:chExt cx="2514948" cy="2174333"/>
          </a:xfrm>
          <a:solidFill>
            <a:schemeClr val="bg1">
              <a:alpha val="30000"/>
            </a:schemeClr>
          </a:solidFill>
        </p:grpSpPr>
        <p:sp>
          <p:nvSpPr>
            <p:cNvPr id="20" name="Freeform: Shape 19">
              <a:extLst>
                <a:ext uri="{FF2B5EF4-FFF2-40B4-BE49-F238E27FC236}">
                  <a16:creationId xmlns:a16="http://schemas.microsoft.com/office/drawing/2014/main" id="{C7B1A534-3E64-B85F-AC58-564191C9016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14948" cy="2170178"/>
            </a:xfrm>
            <a:custGeom>
              <a:avLst/>
              <a:gdLst>
                <a:gd name="connsiteX0" fmla="*/ 2466091 w 2514948"/>
                <a:gd name="connsiteY0" fmla="*/ 0 h 2170178"/>
                <a:gd name="connsiteX1" fmla="*/ 2514948 w 2514948"/>
                <a:gd name="connsiteY1" fmla="*/ 0 h 2170178"/>
                <a:gd name="connsiteX2" fmla="*/ 2512286 w 2514948"/>
                <a:gd name="connsiteY2" fmla="*/ 12375 h 2170178"/>
                <a:gd name="connsiteX3" fmla="*/ 2394961 w 2514948"/>
                <a:gd name="connsiteY3" fmla="*/ 368660 h 2170178"/>
                <a:gd name="connsiteX4" fmla="*/ 2289734 w 2514948"/>
                <a:gd name="connsiteY4" fmla="*/ 598078 h 2170178"/>
                <a:gd name="connsiteX5" fmla="*/ 2163747 w 2514948"/>
                <a:gd name="connsiteY5" fmla="*/ 819078 h 2170178"/>
                <a:gd name="connsiteX6" fmla="*/ 1852241 w 2514948"/>
                <a:gd name="connsiteY6" fmla="*/ 1228932 h 2170178"/>
                <a:gd name="connsiteX7" fmla="*/ 1668235 w 2514948"/>
                <a:gd name="connsiteY7" fmla="*/ 1413844 h 2170178"/>
                <a:gd name="connsiteX8" fmla="*/ 1619510 w 2514948"/>
                <a:gd name="connsiteY8" fmla="*/ 1457722 h 2170178"/>
                <a:gd name="connsiteX9" fmla="*/ 1569835 w 2514948"/>
                <a:gd name="connsiteY9" fmla="*/ 1500704 h 2170178"/>
                <a:gd name="connsiteX10" fmla="*/ 1467169 w 2514948"/>
                <a:gd name="connsiteY10" fmla="*/ 1583266 h 2170178"/>
                <a:gd name="connsiteX11" fmla="*/ 1018393 w 2514948"/>
                <a:gd name="connsiteY11" fmla="*/ 1867576 h 2170178"/>
                <a:gd name="connsiteX12" fmla="*/ 255857 w 2514948"/>
                <a:gd name="connsiteY12" fmla="*/ 2133049 h 2170178"/>
                <a:gd name="connsiteX13" fmla="*/ 0 w 2514948"/>
                <a:gd name="connsiteY13" fmla="*/ 2170178 h 2170178"/>
                <a:gd name="connsiteX14" fmla="*/ 0 w 2514948"/>
                <a:gd name="connsiteY14" fmla="*/ 1940056 h 2170178"/>
                <a:gd name="connsiteX15" fmla="*/ 201609 w 2514948"/>
                <a:gd name="connsiteY15" fmla="*/ 1902856 h 2170178"/>
                <a:gd name="connsiteX16" fmla="*/ 440974 w 2514948"/>
                <a:gd name="connsiteY16" fmla="*/ 1838472 h 2170178"/>
                <a:gd name="connsiteX17" fmla="*/ 674558 w 2514948"/>
                <a:gd name="connsiteY17" fmla="*/ 1756359 h 2170178"/>
                <a:gd name="connsiteX18" fmla="*/ 901222 w 2514948"/>
                <a:gd name="connsiteY18" fmla="*/ 1657142 h 2170178"/>
                <a:gd name="connsiteX19" fmla="*/ 1330943 w 2514948"/>
                <a:gd name="connsiteY19" fmla="*/ 1413396 h 2170178"/>
                <a:gd name="connsiteX20" fmla="*/ 1432566 w 2514948"/>
                <a:gd name="connsiteY20" fmla="*/ 1343193 h 2170178"/>
                <a:gd name="connsiteX21" fmla="*/ 1482527 w 2514948"/>
                <a:gd name="connsiteY21" fmla="*/ 1306926 h 2170178"/>
                <a:gd name="connsiteX22" fmla="*/ 1531821 w 2514948"/>
                <a:gd name="connsiteY22" fmla="*/ 1269765 h 2170178"/>
                <a:gd name="connsiteX23" fmla="*/ 1721986 w 2514948"/>
                <a:gd name="connsiteY23" fmla="*/ 1112073 h 2170178"/>
                <a:gd name="connsiteX24" fmla="*/ 2061460 w 2514948"/>
                <a:gd name="connsiteY24" fmla="*/ 754336 h 2170178"/>
                <a:gd name="connsiteX25" fmla="*/ 2206218 w 2514948"/>
                <a:gd name="connsiteY25" fmla="*/ 554827 h 2170178"/>
                <a:gd name="connsiteX26" fmla="*/ 2329455 w 2514948"/>
                <a:gd name="connsiteY26" fmla="*/ 341886 h 2170178"/>
                <a:gd name="connsiteX27" fmla="*/ 2356757 w 2514948"/>
                <a:gd name="connsiteY27" fmla="*/ 286815 h 2170178"/>
                <a:gd name="connsiteX28" fmla="*/ 2370030 w 2514948"/>
                <a:gd name="connsiteY28" fmla="*/ 259056 h 2170178"/>
                <a:gd name="connsiteX29" fmla="*/ 2382637 w 2514948"/>
                <a:gd name="connsiteY29" fmla="*/ 231028 h 2170178"/>
                <a:gd name="connsiteX30" fmla="*/ 2406716 w 2514948"/>
                <a:gd name="connsiteY30" fmla="*/ 174525 h 2170178"/>
                <a:gd name="connsiteX31" fmla="*/ 2429278 w 2514948"/>
                <a:gd name="connsiteY31" fmla="*/ 117393 h 2170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2514948" h="2170178">
                  <a:moveTo>
                    <a:pt x="2466091" y="0"/>
                  </a:moveTo>
                  <a:lnTo>
                    <a:pt x="2514948" y="0"/>
                  </a:lnTo>
                  <a:lnTo>
                    <a:pt x="2512286" y="12375"/>
                  </a:lnTo>
                  <a:cubicBezTo>
                    <a:pt x="2481760" y="133161"/>
                    <a:pt x="2442526" y="252239"/>
                    <a:pt x="2394961" y="368660"/>
                  </a:cubicBezTo>
                  <a:cubicBezTo>
                    <a:pt x="2363109" y="446208"/>
                    <a:pt x="2328603" y="523039"/>
                    <a:pt x="2289734" y="598078"/>
                  </a:cubicBezTo>
                  <a:cubicBezTo>
                    <a:pt x="2251436" y="673387"/>
                    <a:pt x="2209251" y="747083"/>
                    <a:pt x="2163747" y="819078"/>
                  </a:cubicBezTo>
                  <a:cubicBezTo>
                    <a:pt x="2072646" y="962979"/>
                    <a:pt x="1968652" y="1100611"/>
                    <a:pt x="1852241" y="1228932"/>
                  </a:cubicBezTo>
                  <a:cubicBezTo>
                    <a:pt x="1793748" y="1292868"/>
                    <a:pt x="1732698" y="1354923"/>
                    <a:pt x="1668235" y="1413844"/>
                  </a:cubicBezTo>
                  <a:cubicBezTo>
                    <a:pt x="1652214" y="1428709"/>
                    <a:pt x="1636100" y="1443395"/>
                    <a:pt x="1619510" y="1457722"/>
                  </a:cubicBezTo>
                  <a:cubicBezTo>
                    <a:pt x="1603015" y="1472140"/>
                    <a:pt x="1586805" y="1486825"/>
                    <a:pt x="1569835" y="1500704"/>
                  </a:cubicBezTo>
                  <a:cubicBezTo>
                    <a:pt x="1536276" y="1528911"/>
                    <a:pt x="1501865" y="1556223"/>
                    <a:pt x="1467169" y="1583266"/>
                  </a:cubicBezTo>
                  <a:cubicBezTo>
                    <a:pt x="1327719" y="1690722"/>
                    <a:pt x="1177085" y="1785910"/>
                    <a:pt x="1018393" y="1867576"/>
                  </a:cubicBezTo>
                  <a:cubicBezTo>
                    <a:pt x="780425" y="1990142"/>
                    <a:pt x="522567" y="2080875"/>
                    <a:pt x="255857" y="2133049"/>
                  </a:cubicBezTo>
                  <a:lnTo>
                    <a:pt x="0" y="2170178"/>
                  </a:lnTo>
                  <a:lnTo>
                    <a:pt x="0" y="1940056"/>
                  </a:lnTo>
                  <a:lnTo>
                    <a:pt x="201609" y="1902856"/>
                  </a:lnTo>
                  <a:cubicBezTo>
                    <a:pt x="282186" y="1884231"/>
                    <a:pt x="362102" y="1863008"/>
                    <a:pt x="440974" y="1838472"/>
                  </a:cubicBezTo>
                  <a:cubicBezTo>
                    <a:pt x="519848" y="1814027"/>
                    <a:pt x="597771" y="1786627"/>
                    <a:pt x="674558" y="1756359"/>
                  </a:cubicBezTo>
                  <a:cubicBezTo>
                    <a:pt x="751250" y="1726003"/>
                    <a:pt x="826900" y="1692870"/>
                    <a:pt x="901222" y="1657142"/>
                  </a:cubicBezTo>
                  <a:cubicBezTo>
                    <a:pt x="1049865" y="1585774"/>
                    <a:pt x="1193581" y="1504376"/>
                    <a:pt x="1330943" y="1413396"/>
                  </a:cubicBezTo>
                  <a:cubicBezTo>
                    <a:pt x="1365165" y="1390563"/>
                    <a:pt x="1399293" y="1367370"/>
                    <a:pt x="1432566" y="1343193"/>
                  </a:cubicBezTo>
                  <a:cubicBezTo>
                    <a:pt x="1449441" y="1331373"/>
                    <a:pt x="1465936" y="1319104"/>
                    <a:pt x="1482527" y="1306926"/>
                  </a:cubicBezTo>
                  <a:cubicBezTo>
                    <a:pt x="1499210" y="1294837"/>
                    <a:pt x="1515611" y="1282391"/>
                    <a:pt x="1531821" y="1269765"/>
                  </a:cubicBezTo>
                  <a:cubicBezTo>
                    <a:pt x="1596947" y="1219350"/>
                    <a:pt x="1660652" y="1167055"/>
                    <a:pt x="1721986" y="1112073"/>
                  </a:cubicBezTo>
                  <a:cubicBezTo>
                    <a:pt x="1844940" y="1002469"/>
                    <a:pt x="1958983" y="882926"/>
                    <a:pt x="2061460" y="754336"/>
                  </a:cubicBezTo>
                  <a:cubicBezTo>
                    <a:pt x="2112652" y="690042"/>
                    <a:pt x="2161094" y="623510"/>
                    <a:pt x="2206218" y="554827"/>
                  </a:cubicBezTo>
                  <a:cubicBezTo>
                    <a:pt x="2250583" y="485787"/>
                    <a:pt x="2292484" y="415046"/>
                    <a:pt x="2329455" y="341886"/>
                  </a:cubicBezTo>
                  <a:cubicBezTo>
                    <a:pt x="2339030" y="323709"/>
                    <a:pt x="2347941" y="305261"/>
                    <a:pt x="2356757" y="286815"/>
                  </a:cubicBezTo>
                  <a:lnTo>
                    <a:pt x="2370030" y="259056"/>
                  </a:lnTo>
                  <a:lnTo>
                    <a:pt x="2382637" y="231028"/>
                  </a:lnTo>
                  <a:cubicBezTo>
                    <a:pt x="2390885" y="212312"/>
                    <a:pt x="2399227" y="193598"/>
                    <a:pt x="2406716" y="174525"/>
                  </a:cubicBezTo>
                  <a:cubicBezTo>
                    <a:pt x="2414206" y="155452"/>
                    <a:pt x="2422453" y="136646"/>
                    <a:pt x="2429278" y="117393"/>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Freeform: Shape 20">
              <a:extLst>
                <a:ext uri="{FF2B5EF4-FFF2-40B4-BE49-F238E27FC236}">
                  <a16:creationId xmlns:a16="http://schemas.microsoft.com/office/drawing/2014/main" id="{B99ABAC8-95DE-F01D-87D4-6DCDC0B6DDD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4155"/>
              <a:ext cx="2493062" cy="1947896"/>
            </a:xfrm>
            <a:custGeom>
              <a:avLst/>
              <a:gdLst>
                <a:gd name="connsiteX0" fmla="*/ 1896911 w 2493062"/>
                <a:gd name="connsiteY0" fmla="*/ 0 h 1947896"/>
                <a:gd name="connsiteX1" fmla="*/ 2493062 w 2493062"/>
                <a:gd name="connsiteY1" fmla="*/ 0 h 1947896"/>
                <a:gd name="connsiteX2" fmla="*/ 2435315 w 2493062"/>
                <a:gd name="connsiteY2" fmla="*/ 178165 h 1947896"/>
                <a:gd name="connsiteX3" fmla="*/ 93066 w 2493062"/>
                <a:gd name="connsiteY3" fmla="*/ 1935859 h 1947896"/>
                <a:gd name="connsiteX4" fmla="*/ 0 w 2493062"/>
                <a:gd name="connsiteY4" fmla="*/ 1947896 h 1947896"/>
                <a:gd name="connsiteX5" fmla="*/ 0 w 2493062"/>
                <a:gd name="connsiteY5" fmla="*/ 1404756 h 1947896"/>
                <a:gd name="connsiteX6" fmla="*/ 17392 w 2493062"/>
                <a:gd name="connsiteY6" fmla="*/ 1402364 h 1947896"/>
                <a:gd name="connsiteX7" fmla="*/ 464249 w 2493062"/>
                <a:gd name="connsiteY7" fmla="*/ 1281208 h 1947896"/>
                <a:gd name="connsiteX8" fmla="*/ 1260556 w 2493062"/>
                <a:gd name="connsiteY8" fmla="*/ 833835 h 1947896"/>
                <a:gd name="connsiteX9" fmla="*/ 1807924 w 2493062"/>
                <a:gd name="connsiteY9" fmla="*/ 193222 h 1947896"/>
                <a:gd name="connsiteX10" fmla="*/ 1874357 w 2493062"/>
                <a:gd name="connsiteY10" fmla="*/ 58333 h 1947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3062" h="1947896">
                  <a:moveTo>
                    <a:pt x="1896911" y="0"/>
                  </a:moveTo>
                  <a:lnTo>
                    <a:pt x="2493062" y="0"/>
                  </a:lnTo>
                  <a:lnTo>
                    <a:pt x="2435315" y="178165"/>
                  </a:lnTo>
                  <a:cubicBezTo>
                    <a:pt x="2088122" y="1071812"/>
                    <a:pt x="1129732" y="1758033"/>
                    <a:pt x="93066" y="1935859"/>
                  </a:cubicBezTo>
                  <a:lnTo>
                    <a:pt x="0" y="1947896"/>
                  </a:lnTo>
                  <a:lnTo>
                    <a:pt x="0" y="1404756"/>
                  </a:lnTo>
                  <a:lnTo>
                    <a:pt x="17392" y="1402364"/>
                  </a:lnTo>
                  <a:cubicBezTo>
                    <a:pt x="167719" y="1375030"/>
                    <a:pt x="318070" y="1334398"/>
                    <a:pt x="464249" y="1281208"/>
                  </a:cubicBezTo>
                  <a:cubicBezTo>
                    <a:pt x="753480" y="1176081"/>
                    <a:pt x="1028869" y="1021346"/>
                    <a:pt x="1260556" y="833835"/>
                  </a:cubicBezTo>
                  <a:cubicBezTo>
                    <a:pt x="1491960" y="646594"/>
                    <a:pt x="1681177" y="425056"/>
                    <a:pt x="1807924" y="193222"/>
                  </a:cubicBezTo>
                  <a:cubicBezTo>
                    <a:pt x="1832328" y="148578"/>
                    <a:pt x="1854477" y="103599"/>
                    <a:pt x="1874357" y="58333"/>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Freeform: Shape 21">
              <a:extLst>
                <a:ext uri="{FF2B5EF4-FFF2-40B4-BE49-F238E27FC236}">
                  <a16:creationId xmlns:a16="http://schemas.microsoft.com/office/drawing/2014/main" id="{5528E83A-16C5-85F5-434F-143E2A4740E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01089" cy="1972702"/>
            </a:xfrm>
            <a:custGeom>
              <a:avLst/>
              <a:gdLst>
                <a:gd name="connsiteX0" fmla="*/ 2318728 w 2501089"/>
                <a:gd name="connsiteY0" fmla="*/ 0 h 1972702"/>
                <a:gd name="connsiteX1" fmla="*/ 2501089 w 2501089"/>
                <a:gd name="connsiteY1" fmla="*/ 0 h 1972702"/>
                <a:gd name="connsiteX2" fmla="*/ 2453909 w 2501089"/>
                <a:gd name="connsiteY2" fmla="*/ 167837 h 1972702"/>
                <a:gd name="connsiteX3" fmla="*/ 2361125 w 2501089"/>
                <a:gd name="connsiteY3" fmla="*/ 392084 h 1972702"/>
                <a:gd name="connsiteX4" fmla="*/ 1768255 w 2501089"/>
                <a:gd name="connsiteY4" fmla="*/ 1167644 h 1972702"/>
                <a:gd name="connsiteX5" fmla="*/ 1375125 w 2501089"/>
                <a:gd name="connsiteY5" fmla="*/ 1471474 h 1972702"/>
                <a:gd name="connsiteX6" fmla="*/ 935735 w 2501089"/>
                <a:gd name="connsiteY6" fmla="*/ 1712713 h 1972702"/>
                <a:gd name="connsiteX7" fmla="*/ 212353 w 2501089"/>
                <a:gd name="connsiteY7" fmla="*/ 1940294 h 1972702"/>
                <a:gd name="connsiteX8" fmla="*/ 0 w 2501089"/>
                <a:gd name="connsiteY8" fmla="*/ 1972702 h 1972702"/>
                <a:gd name="connsiteX9" fmla="*/ 0 w 2501089"/>
                <a:gd name="connsiteY9" fmla="*/ 1732181 h 1972702"/>
                <a:gd name="connsiteX10" fmla="*/ 161195 w 2501089"/>
                <a:gd name="connsiteY10" fmla="*/ 1706590 h 1972702"/>
                <a:gd name="connsiteX11" fmla="*/ 388463 w 2501089"/>
                <a:gd name="connsiteY11" fmla="*/ 1652268 h 1972702"/>
                <a:gd name="connsiteX12" fmla="*/ 826716 w 2501089"/>
                <a:gd name="connsiteY12" fmla="*/ 1493950 h 1972702"/>
                <a:gd name="connsiteX13" fmla="*/ 1609847 w 2501089"/>
                <a:gd name="connsiteY13" fmla="*/ 1007535 h 1972702"/>
                <a:gd name="connsiteX14" fmla="*/ 1929982 w 2501089"/>
                <a:gd name="connsiteY14" fmla="*/ 682930 h 1972702"/>
                <a:gd name="connsiteX15" fmla="*/ 2183093 w 2501089"/>
                <a:gd name="connsiteY15" fmla="*/ 310149 h 1972702"/>
                <a:gd name="connsiteX16" fmla="*/ 2280286 w 2501089"/>
                <a:gd name="connsiteY16" fmla="*/ 108435 h 19727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01089" h="1972702">
                  <a:moveTo>
                    <a:pt x="2318728" y="0"/>
                  </a:moveTo>
                  <a:lnTo>
                    <a:pt x="2501089" y="0"/>
                  </a:lnTo>
                  <a:lnTo>
                    <a:pt x="2453909" y="167837"/>
                  </a:lnTo>
                  <a:cubicBezTo>
                    <a:pt x="2427555" y="244153"/>
                    <a:pt x="2396627" y="319103"/>
                    <a:pt x="2361125" y="392084"/>
                  </a:cubicBezTo>
                  <a:cubicBezTo>
                    <a:pt x="2218453" y="684005"/>
                    <a:pt x="2011698" y="945211"/>
                    <a:pt x="1768255" y="1167644"/>
                  </a:cubicBezTo>
                  <a:cubicBezTo>
                    <a:pt x="1646250" y="1278860"/>
                    <a:pt x="1514385" y="1380316"/>
                    <a:pt x="1375125" y="1471474"/>
                  </a:cubicBezTo>
                  <a:cubicBezTo>
                    <a:pt x="1235677" y="1562542"/>
                    <a:pt x="1088928" y="1643672"/>
                    <a:pt x="935735" y="1712713"/>
                  </a:cubicBezTo>
                  <a:cubicBezTo>
                    <a:pt x="705659" y="1815533"/>
                    <a:pt x="462359" y="1892212"/>
                    <a:pt x="212353" y="1940294"/>
                  </a:cubicBezTo>
                  <a:lnTo>
                    <a:pt x="0" y="1972702"/>
                  </a:lnTo>
                  <a:lnTo>
                    <a:pt x="0" y="1732181"/>
                  </a:lnTo>
                  <a:lnTo>
                    <a:pt x="161195" y="1706590"/>
                  </a:lnTo>
                  <a:cubicBezTo>
                    <a:pt x="237638" y="1691378"/>
                    <a:pt x="313477" y="1673222"/>
                    <a:pt x="388463" y="1652268"/>
                  </a:cubicBezTo>
                  <a:cubicBezTo>
                    <a:pt x="538529" y="1610539"/>
                    <a:pt x="684898" y="1556543"/>
                    <a:pt x="826716" y="1493950"/>
                  </a:cubicBezTo>
                  <a:cubicBezTo>
                    <a:pt x="1111207" y="1370107"/>
                    <a:pt x="1376832" y="1205881"/>
                    <a:pt x="1609847" y="1007535"/>
                  </a:cubicBezTo>
                  <a:cubicBezTo>
                    <a:pt x="1725975" y="908049"/>
                    <a:pt x="1833571" y="799519"/>
                    <a:pt x="1929982" y="682930"/>
                  </a:cubicBezTo>
                  <a:cubicBezTo>
                    <a:pt x="2026581" y="566520"/>
                    <a:pt x="2111806" y="441692"/>
                    <a:pt x="2183093" y="310149"/>
                  </a:cubicBezTo>
                  <a:cubicBezTo>
                    <a:pt x="2218738" y="244422"/>
                    <a:pt x="2251396" y="177150"/>
                    <a:pt x="2280286" y="108435"/>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800"/>
            </a:p>
          </p:txBody>
        </p:sp>
        <p:sp>
          <p:nvSpPr>
            <p:cNvPr id="23" name="Freeform: Shape 22">
              <a:extLst>
                <a:ext uri="{FF2B5EF4-FFF2-40B4-BE49-F238E27FC236}">
                  <a16:creationId xmlns:a16="http://schemas.microsoft.com/office/drawing/2014/main" id="{397A128E-77B4-F9E8-AA56-B4BF35E1221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2491105" cy="1943661"/>
            </a:xfrm>
            <a:custGeom>
              <a:avLst/>
              <a:gdLst>
                <a:gd name="connsiteX0" fmla="*/ 1995408 w 2491105"/>
                <a:gd name="connsiteY0" fmla="*/ 0 h 1943661"/>
                <a:gd name="connsiteX1" fmla="*/ 2491105 w 2491105"/>
                <a:gd name="connsiteY1" fmla="*/ 0 h 1943661"/>
                <a:gd name="connsiteX2" fmla="*/ 2434705 w 2491105"/>
                <a:gd name="connsiteY2" fmla="*/ 174009 h 1943661"/>
                <a:gd name="connsiteX3" fmla="*/ 92457 w 2491105"/>
                <a:gd name="connsiteY3" fmla="*/ 1931703 h 1943661"/>
                <a:gd name="connsiteX4" fmla="*/ 0 w 2491105"/>
                <a:gd name="connsiteY4" fmla="*/ 1943661 h 1943661"/>
                <a:gd name="connsiteX5" fmla="*/ 0 w 2491105"/>
                <a:gd name="connsiteY5" fmla="*/ 1491489 h 1943661"/>
                <a:gd name="connsiteX6" fmla="*/ 34107 w 2491105"/>
                <a:gd name="connsiteY6" fmla="*/ 1486836 h 1943661"/>
                <a:gd name="connsiteX7" fmla="*/ 497577 w 2491105"/>
                <a:gd name="connsiteY7" fmla="*/ 1360598 h 1943661"/>
                <a:gd name="connsiteX8" fmla="*/ 1321566 w 2491105"/>
                <a:gd name="connsiteY8" fmla="*/ 897645 h 1943661"/>
                <a:gd name="connsiteX9" fmla="*/ 1891495 w 2491105"/>
                <a:gd name="connsiteY9" fmla="*/ 230078 h 1943661"/>
                <a:gd name="connsiteX10" fmla="*/ 1961469 w 2491105"/>
                <a:gd name="connsiteY10" fmla="*/ 87885 h 1943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1105" h="1943661">
                  <a:moveTo>
                    <a:pt x="1995408" y="0"/>
                  </a:moveTo>
                  <a:lnTo>
                    <a:pt x="2491105" y="0"/>
                  </a:lnTo>
                  <a:lnTo>
                    <a:pt x="2434705" y="174009"/>
                  </a:lnTo>
                  <a:cubicBezTo>
                    <a:pt x="2087512" y="1067655"/>
                    <a:pt x="1129122" y="1753877"/>
                    <a:pt x="92457" y="1931703"/>
                  </a:cubicBezTo>
                  <a:lnTo>
                    <a:pt x="0" y="1943661"/>
                  </a:lnTo>
                  <a:lnTo>
                    <a:pt x="0" y="1491489"/>
                  </a:lnTo>
                  <a:lnTo>
                    <a:pt x="34107" y="1486836"/>
                  </a:lnTo>
                  <a:cubicBezTo>
                    <a:pt x="189055" y="1458696"/>
                    <a:pt x="343908" y="1416565"/>
                    <a:pt x="497577" y="1360598"/>
                  </a:cubicBezTo>
                  <a:cubicBezTo>
                    <a:pt x="796856" y="1251889"/>
                    <a:pt x="1081725" y="1091781"/>
                    <a:pt x="1321566" y="897645"/>
                  </a:cubicBezTo>
                  <a:cubicBezTo>
                    <a:pt x="1565577" y="700195"/>
                    <a:pt x="1757355" y="475523"/>
                    <a:pt x="1891495" y="230078"/>
                  </a:cubicBezTo>
                  <a:cubicBezTo>
                    <a:pt x="1917197" y="183033"/>
                    <a:pt x="1940526" y="135619"/>
                    <a:pt x="1961469" y="87885"/>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Tree>
    <p:extLst>
      <p:ext uri="{BB962C8B-B14F-4D97-AF65-F5344CB8AC3E}">
        <p14:creationId xmlns:p14="http://schemas.microsoft.com/office/powerpoint/2010/main" val="294423179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78420FA-E99E-A871-07BB-5BFFC106C0DF}"/>
            </a:ext>
          </a:extLst>
        </p:cNvPr>
        <p:cNvGrpSpPr/>
        <p:nvPr/>
      </p:nvGrpSpPr>
      <p:grpSpPr>
        <a:xfrm>
          <a:off x="0" y="0"/>
          <a:ext cx="0" cy="0"/>
          <a:chOff x="0" y="0"/>
          <a:chExt cx="0" cy="0"/>
        </a:xfrm>
      </p:grpSpPr>
      <p:sp useBgFill="1">
        <p:nvSpPr>
          <p:cNvPr id="24" name="Rectangle 23">
            <a:extLst>
              <a:ext uri="{FF2B5EF4-FFF2-40B4-BE49-F238E27FC236}">
                <a16:creationId xmlns:a16="http://schemas.microsoft.com/office/drawing/2014/main" id="{2B97F24A-32CE-4C1C-A50D-3016B394DCF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1">
            <a:extLst>
              <a:ext uri="{FF2B5EF4-FFF2-40B4-BE49-F238E27FC236}">
                <a16:creationId xmlns:a16="http://schemas.microsoft.com/office/drawing/2014/main" id="{8073478F-D770-E127-57AB-FDEBEBE4D443}"/>
              </a:ext>
            </a:extLst>
          </p:cNvPr>
          <p:cNvSpPr>
            <a:spLocks noGrp="1"/>
          </p:cNvSpPr>
          <p:nvPr>
            <p:ph type="title"/>
          </p:nvPr>
        </p:nvSpPr>
        <p:spPr>
          <a:xfrm>
            <a:off x="520099" y="448056"/>
            <a:ext cx="4245864" cy="1719072"/>
          </a:xfrm>
        </p:spPr>
        <p:txBody>
          <a:bodyPr vert="horz" lIns="91440" tIns="45720" rIns="91440" bIns="45720" rtlCol="0" anchor="b">
            <a:normAutofit/>
          </a:bodyPr>
          <a:lstStyle/>
          <a:p>
            <a:r>
              <a:rPr lang="en-US" sz="3800" kern="1200" dirty="0">
                <a:solidFill>
                  <a:schemeClr val="tx1"/>
                </a:solidFill>
                <a:latin typeface="+mj-lt"/>
                <a:ea typeface="+mj-ea"/>
                <a:cs typeface="+mj-cs"/>
              </a:rPr>
              <a:t>Diversity measures: Alpha diversity</a:t>
            </a:r>
          </a:p>
        </p:txBody>
      </p:sp>
      <p:sp>
        <p:nvSpPr>
          <p:cNvPr id="25" name="sketch line">
            <a:extLst>
              <a:ext uri="{FF2B5EF4-FFF2-40B4-BE49-F238E27FC236}">
                <a16:creationId xmlns:a16="http://schemas.microsoft.com/office/drawing/2014/main" id="{CD8B4F24-440B-49E9-B85D-733523DC064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3278" y="2573756"/>
            <a:ext cx="3255095" cy="18288"/>
          </a:xfrm>
          <a:custGeom>
            <a:avLst/>
            <a:gdLst>
              <a:gd name="connsiteX0" fmla="*/ 0 w 3255095"/>
              <a:gd name="connsiteY0" fmla="*/ 0 h 18288"/>
              <a:gd name="connsiteX1" fmla="*/ 618468 w 3255095"/>
              <a:gd name="connsiteY1" fmla="*/ 0 h 18288"/>
              <a:gd name="connsiteX2" fmla="*/ 1269487 w 3255095"/>
              <a:gd name="connsiteY2" fmla="*/ 0 h 18288"/>
              <a:gd name="connsiteX3" fmla="*/ 1953057 w 3255095"/>
              <a:gd name="connsiteY3" fmla="*/ 0 h 18288"/>
              <a:gd name="connsiteX4" fmla="*/ 2636627 w 3255095"/>
              <a:gd name="connsiteY4" fmla="*/ 0 h 18288"/>
              <a:gd name="connsiteX5" fmla="*/ 3255095 w 3255095"/>
              <a:gd name="connsiteY5" fmla="*/ 0 h 18288"/>
              <a:gd name="connsiteX6" fmla="*/ 3255095 w 3255095"/>
              <a:gd name="connsiteY6" fmla="*/ 18288 h 18288"/>
              <a:gd name="connsiteX7" fmla="*/ 2538974 w 3255095"/>
              <a:gd name="connsiteY7" fmla="*/ 18288 h 18288"/>
              <a:gd name="connsiteX8" fmla="*/ 1822853 w 3255095"/>
              <a:gd name="connsiteY8" fmla="*/ 18288 h 18288"/>
              <a:gd name="connsiteX9" fmla="*/ 1171834 w 3255095"/>
              <a:gd name="connsiteY9" fmla="*/ 18288 h 18288"/>
              <a:gd name="connsiteX10" fmla="*/ 0 w 3255095"/>
              <a:gd name="connsiteY10" fmla="*/ 18288 h 18288"/>
              <a:gd name="connsiteX11" fmla="*/ 0 w 3255095"/>
              <a:gd name="connsiteY11"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255095" h="18288" fill="none" extrusionOk="0">
                <a:moveTo>
                  <a:pt x="0" y="0"/>
                </a:moveTo>
                <a:cubicBezTo>
                  <a:pt x="240201" y="-22123"/>
                  <a:pt x="462021" y="-19623"/>
                  <a:pt x="618468" y="0"/>
                </a:cubicBezTo>
                <a:cubicBezTo>
                  <a:pt x="774915" y="19623"/>
                  <a:pt x="974734" y="2035"/>
                  <a:pt x="1269487" y="0"/>
                </a:cubicBezTo>
                <a:cubicBezTo>
                  <a:pt x="1564240" y="-2035"/>
                  <a:pt x="1733579" y="10639"/>
                  <a:pt x="1953057" y="0"/>
                </a:cubicBezTo>
                <a:cubicBezTo>
                  <a:pt x="2172535" y="-10639"/>
                  <a:pt x="2453962" y="14018"/>
                  <a:pt x="2636627" y="0"/>
                </a:cubicBezTo>
                <a:cubicBezTo>
                  <a:pt x="2819292" y="-14018"/>
                  <a:pt x="3121375" y="5399"/>
                  <a:pt x="3255095" y="0"/>
                </a:cubicBezTo>
                <a:cubicBezTo>
                  <a:pt x="3254386" y="8157"/>
                  <a:pt x="3254682" y="12125"/>
                  <a:pt x="3255095" y="18288"/>
                </a:cubicBezTo>
                <a:cubicBezTo>
                  <a:pt x="3088545" y="23203"/>
                  <a:pt x="2687475" y="7419"/>
                  <a:pt x="2538974" y="18288"/>
                </a:cubicBezTo>
                <a:cubicBezTo>
                  <a:pt x="2390473" y="29157"/>
                  <a:pt x="2137381" y="-8959"/>
                  <a:pt x="1822853" y="18288"/>
                </a:cubicBezTo>
                <a:cubicBezTo>
                  <a:pt x="1508325" y="45535"/>
                  <a:pt x="1466437" y="20385"/>
                  <a:pt x="1171834" y="18288"/>
                </a:cubicBezTo>
                <a:cubicBezTo>
                  <a:pt x="877231" y="16191"/>
                  <a:pt x="561097" y="37643"/>
                  <a:pt x="0" y="18288"/>
                </a:cubicBezTo>
                <a:cubicBezTo>
                  <a:pt x="-46" y="12483"/>
                  <a:pt x="-203" y="6491"/>
                  <a:pt x="0" y="0"/>
                </a:cubicBezTo>
                <a:close/>
              </a:path>
              <a:path w="3255095" h="18288" stroke="0" extrusionOk="0">
                <a:moveTo>
                  <a:pt x="0" y="0"/>
                </a:moveTo>
                <a:cubicBezTo>
                  <a:pt x="291965" y="19429"/>
                  <a:pt x="363155" y="8568"/>
                  <a:pt x="618468" y="0"/>
                </a:cubicBezTo>
                <a:cubicBezTo>
                  <a:pt x="873781" y="-8568"/>
                  <a:pt x="904459" y="-19505"/>
                  <a:pt x="1171834" y="0"/>
                </a:cubicBezTo>
                <a:cubicBezTo>
                  <a:pt x="1439209" y="19505"/>
                  <a:pt x="1744369" y="9790"/>
                  <a:pt x="1887955" y="0"/>
                </a:cubicBezTo>
                <a:cubicBezTo>
                  <a:pt x="2031541" y="-9790"/>
                  <a:pt x="2346378" y="21240"/>
                  <a:pt x="2506423" y="0"/>
                </a:cubicBezTo>
                <a:cubicBezTo>
                  <a:pt x="2666468" y="-21240"/>
                  <a:pt x="2990257" y="30414"/>
                  <a:pt x="3255095" y="0"/>
                </a:cubicBezTo>
                <a:cubicBezTo>
                  <a:pt x="3254831" y="4493"/>
                  <a:pt x="3255479" y="9472"/>
                  <a:pt x="3255095" y="18288"/>
                </a:cubicBezTo>
                <a:cubicBezTo>
                  <a:pt x="3120743" y="16690"/>
                  <a:pt x="2759628" y="42462"/>
                  <a:pt x="2604076" y="18288"/>
                </a:cubicBezTo>
                <a:cubicBezTo>
                  <a:pt x="2448524" y="-5886"/>
                  <a:pt x="2184336" y="19599"/>
                  <a:pt x="1887955" y="18288"/>
                </a:cubicBezTo>
                <a:cubicBezTo>
                  <a:pt x="1591574" y="16977"/>
                  <a:pt x="1548845" y="6870"/>
                  <a:pt x="1334589" y="18288"/>
                </a:cubicBezTo>
                <a:cubicBezTo>
                  <a:pt x="1120333" y="29706"/>
                  <a:pt x="996014" y="9662"/>
                  <a:pt x="683570" y="18288"/>
                </a:cubicBezTo>
                <a:cubicBezTo>
                  <a:pt x="371126" y="26914"/>
                  <a:pt x="198687" y="16167"/>
                  <a:pt x="0" y="18288"/>
                </a:cubicBezTo>
                <a:cubicBezTo>
                  <a:pt x="843" y="9577"/>
                  <a:pt x="371" y="6900"/>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3B257359-7FDB-A58F-1857-E7536BD00AC5}"/>
              </a:ext>
            </a:extLst>
          </p:cNvPr>
          <p:cNvSpPr txBox="1"/>
          <p:nvPr/>
        </p:nvSpPr>
        <p:spPr>
          <a:xfrm>
            <a:off x="514299" y="2677080"/>
            <a:ext cx="4708865" cy="3410712"/>
          </a:xfrm>
          <a:prstGeom prst="rect">
            <a:avLst/>
          </a:prstGeom>
        </p:spPr>
        <p:txBody>
          <a:bodyPr vert="horz" lIns="91440" tIns="45720" rIns="91440" bIns="45720" rtlCol="0" anchor="t">
            <a:noAutofit/>
          </a:bodyPr>
          <a:lstStyle/>
          <a:p>
            <a:pPr indent="-228600">
              <a:lnSpc>
                <a:spcPct val="90000"/>
              </a:lnSpc>
              <a:spcAft>
                <a:spcPts val="600"/>
              </a:spcAft>
              <a:buFont typeface="Arial" panose="020B0604020202020204" pitchFamily="34" charset="0"/>
              <a:buChar char="•"/>
            </a:pPr>
            <a:r>
              <a:rPr lang="en-US" dirty="0"/>
              <a:t>Diversity within a sample</a:t>
            </a:r>
          </a:p>
          <a:p>
            <a:pPr lvl="1" indent="-228600">
              <a:lnSpc>
                <a:spcPct val="90000"/>
              </a:lnSpc>
              <a:spcAft>
                <a:spcPts val="600"/>
              </a:spcAft>
              <a:buFont typeface="Arial" panose="020B0604020202020204" pitchFamily="34" charset="0"/>
              <a:buChar char="•"/>
            </a:pPr>
            <a:r>
              <a:rPr lang="en-US" b="1" dirty="0"/>
              <a:t>Richness</a:t>
            </a:r>
            <a:r>
              <a:rPr lang="en-US" dirty="0"/>
              <a:t>: number of unique taxa found in a sample (species, OTUs, ASVs,…)</a:t>
            </a:r>
          </a:p>
          <a:p>
            <a:pPr lvl="1" indent="-228600">
              <a:lnSpc>
                <a:spcPct val="90000"/>
              </a:lnSpc>
              <a:spcAft>
                <a:spcPts val="600"/>
              </a:spcAft>
              <a:buFont typeface="Arial" panose="020B0604020202020204" pitchFamily="34" charset="0"/>
              <a:buChar char="•"/>
            </a:pPr>
            <a:r>
              <a:rPr lang="en-US" b="1" dirty="0"/>
              <a:t>Shannon Index</a:t>
            </a:r>
            <a:r>
              <a:rPr lang="en-US" dirty="0"/>
              <a:t>: Accounts for both richness and evenness (how balanced the community is)</a:t>
            </a:r>
          </a:p>
          <a:p>
            <a:pPr lvl="2" indent="-228600">
              <a:lnSpc>
                <a:spcPct val="90000"/>
              </a:lnSpc>
              <a:spcAft>
                <a:spcPts val="600"/>
              </a:spcAft>
              <a:buFont typeface="Arial" panose="020B0604020202020204" pitchFamily="34" charset="0"/>
              <a:buChar char="•"/>
            </a:pPr>
            <a:r>
              <a:rPr lang="en-US" b="1" dirty="0"/>
              <a:t>Higher values</a:t>
            </a:r>
            <a:r>
              <a:rPr lang="en-US" dirty="0"/>
              <a:t> = More diverse and evenly distributed community</a:t>
            </a:r>
          </a:p>
          <a:p>
            <a:pPr lvl="1" indent="-228600">
              <a:lnSpc>
                <a:spcPct val="90000"/>
              </a:lnSpc>
              <a:spcAft>
                <a:spcPts val="600"/>
              </a:spcAft>
              <a:buFont typeface="Arial" panose="020B0604020202020204" pitchFamily="34" charset="0"/>
              <a:buChar char="•"/>
            </a:pPr>
            <a:r>
              <a:rPr lang="en-US" dirty="0"/>
              <a:t>Other indices: Simpson, Chao1, Faith’s PD (for phylogenetic diversity)</a:t>
            </a:r>
          </a:p>
          <a:p>
            <a:pPr lvl="1" indent="-228600">
              <a:lnSpc>
                <a:spcPct val="90000"/>
              </a:lnSpc>
              <a:spcAft>
                <a:spcPts val="600"/>
              </a:spcAft>
              <a:buFont typeface="Arial" panose="020B0604020202020204" pitchFamily="34" charset="0"/>
              <a:buChar char="•"/>
            </a:pPr>
            <a:endParaRPr lang="en-US" dirty="0"/>
          </a:p>
        </p:txBody>
      </p:sp>
      <p:pic>
        <p:nvPicPr>
          <p:cNvPr id="5" name="Picture 4">
            <a:extLst>
              <a:ext uri="{FF2B5EF4-FFF2-40B4-BE49-F238E27FC236}">
                <a16:creationId xmlns:a16="http://schemas.microsoft.com/office/drawing/2014/main" id="{D189D350-6BCE-DDF4-E6BF-693E95AFD9BD}"/>
              </a:ext>
            </a:extLst>
          </p:cNvPr>
          <p:cNvPicPr>
            <a:picLocks noChangeAspect="1"/>
          </p:cNvPicPr>
          <p:nvPr/>
        </p:nvPicPr>
        <p:blipFill>
          <a:blip r:embed="rId3"/>
          <a:stretch>
            <a:fillRect/>
          </a:stretch>
        </p:blipFill>
        <p:spPr>
          <a:xfrm>
            <a:off x="5108460" y="2573756"/>
            <a:ext cx="6903720" cy="3617360"/>
          </a:xfrm>
          <a:prstGeom prst="rect">
            <a:avLst/>
          </a:prstGeom>
        </p:spPr>
      </p:pic>
      <p:pic>
        <p:nvPicPr>
          <p:cNvPr id="7" name="Picture 6" descr="A black background with white text&#10;&#10;AI-generated content may be incorrect.">
            <a:extLst>
              <a:ext uri="{FF2B5EF4-FFF2-40B4-BE49-F238E27FC236}">
                <a16:creationId xmlns:a16="http://schemas.microsoft.com/office/drawing/2014/main" id="{5EBF6C7B-D2EE-A52D-D08B-C9081378EC83}"/>
              </a:ext>
            </a:extLst>
          </p:cNvPr>
          <p:cNvPicPr>
            <a:picLocks noChangeAspect="1"/>
          </p:cNvPicPr>
          <p:nvPr/>
        </p:nvPicPr>
        <p:blipFill>
          <a:blip r:embed="rId4"/>
          <a:stretch>
            <a:fillRect/>
          </a:stretch>
        </p:blipFill>
        <p:spPr>
          <a:xfrm>
            <a:off x="8719492" y="666884"/>
            <a:ext cx="1915114" cy="762137"/>
          </a:xfrm>
          <a:prstGeom prst="rect">
            <a:avLst/>
          </a:prstGeom>
        </p:spPr>
      </p:pic>
      <p:sp>
        <p:nvSpPr>
          <p:cNvPr id="9" name="TextBox 8">
            <a:extLst>
              <a:ext uri="{FF2B5EF4-FFF2-40B4-BE49-F238E27FC236}">
                <a16:creationId xmlns:a16="http://schemas.microsoft.com/office/drawing/2014/main" id="{6CB17419-C877-1B1C-4D2B-D566C1E0EB26}"/>
              </a:ext>
            </a:extLst>
          </p:cNvPr>
          <p:cNvSpPr txBox="1"/>
          <p:nvPr/>
        </p:nvSpPr>
        <p:spPr>
          <a:xfrm>
            <a:off x="5976050" y="1014320"/>
            <a:ext cx="4047781" cy="1785104"/>
          </a:xfrm>
          <a:prstGeom prst="rect">
            <a:avLst/>
          </a:prstGeom>
          <a:noFill/>
        </p:spPr>
        <p:txBody>
          <a:bodyPr wrap="square" rtlCol="0">
            <a:spAutoFit/>
          </a:bodyPr>
          <a:lstStyle/>
          <a:p>
            <a:pPr lvl="2" indent="-228600">
              <a:lnSpc>
                <a:spcPct val="90000"/>
              </a:lnSpc>
              <a:spcAft>
                <a:spcPts val="600"/>
              </a:spcAft>
              <a:buFont typeface="Arial" panose="020B0604020202020204" pitchFamily="34" charset="0"/>
              <a:buChar char="•"/>
            </a:pPr>
            <a:r>
              <a:rPr lang="en-US" sz="1600" dirty="0"/>
              <a:t>Shannon index:</a:t>
            </a:r>
          </a:p>
          <a:p>
            <a:pPr marL="971550" lvl="2">
              <a:lnSpc>
                <a:spcPct val="90000"/>
              </a:lnSpc>
              <a:spcAft>
                <a:spcPts val="600"/>
              </a:spcAft>
            </a:pPr>
            <a:endParaRPr lang="en-US" sz="1600" dirty="0"/>
          </a:p>
          <a:p>
            <a:pPr marL="1200150" lvl="2" indent="-228600">
              <a:lnSpc>
                <a:spcPct val="90000"/>
              </a:lnSpc>
              <a:spcAft>
                <a:spcPts val="600"/>
              </a:spcAft>
              <a:buFont typeface="Arial" panose="020B0604020202020204" pitchFamily="34" charset="0"/>
              <a:buChar char="•"/>
            </a:pPr>
            <a:r>
              <a:rPr lang="en-US" sz="1600" dirty="0"/>
              <a:t>S = total number of species</a:t>
            </a:r>
          </a:p>
          <a:p>
            <a:pPr marL="1200150" lvl="2" indent="-228600">
              <a:lnSpc>
                <a:spcPct val="90000"/>
              </a:lnSpc>
              <a:spcAft>
                <a:spcPts val="600"/>
              </a:spcAft>
              <a:buFont typeface="Arial" panose="020B0604020202020204" pitchFamily="34" charset="0"/>
              <a:buChar char="•"/>
            </a:pPr>
            <a:r>
              <a:rPr lang="en-US" sz="1600" dirty="0"/>
              <a:t>pi = proportion of species </a:t>
            </a:r>
            <a:r>
              <a:rPr lang="en-US" sz="1600" i="1" dirty="0" err="1"/>
              <a:t>i</a:t>
            </a:r>
            <a:r>
              <a:rPr lang="en-US" sz="1600" dirty="0"/>
              <a:t> in the sample</a:t>
            </a:r>
          </a:p>
          <a:p>
            <a:endParaRPr lang="en-DK" dirty="0"/>
          </a:p>
        </p:txBody>
      </p:sp>
      <p:sp>
        <p:nvSpPr>
          <p:cNvPr id="2" name="TextBox 1">
            <a:extLst>
              <a:ext uri="{FF2B5EF4-FFF2-40B4-BE49-F238E27FC236}">
                <a16:creationId xmlns:a16="http://schemas.microsoft.com/office/drawing/2014/main" id="{B564F97E-C9A8-DC1C-9DCD-C2CF18F93D70}"/>
              </a:ext>
            </a:extLst>
          </p:cNvPr>
          <p:cNvSpPr txBox="1"/>
          <p:nvPr/>
        </p:nvSpPr>
        <p:spPr>
          <a:xfrm>
            <a:off x="6919577" y="6370669"/>
            <a:ext cx="3794760" cy="307777"/>
          </a:xfrm>
          <a:prstGeom prst="rect">
            <a:avLst/>
          </a:prstGeom>
          <a:noFill/>
        </p:spPr>
        <p:txBody>
          <a:bodyPr wrap="square" rtlCol="0">
            <a:spAutoFit/>
          </a:bodyPr>
          <a:lstStyle/>
          <a:p>
            <a:r>
              <a:rPr lang="en-GB" sz="1400" dirty="0">
                <a:hlinkClick r:id="rId5"/>
              </a:rPr>
              <a:t>https://pubmed.ncbi.nlm.nih.gov/30349083/</a:t>
            </a:r>
            <a:endParaRPr lang="en-GB" sz="1400" dirty="0"/>
          </a:p>
        </p:txBody>
      </p:sp>
    </p:spTree>
    <p:extLst>
      <p:ext uri="{BB962C8B-B14F-4D97-AF65-F5344CB8AC3E}">
        <p14:creationId xmlns:p14="http://schemas.microsoft.com/office/powerpoint/2010/main" val="2134072192"/>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 name="Rectangle 12">
            <a:extLst>
              <a:ext uri="{FF2B5EF4-FFF2-40B4-BE49-F238E27FC236}">
                <a16:creationId xmlns:a16="http://schemas.microsoft.com/office/drawing/2014/main" id="{743AA782-23D1-4521-8CAD-47662984AA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1">
            <a:extLst>
              <a:ext uri="{FF2B5EF4-FFF2-40B4-BE49-F238E27FC236}">
                <a16:creationId xmlns:a16="http://schemas.microsoft.com/office/drawing/2014/main" id="{7784E65C-6FD5-298E-77E4-6C95331AE1A4}"/>
              </a:ext>
            </a:extLst>
          </p:cNvPr>
          <p:cNvSpPr>
            <a:spLocks noGrp="1"/>
          </p:cNvSpPr>
          <p:nvPr>
            <p:ph type="title"/>
          </p:nvPr>
        </p:nvSpPr>
        <p:spPr>
          <a:xfrm>
            <a:off x="630936" y="640080"/>
            <a:ext cx="4818888" cy="1481328"/>
          </a:xfrm>
        </p:spPr>
        <p:txBody>
          <a:bodyPr vert="horz" lIns="91440" tIns="45720" rIns="91440" bIns="45720" rtlCol="0" anchor="b">
            <a:normAutofit/>
          </a:bodyPr>
          <a:lstStyle/>
          <a:p>
            <a:r>
              <a:rPr lang="en-US" sz="4600" kern="1200">
                <a:solidFill>
                  <a:schemeClr val="tx1"/>
                </a:solidFill>
                <a:latin typeface="+mj-lt"/>
                <a:ea typeface="+mj-ea"/>
                <a:cs typeface="+mj-cs"/>
              </a:rPr>
              <a:t>Diversity measures: Beta diversity</a:t>
            </a:r>
          </a:p>
        </p:txBody>
      </p:sp>
      <p:sp>
        <p:nvSpPr>
          <p:cNvPr id="15" name="sketch line">
            <a:extLst>
              <a:ext uri="{FF2B5EF4-FFF2-40B4-BE49-F238E27FC236}">
                <a16:creationId xmlns:a16="http://schemas.microsoft.com/office/drawing/2014/main" id="{71877DBC-BB60-40F0-AC93-2ACDBAAE60C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3278" y="2372868"/>
            <a:ext cx="3255095" cy="18288"/>
          </a:xfrm>
          <a:custGeom>
            <a:avLst/>
            <a:gdLst>
              <a:gd name="connsiteX0" fmla="*/ 0 w 3255095"/>
              <a:gd name="connsiteY0" fmla="*/ 0 h 18288"/>
              <a:gd name="connsiteX1" fmla="*/ 618468 w 3255095"/>
              <a:gd name="connsiteY1" fmla="*/ 0 h 18288"/>
              <a:gd name="connsiteX2" fmla="*/ 1269487 w 3255095"/>
              <a:gd name="connsiteY2" fmla="*/ 0 h 18288"/>
              <a:gd name="connsiteX3" fmla="*/ 1953057 w 3255095"/>
              <a:gd name="connsiteY3" fmla="*/ 0 h 18288"/>
              <a:gd name="connsiteX4" fmla="*/ 2636627 w 3255095"/>
              <a:gd name="connsiteY4" fmla="*/ 0 h 18288"/>
              <a:gd name="connsiteX5" fmla="*/ 3255095 w 3255095"/>
              <a:gd name="connsiteY5" fmla="*/ 0 h 18288"/>
              <a:gd name="connsiteX6" fmla="*/ 3255095 w 3255095"/>
              <a:gd name="connsiteY6" fmla="*/ 18288 h 18288"/>
              <a:gd name="connsiteX7" fmla="*/ 2538974 w 3255095"/>
              <a:gd name="connsiteY7" fmla="*/ 18288 h 18288"/>
              <a:gd name="connsiteX8" fmla="*/ 1822853 w 3255095"/>
              <a:gd name="connsiteY8" fmla="*/ 18288 h 18288"/>
              <a:gd name="connsiteX9" fmla="*/ 1171834 w 3255095"/>
              <a:gd name="connsiteY9" fmla="*/ 18288 h 18288"/>
              <a:gd name="connsiteX10" fmla="*/ 0 w 3255095"/>
              <a:gd name="connsiteY10" fmla="*/ 18288 h 18288"/>
              <a:gd name="connsiteX11" fmla="*/ 0 w 3255095"/>
              <a:gd name="connsiteY11"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255095" h="18288" fill="none" extrusionOk="0">
                <a:moveTo>
                  <a:pt x="0" y="0"/>
                </a:moveTo>
                <a:cubicBezTo>
                  <a:pt x="240201" y="-22123"/>
                  <a:pt x="462021" y="-19623"/>
                  <a:pt x="618468" y="0"/>
                </a:cubicBezTo>
                <a:cubicBezTo>
                  <a:pt x="774915" y="19623"/>
                  <a:pt x="974734" y="2035"/>
                  <a:pt x="1269487" y="0"/>
                </a:cubicBezTo>
                <a:cubicBezTo>
                  <a:pt x="1564240" y="-2035"/>
                  <a:pt x="1733579" y="10639"/>
                  <a:pt x="1953057" y="0"/>
                </a:cubicBezTo>
                <a:cubicBezTo>
                  <a:pt x="2172535" y="-10639"/>
                  <a:pt x="2453962" y="14018"/>
                  <a:pt x="2636627" y="0"/>
                </a:cubicBezTo>
                <a:cubicBezTo>
                  <a:pt x="2819292" y="-14018"/>
                  <a:pt x="3121375" y="5399"/>
                  <a:pt x="3255095" y="0"/>
                </a:cubicBezTo>
                <a:cubicBezTo>
                  <a:pt x="3254386" y="8157"/>
                  <a:pt x="3254682" y="12125"/>
                  <a:pt x="3255095" y="18288"/>
                </a:cubicBezTo>
                <a:cubicBezTo>
                  <a:pt x="3088545" y="23203"/>
                  <a:pt x="2687475" y="7419"/>
                  <a:pt x="2538974" y="18288"/>
                </a:cubicBezTo>
                <a:cubicBezTo>
                  <a:pt x="2390473" y="29157"/>
                  <a:pt x="2137381" y="-8959"/>
                  <a:pt x="1822853" y="18288"/>
                </a:cubicBezTo>
                <a:cubicBezTo>
                  <a:pt x="1508325" y="45535"/>
                  <a:pt x="1466437" y="20385"/>
                  <a:pt x="1171834" y="18288"/>
                </a:cubicBezTo>
                <a:cubicBezTo>
                  <a:pt x="877231" y="16191"/>
                  <a:pt x="561097" y="37643"/>
                  <a:pt x="0" y="18288"/>
                </a:cubicBezTo>
                <a:cubicBezTo>
                  <a:pt x="-46" y="12483"/>
                  <a:pt x="-203" y="6491"/>
                  <a:pt x="0" y="0"/>
                </a:cubicBezTo>
                <a:close/>
              </a:path>
              <a:path w="3255095" h="18288" stroke="0" extrusionOk="0">
                <a:moveTo>
                  <a:pt x="0" y="0"/>
                </a:moveTo>
                <a:cubicBezTo>
                  <a:pt x="291965" y="19429"/>
                  <a:pt x="363155" y="8568"/>
                  <a:pt x="618468" y="0"/>
                </a:cubicBezTo>
                <a:cubicBezTo>
                  <a:pt x="873781" y="-8568"/>
                  <a:pt x="904459" y="-19505"/>
                  <a:pt x="1171834" y="0"/>
                </a:cubicBezTo>
                <a:cubicBezTo>
                  <a:pt x="1439209" y="19505"/>
                  <a:pt x="1744369" y="9790"/>
                  <a:pt x="1887955" y="0"/>
                </a:cubicBezTo>
                <a:cubicBezTo>
                  <a:pt x="2031541" y="-9790"/>
                  <a:pt x="2346378" y="21240"/>
                  <a:pt x="2506423" y="0"/>
                </a:cubicBezTo>
                <a:cubicBezTo>
                  <a:pt x="2666468" y="-21240"/>
                  <a:pt x="2990257" y="30414"/>
                  <a:pt x="3255095" y="0"/>
                </a:cubicBezTo>
                <a:cubicBezTo>
                  <a:pt x="3254831" y="4493"/>
                  <a:pt x="3255479" y="9472"/>
                  <a:pt x="3255095" y="18288"/>
                </a:cubicBezTo>
                <a:cubicBezTo>
                  <a:pt x="3120743" y="16690"/>
                  <a:pt x="2759628" y="42462"/>
                  <a:pt x="2604076" y="18288"/>
                </a:cubicBezTo>
                <a:cubicBezTo>
                  <a:pt x="2448524" y="-5886"/>
                  <a:pt x="2184336" y="19599"/>
                  <a:pt x="1887955" y="18288"/>
                </a:cubicBezTo>
                <a:cubicBezTo>
                  <a:pt x="1591574" y="16977"/>
                  <a:pt x="1548845" y="6870"/>
                  <a:pt x="1334589" y="18288"/>
                </a:cubicBezTo>
                <a:cubicBezTo>
                  <a:pt x="1120333" y="29706"/>
                  <a:pt x="996014" y="9662"/>
                  <a:pt x="683570" y="18288"/>
                </a:cubicBezTo>
                <a:cubicBezTo>
                  <a:pt x="371126" y="26914"/>
                  <a:pt x="198687" y="16167"/>
                  <a:pt x="0" y="18288"/>
                </a:cubicBezTo>
                <a:cubicBezTo>
                  <a:pt x="843" y="9577"/>
                  <a:pt x="371" y="6900"/>
                  <a:pt x="0" y="0"/>
                </a:cubicBezTo>
                <a:close/>
              </a:path>
            </a:pathLst>
          </a:custGeom>
          <a:solidFill>
            <a:schemeClr val="accent2"/>
          </a:solidFill>
          <a:ln w="38100"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633F8027-9228-36CB-6407-83B4F82E5B5E}"/>
              </a:ext>
            </a:extLst>
          </p:cNvPr>
          <p:cNvSpPr txBox="1"/>
          <p:nvPr/>
        </p:nvSpPr>
        <p:spPr>
          <a:xfrm>
            <a:off x="523355" y="2489454"/>
            <a:ext cx="5572645" cy="3547872"/>
          </a:xfrm>
          <a:prstGeom prst="rect">
            <a:avLst/>
          </a:prstGeom>
        </p:spPr>
        <p:txBody>
          <a:bodyPr vert="horz" lIns="91440" tIns="45720" rIns="91440" bIns="45720" rtlCol="0" anchor="t">
            <a:noAutofit/>
          </a:bodyPr>
          <a:lstStyle/>
          <a:p>
            <a:pPr indent="-228600">
              <a:lnSpc>
                <a:spcPct val="90000"/>
              </a:lnSpc>
              <a:spcAft>
                <a:spcPts val="600"/>
              </a:spcAft>
              <a:buFont typeface="Arial" panose="020B0604020202020204" pitchFamily="34" charset="0"/>
              <a:buChar char="•"/>
            </a:pPr>
            <a:r>
              <a:rPr lang="en-US" dirty="0"/>
              <a:t>Diversity between samples (community composition dissimilarity)</a:t>
            </a:r>
          </a:p>
          <a:p>
            <a:pPr indent="-228600">
              <a:lnSpc>
                <a:spcPct val="90000"/>
              </a:lnSpc>
              <a:spcAft>
                <a:spcPts val="600"/>
              </a:spcAft>
              <a:buFont typeface="Arial" panose="020B0604020202020204" pitchFamily="34" charset="0"/>
              <a:buChar char="•"/>
            </a:pPr>
            <a:r>
              <a:rPr lang="en-US" dirty="0"/>
              <a:t>For example:</a:t>
            </a:r>
          </a:p>
          <a:p>
            <a:pPr marL="742950" lvl="1" indent="-228600">
              <a:lnSpc>
                <a:spcPct val="90000"/>
              </a:lnSpc>
              <a:spcAft>
                <a:spcPts val="600"/>
              </a:spcAft>
              <a:buFont typeface="Arial" panose="020B0604020202020204" pitchFamily="34" charset="0"/>
              <a:buChar char="•"/>
            </a:pPr>
            <a:r>
              <a:rPr lang="en-US" b="1" dirty="0"/>
              <a:t>Bray-Curtis dissimilarity</a:t>
            </a:r>
            <a:r>
              <a:rPr lang="en-US" dirty="0"/>
              <a:t> (presence/absence + abundance-weighted)</a:t>
            </a:r>
          </a:p>
          <a:p>
            <a:pPr marL="742950" lvl="1" indent="-228600">
              <a:lnSpc>
                <a:spcPct val="90000"/>
              </a:lnSpc>
              <a:spcAft>
                <a:spcPts val="600"/>
              </a:spcAft>
              <a:buFont typeface="Arial" panose="020B0604020202020204" pitchFamily="34" charset="0"/>
              <a:buChar char="•"/>
            </a:pPr>
            <a:r>
              <a:rPr lang="en-US" b="1" dirty="0"/>
              <a:t>Jaccard distance</a:t>
            </a:r>
            <a:r>
              <a:rPr lang="en-US" dirty="0"/>
              <a:t> (presence/absence)</a:t>
            </a:r>
          </a:p>
          <a:p>
            <a:pPr marL="742950" lvl="1" indent="-228600">
              <a:lnSpc>
                <a:spcPct val="90000"/>
              </a:lnSpc>
              <a:spcAft>
                <a:spcPts val="600"/>
              </a:spcAft>
              <a:buFont typeface="Arial" panose="020B0604020202020204" pitchFamily="34" charset="0"/>
              <a:buChar char="•"/>
            </a:pPr>
            <a:r>
              <a:rPr lang="en-US" b="1" dirty="0" err="1"/>
              <a:t>UniFrac</a:t>
            </a:r>
            <a:r>
              <a:rPr lang="en-US" dirty="0"/>
              <a:t> (phylogenetic distances: weighted/unweighted)</a:t>
            </a:r>
          </a:p>
          <a:p>
            <a:pPr indent="-228600">
              <a:lnSpc>
                <a:spcPct val="90000"/>
              </a:lnSpc>
              <a:spcAft>
                <a:spcPts val="600"/>
              </a:spcAft>
              <a:buFont typeface="Arial" panose="020B0604020202020204" pitchFamily="34" charset="0"/>
              <a:buChar char="•"/>
            </a:pPr>
            <a:endParaRPr lang="en-US" dirty="0"/>
          </a:p>
          <a:p>
            <a:pPr indent="-228600">
              <a:lnSpc>
                <a:spcPct val="90000"/>
              </a:lnSpc>
              <a:spcAft>
                <a:spcPts val="600"/>
              </a:spcAft>
              <a:buFont typeface="Arial" panose="020B0604020202020204" pitchFamily="34" charset="0"/>
              <a:buChar char="•"/>
            </a:pPr>
            <a:r>
              <a:rPr lang="en-US" dirty="0"/>
              <a:t>These distances between samples are calculated based on the abundance and projected on the two first dimensions of a </a:t>
            </a:r>
            <a:r>
              <a:rPr lang="en-US" dirty="0" err="1"/>
              <a:t>PCoA</a:t>
            </a:r>
            <a:r>
              <a:rPr lang="en-US" dirty="0"/>
              <a:t>.</a:t>
            </a:r>
          </a:p>
          <a:p>
            <a:pPr indent="-228600">
              <a:lnSpc>
                <a:spcPct val="90000"/>
              </a:lnSpc>
              <a:spcAft>
                <a:spcPts val="600"/>
              </a:spcAft>
              <a:buFont typeface="Arial" panose="020B0604020202020204" pitchFamily="34" charset="0"/>
              <a:buChar char="•"/>
            </a:pPr>
            <a:r>
              <a:rPr lang="en-US" dirty="0"/>
              <a:t>other ordination methods are also used: NMDS, </a:t>
            </a:r>
            <a:r>
              <a:rPr lang="en-US" dirty="0" err="1"/>
              <a:t>tSNE</a:t>
            </a:r>
            <a:r>
              <a:rPr lang="en-US" dirty="0"/>
              <a:t> or simply PCA,…)</a:t>
            </a:r>
          </a:p>
        </p:txBody>
      </p:sp>
      <p:pic>
        <p:nvPicPr>
          <p:cNvPr id="6" name="Picture 5" descr="A diagram of a diagram&#10;&#10;AI-generated content may be incorrect.">
            <a:extLst>
              <a:ext uri="{FF2B5EF4-FFF2-40B4-BE49-F238E27FC236}">
                <a16:creationId xmlns:a16="http://schemas.microsoft.com/office/drawing/2014/main" id="{1DF1628D-80C7-55E7-6739-7AF2DC3CFF47}"/>
              </a:ext>
            </a:extLst>
          </p:cNvPr>
          <p:cNvPicPr>
            <a:picLocks noChangeAspect="1"/>
          </p:cNvPicPr>
          <p:nvPr/>
        </p:nvPicPr>
        <p:blipFill>
          <a:blip r:embed="rId3"/>
          <a:stretch>
            <a:fillRect/>
          </a:stretch>
        </p:blipFill>
        <p:spPr>
          <a:xfrm>
            <a:off x="6033810" y="820265"/>
            <a:ext cx="5505918" cy="5519717"/>
          </a:xfrm>
          <a:prstGeom prst="rect">
            <a:avLst/>
          </a:prstGeom>
        </p:spPr>
      </p:pic>
      <p:sp>
        <p:nvSpPr>
          <p:cNvPr id="2" name="TextBox 1">
            <a:extLst>
              <a:ext uri="{FF2B5EF4-FFF2-40B4-BE49-F238E27FC236}">
                <a16:creationId xmlns:a16="http://schemas.microsoft.com/office/drawing/2014/main" id="{27230892-937C-975D-3652-06DD00BEC297}"/>
              </a:ext>
            </a:extLst>
          </p:cNvPr>
          <p:cNvSpPr txBox="1"/>
          <p:nvPr/>
        </p:nvSpPr>
        <p:spPr>
          <a:xfrm>
            <a:off x="7285337" y="6445102"/>
            <a:ext cx="3794760" cy="307777"/>
          </a:xfrm>
          <a:prstGeom prst="rect">
            <a:avLst/>
          </a:prstGeom>
          <a:noFill/>
        </p:spPr>
        <p:txBody>
          <a:bodyPr wrap="square" rtlCol="0">
            <a:spAutoFit/>
          </a:bodyPr>
          <a:lstStyle/>
          <a:p>
            <a:r>
              <a:rPr lang="en-GB" sz="1400" dirty="0">
                <a:hlinkClick r:id="rId4"/>
              </a:rPr>
              <a:t>https://pubmed.ncbi.nlm.nih.gov/30349083/</a:t>
            </a:r>
            <a:endParaRPr lang="en-GB" sz="1400" dirty="0"/>
          </a:p>
        </p:txBody>
      </p:sp>
    </p:spTree>
    <p:extLst>
      <p:ext uri="{BB962C8B-B14F-4D97-AF65-F5344CB8AC3E}">
        <p14:creationId xmlns:p14="http://schemas.microsoft.com/office/powerpoint/2010/main" val="1538134534"/>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4B8558B-750A-4AAC-C05B-AF0A79F5A051}"/>
            </a:ext>
          </a:extLst>
        </p:cNvPr>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71F606C5-7F12-A8C3-F428-E102D5E7F45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60EC7C36-2384-1B41-EC06-489D1AD55B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800"/>
          </a:p>
        </p:txBody>
      </p:sp>
      <p:sp>
        <p:nvSpPr>
          <p:cNvPr id="11" name="Rectangle 10">
            <a:extLst>
              <a:ext uri="{FF2B5EF4-FFF2-40B4-BE49-F238E27FC236}">
                <a16:creationId xmlns:a16="http://schemas.microsoft.com/office/drawing/2014/main" id="{EA910710-ECEC-345E-F268-29A89076D9C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695" cy="6858000"/>
          </a:xfrm>
          <a:prstGeom prst="rect">
            <a:avLst/>
          </a:prstGeom>
          <a:gradFill flip="none" rotWithShape="1">
            <a:gsLst>
              <a:gs pos="16000">
                <a:schemeClr val="accent6">
                  <a:alpha val="20000"/>
                </a:schemeClr>
              </a:gs>
              <a:gs pos="85000">
                <a:schemeClr val="accent1">
                  <a:alpha val="40000"/>
                </a:schemeClr>
              </a:gs>
            </a:gsLst>
            <a:lin ang="120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8F93001-8BB3-2210-FE6F-2C48716E21E0}"/>
              </a:ext>
            </a:extLst>
          </p:cNvPr>
          <p:cNvSpPr>
            <a:spLocks noGrp="1"/>
          </p:cNvSpPr>
          <p:nvPr>
            <p:ph type="title"/>
          </p:nvPr>
        </p:nvSpPr>
        <p:spPr>
          <a:xfrm>
            <a:off x="3371787" y="1741337"/>
            <a:ext cx="5448730" cy="2387918"/>
          </a:xfrm>
        </p:spPr>
        <p:txBody>
          <a:bodyPr vert="horz" lIns="91440" tIns="45720" rIns="91440" bIns="45720" rtlCol="0" anchor="b">
            <a:normAutofit/>
          </a:bodyPr>
          <a:lstStyle/>
          <a:p>
            <a:pPr algn="ctr"/>
            <a:r>
              <a:rPr lang="en-US" sz="5200" kern="1200" dirty="0">
                <a:solidFill>
                  <a:schemeClr val="tx2"/>
                </a:solidFill>
                <a:latin typeface="+mj-lt"/>
                <a:ea typeface="+mj-ea"/>
                <a:cs typeface="+mj-cs"/>
              </a:rPr>
              <a:t>Challenges and limitations</a:t>
            </a:r>
          </a:p>
        </p:txBody>
      </p:sp>
      <p:grpSp>
        <p:nvGrpSpPr>
          <p:cNvPr id="13" name="Group 12">
            <a:extLst>
              <a:ext uri="{FF2B5EF4-FFF2-40B4-BE49-F238E27FC236}">
                <a16:creationId xmlns:a16="http://schemas.microsoft.com/office/drawing/2014/main" id="{92FB19B2-EA79-F852-266E-EEC3FB98B6F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18230" y="-43336"/>
            <a:ext cx="5163047" cy="2657478"/>
            <a:chOff x="6867015" y="-1"/>
            <a:chExt cx="5324985" cy="3251912"/>
          </a:xfrm>
          <a:solidFill>
            <a:schemeClr val="bg1">
              <a:alpha val="30000"/>
            </a:schemeClr>
          </a:solidFill>
        </p:grpSpPr>
        <p:sp>
          <p:nvSpPr>
            <p:cNvPr id="14" name="Freeform: Shape 13">
              <a:extLst>
                <a:ext uri="{FF2B5EF4-FFF2-40B4-BE49-F238E27FC236}">
                  <a16:creationId xmlns:a16="http://schemas.microsoft.com/office/drawing/2014/main" id="{90B7868B-D64C-D75E-C6E4-F3246EA7788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67015" y="-1"/>
              <a:ext cx="5324985" cy="3251912"/>
            </a:xfrm>
            <a:custGeom>
              <a:avLst/>
              <a:gdLst>
                <a:gd name="connsiteX0" fmla="*/ 0 w 5324985"/>
                <a:gd name="connsiteY0" fmla="*/ 0 h 3251912"/>
                <a:gd name="connsiteX1" fmla="*/ 36826 w 5324985"/>
                <a:gd name="connsiteY1" fmla="*/ 0 h 3251912"/>
                <a:gd name="connsiteX2" fmla="*/ 45003 w 5324985"/>
                <a:gd name="connsiteY2" fmla="*/ 152909 h 3251912"/>
                <a:gd name="connsiteX3" fmla="*/ 68956 w 5324985"/>
                <a:gd name="connsiteY3" fmla="*/ 308600 h 3251912"/>
                <a:gd name="connsiteX4" fmla="*/ 167774 w 5324985"/>
                <a:gd name="connsiteY4" fmla="*/ 607968 h 3251912"/>
                <a:gd name="connsiteX5" fmla="*/ 201857 w 5324985"/>
                <a:gd name="connsiteY5" fmla="*/ 679539 h 3251912"/>
                <a:gd name="connsiteX6" fmla="*/ 239741 w 5324985"/>
                <a:gd name="connsiteY6" fmla="*/ 749488 h 3251912"/>
                <a:gd name="connsiteX7" fmla="*/ 323724 w 5324985"/>
                <a:gd name="connsiteY7" fmla="*/ 885101 h 3251912"/>
                <a:gd name="connsiteX8" fmla="*/ 416412 w 5324985"/>
                <a:gd name="connsiteY8" fmla="*/ 1016081 h 3251912"/>
                <a:gd name="connsiteX9" fmla="*/ 515719 w 5324985"/>
                <a:gd name="connsiteY9" fmla="*/ 1143356 h 3251912"/>
                <a:gd name="connsiteX10" fmla="*/ 722427 w 5324985"/>
                <a:gd name="connsiteY10" fmla="*/ 1395127 h 3251912"/>
                <a:gd name="connsiteX11" fmla="*/ 825780 w 5324985"/>
                <a:gd name="connsiteY11" fmla="*/ 1522749 h 3251912"/>
                <a:gd name="connsiteX12" fmla="*/ 926314 w 5324985"/>
                <a:gd name="connsiteY12" fmla="*/ 1651992 h 3251912"/>
                <a:gd name="connsiteX13" fmla="*/ 1026848 w 5324985"/>
                <a:gd name="connsiteY13" fmla="*/ 1776836 h 3251912"/>
                <a:gd name="connsiteX14" fmla="*/ 1131918 w 5324985"/>
                <a:gd name="connsiteY14" fmla="*/ 1897393 h 3251912"/>
                <a:gd name="connsiteX15" fmla="*/ 1354688 w 5324985"/>
                <a:gd name="connsiteY15" fmla="*/ 2124728 h 3251912"/>
                <a:gd name="connsiteX16" fmla="*/ 1855027 w 5324985"/>
                <a:gd name="connsiteY16" fmla="*/ 2504236 h 3251912"/>
                <a:gd name="connsiteX17" fmla="*/ 2131618 w 5324985"/>
                <a:gd name="connsiteY17" fmla="*/ 2646913 h 3251912"/>
                <a:gd name="connsiteX18" fmla="*/ 2423534 w 5324985"/>
                <a:gd name="connsiteY18" fmla="*/ 2754732 h 3251912"/>
                <a:gd name="connsiteX19" fmla="*/ 2727588 w 5324985"/>
                <a:gd name="connsiteY19" fmla="*/ 2829197 h 3251912"/>
                <a:gd name="connsiteX20" fmla="*/ 3041083 w 5324985"/>
                <a:gd name="connsiteY20" fmla="*/ 2870890 h 3251912"/>
                <a:gd name="connsiteX21" fmla="*/ 3360340 w 5324985"/>
                <a:gd name="connsiteY21" fmla="*/ 2883976 h 3251912"/>
                <a:gd name="connsiteX22" fmla="*/ 3439663 w 5324985"/>
                <a:gd name="connsiteY22" fmla="*/ 2883396 h 3251912"/>
                <a:gd name="connsiteX23" fmla="*/ 3478529 w 5324985"/>
                <a:gd name="connsiteY23" fmla="*/ 2882471 h 3251912"/>
                <a:gd name="connsiteX24" fmla="*/ 3517271 w 5324985"/>
                <a:gd name="connsiteY24" fmla="*/ 2880616 h 3251912"/>
                <a:gd name="connsiteX25" fmla="*/ 3671260 w 5324985"/>
                <a:gd name="connsiteY25" fmla="*/ 2867878 h 3251912"/>
                <a:gd name="connsiteX26" fmla="*/ 4265268 w 5324985"/>
                <a:gd name="connsiteY26" fmla="*/ 2716283 h 3251912"/>
                <a:gd name="connsiteX27" fmla="*/ 4546395 w 5324985"/>
                <a:gd name="connsiteY27" fmla="*/ 2584724 h 3251912"/>
                <a:gd name="connsiteX28" fmla="*/ 4817837 w 5324985"/>
                <a:gd name="connsiteY28" fmla="*/ 2424674 h 3251912"/>
                <a:gd name="connsiteX29" fmla="*/ 5081677 w 5324985"/>
                <a:gd name="connsiteY29" fmla="*/ 2243548 h 3251912"/>
                <a:gd name="connsiteX30" fmla="*/ 5211881 w 5324985"/>
                <a:gd name="connsiteY30" fmla="*/ 2147658 h 3251912"/>
                <a:gd name="connsiteX31" fmla="*/ 5324985 w 5324985"/>
                <a:gd name="connsiteY31" fmla="*/ 2062128 h 3251912"/>
                <a:gd name="connsiteX32" fmla="*/ 5324985 w 5324985"/>
                <a:gd name="connsiteY32" fmla="*/ 2514993 h 3251912"/>
                <a:gd name="connsiteX33" fmla="*/ 5314867 w 5324985"/>
                <a:gd name="connsiteY33" fmla="*/ 2522881 h 3251912"/>
                <a:gd name="connsiteX34" fmla="*/ 5038276 w 5324985"/>
                <a:gd name="connsiteY34" fmla="*/ 2722421 h 3251912"/>
                <a:gd name="connsiteX35" fmla="*/ 4741701 w 5324985"/>
                <a:gd name="connsiteY35" fmla="*/ 2904937 h 3251912"/>
                <a:gd name="connsiteX36" fmla="*/ 4420728 w 5324985"/>
                <a:gd name="connsiteY36" fmla="*/ 3058848 h 3251912"/>
                <a:gd name="connsiteX37" fmla="*/ 3717481 w 5324985"/>
                <a:gd name="connsiteY37" fmla="*/ 3237079 h 3251912"/>
                <a:gd name="connsiteX38" fmla="*/ 3535661 w 5324985"/>
                <a:gd name="connsiteY38" fmla="*/ 3249934 h 3251912"/>
                <a:gd name="connsiteX39" fmla="*/ 3490175 w 5324985"/>
                <a:gd name="connsiteY39" fmla="*/ 3251555 h 3251912"/>
                <a:gd name="connsiteX40" fmla="*/ 3444813 w 5324985"/>
                <a:gd name="connsiteY40" fmla="*/ 3251787 h 3251912"/>
                <a:gd name="connsiteX41" fmla="*/ 3355681 w 5324985"/>
                <a:gd name="connsiteY41" fmla="*/ 3250745 h 3251912"/>
                <a:gd name="connsiteX42" fmla="*/ 3179011 w 5324985"/>
                <a:gd name="connsiteY42" fmla="*/ 3243795 h 3251912"/>
                <a:gd name="connsiteX43" fmla="*/ 3002217 w 5324985"/>
                <a:gd name="connsiteY43" fmla="*/ 3227814 h 3251912"/>
                <a:gd name="connsiteX44" fmla="*/ 2650103 w 5324985"/>
                <a:gd name="connsiteY44" fmla="*/ 3170836 h 3251912"/>
                <a:gd name="connsiteX45" fmla="*/ 2305836 w 5324985"/>
                <a:gd name="connsiteY45" fmla="*/ 3072514 h 3251912"/>
                <a:gd name="connsiteX46" fmla="*/ 1978611 w 5324985"/>
                <a:gd name="connsiteY46" fmla="*/ 2929952 h 3251912"/>
                <a:gd name="connsiteX47" fmla="*/ 1678235 w 5324985"/>
                <a:gd name="connsiteY47" fmla="*/ 2744424 h 3251912"/>
                <a:gd name="connsiteX48" fmla="*/ 1175688 w 5324985"/>
                <a:gd name="connsiteY48" fmla="*/ 2277018 h 3251912"/>
                <a:gd name="connsiteX49" fmla="*/ 971310 w 5324985"/>
                <a:gd name="connsiteY49" fmla="*/ 2012044 h 3251912"/>
                <a:gd name="connsiteX50" fmla="*/ 790717 w 5324985"/>
                <a:gd name="connsiteY50" fmla="*/ 1735723 h 3251912"/>
                <a:gd name="connsiteX51" fmla="*/ 706488 w 5324985"/>
                <a:gd name="connsiteY51" fmla="*/ 1598604 h 3251912"/>
                <a:gd name="connsiteX52" fmla="*/ 618951 w 5324985"/>
                <a:gd name="connsiteY52" fmla="*/ 1463802 h 3251912"/>
                <a:gd name="connsiteX53" fmla="*/ 436273 w 5324985"/>
                <a:gd name="connsiteY53" fmla="*/ 1195355 h 3251912"/>
                <a:gd name="connsiteX54" fmla="*/ 346896 w 5324985"/>
                <a:gd name="connsiteY54" fmla="*/ 1058816 h 3251912"/>
                <a:gd name="connsiteX55" fmla="*/ 261809 w 5324985"/>
                <a:gd name="connsiteY55" fmla="*/ 919264 h 3251912"/>
                <a:gd name="connsiteX56" fmla="*/ 118487 w 5324985"/>
                <a:gd name="connsiteY56" fmla="*/ 626498 h 3251912"/>
                <a:gd name="connsiteX57" fmla="*/ 28130 w 5324985"/>
                <a:gd name="connsiteY57" fmla="*/ 315781 h 3251912"/>
                <a:gd name="connsiteX58" fmla="*/ 6751 w 5324985"/>
                <a:gd name="connsiteY58" fmla="*/ 156195 h 32519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Lst>
              <a:rect l="l" t="t" r="r" b="b"/>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Freeform: Shape 14">
              <a:extLst>
                <a:ext uri="{FF2B5EF4-FFF2-40B4-BE49-F238E27FC236}">
                  <a16:creationId xmlns:a16="http://schemas.microsoft.com/office/drawing/2014/main" id="{037C398D-2D27-7686-D33C-CFBE195A078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16467" y="-1"/>
              <a:ext cx="5275533" cy="2980757"/>
            </a:xfrm>
            <a:custGeom>
              <a:avLst/>
              <a:gdLst>
                <a:gd name="connsiteX0" fmla="*/ 0 w 5275533"/>
                <a:gd name="connsiteY0" fmla="*/ 0 h 2980757"/>
                <a:gd name="connsiteX1" fmla="*/ 201166 w 5275533"/>
                <a:gd name="connsiteY1" fmla="*/ 0 h 2980757"/>
                <a:gd name="connsiteX2" fmla="*/ 206734 w 5275533"/>
                <a:gd name="connsiteY2" fmla="*/ 89286 h 2980757"/>
                <a:gd name="connsiteX3" fmla="*/ 232051 w 5275533"/>
                <a:gd name="connsiteY3" fmla="*/ 226897 h 2980757"/>
                <a:gd name="connsiteX4" fmla="*/ 332707 w 5275533"/>
                <a:gd name="connsiteY4" fmla="*/ 487120 h 2980757"/>
                <a:gd name="connsiteX5" fmla="*/ 402959 w 5275533"/>
                <a:gd name="connsiteY5" fmla="*/ 609647 h 2980757"/>
                <a:gd name="connsiteX6" fmla="*/ 483631 w 5275533"/>
                <a:gd name="connsiteY6" fmla="*/ 728236 h 2980757"/>
                <a:gd name="connsiteX7" fmla="*/ 669986 w 5275533"/>
                <a:gd name="connsiteY7" fmla="*/ 957424 h 2980757"/>
                <a:gd name="connsiteX8" fmla="*/ 871667 w 5275533"/>
                <a:gd name="connsiteY8" fmla="*/ 1188348 h 2980757"/>
                <a:gd name="connsiteX9" fmla="*/ 971956 w 5275533"/>
                <a:gd name="connsiteY9" fmla="*/ 1308905 h 2980757"/>
                <a:gd name="connsiteX10" fmla="*/ 1020139 w 5275533"/>
                <a:gd name="connsiteY10" fmla="*/ 1368084 h 2980757"/>
                <a:gd name="connsiteX11" fmla="*/ 1067340 w 5275533"/>
                <a:gd name="connsiteY11" fmla="*/ 1424715 h 2980757"/>
                <a:gd name="connsiteX12" fmla="*/ 1472909 w 5275533"/>
                <a:gd name="connsiteY12" fmla="*/ 1843252 h 2980757"/>
                <a:gd name="connsiteX13" fmla="*/ 1688567 w 5275533"/>
                <a:gd name="connsiteY13" fmla="*/ 2031559 h 2980757"/>
                <a:gd name="connsiteX14" fmla="*/ 1914401 w 5275533"/>
                <a:gd name="connsiteY14" fmla="*/ 2205156 h 2980757"/>
                <a:gd name="connsiteX15" fmla="*/ 2418909 w 5275533"/>
                <a:gd name="connsiteY15" fmla="*/ 2479741 h 2980757"/>
                <a:gd name="connsiteX16" fmla="*/ 2701141 w 5275533"/>
                <a:gd name="connsiteY16" fmla="*/ 2557333 h 2980757"/>
                <a:gd name="connsiteX17" fmla="*/ 2773475 w 5275533"/>
                <a:gd name="connsiteY17" fmla="*/ 2570999 h 2980757"/>
                <a:gd name="connsiteX18" fmla="*/ 2846424 w 5275533"/>
                <a:gd name="connsiteY18" fmla="*/ 2582465 h 2980757"/>
                <a:gd name="connsiteX19" fmla="*/ 2993669 w 5275533"/>
                <a:gd name="connsiteY19" fmla="*/ 2598909 h 2980757"/>
                <a:gd name="connsiteX20" fmla="*/ 3067721 w 5275533"/>
                <a:gd name="connsiteY20" fmla="*/ 2604237 h 2980757"/>
                <a:gd name="connsiteX21" fmla="*/ 3142019 w 5275533"/>
                <a:gd name="connsiteY21" fmla="*/ 2607943 h 2980757"/>
                <a:gd name="connsiteX22" fmla="*/ 3216561 w 5275533"/>
                <a:gd name="connsiteY22" fmla="*/ 2609564 h 2980757"/>
                <a:gd name="connsiteX23" fmla="*/ 3291225 w 5275533"/>
                <a:gd name="connsiteY23" fmla="*/ 2609217 h 2980757"/>
                <a:gd name="connsiteX24" fmla="*/ 3328619 w 5275533"/>
                <a:gd name="connsiteY24" fmla="*/ 2608869 h 2980757"/>
                <a:gd name="connsiteX25" fmla="*/ 3364665 w 5275533"/>
                <a:gd name="connsiteY25" fmla="*/ 2607363 h 2980757"/>
                <a:gd name="connsiteX26" fmla="*/ 3400587 w 5275533"/>
                <a:gd name="connsiteY26" fmla="*/ 2605627 h 2980757"/>
                <a:gd name="connsiteX27" fmla="*/ 3436387 w 5275533"/>
                <a:gd name="connsiteY27" fmla="*/ 2602847 h 2980757"/>
                <a:gd name="connsiteX28" fmla="*/ 3578361 w 5275533"/>
                <a:gd name="connsiteY28" fmla="*/ 2586286 h 2980757"/>
                <a:gd name="connsiteX29" fmla="*/ 4119159 w 5275533"/>
                <a:gd name="connsiteY29" fmla="*/ 2418594 h 2980757"/>
                <a:gd name="connsiteX30" fmla="*/ 4618765 w 5275533"/>
                <a:gd name="connsiteY30" fmla="*/ 2124668 h 2980757"/>
                <a:gd name="connsiteX31" fmla="*/ 4739895 w 5275533"/>
                <a:gd name="connsiteY31" fmla="*/ 2038275 h 2980757"/>
                <a:gd name="connsiteX32" fmla="*/ 4861027 w 5275533"/>
                <a:gd name="connsiteY32" fmla="*/ 1948986 h 2980757"/>
                <a:gd name="connsiteX33" fmla="*/ 5106354 w 5275533"/>
                <a:gd name="connsiteY33" fmla="*/ 1763690 h 2980757"/>
                <a:gd name="connsiteX34" fmla="*/ 5275533 w 5275533"/>
                <a:gd name="connsiteY34" fmla="*/ 1641017 h 2980757"/>
                <a:gd name="connsiteX35" fmla="*/ 5275533 w 5275533"/>
                <a:gd name="connsiteY35" fmla="*/ 2257481 h 2980757"/>
                <a:gd name="connsiteX36" fmla="*/ 5168881 w 5275533"/>
                <a:gd name="connsiteY36" fmla="*/ 2332084 h 2980757"/>
                <a:gd name="connsiteX37" fmla="*/ 5036225 w 5275533"/>
                <a:gd name="connsiteY37" fmla="*/ 2421489 h 2980757"/>
                <a:gd name="connsiteX38" fmla="*/ 4899401 w 5275533"/>
                <a:gd name="connsiteY38" fmla="*/ 2508347 h 2980757"/>
                <a:gd name="connsiteX39" fmla="*/ 4612145 w 5275533"/>
                <a:gd name="connsiteY39" fmla="*/ 2671407 h 2980757"/>
                <a:gd name="connsiteX40" fmla="*/ 4303187 w 5275533"/>
                <a:gd name="connsiteY40" fmla="*/ 2810030 h 2980757"/>
                <a:gd name="connsiteX41" fmla="*/ 3630835 w 5275533"/>
                <a:gd name="connsiteY41" fmla="*/ 2969500 h 2980757"/>
                <a:gd name="connsiteX42" fmla="*/ 3457719 w 5275533"/>
                <a:gd name="connsiteY42" fmla="*/ 2979808 h 2980757"/>
                <a:gd name="connsiteX43" fmla="*/ 3414441 w 5275533"/>
                <a:gd name="connsiteY43" fmla="*/ 2980733 h 2980757"/>
                <a:gd name="connsiteX44" fmla="*/ 3371285 w 5275533"/>
                <a:gd name="connsiteY44" fmla="*/ 2980502 h 2980757"/>
                <a:gd name="connsiteX45" fmla="*/ 3328252 w 5275533"/>
                <a:gd name="connsiteY45" fmla="*/ 2980039 h 2980757"/>
                <a:gd name="connsiteX46" fmla="*/ 3286445 w 5275533"/>
                <a:gd name="connsiteY46" fmla="*/ 2978534 h 2980757"/>
                <a:gd name="connsiteX47" fmla="*/ 2952475 w 5275533"/>
                <a:gd name="connsiteY47" fmla="*/ 2953402 h 2980757"/>
                <a:gd name="connsiteX48" fmla="*/ 2620591 w 5275533"/>
                <a:gd name="connsiteY48" fmla="*/ 2898046 h 2980757"/>
                <a:gd name="connsiteX49" fmla="*/ 2294591 w 5275533"/>
                <a:gd name="connsiteY49" fmla="*/ 2811305 h 2980757"/>
                <a:gd name="connsiteX50" fmla="*/ 1670544 w 5275533"/>
                <a:gd name="connsiteY50" fmla="*/ 2550501 h 2980757"/>
                <a:gd name="connsiteX51" fmla="*/ 1144703 w 5275533"/>
                <a:gd name="connsiteY51" fmla="*/ 2144472 h 2980757"/>
                <a:gd name="connsiteX52" fmla="*/ 931497 w 5275533"/>
                <a:gd name="connsiteY52" fmla="*/ 1900114 h 2980757"/>
                <a:gd name="connsiteX53" fmla="*/ 745265 w 5275533"/>
                <a:gd name="connsiteY53" fmla="*/ 1641395 h 2980757"/>
                <a:gd name="connsiteX54" fmla="*/ 701741 w 5275533"/>
                <a:gd name="connsiteY54" fmla="*/ 1575500 h 2980757"/>
                <a:gd name="connsiteX55" fmla="*/ 660178 w 5275533"/>
                <a:gd name="connsiteY55" fmla="*/ 1511573 h 2980757"/>
                <a:gd name="connsiteX56" fmla="*/ 578158 w 5275533"/>
                <a:gd name="connsiteY56" fmla="*/ 1387656 h 2980757"/>
                <a:gd name="connsiteX57" fmla="*/ 408230 w 5275533"/>
                <a:gd name="connsiteY57" fmla="*/ 1134497 h 2980757"/>
                <a:gd name="connsiteX58" fmla="*/ 242349 w 5275533"/>
                <a:gd name="connsiteY58" fmla="*/ 866860 h 2980757"/>
                <a:gd name="connsiteX59" fmla="*/ 167562 w 5275533"/>
                <a:gd name="connsiteY59" fmla="*/ 724994 h 2980757"/>
                <a:gd name="connsiteX60" fmla="*/ 104054 w 5275533"/>
                <a:gd name="connsiteY60" fmla="*/ 576525 h 2980757"/>
                <a:gd name="connsiteX61" fmla="*/ 55381 w 5275533"/>
                <a:gd name="connsiteY61" fmla="*/ 422499 h 2980757"/>
                <a:gd name="connsiteX62" fmla="*/ 37236 w 5275533"/>
                <a:gd name="connsiteY62" fmla="*/ 343980 h 2980757"/>
                <a:gd name="connsiteX63" fmla="*/ 29267 w 5275533"/>
                <a:gd name="connsiteY63" fmla="*/ 304604 h 2980757"/>
                <a:gd name="connsiteX64" fmla="*/ 22646 w 5275533"/>
                <a:gd name="connsiteY64" fmla="*/ 265113 h 2980757"/>
                <a:gd name="connsiteX65" fmla="*/ 3903 w 5275533"/>
                <a:gd name="connsiteY65" fmla="*/ 106787 h 29807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Lst>
              <a:rect l="l" t="t" r="r" b="b"/>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Freeform: Shape 15">
              <a:extLst>
                <a:ext uri="{FF2B5EF4-FFF2-40B4-BE49-F238E27FC236}">
                  <a16:creationId xmlns:a16="http://schemas.microsoft.com/office/drawing/2014/main" id="{458D860A-5BAF-471E-91B0-C85D4A8F87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21214" y="-1"/>
              <a:ext cx="5270786" cy="2927775"/>
            </a:xfrm>
            <a:custGeom>
              <a:avLst/>
              <a:gdLst>
                <a:gd name="connsiteX0" fmla="*/ 0 w 5270786"/>
                <a:gd name="connsiteY0" fmla="*/ 0 h 2927775"/>
                <a:gd name="connsiteX1" fmla="*/ 613805 w 5270786"/>
                <a:gd name="connsiteY1" fmla="*/ 0 h 2927775"/>
                <a:gd name="connsiteX2" fmla="*/ 618487 w 5270786"/>
                <a:gd name="connsiteY2" fmla="*/ 85404 h 2927775"/>
                <a:gd name="connsiteX3" fmla="*/ 1054084 w 5270786"/>
                <a:gd name="connsiteY3" fmla="*/ 895200 h 2927775"/>
                <a:gd name="connsiteX4" fmla="*/ 1276976 w 5270786"/>
                <a:gd name="connsiteY4" fmla="*/ 1191325 h 2927775"/>
                <a:gd name="connsiteX5" fmla="*/ 3368450 w 5270786"/>
                <a:gd name="connsiteY5" fmla="*/ 2348843 h 2927775"/>
                <a:gd name="connsiteX6" fmla="*/ 4956151 w 5270786"/>
                <a:gd name="connsiteY6" fmla="*/ 1636730 h 2927775"/>
                <a:gd name="connsiteX7" fmla="*/ 5149372 w 5270786"/>
                <a:gd name="connsiteY7" fmla="*/ 1495325 h 2927775"/>
                <a:gd name="connsiteX8" fmla="*/ 5270786 w 5270786"/>
                <a:gd name="connsiteY8" fmla="*/ 1406110 h 2927775"/>
                <a:gd name="connsiteX9" fmla="*/ 5270786 w 5270786"/>
                <a:gd name="connsiteY9" fmla="*/ 2138641 h 2927775"/>
                <a:gd name="connsiteX10" fmla="*/ 5112925 w 5270786"/>
                <a:gd name="connsiteY10" fmla="*/ 2253730 h 2927775"/>
                <a:gd name="connsiteX11" fmla="*/ 3368327 w 5270786"/>
                <a:gd name="connsiteY11" fmla="*/ 2927775 h 2927775"/>
                <a:gd name="connsiteX12" fmla="*/ 769646 w 5270786"/>
                <a:gd name="connsiteY12" fmla="*/ 1516288 h 2927775"/>
                <a:gd name="connsiteX13" fmla="*/ 3149 w 5270786"/>
                <a:gd name="connsiteY13" fmla="*/ 85252 h 2927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Freeform: Shape 16">
              <a:extLst>
                <a:ext uri="{FF2B5EF4-FFF2-40B4-BE49-F238E27FC236}">
                  <a16:creationId xmlns:a16="http://schemas.microsoft.com/office/drawing/2014/main" id="{56715B49-D30E-78AF-03A9-5DDE6202125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21214" y="-1"/>
              <a:ext cx="5270786" cy="2927775"/>
            </a:xfrm>
            <a:custGeom>
              <a:avLst/>
              <a:gdLst>
                <a:gd name="connsiteX0" fmla="*/ 0 w 5270786"/>
                <a:gd name="connsiteY0" fmla="*/ 0 h 2927775"/>
                <a:gd name="connsiteX1" fmla="*/ 736294 w 5270786"/>
                <a:gd name="connsiteY1" fmla="*/ 0 h 2927775"/>
                <a:gd name="connsiteX2" fmla="*/ 740298 w 5270786"/>
                <a:gd name="connsiteY2" fmla="*/ 72745 h 2927775"/>
                <a:gd name="connsiteX3" fmla="*/ 1153024 w 5270786"/>
                <a:gd name="connsiteY3" fmla="*/ 826989 h 2927775"/>
                <a:gd name="connsiteX4" fmla="*/ 1378368 w 5270786"/>
                <a:gd name="connsiteY4" fmla="*/ 1126356 h 2927775"/>
                <a:gd name="connsiteX5" fmla="*/ 2238056 w 5270786"/>
                <a:gd name="connsiteY5" fmla="*/ 1955322 h 2927775"/>
                <a:gd name="connsiteX6" fmla="*/ 3368327 w 5270786"/>
                <a:gd name="connsiteY6" fmla="*/ 2233033 h 2927775"/>
                <a:gd name="connsiteX7" fmla="*/ 4095360 w 5270786"/>
                <a:gd name="connsiteY7" fmla="*/ 2056192 h 2927775"/>
                <a:gd name="connsiteX8" fmla="*/ 4880506 w 5270786"/>
                <a:gd name="connsiteY8" fmla="*/ 1545587 h 2927775"/>
                <a:gd name="connsiteX9" fmla="*/ 5074340 w 5270786"/>
                <a:gd name="connsiteY9" fmla="*/ 1403721 h 2927775"/>
                <a:gd name="connsiteX10" fmla="*/ 5270786 w 5270786"/>
                <a:gd name="connsiteY10" fmla="*/ 1259367 h 2927775"/>
                <a:gd name="connsiteX11" fmla="*/ 5270786 w 5270786"/>
                <a:gd name="connsiteY11" fmla="*/ 2138641 h 2927775"/>
                <a:gd name="connsiteX12" fmla="*/ 5112925 w 5270786"/>
                <a:gd name="connsiteY12" fmla="*/ 2253730 h 2927775"/>
                <a:gd name="connsiteX13" fmla="*/ 3368327 w 5270786"/>
                <a:gd name="connsiteY13" fmla="*/ 2927775 h 2927775"/>
                <a:gd name="connsiteX14" fmla="*/ 769646 w 5270786"/>
                <a:gd name="connsiteY14" fmla="*/ 1516288 h 2927775"/>
                <a:gd name="connsiteX15" fmla="*/ 3149 w 5270786"/>
                <a:gd name="connsiteY15" fmla="*/ 85252 h 2927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9" name="Group 18">
            <a:extLst>
              <a:ext uri="{FF2B5EF4-FFF2-40B4-BE49-F238E27FC236}">
                <a16:creationId xmlns:a16="http://schemas.microsoft.com/office/drawing/2014/main" id="{CF0E4B41-C6EA-83E2-809F-3D2A53235CA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10800000">
            <a:off x="9058275" y="4146310"/>
            <a:ext cx="3142400" cy="2716805"/>
            <a:chOff x="-305" y="-4155"/>
            <a:chExt cx="2514948" cy="2174333"/>
          </a:xfrm>
          <a:solidFill>
            <a:schemeClr val="bg1">
              <a:alpha val="30000"/>
            </a:schemeClr>
          </a:solidFill>
        </p:grpSpPr>
        <p:sp>
          <p:nvSpPr>
            <p:cNvPr id="20" name="Freeform: Shape 19">
              <a:extLst>
                <a:ext uri="{FF2B5EF4-FFF2-40B4-BE49-F238E27FC236}">
                  <a16:creationId xmlns:a16="http://schemas.microsoft.com/office/drawing/2014/main" id="{B8372E16-2705-6996-C71B-7A019205848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14948" cy="2170178"/>
            </a:xfrm>
            <a:custGeom>
              <a:avLst/>
              <a:gdLst>
                <a:gd name="connsiteX0" fmla="*/ 2466091 w 2514948"/>
                <a:gd name="connsiteY0" fmla="*/ 0 h 2170178"/>
                <a:gd name="connsiteX1" fmla="*/ 2514948 w 2514948"/>
                <a:gd name="connsiteY1" fmla="*/ 0 h 2170178"/>
                <a:gd name="connsiteX2" fmla="*/ 2512286 w 2514948"/>
                <a:gd name="connsiteY2" fmla="*/ 12375 h 2170178"/>
                <a:gd name="connsiteX3" fmla="*/ 2394961 w 2514948"/>
                <a:gd name="connsiteY3" fmla="*/ 368660 h 2170178"/>
                <a:gd name="connsiteX4" fmla="*/ 2289734 w 2514948"/>
                <a:gd name="connsiteY4" fmla="*/ 598078 h 2170178"/>
                <a:gd name="connsiteX5" fmla="*/ 2163747 w 2514948"/>
                <a:gd name="connsiteY5" fmla="*/ 819078 h 2170178"/>
                <a:gd name="connsiteX6" fmla="*/ 1852241 w 2514948"/>
                <a:gd name="connsiteY6" fmla="*/ 1228932 h 2170178"/>
                <a:gd name="connsiteX7" fmla="*/ 1668235 w 2514948"/>
                <a:gd name="connsiteY7" fmla="*/ 1413844 h 2170178"/>
                <a:gd name="connsiteX8" fmla="*/ 1619510 w 2514948"/>
                <a:gd name="connsiteY8" fmla="*/ 1457722 h 2170178"/>
                <a:gd name="connsiteX9" fmla="*/ 1569835 w 2514948"/>
                <a:gd name="connsiteY9" fmla="*/ 1500704 h 2170178"/>
                <a:gd name="connsiteX10" fmla="*/ 1467169 w 2514948"/>
                <a:gd name="connsiteY10" fmla="*/ 1583266 h 2170178"/>
                <a:gd name="connsiteX11" fmla="*/ 1018393 w 2514948"/>
                <a:gd name="connsiteY11" fmla="*/ 1867576 h 2170178"/>
                <a:gd name="connsiteX12" fmla="*/ 255857 w 2514948"/>
                <a:gd name="connsiteY12" fmla="*/ 2133049 h 2170178"/>
                <a:gd name="connsiteX13" fmla="*/ 0 w 2514948"/>
                <a:gd name="connsiteY13" fmla="*/ 2170178 h 2170178"/>
                <a:gd name="connsiteX14" fmla="*/ 0 w 2514948"/>
                <a:gd name="connsiteY14" fmla="*/ 1940056 h 2170178"/>
                <a:gd name="connsiteX15" fmla="*/ 201609 w 2514948"/>
                <a:gd name="connsiteY15" fmla="*/ 1902856 h 2170178"/>
                <a:gd name="connsiteX16" fmla="*/ 440974 w 2514948"/>
                <a:gd name="connsiteY16" fmla="*/ 1838472 h 2170178"/>
                <a:gd name="connsiteX17" fmla="*/ 674558 w 2514948"/>
                <a:gd name="connsiteY17" fmla="*/ 1756359 h 2170178"/>
                <a:gd name="connsiteX18" fmla="*/ 901222 w 2514948"/>
                <a:gd name="connsiteY18" fmla="*/ 1657142 h 2170178"/>
                <a:gd name="connsiteX19" fmla="*/ 1330943 w 2514948"/>
                <a:gd name="connsiteY19" fmla="*/ 1413396 h 2170178"/>
                <a:gd name="connsiteX20" fmla="*/ 1432566 w 2514948"/>
                <a:gd name="connsiteY20" fmla="*/ 1343193 h 2170178"/>
                <a:gd name="connsiteX21" fmla="*/ 1482527 w 2514948"/>
                <a:gd name="connsiteY21" fmla="*/ 1306926 h 2170178"/>
                <a:gd name="connsiteX22" fmla="*/ 1531821 w 2514948"/>
                <a:gd name="connsiteY22" fmla="*/ 1269765 h 2170178"/>
                <a:gd name="connsiteX23" fmla="*/ 1721986 w 2514948"/>
                <a:gd name="connsiteY23" fmla="*/ 1112073 h 2170178"/>
                <a:gd name="connsiteX24" fmla="*/ 2061460 w 2514948"/>
                <a:gd name="connsiteY24" fmla="*/ 754336 h 2170178"/>
                <a:gd name="connsiteX25" fmla="*/ 2206218 w 2514948"/>
                <a:gd name="connsiteY25" fmla="*/ 554827 h 2170178"/>
                <a:gd name="connsiteX26" fmla="*/ 2329455 w 2514948"/>
                <a:gd name="connsiteY26" fmla="*/ 341886 h 2170178"/>
                <a:gd name="connsiteX27" fmla="*/ 2356757 w 2514948"/>
                <a:gd name="connsiteY27" fmla="*/ 286815 h 2170178"/>
                <a:gd name="connsiteX28" fmla="*/ 2370030 w 2514948"/>
                <a:gd name="connsiteY28" fmla="*/ 259056 h 2170178"/>
                <a:gd name="connsiteX29" fmla="*/ 2382637 w 2514948"/>
                <a:gd name="connsiteY29" fmla="*/ 231028 h 2170178"/>
                <a:gd name="connsiteX30" fmla="*/ 2406716 w 2514948"/>
                <a:gd name="connsiteY30" fmla="*/ 174525 h 2170178"/>
                <a:gd name="connsiteX31" fmla="*/ 2429278 w 2514948"/>
                <a:gd name="connsiteY31" fmla="*/ 117393 h 2170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2514948" h="2170178">
                  <a:moveTo>
                    <a:pt x="2466091" y="0"/>
                  </a:moveTo>
                  <a:lnTo>
                    <a:pt x="2514948" y="0"/>
                  </a:lnTo>
                  <a:lnTo>
                    <a:pt x="2512286" y="12375"/>
                  </a:lnTo>
                  <a:cubicBezTo>
                    <a:pt x="2481760" y="133161"/>
                    <a:pt x="2442526" y="252239"/>
                    <a:pt x="2394961" y="368660"/>
                  </a:cubicBezTo>
                  <a:cubicBezTo>
                    <a:pt x="2363109" y="446208"/>
                    <a:pt x="2328603" y="523039"/>
                    <a:pt x="2289734" y="598078"/>
                  </a:cubicBezTo>
                  <a:cubicBezTo>
                    <a:pt x="2251436" y="673387"/>
                    <a:pt x="2209251" y="747083"/>
                    <a:pt x="2163747" y="819078"/>
                  </a:cubicBezTo>
                  <a:cubicBezTo>
                    <a:pt x="2072646" y="962979"/>
                    <a:pt x="1968652" y="1100611"/>
                    <a:pt x="1852241" y="1228932"/>
                  </a:cubicBezTo>
                  <a:cubicBezTo>
                    <a:pt x="1793748" y="1292868"/>
                    <a:pt x="1732698" y="1354923"/>
                    <a:pt x="1668235" y="1413844"/>
                  </a:cubicBezTo>
                  <a:cubicBezTo>
                    <a:pt x="1652214" y="1428709"/>
                    <a:pt x="1636100" y="1443395"/>
                    <a:pt x="1619510" y="1457722"/>
                  </a:cubicBezTo>
                  <a:cubicBezTo>
                    <a:pt x="1603015" y="1472140"/>
                    <a:pt x="1586805" y="1486825"/>
                    <a:pt x="1569835" y="1500704"/>
                  </a:cubicBezTo>
                  <a:cubicBezTo>
                    <a:pt x="1536276" y="1528911"/>
                    <a:pt x="1501865" y="1556223"/>
                    <a:pt x="1467169" y="1583266"/>
                  </a:cubicBezTo>
                  <a:cubicBezTo>
                    <a:pt x="1327719" y="1690722"/>
                    <a:pt x="1177085" y="1785910"/>
                    <a:pt x="1018393" y="1867576"/>
                  </a:cubicBezTo>
                  <a:cubicBezTo>
                    <a:pt x="780425" y="1990142"/>
                    <a:pt x="522567" y="2080875"/>
                    <a:pt x="255857" y="2133049"/>
                  </a:cubicBezTo>
                  <a:lnTo>
                    <a:pt x="0" y="2170178"/>
                  </a:lnTo>
                  <a:lnTo>
                    <a:pt x="0" y="1940056"/>
                  </a:lnTo>
                  <a:lnTo>
                    <a:pt x="201609" y="1902856"/>
                  </a:lnTo>
                  <a:cubicBezTo>
                    <a:pt x="282186" y="1884231"/>
                    <a:pt x="362102" y="1863008"/>
                    <a:pt x="440974" y="1838472"/>
                  </a:cubicBezTo>
                  <a:cubicBezTo>
                    <a:pt x="519848" y="1814027"/>
                    <a:pt x="597771" y="1786627"/>
                    <a:pt x="674558" y="1756359"/>
                  </a:cubicBezTo>
                  <a:cubicBezTo>
                    <a:pt x="751250" y="1726003"/>
                    <a:pt x="826900" y="1692870"/>
                    <a:pt x="901222" y="1657142"/>
                  </a:cubicBezTo>
                  <a:cubicBezTo>
                    <a:pt x="1049865" y="1585774"/>
                    <a:pt x="1193581" y="1504376"/>
                    <a:pt x="1330943" y="1413396"/>
                  </a:cubicBezTo>
                  <a:cubicBezTo>
                    <a:pt x="1365165" y="1390563"/>
                    <a:pt x="1399293" y="1367370"/>
                    <a:pt x="1432566" y="1343193"/>
                  </a:cubicBezTo>
                  <a:cubicBezTo>
                    <a:pt x="1449441" y="1331373"/>
                    <a:pt x="1465936" y="1319104"/>
                    <a:pt x="1482527" y="1306926"/>
                  </a:cubicBezTo>
                  <a:cubicBezTo>
                    <a:pt x="1499210" y="1294837"/>
                    <a:pt x="1515611" y="1282391"/>
                    <a:pt x="1531821" y="1269765"/>
                  </a:cubicBezTo>
                  <a:cubicBezTo>
                    <a:pt x="1596947" y="1219350"/>
                    <a:pt x="1660652" y="1167055"/>
                    <a:pt x="1721986" y="1112073"/>
                  </a:cubicBezTo>
                  <a:cubicBezTo>
                    <a:pt x="1844940" y="1002469"/>
                    <a:pt x="1958983" y="882926"/>
                    <a:pt x="2061460" y="754336"/>
                  </a:cubicBezTo>
                  <a:cubicBezTo>
                    <a:pt x="2112652" y="690042"/>
                    <a:pt x="2161094" y="623510"/>
                    <a:pt x="2206218" y="554827"/>
                  </a:cubicBezTo>
                  <a:cubicBezTo>
                    <a:pt x="2250583" y="485787"/>
                    <a:pt x="2292484" y="415046"/>
                    <a:pt x="2329455" y="341886"/>
                  </a:cubicBezTo>
                  <a:cubicBezTo>
                    <a:pt x="2339030" y="323709"/>
                    <a:pt x="2347941" y="305261"/>
                    <a:pt x="2356757" y="286815"/>
                  </a:cubicBezTo>
                  <a:lnTo>
                    <a:pt x="2370030" y="259056"/>
                  </a:lnTo>
                  <a:lnTo>
                    <a:pt x="2382637" y="231028"/>
                  </a:lnTo>
                  <a:cubicBezTo>
                    <a:pt x="2390885" y="212312"/>
                    <a:pt x="2399227" y="193598"/>
                    <a:pt x="2406716" y="174525"/>
                  </a:cubicBezTo>
                  <a:cubicBezTo>
                    <a:pt x="2414206" y="155452"/>
                    <a:pt x="2422453" y="136646"/>
                    <a:pt x="2429278" y="117393"/>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Freeform: Shape 20">
              <a:extLst>
                <a:ext uri="{FF2B5EF4-FFF2-40B4-BE49-F238E27FC236}">
                  <a16:creationId xmlns:a16="http://schemas.microsoft.com/office/drawing/2014/main" id="{F71D6082-7CB1-D9EF-18CB-EB6F05CE051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4155"/>
              <a:ext cx="2493062" cy="1947896"/>
            </a:xfrm>
            <a:custGeom>
              <a:avLst/>
              <a:gdLst>
                <a:gd name="connsiteX0" fmla="*/ 1896911 w 2493062"/>
                <a:gd name="connsiteY0" fmla="*/ 0 h 1947896"/>
                <a:gd name="connsiteX1" fmla="*/ 2493062 w 2493062"/>
                <a:gd name="connsiteY1" fmla="*/ 0 h 1947896"/>
                <a:gd name="connsiteX2" fmla="*/ 2435315 w 2493062"/>
                <a:gd name="connsiteY2" fmla="*/ 178165 h 1947896"/>
                <a:gd name="connsiteX3" fmla="*/ 93066 w 2493062"/>
                <a:gd name="connsiteY3" fmla="*/ 1935859 h 1947896"/>
                <a:gd name="connsiteX4" fmla="*/ 0 w 2493062"/>
                <a:gd name="connsiteY4" fmla="*/ 1947896 h 1947896"/>
                <a:gd name="connsiteX5" fmla="*/ 0 w 2493062"/>
                <a:gd name="connsiteY5" fmla="*/ 1404756 h 1947896"/>
                <a:gd name="connsiteX6" fmla="*/ 17392 w 2493062"/>
                <a:gd name="connsiteY6" fmla="*/ 1402364 h 1947896"/>
                <a:gd name="connsiteX7" fmla="*/ 464249 w 2493062"/>
                <a:gd name="connsiteY7" fmla="*/ 1281208 h 1947896"/>
                <a:gd name="connsiteX8" fmla="*/ 1260556 w 2493062"/>
                <a:gd name="connsiteY8" fmla="*/ 833835 h 1947896"/>
                <a:gd name="connsiteX9" fmla="*/ 1807924 w 2493062"/>
                <a:gd name="connsiteY9" fmla="*/ 193222 h 1947896"/>
                <a:gd name="connsiteX10" fmla="*/ 1874357 w 2493062"/>
                <a:gd name="connsiteY10" fmla="*/ 58333 h 1947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3062" h="1947896">
                  <a:moveTo>
                    <a:pt x="1896911" y="0"/>
                  </a:moveTo>
                  <a:lnTo>
                    <a:pt x="2493062" y="0"/>
                  </a:lnTo>
                  <a:lnTo>
                    <a:pt x="2435315" y="178165"/>
                  </a:lnTo>
                  <a:cubicBezTo>
                    <a:pt x="2088122" y="1071812"/>
                    <a:pt x="1129732" y="1758033"/>
                    <a:pt x="93066" y="1935859"/>
                  </a:cubicBezTo>
                  <a:lnTo>
                    <a:pt x="0" y="1947896"/>
                  </a:lnTo>
                  <a:lnTo>
                    <a:pt x="0" y="1404756"/>
                  </a:lnTo>
                  <a:lnTo>
                    <a:pt x="17392" y="1402364"/>
                  </a:lnTo>
                  <a:cubicBezTo>
                    <a:pt x="167719" y="1375030"/>
                    <a:pt x="318070" y="1334398"/>
                    <a:pt x="464249" y="1281208"/>
                  </a:cubicBezTo>
                  <a:cubicBezTo>
                    <a:pt x="753480" y="1176081"/>
                    <a:pt x="1028869" y="1021346"/>
                    <a:pt x="1260556" y="833835"/>
                  </a:cubicBezTo>
                  <a:cubicBezTo>
                    <a:pt x="1491960" y="646594"/>
                    <a:pt x="1681177" y="425056"/>
                    <a:pt x="1807924" y="193222"/>
                  </a:cubicBezTo>
                  <a:cubicBezTo>
                    <a:pt x="1832328" y="148578"/>
                    <a:pt x="1854477" y="103599"/>
                    <a:pt x="1874357" y="58333"/>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Freeform: Shape 21">
              <a:extLst>
                <a:ext uri="{FF2B5EF4-FFF2-40B4-BE49-F238E27FC236}">
                  <a16:creationId xmlns:a16="http://schemas.microsoft.com/office/drawing/2014/main" id="{65399AB2-EB4F-E8F1-4F66-387B85C812E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01089" cy="1972702"/>
            </a:xfrm>
            <a:custGeom>
              <a:avLst/>
              <a:gdLst>
                <a:gd name="connsiteX0" fmla="*/ 2318728 w 2501089"/>
                <a:gd name="connsiteY0" fmla="*/ 0 h 1972702"/>
                <a:gd name="connsiteX1" fmla="*/ 2501089 w 2501089"/>
                <a:gd name="connsiteY1" fmla="*/ 0 h 1972702"/>
                <a:gd name="connsiteX2" fmla="*/ 2453909 w 2501089"/>
                <a:gd name="connsiteY2" fmla="*/ 167837 h 1972702"/>
                <a:gd name="connsiteX3" fmla="*/ 2361125 w 2501089"/>
                <a:gd name="connsiteY3" fmla="*/ 392084 h 1972702"/>
                <a:gd name="connsiteX4" fmla="*/ 1768255 w 2501089"/>
                <a:gd name="connsiteY4" fmla="*/ 1167644 h 1972702"/>
                <a:gd name="connsiteX5" fmla="*/ 1375125 w 2501089"/>
                <a:gd name="connsiteY5" fmla="*/ 1471474 h 1972702"/>
                <a:gd name="connsiteX6" fmla="*/ 935735 w 2501089"/>
                <a:gd name="connsiteY6" fmla="*/ 1712713 h 1972702"/>
                <a:gd name="connsiteX7" fmla="*/ 212353 w 2501089"/>
                <a:gd name="connsiteY7" fmla="*/ 1940294 h 1972702"/>
                <a:gd name="connsiteX8" fmla="*/ 0 w 2501089"/>
                <a:gd name="connsiteY8" fmla="*/ 1972702 h 1972702"/>
                <a:gd name="connsiteX9" fmla="*/ 0 w 2501089"/>
                <a:gd name="connsiteY9" fmla="*/ 1732181 h 1972702"/>
                <a:gd name="connsiteX10" fmla="*/ 161195 w 2501089"/>
                <a:gd name="connsiteY10" fmla="*/ 1706590 h 1972702"/>
                <a:gd name="connsiteX11" fmla="*/ 388463 w 2501089"/>
                <a:gd name="connsiteY11" fmla="*/ 1652268 h 1972702"/>
                <a:gd name="connsiteX12" fmla="*/ 826716 w 2501089"/>
                <a:gd name="connsiteY12" fmla="*/ 1493950 h 1972702"/>
                <a:gd name="connsiteX13" fmla="*/ 1609847 w 2501089"/>
                <a:gd name="connsiteY13" fmla="*/ 1007535 h 1972702"/>
                <a:gd name="connsiteX14" fmla="*/ 1929982 w 2501089"/>
                <a:gd name="connsiteY14" fmla="*/ 682930 h 1972702"/>
                <a:gd name="connsiteX15" fmla="*/ 2183093 w 2501089"/>
                <a:gd name="connsiteY15" fmla="*/ 310149 h 1972702"/>
                <a:gd name="connsiteX16" fmla="*/ 2280286 w 2501089"/>
                <a:gd name="connsiteY16" fmla="*/ 108435 h 19727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01089" h="1972702">
                  <a:moveTo>
                    <a:pt x="2318728" y="0"/>
                  </a:moveTo>
                  <a:lnTo>
                    <a:pt x="2501089" y="0"/>
                  </a:lnTo>
                  <a:lnTo>
                    <a:pt x="2453909" y="167837"/>
                  </a:lnTo>
                  <a:cubicBezTo>
                    <a:pt x="2427555" y="244153"/>
                    <a:pt x="2396627" y="319103"/>
                    <a:pt x="2361125" y="392084"/>
                  </a:cubicBezTo>
                  <a:cubicBezTo>
                    <a:pt x="2218453" y="684005"/>
                    <a:pt x="2011698" y="945211"/>
                    <a:pt x="1768255" y="1167644"/>
                  </a:cubicBezTo>
                  <a:cubicBezTo>
                    <a:pt x="1646250" y="1278860"/>
                    <a:pt x="1514385" y="1380316"/>
                    <a:pt x="1375125" y="1471474"/>
                  </a:cubicBezTo>
                  <a:cubicBezTo>
                    <a:pt x="1235677" y="1562542"/>
                    <a:pt x="1088928" y="1643672"/>
                    <a:pt x="935735" y="1712713"/>
                  </a:cubicBezTo>
                  <a:cubicBezTo>
                    <a:pt x="705659" y="1815533"/>
                    <a:pt x="462359" y="1892212"/>
                    <a:pt x="212353" y="1940294"/>
                  </a:cubicBezTo>
                  <a:lnTo>
                    <a:pt x="0" y="1972702"/>
                  </a:lnTo>
                  <a:lnTo>
                    <a:pt x="0" y="1732181"/>
                  </a:lnTo>
                  <a:lnTo>
                    <a:pt x="161195" y="1706590"/>
                  </a:lnTo>
                  <a:cubicBezTo>
                    <a:pt x="237638" y="1691378"/>
                    <a:pt x="313477" y="1673222"/>
                    <a:pt x="388463" y="1652268"/>
                  </a:cubicBezTo>
                  <a:cubicBezTo>
                    <a:pt x="538529" y="1610539"/>
                    <a:pt x="684898" y="1556543"/>
                    <a:pt x="826716" y="1493950"/>
                  </a:cubicBezTo>
                  <a:cubicBezTo>
                    <a:pt x="1111207" y="1370107"/>
                    <a:pt x="1376832" y="1205881"/>
                    <a:pt x="1609847" y="1007535"/>
                  </a:cubicBezTo>
                  <a:cubicBezTo>
                    <a:pt x="1725975" y="908049"/>
                    <a:pt x="1833571" y="799519"/>
                    <a:pt x="1929982" y="682930"/>
                  </a:cubicBezTo>
                  <a:cubicBezTo>
                    <a:pt x="2026581" y="566520"/>
                    <a:pt x="2111806" y="441692"/>
                    <a:pt x="2183093" y="310149"/>
                  </a:cubicBezTo>
                  <a:cubicBezTo>
                    <a:pt x="2218738" y="244422"/>
                    <a:pt x="2251396" y="177150"/>
                    <a:pt x="2280286" y="108435"/>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800"/>
            </a:p>
          </p:txBody>
        </p:sp>
        <p:sp>
          <p:nvSpPr>
            <p:cNvPr id="23" name="Freeform: Shape 22">
              <a:extLst>
                <a:ext uri="{FF2B5EF4-FFF2-40B4-BE49-F238E27FC236}">
                  <a16:creationId xmlns:a16="http://schemas.microsoft.com/office/drawing/2014/main" id="{48D4B483-2925-DE8C-1825-F8246C59B66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2491105" cy="1943661"/>
            </a:xfrm>
            <a:custGeom>
              <a:avLst/>
              <a:gdLst>
                <a:gd name="connsiteX0" fmla="*/ 1995408 w 2491105"/>
                <a:gd name="connsiteY0" fmla="*/ 0 h 1943661"/>
                <a:gd name="connsiteX1" fmla="*/ 2491105 w 2491105"/>
                <a:gd name="connsiteY1" fmla="*/ 0 h 1943661"/>
                <a:gd name="connsiteX2" fmla="*/ 2434705 w 2491105"/>
                <a:gd name="connsiteY2" fmla="*/ 174009 h 1943661"/>
                <a:gd name="connsiteX3" fmla="*/ 92457 w 2491105"/>
                <a:gd name="connsiteY3" fmla="*/ 1931703 h 1943661"/>
                <a:gd name="connsiteX4" fmla="*/ 0 w 2491105"/>
                <a:gd name="connsiteY4" fmla="*/ 1943661 h 1943661"/>
                <a:gd name="connsiteX5" fmla="*/ 0 w 2491105"/>
                <a:gd name="connsiteY5" fmla="*/ 1491489 h 1943661"/>
                <a:gd name="connsiteX6" fmla="*/ 34107 w 2491105"/>
                <a:gd name="connsiteY6" fmla="*/ 1486836 h 1943661"/>
                <a:gd name="connsiteX7" fmla="*/ 497577 w 2491105"/>
                <a:gd name="connsiteY7" fmla="*/ 1360598 h 1943661"/>
                <a:gd name="connsiteX8" fmla="*/ 1321566 w 2491105"/>
                <a:gd name="connsiteY8" fmla="*/ 897645 h 1943661"/>
                <a:gd name="connsiteX9" fmla="*/ 1891495 w 2491105"/>
                <a:gd name="connsiteY9" fmla="*/ 230078 h 1943661"/>
                <a:gd name="connsiteX10" fmla="*/ 1961469 w 2491105"/>
                <a:gd name="connsiteY10" fmla="*/ 87885 h 1943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1105" h="1943661">
                  <a:moveTo>
                    <a:pt x="1995408" y="0"/>
                  </a:moveTo>
                  <a:lnTo>
                    <a:pt x="2491105" y="0"/>
                  </a:lnTo>
                  <a:lnTo>
                    <a:pt x="2434705" y="174009"/>
                  </a:lnTo>
                  <a:cubicBezTo>
                    <a:pt x="2087512" y="1067655"/>
                    <a:pt x="1129122" y="1753877"/>
                    <a:pt x="92457" y="1931703"/>
                  </a:cubicBezTo>
                  <a:lnTo>
                    <a:pt x="0" y="1943661"/>
                  </a:lnTo>
                  <a:lnTo>
                    <a:pt x="0" y="1491489"/>
                  </a:lnTo>
                  <a:lnTo>
                    <a:pt x="34107" y="1486836"/>
                  </a:lnTo>
                  <a:cubicBezTo>
                    <a:pt x="189055" y="1458696"/>
                    <a:pt x="343908" y="1416565"/>
                    <a:pt x="497577" y="1360598"/>
                  </a:cubicBezTo>
                  <a:cubicBezTo>
                    <a:pt x="796856" y="1251889"/>
                    <a:pt x="1081725" y="1091781"/>
                    <a:pt x="1321566" y="897645"/>
                  </a:cubicBezTo>
                  <a:cubicBezTo>
                    <a:pt x="1565577" y="700195"/>
                    <a:pt x="1757355" y="475523"/>
                    <a:pt x="1891495" y="230078"/>
                  </a:cubicBezTo>
                  <a:cubicBezTo>
                    <a:pt x="1917197" y="183033"/>
                    <a:pt x="1940526" y="135619"/>
                    <a:pt x="1961469" y="87885"/>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Tree>
    <p:extLst>
      <p:ext uri="{BB962C8B-B14F-4D97-AF65-F5344CB8AC3E}">
        <p14:creationId xmlns:p14="http://schemas.microsoft.com/office/powerpoint/2010/main" val="189710508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D48541-0746-0372-E58D-B7CD6DAB2728}"/>
              </a:ext>
            </a:extLst>
          </p:cNvPr>
          <p:cNvSpPr>
            <a:spLocks noGrp="1"/>
          </p:cNvSpPr>
          <p:nvPr>
            <p:ph type="title"/>
          </p:nvPr>
        </p:nvSpPr>
        <p:spPr>
          <a:xfrm>
            <a:off x="915884" y="0"/>
            <a:ext cx="10360231" cy="1325563"/>
          </a:xfrm>
        </p:spPr>
        <p:txBody>
          <a:bodyPr>
            <a:normAutofit/>
          </a:bodyPr>
          <a:lstStyle/>
          <a:p>
            <a:r>
              <a:rPr lang="en-DK" sz="3600" dirty="0"/>
              <a:t>Challenges and limitations of metagenomics studies</a:t>
            </a:r>
          </a:p>
        </p:txBody>
      </p:sp>
      <p:sp>
        <p:nvSpPr>
          <p:cNvPr id="3" name="Content Placeholder 2">
            <a:extLst>
              <a:ext uri="{FF2B5EF4-FFF2-40B4-BE49-F238E27FC236}">
                <a16:creationId xmlns:a16="http://schemas.microsoft.com/office/drawing/2014/main" id="{8DD7DDA3-91B9-AADF-4FCB-0F94B3FDCF3B}"/>
              </a:ext>
            </a:extLst>
          </p:cNvPr>
          <p:cNvSpPr>
            <a:spLocks noGrp="1"/>
          </p:cNvSpPr>
          <p:nvPr>
            <p:ph idx="1"/>
          </p:nvPr>
        </p:nvSpPr>
        <p:spPr>
          <a:xfrm>
            <a:off x="1055371" y="1689215"/>
            <a:ext cx="9037320" cy="3145676"/>
          </a:xfrm>
        </p:spPr>
        <p:txBody>
          <a:bodyPr>
            <a:noAutofit/>
          </a:bodyPr>
          <a:lstStyle/>
          <a:p>
            <a:r>
              <a:rPr lang="en-GB" sz="1800" dirty="0"/>
              <a:t>Shotgun metagenomics have higher cost than 16S amplicon but you get higher taxonomical resolution and functional information</a:t>
            </a:r>
          </a:p>
          <a:p>
            <a:r>
              <a:rPr lang="en-GB" sz="1800" dirty="0"/>
              <a:t>Sampling biases can occur when collecting environmental samples which can also lead to misrepresentation of the microbial community</a:t>
            </a:r>
          </a:p>
          <a:p>
            <a:r>
              <a:rPr lang="en-GB" sz="1800" dirty="0"/>
              <a:t>It is also challenging to extract microbes DNA from low biomass samples - highly dependant on the sampling method and the its accuracy</a:t>
            </a:r>
          </a:p>
          <a:p>
            <a:r>
              <a:rPr lang="en-GB" sz="1800" dirty="0"/>
              <a:t>Microbial genomes available and deposited in reference databases are biased towards model organisms, pathogens and cultivable bacteria</a:t>
            </a:r>
          </a:p>
          <a:p>
            <a:r>
              <a:rPr lang="en-GB" sz="1800" dirty="0"/>
              <a:t>Metagenomic sequencing can detect the presence of microorganisms but cannot easily determine if they are pathogenic (do they have their toxins? Are they active?) </a:t>
            </a:r>
          </a:p>
          <a:p>
            <a:endParaRPr lang="en-DK" sz="1800" dirty="0"/>
          </a:p>
        </p:txBody>
      </p:sp>
      <p:sp>
        <p:nvSpPr>
          <p:cNvPr id="4" name="TextBox 3">
            <a:extLst>
              <a:ext uri="{FF2B5EF4-FFF2-40B4-BE49-F238E27FC236}">
                <a16:creationId xmlns:a16="http://schemas.microsoft.com/office/drawing/2014/main" id="{DD3E425A-45AA-13DD-91E7-CD41221A4513}"/>
              </a:ext>
            </a:extLst>
          </p:cNvPr>
          <p:cNvSpPr txBox="1"/>
          <p:nvPr/>
        </p:nvSpPr>
        <p:spPr>
          <a:xfrm>
            <a:off x="8069580" y="6175185"/>
            <a:ext cx="4800600" cy="307777"/>
          </a:xfrm>
          <a:prstGeom prst="rect">
            <a:avLst/>
          </a:prstGeom>
          <a:noFill/>
        </p:spPr>
        <p:txBody>
          <a:bodyPr wrap="square" rtlCol="0">
            <a:spAutoFit/>
          </a:bodyPr>
          <a:lstStyle/>
          <a:p>
            <a:r>
              <a:rPr lang="en-GB" sz="1400" dirty="0">
                <a:hlinkClick r:id="rId2"/>
              </a:rPr>
              <a:t>https://pubmed.ncbi.nlm.nih.gov/28898207/</a:t>
            </a:r>
            <a:endParaRPr lang="en-GB" sz="1400" dirty="0"/>
          </a:p>
        </p:txBody>
      </p:sp>
    </p:spTree>
    <p:extLst>
      <p:ext uri="{BB962C8B-B14F-4D97-AF65-F5344CB8AC3E}">
        <p14:creationId xmlns:p14="http://schemas.microsoft.com/office/powerpoint/2010/main" val="677193163"/>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0302473D-3A8B-E7F7-4D6C-AEBB20C2B331}"/>
              </a:ext>
            </a:extLst>
          </p:cNvPr>
          <p:cNvSpPr txBox="1"/>
          <p:nvPr/>
        </p:nvSpPr>
        <p:spPr>
          <a:xfrm>
            <a:off x="1482566" y="1472774"/>
            <a:ext cx="9704435" cy="3976025"/>
          </a:xfrm>
          <a:prstGeom prst="rect">
            <a:avLst/>
          </a:prstGeom>
          <a:noFill/>
        </p:spPr>
        <p:txBody>
          <a:bodyPr wrap="square">
            <a:spAutoFit/>
          </a:body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r>
              <a:rPr kumimoji="0" lang="en-GB" b="0" i="0" u="none" strike="noStrike" kern="1200" cap="none" spc="0" normalizeH="0" baseline="0" noProof="0" dirty="0">
                <a:ln>
                  <a:noFill/>
                </a:ln>
                <a:solidFill>
                  <a:prstClr val="black"/>
                </a:solidFill>
                <a:effectLst/>
                <a:uLnTx/>
                <a:uFillTx/>
                <a:latin typeface="Aptos" panose="02110004020202020204"/>
                <a:ea typeface="+mn-ea"/>
                <a:cs typeface="+mn-cs"/>
              </a:rPr>
              <a:t>Functional profiling is hindered by the lack of annotation for many genes</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r>
              <a:rPr kumimoji="0" lang="en-GB" b="0" i="0" u="none" strike="noStrike" kern="1200" cap="none" spc="0" normalizeH="0" baseline="0" noProof="0" dirty="0">
                <a:ln>
                  <a:noFill/>
                </a:ln>
                <a:solidFill>
                  <a:prstClr val="black"/>
                </a:solidFill>
                <a:effectLst/>
                <a:uLnTx/>
                <a:uFillTx/>
                <a:latin typeface="Aptos" panose="02110004020202020204"/>
                <a:ea typeface="+mn-ea"/>
                <a:cs typeface="+mn-cs"/>
              </a:rPr>
              <a:t>“Microbial dark matter” – microbes not yet characterized can be recovered by assemble-based methods, but still many reads are not used in the assembly – sequencing noise, DNA contamination, and bacteria and plasmids that remain obscure even after some parts of their genomes are assembled</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r>
              <a:rPr kumimoji="0" lang="en-DK" b="0" i="0" u="none" strike="noStrike" kern="1200" cap="none" spc="0" normalizeH="0" baseline="0" noProof="0" dirty="0">
                <a:ln>
                  <a:noFill/>
                </a:ln>
                <a:solidFill>
                  <a:prstClr val="black"/>
                </a:solidFill>
                <a:effectLst/>
                <a:uLnTx/>
                <a:uFillTx/>
                <a:latin typeface="Aptos" panose="02110004020202020204"/>
                <a:ea typeface="+mn-ea"/>
                <a:cs typeface="+mn-cs"/>
              </a:rPr>
              <a:t>“Live or dead” dilemma – DNA persists in the environment after the death of the host cell, sequencing results may not be representative of the active microbial population</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r>
              <a:rPr kumimoji="0" lang="en-DK" b="0" i="0" u="none" strike="noStrike" kern="1200" cap="none" spc="0" normalizeH="0" baseline="0" noProof="0" dirty="0">
                <a:ln>
                  <a:noFill/>
                </a:ln>
                <a:solidFill>
                  <a:prstClr val="black"/>
                </a:solidFill>
                <a:effectLst/>
                <a:uLnTx/>
                <a:uFillTx/>
                <a:latin typeface="Aptos" panose="02110004020202020204"/>
                <a:ea typeface="+mn-ea"/>
                <a:cs typeface="+mn-cs"/>
              </a:rPr>
              <a:t>Snapshot of the microbiome - many metagenomics studies are cross-sectional and can not assess intra- vs inter-subject variation – more longitudinal studies are needed</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r>
              <a:rPr kumimoji="0" lang="en-DK" b="0" i="0" u="none" strike="noStrike" kern="1200" cap="none" spc="0" normalizeH="0" baseline="0" noProof="0" dirty="0">
                <a:ln>
                  <a:noFill/>
                </a:ln>
                <a:solidFill>
                  <a:prstClr val="black"/>
                </a:solidFill>
                <a:effectLst/>
                <a:uLnTx/>
                <a:uFillTx/>
                <a:latin typeface="Aptos" panose="02110004020202020204"/>
                <a:ea typeface="+mn-ea"/>
                <a:cs typeface="+mn-cs"/>
              </a:rPr>
              <a:t>Disentangling the cause from the effect – follow ups, longitudinal and prospective studies needed</a:t>
            </a:r>
          </a:p>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r>
              <a:rPr kumimoji="0" lang="en-DK" b="0" i="0" u="none" strike="noStrike" kern="1200" cap="none" spc="0" normalizeH="0" baseline="0" noProof="0" dirty="0">
                <a:ln>
                  <a:noFill/>
                </a:ln>
                <a:solidFill>
                  <a:prstClr val="black"/>
                </a:solidFill>
                <a:effectLst/>
                <a:uLnTx/>
                <a:uFillTx/>
                <a:latin typeface="Aptos" panose="02110004020202020204"/>
                <a:ea typeface="+mn-ea"/>
                <a:cs typeface="+mn-cs"/>
              </a:rPr>
              <a:t>Metagenomics have not yet reached the level of standardization of other high-throughput techniques</a:t>
            </a:r>
            <a:endParaRPr lang="en-DK" dirty="0"/>
          </a:p>
        </p:txBody>
      </p:sp>
      <p:sp>
        <p:nvSpPr>
          <p:cNvPr id="6" name="Title 1">
            <a:extLst>
              <a:ext uri="{FF2B5EF4-FFF2-40B4-BE49-F238E27FC236}">
                <a16:creationId xmlns:a16="http://schemas.microsoft.com/office/drawing/2014/main" id="{62ED1DF3-684F-74BF-BE1E-C2C04A1EE3BC}"/>
              </a:ext>
            </a:extLst>
          </p:cNvPr>
          <p:cNvSpPr>
            <a:spLocks noGrp="1"/>
          </p:cNvSpPr>
          <p:nvPr>
            <p:ph type="title"/>
          </p:nvPr>
        </p:nvSpPr>
        <p:spPr>
          <a:xfrm>
            <a:off x="826770" y="0"/>
            <a:ext cx="10360231" cy="1325563"/>
          </a:xfrm>
        </p:spPr>
        <p:txBody>
          <a:bodyPr>
            <a:normAutofit/>
          </a:bodyPr>
          <a:lstStyle/>
          <a:p>
            <a:r>
              <a:rPr lang="en-DK" sz="3600" dirty="0"/>
              <a:t>Challenges and limitations of metagenomics studies</a:t>
            </a:r>
          </a:p>
        </p:txBody>
      </p:sp>
      <p:sp>
        <p:nvSpPr>
          <p:cNvPr id="7" name="TextBox 6">
            <a:extLst>
              <a:ext uri="{FF2B5EF4-FFF2-40B4-BE49-F238E27FC236}">
                <a16:creationId xmlns:a16="http://schemas.microsoft.com/office/drawing/2014/main" id="{0449A44B-AD73-6EB1-2673-AB93BEF0E7A2}"/>
              </a:ext>
            </a:extLst>
          </p:cNvPr>
          <p:cNvSpPr txBox="1"/>
          <p:nvPr/>
        </p:nvSpPr>
        <p:spPr>
          <a:xfrm>
            <a:off x="8069580" y="6175185"/>
            <a:ext cx="3829050" cy="307777"/>
          </a:xfrm>
          <a:prstGeom prst="rect">
            <a:avLst/>
          </a:prstGeom>
          <a:noFill/>
        </p:spPr>
        <p:txBody>
          <a:bodyPr wrap="square" rtlCol="0">
            <a:spAutoFit/>
          </a:bodyPr>
          <a:lstStyle/>
          <a:p>
            <a:r>
              <a:rPr lang="en-GB" sz="1400" dirty="0">
                <a:hlinkClick r:id="rId2"/>
              </a:rPr>
              <a:t>https://pubmed.ncbi.nlm.nih.gov/28898207/</a:t>
            </a:r>
            <a:endParaRPr lang="en-GB" sz="1400" dirty="0"/>
          </a:p>
        </p:txBody>
      </p:sp>
    </p:spTree>
    <p:extLst>
      <p:ext uri="{BB962C8B-B14F-4D97-AF65-F5344CB8AC3E}">
        <p14:creationId xmlns:p14="http://schemas.microsoft.com/office/powerpoint/2010/main" val="312340203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66007</TotalTime>
  <Words>7252</Words>
  <Application>Microsoft Macintosh PowerPoint</Application>
  <PresentationFormat>Widescreen</PresentationFormat>
  <Paragraphs>945</Paragraphs>
  <Slides>48</Slides>
  <Notes>40</Notes>
  <HiddenSlides>0</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48</vt:i4>
      </vt:variant>
    </vt:vector>
  </HeadingPairs>
  <TitlesOfParts>
    <vt:vector size="58" baseType="lpstr">
      <vt:lpstr>-apple-system</vt:lpstr>
      <vt:lpstr>Aptos</vt:lpstr>
      <vt:lpstr>Aptos Display</vt:lpstr>
      <vt:lpstr>Arial</vt:lpstr>
      <vt:lpstr>Calibri</vt:lpstr>
      <vt:lpstr>Neue Haas Grotesk Text Pro</vt:lpstr>
      <vt:lpstr>Source Sans Pro</vt:lpstr>
      <vt:lpstr>system-ui</vt:lpstr>
      <vt:lpstr>Wingdings</vt:lpstr>
      <vt:lpstr>Office Theme</vt:lpstr>
      <vt:lpstr>Introduction to Metagenomics</vt:lpstr>
      <vt:lpstr>Impact of microbiome studies in medical and planetary health</vt:lpstr>
      <vt:lpstr>Microbiome has been associated with a variety of diseases </vt:lpstr>
      <vt:lpstr>Obesity associated gut microbiome – a transmissible trait</vt:lpstr>
      <vt:lpstr>The Human Microbiome Project (HMP) </vt:lpstr>
      <vt:lpstr>Richness of human gut microbiome correlates with metabolic markers (lessons of MetaHIT study) </vt:lpstr>
      <vt:lpstr>Fecal material transplantation (FMT) as experimental cure for Clostridioides difficile</vt:lpstr>
      <vt:lpstr>PowerPoint Presentation</vt:lpstr>
      <vt:lpstr>Resident gut bacteria can affect patient responses to cancer immunotherapy</vt:lpstr>
      <vt:lpstr>A genomic catalog of Earth’s microbiome</vt:lpstr>
      <vt:lpstr>Antimicrobial resistance is a major threat to global health! </vt:lpstr>
      <vt:lpstr>Microbial community at the Deepwater Horizon oil spill site</vt:lpstr>
      <vt:lpstr>Global ocean microbiome (Tara oceans)</vt:lpstr>
      <vt:lpstr>What is metagenomics?</vt:lpstr>
      <vt:lpstr>Microbiome definition</vt:lpstr>
      <vt:lpstr>Microbiome definition</vt:lpstr>
      <vt:lpstr>What a microbiome study usually answer?</vt:lpstr>
      <vt:lpstr>What a microbiome study usually answer</vt:lpstr>
      <vt:lpstr>What is Metagenomics?</vt:lpstr>
      <vt:lpstr>Experimental design</vt:lpstr>
      <vt:lpstr>Sample collection</vt:lpstr>
      <vt:lpstr>DNA Extraction</vt:lpstr>
      <vt:lpstr>Sequencing</vt:lpstr>
      <vt:lpstr>Platforms</vt:lpstr>
      <vt:lpstr>Taxonomical profiling</vt:lpstr>
      <vt:lpstr>Taxonomical profiling</vt:lpstr>
      <vt:lpstr>16S amplicon sequencing</vt:lpstr>
      <vt:lpstr>16S amplicon sequencing</vt:lpstr>
      <vt:lpstr>Reference-based methods</vt:lpstr>
      <vt:lpstr>Amplicon and read-based shotgun metagenomics tools</vt:lpstr>
      <vt:lpstr>Assembly-based methods: Metagenome-assembled genomes (MAG)</vt:lpstr>
      <vt:lpstr>MAG construction tools</vt:lpstr>
      <vt:lpstr>Comparing the three methods</vt:lpstr>
      <vt:lpstr>Functional profiling</vt:lpstr>
      <vt:lpstr>Building a microbial gene catalog</vt:lpstr>
      <vt:lpstr>Annotating the gene catalog and getting functional abundance</vt:lpstr>
      <vt:lpstr>Why building a gene catalog?</vt:lpstr>
      <vt:lpstr>Microbiome data</vt:lpstr>
      <vt:lpstr>Microbiome data</vt:lpstr>
      <vt:lpstr>Microbiome data</vt:lpstr>
      <vt:lpstr>Compositional data</vt:lpstr>
      <vt:lpstr>Ideal scenario: absolute abundances</vt:lpstr>
      <vt:lpstr>Diversity measures</vt:lpstr>
      <vt:lpstr>Diversity measures: Alpha diversity</vt:lpstr>
      <vt:lpstr>Diversity measures: Beta diversity</vt:lpstr>
      <vt:lpstr>Challenges and limitations</vt:lpstr>
      <vt:lpstr>Challenges and limitations of metagenomics studies</vt:lpstr>
      <vt:lpstr>Challenges and limitations of metagenomics studies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Alberto Pallejà Caro</dc:creator>
  <cp:lastModifiedBy>Alberto Pallejà Caro</cp:lastModifiedBy>
  <cp:revision>81</cp:revision>
  <cp:lastPrinted>2025-06-10T22:04:30Z</cp:lastPrinted>
  <dcterms:created xsi:type="dcterms:W3CDTF">2025-04-12T18:46:44Z</dcterms:created>
  <dcterms:modified xsi:type="dcterms:W3CDTF">2025-06-10T22:11:31Z</dcterms:modified>
</cp:coreProperties>
</file>