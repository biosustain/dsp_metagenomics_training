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73" r:id="rId3"/>
    <p:sldId id="301" r:id="rId4"/>
    <p:sldId id="302" r:id="rId5"/>
    <p:sldId id="300" r:id="rId6"/>
    <p:sldId id="298" r:id="rId7"/>
    <p:sldId id="274" r:id="rId8"/>
    <p:sldId id="297" r:id="rId9"/>
    <p:sldId id="299" r:id="rId10"/>
    <p:sldId id="276" r:id="rId11"/>
    <p:sldId id="277" r:id="rId12"/>
    <p:sldId id="303" r:id="rId13"/>
    <p:sldId id="279" r:id="rId14"/>
    <p:sldId id="281" r:id="rId15"/>
    <p:sldId id="257" r:id="rId16"/>
    <p:sldId id="259" r:id="rId17"/>
    <p:sldId id="267" r:id="rId18"/>
    <p:sldId id="282" r:id="rId19"/>
    <p:sldId id="269" r:id="rId20"/>
    <p:sldId id="270" r:id="rId21"/>
    <p:sldId id="289" r:id="rId22"/>
    <p:sldId id="280" r:id="rId23"/>
    <p:sldId id="290" r:id="rId24"/>
    <p:sldId id="291" r:id="rId25"/>
    <p:sldId id="264" r:id="rId26"/>
    <p:sldId id="292" r:id="rId27"/>
    <p:sldId id="265" r:id="rId28"/>
    <p:sldId id="293" r:id="rId29"/>
    <p:sldId id="288" r:id="rId30"/>
    <p:sldId id="296" r:id="rId31"/>
    <p:sldId id="278" r:id="rId32"/>
    <p:sldId id="285" r:id="rId33"/>
    <p:sldId id="262" r:id="rId34"/>
    <p:sldId id="294" r:id="rId35"/>
    <p:sldId id="295" r:id="rId36"/>
    <p:sldId id="284" r:id="rId37"/>
    <p:sldId id="283" r:id="rId38"/>
    <p:sldId id="286" r:id="rId39"/>
    <p:sldId id="261" r:id="rId40"/>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11"/>
    <p:restoredTop sz="81202"/>
  </p:normalViewPr>
  <p:slideViewPr>
    <p:cSldViewPr snapToGrid="0">
      <p:cViewPr varScale="1">
        <p:scale>
          <a:sx n="93" d="100"/>
          <a:sy n="93" d="100"/>
        </p:scale>
        <p:origin x="248"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a:t>What is the toal abundace (number of cells) (by absolute abundace)</a:t>
          </a:r>
          <a:endParaRPr lang="en-US" sz="160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a:t>How abundant are bacteria, archaea, protozo, virus,…</a:t>
          </a:r>
          <a:endParaRPr lang="en-US" sz="160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present?z</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present?z</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What is the toal abundace (number of cells) (by absolute abundace)</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abundant are bacteria, archaea, protozo, virus,…</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associations between the intestinal microbiome and disease. At this moment, for most diseases it is not known whether the microbiota is causally related or merely a result of the pathophysiology.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overview of ongoing trials in which the efficacy of FMT is tested for a range of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Choropleth of the world coloured by the country-wise average total AMR load (see methods). Small green dots show unique sampling sites contributing to the average. Some areas are disputed, and we realize that exact border placement is difficult due to geopolitical issues. </a:t>
            </a:r>
            <a:r>
              <a:rPr lang="en-GB" sz="1200" b="1" i="0" kern="1200" dirty="0">
                <a:solidFill>
                  <a:schemeClr val="tx1"/>
                </a:solidFill>
                <a:effectLst/>
                <a:latin typeface="+mn-lt"/>
                <a:ea typeface="+mn-ea"/>
                <a:cs typeface="+mn-cs"/>
              </a:rPr>
              <a:t>b</a:t>
            </a:r>
            <a:r>
              <a:rPr lang="en-GB" sz="1200" b="0" i="0" kern="1200" dirty="0">
                <a:solidFill>
                  <a:schemeClr val="tx1"/>
                </a:solidFill>
                <a:effectLst/>
                <a:latin typeface="+mn-lt"/>
                <a:ea typeface="+mn-ea"/>
                <a:cs typeface="+mn-cs"/>
              </a:rPr>
              <a:t>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26</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32</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36</a:t>
            </a:fld>
            <a:endParaRPr lang="en-DK"/>
          </a:p>
        </p:txBody>
      </p:sp>
    </p:spTree>
    <p:extLst>
      <p:ext uri="{BB962C8B-B14F-4D97-AF65-F5344CB8AC3E}">
        <p14:creationId xmlns:p14="http://schemas.microsoft.com/office/powerpoint/2010/main" val="1203967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hyperlink" Target="https://doi.org/10.1038/nature05414"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1038/nature11234" TargetMode="External"/><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hyperlink" Target="https://doi.org/10.1038/nature12506" TargetMode="Externa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doi.org/10.1056/nejmoa1205037"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hyperlink" Target="https://doi.org/10.1126/science.aan3706" TargetMode="External"/><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doi.org/10.1126/science.aao3290" TargetMode="External"/><Relationship Id="rId5" Type="http://schemas.openxmlformats.org/officeDocument/2006/relationships/hyperlink" Target="https://doi.org/10.1126/science.aan4236" TargetMode="Externa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hyperlink" Target="https://doi.org/10.1038/s41587-020-0718-6"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ismej.2013.254" TargetMode="External"/><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038/s41564-018-0176-9" TargetMode="External"/><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6.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24.jpeg"/><Relationship Id="rId9"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s://www.youtube.com/watch?v=HMyCqWhwB8E"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www.jci.org/132/7" TargetMode="External"/><Relationship Id="rId7" Type="http://schemas.openxmlformats.org/officeDocument/2006/relationships/image" Target="../media/image38.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jpeg"/><Relationship Id="rId4" Type="http://schemas.openxmlformats.org/officeDocument/2006/relationships/hyperlink" Target="https://doi.org/10.1172/JCI154944"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1420897" y="1152093"/>
            <a:ext cx="9870558" cy="2387600"/>
          </a:xfrm>
        </p:spPr>
        <p:txBody>
          <a:bodyPr>
            <a:normAutofit/>
          </a:bodyPr>
          <a:lstStyle/>
          <a:p>
            <a:r>
              <a:rPr lang="en-DK" dirty="0"/>
              <a:t>Introduction to Metagenomics</a:t>
            </a:r>
          </a:p>
        </p:txBody>
      </p: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p:txBody>
          <a:bodyPr>
            <a:normAutofit lnSpcReduction="10000"/>
          </a:bodyPr>
          <a:lstStyle/>
          <a:p>
            <a:r>
              <a:rPr lang="en-DK" sz="2800" dirty="0"/>
              <a:t>Data Science platform</a:t>
            </a:r>
          </a:p>
          <a:p>
            <a:r>
              <a:rPr lang="en-DK" dirty="0"/>
              <a:t>DTU – Biosustain</a:t>
            </a:r>
          </a:p>
          <a:p>
            <a:r>
              <a:rPr lang="en-DK" dirty="0"/>
              <a:t>Spring Courses</a:t>
            </a:r>
            <a:br>
              <a:rPr lang="en-DK" dirty="0"/>
            </a:br>
            <a:r>
              <a:rPr lang="en-DK" dirty="0"/>
              <a:t>11th June 2025</a:t>
            </a:r>
          </a:p>
        </p:txBody>
      </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436418" y="1113270"/>
            <a:ext cx="2985655" cy="1325563"/>
          </a:xfrm>
        </p:spPr>
        <p:txBody>
          <a:bodyPr>
            <a:normAutofit fontScale="90000"/>
          </a:bodyPr>
          <a:lstStyle/>
          <a:p>
            <a:r>
              <a:rPr lang="en-DK" dirty="0"/>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21100" y="0"/>
            <a:ext cx="76327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595745" y="3726873"/>
            <a:ext cx="2812473" cy="2554545"/>
          </a:xfrm>
          <a:prstGeom prst="rect">
            <a:avLst/>
          </a:prstGeom>
          <a:noFill/>
        </p:spPr>
        <p:txBody>
          <a:bodyPr wrap="square" rtlCol="0">
            <a:spAutoFit/>
          </a:bodyPr>
          <a:lstStyle/>
          <a:p>
            <a:pPr marL="285750" indent="-285750">
              <a:buFont typeface="Arial" panose="020B0604020202020204" pitchFamily="34" charset="0"/>
              <a:buChar char="•"/>
            </a:pPr>
            <a:r>
              <a:rPr lang="en-DK" sz="1600" dirty="0"/>
              <a:t>For most of the diseases it is not known whether the microbiota is the cause of a consequence of the diseases</a:t>
            </a:r>
          </a:p>
          <a:p>
            <a:pPr marL="285750" indent="-285750">
              <a:buFont typeface="Arial" panose="020B0604020202020204" pitchFamily="34" charset="0"/>
              <a:buChar char="•"/>
            </a:pPr>
            <a:r>
              <a:rPr lang="en-DK" sz="1600" dirty="0"/>
              <a:t>S</a:t>
            </a:r>
            <a:r>
              <a:rPr lang="en-GB" sz="1600" dirty="0"/>
              <a:t>o</a:t>
            </a:r>
            <a:r>
              <a:rPr lang="en-DK" sz="1600" dirty="0"/>
              <a:t>metimes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2"/>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3"/>
          <a:stretch>
            <a:fillRect/>
          </a:stretch>
        </p:blipFill>
        <p:spPr>
          <a:xfrm>
            <a:off x="5867399" y="2239577"/>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09" y="3837710"/>
            <a:ext cx="5153891" cy="2031325"/>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782816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429000"/>
            <a:ext cx="3629891" cy="3139321"/>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and still great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2"/>
          <a:stretch>
            <a:fillRect/>
          </a:stretch>
        </p:blipFill>
        <p:spPr>
          <a:xfrm>
            <a:off x="838200" y="1557482"/>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3023620"/>
            <a:ext cx="3796145" cy="307777"/>
          </a:xfrm>
          <a:prstGeom prst="rect">
            <a:avLst/>
          </a:prstGeom>
          <a:noFill/>
        </p:spPr>
        <p:txBody>
          <a:bodyPr wrap="square">
            <a:spAutoFit/>
          </a:bodyPr>
          <a:lstStyle/>
          <a:p>
            <a:r>
              <a:rPr lang="en-GB" sz="1400" b="0" i="0" dirty="0">
                <a:solidFill>
                  <a:srgbClr val="222222"/>
                </a:solidFill>
                <a:effectLst/>
                <a:latin typeface="-apple-system"/>
                <a:hlinkClick r:id="rId3"/>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4"/>
          <a:stretch>
            <a:fillRect/>
          </a:stretch>
        </p:blipFill>
        <p:spPr>
          <a:xfrm>
            <a:off x="4865255" y="1976730"/>
            <a:ext cx="6945888" cy="4668548"/>
          </a:xfrm>
          <a:prstGeom prst="rect">
            <a:avLst/>
          </a:prstGeom>
        </p:spPr>
      </p:pic>
    </p:spTree>
    <p:extLst>
      <p:ext uri="{BB962C8B-B14F-4D97-AF65-F5344CB8AC3E}">
        <p14:creationId xmlns:p14="http://schemas.microsoft.com/office/powerpoint/2010/main" val="2450961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2"/>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3"/>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4"/>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5"/>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976744" y="4632969"/>
            <a:ext cx="5742716" cy="1754326"/>
          </a:xfrm>
          <a:prstGeom prst="rect">
            <a:avLst/>
          </a:prstGeom>
          <a:noFill/>
        </p:spPr>
        <p:txBody>
          <a:bodyPr wrap="square" rtlCol="0">
            <a:spAutoFit/>
          </a:bodyPr>
          <a:lstStyle/>
          <a:p>
            <a:pPr marL="285750" indent="-285750">
              <a:buFont typeface="Arial" panose="020B0604020202020204" pitchFamily="34" charset="0"/>
              <a:buChar char="•"/>
            </a:pPr>
            <a:r>
              <a:rPr lang="en-DK" dirty="0"/>
              <a:t>Individuals with lower number of genes (gene richness) and higher BMI had less efficient weight loss when following a diet</a:t>
            </a:r>
          </a:p>
          <a:p>
            <a:pPr marL="285750" indent="-285750">
              <a:buFont typeface="Arial" panose="020B0604020202020204" pitchFamily="34" charset="0"/>
              <a:buChar char="•"/>
            </a:pPr>
            <a:r>
              <a:rPr lang="en-DK" dirty="0"/>
              <a:t>Taxonomical differences between low and high gene richness</a:t>
            </a:r>
          </a:p>
          <a:p>
            <a:pPr marL="285750" indent="-285750">
              <a:buFont typeface="Arial" panose="020B0604020202020204" pitchFamily="34" charset="0"/>
              <a:buChar char="•"/>
            </a:pPr>
            <a:r>
              <a:rPr lang="en-DK" dirty="0"/>
              <a:t>Also differences between lean and obese individuals </a:t>
            </a:r>
          </a:p>
        </p:txBody>
      </p:sp>
    </p:spTree>
    <p:extLst>
      <p:ext uri="{BB962C8B-B14F-4D97-AF65-F5344CB8AC3E}">
        <p14:creationId xmlns:p14="http://schemas.microsoft.com/office/powerpoint/2010/main" val="26228050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2"/>
          <a:stretch>
            <a:fillRect/>
          </a:stretch>
        </p:blipFill>
        <p:spPr>
          <a:xfrm>
            <a:off x="485487" y="2951413"/>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3"/>
          <a:stretch>
            <a:fillRect/>
          </a:stretch>
        </p:blipFill>
        <p:spPr>
          <a:xfrm>
            <a:off x="3776137" y="2173792"/>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16067" y="4490149"/>
            <a:ext cx="3054639" cy="369332"/>
          </a:xfrm>
          <a:prstGeom prst="rect">
            <a:avLst/>
          </a:prstGeom>
          <a:noFill/>
        </p:spPr>
        <p:txBody>
          <a:bodyPr wrap="square" rtlCol="0">
            <a:spAutoFit/>
          </a:bodyPr>
          <a:lstStyle/>
          <a:p>
            <a:r>
              <a:rPr lang="en-GB" u="sng" dirty="0">
                <a:hlinkClick r:id="rId4"/>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5"/>
          <a:stretch>
            <a:fillRect/>
          </a:stretch>
        </p:blipFill>
        <p:spPr>
          <a:xfrm>
            <a:off x="8438271" y="2951413"/>
            <a:ext cx="3407942" cy="2924790"/>
          </a:xfrm>
          <a:prstGeom prst="rect">
            <a:avLst/>
          </a:prstGeom>
        </p:spPr>
      </p:pic>
    </p:spTree>
    <p:extLst>
      <p:ext uri="{BB962C8B-B14F-4D97-AF65-F5344CB8AC3E}">
        <p14:creationId xmlns:p14="http://schemas.microsoft.com/office/powerpoint/2010/main" val="2330305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2"/>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3"/>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4"/>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5"/>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6"/>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7"/>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2"/>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covering all of Earth’s continents and oceans (environmental and host-associated metagenomes)</a:t>
            </a:r>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572939"/>
            <a:ext cx="4876800" cy="1325563"/>
          </a:xfrm>
        </p:spPr>
        <p:txBody>
          <a:bodyPr>
            <a:normAutofit fontScale="90000"/>
          </a:bodyPr>
          <a:lstStyle/>
          <a:p>
            <a:r>
              <a:rPr lang="en-DK" dirty="0"/>
              <a:t>The global resistome based on sewage-based monitoring</a:t>
            </a:r>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6306" y="623454"/>
            <a:ext cx="6903932" cy="59436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279506" y="2452250"/>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570452" y="4128650"/>
            <a:ext cx="3502785" cy="307777"/>
          </a:xfrm>
          <a:prstGeom prst="rect">
            <a:avLst/>
          </a:prstGeom>
          <a:noFill/>
        </p:spPr>
        <p:txBody>
          <a:bodyPr wrap="square">
            <a:spAutoFit/>
          </a:bodyPr>
          <a:lstStyle/>
          <a:p>
            <a:r>
              <a:rPr lang="en-GB" sz="1400" b="0" i="0" dirty="0">
                <a:solidFill>
                  <a:srgbClr val="222222"/>
                </a:solidFill>
                <a:effectLst/>
                <a:latin typeface="-apple-system"/>
              </a:rPr>
              <a:t>https://</a:t>
            </a:r>
            <a:r>
              <a:rPr lang="en-GB" sz="1400" b="0" i="0" dirty="0" err="1">
                <a:solidFill>
                  <a:srgbClr val="222222"/>
                </a:solidFill>
                <a:effectLst/>
                <a:latin typeface="-apple-system"/>
              </a:rPr>
              <a:t>doi.org</a:t>
            </a:r>
            <a:r>
              <a:rPr lang="en-GB" sz="1400" b="0" i="0" dirty="0">
                <a:solidFill>
                  <a:srgbClr val="222222"/>
                </a:solidFill>
                <a:effectLst/>
                <a:latin typeface="-apple-system"/>
              </a:rPr>
              <a:t>/10.1038/s41467-022-34312-7</a:t>
            </a: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279506" y="4521291"/>
            <a:ext cx="4876800"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Antimicrobial resistance is a major threat to global health</a:t>
            </a:r>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r>
              <a:rPr lang="en-GB" sz="1600" dirty="0"/>
              <a:t>Metagenomic samples revealed regional patterns reflecting taxonomical changes</a:t>
            </a:r>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2"/>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3"/>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539430"/>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providing deep insights into the microbial community's response to the oil spill. </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that were enriched in oil-impacted sediments, highlighting their roles in hydrocarbon degradation</a:t>
            </a:r>
          </a:p>
          <a:p>
            <a:pPr marL="285750" indent="-285750">
              <a:buFont typeface="Arial" panose="020B0604020202020204" pitchFamily="34" charset="0"/>
              <a:buChar char="•"/>
            </a:pPr>
            <a:r>
              <a:rPr lang="en-GB" sz="1600" dirty="0"/>
              <a:t>An increase in genes associated with hydrocarbon degradation pathways, including those involved in aliphatic and aromatic hydrocarbon breakdown, indicating an adaptive microbial response to oil contamination. </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707824"/>
            <a:ext cx="5907233" cy="2585323"/>
          </a:xfrm>
          <a:prstGeom prst="rect">
            <a:avLst/>
          </a:prstGeom>
          <a:noFill/>
        </p:spPr>
        <p:txBody>
          <a:bodyPr wrap="square">
            <a:spAutoFit/>
          </a:bodyPr>
          <a:lstStyle/>
          <a:p>
            <a:pPr marL="285750" indent="-285750">
              <a:buFont typeface="Arial" panose="020B0604020202020204" pitchFamily="34" charset="0"/>
              <a:buChar char="•"/>
            </a:pPr>
            <a:r>
              <a:rPr lang="en-GB" dirty="0"/>
              <a:t>One thousand non-redundant microbial population genomes from the TARA Oceans metagenomes</a:t>
            </a:r>
          </a:p>
          <a:p>
            <a:pPr marL="285750" indent="-285750">
              <a:buFont typeface="Arial" panose="020B0604020202020204" pitchFamily="34" charset="0"/>
              <a:buChar char="•"/>
            </a:pPr>
            <a:r>
              <a:rPr lang="en-GB" dirty="0"/>
              <a:t>Nitrogen fixation in the surface ocean impacts global marine nitrogen bioavailability and thus microbial primary productivity</a:t>
            </a:r>
          </a:p>
          <a:p>
            <a:pPr marL="285750" indent="-285750">
              <a:buFont typeface="Arial" panose="020B0604020202020204" pitchFamily="34" charset="0"/>
              <a:buChar char="•"/>
            </a:pPr>
            <a:r>
              <a:rPr lang="en-GB" dirty="0"/>
              <a:t>Non-cyanobacterial diazotrophs inhabiting surface waters of the open ocean, which correspond to lineages within the Proteobacteria and, most strikingly, the Planctomycetes</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2"/>
          <a:stretch>
            <a:fillRect/>
          </a:stretch>
        </p:blipFill>
        <p:spPr>
          <a:xfrm>
            <a:off x="838200" y="1435677"/>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3162446"/>
            <a:ext cx="3429000" cy="307777"/>
          </a:xfrm>
          <a:prstGeom prst="rect">
            <a:avLst/>
          </a:prstGeom>
          <a:noFill/>
        </p:spPr>
        <p:txBody>
          <a:bodyPr wrap="square">
            <a:spAutoFit/>
          </a:bodyPr>
          <a:lstStyle/>
          <a:p>
            <a:r>
              <a:rPr lang="en-GB" sz="1400" b="0" i="0" dirty="0">
                <a:solidFill>
                  <a:srgbClr val="222222"/>
                </a:solidFill>
                <a:effectLst/>
                <a:latin typeface="-apple-system"/>
                <a:hlinkClick r:id="rId3"/>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4"/>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3"/>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3"/>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3"/>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4128226292"/>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p:txBody>
          <a:bodyPr/>
          <a:lstStyle/>
          <a:p>
            <a:r>
              <a:rPr lang="en-DK" dirty="0"/>
              <a:t>What is Metagenomics?</a:t>
            </a:r>
          </a:p>
        </p:txBody>
      </p:sp>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p:txBody>
          <a:bodyPr/>
          <a:lstStyle/>
          <a:p>
            <a:r>
              <a:rPr lang="en-DK" dirty="0"/>
              <a:t>Study of the genetic material sampled directly from the environment (fecal, skin, soil, marine samples …)</a:t>
            </a:r>
          </a:p>
          <a:p>
            <a:r>
              <a:rPr lang="en-DK" dirty="0"/>
              <a:t>Bypasses the need of culturing organisms – many of the organisms that we characterized ca not even be coltured</a:t>
            </a:r>
          </a:p>
          <a:p>
            <a:r>
              <a:rPr lang="en-DK" dirty="0"/>
              <a:t>Uses </a:t>
            </a:r>
            <a:r>
              <a:rPr lang="en-GB" dirty="0"/>
              <a:t>high-throughput sequencing to </a:t>
            </a:r>
            <a:r>
              <a:rPr lang="en-GB" dirty="0" err="1"/>
              <a:t>analyze</a:t>
            </a:r>
            <a:r>
              <a:rPr lang="en-GB" dirty="0"/>
              <a:t> microbial diversity, function, and interactions</a:t>
            </a:r>
          </a:p>
        </p:txBody>
      </p:sp>
    </p:spTree>
    <p:extLst>
      <p:ext uri="{BB962C8B-B14F-4D97-AF65-F5344CB8AC3E}">
        <p14:creationId xmlns:p14="http://schemas.microsoft.com/office/powerpoint/2010/main" val="2042435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6004096" y="1932063"/>
            <a:ext cx="1731818" cy="369332"/>
          </a:xfrm>
          <a:prstGeom prst="rect">
            <a:avLst/>
          </a:prstGeom>
          <a:noFill/>
        </p:spPr>
        <p:txBody>
          <a:bodyPr wrap="square" rtlCol="0">
            <a:spAutoFit/>
          </a:bodyPr>
          <a:lstStyle/>
          <a:p>
            <a:r>
              <a:rPr lang="en-DK" dirty="0"/>
              <a:t>DNA Extraction</a:t>
            </a:r>
          </a:p>
        </p:txBody>
      </p:sp>
      <p:sp>
        <p:nvSpPr>
          <p:cNvPr id="7" name="TextBox 6">
            <a:extLst>
              <a:ext uri="{FF2B5EF4-FFF2-40B4-BE49-F238E27FC236}">
                <a16:creationId xmlns:a16="http://schemas.microsoft.com/office/drawing/2014/main" id="{4A093191-604C-DC55-7298-739A9AC07B67}"/>
              </a:ext>
            </a:extLst>
          </p:cNvPr>
          <p:cNvSpPr txBox="1"/>
          <p:nvPr/>
        </p:nvSpPr>
        <p:spPr>
          <a:xfrm>
            <a:off x="2467686" y="1921430"/>
            <a:ext cx="1731818" cy="369332"/>
          </a:xfrm>
          <a:prstGeom prst="rect">
            <a:avLst/>
          </a:prstGeom>
          <a:noFill/>
        </p:spPr>
        <p:txBody>
          <a:bodyPr wrap="square" rtlCol="0">
            <a:spAutoFit/>
          </a:bodyPr>
          <a:lstStyle/>
          <a:p>
            <a:r>
              <a:rPr lang="en-DK" dirty="0"/>
              <a:t>DNA Sampling</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938218"/>
            <a:ext cx="1905000" cy="335756"/>
          </a:xfrm>
          <a:prstGeom prst="rect">
            <a:avLst/>
          </a:prstGeom>
          <a:noFill/>
        </p:spPr>
        <p:txBody>
          <a:bodyPr wrap="square" rtlCol="0">
            <a:spAutoFit/>
          </a:bodyPr>
          <a:lstStyle/>
          <a:p>
            <a:r>
              <a:rPr lang="en-DK" dirty="0"/>
              <a:t>DNA Storage</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527472" y="1344313"/>
            <a:ext cx="1891146" cy="369332"/>
          </a:xfrm>
          <a:prstGeom prst="rect">
            <a:avLst/>
          </a:prstGeom>
          <a:noFill/>
        </p:spPr>
        <p:txBody>
          <a:bodyPr wrap="square" rtlCol="0">
            <a:spAutoFit/>
          </a:bodyPr>
          <a:lstStyle/>
          <a:p>
            <a:r>
              <a:rPr lang="en-DK" dirty="0"/>
              <a:t>DNA Sequencing</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923330"/>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a:t>
            </a:r>
            <a:r>
              <a:rPr lang="en-US" sz="1800" dirty="0" err="1">
                <a:latin typeface="Calibri" charset="0"/>
                <a:ea typeface="Calibri" charset="0"/>
                <a:cs typeface="Calibri" charset="0"/>
              </a:rPr>
              <a:t>chracterization</a:t>
            </a:r>
            <a:endParaRPr lang="en-US" sz="1800" dirty="0">
              <a:latin typeface="Calibri" charset="0"/>
              <a:ea typeface="Calibri" charset="0"/>
              <a:cs typeface="Calibri" charset="0"/>
            </a:endParaRP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Process quickly after sampling to reduce DNA degradation and community shifts if freezing is not possible</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109149" y="0"/>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endParaRPr lang="en-GB" sz="1800" b="1" dirty="0"/>
          </a:p>
          <a:p>
            <a:pPr lvl="1"/>
            <a:r>
              <a:rPr lang="en-GB" sz="1800" b="1" dirty="0"/>
              <a:t>DNA Release: </a:t>
            </a: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controls (e.g., mock communities)</a:t>
            </a:r>
          </a:p>
          <a:p>
            <a:r>
              <a:rPr lang="en-GB" sz="1800" dirty="0"/>
              <a:t>Choose depth wisely: deeper for complex samples (e.g., soil, strain resolution, SNVs), lighter for simple ones</a:t>
            </a:r>
          </a:p>
          <a:p>
            <a:r>
              <a:rPr lang="en-GB" sz="1800" dirty="0">
                <a:hlinkClick r:id="rId2"/>
              </a:rPr>
              <a:t>https://www.youtube.com/watch?v=HMyCqWhwB8E</a:t>
            </a:r>
            <a:endParaRPr lang="en-GB" sz="18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3"/>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lstStyle/>
          <a:p>
            <a:r>
              <a:rPr lang="en-GB" dirty="0"/>
              <a:t>Process of identifying and quantifying the microbial taxa present in a sample - this can be bacteria, archaea, viruses, fungi, …</a:t>
            </a:r>
          </a:p>
          <a:p>
            <a:r>
              <a:rPr lang="en-GB" dirty="0"/>
              <a:t>Typically from metagenomic or amplicon sequencing data.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 </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C8D6C-17B3-8328-A492-79B8A20F48C9}"/>
              </a:ext>
            </a:extLst>
          </p:cNvPr>
          <p:cNvSpPr>
            <a:spLocks noGrp="1"/>
          </p:cNvSpPr>
          <p:nvPr>
            <p:ph type="title"/>
          </p:nvPr>
        </p:nvSpPr>
        <p:spPr/>
        <p:txBody>
          <a:bodyPr>
            <a:normAutofit fontScale="90000"/>
          </a:bodyPr>
          <a:lstStyle/>
          <a:p>
            <a:r>
              <a:rPr lang="en-DK" dirty="0"/>
              <a:t>Profiling microbial communities</a:t>
            </a:r>
            <a:br>
              <a:rPr lang="en-DK" dirty="0"/>
            </a:br>
            <a:r>
              <a:rPr lang="en-DK" dirty="0"/>
              <a:t>16S amplicon sequencing (16S rRNA sequencing)</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EA2DA6C1-8141-96B4-B65D-4F1EC34E65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0AEAF06-DD7A-106F-201E-883E32DFDBB1}"/>
              </a:ext>
            </a:extLst>
          </p:cNvPr>
          <p:cNvSpPr txBox="1"/>
          <p:nvPr/>
        </p:nvSpPr>
        <p:spPr>
          <a:xfrm>
            <a:off x="242455" y="6488668"/>
            <a:ext cx="9275618" cy="369332"/>
          </a:xfrm>
          <a:prstGeom prst="rect">
            <a:avLst/>
          </a:prstGeom>
          <a:noFill/>
        </p:spPr>
        <p:txBody>
          <a:bodyPr wrap="square" rtlCol="0">
            <a:spAutoFit/>
          </a:bodyPr>
          <a:lstStyle/>
          <a:p>
            <a:r>
              <a:rPr lang="en-GB" dirty="0"/>
              <a:t> </a:t>
            </a:r>
            <a:r>
              <a:rPr lang="en-GB" i="1" dirty="0"/>
              <a:t>J Clin Invest.</a:t>
            </a:r>
            <a:r>
              <a:rPr lang="en-GB" dirty="0"/>
              <a:t> 2022;</a:t>
            </a:r>
            <a:r>
              <a:rPr lang="en-GB" dirty="0">
                <a:hlinkClick r:id="rId3"/>
              </a:rPr>
              <a:t>132(7)</a:t>
            </a:r>
            <a:r>
              <a:rPr lang="en-GB" dirty="0"/>
              <a:t>:e154944. </a:t>
            </a:r>
            <a:r>
              <a:rPr lang="en-GB" dirty="0">
                <a:hlinkClick r:id="rId4"/>
              </a:rPr>
              <a:t>https://doi.org/10.1172/JCI154944</a:t>
            </a:r>
            <a:r>
              <a:rPr lang="en-GB" dirty="0"/>
              <a:t>.</a:t>
            </a:r>
            <a:endParaRPr lang="en-DK" dirty="0"/>
          </a:p>
        </p:txBody>
      </p:sp>
      <p:pic>
        <p:nvPicPr>
          <p:cNvPr id="7170" name="Picture 2" descr="Bacterial 16S rRNA gene.&#10;(A) Percentage sequence identity of conserved a...">
            <a:extLst>
              <a:ext uri="{FF2B5EF4-FFF2-40B4-BE49-F238E27FC236}">
                <a16:creationId xmlns:a16="http://schemas.microsoft.com/office/drawing/2014/main" id="{87AF6987-A955-B8B2-2921-1C3961917A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8844" y="4269284"/>
            <a:ext cx="4588459" cy="1796054"/>
          </a:xfrm>
          <a:prstGeom prst="rect">
            <a:avLst/>
          </a:prstGeom>
          <a:noFill/>
          <a:extLst>
            <a:ext uri="{909E8E84-426E-40DD-AFC4-6F175D3DCCD1}">
              <a14:hiddenFill xmlns:a14="http://schemas.microsoft.com/office/drawing/2010/main">
                <a:solidFill>
                  <a:srgbClr val="FFFFFF"/>
                </a:solidFill>
              </a14:hiddenFill>
            </a:ext>
          </a:extLst>
        </p:spPr>
      </p:pic>
      <p:sp>
        <p:nvSpPr>
          <p:cNvPr id="6" name="Right Arrow 5">
            <a:extLst>
              <a:ext uri="{FF2B5EF4-FFF2-40B4-BE49-F238E27FC236}">
                <a16:creationId xmlns:a16="http://schemas.microsoft.com/office/drawing/2014/main" id="{E194C3D0-53B0-D3AE-713F-B7AB5F37DC1C}"/>
              </a:ext>
            </a:extLst>
          </p:cNvPr>
          <p:cNvSpPr/>
          <p:nvPr/>
        </p:nvSpPr>
        <p:spPr>
          <a:xfrm>
            <a:off x="2132411" y="321512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TextBox 6">
            <a:extLst>
              <a:ext uri="{FF2B5EF4-FFF2-40B4-BE49-F238E27FC236}">
                <a16:creationId xmlns:a16="http://schemas.microsoft.com/office/drawing/2014/main" id="{08B1D750-AF72-C305-B35B-ADAD30E49D60}"/>
              </a:ext>
            </a:extLst>
          </p:cNvPr>
          <p:cNvSpPr txBox="1"/>
          <p:nvPr/>
        </p:nvSpPr>
        <p:spPr>
          <a:xfrm>
            <a:off x="2909456" y="3169496"/>
            <a:ext cx="1281546" cy="646331"/>
          </a:xfrm>
          <a:prstGeom prst="rect">
            <a:avLst/>
          </a:prstGeom>
          <a:noFill/>
        </p:spPr>
        <p:txBody>
          <a:bodyPr wrap="square" rtlCol="0">
            <a:spAutoFit/>
          </a:bodyPr>
          <a:lstStyle/>
          <a:p>
            <a:r>
              <a:rPr lang="en-DK" dirty="0"/>
              <a:t>16S rRNA </a:t>
            </a:r>
          </a:p>
          <a:p>
            <a:r>
              <a:rPr lang="en-DK" dirty="0"/>
              <a:t>gene</a:t>
            </a:r>
          </a:p>
        </p:txBody>
      </p:sp>
      <p:sp>
        <p:nvSpPr>
          <p:cNvPr id="9" name="TextBox 8">
            <a:extLst>
              <a:ext uri="{FF2B5EF4-FFF2-40B4-BE49-F238E27FC236}">
                <a16:creationId xmlns:a16="http://schemas.microsoft.com/office/drawing/2014/main" id="{B24A550D-76C4-5C18-3EA8-54C1870E79BA}"/>
              </a:ext>
            </a:extLst>
          </p:cNvPr>
          <p:cNvSpPr txBox="1"/>
          <p:nvPr/>
        </p:nvSpPr>
        <p:spPr>
          <a:xfrm>
            <a:off x="5059288" y="2659696"/>
            <a:ext cx="1787236" cy="1754326"/>
          </a:xfrm>
          <a:prstGeom prst="rect">
            <a:avLst/>
          </a:prstGeom>
          <a:noFill/>
        </p:spPr>
        <p:txBody>
          <a:bodyPr wrap="square" rtlCol="0">
            <a:spAutoFit/>
          </a:bodyPr>
          <a:lstStyle/>
          <a:p>
            <a:pPr algn="just"/>
            <a:r>
              <a:rPr lang="en-DK" dirty="0"/>
              <a:t>CGCCTAT</a:t>
            </a:r>
          </a:p>
          <a:p>
            <a:pPr algn="just"/>
            <a:r>
              <a:rPr lang="en-DK" dirty="0"/>
              <a:t>C</a:t>
            </a:r>
            <a:r>
              <a:rPr lang="en-DK" dirty="0">
                <a:solidFill>
                  <a:srgbClr val="FF0000"/>
                </a:solidFill>
              </a:rPr>
              <a:t>A</a:t>
            </a:r>
            <a:r>
              <a:rPr lang="en-DK" dirty="0"/>
              <a:t>CCTAT</a:t>
            </a:r>
          </a:p>
          <a:p>
            <a:pPr algn="just"/>
            <a:r>
              <a:rPr lang="en-DK" dirty="0"/>
              <a:t>CGCCTAT</a:t>
            </a:r>
          </a:p>
          <a:p>
            <a:pPr algn="just"/>
            <a:r>
              <a:rPr lang="en-DK" dirty="0"/>
              <a:t>CGCCTAC</a:t>
            </a:r>
          </a:p>
          <a:p>
            <a:pPr algn="just"/>
            <a:r>
              <a:rPr lang="en-DK" dirty="0"/>
              <a:t>CG</a:t>
            </a:r>
            <a:r>
              <a:rPr lang="en-DK" dirty="0">
                <a:solidFill>
                  <a:srgbClr val="FF0000"/>
                </a:solidFill>
              </a:rPr>
              <a:t>C</a:t>
            </a:r>
            <a:r>
              <a:rPr lang="en-DK" dirty="0"/>
              <a:t>CTAT</a:t>
            </a:r>
          </a:p>
          <a:p>
            <a:pPr algn="just"/>
            <a:endParaRPr lang="en-DK" dirty="0"/>
          </a:p>
        </p:txBody>
      </p:sp>
      <p:sp>
        <p:nvSpPr>
          <p:cNvPr id="10" name="TextBox 9">
            <a:extLst>
              <a:ext uri="{FF2B5EF4-FFF2-40B4-BE49-F238E27FC236}">
                <a16:creationId xmlns:a16="http://schemas.microsoft.com/office/drawing/2014/main" id="{4A6145C0-C05C-2C13-0209-0D89100A8ABF}"/>
              </a:ext>
            </a:extLst>
          </p:cNvPr>
          <p:cNvSpPr txBox="1"/>
          <p:nvPr/>
        </p:nvSpPr>
        <p:spPr>
          <a:xfrm>
            <a:off x="5059288" y="1952670"/>
            <a:ext cx="1787236" cy="646331"/>
          </a:xfrm>
          <a:prstGeom prst="rect">
            <a:avLst/>
          </a:prstGeom>
          <a:noFill/>
        </p:spPr>
        <p:txBody>
          <a:bodyPr wrap="square" rtlCol="0">
            <a:spAutoFit/>
          </a:bodyPr>
          <a:lstStyle/>
          <a:p>
            <a:r>
              <a:rPr lang="en-DK" dirty="0"/>
              <a:t>amplicon</a:t>
            </a:r>
          </a:p>
          <a:p>
            <a:r>
              <a:rPr lang="en-DK" dirty="0"/>
              <a:t>sequencing</a:t>
            </a:r>
          </a:p>
        </p:txBody>
      </p:sp>
      <p:pic>
        <p:nvPicPr>
          <p:cNvPr id="7172" name="Picture 4" descr="The SILVA Database Project: An ELIXIR core data resource for high-quality  ribosomal RNA sequences">
            <a:extLst>
              <a:ext uri="{FF2B5EF4-FFF2-40B4-BE49-F238E27FC236}">
                <a16:creationId xmlns:a16="http://schemas.microsoft.com/office/drawing/2014/main" id="{3F73C9C9-61A2-D185-A93D-FFCB517B8E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91804" y="2623715"/>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greengenes.lbl.gov - Aligned 16S rDNA data and tools">
            <a:extLst>
              <a:ext uri="{FF2B5EF4-FFF2-40B4-BE49-F238E27FC236}">
                <a16:creationId xmlns:a16="http://schemas.microsoft.com/office/drawing/2014/main" id="{0B671EF9-F53E-5A6C-8F28-398692C339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2788" y="3534387"/>
            <a:ext cx="1522847" cy="1025435"/>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FE9718D-BCA0-5696-3558-418E6BAF0A42}"/>
              </a:ext>
            </a:extLst>
          </p:cNvPr>
          <p:cNvSpPr txBox="1"/>
          <p:nvPr/>
        </p:nvSpPr>
        <p:spPr>
          <a:xfrm>
            <a:off x="7025548" y="1939728"/>
            <a:ext cx="2176467" cy="646331"/>
          </a:xfrm>
          <a:prstGeom prst="rect">
            <a:avLst/>
          </a:prstGeom>
          <a:noFill/>
        </p:spPr>
        <p:txBody>
          <a:bodyPr wrap="square" rtlCol="0">
            <a:spAutoFit/>
          </a:bodyPr>
          <a:lstStyle/>
          <a:p>
            <a:r>
              <a:rPr lang="en-DK" dirty="0"/>
              <a:t>Compare to a reference database</a:t>
            </a:r>
          </a:p>
        </p:txBody>
      </p:sp>
      <p:sp>
        <p:nvSpPr>
          <p:cNvPr id="15" name="Right Arrow 14">
            <a:extLst>
              <a:ext uri="{FF2B5EF4-FFF2-40B4-BE49-F238E27FC236}">
                <a16:creationId xmlns:a16="http://schemas.microsoft.com/office/drawing/2014/main" id="{2D1CCFF6-55F7-2FAF-E81A-BFFB1E77494B}"/>
              </a:ext>
            </a:extLst>
          </p:cNvPr>
          <p:cNvSpPr/>
          <p:nvPr/>
        </p:nvSpPr>
        <p:spPr>
          <a:xfrm>
            <a:off x="4172493" y="3237513"/>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ight Arrow 15">
            <a:extLst>
              <a:ext uri="{FF2B5EF4-FFF2-40B4-BE49-F238E27FC236}">
                <a16:creationId xmlns:a16="http://schemas.microsoft.com/office/drawing/2014/main" id="{811C9B3D-5C67-CD42-92F7-18FDF769DF00}"/>
              </a:ext>
            </a:extLst>
          </p:cNvPr>
          <p:cNvSpPr/>
          <p:nvPr/>
        </p:nvSpPr>
        <p:spPr>
          <a:xfrm>
            <a:off x="6311393" y="321951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ight Arrow 16">
            <a:extLst>
              <a:ext uri="{FF2B5EF4-FFF2-40B4-BE49-F238E27FC236}">
                <a16:creationId xmlns:a16="http://schemas.microsoft.com/office/drawing/2014/main" id="{AF1EEC0D-1C4C-CE1C-09DC-2743C9000BE4}"/>
              </a:ext>
            </a:extLst>
          </p:cNvPr>
          <p:cNvSpPr/>
          <p:nvPr/>
        </p:nvSpPr>
        <p:spPr>
          <a:xfrm>
            <a:off x="9011880" y="3233206"/>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aphicFrame>
        <p:nvGraphicFramePr>
          <p:cNvPr id="21" name="Table 20">
            <a:extLst>
              <a:ext uri="{FF2B5EF4-FFF2-40B4-BE49-F238E27FC236}">
                <a16:creationId xmlns:a16="http://schemas.microsoft.com/office/drawing/2014/main" id="{1B115ECC-1144-B22D-1A6E-145075BAF7CB}"/>
              </a:ext>
            </a:extLst>
          </p:cNvPr>
          <p:cNvGraphicFramePr>
            <a:graphicFrameLocks noGrp="1"/>
          </p:cNvGraphicFramePr>
          <p:nvPr>
            <p:extLst>
              <p:ext uri="{D42A27DB-BD31-4B8C-83A1-F6EECF244321}">
                <p14:modId xmlns:p14="http://schemas.microsoft.com/office/powerpoint/2010/main" val="1113189773"/>
              </p:ext>
            </p:extLst>
          </p:nvPr>
        </p:nvGraphicFramePr>
        <p:xfrm>
          <a:off x="10421825" y="2797651"/>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22" name="TextBox 21">
            <a:extLst>
              <a:ext uri="{FF2B5EF4-FFF2-40B4-BE49-F238E27FC236}">
                <a16:creationId xmlns:a16="http://schemas.microsoft.com/office/drawing/2014/main" id="{1C2C38A3-AE45-D0CE-D1DF-031AB432CAB1}"/>
              </a:ext>
            </a:extLst>
          </p:cNvPr>
          <p:cNvSpPr txBox="1"/>
          <p:nvPr/>
        </p:nvSpPr>
        <p:spPr>
          <a:xfrm>
            <a:off x="9202015" y="4420444"/>
            <a:ext cx="3046486" cy="1200329"/>
          </a:xfrm>
          <a:prstGeom prst="rect">
            <a:avLst/>
          </a:prstGeom>
          <a:noFill/>
        </p:spPr>
        <p:txBody>
          <a:bodyPr wrap="square" rtlCol="0">
            <a:spAutoFit/>
          </a:bodyPr>
          <a:lstStyle/>
          <a:p>
            <a:pPr marL="285750" indent="-285750">
              <a:buFont typeface="Arial" panose="020B0604020202020204" pitchFamily="34" charset="0"/>
              <a:buChar char="•"/>
            </a:pPr>
            <a:r>
              <a:rPr lang="en-DK" dirty="0"/>
              <a:t>Operational taxonic Units (OTUs) – Resolution up to Genus</a:t>
            </a:r>
          </a:p>
          <a:p>
            <a:pPr marL="285750" indent="-285750">
              <a:buFont typeface="Arial" panose="020B0604020202020204" pitchFamily="34" charset="0"/>
              <a:buChar char="•"/>
            </a:pPr>
            <a:r>
              <a:rPr lang="en-DK" dirty="0"/>
              <a:t>Inferred functions</a:t>
            </a:r>
          </a:p>
        </p:txBody>
      </p:sp>
      <p:sp>
        <p:nvSpPr>
          <p:cNvPr id="23" name="TextBox 22">
            <a:extLst>
              <a:ext uri="{FF2B5EF4-FFF2-40B4-BE49-F238E27FC236}">
                <a16:creationId xmlns:a16="http://schemas.microsoft.com/office/drawing/2014/main" id="{02316353-50AF-17A8-1BDE-D9471793CC84}"/>
              </a:ext>
            </a:extLst>
          </p:cNvPr>
          <p:cNvSpPr txBox="1"/>
          <p:nvPr/>
        </p:nvSpPr>
        <p:spPr>
          <a:xfrm>
            <a:off x="9862266" y="2066620"/>
            <a:ext cx="1965177" cy="369332"/>
          </a:xfrm>
          <a:prstGeom prst="rect">
            <a:avLst/>
          </a:prstGeom>
          <a:noFill/>
        </p:spPr>
        <p:txBody>
          <a:bodyPr wrap="square" rtlCol="0">
            <a:spAutoFit/>
          </a:bodyPr>
          <a:lstStyle/>
          <a:p>
            <a:r>
              <a:rPr lang="en-DK" dirty="0"/>
              <a:t>Abundance table</a:t>
            </a:r>
          </a:p>
        </p:txBody>
      </p:sp>
      <p:sp>
        <p:nvSpPr>
          <p:cNvPr id="24" name="TextBox 23">
            <a:extLst>
              <a:ext uri="{FF2B5EF4-FFF2-40B4-BE49-F238E27FC236}">
                <a16:creationId xmlns:a16="http://schemas.microsoft.com/office/drawing/2014/main" id="{8997AB7F-88AA-089D-A88F-C32FDCA4B42B}"/>
              </a:ext>
            </a:extLst>
          </p:cNvPr>
          <p:cNvSpPr txBox="1"/>
          <p:nvPr/>
        </p:nvSpPr>
        <p:spPr>
          <a:xfrm>
            <a:off x="10377055" y="2473169"/>
            <a:ext cx="1094509" cy="369332"/>
          </a:xfrm>
          <a:prstGeom prst="rect">
            <a:avLst/>
          </a:prstGeom>
          <a:noFill/>
        </p:spPr>
        <p:txBody>
          <a:bodyPr wrap="square" rtlCol="0">
            <a:spAutoFit/>
          </a:bodyPr>
          <a:lstStyle/>
          <a:p>
            <a:r>
              <a:rPr lang="en-DK" dirty="0"/>
              <a:t>Samples</a:t>
            </a:r>
          </a:p>
        </p:txBody>
      </p:sp>
      <p:sp>
        <p:nvSpPr>
          <p:cNvPr id="25" name="TextBox 24">
            <a:extLst>
              <a:ext uri="{FF2B5EF4-FFF2-40B4-BE49-F238E27FC236}">
                <a16:creationId xmlns:a16="http://schemas.microsoft.com/office/drawing/2014/main" id="{590BDD0B-722B-AE1A-B502-101BF11C0542}"/>
              </a:ext>
            </a:extLst>
          </p:cNvPr>
          <p:cNvSpPr txBox="1"/>
          <p:nvPr/>
        </p:nvSpPr>
        <p:spPr>
          <a:xfrm rot="16200000">
            <a:off x="9408425" y="3003689"/>
            <a:ext cx="1617517" cy="369332"/>
          </a:xfrm>
          <a:prstGeom prst="rect">
            <a:avLst/>
          </a:prstGeom>
          <a:noFill/>
        </p:spPr>
        <p:txBody>
          <a:bodyPr wrap="square" rtlCol="0">
            <a:spAutoFit/>
          </a:bodyPr>
          <a:lstStyle/>
          <a:p>
            <a:r>
              <a:rPr lang="en-DK" dirty="0"/>
              <a:t>Features</a:t>
            </a:r>
          </a:p>
        </p:txBody>
      </p:sp>
      <p:sp>
        <p:nvSpPr>
          <p:cNvPr id="27" name="TextBox 26">
            <a:extLst>
              <a:ext uri="{FF2B5EF4-FFF2-40B4-BE49-F238E27FC236}">
                <a16:creationId xmlns:a16="http://schemas.microsoft.com/office/drawing/2014/main" id="{0FC22EF4-A361-2DD8-1A9B-5AADEF422334}"/>
              </a:ext>
            </a:extLst>
          </p:cNvPr>
          <p:cNvSpPr txBox="1"/>
          <p:nvPr/>
        </p:nvSpPr>
        <p:spPr>
          <a:xfrm>
            <a:off x="838200" y="1574539"/>
            <a:ext cx="3176163" cy="369332"/>
          </a:xfrm>
          <a:prstGeom prst="rect">
            <a:avLst/>
          </a:prstGeom>
          <a:noFill/>
        </p:spPr>
        <p:txBody>
          <a:bodyPr wrap="square" rtlCol="0">
            <a:spAutoFit/>
          </a:bodyPr>
          <a:lstStyle/>
          <a:p>
            <a:r>
              <a:rPr lang="en-DK" dirty="0"/>
              <a:t>Targets specifically 16S rRNA</a:t>
            </a:r>
          </a:p>
        </p:txBody>
      </p:sp>
    </p:spTree>
    <p:extLst>
      <p:ext uri="{BB962C8B-B14F-4D97-AF65-F5344CB8AC3E}">
        <p14:creationId xmlns:p14="http://schemas.microsoft.com/office/powerpoint/2010/main" val="2702494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6169709"/>
            <a:ext cx="9550218" cy="646331"/>
          </a:xfrm>
          <a:prstGeom prst="rect">
            <a:avLst/>
          </a:prstGeom>
          <a:noFill/>
        </p:spPr>
        <p:txBody>
          <a:bodyPr wrap="square" rtlCol="0">
            <a:spAutoFit/>
          </a:bodyPr>
          <a:lstStyle/>
          <a:p>
            <a:r>
              <a:rPr lang="en-GB" b="1" dirty="0"/>
              <a:t>Figure2</a:t>
            </a:r>
            <a:r>
              <a:rPr lang="en-GB" dirty="0"/>
              <a:t>. Universal phylogenetic tree based on the 16S rRNA gene sequence comparisons. Pace, N. A molecular view of microbial diversity and the biosphere. Science276:734-740. 1997.</a:t>
            </a:r>
            <a:endParaRPr lang="en-DK"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2"/>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907653"/>
            <a:ext cx="4294909" cy="2862322"/>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a:t>
            </a:r>
          </a:p>
          <a:p>
            <a:pPr marL="285750" indent="-285750">
              <a:buFont typeface="Arial" panose="020B0604020202020204" pitchFamily="34" charset="0"/>
              <a:buChar char="•"/>
            </a:pPr>
            <a:r>
              <a:rPr lang="en-DK" dirty="0"/>
              <a:t>traditionally  used to infer phylogenetic trees to figure out the species evolution</a:t>
            </a:r>
          </a:p>
          <a:p>
            <a:pPr marL="285750" indent="-285750">
              <a:buFont typeface="Arial" panose="020B0604020202020204" pitchFamily="34" charset="0"/>
              <a:buChar char="•"/>
            </a:pPr>
            <a:r>
              <a:rPr lang="en-DK" dirty="0"/>
              <a:t>Found in most of the species</a:t>
            </a:r>
          </a:p>
          <a:p>
            <a:pPr marL="285750" indent="-285750">
              <a:buFont typeface="Arial" panose="020B0604020202020204" pitchFamily="34" charset="0"/>
              <a:buChar char="•"/>
            </a:pPr>
            <a:r>
              <a:rPr lang="en-DK" dirty="0"/>
              <a:t>Subtle differences can be used to tell species apart</a:t>
            </a:r>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4404" y="3918351"/>
            <a:ext cx="4880898" cy="19105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45162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802076" y="2200069"/>
            <a:ext cx="1965177" cy="923330"/>
          </a:xfrm>
          <a:prstGeom prst="rect">
            <a:avLst/>
          </a:prstGeom>
          <a:noFill/>
        </p:spPr>
        <p:txBody>
          <a:bodyPr wrap="square" rtlCol="0">
            <a:spAutoFit/>
          </a:bodyPr>
          <a:lstStyle/>
          <a:p>
            <a:r>
              <a:rPr lang="en-DK" dirty="0"/>
              <a:t>Abundance table of operational taxonomic units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878278" y="5194380"/>
            <a:ext cx="228601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4667" y="780501"/>
            <a:ext cx="1367047" cy="45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73179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780325" y="224407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946552" y="3554136"/>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705841" y="4678603"/>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699150"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544277"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4003950"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4190986"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588313"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461150"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761495"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4038586"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765950"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4128641"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532895"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5105386"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807513"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696677"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800586"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724386"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588312"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761494"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532894"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475005"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523887" y="5931535"/>
            <a:ext cx="2512875" cy="646331"/>
          </a:xfrm>
          <a:prstGeom prst="rect">
            <a:avLst/>
          </a:prstGeom>
          <a:noFill/>
        </p:spPr>
        <p:txBody>
          <a:bodyPr wrap="square" rtlCol="0">
            <a:spAutoFit/>
          </a:bodyPr>
          <a:lstStyle/>
          <a:p>
            <a:r>
              <a:rPr lang="en-DK" dirty="0"/>
              <a:t>Microbial genomes in our sample</a:t>
            </a:r>
          </a:p>
        </p:txBody>
      </p:sp>
      <p:sp>
        <p:nvSpPr>
          <p:cNvPr id="47" name="TextBox 46">
            <a:extLst>
              <a:ext uri="{FF2B5EF4-FFF2-40B4-BE49-F238E27FC236}">
                <a16:creationId xmlns:a16="http://schemas.microsoft.com/office/drawing/2014/main" id="{D7136B39-DF79-F5AA-46F9-F742D45238F7}"/>
              </a:ext>
            </a:extLst>
          </p:cNvPr>
          <p:cNvSpPr txBox="1"/>
          <p:nvPr/>
        </p:nvSpPr>
        <p:spPr>
          <a:xfrm>
            <a:off x="3172674" y="5693533"/>
            <a:ext cx="2909459" cy="923330"/>
          </a:xfrm>
          <a:prstGeom prst="rect">
            <a:avLst/>
          </a:prstGeom>
          <a:noFill/>
        </p:spPr>
        <p:txBody>
          <a:bodyPr wrap="square" rtlCol="0">
            <a:spAutoFit/>
          </a:bodyPr>
          <a:lstStyle/>
          <a:p>
            <a:r>
              <a:rPr lang="en-DK" dirty="0"/>
              <a:t>Shatter randomly  into fragments of 150 bps with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6286482" y="5845887"/>
            <a:ext cx="3525982" cy="646331"/>
          </a:xfrm>
          <a:prstGeom prst="rect">
            <a:avLst/>
          </a:prstGeom>
          <a:noFill/>
        </p:spPr>
        <p:txBody>
          <a:bodyPr wrap="square" rtlCol="0">
            <a:spAutoFit/>
          </a:bodyPr>
          <a:lstStyle/>
          <a:p>
            <a:r>
              <a:rPr lang="en-DK" dirty="0"/>
              <a:t>Sequence all fragments (in the order of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7374599" y="290939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7277617" y="3283223"/>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6491378" y="369897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7211809" y="4418662"/>
            <a:ext cx="1963881" cy="246221"/>
          </a:xfrm>
          <a:prstGeom prst="rect">
            <a:avLst/>
          </a:prstGeom>
          <a:noFill/>
        </p:spPr>
        <p:txBody>
          <a:bodyPr wrap="square" rtlCol="0">
            <a:spAutoFit/>
          </a:bodyPr>
          <a:lstStyle/>
          <a:p>
            <a:r>
              <a:rPr lang="en-DK" sz="1000" b="1" dirty="0">
                <a:solidFill>
                  <a:schemeClr val="tx2">
                    <a:lumMod val="75000"/>
                    <a:lumOff val="25000"/>
                  </a:schemeClr>
                </a:solidFill>
              </a:rPr>
              <a:t>TTCAACACCGAGATATGC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7045560"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7523520" y="472412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6917402"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1" y="480648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3119048504"/>
              </p:ext>
            </p:extLst>
          </p:nvPr>
        </p:nvGraphicFramePr>
        <p:xfrm>
          <a:off x="10285431" y="4747110"/>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931430" y="6052972"/>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8249901" y="323244"/>
            <a:ext cx="3756777" cy="646331"/>
          </a:xfrm>
          <a:prstGeom prst="rect">
            <a:avLst/>
          </a:prstGeom>
          <a:noFill/>
        </p:spPr>
        <p:txBody>
          <a:bodyPr wrap="square" rtlCol="0">
            <a:spAutoFit/>
          </a:bodyPr>
          <a:lstStyle/>
          <a:p>
            <a:r>
              <a:rPr lang="en-DK" dirty="0"/>
              <a:t>Read mapping to know  genomes, specific marker genes</a:t>
            </a:r>
          </a:p>
        </p:txBody>
      </p:sp>
      <p:sp>
        <p:nvSpPr>
          <p:cNvPr id="70" name="TextBox 69">
            <a:extLst>
              <a:ext uri="{FF2B5EF4-FFF2-40B4-BE49-F238E27FC236}">
                <a16:creationId xmlns:a16="http://schemas.microsoft.com/office/drawing/2014/main" id="{66E316CC-DFF9-0D22-69C0-E2055AE564C5}"/>
              </a:ext>
            </a:extLst>
          </p:cNvPr>
          <p:cNvSpPr txBox="1"/>
          <p:nvPr/>
        </p:nvSpPr>
        <p:spPr>
          <a:xfrm>
            <a:off x="10240661" y="4422628"/>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9272031" y="4953148"/>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678571" y="1040692"/>
            <a:ext cx="1229585" cy="369332"/>
          </a:xfrm>
          <a:prstGeom prst="rect">
            <a:avLst/>
          </a:prstGeom>
          <a:noFill/>
        </p:spPr>
        <p:txBody>
          <a:bodyPr wrap="square" rtlCol="0">
            <a:spAutoFit/>
          </a:bodyPr>
          <a:lstStyle/>
          <a:p>
            <a:r>
              <a:rPr lang="en-DK" dirty="0"/>
              <a:t>Genome</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695644" y="1757303"/>
            <a:ext cx="1783340" cy="369332"/>
          </a:xfrm>
          <a:prstGeom prst="rect">
            <a:avLst/>
          </a:prstGeom>
          <a:noFill/>
        </p:spPr>
        <p:txBody>
          <a:bodyPr wrap="square" rtlCol="0">
            <a:spAutoFit/>
          </a:bodyPr>
          <a:lstStyle/>
          <a:p>
            <a:r>
              <a:rPr lang="en-DK" dirty="0"/>
              <a:t>Marker genes</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9166143" y="3297657"/>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10140738" y="2614481"/>
            <a:ext cx="2223300" cy="1815882"/>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Tree>
    <p:extLst>
      <p:ext uri="{BB962C8B-B14F-4D97-AF65-F5344CB8AC3E}">
        <p14:creationId xmlns:p14="http://schemas.microsoft.com/office/powerpoint/2010/main" val="8267527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4080636808"/>
              </p:ext>
            </p:extLst>
          </p:nvPr>
        </p:nvGraphicFramePr>
        <p:xfrm>
          <a:off x="787723" y="941326"/>
          <a:ext cx="10616551" cy="4790151"/>
        </p:xfrm>
        <a:graphic>
          <a:graphicData uri="http://schemas.openxmlformats.org/drawingml/2006/table">
            <a:tbl>
              <a:tblPr firstRow="1" bandRow="1">
                <a:tableStyleId>{B301B821-A1FF-4177-AEE7-76D212191A09}</a:tableStyleId>
              </a:tblPr>
              <a:tblGrid>
                <a:gridCol w="1874435">
                  <a:extLst>
                    <a:ext uri="{9D8B030D-6E8A-4147-A177-3AD203B41FA5}">
                      <a16:colId xmlns:a16="http://schemas.microsoft.com/office/drawing/2014/main" val="2515698166"/>
                    </a:ext>
                  </a:extLst>
                </a:gridCol>
                <a:gridCol w="6055967">
                  <a:extLst>
                    <a:ext uri="{9D8B030D-6E8A-4147-A177-3AD203B41FA5}">
                      <a16:colId xmlns:a16="http://schemas.microsoft.com/office/drawing/2014/main" val="3073312144"/>
                    </a:ext>
                  </a:extLst>
                </a:gridCol>
                <a:gridCol w="2686149">
                  <a:extLst>
                    <a:ext uri="{9D8B030D-6E8A-4147-A177-3AD203B41FA5}">
                      <a16:colId xmlns:a16="http://schemas.microsoft.com/office/drawing/2014/main" val="374859687"/>
                    </a:ext>
                  </a:extLst>
                </a:gridCol>
              </a:tblGrid>
              <a:tr h="461991">
                <a:tc>
                  <a:txBody>
                    <a:bodyPr/>
                    <a:lstStyle/>
                    <a:p>
                      <a:pPr algn="ctr"/>
                      <a:r>
                        <a:rPr lang="en-DK" sz="1600" dirty="0"/>
                        <a:t>Method</a:t>
                      </a:r>
                    </a:p>
                  </a:txBody>
                  <a:tcPr anchor="ctr"/>
                </a:tc>
                <a:tc>
                  <a:txBody>
                    <a:bodyPr/>
                    <a:lstStyle/>
                    <a:p>
                      <a:pPr algn="ctr"/>
                      <a:r>
                        <a:rPr lang="en-DK" sz="1600" dirty="0"/>
                        <a:t>Tools</a:t>
                      </a:r>
                    </a:p>
                  </a:txBody>
                  <a:tcPr anchor="ctr"/>
                </a:tc>
                <a:tc>
                  <a:txBody>
                    <a:bodyPr/>
                    <a:lstStyle/>
                    <a:p>
                      <a:pPr algn="ctr"/>
                      <a:r>
                        <a:rPr lang="en-DK" sz="1600" dirty="0"/>
                        <a:t>Databases</a:t>
                      </a:r>
                    </a:p>
                  </a:txBody>
                  <a:tcPr anchor="ctr"/>
                </a:tc>
                <a:extLst>
                  <a:ext uri="{0D108BD9-81ED-4DB2-BD59-A6C34878D82A}">
                    <a16:rowId xmlns:a16="http://schemas.microsoft.com/office/drawing/2014/main" val="29203155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Amplicon-based Profiling</a:t>
                      </a:r>
                      <a:endParaRPr lang="en-DK" sz="1600" dirty="0"/>
                    </a:p>
                    <a:p>
                      <a:pPr algn="ctr"/>
                      <a:endParaRPr lang="en-DK" sz="1600" dirty="0"/>
                    </a:p>
                  </a:txBody>
                  <a:tcPr anchor="ctr"/>
                </a:tc>
                <a:tc>
                  <a:txBody>
                    <a:bodyPr/>
                    <a:lstStyle/>
                    <a:p>
                      <a:r>
                        <a:rPr lang="en-GB" sz="1600" b="1" dirty="0"/>
                        <a:t>QIIME 2</a:t>
                      </a:r>
                      <a:r>
                        <a:rPr lang="en-GB" sz="1600" dirty="0"/>
                        <a:t>: A popular pipeline supporting DADA2, Deblur, and multiple classifiers (Naive Bayes, etc.).</a:t>
                      </a:r>
                    </a:p>
                    <a:p>
                      <a:r>
                        <a:rPr lang="en-GB" sz="1600" b="1" dirty="0">
                          <a:solidFill>
                            <a:srgbClr val="FF0000"/>
                          </a:solidFill>
                        </a:rPr>
                        <a:t>DADA2</a:t>
                      </a:r>
                      <a:r>
                        <a:rPr lang="en-GB" sz="1600" dirty="0">
                          <a:solidFill>
                            <a:srgbClr val="FF0000"/>
                          </a:solidFill>
                        </a:rPr>
                        <a:t>: High-resolution method that infers amplicon sequence variants (ASVs).</a:t>
                      </a:r>
                    </a:p>
                    <a:p>
                      <a:r>
                        <a:rPr lang="en-GB" sz="1600" b="1" dirty="0"/>
                        <a:t>USEARCH / VSEARCH</a:t>
                      </a:r>
                      <a:r>
                        <a:rPr lang="en-GB" sz="1600" dirty="0"/>
                        <a:t>: Clustering-based OTU picking methods.</a:t>
                      </a:r>
                    </a:p>
                    <a:p>
                      <a:r>
                        <a:rPr lang="en-GB" sz="1600" b="1" dirty="0" err="1"/>
                        <a:t>Mothur</a:t>
                      </a:r>
                      <a:r>
                        <a:rPr lang="en-GB" sz="1600" dirty="0"/>
                        <a:t>: OTU-based method using different clustering and alignment strategies.</a:t>
                      </a:r>
                    </a:p>
                    <a:p>
                      <a:r>
                        <a:rPr lang="en-GB" sz="1600" b="1" dirty="0"/>
                        <a:t>RDP Classifier</a:t>
                      </a:r>
                      <a:r>
                        <a:rPr lang="en-GB" sz="1600" dirty="0"/>
                        <a:t>: Naive Bayesian classifier for assigning taxonomy.</a:t>
                      </a:r>
                    </a:p>
                  </a:txBody>
                  <a:tcPr/>
                </a:tc>
                <a:tc>
                  <a:txBody>
                    <a:bodyPr/>
                    <a:lstStyle/>
                    <a:p>
                      <a:r>
                        <a:rPr lang="en-GB" sz="1600" b="1" dirty="0"/>
                        <a:t>SILVA</a:t>
                      </a:r>
                    </a:p>
                    <a:p>
                      <a:r>
                        <a:rPr lang="en-GB" sz="1600" b="1" dirty="0" err="1"/>
                        <a:t>Greengenes</a:t>
                      </a:r>
                      <a:r>
                        <a:rPr lang="en-GB" sz="1600" dirty="0"/>
                        <a:t> (deprecated but still used)</a:t>
                      </a:r>
                    </a:p>
                    <a:p>
                      <a:r>
                        <a:rPr lang="en-GB" sz="1600" b="1" dirty="0"/>
                        <a:t>RDP</a:t>
                      </a:r>
                    </a:p>
                    <a:p>
                      <a:r>
                        <a:rPr lang="en-GB" sz="1600" b="1" dirty="0"/>
                        <a:t>UNITE</a:t>
                      </a:r>
                      <a:r>
                        <a:rPr lang="en-GB" sz="1600" dirty="0"/>
                        <a:t> (for fungi)</a:t>
                      </a:r>
                    </a:p>
                    <a:p>
                      <a:endParaRPr lang="en-DK" sz="1600" dirty="0"/>
                    </a:p>
                  </a:txBody>
                  <a:tcPr/>
                </a:tc>
                <a:extLst>
                  <a:ext uri="{0D108BD9-81ED-4DB2-BD59-A6C34878D82A}">
                    <a16:rowId xmlns:a16="http://schemas.microsoft.com/office/drawing/2014/main" val="547700518"/>
                  </a:ext>
                </a:extLst>
              </a:tr>
              <a:tr h="228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Shotgun Metagenomics-based</a:t>
                      </a:r>
                      <a:endParaRPr lang="en-DK" sz="1600" dirty="0"/>
                    </a:p>
                    <a:p>
                      <a:pPr algn="ctr"/>
                      <a:r>
                        <a:rPr lang="en-GB" sz="1600" dirty="0"/>
                        <a:t>Read-based (Direct Mapping)</a:t>
                      </a:r>
                    </a:p>
                    <a:p>
                      <a:pPr algn="ctr"/>
                      <a:r>
                        <a:rPr lang="en-GB" sz="1600" dirty="0"/>
                        <a:t>profiling</a:t>
                      </a:r>
                      <a:endParaRPr lang="en-DK" sz="1600" dirty="0"/>
                    </a:p>
                  </a:txBody>
                  <a:tcPr anchor="ctr"/>
                </a:tc>
                <a:tc>
                  <a:txBody>
                    <a:bodyPr/>
                    <a:lstStyle/>
                    <a:p>
                      <a:r>
                        <a:rPr lang="en-GB" sz="1600" b="1" dirty="0">
                          <a:solidFill>
                            <a:srgbClr val="FF0000"/>
                          </a:solidFill>
                        </a:rPr>
                        <a:t>MetaPhlAn4</a:t>
                      </a:r>
                      <a:r>
                        <a:rPr lang="en-GB" sz="1600" dirty="0">
                          <a:solidFill>
                            <a:srgbClr val="FF0000"/>
                          </a:solidFill>
                        </a:rPr>
                        <a:t>: Uses clade-specific marker genes for fast, accurate profiling.</a:t>
                      </a:r>
                    </a:p>
                    <a:p>
                      <a:r>
                        <a:rPr lang="en-GB" sz="1600" b="1" dirty="0"/>
                        <a:t>Kraken2 / </a:t>
                      </a:r>
                      <a:r>
                        <a:rPr lang="en-GB" sz="1600" b="1" dirty="0" err="1"/>
                        <a:t>KrakenUniq</a:t>
                      </a:r>
                      <a:r>
                        <a:rPr lang="en-GB" sz="1600" dirty="0"/>
                        <a:t>: K-</a:t>
                      </a:r>
                      <a:r>
                        <a:rPr lang="en-GB" sz="1600" dirty="0" err="1"/>
                        <a:t>mer</a:t>
                      </a:r>
                      <a:r>
                        <a:rPr lang="en-GB" sz="1600" dirty="0"/>
                        <a:t> based, ultra-fast classification against a database of genomes.</a:t>
                      </a:r>
                    </a:p>
                    <a:p>
                      <a:r>
                        <a:rPr lang="en-GB" sz="1600" b="1" dirty="0"/>
                        <a:t>Centrifuge</a:t>
                      </a:r>
                      <a:r>
                        <a:rPr lang="en-GB" sz="1600" dirty="0"/>
                        <a:t>: K-</a:t>
                      </a:r>
                      <a:r>
                        <a:rPr lang="en-GB" sz="1600" dirty="0" err="1"/>
                        <a:t>mer</a:t>
                      </a:r>
                      <a:r>
                        <a:rPr lang="en-GB" sz="1600" dirty="0"/>
                        <a:t> based, designed for large reference databases and low-memory use.</a:t>
                      </a:r>
                    </a:p>
                    <a:p>
                      <a:r>
                        <a:rPr lang="en-GB" sz="1600" b="1" dirty="0" err="1"/>
                        <a:t>HUMAnN</a:t>
                      </a:r>
                      <a:r>
                        <a:rPr lang="en-GB" sz="1600" b="1" dirty="0"/>
                        <a:t> / HUMAnN3</a:t>
                      </a:r>
                      <a:r>
                        <a:rPr lang="en-GB" sz="1600" dirty="0"/>
                        <a:t>: Often used alongside MetaPhlAn for functional and taxonomic profiling.</a:t>
                      </a:r>
                    </a:p>
                    <a:p>
                      <a:r>
                        <a:rPr lang="en-GB" sz="1600" b="1" dirty="0" err="1"/>
                        <a:t>StrainPhlAn</a:t>
                      </a:r>
                      <a:r>
                        <a:rPr lang="en-GB" sz="1600" dirty="0"/>
                        <a:t>: Extension of MetaPhlAn for strain-level profiling.</a:t>
                      </a:r>
                    </a:p>
                  </a:txBody>
                  <a:tcPr/>
                </a:tc>
                <a:tc>
                  <a:txBody>
                    <a:bodyPr/>
                    <a:lstStyle/>
                    <a:p>
                      <a:r>
                        <a:rPr lang="en-GB" sz="1600" b="1" dirty="0" err="1"/>
                        <a:t>ChocoPhlAn</a:t>
                      </a:r>
                      <a:r>
                        <a:rPr lang="en-GB" sz="1600" dirty="0"/>
                        <a:t> (used by MetaPhlAn)</a:t>
                      </a:r>
                    </a:p>
                    <a:p>
                      <a:r>
                        <a:rPr lang="en-GB" sz="1600" b="1" dirty="0" err="1"/>
                        <a:t>RefSeq</a:t>
                      </a:r>
                      <a:r>
                        <a:rPr lang="en-GB" sz="1600" b="1" dirty="0"/>
                        <a:t> / GenBank</a:t>
                      </a:r>
                      <a:r>
                        <a:rPr lang="en-GB" sz="1600" dirty="0"/>
                        <a:t> (used by Kraken/Centrifuge)</a:t>
                      </a:r>
                    </a:p>
                    <a:p>
                      <a:r>
                        <a:rPr lang="en-GB" sz="1600" b="1" dirty="0"/>
                        <a:t>GTDB</a:t>
                      </a:r>
                      <a:r>
                        <a:rPr lang="en-GB" sz="16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90" y="-110519"/>
            <a:ext cx="11869618" cy="1325563"/>
          </a:xfrm>
        </p:spPr>
        <p:txBody>
          <a:bodyPr>
            <a:normAutofit/>
          </a:bodyPr>
          <a:lstStyle/>
          <a:p>
            <a:r>
              <a:rPr lang="en-DK" sz="4000" dirty="0"/>
              <a:t>Amplicon and read-based shotgun metagenomics tools</a:t>
            </a:r>
          </a:p>
        </p:txBody>
      </p:sp>
    </p:spTree>
    <p:extLst>
      <p:ext uri="{BB962C8B-B14F-4D97-AF65-F5344CB8AC3E}">
        <p14:creationId xmlns:p14="http://schemas.microsoft.com/office/powerpoint/2010/main" val="21308110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29</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8D4F2-5235-63E4-358C-9D41C22B750C}"/>
              </a:ext>
            </a:extLst>
          </p:cNvPr>
          <p:cNvSpPr>
            <a:spLocks noGrp="1"/>
          </p:cNvSpPr>
          <p:nvPr>
            <p:ph type="title"/>
          </p:nvPr>
        </p:nvSpPr>
        <p:spPr/>
        <p:txBody>
          <a:bodyPr/>
          <a:lstStyle/>
          <a:p>
            <a:r>
              <a:rPr lang="en-DK" dirty="0"/>
              <a:t>Examples of data analyses</a:t>
            </a:r>
          </a:p>
        </p:txBody>
      </p:sp>
      <p:sp>
        <p:nvSpPr>
          <p:cNvPr id="3" name="Content Placeholder 2">
            <a:extLst>
              <a:ext uri="{FF2B5EF4-FFF2-40B4-BE49-F238E27FC236}">
                <a16:creationId xmlns:a16="http://schemas.microsoft.com/office/drawing/2014/main" id="{056CE474-A0D5-F98C-8A30-DB0A062D7530}"/>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34120151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540328" y="-124691"/>
            <a:ext cx="11540836" cy="1325563"/>
          </a:xfrm>
        </p:spPr>
        <p:txBody>
          <a:bodyPr>
            <a:normAutofit/>
          </a:bodyPr>
          <a:lstStyle/>
          <a:p>
            <a:r>
              <a:rPr lang="en-DK" sz="3600" dirty="0"/>
              <a:t>Limitations and challenges of shotgun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838200" y="900544"/>
            <a:ext cx="10515600" cy="4835237"/>
          </a:xfrm>
        </p:spPr>
        <p:txBody>
          <a:bodyPr>
            <a:noAutofit/>
          </a:bodyPr>
          <a:lstStyle/>
          <a:p>
            <a:r>
              <a:rPr lang="en-GB" sz="1600" dirty="0"/>
              <a:t>Shotgun metagenomics have higher cost than 16S amplicon but you get higher taxonomical resolution and functional information</a:t>
            </a:r>
          </a:p>
          <a:p>
            <a:r>
              <a:rPr lang="en-GB" sz="1600" dirty="0"/>
              <a:t>Sampling biases can occur when collecting environmental samples which can also lead to misrepresentation of the microbial community</a:t>
            </a:r>
          </a:p>
          <a:p>
            <a:r>
              <a:rPr lang="en-GB" sz="1600" dirty="0"/>
              <a:t>It is also challenging to extract microbes DNA from low biomass samples - highly dependant on the sampling method and the its accuracy</a:t>
            </a:r>
          </a:p>
          <a:p>
            <a:r>
              <a:rPr lang="en-GB" sz="1600" dirty="0"/>
              <a:t>Microbial genomes available and deposited in reference databases are biased towards model organisms, pathogens and cultivable bacteria</a:t>
            </a:r>
          </a:p>
          <a:p>
            <a:r>
              <a:rPr lang="en-GB" sz="1600" dirty="0"/>
              <a:t>Metagenomic sequencing can detect the presence of microorganisms but cannot easily determine if they are pathogenic (do they have their toxins? Are they active?) </a:t>
            </a:r>
          </a:p>
          <a:p>
            <a:r>
              <a:rPr lang="en-GB" sz="1600" dirty="0"/>
              <a:t>Functional profiling is hindered by the lack of annotation for most genes</a:t>
            </a:r>
          </a:p>
          <a:p>
            <a:r>
              <a:rPr lang="en-GB" sz="1600" dirty="0"/>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r>
              <a:rPr lang="en-DK" sz="1600" dirty="0"/>
              <a:t>“Live or dead” dilemma – DNA persists in the environment after the death of the host cell, sequencing results may not be representative of the active microbial population</a:t>
            </a:r>
          </a:p>
          <a:p>
            <a:r>
              <a:rPr lang="en-DK" sz="1600" dirty="0"/>
              <a:t>Snapshot of the microbiome - many metagenomics studies are cross-sectional and can not assess intra- vs inter-subject variation – more longitudinal studies are needed</a:t>
            </a:r>
          </a:p>
          <a:p>
            <a:r>
              <a:rPr lang="en-DK" sz="1600" dirty="0"/>
              <a:t>Disentangling the cause from the effect – follow ups, longitudinal and preospective studies needed</a:t>
            </a:r>
          </a:p>
          <a:p>
            <a:r>
              <a:rPr lang="en-DK" sz="1600" dirty="0"/>
              <a:t>Metagenomics have not yet reached the level of standardization of other high-throughput techniques</a:t>
            </a:r>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52184</TotalTime>
  <Words>3832</Words>
  <Application>Microsoft Macintosh PowerPoint</Application>
  <PresentationFormat>Widescreen</PresentationFormat>
  <Paragraphs>641</Paragraphs>
  <Slides>39</Slides>
  <Notes>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39</vt:i4>
      </vt:variant>
    </vt:vector>
  </HeadingPairs>
  <TitlesOfParts>
    <vt:vector size="48" baseType="lpstr">
      <vt:lpstr>-apple-system</vt:lpstr>
      <vt:lpstr>Aptos</vt:lpstr>
      <vt:lpstr>Aptos Display</vt:lpstr>
      <vt:lpstr>Arial</vt:lpstr>
      <vt:lpstr>Calibri</vt:lpstr>
      <vt:lpstr>Source Sans Pro</vt:lpstr>
      <vt:lpstr>system-ui</vt:lpstr>
      <vt:lpstr>Wingdings</vt:lpstr>
      <vt:lpstr>Office Theme</vt:lpstr>
      <vt:lpstr>Introduction to Metagenomics</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as experimental cure for Clostridioides difficile</vt:lpstr>
      <vt:lpstr>PowerPoint Presentation</vt:lpstr>
      <vt:lpstr>Resident gut bacteria can affect patient responses to cancer immunotherapy</vt:lpstr>
      <vt:lpstr>A genomic catalog of Earth’s microbiome</vt:lpstr>
      <vt:lpstr>The global resistome based on sewage-based monitoring</vt:lpstr>
      <vt:lpstr>Microbial community at the Deepwater Horizon oil spill site</vt:lpstr>
      <vt:lpstr>Global ocean microbiome (Tara oceans)</vt:lpstr>
      <vt:lpstr>Microbiome definition</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Profiling microbial communities 16S amplicon sequencing (16S rRNA sequencing)</vt:lpstr>
      <vt:lpstr>16S amplicon sequencing</vt:lpstr>
      <vt:lpstr>16S amplicon sequencing</vt:lpstr>
      <vt:lpstr>Reference-based methods</vt:lpstr>
      <vt:lpstr>Amplicon and read-based shotgun metagenomics tools</vt:lpstr>
      <vt:lpstr>Metagenome-assembled genomes (MAG)</vt:lpstr>
      <vt:lpstr>MAG construction tools</vt:lpstr>
      <vt:lpstr>Functional annotation from the gene catalog</vt:lpstr>
      <vt:lpstr>Functional annotation from the gene catalog</vt:lpstr>
      <vt:lpstr>Sumary table</vt:lpstr>
      <vt:lpstr>Microbiome data</vt:lpstr>
      <vt:lpstr>Microbiome data</vt:lpstr>
      <vt:lpstr>Compositional data</vt:lpstr>
      <vt:lpstr>Ideal scenario: absolute abundances</vt:lpstr>
      <vt:lpstr>Diversity measures: Alpha diversity</vt:lpstr>
      <vt:lpstr>Diversity measures: Beta diversity</vt:lpstr>
      <vt:lpstr>Examples of data analyses</vt:lpstr>
      <vt:lpstr>Limitations and challenges of shotgun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38</cp:revision>
  <dcterms:created xsi:type="dcterms:W3CDTF">2025-04-12T18:46:44Z</dcterms:created>
  <dcterms:modified xsi:type="dcterms:W3CDTF">2025-06-01T07:48:56Z</dcterms:modified>
</cp:coreProperties>
</file>