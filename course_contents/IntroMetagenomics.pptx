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71" r:id="rId3"/>
    <p:sldId id="273" r:id="rId4"/>
    <p:sldId id="274" r:id="rId5"/>
    <p:sldId id="275" r:id="rId6"/>
    <p:sldId id="276" r:id="rId7"/>
    <p:sldId id="277" r:id="rId8"/>
    <p:sldId id="272" r:id="rId9"/>
    <p:sldId id="279" r:id="rId10"/>
    <p:sldId id="281" r:id="rId11"/>
    <p:sldId id="257" r:id="rId12"/>
    <p:sldId id="258" r:id="rId13"/>
    <p:sldId id="259" r:id="rId14"/>
    <p:sldId id="267" r:id="rId15"/>
    <p:sldId id="282" r:id="rId16"/>
    <p:sldId id="269" r:id="rId17"/>
    <p:sldId id="270" r:id="rId18"/>
    <p:sldId id="280" r:id="rId19"/>
    <p:sldId id="264" r:id="rId20"/>
    <p:sldId id="265" r:id="rId21"/>
    <p:sldId id="285" r:id="rId22"/>
    <p:sldId id="262" r:id="rId23"/>
    <p:sldId id="263" r:id="rId24"/>
    <p:sldId id="284" r:id="rId25"/>
    <p:sldId id="283" r:id="rId26"/>
    <p:sldId id="278" r:id="rId27"/>
    <p:sldId id="288" r:id="rId28"/>
    <p:sldId id="286" r:id="rId29"/>
    <p:sldId id="261" r:id="rId30"/>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497"/>
    <p:restoredTop sz="94658"/>
  </p:normalViewPr>
  <p:slideViewPr>
    <p:cSldViewPr snapToGrid="0">
      <p:cViewPr varScale="1">
        <p:scale>
          <a:sx n="93" d="100"/>
          <a:sy n="93" d="100"/>
        </p:scale>
        <p:origin x="248" y="7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C1A0C2-F72A-4791-8A2F-1FAC90C24D12}" type="doc">
      <dgm:prSet loTypeId="urn:microsoft.com/office/officeart/2016/7/layout/VerticalDownArrowProcess" loCatId="process" qsTypeId="urn:microsoft.com/office/officeart/2005/8/quickstyle/simple5" qsCatId="simple" csTypeId="urn:microsoft.com/office/officeart/2005/8/colors/colorful2" csCatId="colorful" phldr="1"/>
      <dgm:spPr/>
      <dgm:t>
        <a:bodyPr/>
        <a:lstStyle/>
        <a:p>
          <a:endParaRPr lang="en-US"/>
        </a:p>
      </dgm:t>
    </dgm:pt>
    <dgm:pt modelId="{1FAEABA9-9CB0-47C2-AFC0-DD469FB9F5A9}">
      <dgm:prSet/>
      <dgm:spPr/>
      <dgm:t>
        <a:bodyPr/>
        <a:lstStyle/>
        <a:p>
          <a:r>
            <a:rPr lang="en-DK"/>
            <a:t>Who is in the samples?</a:t>
          </a:r>
          <a:endParaRPr lang="en-US"/>
        </a:p>
      </dgm:t>
    </dgm:pt>
    <dgm:pt modelId="{15BE7340-7176-437F-BCB3-2824005D5BC1}" type="parTrans" cxnId="{7DD2F9E7-3896-4510-BC80-B8B300732E4E}">
      <dgm:prSet/>
      <dgm:spPr/>
      <dgm:t>
        <a:bodyPr/>
        <a:lstStyle/>
        <a:p>
          <a:endParaRPr lang="en-US"/>
        </a:p>
      </dgm:t>
    </dgm:pt>
    <dgm:pt modelId="{3975B443-F06F-4209-8EB2-500EFE0FF7BA}" type="sibTrans" cxnId="{7DD2F9E7-3896-4510-BC80-B8B300732E4E}">
      <dgm:prSet/>
      <dgm:spPr/>
      <dgm:t>
        <a:bodyPr/>
        <a:lstStyle/>
        <a:p>
          <a:endParaRPr lang="en-US"/>
        </a:p>
      </dgm:t>
    </dgm:pt>
    <dgm:pt modelId="{983D7529-D97F-456A-A2D9-22B7F2DC7AC5}">
      <dgm:prSet custT="1"/>
      <dgm:spPr/>
      <dgm:t>
        <a:bodyPr/>
        <a:lstStyle/>
        <a:p>
          <a:pPr>
            <a:buFont typeface="Arial" panose="020B0604020202020204" pitchFamily="34" charset="0"/>
            <a:buChar char="•"/>
          </a:pPr>
          <a:r>
            <a:rPr lang="en-DK" sz="1600" dirty="0"/>
            <a:t>What is the relative proportion of the different members</a:t>
          </a:r>
          <a:endParaRPr lang="en-US" sz="1600" dirty="0"/>
        </a:p>
      </dgm:t>
    </dgm:pt>
    <dgm:pt modelId="{ED2BC299-2FFF-4A8A-8EF0-F6F46F5BBCAD}" type="parTrans" cxnId="{8E3C85D7-1019-4BCB-B70F-CC0D4B30AB91}">
      <dgm:prSet/>
      <dgm:spPr/>
      <dgm:t>
        <a:bodyPr/>
        <a:lstStyle/>
        <a:p>
          <a:endParaRPr lang="en-US"/>
        </a:p>
      </dgm:t>
    </dgm:pt>
    <dgm:pt modelId="{CFA72191-0730-4FC8-AB81-1E672D194443}" type="sibTrans" cxnId="{8E3C85D7-1019-4BCB-B70F-CC0D4B30AB91}">
      <dgm:prSet/>
      <dgm:spPr/>
      <dgm:t>
        <a:bodyPr/>
        <a:lstStyle/>
        <a:p>
          <a:endParaRPr lang="en-US"/>
        </a:p>
      </dgm:t>
    </dgm:pt>
    <dgm:pt modelId="{95D1B40B-7D99-4F85-A058-8F0BC05E6222}">
      <dgm:prSet custT="1"/>
      <dgm:spPr/>
      <dgm:t>
        <a:bodyPr/>
        <a:lstStyle/>
        <a:p>
          <a:pPr>
            <a:buFont typeface="Arial" panose="020B0604020202020204" pitchFamily="34" charset="0"/>
            <a:buNone/>
          </a:pPr>
          <a:r>
            <a:rPr lang="en-DK" sz="1600"/>
            <a:t>What is the toal abundace (number of cells) (by absolute abundace)</a:t>
          </a:r>
          <a:endParaRPr lang="en-US" sz="1600"/>
        </a:p>
      </dgm:t>
    </dgm:pt>
    <dgm:pt modelId="{43C1D882-F45D-4AFC-B9DC-8B4EDF4B140B}" type="parTrans" cxnId="{AC61D38A-2C6E-4E6C-8142-780CA1A88220}">
      <dgm:prSet/>
      <dgm:spPr/>
      <dgm:t>
        <a:bodyPr/>
        <a:lstStyle/>
        <a:p>
          <a:endParaRPr lang="en-US"/>
        </a:p>
      </dgm:t>
    </dgm:pt>
    <dgm:pt modelId="{5344D2E8-27A7-47EB-8092-EB43F4EBFD25}" type="sibTrans" cxnId="{AC61D38A-2C6E-4E6C-8142-780CA1A88220}">
      <dgm:prSet/>
      <dgm:spPr/>
      <dgm:t>
        <a:bodyPr/>
        <a:lstStyle/>
        <a:p>
          <a:endParaRPr lang="en-US"/>
        </a:p>
      </dgm:t>
    </dgm:pt>
    <dgm:pt modelId="{BA4598E6-6F26-4338-B43A-FB390AB08F05}">
      <dgm:prSet custT="1"/>
      <dgm:spPr/>
      <dgm:t>
        <a:bodyPr/>
        <a:lstStyle/>
        <a:p>
          <a:pPr>
            <a:buFont typeface="Arial" panose="020B0604020202020204" pitchFamily="34" charset="0"/>
            <a:buNone/>
          </a:pPr>
          <a:r>
            <a:rPr lang="en-DK" sz="1600"/>
            <a:t>How abundant are bacteria, archaea, protozo, virus,…</a:t>
          </a:r>
          <a:endParaRPr lang="en-US" sz="1600"/>
        </a:p>
      </dgm:t>
    </dgm:pt>
    <dgm:pt modelId="{489B905A-1624-4E8B-8F09-8C3962FFFF40}" type="parTrans" cxnId="{DB034B5D-39AB-4AB4-8ED3-5C6B40683B28}">
      <dgm:prSet/>
      <dgm:spPr/>
      <dgm:t>
        <a:bodyPr/>
        <a:lstStyle/>
        <a:p>
          <a:endParaRPr lang="en-US"/>
        </a:p>
      </dgm:t>
    </dgm:pt>
    <dgm:pt modelId="{61D5A9C5-B610-41D4-A270-27808340986A}" type="sibTrans" cxnId="{DB034B5D-39AB-4AB4-8ED3-5C6B40683B28}">
      <dgm:prSet/>
      <dgm:spPr/>
      <dgm:t>
        <a:bodyPr/>
        <a:lstStyle/>
        <a:p>
          <a:endParaRPr lang="en-US"/>
        </a:p>
      </dgm:t>
    </dgm:pt>
    <dgm:pt modelId="{E3A3FE97-F636-40B9-847F-6F155CB6E442}">
      <dgm:prSet custT="1"/>
      <dgm:spPr/>
      <dgm:t>
        <a:bodyPr/>
        <a:lstStyle/>
        <a:p>
          <a:pPr>
            <a:buFont typeface="Arial" panose="020B0604020202020204" pitchFamily="34" charset="0"/>
            <a:buNone/>
          </a:pPr>
          <a:r>
            <a:rPr lang="en-DK" sz="1600"/>
            <a:t>How diverse is the microbial community</a:t>
          </a:r>
          <a:endParaRPr lang="en-US" sz="1600"/>
        </a:p>
      </dgm:t>
    </dgm:pt>
    <dgm:pt modelId="{E931D86A-15E2-4799-B917-C7B98952ACDE}" type="parTrans" cxnId="{607DBF3E-808D-4B0D-A4D3-1C03D933CDD6}">
      <dgm:prSet/>
      <dgm:spPr/>
      <dgm:t>
        <a:bodyPr/>
        <a:lstStyle/>
        <a:p>
          <a:endParaRPr lang="en-US"/>
        </a:p>
      </dgm:t>
    </dgm:pt>
    <dgm:pt modelId="{EC5A6174-834C-40AF-8235-5AC67585320F}" type="sibTrans" cxnId="{607DBF3E-808D-4B0D-A4D3-1C03D933CDD6}">
      <dgm:prSet/>
      <dgm:spPr/>
      <dgm:t>
        <a:bodyPr/>
        <a:lstStyle/>
        <a:p>
          <a:endParaRPr lang="en-US"/>
        </a:p>
      </dgm:t>
    </dgm:pt>
    <dgm:pt modelId="{A1395E35-9B34-4E20-8D40-6EFCEB101DEC}">
      <dgm:prSet custT="1"/>
      <dgm:spPr/>
      <dgm:t>
        <a:bodyPr/>
        <a:lstStyle/>
        <a:p>
          <a:pPr>
            <a:buFont typeface="Arial" panose="020B0604020202020204" pitchFamily="34" charset="0"/>
            <a:buNone/>
          </a:pPr>
          <a:r>
            <a:rPr lang="en-DK" sz="1600" dirty="0"/>
            <a:t>How evenly distributed is it?</a:t>
          </a:r>
          <a:endParaRPr lang="en-US" sz="1600" dirty="0"/>
        </a:p>
      </dgm:t>
    </dgm:pt>
    <dgm:pt modelId="{84D06B47-DC89-4610-8639-8DAA4E5ADD26}" type="parTrans" cxnId="{BFB21192-CC2F-44A4-B1B3-9064D91F606E}">
      <dgm:prSet/>
      <dgm:spPr/>
      <dgm:t>
        <a:bodyPr/>
        <a:lstStyle/>
        <a:p>
          <a:endParaRPr lang="en-US"/>
        </a:p>
      </dgm:t>
    </dgm:pt>
    <dgm:pt modelId="{106EDDC3-9964-4FDC-9612-11100A4C4C34}" type="sibTrans" cxnId="{BFB21192-CC2F-44A4-B1B3-9064D91F606E}">
      <dgm:prSet/>
      <dgm:spPr/>
      <dgm:t>
        <a:bodyPr/>
        <a:lstStyle/>
        <a:p>
          <a:endParaRPr lang="en-US"/>
        </a:p>
      </dgm:t>
    </dgm:pt>
    <dgm:pt modelId="{3795CB3D-EED0-4174-9802-021B51EB6C05}">
      <dgm:prSet/>
      <dgm:spPr/>
      <dgm:t>
        <a:bodyPr/>
        <a:lstStyle/>
        <a:p>
          <a:r>
            <a:rPr lang="en-DK"/>
            <a:t>What are these organisms doing?</a:t>
          </a:r>
          <a:endParaRPr lang="en-US"/>
        </a:p>
      </dgm:t>
    </dgm:pt>
    <dgm:pt modelId="{8757FDD7-DCBB-4AED-8980-85932D501EAF}" type="parTrans" cxnId="{473A3DC0-4593-4B48-A281-30361941A67C}">
      <dgm:prSet/>
      <dgm:spPr/>
      <dgm:t>
        <a:bodyPr/>
        <a:lstStyle/>
        <a:p>
          <a:endParaRPr lang="en-US"/>
        </a:p>
      </dgm:t>
    </dgm:pt>
    <dgm:pt modelId="{073A3C1C-B64E-42DD-8E01-F7106100F34A}" type="sibTrans" cxnId="{473A3DC0-4593-4B48-A281-30361941A67C}">
      <dgm:prSet/>
      <dgm:spPr/>
      <dgm:t>
        <a:bodyPr/>
        <a:lstStyle/>
        <a:p>
          <a:endParaRPr lang="en-US"/>
        </a:p>
      </dgm:t>
    </dgm:pt>
    <dgm:pt modelId="{D262F0D7-89F6-48B8-B717-6C16B898EC42}">
      <dgm:prSet custT="1"/>
      <dgm:spPr/>
      <dgm:t>
        <a:bodyPr/>
        <a:lstStyle/>
        <a:p>
          <a:r>
            <a:rPr lang="en-DK" sz="1600" dirty="0"/>
            <a:t>What functions potentially do they perform </a:t>
          </a:r>
          <a:endParaRPr lang="en-US" sz="1600" dirty="0"/>
        </a:p>
      </dgm:t>
    </dgm:pt>
    <dgm:pt modelId="{9F46D7AE-B7F6-4146-BFEB-CB12D542B781}" type="parTrans" cxnId="{01F67E76-46FE-4586-A701-A09A03738ED7}">
      <dgm:prSet/>
      <dgm:spPr/>
      <dgm:t>
        <a:bodyPr/>
        <a:lstStyle/>
        <a:p>
          <a:endParaRPr lang="en-US"/>
        </a:p>
      </dgm:t>
    </dgm:pt>
    <dgm:pt modelId="{AE86FEAE-3410-4438-8C0E-493B030FBCEA}" type="sibTrans" cxnId="{01F67E76-46FE-4586-A701-A09A03738ED7}">
      <dgm:prSet/>
      <dgm:spPr/>
      <dgm:t>
        <a:bodyPr/>
        <a:lstStyle/>
        <a:p>
          <a:endParaRPr lang="en-US"/>
        </a:p>
      </dgm:t>
    </dgm:pt>
    <dgm:pt modelId="{A217D896-37B0-45EE-9ACB-1B8783AFD582}">
      <dgm:prSet custT="1"/>
      <dgm:spPr/>
      <dgm:t>
        <a:bodyPr/>
        <a:lstStyle/>
        <a:p>
          <a:r>
            <a:rPr lang="en-DK" sz="1600" dirty="0"/>
            <a:t>What substrates they consume?</a:t>
          </a:r>
          <a:endParaRPr lang="en-US" sz="1600" dirty="0"/>
        </a:p>
      </dgm:t>
    </dgm:pt>
    <dgm:pt modelId="{EEC1CF6F-0D73-44C2-AA32-1B2466DB547B}" type="parTrans" cxnId="{4B7C626E-0857-41E0-96CE-B0DDC9485099}">
      <dgm:prSet/>
      <dgm:spPr/>
      <dgm:t>
        <a:bodyPr/>
        <a:lstStyle/>
        <a:p>
          <a:endParaRPr lang="en-US"/>
        </a:p>
      </dgm:t>
    </dgm:pt>
    <dgm:pt modelId="{DCED2500-90D6-4DDD-BB76-DD85A5BC0D85}" type="sibTrans" cxnId="{4B7C626E-0857-41E0-96CE-B0DDC9485099}">
      <dgm:prSet/>
      <dgm:spPr/>
      <dgm:t>
        <a:bodyPr/>
        <a:lstStyle/>
        <a:p>
          <a:endParaRPr lang="en-US"/>
        </a:p>
      </dgm:t>
    </dgm:pt>
    <dgm:pt modelId="{A2ADD0CB-A8F1-481D-B9D2-58DF1CE91B39}">
      <dgm:prSet custT="1"/>
      <dgm:spPr/>
      <dgm:t>
        <a:bodyPr/>
        <a:lstStyle/>
        <a:p>
          <a:r>
            <a:rPr lang="en-DK" sz="1600" dirty="0"/>
            <a:t>What metabolites they produce?</a:t>
          </a:r>
          <a:endParaRPr lang="en-US" sz="1600" dirty="0"/>
        </a:p>
      </dgm:t>
    </dgm:pt>
    <dgm:pt modelId="{917051FD-618E-43AC-A535-7363B7031E23}" type="parTrans" cxnId="{0B41A8EA-2525-48F1-8FDB-44A90AB178B7}">
      <dgm:prSet/>
      <dgm:spPr/>
      <dgm:t>
        <a:bodyPr/>
        <a:lstStyle/>
        <a:p>
          <a:endParaRPr lang="en-US"/>
        </a:p>
      </dgm:t>
    </dgm:pt>
    <dgm:pt modelId="{0BA95E5E-9F6F-4512-AC5E-8E713A6B0A9A}" type="sibTrans" cxnId="{0B41A8EA-2525-48F1-8FDB-44A90AB178B7}">
      <dgm:prSet/>
      <dgm:spPr/>
      <dgm:t>
        <a:bodyPr/>
        <a:lstStyle/>
        <a:p>
          <a:endParaRPr lang="en-US"/>
        </a:p>
      </dgm:t>
    </dgm:pt>
    <dgm:pt modelId="{FC4DAE19-4537-40BB-9D39-9A341C5E2F83}">
      <dgm:prSet/>
      <dgm:spPr/>
      <dgm:t>
        <a:bodyPr/>
        <a:lstStyle/>
        <a:p>
          <a:r>
            <a:rPr lang="en-DK"/>
            <a:t>How do they perform their activities?</a:t>
          </a:r>
          <a:endParaRPr lang="en-US"/>
        </a:p>
      </dgm:t>
    </dgm:pt>
    <dgm:pt modelId="{EF824A53-765A-4FE2-BBAD-6EA72315803D}" type="parTrans" cxnId="{80A79511-80CE-4F7C-9096-F37DEE0DF2F8}">
      <dgm:prSet/>
      <dgm:spPr/>
      <dgm:t>
        <a:bodyPr/>
        <a:lstStyle/>
        <a:p>
          <a:endParaRPr lang="en-US"/>
        </a:p>
      </dgm:t>
    </dgm:pt>
    <dgm:pt modelId="{969F6927-568A-46D5-9728-E843163BAAA4}" type="sibTrans" cxnId="{80A79511-80CE-4F7C-9096-F37DEE0DF2F8}">
      <dgm:prSet/>
      <dgm:spPr/>
      <dgm:t>
        <a:bodyPr/>
        <a:lstStyle/>
        <a:p>
          <a:endParaRPr lang="en-US"/>
        </a:p>
      </dgm:t>
    </dgm:pt>
    <dgm:pt modelId="{EEFD09AB-6C54-476E-8909-698397A00A29}">
      <dgm:prSet custT="1"/>
      <dgm:spPr/>
      <dgm:t>
        <a:bodyPr/>
        <a:lstStyle/>
        <a:p>
          <a:r>
            <a:rPr lang="en-DK" sz="1600" dirty="0"/>
            <a:t>Which genes and/or pathways are present?z</a:t>
          </a:r>
          <a:endParaRPr lang="en-US" sz="1600" dirty="0"/>
        </a:p>
      </dgm:t>
    </dgm:pt>
    <dgm:pt modelId="{CD9E3175-4770-4681-BDCF-96BA015B1386}" type="parTrans" cxnId="{931BCDB7-A24E-43CF-8D97-29292CD75A69}">
      <dgm:prSet/>
      <dgm:spPr/>
      <dgm:t>
        <a:bodyPr/>
        <a:lstStyle/>
        <a:p>
          <a:endParaRPr lang="en-US"/>
        </a:p>
      </dgm:t>
    </dgm:pt>
    <dgm:pt modelId="{CB5DE36C-F8EB-4F53-BA54-345C7F8AE731}" type="sibTrans" cxnId="{931BCDB7-A24E-43CF-8D97-29292CD75A69}">
      <dgm:prSet/>
      <dgm:spPr/>
      <dgm:t>
        <a:bodyPr/>
        <a:lstStyle/>
        <a:p>
          <a:endParaRPr lang="en-US"/>
        </a:p>
      </dgm:t>
    </dgm:pt>
    <dgm:pt modelId="{34AA6C30-A1EC-C94B-8426-CE3DBC37A0AB}" type="pres">
      <dgm:prSet presAssocID="{8CC1A0C2-F72A-4791-8A2F-1FAC90C24D12}" presName="Name0" presStyleCnt="0">
        <dgm:presLayoutVars>
          <dgm:dir/>
          <dgm:animLvl val="lvl"/>
          <dgm:resizeHandles val="exact"/>
        </dgm:presLayoutVars>
      </dgm:prSet>
      <dgm:spPr/>
    </dgm:pt>
    <dgm:pt modelId="{967925EF-A0E4-BF4D-9618-4882CAB00907}" type="pres">
      <dgm:prSet presAssocID="{FC4DAE19-4537-40BB-9D39-9A341C5E2F83}" presName="boxAndChildren" presStyleCnt="0"/>
      <dgm:spPr/>
    </dgm:pt>
    <dgm:pt modelId="{1CABDDCF-600E-F64D-9FE8-51C059221E31}" type="pres">
      <dgm:prSet presAssocID="{FC4DAE19-4537-40BB-9D39-9A341C5E2F83}" presName="parentTextBox" presStyleLbl="alignNode1" presStyleIdx="0" presStyleCnt="3"/>
      <dgm:spPr/>
    </dgm:pt>
    <dgm:pt modelId="{4448FB35-B32F-0446-BAC8-F42CFC40B710}" type="pres">
      <dgm:prSet presAssocID="{FC4DAE19-4537-40BB-9D39-9A341C5E2F83}" presName="descendantBox" presStyleLbl="bgAccFollowNode1" presStyleIdx="0" presStyleCnt="3"/>
      <dgm:spPr/>
    </dgm:pt>
    <dgm:pt modelId="{6B4EF679-E713-4348-BFCC-F4D6BDCC87E5}" type="pres">
      <dgm:prSet presAssocID="{073A3C1C-B64E-42DD-8E01-F7106100F34A}" presName="sp" presStyleCnt="0"/>
      <dgm:spPr/>
    </dgm:pt>
    <dgm:pt modelId="{EB2E621F-42AA-BD42-8093-2750535CF277}" type="pres">
      <dgm:prSet presAssocID="{3795CB3D-EED0-4174-9802-021B51EB6C05}" presName="arrowAndChildren" presStyleCnt="0"/>
      <dgm:spPr/>
    </dgm:pt>
    <dgm:pt modelId="{6D2A7753-A147-A54D-B180-5D044F2BFA1C}" type="pres">
      <dgm:prSet presAssocID="{3795CB3D-EED0-4174-9802-021B51EB6C05}" presName="parentTextArrow" presStyleLbl="node1" presStyleIdx="0" presStyleCnt="0"/>
      <dgm:spPr/>
    </dgm:pt>
    <dgm:pt modelId="{98124513-59BF-5340-8A3D-8381895C49FB}" type="pres">
      <dgm:prSet presAssocID="{3795CB3D-EED0-4174-9802-021B51EB6C05}" presName="arrow" presStyleLbl="alignNode1" presStyleIdx="1" presStyleCnt="3"/>
      <dgm:spPr/>
    </dgm:pt>
    <dgm:pt modelId="{57BEB718-1341-3447-9064-890F87069466}" type="pres">
      <dgm:prSet presAssocID="{3795CB3D-EED0-4174-9802-021B51EB6C05}" presName="descendantArrow" presStyleLbl="bgAccFollowNode1" presStyleIdx="1" presStyleCnt="3"/>
      <dgm:spPr/>
    </dgm:pt>
    <dgm:pt modelId="{B76F1D80-B997-6748-8A77-EE6B1BA0EC37}" type="pres">
      <dgm:prSet presAssocID="{3975B443-F06F-4209-8EB2-500EFE0FF7BA}" presName="sp" presStyleCnt="0"/>
      <dgm:spPr/>
    </dgm:pt>
    <dgm:pt modelId="{FDD4CAF4-57A2-CF4D-BFA3-9A6E111E328E}" type="pres">
      <dgm:prSet presAssocID="{1FAEABA9-9CB0-47C2-AFC0-DD469FB9F5A9}" presName="arrowAndChildren" presStyleCnt="0"/>
      <dgm:spPr/>
    </dgm:pt>
    <dgm:pt modelId="{E44A02AB-9A62-D349-8C07-632D0442D40C}" type="pres">
      <dgm:prSet presAssocID="{1FAEABA9-9CB0-47C2-AFC0-DD469FB9F5A9}" presName="parentTextArrow" presStyleLbl="node1" presStyleIdx="0" presStyleCnt="0"/>
      <dgm:spPr/>
    </dgm:pt>
    <dgm:pt modelId="{D398163D-00CC-0E48-98F0-5A74906FC835}" type="pres">
      <dgm:prSet presAssocID="{1FAEABA9-9CB0-47C2-AFC0-DD469FB9F5A9}" presName="arrow" presStyleLbl="alignNode1" presStyleIdx="2" presStyleCnt="3" custScaleY="131798"/>
      <dgm:spPr/>
    </dgm:pt>
    <dgm:pt modelId="{B71D9932-F7D9-BE46-89F6-303D2A0D8F84}" type="pres">
      <dgm:prSet presAssocID="{1FAEABA9-9CB0-47C2-AFC0-DD469FB9F5A9}" presName="descendantArrow" presStyleLbl="bgAccFollowNode1" presStyleIdx="2" presStyleCnt="3" custScaleY="143942"/>
      <dgm:spPr/>
    </dgm:pt>
  </dgm:ptLst>
  <dgm:cxnLst>
    <dgm:cxn modelId="{93909310-144E-E34C-9F09-5CAD96C5ED6A}" type="presOf" srcId="{D262F0D7-89F6-48B8-B717-6C16B898EC42}" destId="{57BEB718-1341-3447-9064-890F87069466}" srcOrd="0" destOrd="0" presId="urn:microsoft.com/office/officeart/2016/7/layout/VerticalDownArrowProcess"/>
    <dgm:cxn modelId="{80A79511-80CE-4F7C-9096-F37DEE0DF2F8}" srcId="{8CC1A0C2-F72A-4791-8A2F-1FAC90C24D12}" destId="{FC4DAE19-4537-40BB-9D39-9A341C5E2F83}" srcOrd="2" destOrd="0" parTransId="{EF824A53-765A-4FE2-BBAD-6EA72315803D}" sibTransId="{969F6927-568A-46D5-9728-E843163BAAA4}"/>
    <dgm:cxn modelId="{A55B362E-5886-D449-A7E5-2E29FDBE96FA}" type="presOf" srcId="{8CC1A0C2-F72A-4791-8A2F-1FAC90C24D12}" destId="{34AA6C30-A1EC-C94B-8426-CE3DBC37A0AB}" srcOrd="0" destOrd="0" presId="urn:microsoft.com/office/officeart/2016/7/layout/VerticalDownArrowProcess"/>
    <dgm:cxn modelId="{495D9934-3403-DC40-92E5-2729BFB48254}" type="presOf" srcId="{A1395E35-9B34-4E20-8D40-6EFCEB101DEC}" destId="{B71D9932-F7D9-BE46-89F6-303D2A0D8F84}" srcOrd="0" destOrd="4" presId="urn:microsoft.com/office/officeart/2016/7/layout/VerticalDownArrowProcess"/>
    <dgm:cxn modelId="{AA356C39-A2C3-FC45-B70F-5243CF69988D}" type="presOf" srcId="{3795CB3D-EED0-4174-9802-021B51EB6C05}" destId="{6D2A7753-A147-A54D-B180-5D044F2BFA1C}" srcOrd="0" destOrd="0" presId="urn:microsoft.com/office/officeart/2016/7/layout/VerticalDownArrowProcess"/>
    <dgm:cxn modelId="{607DBF3E-808D-4B0D-A4D3-1C03D933CDD6}" srcId="{1FAEABA9-9CB0-47C2-AFC0-DD469FB9F5A9}" destId="{E3A3FE97-F636-40B9-847F-6F155CB6E442}" srcOrd="3" destOrd="0" parTransId="{E931D86A-15E2-4799-B917-C7B98952ACDE}" sibTransId="{EC5A6174-834C-40AF-8235-5AC67585320F}"/>
    <dgm:cxn modelId="{F8F22458-88B9-8C43-8D2C-261AB5B018B9}" type="presOf" srcId="{3795CB3D-EED0-4174-9802-021B51EB6C05}" destId="{98124513-59BF-5340-8A3D-8381895C49FB}" srcOrd="1" destOrd="0" presId="urn:microsoft.com/office/officeart/2016/7/layout/VerticalDownArrowProcess"/>
    <dgm:cxn modelId="{DB034B5D-39AB-4AB4-8ED3-5C6B40683B28}" srcId="{1FAEABA9-9CB0-47C2-AFC0-DD469FB9F5A9}" destId="{BA4598E6-6F26-4338-B43A-FB390AB08F05}" srcOrd="2" destOrd="0" parTransId="{489B905A-1624-4E8B-8F09-8C3962FFFF40}" sibTransId="{61D5A9C5-B610-41D4-A270-27808340986A}"/>
    <dgm:cxn modelId="{182CAF69-E16F-6B4C-90ED-CE155B568673}" type="presOf" srcId="{983D7529-D97F-456A-A2D9-22B7F2DC7AC5}" destId="{B71D9932-F7D9-BE46-89F6-303D2A0D8F84}" srcOrd="0" destOrd="0" presId="urn:microsoft.com/office/officeart/2016/7/layout/VerticalDownArrowProcess"/>
    <dgm:cxn modelId="{4B7C626E-0857-41E0-96CE-B0DDC9485099}" srcId="{3795CB3D-EED0-4174-9802-021B51EB6C05}" destId="{A217D896-37B0-45EE-9ACB-1B8783AFD582}" srcOrd="1" destOrd="0" parTransId="{EEC1CF6F-0D73-44C2-AA32-1B2466DB547B}" sibTransId="{DCED2500-90D6-4DDD-BB76-DD85A5BC0D85}"/>
    <dgm:cxn modelId="{01F67E76-46FE-4586-A701-A09A03738ED7}" srcId="{3795CB3D-EED0-4174-9802-021B51EB6C05}" destId="{D262F0D7-89F6-48B8-B717-6C16B898EC42}" srcOrd="0" destOrd="0" parTransId="{9F46D7AE-B7F6-4146-BFEB-CB12D542B781}" sibTransId="{AE86FEAE-3410-4438-8C0E-493B030FBCEA}"/>
    <dgm:cxn modelId="{AC61D38A-2C6E-4E6C-8142-780CA1A88220}" srcId="{1FAEABA9-9CB0-47C2-AFC0-DD469FB9F5A9}" destId="{95D1B40B-7D99-4F85-A058-8F0BC05E6222}" srcOrd="1" destOrd="0" parTransId="{43C1D882-F45D-4AFC-B9DC-8B4EDF4B140B}" sibTransId="{5344D2E8-27A7-47EB-8092-EB43F4EBFD25}"/>
    <dgm:cxn modelId="{BFB21192-CC2F-44A4-B1B3-9064D91F606E}" srcId="{1FAEABA9-9CB0-47C2-AFC0-DD469FB9F5A9}" destId="{A1395E35-9B34-4E20-8D40-6EFCEB101DEC}" srcOrd="4" destOrd="0" parTransId="{84D06B47-DC89-4610-8639-8DAA4E5ADD26}" sibTransId="{106EDDC3-9964-4FDC-9612-11100A4C4C34}"/>
    <dgm:cxn modelId="{26C8C493-4732-6F4D-9047-73031A62005B}" type="presOf" srcId="{EEFD09AB-6C54-476E-8909-698397A00A29}" destId="{4448FB35-B32F-0446-BAC8-F42CFC40B710}" srcOrd="0" destOrd="0" presId="urn:microsoft.com/office/officeart/2016/7/layout/VerticalDownArrowProcess"/>
    <dgm:cxn modelId="{22599599-B8DC-2C4E-BF56-5EDE679A307D}" type="presOf" srcId="{BA4598E6-6F26-4338-B43A-FB390AB08F05}" destId="{B71D9932-F7D9-BE46-89F6-303D2A0D8F84}" srcOrd="0" destOrd="2" presId="urn:microsoft.com/office/officeart/2016/7/layout/VerticalDownArrowProcess"/>
    <dgm:cxn modelId="{F6F3F3B4-0763-5A4B-B1CE-66D4F6823765}" type="presOf" srcId="{A2ADD0CB-A8F1-481D-B9D2-58DF1CE91B39}" destId="{57BEB718-1341-3447-9064-890F87069466}" srcOrd="0" destOrd="2" presId="urn:microsoft.com/office/officeart/2016/7/layout/VerticalDownArrowProcess"/>
    <dgm:cxn modelId="{18C1ACB6-2EF9-1049-A4D0-C64279420923}" type="presOf" srcId="{A217D896-37B0-45EE-9ACB-1B8783AFD582}" destId="{57BEB718-1341-3447-9064-890F87069466}" srcOrd="0" destOrd="1" presId="urn:microsoft.com/office/officeart/2016/7/layout/VerticalDownArrowProcess"/>
    <dgm:cxn modelId="{931BCDB7-A24E-43CF-8D97-29292CD75A69}" srcId="{FC4DAE19-4537-40BB-9D39-9A341C5E2F83}" destId="{EEFD09AB-6C54-476E-8909-698397A00A29}" srcOrd="0" destOrd="0" parTransId="{CD9E3175-4770-4681-BDCF-96BA015B1386}" sibTransId="{CB5DE36C-F8EB-4F53-BA54-345C7F8AE731}"/>
    <dgm:cxn modelId="{48BB1AC0-23A1-E548-9337-A1E1962C4DDF}" type="presOf" srcId="{E3A3FE97-F636-40B9-847F-6F155CB6E442}" destId="{B71D9932-F7D9-BE46-89F6-303D2A0D8F84}" srcOrd="0" destOrd="3" presId="urn:microsoft.com/office/officeart/2016/7/layout/VerticalDownArrowProcess"/>
    <dgm:cxn modelId="{473A3DC0-4593-4B48-A281-30361941A67C}" srcId="{8CC1A0C2-F72A-4791-8A2F-1FAC90C24D12}" destId="{3795CB3D-EED0-4174-9802-021B51EB6C05}" srcOrd="1" destOrd="0" parTransId="{8757FDD7-DCBB-4AED-8980-85932D501EAF}" sibTransId="{073A3C1C-B64E-42DD-8E01-F7106100F34A}"/>
    <dgm:cxn modelId="{8E3C85D7-1019-4BCB-B70F-CC0D4B30AB91}" srcId="{1FAEABA9-9CB0-47C2-AFC0-DD469FB9F5A9}" destId="{983D7529-D97F-456A-A2D9-22B7F2DC7AC5}" srcOrd="0" destOrd="0" parTransId="{ED2BC299-2FFF-4A8A-8EF0-F6F46F5BBCAD}" sibTransId="{CFA72191-0730-4FC8-AB81-1E672D194443}"/>
    <dgm:cxn modelId="{29045ADD-4F9A-9745-8C62-6131508C9EAA}" type="presOf" srcId="{FC4DAE19-4537-40BB-9D39-9A341C5E2F83}" destId="{1CABDDCF-600E-F64D-9FE8-51C059221E31}" srcOrd="0" destOrd="0" presId="urn:microsoft.com/office/officeart/2016/7/layout/VerticalDownArrowProcess"/>
    <dgm:cxn modelId="{7DD2F9E7-3896-4510-BC80-B8B300732E4E}" srcId="{8CC1A0C2-F72A-4791-8A2F-1FAC90C24D12}" destId="{1FAEABA9-9CB0-47C2-AFC0-DD469FB9F5A9}" srcOrd="0" destOrd="0" parTransId="{15BE7340-7176-437F-BCB3-2824005D5BC1}" sibTransId="{3975B443-F06F-4209-8EB2-500EFE0FF7BA}"/>
    <dgm:cxn modelId="{0B41A8EA-2525-48F1-8FDB-44A90AB178B7}" srcId="{3795CB3D-EED0-4174-9802-021B51EB6C05}" destId="{A2ADD0CB-A8F1-481D-B9D2-58DF1CE91B39}" srcOrd="2" destOrd="0" parTransId="{917051FD-618E-43AC-A535-7363B7031E23}" sibTransId="{0BA95E5E-9F6F-4512-AC5E-8E713A6B0A9A}"/>
    <dgm:cxn modelId="{DF473DEB-83C3-4F49-A236-42AD0911C9E1}" type="presOf" srcId="{1FAEABA9-9CB0-47C2-AFC0-DD469FB9F5A9}" destId="{D398163D-00CC-0E48-98F0-5A74906FC835}" srcOrd="1" destOrd="0" presId="urn:microsoft.com/office/officeart/2016/7/layout/VerticalDownArrowProcess"/>
    <dgm:cxn modelId="{E8FE4DF7-F2A9-3948-8E1A-39C7180D39CC}" type="presOf" srcId="{1FAEABA9-9CB0-47C2-AFC0-DD469FB9F5A9}" destId="{E44A02AB-9A62-D349-8C07-632D0442D40C}" srcOrd="0" destOrd="0" presId="urn:microsoft.com/office/officeart/2016/7/layout/VerticalDownArrowProcess"/>
    <dgm:cxn modelId="{63F679FF-00EB-D942-A4FC-F7D87F4FEF71}" type="presOf" srcId="{95D1B40B-7D99-4F85-A058-8F0BC05E6222}" destId="{B71D9932-F7D9-BE46-89F6-303D2A0D8F84}" srcOrd="0" destOrd="1" presId="urn:microsoft.com/office/officeart/2016/7/layout/VerticalDownArrowProcess"/>
    <dgm:cxn modelId="{67FFE28C-965D-FF46-9EA7-3011F2AB8778}" type="presParOf" srcId="{34AA6C30-A1EC-C94B-8426-CE3DBC37A0AB}" destId="{967925EF-A0E4-BF4D-9618-4882CAB00907}" srcOrd="0" destOrd="0" presId="urn:microsoft.com/office/officeart/2016/7/layout/VerticalDownArrowProcess"/>
    <dgm:cxn modelId="{2B6FF561-09B8-264F-AF46-18AED20A1059}" type="presParOf" srcId="{967925EF-A0E4-BF4D-9618-4882CAB00907}" destId="{1CABDDCF-600E-F64D-9FE8-51C059221E31}" srcOrd="0" destOrd="0" presId="urn:microsoft.com/office/officeart/2016/7/layout/VerticalDownArrowProcess"/>
    <dgm:cxn modelId="{97E4FD98-786A-B145-8D1C-57F06B962598}" type="presParOf" srcId="{967925EF-A0E4-BF4D-9618-4882CAB00907}" destId="{4448FB35-B32F-0446-BAC8-F42CFC40B710}" srcOrd="1" destOrd="0" presId="urn:microsoft.com/office/officeart/2016/7/layout/VerticalDownArrowProcess"/>
    <dgm:cxn modelId="{664131D3-DD06-E94D-8B0A-16BE7A422279}" type="presParOf" srcId="{34AA6C30-A1EC-C94B-8426-CE3DBC37A0AB}" destId="{6B4EF679-E713-4348-BFCC-F4D6BDCC87E5}" srcOrd="1" destOrd="0" presId="urn:microsoft.com/office/officeart/2016/7/layout/VerticalDownArrowProcess"/>
    <dgm:cxn modelId="{838675E8-58C3-7749-9669-736FAD6A24B7}" type="presParOf" srcId="{34AA6C30-A1EC-C94B-8426-CE3DBC37A0AB}" destId="{EB2E621F-42AA-BD42-8093-2750535CF277}" srcOrd="2" destOrd="0" presId="urn:microsoft.com/office/officeart/2016/7/layout/VerticalDownArrowProcess"/>
    <dgm:cxn modelId="{64FA31FF-40F4-D941-BCFD-7C712657D1E2}" type="presParOf" srcId="{EB2E621F-42AA-BD42-8093-2750535CF277}" destId="{6D2A7753-A147-A54D-B180-5D044F2BFA1C}" srcOrd="0" destOrd="0" presId="urn:microsoft.com/office/officeart/2016/7/layout/VerticalDownArrowProcess"/>
    <dgm:cxn modelId="{C0A71A05-D5D3-2B4D-9673-5F86F2BEC327}" type="presParOf" srcId="{EB2E621F-42AA-BD42-8093-2750535CF277}" destId="{98124513-59BF-5340-8A3D-8381895C49FB}" srcOrd="1" destOrd="0" presId="urn:microsoft.com/office/officeart/2016/7/layout/VerticalDownArrowProcess"/>
    <dgm:cxn modelId="{4C49CD74-9F58-BB46-8C03-592DA4E31EE4}" type="presParOf" srcId="{EB2E621F-42AA-BD42-8093-2750535CF277}" destId="{57BEB718-1341-3447-9064-890F87069466}" srcOrd="2" destOrd="0" presId="urn:microsoft.com/office/officeart/2016/7/layout/VerticalDownArrowProcess"/>
    <dgm:cxn modelId="{8FB59EF5-3F2A-6F46-A0C9-F55CE028B12E}" type="presParOf" srcId="{34AA6C30-A1EC-C94B-8426-CE3DBC37A0AB}" destId="{B76F1D80-B997-6748-8A77-EE6B1BA0EC37}" srcOrd="3" destOrd="0" presId="urn:microsoft.com/office/officeart/2016/7/layout/VerticalDownArrowProcess"/>
    <dgm:cxn modelId="{EB521D50-145A-6943-BE7F-8C4517B7189C}" type="presParOf" srcId="{34AA6C30-A1EC-C94B-8426-CE3DBC37A0AB}" destId="{FDD4CAF4-57A2-CF4D-BFA3-9A6E111E328E}" srcOrd="4" destOrd="0" presId="urn:microsoft.com/office/officeart/2016/7/layout/VerticalDownArrowProcess"/>
    <dgm:cxn modelId="{B91DC79C-0D4A-664E-A507-6D94DFFBDD74}" type="presParOf" srcId="{FDD4CAF4-57A2-CF4D-BFA3-9A6E111E328E}" destId="{E44A02AB-9A62-D349-8C07-632D0442D40C}" srcOrd="0" destOrd="0" presId="urn:microsoft.com/office/officeart/2016/7/layout/VerticalDownArrowProcess"/>
    <dgm:cxn modelId="{C0048015-DCE7-2841-A84A-77A4FF3E9648}" type="presParOf" srcId="{FDD4CAF4-57A2-CF4D-BFA3-9A6E111E328E}" destId="{D398163D-00CC-0E48-98F0-5A74906FC835}" srcOrd="1" destOrd="0" presId="urn:microsoft.com/office/officeart/2016/7/layout/VerticalDownArrowProcess"/>
    <dgm:cxn modelId="{E4456406-055C-1D44-BDAD-0ED777443D31}" type="presParOf" srcId="{FDD4CAF4-57A2-CF4D-BFA3-9A6E111E328E}" destId="{B71D9932-F7D9-BE46-89F6-303D2A0D8F84}"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ABDDCF-600E-F64D-9FE8-51C059221E31}">
      <dsp:nvSpPr>
        <dsp:cNvPr id="0" name=""/>
        <dsp:cNvSpPr/>
      </dsp:nvSpPr>
      <dsp:spPr>
        <a:xfrm>
          <a:off x="0" y="3583499"/>
          <a:ext cx="2628900" cy="1013570"/>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How do they perform their activities?</a:t>
          </a:r>
          <a:endParaRPr lang="en-US" sz="1900" kern="1200"/>
        </a:p>
      </dsp:txBody>
      <dsp:txXfrm>
        <a:off x="0" y="3583499"/>
        <a:ext cx="2628900" cy="1013570"/>
      </dsp:txXfrm>
    </dsp:sp>
    <dsp:sp modelId="{4448FB35-B32F-0446-BAC8-F42CFC40B710}">
      <dsp:nvSpPr>
        <dsp:cNvPr id="0" name=""/>
        <dsp:cNvSpPr/>
      </dsp:nvSpPr>
      <dsp:spPr>
        <a:xfrm>
          <a:off x="2628900" y="3583499"/>
          <a:ext cx="7886700" cy="1013570"/>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Which genes and/or pathways are present?z</a:t>
          </a:r>
          <a:endParaRPr lang="en-US" sz="1600" kern="1200" dirty="0"/>
        </a:p>
      </dsp:txBody>
      <dsp:txXfrm>
        <a:off x="2628900" y="3583499"/>
        <a:ext cx="7886700" cy="1013570"/>
      </dsp:txXfrm>
    </dsp:sp>
    <dsp:sp modelId="{98124513-59BF-5340-8A3D-8381895C49FB}">
      <dsp:nvSpPr>
        <dsp:cNvPr id="0" name=""/>
        <dsp:cNvSpPr/>
      </dsp:nvSpPr>
      <dsp:spPr>
        <a:xfrm rot="10800000">
          <a:off x="0" y="2039832"/>
          <a:ext cx="2628900" cy="1558870"/>
        </a:xfrm>
        <a:prstGeom prst="upArrowCallout">
          <a:avLst>
            <a:gd name="adj1" fmla="val 5000"/>
            <a:gd name="adj2" fmla="val 10000"/>
            <a:gd name="adj3" fmla="val 15000"/>
            <a:gd name="adj4" fmla="val 64977"/>
          </a:avLst>
        </a:prstGeom>
        <a:gradFill rotWithShape="0">
          <a:gsLst>
            <a:gs pos="0">
              <a:schemeClr val="accent2">
                <a:hueOff val="3221806"/>
                <a:satOff val="-9246"/>
                <a:lumOff val="-14805"/>
                <a:alphaOff val="0"/>
                <a:satMod val="103000"/>
                <a:lumMod val="102000"/>
                <a:tint val="94000"/>
              </a:schemeClr>
            </a:gs>
            <a:gs pos="50000">
              <a:schemeClr val="accent2">
                <a:hueOff val="3221806"/>
                <a:satOff val="-9246"/>
                <a:lumOff val="-14805"/>
                <a:alphaOff val="0"/>
                <a:satMod val="110000"/>
                <a:lumMod val="100000"/>
                <a:shade val="100000"/>
              </a:schemeClr>
            </a:gs>
            <a:gs pos="100000">
              <a:schemeClr val="accent2">
                <a:hueOff val="3221806"/>
                <a:satOff val="-9246"/>
                <a:lumOff val="-14805"/>
                <a:alphaOff val="0"/>
                <a:lumMod val="99000"/>
                <a:satMod val="120000"/>
                <a:shade val="78000"/>
              </a:schemeClr>
            </a:gs>
          </a:gsLst>
          <a:lin ang="5400000" scaled="0"/>
        </a:gradFill>
        <a:ln w="12700" cap="flat" cmpd="sng" algn="ctr">
          <a:solidFill>
            <a:schemeClr val="accent2">
              <a:hueOff val="3221806"/>
              <a:satOff val="-9246"/>
              <a:lumOff val="-14805"/>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What are these organisms doing?</a:t>
          </a:r>
          <a:endParaRPr lang="en-US" sz="1900" kern="1200"/>
        </a:p>
      </dsp:txBody>
      <dsp:txXfrm rot="-10800000">
        <a:off x="0" y="2039832"/>
        <a:ext cx="2628900" cy="1013266"/>
      </dsp:txXfrm>
    </dsp:sp>
    <dsp:sp modelId="{57BEB718-1341-3447-9064-890F87069466}">
      <dsp:nvSpPr>
        <dsp:cNvPr id="0" name=""/>
        <dsp:cNvSpPr/>
      </dsp:nvSpPr>
      <dsp:spPr>
        <a:xfrm>
          <a:off x="2628900" y="2039832"/>
          <a:ext cx="7886700" cy="1013266"/>
        </a:xfrm>
        <a:prstGeom prst="rect">
          <a:avLst/>
        </a:prstGeom>
        <a:solidFill>
          <a:schemeClr val="accent2">
            <a:tint val="40000"/>
            <a:alpha val="90000"/>
            <a:hueOff val="3367362"/>
            <a:satOff val="-31116"/>
            <a:lumOff val="-3508"/>
            <a:alphaOff val="0"/>
          </a:schemeClr>
        </a:solidFill>
        <a:ln w="12700" cap="flat" cmpd="sng" algn="ctr">
          <a:solidFill>
            <a:schemeClr val="accent2">
              <a:tint val="40000"/>
              <a:alpha val="90000"/>
              <a:hueOff val="3367362"/>
              <a:satOff val="-31116"/>
              <a:lumOff val="-3508"/>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What functions potentially do they perform </a:t>
          </a:r>
          <a:endParaRPr lang="en-US" sz="1600" kern="1200" dirty="0"/>
        </a:p>
        <a:p>
          <a:pPr marL="0" lvl="0" indent="0" algn="l" defTabSz="711200">
            <a:lnSpc>
              <a:spcPct val="90000"/>
            </a:lnSpc>
            <a:spcBef>
              <a:spcPct val="0"/>
            </a:spcBef>
            <a:spcAft>
              <a:spcPct val="35000"/>
            </a:spcAft>
            <a:buNone/>
          </a:pPr>
          <a:r>
            <a:rPr lang="en-DK" sz="1600" kern="1200" dirty="0"/>
            <a:t>What substrates they consume?</a:t>
          </a:r>
          <a:endParaRPr lang="en-US" sz="1600" kern="1200" dirty="0"/>
        </a:p>
        <a:p>
          <a:pPr marL="0" lvl="0" indent="0" algn="l" defTabSz="711200">
            <a:lnSpc>
              <a:spcPct val="90000"/>
            </a:lnSpc>
            <a:spcBef>
              <a:spcPct val="0"/>
            </a:spcBef>
            <a:spcAft>
              <a:spcPct val="35000"/>
            </a:spcAft>
            <a:buNone/>
          </a:pPr>
          <a:r>
            <a:rPr lang="en-DK" sz="1600" kern="1200" dirty="0"/>
            <a:t>What metabolites they produce?</a:t>
          </a:r>
          <a:endParaRPr lang="en-US" sz="1600" kern="1200" dirty="0"/>
        </a:p>
      </dsp:txBody>
      <dsp:txXfrm>
        <a:off x="2628900" y="2039832"/>
        <a:ext cx="7886700" cy="1013266"/>
      </dsp:txXfrm>
    </dsp:sp>
    <dsp:sp modelId="{D398163D-00CC-0E48-98F0-5A74906FC835}">
      <dsp:nvSpPr>
        <dsp:cNvPr id="0" name=""/>
        <dsp:cNvSpPr/>
      </dsp:nvSpPr>
      <dsp:spPr>
        <a:xfrm rot="10800000">
          <a:off x="0" y="475"/>
          <a:ext cx="2628900" cy="2054560"/>
        </a:xfrm>
        <a:prstGeom prst="upArrowCallout">
          <a:avLst>
            <a:gd name="adj1" fmla="val 5000"/>
            <a:gd name="adj2" fmla="val 10000"/>
            <a:gd name="adj3" fmla="val 15000"/>
            <a:gd name="adj4" fmla="val 64977"/>
          </a:avLst>
        </a:prstGeom>
        <a:gradFill rotWithShape="0">
          <a:gsLst>
            <a:gs pos="0">
              <a:schemeClr val="accent2">
                <a:hueOff val="6443612"/>
                <a:satOff val="-18493"/>
                <a:lumOff val="-29609"/>
                <a:alphaOff val="0"/>
                <a:satMod val="103000"/>
                <a:lumMod val="102000"/>
                <a:tint val="94000"/>
              </a:schemeClr>
            </a:gs>
            <a:gs pos="50000">
              <a:schemeClr val="accent2">
                <a:hueOff val="6443612"/>
                <a:satOff val="-18493"/>
                <a:lumOff val="-29609"/>
                <a:alphaOff val="0"/>
                <a:satMod val="110000"/>
                <a:lumMod val="100000"/>
                <a:shade val="100000"/>
              </a:schemeClr>
            </a:gs>
            <a:gs pos="100000">
              <a:schemeClr val="accent2">
                <a:hueOff val="6443612"/>
                <a:satOff val="-18493"/>
                <a:lumOff val="-29609"/>
                <a:alphaOff val="0"/>
                <a:lumMod val="99000"/>
                <a:satMod val="120000"/>
                <a:shade val="78000"/>
              </a:schemeClr>
            </a:gs>
          </a:gsLst>
          <a:lin ang="5400000" scaled="0"/>
        </a:gradFill>
        <a:ln w="12700" cap="flat" cmpd="sng" algn="ctr">
          <a:solidFill>
            <a:schemeClr val="accent2">
              <a:hueOff val="6443612"/>
              <a:satOff val="-18493"/>
              <a:lumOff val="-29609"/>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Who is in the samples?</a:t>
          </a:r>
          <a:endParaRPr lang="en-US" sz="1900" kern="1200"/>
        </a:p>
      </dsp:txBody>
      <dsp:txXfrm rot="-10800000">
        <a:off x="0" y="475"/>
        <a:ext cx="2628900" cy="1335464"/>
      </dsp:txXfrm>
    </dsp:sp>
    <dsp:sp modelId="{B71D9932-F7D9-BE46-89F6-303D2A0D8F84}">
      <dsp:nvSpPr>
        <dsp:cNvPr id="0" name=""/>
        <dsp:cNvSpPr/>
      </dsp:nvSpPr>
      <dsp:spPr>
        <a:xfrm>
          <a:off x="2628900" y="25695"/>
          <a:ext cx="7886700" cy="1458515"/>
        </a:xfrm>
        <a:prstGeom prst="rect">
          <a:avLst/>
        </a:prstGeom>
        <a:solidFill>
          <a:schemeClr val="accent2">
            <a:tint val="40000"/>
            <a:alpha val="90000"/>
            <a:hueOff val="6734724"/>
            <a:satOff val="-62232"/>
            <a:lumOff val="-7015"/>
            <a:alphaOff val="0"/>
          </a:schemeClr>
        </a:solidFill>
        <a:ln w="12700" cap="flat" cmpd="sng" algn="ctr">
          <a:solidFill>
            <a:schemeClr val="accent2">
              <a:tint val="40000"/>
              <a:alpha val="90000"/>
              <a:hueOff val="6734724"/>
              <a:satOff val="-62232"/>
              <a:lumOff val="-7015"/>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relative proportion of the different members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a:t>What is the toal abundace (number of cells) (by absolute abundace)</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a:t>How abundant are bacteria, archaea, protozo, virus,…</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a:t>How diverse is the microbial community</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dirty="0"/>
            <a:t>How evenly distributed is it?</a:t>
          </a:r>
          <a:endParaRPr lang="en-US" sz="1600" kern="1200" dirty="0"/>
        </a:p>
      </dsp:txBody>
      <dsp:txXfrm>
        <a:off x="2628900" y="25695"/>
        <a:ext cx="7886700" cy="1458515"/>
      </dsp:txXfrm>
    </dsp:sp>
  </dsp:spTree>
</dsp:drawing>
</file>

<file path=ppt/diagrams/layout1.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742ACD-0F18-E14C-99C6-E2FCF606A3AF}" type="datetimeFigureOut">
              <a:rPr lang="en-DK" smtClean="0"/>
              <a:t>23/05/2025</a:t>
            </a:fld>
            <a:endParaRPr lang="en-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AA28B0-211A-B640-96C3-6E3EBE2D2300}" type="slidenum">
              <a:rPr lang="en-DK" smtClean="0"/>
              <a:t>‹#›</a:t>
            </a:fld>
            <a:endParaRPr lang="en-DK"/>
          </a:p>
        </p:txBody>
      </p:sp>
    </p:spTree>
    <p:extLst>
      <p:ext uri="{BB962C8B-B14F-4D97-AF65-F5344CB8AC3E}">
        <p14:creationId xmlns:p14="http://schemas.microsoft.com/office/powerpoint/2010/main" val="2207260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associations between the intestinal microbiome and disease. At this moment, for most diseases it is not known whether the microbiota is causally related or merely a result of the pathophysiology.</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a:t>
            </a:fld>
            <a:endParaRPr lang="en-DK"/>
          </a:p>
        </p:txBody>
      </p:sp>
    </p:spTree>
    <p:extLst>
      <p:ext uri="{BB962C8B-B14F-4D97-AF65-F5344CB8AC3E}">
        <p14:creationId xmlns:p14="http://schemas.microsoft.com/office/powerpoint/2010/main" val="19317368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overview of ongoing trials in which the efficacy of FMT is tested for a range of diseases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a:t>
            </a:fld>
            <a:endParaRPr lang="en-DK"/>
          </a:p>
        </p:txBody>
      </p:sp>
    </p:spTree>
    <p:extLst>
      <p:ext uri="{BB962C8B-B14F-4D97-AF65-F5344CB8AC3E}">
        <p14:creationId xmlns:p14="http://schemas.microsoft.com/office/powerpoint/2010/main" val="20527511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Choropleth of the world coloured by the country-wise average total AMR load (see methods). Small green dots show unique sampling sites contributing to the average. Some areas are disputed, and we realize that exact border placement is difficult due to geopolitical issues. </a:t>
            </a:r>
            <a:r>
              <a:rPr lang="en-GB" sz="1200" b="1" i="0" kern="1200" dirty="0">
                <a:solidFill>
                  <a:schemeClr val="tx1"/>
                </a:solidFill>
                <a:effectLst/>
                <a:latin typeface="+mn-lt"/>
                <a:ea typeface="+mn-ea"/>
                <a:cs typeface="+mn-cs"/>
              </a:rPr>
              <a:t>b</a:t>
            </a:r>
            <a:r>
              <a:rPr lang="en-GB" sz="1200" b="0" i="0" kern="1200" dirty="0">
                <a:solidFill>
                  <a:schemeClr val="tx1"/>
                </a:solidFill>
                <a:effectLst/>
                <a:latin typeface="+mn-lt"/>
                <a:ea typeface="+mn-ea"/>
                <a:cs typeface="+mn-cs"/>
              </a:rPr>
              <a:t> Stacked bar chart of relative abundances per drug class per country. Each panel represent countries in a World Bank region and is ordered by the Shannon diversity of class-level AMR.</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6</a:t>
            </a:fld>
            <a:endParaRPr lang="en-DK"/>
          </a:p>
        </p:txBody>
      </p:sp>
    </p:spTree>
    <p:extLst>
      <p:ext uri="{BB962C8B-B14F-4D97-AF65-F5344CB8AC3E}">
        <p14:creationId xmlns:p14="http://schemas.microsoft.com/office/powerpoint/2010/main" val="1012883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8</a:t>
            </a:fld>
            <a:endParaRPr lang="en-DK"/>
          </a:p>
        </p:txBody>
      </p:sp>
    </p:spTree>
    <p:extLst>
      <p:ext uri="{BB962C8B-B14F-4D97-AF65-F5344CB8AC3E}">
        <p14:creationId xmlns:p14="http://schemas.microsoft.com/office/powerpoint/2010/main" val="17390195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13</a:t>
            </a:fld>
            <a:endParaRPr lang="en-DK"/>
          </a:p>
        </p:txBody>
      </p:sp>
    </p:spTree>
    <p:extLst>
      <p:ext uri="{BB962C8B-B14F-4D97-AF65-F5344CB8AC3E}">
        <p14:creationId xmlns:p14="http://schemas.microsoft.com/office/powerpoint/2010/main" val="22559134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5B08F-E520-C3B5-CF9B-504793A9639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DK"/>
          </a:p>
        </p:txBody>
      </p:sp>
      <p:sp>
        <p:nvSpPr>
          <p:cNvPr id="3" name="Subtitle 2">
            <a:extLst>
              <a:ext uri="{FF2B5EF4-FFF2-40B4-BE49-F238E27FC236}">
                <a16:creationId xmlns:a16="http://schemas.microsoft.com/office/drawing/2014/main" id="{F4631A82-7552-8E6A-ED1A-6F8952FF07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DK"/>
          </a:p>
        </p:txBody>
      </p:sp>
      <p:sp>
        <p:nvSpPr>
          <p:cNvPr id="4" name="Date Placeholder 3">
            <a:extLst>
              <a:ext uri="{FF2B5EF4-FFF2-40B4-BE49-F238E27FC236}">
                <a16:creationId xmlns:a16="http://schemas.microsoft.com/office/drawing/2014/main" id="{E0B516EA-D451-0AB0-D5F8-CC04ADCC9DFE}"/>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1FEAD2FD-85CA-C2DD-96EC-B43C04695A8A}"/>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8ADD16B8-D8A1-9E9A-AFC4-9BFBA234DA7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4819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D9A50-A97B-1DEC-D02D-B56F74D74333}"/>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D7FEA44-2742-0632-74EB-913304C1938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8AFEB3A7-2D23-164A-FB57-4534F944C69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DAEB35BE-6289-D804-9F31-79C413075DEC}"/>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6BB688F1-0F65-AF33-857A-F52DB5A0F2B3}"/>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0525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2D400-9FBF-96E9-75F6-72F07FEB8DF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DK"/>
          </a:p>
        </p:txBody>
      </p:sp>
      <p:sp>
        <p:nvSpPr>
          <p:cNvPr id="3" name="Text Placeholder 2">
            <a:extLst>
              <a:ext uri="{FF2B5EF4-FFF2-40B4-BE49-F238E27FC236}">
                <a16:creationId xmlns:a16="http://schemas.microsoft.com/office/drawing/2014/main" id="{C63DA5BE-F890-1291-0BC4-F90EBB3CF1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F7EC702-E4E2-6F95-232F-5E1D84826CE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C6E5F506-60F8-3E43-7EA8-A671C94DADC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AB3443D2-1B51-6B4B-5C26-94551B342984}"/>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7952803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51EAE-B27B-84FE-5C2A-F7058ED26278}"/>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7BC7A39-68E6-A948-FB5C-AD855F26D19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Content Placeholder 3">
            <a:extLst>
              <a:ext uri="{FF2B5EF4-FFF2-40B4-BE49-F238E27FC236}">
                <a16:creationId xmlns:a16="http://schemas.microsoft.com/office/drawing/2014/main" id="{FE704136-F2EA-8AEB-7251-BF415EB3208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Date Placeholder 4">
            <a:extLst>
              <a:ext uri="{FF2B5EF4-FFF2-40B4-BE49-F238E27FC236}">
                <a16:creationId xmlns:a16="http://schemas.microsoft.com/office/drawing/2014/main" id="{CBF387A1-9E39-6C08-06D9-A3EF9AD3C226}"/>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472E8ADE-AE0E-3184-2436-5913B1BF1C49}"/>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A4BAAA52-52C3-26D5-D331-8EB9D626F79A}"/>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654016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3B20-C872-D41F-9C11-B42CDAFB0179}"/>
              </a:ext>
            </a:extLst>
          </p:cNvPr>
          <p:cNvSpPr>
            <a:spLocks noGrp="1"/>
          </p:cNvSpPr>
          <p:nvPr>
            <p:ph type="title"/>
          </p:nvPr>
        </p:nvSpPr>
        <p:spPr>
          <a:xfrm>
            <a:off x="839788" y="365125"/>
            <a:ext cx="10515600" cy="1325563"/>
          </a:xfrm>
        </p:spPr>
        <p:txBody>
          <a:bodyPr/>
          <a:lstStyle/>
          <a:p>
            <a:r>
              <a:rPr lang="en-GB"/>
              <a:t>Click to edit Master title style</a:t>
            </a:r>
            <a:endParaRPr lang="en-DK"/>
          </a:p>
        </p:txBody>
      </p:sp>
      <p:sp>
        <p:nvSpPr>
          <p:cNvPr id="3" name="Text Placeholder 2">
            <a:extLst>
              <a:ext uri="{FF2B5EF4-FFF2-40B4-BE49-F238E27FC236}">
                <a16:creationId xmlns:a16="http://schemas.microsoft.com/office/drawing/2014/main" id="{F0F175B8-A698-AF7B-D736-B09E5258E9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C64EDC3-5A33-0A73-74BB-C78A58E69AAA}"/>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Text Placeholder 4">
            <a:extLst>
              <a:ext uri="{FF2B5EF4-FFF2-40B4-BE49-F238E27FC236}">
                <a16:creationId xmlns:a16="http://schemas.microsoft.com/office/drawing/2014/main" id="{48DEA8AB-C145-24DB-4999-CAB5A88AB4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8233B10-E822-10E9-585F-269B50B884B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7" name="Date Placeholder 6">
            <a:extLst>
              <a:ext uri="{FF2B5EF4-FFF2-40B4-BE49-F238E27FC236}">
                <a16:creationId xmlns:a16="http://schemas.microsoft.com/office/drawing/2014/main" id="{F5D717AE-BA66-636D-D88C-F7F031F1F76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8" name="Footer Placeholder 7">
            <a:extLst>
              <a:ext uri="{FF2B5EF4-FFF2-40B4-BE49-F238E27FC236}">
                <a16:creationId xmlns:a16="http://schemas.microsoft.com/office/drawing/2014/main" id="{0C21625F-FF66-FD6B-BAFB-1589D878997A}"/>
              </a:ext>
            </a:extLst>
          </p:cNvPr>
          <p:cNvSpPr>
            <a:spLocks noGrp="1"/>
          </p:cNvSpPr>
          <p:nvPr>
            <p:ph type="ftr" sz="quarter" idx="11"/>
          </p:nvPr>
        </p:nvSpPr>
        <p:spPr/>
        <p:txBody>
          <a:bodyPr/>
          <a:lstStyle/>
          <a:p>
            <a:endParaRPr lang="en-DK"/>
          </a:p>
        </p:txBody>
      </p:sp>
      <p:sp>
        <p:nvSpPr>
          <p:cNvPr id="9" name="Slide Number Placeholder 8">
            <a:extLst>
              <a:ext uri="{FF2B5EF4-FFF2-40B4-BE49-F238E27FC236}">
                <a16:creationId xmlns:a16="http://schemas.microsoft.com/office/drawing/2014/main" id="{70D48355-B36F-727E-51AA-DE40595FC31B}"/>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36203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8CF26-DE4F-56D9-8A1B-F5F978B90B8A}"/>
              </a:ext>
            </a:extLst>
          </p:cNvPr>
          <p:cNvSpPr>
            <a:spLocks noGrp="1"/>
          </p:cNvSpPr>
          <p:nvPr>
            <p:ph type="title"/>
          </p:nvPr>
        </p:nvSpPr>
        <p:spPr/>
        <p:txBody>
          <a:bodyPr/>
          <a:lstStyle/>
          <a:p>
            <a:r>
              <a:rPr lang="en-GB"/>
              <a:t>Click to edit Master title style</a:t>
            </a:r>
            <a:endParaRPr lang="en-DK"/>
          </a:p>
        </p:txBody>
      </p:sp>
      <p:sp>
        <p:nvSpPr>
          <p:cNvPr id="3" name="Date Placeholder 2">
            <a:extLst>
              <a:ext uri="{FF2B5EF4-FFF2-40B4-BE49-F238E27FC236}">
                <a16:creationId xmlns:a16="http://schemas.microsoft.com/office/drawing/2014/main" id="{5C72E4D4-C128-6528-CCAB-0EECA186A2BB}"/>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4" name="Footer Placeholder 3">
            <a:extLst>
              <a:ext uri="{FF2B5EF4-FFF2-40B4-BE49-F238E27FC236}">
                <a16:creationId xmlns:a16="http://schemas.microsoft.com/office/drawing/2014/main" id="{D0D77489-056E-6BAE-1D66-821CCC573654}"/>
              </a:ext>
            </a:extLst>
          </p:cNvPr>
          <p:cNvSpPr>
            <a:spLocks noGrp="1"/>
          </p:cNvSpPr>
          <p:nvPr>
            <p:ph type="ftr" sz="quarter" idx="11"/>
          </p:nvPr>
        </p:nvSpPr>
        <p:spPr/>
        <p:txBody>
          <a:bodyPr/>
          <a:lstStyle/>
          <a:p>
            <a:endParaRPr lang="en-DK"/>
          </a:p>
        </p:txBody>
      </p:sp>
      <p:sp>
        <p:nvSpPr>
          <p:cNvPr id="5" name="Slide Number Placeholder 4">
            <a:extLst>
              <a:ext uri="{FF2B5EF4-FFF2-40B4-BE49-F238E27FC236}">
                <a16:creationId xmlns:a16="http://schemas.microsoft.com/office/drawing/2014/main" id="{6E932BAF-DEE0-9A5D-8557-C68D35FC5189}"/>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196351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D6AAF1-ABB5-B82B-E3F5-87B76E253CB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3" name="Footer Placeholder 2">
            <a:extLst>
              <a:ext uri="{FF2B5EF4-FFF2-40B4-BE49-F238E27FC236}">
                <a16:creationId xmlns:a16="http://schemas.microsoft.com/office/drawing/2014/main" id="{142574EF-E8B0-1A30-C556-80C308CF0FB0}"/>
              </a:ext>
            </a:extLst>
          </p:cNvPr>
          <p:cNvSpPr>
            <a:spLocks noGrp="1"/>
          </p:cNvSpPr>
          <p:nvPr>
            <p:ph type="ftr" sz="quarter" idx="11"/>
          </p:nvPr>
        </p:nvSpPr>
        <p:spPr/>
        <p:txBody>
          <a:bodyPr/>
          <a:lstStyle/>
          <a:p>
            <a:endParaRPr lang="en-DK"/>
          </a:p>
        </p:txBody>
      </p:sp>
      <p:sp>
        <p:nvSpPr>
          <p:cNvPr id="4" name="Slide Number Placeholder 3">
            <a:extLst>
              <a:ext uri="{FF2B5EF4-FFF2-40B4-BE49-F238E27FC236}">
                <a16:creationId xmlns:a16="http://schemas.microsoft.com/office/drawing/2014/main" id="{31D081B3-FFB7-6C6C-29CE-D66BBB75C985}"/>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0403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EF720-683C-4DC4-6BA9-D55E58722C9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Content Placeholder 2">
            <a:extLst>
              <a:ext uri="{FF2B5EF4-FFF2-40B4-BE49-F238E27FC236}">
                <a16:creationId xmlns:a16="http://schemas.microsoft.com/office/drawing/2014/main" id="{442BDA84-39EF-28C6-74AF-91C14F574D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Text Placeholder 3">
            <a:extLst>
              <a:ext uri="{FF2B5EF4-FFF2-40B4-BE49-F238E27FC236}">
                <a16:creationId xmlns:a16="http://schemas.microsoft.com/office/drawing/2014/main" id="{86CAC6B0-CA34-E106-0E5B-E37C3CC279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405152-097A-80B7-5BB1-AF363EDFEFE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ACBD7508-FECD-02D3-52F9-4CD63ECFA86D}"/>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9D675DFA-DB7D-98C6-3379-934A7B2590DE}"/>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210090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5254E-1F75-C304-E115-BF609C2CA20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Picture Placeholder 2">
            <a:extLst>
              <a:ext uri="{FF2B5EF4-FFF2-40B4-BE49-F238E27FC236}">
                <a16:creationId xmlns:a16="http://schemas.microsoft.com/office/drawing/2014/main" id="{B11B10A1-7661-F511-813C-8B1712A7FC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K"/>
          </a:p>
        </p:txBody>
      </p:sp>
      <p:sp>
        <p:nvSpPr>
          <p:cNvPr id="4" name="Text Placeholder 3">
            <a:extLst>
              <a:ext uri="{FF2B5EF4-FFF2-40B4-BE49-F238E27FC236}">
                <a16:creationId xmlns:a16="http://schemas.microsoft.com/office/drawing/2014/main" id="{13FFECFC-62FE-D6AA-4BDE-20DE0A3C50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9525938-09DE-2D93-8A77-71C80781F63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E093DA5A-5F2E-9C6C-4A34-60667478BC50}"/>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4BBE1887-D0F2-C08B-1212-F65BA3B3E08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28205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13790-C8F5-FE67-3E0D-CF979E071F7E}"/>
              </a:ext>
            </a:extLst>
          </p:cNvPr>
          <p:cNvSpPr>
            <a:spLocks noGrp="1"/>
          </p:cNvSpPr>
          <p:nvPr>
            <p:ph type="title"/>
          </p:nvPr>
        </p:nvSpPr>
        <p:spPr/>
        <p:txBody>
          <a:bodyPr/>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1C47FAAE-2BC3-F8C4-BB61-12EE426E9AD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3932B4F9-E2D9-63E7-07FA-B54FD71295C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5FEEA928-A165-75A6-626C-E45C80A0B56E}"/>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0E9F087E-FFC1-11D9-CA7F-6FD23AC0F85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937751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A24E164-E60A-A366-DC15-67269EF339B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8FD01CD6-D05A-1E96-494E-656AA84F7D6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EAB435A5-F7D5-01F8-8A4E-1D45684276D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8656779A-2273-663F-A7CE-EE7755ECA148}"/>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9D992B9C-F7D6-70EB-BA4E-DA23DF03A6D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701372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o indhold 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3181" y="1547617"/>
            <a:ext cx="10880619" cy="3617678"/>
          </a:xfrm>
        </p:spPr>
        <p:txBody>
          <a:bodyPr>
            <a:normAutofit/>
          </a:bodyPr>
          <a:lstStyle>
            <a:lvl1pPr marL="0" indent="0">
              <a:lnSpc>
                <a:spcPct val="100000"/>
              </a:lnSpc>
              <a:buNone/>
              <a:defRPr sz="15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5" name="Content Placeholder 2">
            <a:extLst>
              <a:ext uri="{FF2B5EF4-FFF2-40B4-BE49-F238E27FC236}">
                <a16:creationId xmlns:a16="http://schemas.microsoft.com/office/drawing/2014/main" id="{5BF103BB-A9CF-463C-AC74-666431857D92}"/>
              </a:ext>
            </a:extLst>
          </p:cNvPr>
          <p:cNvSpPr>
            <a:spLocks noGrp="1"/>
          </p:cNvSpPr>
          <p:nvPr>
            <p:ph sz="half" idx="10"/>
          </p:nvPr>
        </p:nvSpPr>
        <p:spPr>
          <a:xfrm>
            <a:off x="473182" y="5441303"/>
            <a:ext cx="8418785" cy="995601"/>
          </a:xfrm>
        </p:spPr>
        <p:txBody>
          <a:bodyPr>
            <a:normAutofit/>
          </a:bodyPr>
          <a:lstStyle>
            <a:lvl1pPr marL="0" indent="0">
              <a:lnSpc>
                <a:spcPct val="100000"/>
              </a:lnSpc>
              <a:buNone/>
              <a:defRPr sz="10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4" name="Pladsholder til dato 3" hidden="1"/>
          <p:cNvSpPr>
            <a:spLocks noGrp="1"/>
          </p:cNvSpPr>
          <p:nvPr>
            <p:ph type="dt" sz="half" idx="11"/>
          </p:nvPr>
        </p:nvSpPr>
        <p:spPr/>
        <p:txBody>
          <a:bodyPr/>
          <a:lstStyle/>
          <a:p>
            <a:endParaRPr lang="en-GB"/>
          </a:p>
        </p:txBody>
      </p:sp>
      <p:sp>
        <p:nvSpPr>
          <p:cNvPr id="7" name="Pladsholder til sidefod 6" hidden="1"/>
          <p:cNvSpPr>
            <a:spLocks noGrp="1"/>
          </p:cNvSpPr>
          <p:nvPr>
            <p:ph type="ftr" sz="quarter" idx="12"/>
          </p:nvPr>
        </p:nvSpPr>
        <p:spPr/>
        <p:txBody>
          <a:bodyPr/>
          <a:lstStyle/>
          <a:p>
            <a:endParaRPr lang="en-GB" dirty="0"/>
          </a:p>
        </p:txBody>
      </p:sp>
      <p:sp>
        <p:nvSpPr>
          <p:cNvPr id="8" name="Pladsholder til slidenummer 7"/>
          <p:cNvSpPr>
            <a:spLocks noGrp="1"/>
          </p:cNvSpPr>
          <p:nvPr>
            <p:ph type="sldNum" sz="quarter" idx="13"/>
          </p:nvPr>
        </p:nvSpPr>
        <p:spPr/>
        <p:txBody>
          <a:bodyPr/>
          <a:lstStyle/>
          <a:p>
            <a:fld id="{0D08B38D-4F16-45CA-9042-40A25BC4B1DD}" type="slidenum">
              <a:rPr lang="en-GB" smtClean="0"/>
              <a:pPr/>
              <a:t>‹#›</a:t>
            </a:fld>
            <a:endParaRPr lang="en-GB"/>
          </a:p>
        </p:txBody>
      </p:sp>
    </p:spTree>
    <p:extLst>
      <p:ext uri="{BB962C8B-B14F-4D97-AF65-F5344CB8AC3E}">
        <p14:creationId xmlns:p14="http://schemas.microsoft.com/office/powerpoint/2010/main" val="25814092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CF05-F4FA-6704-5BDF-92EB8359D0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DK"/>
          </a:p>
        </p:txBody>
      </p:sp>
      <p:sp>
        <p:nvSpPr>
          <p:cNvPr id="3" name="Text Placeholder 2">
            <a:extLst>
              <a:ext uri="{FF2B5EF4-FFF2-40B4-BE49-F238E27FC236}">
                <a16:creationId xmlns:a16="http://schemas.microsoft.com/office/drawing/2014/main" id="{01EA2D9D-9E6A-0C70-C935-B9BE9219B7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BD9F152E-C076-529A-1362-A2C2F8B2AE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63EDEB37-D1BD-7D04-DFDB-7A287FE31D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K"/>
          </a:p>
        </p:txBody>
      </p:sp>
      <p:sp>
        <p:nvSpPr>
          <p:cNvPr id="6" name="Slide Number Placeholder 5">
            <a:extLst>
              <a:ext uri="{FF2B5EF4-FFF2-40B4-BE49-F238E27FC236}">
                <a16:creationId xmlns:a16="http://schemas.microsoft.com/office/drawing/2014/main" id="{FBAD4327-821C-E45E-38E2-ECDB9D1CD4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594515-A7E2-9645-9FB0-ED223F25913F}" type="slidenum">
              <a:rPr lang="en-DK" smtClean="0"/>
              <a:t>‹#›</a:t>
            </a:fld>
            <a:endParaRPr lang="en-DK"/>
          </a:p>
        </p:txBody>
      </p:sp>
    </p:spTree>
    <p:extLst>
      <p:ext uri="{BB962C8B-B14F-4D97-AF65-F5344CB8AC3E}">
        <p14:creationId xmlns:p14="http://schemas.microsoft.com/office/powerpoint/2010/main" val="1815745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pubmed.ncbi.nlm.nih.gov/36309208/" TargetMode="External"/><Relationship Id="rId2" Type="http://schemas.openxmlformats.org/officeDocument/2006/relationships/hyperlink" Target="https://www.thelancet.com/journals/ebiom/article/PIIS2352-3964%2819%2930375-5/fulltex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wired.com/story/the-antibiotic-resistance-crisis-has-a-troubling-twist" TargetMode="External"/><Relationship Id="rId2" Type="http://schemas.openxmlformats.org/officeDocument/2006/relationships/hyperlink" Target="https://en.wikipedia.org/wiki/Plant_microbiome" TargetMode="External"/><Relationship Id="rId1" Type="http://schemas.openxmlformats.org/officeDocument/2006/relationships/slideLayout" Target="../slideLayouts/slideLayout2.xml"/><Relationship Id="rId4" Type="http://schemas.openxmlformats.org/officeDocument/2006/relationships/hyperlink" Target="https://www.nature.com/articles/s41467-024-51957-8"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7.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pn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5.jpeg"/><Relationship Id="rId9"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youtube.com/watch?v=HMyCqWhwB8E"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www.jci.org/132/7" TargetMode="External"/><Relationship Id="rId7" Type="http://schemas.openxmlformats.org/officeDocument/2006/relationships/image" Target="../media/image19.png"/><Relationship Id="rId2" Type="http://schemas.openxmlformats.org/officeDocument/2006/relationships/image" Target="../media/image5.jpe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jpeg"/><Relationship Id="rId4" Type="http://schemas.openxmlformats.org/officeDocument/2006/relationships/hyperlink" Target="https://doi.org/10.1172/JCI154944"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3.png"/><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237F5-AF80-1180-65FB-F0665383AEE9}"/>
              </a:ext>
            </a:extLst>
          </p:cNvPr>
          <p:cNvSpPr>
            <a:spLocks noGrp="1"/>
          </p:cNvSpPr>
          <p:nvPr>
            <p:ph type="ctrTitle"/>
          </p:nvPr>
        </p:nvSpPr>
        <p:spPr>
          <a:xfrm>
            <a:off x="1420897" y="1152093"/>
            <a:ext cx="9870558" cy="2387600"/>
          </a:xfrm>
        </p:spPr>
        <p:txBody>
          <a:bodyPr>
            <a:normAutofit/>
          </a:bodyPr>
          <a:lstStyle/>
          <a:p>
            <a:r>
              <a:rPr lang="en-DK" dirty="0"/>
              <a:t>Introduction to Metagenomics</a:t>
            </a:r>
          </a:p>
        </p:txBody>
      </p:sp>
      <p:sp>
        <p:nvSpPr>
          <p:cNvPr id="3" name="Subtitle 2">
            <a:extLst>
              <a:ext uri="{FF2B5EF4-FFF2-40B4-BE49-F238E27FC236}">
                <a16:creationId xmlns:a16="http://schemas.microsoft.com/office/drawing/2014/main" id="{CCB7DCFE-F312-235E-9685-7FF3058B7A5E}"/>
              </a:ext>
            </a:extLst>
          </p:cNvPr>
          <p:cNvSpPr>
            <a:spLocks noGrp="1"/>
          </p:cNvSpPr>
          <p:nvPr>
            <p:ph type="subTitle" idx="1"/>
          </p:nvPr>
        </p:nvSpPr>
        <p:spPr/>
        <p:txBody>
          <a:bodyPr>
            <a:normAutofit lnSpcReduction="10000"/>
          </a:bodyPr>
          <a:lstStyle/>
          <a:p>
            <a:r>
              <a:rPr lang="en-DK" sz="2800" dirty="0"/>
              <a:t>Data Science platform</a:t>
            </a:r>
          </a:p>
          <a:p>
            <a:r>
              <a:rPr lang="en-DK" dirty="0"/>
              <a:t>DTU – Biosustain</a:t>
            </a:r>
          </a:p>
          <a:p>
            <a:r>
              <a:rPr lang="en-DK" dirty="0"/>
              <a:t>Spring Courses</a:t>
            </a:r>
            <a:br>
              <a:rPr lang="en-DK" dirty="0"/>
            </a:br>
            <a:r>
              <a:rPr lang="en-DK" dirty="0"/>
              <a:t>11th June 2025</a:t>
            </a:r>
          </a:p>
        </p:txBody>
      </p:sp>
    </p:spTree>
    <p:extLst>
      <p:ext uri="{BB962C8B-B14F-4D97-AF65-F5344CB8AC3E}">
        <p14:creationId xmlns:p14="http://schemas.microsoft.com/office/powerpoint/2010/main" val="2201468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FAE5FB-F371-9CE3-E58D-9B0A0349B58B}"/>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dirty="0">
                <a:solidFill>
                  <a:schemeClr val="bg1"/>
                </a:solidFill>
                <a:latin typeface="+mj-lt"/>
                <a:ea typeface="+mj-ea"/>
                <a:cs typeface="+mj-cs"/>
              </a:rPr>
              <a:t>Impact of microbiome studies on health studies</a:t>
            </a:r>
          </a:p>
        </p:txBody>
      </p:sp>
      <p:graphicFrame>
        <p:nvGraphicFramePr>
          <p:cNvPr id="4" name="Table 3">
            <a:extLst>
              <a:ext uri="{FF2B5EF4-FFF2-40B4-BE49-F238E27FC236}">
                <a16:creationId xmlns:a16="http://schemas.microsoft.com/office/drawing/2014/main" id="{DB93A725-5BAC-EDCF-BCC3-74FB5991DDD8}"/>
              </a:ext>
            </a:extLst>
          </p:cNvPr>
          <p:cNvGraphicFramePr>
            <a:graphicFrameLocks noGrp="1"/>
          </p:cNvGraphicFramePr>
          <p:nvPr>
            <p:extLst>
              <p:ext uri="{D42A27DB-BD31-4B8C-83A1-F6EECF244321}">
                <p14:modId xmlns:p14="http://schemas.microsoft.com/office/powerpoint/2010/main" val="2724658075"/>
              </p:ext>
            </p:extLst>
          </p:nvPr>
        </p:nvGraphicFramePr>
        <p:xfrm>
          <a:off x="643467" y="1897481"/>
          <a:ext cx="10905068" cy="4635554"/>
        </p:xfrm>
        <a:graphic>
          <a:graphicData uri="http://schemas.openxmlformats.org/drawingml/2006/table">
            <a:tbl>
              <a:tblPr/>
              <a:tblGrid>
                <a:gridCol w="3530465">
                  <a:extLst>
                    <a:ext uri="{9D8B030D-6E8A-4147-A177-3AD203B41FA5}">
                      <a16:colId xmlns:a16="http://schemas.microsoft.com/office/drawing/2014/main" val="3483611759"/>
                    </a:ext>
                  </a:extLst>
                </a:gridCol>
                <a:gridCol w="3696072">
                  <a:extLst>
                    <a:ext uri="{9D8B030D-6E8A-4147-A177-3AD203B41FA5}">
                      <a16:colId xmlns:a16="http://schemas.microsoft.com/office/drawing/2014/main" val="3096535932"/>
                    </a:ext>
                  </a:extLst>
                </a:gridCol>
                <a:gridCol w="3678531">
                  <a:extLst>
                    <a:ext uri="{9D8B030D-6E8A-4147-A177-3AD203B41FA5}">
                      <a16:colId xmlns:a16="http://schemas.microsoft.com/office/drawing/2014/main" val="982739280"/>
                    </a:ext>
                  </a:extLst>
                </a:gridCol>
              </a:tblGrid>
              <a:tr h="288174">
                <a:tc>
                  <a:txBody>
                    <a:bodyPr/>
                    <a:lstStyle/>
                    <a:p>
                      <a:r>
                        <a:rPr lang="en-GB" sz="1400" b="1"/>
                        <a:t>Achievement</a:t>
                      </a:r>
                      <a:endParaRPr lang="en-GB" sz="1400"/>
                    </a:p>
                  </a:txBody>
                  <a:tcPr marL="58707" marR="58707" marT="29354" marB="29354" anchor="ctr">
                    <a:lnL>
                      <a:noFill/>
                    </a:lnL>
                    <a:lnR>
                      <a:noFill/>
                    </a:lnR>
                    <a:lnT>
                      <a:noFill/>
                    </a:lnT>
                    <a:lnB>
                      <a:noFill/>
                    </a:lnB>
                    <a:noFill/>
                  </a:tcPr>
                </a:tc>
                <a:tc>
                  <a:txBody>
                    <a:bodyPr/>
                    <a:lstStyle/>
                    <a:p>
                      <a:r>
                        <a:rPr lang="en-GB" sz="1400" b="1"/>
                        <a:t>Description</a:t>
                      </a:r>
                      <a:endParaRPr lang="en-GB" sz="1400"/>
                    </a:p>
                  </a:txBody>
                  <a:tcPr marL="58707" marR="58707" marT="29354" marB="29354" anchor="ctr">
                    <a:lnL>
                      <a:noFill/>
                    </a:lnL>
                    <a:lnR>
                      <a:noFill/>
                    </a:lnR>
                    <a:lnT>
                      <a:noFill/>
                    </a:lnT>
                    <a:lnB>
                      <a:noFill/>
                    </a:lnB>
                    <a:noFill/>
                  </a:tcPr>
                </a:tc>
                <a:tc>
                  <a:txBody>
                    <a:bodyPr/>
                    <a:lstStyle/>
                    <a:p>
                      <a:r>
                        <a:rPr lang="en-GB" sz="1400" b="1"/>
                        <a:t>Citation</a:t>
                      </a:r>
                      <a:endParaRPr lang="en-GB" sz="1400"/>
                    </a:p>
                  </a:txBody>
                  <a:tcPr marL="58707" marR="58707" marT="29354" marB="29354" anchor="ctr">
                    <a:lnL>
                      <a:noFill/>
                    </a:lnL>
                    <a:lnR>
                      <a:noFill/>
                    </a:lnR>
                    <a:lnT>
                      <a:noFill/>
                    </a:lnT>
                    <a:lnB>
                      <a:noFill/>
                    </a:lnB>
                    <a:noFill/>
                  </a:tcPr>
                </a:tc>
                <a:extLst>
                  <a:ext uri="{0D108BD9-81ED-4DB2-BD59-A6C34878D82A}">
                    <a16:rowId xmlns:a16="http://schemas.microsoft.com/office/drawing/2014/main" val="2115895726"/>
                  </a:ext>
                </a:extLst>
              </a:tr>
              <a:tr h="843336">
                <a:tc>
                  <a:txBody>
                    <a:bodyPr/>
                    <a:lstStyle/>
                    <a:p>
                      <a:r>
                        <a:rPr lang="en-GB" sz="1400" b="1"/>
                        <a:t>Human Microbiome Mapping</a:t>
                      </a:r>
                      <a:endParaRPr lang="en-GB" sz="1400"/>
                    </a:p>
                  </a:txBody>
                  <a:tcPr marL="58707" marR="58707" marT="29354" marB="29354" anchor="ctr">
                    <a:lnL>
                      <a:noFill/>
                    </a:lnL>
                    <a:lnR>
                      <a:noFill/>
                    </a:lnR>
                    <a:lnT>
                      <a:noFill/>
                    </a:lnT>
                    <a:lnB>
                      <a:noFill/>
                    </a:lnB>
                    <a:noFill/>
                  </a:tcPr>
                </a:tc>
                <a:tc>
                  <a:txBody>
                    <a:bodyPr/>
                    <a:lstStyle/>
                    <a:p>
                      <a:r>
                        <a:rPr lang="en-GB" sz="1400"/>
                        <a:t>The Human Microbiome Project (HMP) mapped microbial communities across various body sites, revealing extensive microbial diversity in healthy individuals.</a:t>
                      </a:r>
                    </a:p>
                  </a:txBody>
                  <a:tcPr marL="58707" marR="58707" marT="29354" marB="29354" anchor="ctr">
                    <a:lnL>
                      <a:noFill/>
                    </a:lnL>
                    <a:lnR>
                      <a:noFill/>
                    </a:lnR>
                    <a:lnT>
                      <a:noFill/>
                    </a:lnT>
                    <a:lnB>
                      <a:noFill/>
                    </a:lnB>
                    <a:noFill/>
                  </a:tcPr>
                </a:tc>
                <a:tc>
                  <a:txBody>
                    <a:bodyPr/>
                    <a:lstStyle/>
                    <a:p>
                      <a:r>
                        <a:rPr lang="en-GB" sz="1400"/>
                        <a:t>NIH Human Microbiome Project</a:t>
                      </a:r>
                    </a:p>
                  </a:txBody>
                  <a:tcPr marL="58707" marR="58707" marT="29354" marB="29354" anchor="ctr">
                    <a:lnL>
                      <a:noFill/>
                    </a:lnL>
                    <a:lnR>
                      <a:noFill/>
                    </a:lnR>
                    <a:lnT>
                      <a:noFill/>
                    </a:lnT>
                    <a:lnB>
                      <a:noFill/>
                    </a:lnB>
                    <a:noFill/>
                  </a:tcPr>
                </a:tc>
                <a:extLst>
                  <a:ext uri="{0D108BD9-81ED-4DB2-BD59-A6C34878D82A}">
                    <a16:rowId xmlns:a16="http://schemas.microsoft.com/office/drawing/2014/main" val="2765195234"/>
                  </a:ext>
                </a:extLst>
              </a:tr>
              <a:tr h="658282">
                <a:tc>
                  <a:txBody>
                    <a:bodyPr/>
                    <a:lstStyle/>
                    <a:p>
                      <a:r>
                        <a:rPr lang="en-GB" sz="1400" b="1"/>
                        <a:t>Microbiome and Chronic Diseases</a:t>
                      </a:r>
                      <a:endParaRPr lang="en-GB" sz="1400"/>
                    </a:p>
                  </a:txBody>
                  <a:tcPr marL="58707" marR="58707" marT="29354" marB="29354" anchor="ctr">
                    <a:lnL>
                      <a:noFill/>
                    </a:lnL>
                    <a:lnR>
                      <a:noFill/>
                    </a:lnR>
                    <a:lnT>
                      <a:noFill/>
                    </a:lnT>
                    <a:lnB>
                      <a:noFill/>
                    </a:lnB>
                    <a:noFill/>
                  </a:tcPr>
                </a:tc>
                <a:tc>
                  <a:txBody>
                    <a:bodyPr/>
                    <a:lstStyle/>
                    <a:p>
                      <a:r>
                        <a:rPr lang="en-GB" sz="1400"/>
                        <a:t>Established associations between gut microbiota and conditions like obesity, type 2 diabetes, IBD, cardiovascular disease, and autoimmune disorders.</a:t>
                      </a:r>
                    </a:p>
                  </a:txBody>
                  <a:tcPr marL="58707" marR="58707" marT="29354" marB="29354" anchor="ctr">
                    <a:lnL>
                      <a:noFill/>
                    </a:lnL>
                    <a:lnR>
                      <a:noFill/>
                    </a:lnR>
                    <a:lnT>
                      <a:noFill/>
                    </a:lnT>
                    <a:lnB>
                      <a:noFill/>
                    </a:lnB>
                    <a:noFill/>
                  </a:tcPr>
                </a:tc>
                <a:tc>
                  <a:txBody>
                    <a:bodyPr/>
                    <a:lstStyle/>
                    <a:p>
                      <a:r>
                        <a:rPr lang="en-GB" sz="1400"/>
                        <a:t>NIH Human Microbiome Project</a:t>
                      </a:r>
                    </a:p>
                  </a:txBody>
                  <a:tcPr marL="58707" marR="58707" marT="29354" marB="29354" anchor="ctr">
                    <a:lnL>
                      <a:noFill/>
                    </a:lnL>
                    <a:lnR>
                      <a:noFill/>
                    </a:lnR>
                    <a:lnT>
                      <a:noFill/>
                    </a:lnT>
                    <a:lnB>
                      <a:noFill/>
                    </a:lnB>
                    <a:noFill/>
                  </a:tcPr>
                </a:tc>
                <a:extLst>
                  <a:ext uri="{0D108BD9-81ED-4DB2-BD59-A6C34878D82A}">
                    <a16:rowId xmlns:a16="http://schemas.microsoft.com/office/drawing/2014/main" val="390021459"/>
                  </a:ext>
                </a:extLst>
              </a:tr>
              <a:tr h="843336">
                <a:tc>
                  <a:txBody>
                    <a:bodyPr/>
                    <a:lstStyle/>
                    <a:p>
                      <a:r>
                        <a:rPr lang="en-GB" sz="1400" b="1"/>
                        <a:t>Gut-Brain Axis</a:t>
                      </a:r>
                      <a:endParaRPr lang="en-GB" sz="1400"/>
                    </a:p>
                  </a:txBody>
                  <a:tcPr marL="58707" marR="58707" marT="29354" marB="29354" anchor="ctr">
                    <a:lnL>
                      <a:noFill/>
                    </a:lnL>
                    <a:lnR>
                      <a:noFill/>
                    </a:lnR>
                    <a:lnT>
                      <a:noFill/>
                    </a:lnT>
                    <a:lnB>
                      <a:noFill/>
                    </a:lnB>
                    <a:noFill/>
                  </a:tcPr>
                </a:tc>
                <a:tc>
                  <a:txBody>
                    <a:bodyPr/>
                    <a:lstStyle/>
                    <a:p>
                      <a:r>
                        <a:rPr lang="en-GB" sz="1400"/>
                        <a:t>Demonstrated that gut microbes influence mood, anxiety, and cognitive functions, contributing to understanding of disorders like depression, autism, and Parkinson’s disease.</a:t>
                      </a:r>
                    </a:p>
                  </a:txBody>
                  <a:tcPr marL="58707" marR="58707" marT="29354" marB="29354" anchor="ctr">
                    <a:lnL>
                      <a:noFill/>
                    </a:lnL>
                    <a:lnR>
                      <a:noFill/>
                    </a:lnR>
                    <a:lnT>
                      <a:noFill/>
                    </a:lnT>
                    <a:lnB>
                      <a:noFill/>
                    </a:lnB>
                    <a:noFill/>
                  </a:tcPr>
                </a:tc>
                <a:tc>
                  <a:txBody>
                    <a:bodyPr/>
                    <a:lstStyle/>
                    <a:p>
                      <a:r>
                        <a:rPr lang="en-GB" sz="1400"/>
                        <a:t>NIH Human Microbiome Project</a:t>
                      </a:r>
                    </a:p>
                  </a:txBody>
                  <a:tcPr marL="58707" marR="58707" marT="29354" marB="29354" anchor="ctr">
                    <a:lnL>
                      <a:noFill/>
                    </a:lnL>
                    <a:lnR>
                      <a:noFill/>
                    </a:lnR>
                    <a:lnT>
                      <a:noFill/>
                    </a:lnT>
                    <a:lnB>
                      <a:noFill/>
                    </a:lnB>
                    <a:noFill/>
                  </a:tcPr>
                </a:tc>
                <a:extLst>
                  <a:ext uri="{0D108BD9-81ED-4DB2-BD59-A6C34878D82A}">
                    <a16:rowId xmlns:a16="http://schemas.microsoft.com/office/drawing/2014/main" val="667968994"/>
                  </a:ext>
                </a:extLst>
              </a:tr>
              <a:tr h="658282">
                <a:tc>
                  <a:txBody>
                    <a:bodyPr/>
                    <a:lstStyle/>
                    <a:p>
                      <a:r>
                        <a:rPr lang="en-GB" sz="1400" b="1"/>
                        <a:t>Fecal Microbiota Transplantation (FMT)</a:t>
                      </a:r>
                      <a:endParaRPr lang="en-GB" sz="1400"/>
                    </a:p>
                  </a:txBody>
                  <a:tcPr marL="58707" marR="58707" marT="29354" marB="29354" anchor="ctr">
                    <a:lnL>
                      <a:noFill/>
                    </a:lnL>
                    <a:lnR>
                      <a:noFill/>
                    </a:lnR>
                    <a:lnT>
                      <a:noFill/>
                    </a:lnT>
                    <a:lnB>
                      <a:noFill/>
                    </a:lnB>
                    <a:noFill/>
                  </a:tcPr>
                </a:tc>
                <a:tc>
                  <a:txBody>
                    <a:bodyPr/>
                    <a:lstStyle/>
                    <a:p>
                      <a:r>
                        <a:rPr lang="en-GB" sz="1400"/>
                        <a:t>FMT has shown high efficacy in treating recurrent </a:t>
                      </a:r>
                      <a:r>
                        <a:rPr lang="en-GB" sz="1400" i="1"/>
                        <a:t>Clostridioides difficile</a:t>
                      </a:r>
                      <a:r>
                        <a:rPr lang="en-GB" sz="1400"/>
                        <a:t> infections, with success rates up to 90%.</a:t>
                      </a:r>
                    </a:p>
                  </a:txBody>
                  <a:tcPr marL="58707" marR="58707" marT="29354" marB="29354" anchor="ctr">
                    <a:lnL>
                      <a:noFill/>
                    </a:lnL>
                    <a:lnR>
                      <a:noFill/>
                    </a:lnR>
                    <a:lnT>
                      <a:noFill/>
                    </a:lnT>
                    <a:lnB>
                      <a:noFill/>
                    </a:lnB>
                    <a:noFill/>
                  </a:tcPr>
                </a:tc>
                <a:tc>
                  <a:txBody>
                    <a:bodyPr/>
                    <a:lstStyle/>
                    <a:p>
                      <a:r>
                        <a:rPr lang="en-GB" sz="1400" dirty="0">
                          <a:hlinkClick r:id="rId2"/>
                        </a:rPr>
                        <a:t>eBioMedicine, The Lancet</a:t>
                      </a:r>
                      <a:endParaRPr lang="en-GB" sz="1400" dirty="0"/>
                    </a:p>
                  </a:txBody>
                  <a:tcPr marL="58707" marR="58707" marT="29354" marB="29354" anchor="ctr">
                    <a:lnL>
                      <a:noFill/>
                    </a:lnL>
                    <a:lnR>
                      <a:noFill/>
                    </a:lnR>
                    <a:lnT>
                      <a:noFill/>
                    </a:lnT>
                    <a:lnB>
                      <a:noFill/>
                    </a:lnB>
                    <a:noFill/>
                  </a:tcPr>
                </a:tc>
                <a:extLst>
                  <a:ext uri="{0D108BD9-81ED-4DB2-BD59-A6C34878D82A}">
                    <a16:rowId xmlns:a16="http://schemas.microsoft.com/office/drawing/2014/main" val="1260892422"/>
                  </a:ext>
                </a:extLst>
              </a:tr>
              <a:tr h="658282">
                <a:tc>
                  <a:txBody>
                    <a:bodyPr/>
                    <a:lstStyle/>
                    <a:p>
                      <a:r>
                        <a:rPr lang="en-GB" sz="1400" b="1"/>
                        <a:t>Microbiome and Drug Response</a:t>
                      </a:r>
                      <a:endParaRPr lang="en-GB" sz="1400"/>
                    </a:p>
                  </a:txBody>
                  <a:tcPr marL="58707" marR="58707" marT="29354" marB="29354" anchor="ctr">
                    <a:lnL>
                      <a:noFill/>
                    </a:lnL>
                    <a:lnR>
                      <a:noFill/>
                    </a:lnR>
                    <a:lnT>
                      <a:noFill/>
                    </a:lnT>
                    <a:lnB>
                      <a:noFill/>
                    </a:lnB>
                    <a:noFill/>
                  </a:tcPr>
                </a:tc>
                <a:tc>
                  <a:txBody>
                    <a:bodyPr/>
                    <a:lstStyle/>
                    <a:p>
                      <a:r>
                        <a:rPr lang="en-GB" sz="1400"/>
                        <a:t>Studies indicate that gut bacteria can modulate the efficacy and toxicity of drugs, including chemotherapy and immunotherapy agents.</a:t>
                      </a:r>
                    </a:p>
                  </a:txBody>
                  <a:tcPr marL="58707" marR="58707" marT="29354" marB="29354" anchor="ctr">
                    <a:lnL>
                      <a:noFill/>
                    </a:lnL>
                    <a:lnR>
                      <a:noFill/>
                    </a:lnR>
                    <a:lnT>
                      <a:noFill/>
                    </a:lnT>
                    <a:lnB>
                      <a:noFill/>
                    </a:lnB>
                    <a:noFill/>
                  </a:tcPr>
                </a:tc>
                <a:tc>
                  <a:txBody>
                    <a:bodyPr/>
                    <a:lstStyle/>
                    <a:p>
                      <a:r>
                        <a:rPr lang="en-GB" sz="1400" dirty="0">
                          <a:hlinkClick r:id="rId3"/>
                        </a:rPr>
                        <a:t>https://</a:t>
                      </a:r>
                      <a:r>
                        <a:rPr lang="en-GB" sz="1400" dirty="0" err="1">
                          <a:hlinkClick r:id="rId3"/>
                        </a:rPr>
                        <a:t>pubmed.ncbi.nlm.nih.gov</a:t>
                      </a:r>
                      <a:r>
                        <a:rPr lang="en-GB" sz="1400" dirty="0">
                          <a:hlinkClick r:id="rId3"/>
                        </a:rPr>
                        <a:t>/36309208/</a:t>
                      </a:r>
                      <a:endParaRPr lang="en-GB" sz="1400" dirty="0"/>
                    </a:p>
                  </a:txBody>
                  <a:tcPr marL="58707" marR="58707" marT="29354" marB="29354" anchor="ctr">
                    <a:lnL>
                      <a:noFill/>
                    </a:lnL>
                    <a:lnR>
                      <a:noFill/>
                    </a:lnR>
                    <a:lnT>
                      <a:noFill/>
                    </a:lnT>
                    <a:lnB>
                      <a:noFill/>
                    </a:lnB>
                    <a:noFill/>
                  </a:tcPr>
                </a:tc>
                <a:extLst>
                  <a:ext uri="{0D108BD9-81ED-4DB2-BD59-A6C34878D82A}">
                    <a16:rowId xmlns:a16="http://schemas.microsoft.com/office/drawing/2014/main" val="2934537183"/>
                  </a:ext>
                </a:extLst>
              </a:tr>
            </a:tbl>
          </a:graphicData>
        </a:graphic>
      </p:graphicFrame>
    </p:spTree>
    <p:extLst>
      <p:ext uri="{BB962C8B-B14F-4D97-AF65-F5344CB8AC3E}">
        <p14:creationId xmlns:p14="http://schemas.microsoft.com/office/powerpoint/2010/main" val="12541965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7A68AE-7C10-E7E7-40D8-0125E0C1F66F}"/>
              </a:ext>
            </a:extLst>
          </p:cNvPr>
          <p:cNvSpPr>
            <a:spLocks noGrp="1"/>
          </p:cNvSpPr>
          <p:nvPr>
            <p:ph type="title"/>
          </p:nvPr>
        </p:nvSpPr>
        <p:spPr/>
        <p:txBody>
          <a:bodyPr/>
          <a:lstStyle/>
          <a:p>
            <a:endParaRPr lang="en-DK"/>
          </a:p>
        </p:txBody>
      </p:sp>
      <p:pic>
        <p:nvPicPr>
          <p:cNvPr id="2050" name="Picture 2" descr="Fig. 1">
            <a:extLst>
              <a:ext uri="{FF2B5EF4-FFF2-40B4-BE49-F238E27FC236}">
                <a16:creationId xmlns:a16="http://schemas.microsoft.com/office/drawing/2014/main" id="{90C191E8-ED4B-E122-2BCB-BA79704548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9650" y="0"/>
            <a:ext cx="76327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1454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13B96-5008-5F99-6813-445BD2BD57FC}"/>
              </a:ext>
            </a:extLst>
          </p:cNvPr>
          <p:cNvSpPr>
            <a:spLocks noGrp="1"/>
          </p:cNvSpPr>
          <p:nvPr>
            <p:ph type="title"/>
          </p:nvPr>
        </p:nvSpPr>
        <p:spPr/>
        <p:txBody>
          <a:bodyPr/>
          <a:lstStyle/>
          <a:p>
            <a:endParaRPr lang="en-DK"/>
          </a:p>
        </p:txBody>
      </p:sp>
      <p:pic>
        <p:nvPicPr>
          <p:cNvPr id="3074" name="Picture 2" descr="Fig. 2">
            <a:extLst>
              <a:ext uri="{FF2B5EF4-FFF2-40B4-BE49-F238E27FC236}">
                <a16:creationId xmlns:a16="http://schemas.microsoft.com/office/drawing/2014/main" id="{0423E12F-3F0C-705D-386D-F1F51191D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438" y="0"/>
            <a:ext cx="107775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941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644EDA-4027-47E4-C8D1-DC28B767676D}"/>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Impact of microbiome studies on Environmental Science</a:t>
            </a:r>
          </a:p>
        </p:txBody>
      </p:sp>
      <p:graphicFrame>
        <p:nvGraphicFramePr>
          <p:cNvPr id="5" name="Table 4">
            <a:extLst>
              <a:ext uri="{FF2B5EF4-FFF2-40B4-BE49-F238E27FC236}">
                <a16:creationId xmlns:a16="http://schemas.microsoft.com/office/drawing/2014/main" id="{F5D8AB45-4765-CEAF-47D3-11FF6FF36CCA}"/>
              </a:ext>
            </a:extLst>
          </p:cNvPr>
          <p:cNvGraphicFramePr>
            <a:graphicFrameLocks noGrp="1"/>
          </p:cNvGraphicFramePr>
          <p:nvPr>
            <p:extLst>
              <p:ext uri="{D42A27DB-BD31-4B8C-83A1-F6EECF244321}">
                <p14:modId xmlns:p14="http://schemas.microsoft.com/office/powerpoint/2010/main" val="2865863587"/>
              </p:ext>
            </p:extLst>
          </p:nvPr>
        </p:nvGraphicFramePr>
        <p:xfrm>
          <a:off x="643317" y="1795306"/>
          <a:ext cx="10905366" cy="4817956"/>
        </p:xfrm>
        <a:graphic>
          <a:graphicData uri="http://schemas.openxmlformats.org/drawingml/2006/table">
            <a:tbl>
              <a:tblPr/>
              <a:tblGrid>
                <a:gridCol w="3218026">
                  <a:extLst>
                    <a:ext uri="{9D8B030D-6E8A-4147-A177-3AD203B41FA5}">
                      <a16:colId xmlns:a16="http://schemas.microsoft.com/office/drawing/2014/main" val="2911860135"/>
                    </a:ext>
                  </a:extLst>
                </a:gridCol>
                <a:gridCol w="4912242">
                  <a:extLst>
                    <a:ext uri="{9D8B030D-6E8A-4147-A177-3AD203B41FA5}">
                      <a16:colId xmlns:a16="http://schemas.microsoft.com/office/drawing/2014/main" val="3496743960"/>
                    </a:ext>
                  </a:extLst>
                </a:gridCol>
                <a:gridCol w="2775098">
                  <a:extLst>
                    <a:ext uri="{9D8B030D-6E8A-4147-A177-3AD203B41FA5}">
                      <a16:colId xmlns:a16="http://schemas.microsoft.com/office/drawing/2014/main" val="2796709956"/>
                    </a:ext>
                  </a:extLst>
                </a:gridCol>
              </a:tblGrid>
              <a:tr h="193393">
                <a:tc>
                  <a:txBody>
                    <a:bodyPr/>
                    <a:lstStyle/>
                    <a:p>
                      <a:r>
                        <a:rPr lang="en-GB" sz="1600" b="1"/>
                        <a:t>Achievement</a:t>
                      </a:r>
                      <a:endParaRPr lang="en-GB" sz="1600"/>
                    </a:p>
                  </a:txBody>
                  <a:tcPr marL="48348" marR="48348" marT="24174" marB="24174" anchor="ctr">
                    <a:lnL>
                      <a:noFill/>
                    </a:lnL>
                    <a:lnR>
                      <a:noFill/>
                    </a:lnR>
                    <a:lnT>
                      <a:noFill/>
                    </a:lnT>
                    <a:lnB>
                      <a:noFill/>
                    </a:lnB>
                    <a:noFill/>
                  </a:tcPr>
                </a:tc>
                <a:tc>
                  <a:txBody>
                    <a:bodyPr/>
                    <a:lstStyle/>
                    <a:p>
                      <a:r>
                        <a:rPr lang="en-GB" sz="1600" b="1"/>
                        <a:t>Description</a:t>
                      </a:r>
                      <a:endParaRPr lang="en-GB" sz="1600"/>
                    </a:p>
                  </a:txBody>
                  <a:tcPr marL="48348" marR="48348" marT="24174" marB="24174" anchor="ctr">
                    <a:lnL>
                      <a:noFill/>
                    </a:lnL>
                    <a:lnR>
                      <a:noFill/>
                    </a:lnR>
                    <a:lnT>
                      <a:noFill/>
                    </a:lnT>
                    <a:lnB>
                      <a:noFill/>
                    </a:lnB>
                    <a:noFill/>
                  </a:tcPr>
                </a:tc>
                <a:tc>
                  <a:txBody>
                    <a:bodyPr/>
                    <a:lstStyle/>
                    <a:p>
                      <a:r>
                        <a:rPr lang="en-GB" sz="1600" b="1"/>
                        <a:t>Citation</a:t>
                      </a:r>
                      <a:endParaRPr lang="en-GB" sz="1600"/>
                    </a:p>
                  </a:txBody>
                  <a:tcPr marL="48348" marR="48348" marT="24174" marB="24174" anchor="ctr">
                    <a:lnL>
                      <a:noFill/>
                    </a:lnL>
                    <a:lnR>
                      <a:noFill/>
                    </a:lnR>
                    <a:lnT>
                      <a:noFill/>
                    </a:lnT>
                    <a:lnB>
                      <a:noFill/>
                    </a:lnB>
                    <a:noFill/>
                  </a:tcPr>
                </a:tc>
                <a:extLst>
                  <a:ext uri="{0D108BD9-81ED-4DB2-BD59-A6C34878D82A}">
                    <a16:rowId xmlns:a16="http://schemas.microsoft.com/office/drawing/2014/main" val="4036522085"/>
                  </a:ext>
                </a:extLst>
              </a:tr>
              <a:tr h="918616">
                <a:tc>
                  <a:txBody>
                    <a:bodyPr/>
                    <a:lstStyle/>
                    <a:p>
                      <a:r>
                        <a:rPr lang="en-GB" sz="1600" b="1"/>
                        <a:t>Soil and Plant Microbiomes</a:t>
                      </a:r>
                      <a:endParaRPr lang="en-GB" sz="1600"/>
                    </a:p>
                  </a:txBody>
                  <a:tcPr marL="48348" marR="48348" marT="24174" marB="24174" anchor="ctr">
                    <a:lnL>
                      <a:noFill/>
                    </a:lnL>
                    <a:lnR>
                      <a:noFill/>
                    </a:lnR>
                    <a:lnT>
                      <a:noFill/>
                    </a:lnT>
                    <a:lnB>
                      <a:noFill/>
                    </a:lnB>
                    <a:noFill/>
                  </a:tcPr>
                </a:tc>
                <a:tc>
                  <a:txBody>
                    <a:bodyPr/>
                    <a:lstStyle/>
                    <a:p>
                      <a:r>
                        <a:rPr lang="en-GB" sz="1600"/>
                        <a:t>Advanced understanding of plant-microbe interactions in the rhizosphere, leading to improved soil fertility and plant growth through biofertilizers and biopesticides.</a:t>
                      </a:r>
                    </a:p>
                  </a:txBody>
                  <a:tcPr marL="48348" marR="48348" marT="24174" marB="24174" anchor="ctr">
                    <a:lnL>
                      <a:noFill/>
                    </a:lnL>
                    <a:lnR>
                      <a:noFill/>
                    </a:lnR>
                    <a:lnT>
                      <a:noFill/>
                    </a:lnT>
                    <a:lnB>
                      <a:noFill/>
                    </a:lnB>
                    <a:noFill/>
                  </a:tcPr>
                </a:tc>
                <a:tc>
                  <a:txBody>
                    <a:bodyPr/>
                    <a:lstStyle/>
                    <a:p>
                      <a:r>
                        <a:rPr lang="en-GB" sz="1600">
                          <a:hlinkClick r:id="rId2"/>
                        </a:rPr>
                        <a:t>Plant Microbiome - Wikipedia</a:t>
                      </a:r>
                      <a:endParaRPr lang="en-GB" sz="1600"/>
                    </a:p>
                  </a:txBody>
                  <a:tcPr marL="48348" marR="48348" marT="24174" marB="24174" anchor="ctr">
                    <a:lnL>
                      <a:noFill/>
                    </a:lnL>
                    <a:lnR>
                      <a:noFill/>
                    </a:lnR>
                    <a:lnT>
                      <a:noFill/>
                    </a:lnT>
                    <a:lnB>
                      <a:noFill/>
                    </a:lnB>
                    <a:noFill/>
                  </a:tcPr>
                </a:tc>
                <a:extLst>
                  <a:ext uri="{0D108BD9-81ED-4DB2-BD59-A6C34878D82A}">
                    <a16:rowId xmlns:a16="http://schemas.microsoft.com/office/drawing/2014/main" val="1919197000"/>
                  </a:ext>
                </a:extLst>
              </a:tr>
              <a:tr h="773571">
                <a:tc>
                  <a:txBody>
                    <a:bodyPr/>
                    <a:lstStyle/>
                    <a:p>
                      <a:r>
                        <a:rPr lang="en-GB" sz="1600" b="1"/>
                        <a:t>Bioremediation</a:t>
                      </a:r>
                      <a:endParaRPr lang="en-GB" sz="1600"/>
                    </a:p>
                  </a:txBody>
                  <a:tcPr marL="48348" marR="48348" marT="24174" marB="24174" anchor="ctr">
                    <a:lnL>
                      <a:noFill/>
                    </a:lnL>
                    <a:lnR>
                      <a:noFill/>
                    </a:lnR>
                    <a:lnT>
                      <a:noFill/>
                    </a:lnT>
                    <a:lnB>
                      <a:noFill/>
                    </a:lnB>
                    <a:noFill/>
                  </a:tcPr>
                </a:tc>
                <a:tc>
                  <a:txBody>
                    <a:bodyPr/>
                    <a:lstStyle/>
                    <a:p>
                      <a:r>
                        <a:rPr lang="en-GB" sz="1600"/>
                        <a:t>Utilization of microbes to clean up environmental pollutants like oil spills, heavy metals, and plastics, enhancing wastewater treatment processes.</a:t>
                      </a:r>
                    </a:p>
                  </a:txBody>
                  <a:tcPr marL="48348" marR="48348" marT="24174" marB="24174" anchor="ctr">
                    <a:lnL>
                      <a:noFill/>
                    </a:lnL>
                    <a:lnR>
                      <a:noFill/>
                    </a:lnR>
                    <a:lnT>
                      <a:noFill/>
                    </a:lnT>
                    <a:lnB>
                      <a:noFill/>
                    </a:lnB>
                    <a:noFill/>
                  </a:tcPr>
                </a:tc>
                <a:tc>
                  <a:txBody>
                    <a:bodyPr/>
                    <a:lstStyle/>
                    <a:p>
                      <a:r>
                        <a:rPr lang="en-GB" sz="1600" dirty="0">
                          <a:hlinkClick r:id="rId3"/>
                        </a:rPr>
                        <a:t>Wired</a:t>
                      </a:r>
                      <a:br>
                        <a:rPr lang="en-GB" sz="1600" dirty="0"/>
                      </a:br>
                      <a:r>
                        <a:rPr lang="en-GB" sz="1600" dirty="0">
                          <a:hlinkClick r:id="rId4"/>
                        </a:rPr>
                        <a:t>https://www.nature.com/articles/s41467-024-51957-8</a:t>
                      </a:r>
                      <a:endParaRPr lang="en-GB" sz="1600" dirty="0"/>
                    </a:p>
                    <a:p>
                      <a:endParaRPr lang="en-GB" sz="1600" dirty="0"/>
                    </a:p>
                  </a:txBody>
                  <a:tcPr marL="48348" marR="48348" marT="24174" marB="24174" anchor="ctr">
                    <a:lnL>
                      <a:noFill/>
                    </a:lnL>
                    <a:lnR>
                      <a:noFill/>
                    </a:lnR>
                    <a:lnT>
                      <a:noFill/>
                    </a:lnT>
                    <a:lnB>
                      <a:noFill/>
                    </a:lnB>
                    <a:noFill/>
                  </a:tcPr>
                </a:tc>
                <a:extLst>
                  <a:ext uri="{0D108BD9-81ED-4DB2-BD59-A6C34878D82A}">
                    <a16:rowId xmlns:a16="http://schemas.microsoft.com/office/drawing/2014/main" val="1603341877"/>
                  </a:ext>
                </a:extLst>
              </a:tr>
              <a:tr h="773571">
                <a:tc>
                  <a:txBody>
                    <a:bodyPr/>
                    <a:lstStyle/>
                    <a:p>
                      <a:r>
                        <a:rPr lang="en-GB" sz="1600" b="1"/>
                        <a:t>Climate Change and Carbon Cycling</a:t>
                      </a:r>
                      <a:endParaRPr lang="en-GB" sz="1600"/>
                    </a:p>
                  </a:txBody>
                  <a:tcPr marL="48348" marR="48348" marT="24174" marB="24174" anchor="ctr">
                    <a:lnL>
                      <a:noFill/>
                    </a:lnL>
                    <a:lnR>
                      <a:noFill/>
                    </a:lnR>
                    <a:lnT>
                      <a:noFill/>
                    </a:lnT>
                    <a:lnB>
                      <a:noFill/>
                    </a:lnB>
                    <a:noFill/>
                  </a:tcPr>
                </a:tc>
                <a:tc>
                  <a:txBody>
                    <a:bodyPr/>
                    <a:lstStyle/>
                    <a:p>
                      <a:r>
                        <a:rPr lang="en-GB" sz="1600"/>
                        <a:t>Microbiome studies have revealed microbial roles in carbon sequestration and greenhouse gas emissions, aiding in climate feedback modeling.</a:t>
                      </a:r>
                    </a:p>
                  </a:txBody>
                  <a:tcPr marL="48348" marR="48348" marT="24174" marB="24174" anchor="ctr">
                    <a:lnL>
                      <a:noFill/>
                    </a:lnL>
                    <a:lnR>
                      <a:noFill/>
                    </a:lnR>
                    <a:lnT>
                      <a:noFill/>
                    </a:lnT>
                    <a:lnB>
                      <a:noFill/>
                    </a:lnB>
                    <a:noFill/>
                  </a:tcPr>
                </a:tc>
                <a:tc>
                  <a:txBody>
                    <a:bodyPr/>
                    <a:lstStyle/>
                    <a:p>
                      <a:r>
                        <a:rPr lang="en-GB" sz="1600">
                          <a:hlinkClick r:id="rId3"/>
                        </a:rPr>
                        <a:t>Wired</a:t>
                      </a:r>
                      <a:endParaRPr lang="en-GB" sz="1600"/>
                    </a:p>
                  </a:txBody>
                  <a:tcPr marL="48348" marR="48348" marT="24174" marB="24174" anchor="ctr">
                    <a:lnL>
                      <a:noFill/>
                    </a:lnL>
                    <a:lnR>
                      <a:noFill/>
                    </a:lnR>
                    <a:lnT>
                      <a:noFill/>
                    </a:lnT>
                    <a:lnB>
                      <a:noFill/>
                    </a:lnB>
                    <a:noFill/>
                  </a:tcPr>
                </a:tc>
                <a:extLst>
                  <a:ext uri="{0D108BD9-81ED-4DB2-BD59-A6C34878D82A}">
                    <a16:rowId xmlns:a16="http://schemas.microsoft.com/office/drawing/2014/main" val="328501200"/>
                  </a:ext>
                </a:extLst>
              </a:tr>
              <a:tr h="773571">
                <a:tc>
                  <a:txBody>
                    <a:bodyPr/>
                    <a:lstStyle/>
                    <a:p>
                      <a:r>
                        <a:rPr lang="en-GB" sz="1600" b="1"/>
                        <a:t>Marine and Aquatic Ecosystems</a:t>
                      </a:r>
                      <a:endParaRPr lang="en-GB" sz="1600"/>
                    </a:p>
                  </a:txBody>
                  <a:tcPr marL="48348" marR="48348" marT="24174" marB="24174" anchor="ctr">
                    <a:lnL>
                      <a:noFill/>
                    </a:lnL>
                    <a:lnR>
                      <a:noFill/>
                    </a:lnR>
                    <a:lnT>
                      <a:noFill/>
                    </a:lnT>
                    <a:lnB>
                      <a:noFill/>
                    </a:lnB>
                    <a:noFill/>
                  </a:tcPr>
                </a:tc>
                <a:tc>
                  <a:txBody>
                    <a:bodyPr/>
                    <a:lstStyle/>
                    <a:p>
                      <a:r>
                        <a:rPr lang="en-GB" sz="1600"/>
                        <a:t>Microbial communities regulate oceanic nutrient cycling, such as nitrogen fixation, and contribute to coral reef health and resilience.</a:t>
                      </a:r>
                    </a:p>
                  </a:txBody>
                  <a:tcPr marL="48348" marR="48348" marT="24174" marB="24174" anchor="ctr">
                    <a:lnL>
                      <a:noFill/>
                    </a:lnL>
                    <a:lnR>
                      <a:noFill/>
                    </a:lnR>
                    <a:lnT>
                      <a:noFill/>
                    </a:lnT>
                    <a:lnB>
                      <a:noFill/>
                    </a:lnB>
                    <a:noFill/>
                  </a:tcPr>
                </a:tc>
                <a:tc>
                  <a:txBody>
                    <a:bodyPr/>
                    <a:lstStyle/>
                    <a:p>
                      <a:r>
                        <a:rPr lang="en-GB" sz="1600">
                          <a:hlinkClick r:id="rId3"/>
                        </a:rPr>
                        <a:t>Wired</a:t>
                      </a:r>
                      <a:endParaRPr lang="en-GB" sz="1600"/>
                    </a:p>
                  </a:txBody>
                  <a:tcPr marL="48348" marR="48348" marT="24174" marB="24174" anchor="ctr">
                    <a:lnL>
                      <a:noFill/>
                    </a:lnL>
                    <a:lnR>
                      <a:noFill/>
                    </a:lnR>
                    <a:lnT>
                      <a:noFill/>
                    </a:lnT>
                    <a:lnB>
                      <a:noFill/>
                    </a:lnB>
                    <a:noFill/>
                  </a:tcPr>
                </a:tc>
                <a:extLst>
                  <a:ext uri="{0D108BD9-81ED-4DB2-BD59-A6C34878D82A}">
                    <a16:rowId xmlns:a16="http://schemas.microsoft.com/office/drawing/2014/main" val="3873410902"/>
                  </a:ext>
                </a:extLst>
              </a:tr>
              <a:tr h="918616">
                <a:tc>
                  <a:txBody>
                    <a:bodyPr/>
                    <a:lstStyle/>
                    <a:p>
                      <a:r>
                        <a:rPr lang="en-GB" sz="1600" b="1"/>
                        <a:t>One Health Framework</a:t>
                      </a:r>
                      <a:endParaRPr lang="en-GB" sz="1600"/>
                    </a:p>
                  </a:txBody>
                  <a:tcPr marL="48348" marR="48348" marT="24174" marB="24174" anchor="ctr">
                    <a:lnL>
                      <a:noFill/>
                    </a:lnL>
                    <a:lnR>
                      <a:noFill/>
                    </a:lnR>
                    <a:lnT>
                      <a:noFill/>
                    </a:lnT>
                    <a:lnB>
                      <a:noFill/>
                    </a:lnB>
                    <a:noFill/>
                  </a:tcPr>
                </a:tc>
                <a:tc>
                  <a:txBody>
                    <a:bodyPr/>
                    <a:lstStyle/>
                    <a:p>
                      <a:r>
                        <a:rPr lang="en-GB" sz="1600"/>
                        <a:t>Integration of microbiome knowledge across humans, animals, and the environment supports global health efforts in disease surveillance and antimicrobial resistance.</a:t>
                      </a:r>
                    </a:p>
                  </a:txBody>
                  <a:tcPr marL="48348" marR="48348" marT="24174" marB="24174" anchor="ctr">
                    <a:lnL>
                      <a:noFill/>
                    </a:lnL>
                    <a:lnR>
                      <a:noFill/>
                    </a:lnR>
                    <a:lnT>
                      <a:noFill/>
                    </a:lnT>
                    <a:lnB>
                      <a:noFill/>
                    </a:lnB>
                    <a:noFill/>
                  </a:tcPr>
                </a:tc>
                <a:tc>
                  <a:txBody>
                    <a:bodyPr/>
                    <a:lstStyle/>
                    <a:p>
                      <a:r>
                        <a:rPr lang="en-GB" sz="1600" dirty="0">
                          <a:hlinkClick r:id="rId3"/>
                        </a:rPr>
                        <a:t>Wired</a:t>
                      </a:r>
                      <a:endParaRPr lang="en-GB" sz="1600" dirty="0"/>
                    </a:p>
                  </a:txBody>
                  <a:tcPr marL="48348" marR="48348" marT="24174" marB="24174" anchor="ctr">
                    <a:lnL>
                      <a:noFill/>
                    </a:lnL>
                    <a:lnR>
                      <a:noFill/>
                    </a:lnR>
                    <a:lnT>
                      <a:noFill/>
                    </a:lnT>
                    <a:lnB>
                      <a:noFill/>
                    </a:lnB>
                    <a:noFill/>
                  </a:tcPr>
                </a:tc>
                <a:extLst>
                  <a:ext uri="{0D108BD9-81ED-4DB2-BD59-A6C34878D82A}">
                    <a16:rowId xmlns:a16="http://schemas.microsoft.com/office/drawing/2014/main" val="3413597155"/>
                  </a:ext>
                </a:extLst>
              </a:tr>
            </a:tbl>
          </a:graphicData>
        </a:graphic>
      </p:graphicFrame>
    </p:spTree>
    <p:extLst>
      <p:ext uri="{BB962C8B-B14F-4D97-AF65-F5344CB8AC3E}">
        <p14:creationId xmlns:p14="http://schemas.microsoft.com/office/powerpoint/2010/main" val="39596787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282AB-8865-2DAB-B6FC-E0504B920FBF}"/>
              </a:ext>
            </a:extLst>
          </p:cNvPr>
          <p:cNvSpPr>
            <a:spLocks noGrp="1"/>
          </p:cNvSpPr>
          <p:nvPr>
            <p:ph type="title"/>
          </p:nvPr>
        </p:nvSpPr>
        <p:spPr/>
        <p:txBody>
          <a:bodyPr/>
          <a:lstStyle/>
          <a:p>
            <a:endParaRPr lang="en-DK"/>
          </a:p>
        </p:txBody>
      </p:sp>
      <p:pic>
        <p:nvPicPr>
          <p:cNvPr id="5122" name="Picture 2" descr="Fig. 1">
            <a:extLst>
              <a:ext uri="{FF2B5EF4-FFF2-40B4-BE49-F238E27FC236}">
                <a16:creationId xmlns:a16="http://schemas.microsoft.com/office/drawing/2014/main" id="{306129E8-681B-BC84-9D69-1CF02F872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12963" y="0"/>
            <a:ext cx="796607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0869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4085-86C7-2F25-2D73-C9FA77DAB732}"/>
              </a:ext>
            </a:extLst>
          </p:cNvPr>
          <p:cNvSpPr>
            <a:spLocks noGrp="1"/>
          </p:cNvSpPr>
          <p:nvPr>
            <p:ph type="title"/>
          </p:nvPr>
        </p:nvSpPr>
        <p:spPr/>
        <p:txBody>
          <a:bodyPr/>
          <a:lstStyle/>
          <a:p>
            <a:endParaRPr lang="en-DK"/>
          </a:p>
        </p:txBody>
      </p:sp>
      <p:sp>
        <p:nvSpPr>
          <p:cNvPr id="3" name="Content Placeholder 2">
            <a:extLst>
              <a:ext uri="{FF2B5EF4-FFF2-40B4-BE49-F238E27FC236}">
                <a16:creationId xmlns:a16="http://schemas.microsoft.com/office/drawing/2014/main" id="{54C10B1D-834B-3664-1B89-2C4D3478CEA2}"/>
              </a:ext>
            </a:extLst>
          </p:cNvPr>
          <p:cNvSpPr>
            <a:spLocks noGrp="1"/>
          </p:cNvSpPr>
          <p:nvPr>
            <p:ph idx="1"/>
          </p:nvPr>
        </p:nvSpPr>
        <p:spPr/>
        <p:txBody>
          <a:bodyPr/>
          <a:lstStyle/>
          <a:p>
            <a:endParaRPr lang="en-DK"/>
          </a:p>
        </p:txBody>
      </p:sp>
    </p:spTree>
    <p:extLst>
      <p:ext uri="{BB962C8B-B14F-4D97-AF65-F5344CB8AC3E}">
        <p14:creationId xmlns:p14="http://schemas.microsoft.com/office/powerpoint/2010/main" val="22765102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489D9A-D4D8-628D-D280-B8AA4E96DB75}"/>
              </a:ext>
            </a:extLst>
          </p:cNvPr>
          <p:cNvSpPr>
            <a:spLocks noGrp="1"/>
          </p:cNvSpPr>
          <p:nvPr>
            <p:ph type="title"/>
          </p:nvPr>
        </p:nvSpPr>
        <p:spPr>
          <a:xfrm>
            <a:off x="533400" y="-166255"/>
            <a:ext cx="10515600" cy="1325563"/>
          </a:xfrm>
        </p:spPr>
        <p:txBody>
          <a:bodyPr/>
          <a:lstStyle/>
          <a:p>
            <a:r>
              <a:rPr lang="en-DK" dirty="0"/>
              <a:t>Timeline of microbiome science</a:t>
            </a:r>
          </a:p>
        </p:txBody>
      </p:sp>
      <p:pic>
        <p:nvPicPr>
          <p:cNvPr id="9218" name="Picture 2">
            <a:extLst>
              <a:ext uri="{FF2B5EF4-FFF2-40B4-BE49-F238E27FC236}">
                <a16:creationId xmlns:a16="http://schemas.microsoft.com/office/drawing/2014/main" id="{B88AD619-927B-65E6-BDEA-8260C21E23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692" y="711200"/>
            <a:ext cx="12192000" cy="6146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4087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6ACF9-B90D-C710-AF06-A897EC8FB91F}"/>
              </a:ext>
            </a:extLst>
          </p:cNvPr>
          <p:cNvSpPr>
            <a:spLocks noGrp="1"/>
          </p:cNvSpPr>
          <p:nvPr>
            <p:ph type="title"/>
          </p:nvPr>
        </p:nvSpPr>
        <p:spPr>
          <a:xfrm>
            <a:off x="838200" y="43666"/>
            <a:ext cx="10515600" cy="1325563"/>
          </a:xfrm>
        </p:spPr>
        <p:txBody>
          <a:bodyPr/>
          <a:lstStyle/>
          <a:p>
            <a:r>
              <a:rPr lang="en-DK" dirty="0"/>
              <a:t>Microbiome definition</a:t>
            </a:r>
          </a:p>
        </p:txBody>
      </p:sp>
      <p:sp>
        <p:nvSpPr>
          <p:cNvPr id="4" name="TextBox 3">
            <a:extLst>
              <a:ext uri="{FF2B5EF4-FFF2-40B4-BE49-F238E27FC236}">
                <a16:creationId xmlns:a16="http://schemas.microsoft.com/office/drawing/2014/main" id="{48769A3B-5D9E-E7D0-D526-1268F30B0B71}"/>
              </a:ext>
            </a:extLst>
          </p:cNvPr>
          <p:cNvSpPr txBox="1"/>
          <p:nvPr/>
        </p:nvSpPr>
        <p:spPr>
          <a:xfrm>
            <a:off x="949038" y="1954833"/>
            <a:ext cx="2175164" cy="2031325"/>
          </a:xfrm>
          <a:prstGeom prst="rect">
            <a:avLst/>
          </a:prstGeom>
          <a:noFill/>
        </p:spPr>
        <p:txBody>
          <a:bodyPr wrap="square" rtlCol="0">
            <a:spAutoFit/>
          </a:bodyPr>
          <a:lstStyle/>
          <a:p>
            <a:r>
              <a:rPr lang="en-DK" dirty="0"/>
              <a:t>Inhabitants:</a:t>
            </a:r>
          </a:p>
          <a:p>
            <a:pPr marL="285750" indent="-285750">
              <a:buFont typeface="Arial" panose="020B0604020202020204" pitchFamily="34" charset="0"/>
              <a:buChar char="•"/>
            </a:pPr>
            <a:r>
              <a:rPr lang="en-DK" dirty="0"/>
              <a:t>Bacteria</a:t>
            </a:r>
          </a:p>
          <a:p>
            <a:pPr marL="285750" indent="-285750">
              <a:buFont typeface="Arial" panose="020B0604020202020204" pitchFamily="34" charset="0"/>
              <a:buChar char="•"/>
            </a:pPr>
            <a:r>
              <a:rPr lang="en-DK" dirty="0"/>
              <a:t>Archaea</a:t>
            </a:r>
          </a:p>
          <a:p>
            <a:pPr marL="285750" indent="-285750">
              <a:buFont typeface="Arial" panose="020B0604020202020204" pitchFamily="34" charset="0"/>
              <a:buChar char="•"/>
            </a:pPr>
            <a:r>
              <a:rPr lang="en-DK" dirty="0"/>
              <a:t>Fungi</a:t>
            </a:r>
          </a:p>
          <a:p>
            <a:pPr marL="285750" indent="-285750">
              <a:buFont typeface="Arial" panose="020B0604020202020204" pitchFamily="34" charset="0"/>
              <a:buChar char="•"/>
            </a:pPr>
            <a:r>
              <a:rPr lang="en-DK" dirty="0"/>
              <a:t>Viruses</a:t>
            </a:r>
          </a:p>
          <a:p>
            <a:pPr marL="285750" indent="-285750">
              <a:buFont typeface="Arial" panose="020B0604020202020204" pitchFamily="34" charset="0"/>
              <a:buChar char="•"/>
            </a:pPr>
            <a:r>
              <a:rPr lang="en-DK" dirty="0"/>
              <a:t>Protozoa</a:t>
            </a:r>
          </a:p>
          <a:p>
            <a:pPr marL="285750" indent="-285750">
              <a:buFont typeface="Arial" panose="020B0604020202020204" pitchFamily="34" charset="0"/>
              <a:buChar char="•"/>
            </a:pPr>
            <a:r>
              <a:rPr lang="en-DK" dirty="0"/>
              <a:t>…</a:t>
            </a:r>
          </a:p>
        </p:txBody>
      </p:sp>
      <p:sp>
        <p:nvSpPr>
          <p:cNvPr id="5" name="TextBox 4">
            <a:extLst>
              <a:ext uri="{FF2B5EF4-FFF2-40B4-BE49-F238E27FC236}">
                <a16:creationId xmlns:a16="http://schemas.microsoft.com/office/drawing/2014/main" id="{5C09A294-C945-E9F9-B338-B6EF07B8CEBD}"/>
              </a:ext>
            </a:extLst>
          </p:cNvPr>
          <p:cNvSpPr txBox="1"/>
          <p:nvPr/>
        </p:nvSpPr>
        <p:spPr>
          <a:xfrm>
            <a:off x="949037" y="1074120"/>
            <a:ext cx="8021783" cy="369332"/>
          </a:xfrm>
          <a:prstGeom prst="rect">
            <a:avLst/>
          </a:prstGeom>
          <a:noFill/>
        </p:spPr>
        <p:txBody>
          <a:bodyPr wrap="square" rtlCol="0">
            <a:spAutoFit/>
          </a:bodyPr>
          <a:lstStyle/>
          <a:p>
            <a:r>
              <a:rPr lang="en-DK" dirty="0"/>
              <a:t>Microbiome refers to an organism community in an specific environment</a:t>
            </a:r>
          </a:p>
        </p:txBody>
      </p:sp>
      <p:sp>
        <p:nvSpPr>
          <p:cNvPr id="6" name="TextBox 5">
            <a:extLst>
              <a:ext uri="{FF2B5EF4-FFF2-40B4-BE49-F238E27FC236}">
                <a16:creationId xmlns:a16="http://schemas.microsoft.com/office/drawing/2014/main" id="{5CFCF3C9-1D6F-68B0-A820-340A61AB5F3B}"/>
              </a:ext>
            </a:extLst>
          </p:cNvPr>
          <p:cNvSpPr txBox="1"/>
          <p:nvPr/>
        </p:nvSpPr>
        <p:spPr>
          <a:xfrm>
            <a:off x="949037" y="4155153"/>
            <a:ext cx="2576945" cy="2031325"/>
          </a:xfrm>
          <a:prstGeom prst="rect">
            <a:avLst/>
          </a:prstGeom>
          <a:noFill/>
        </p:spPr>
        <p:txBody>
          <a:bodyPr wrap="square" rtlCol="0">
            <a:spAutoFit/>
          </a:bodyPr>
          <a:lstStyle/>
          <a:p>
            <a:r>
              <a:rPr lang="en-DK" dirty="0"/>
              <a:t>Environment:</a:t>
            </a:r>
          </a:p>
          <a:p>
            <a:pPr marL="285750" indent="-285750">
              <a:buFont typeface="Arial" panose="020B0604020202020204" pitchFamily="34" charset="0"/>
              <a:buChar char="•"/>
            </a:pPr>
            <a:r>
              <a:rPr lang="en-DK" dirty="0"/>
              <a:t>Soil</a:t>
            </a:r>
          </a:p>
          <a:p>
            <a:pPr marL="285750" indent="-285750">
              <a:buFont typeface="Arial" panose="020B0604020202020204" pitchFamily="34" charset="0"/>
              <a:buChar char="•"/>
            </a:pPr>
            <a:r>
              <a:rPr lang="en-DK" dirty="0"/>
              <a:t>Ocean</a:t>
            </a:r>
          </a:p>
          <a:p>
            <a:pPr marL="285750" indent="-285750">
              <a:buFont typeface="Arial" panose="020B0604020202020204" pitchFamily="34" charset="0"/>
              <a:buChar char="•"/>
            </a:pPr>
            <a:r>
              <a:rPr lang="en-DK" dirty="0"/>
              <a:t>Wastewater plant</a:t>
            </a:r>
          </a:p>
          <a:p>
            <a:pPr marL="285750" indent="-285750">
              <a:buFont typeface="Arial" panose="020B0604020202020204" pitchFamily="34" charset="0"/>
              <a:buChar char="•"/>
            </a:pPr>
            <a:r>
              <a:rPr lang="en-DK" dirty="0"/>
              <a:t>Gut</a:t>
            </a:r>
          </a:p>
          <a:p>
            <a:pPr marL="285750" indent="-285750">
              <a:buFont typeface="Arial" panose="020B0604020202020204" pitchFamily="34" charset="0"/>
              <a:buChar char="•"/>
            </a:pPr>
            <a:r>
              <a:rPr lang="en-DK" dirty="0"/>
              <a:t>Skin</a:t>
            </a:r>
          </a:p>
          <a:p>
            <a:pPr marL="285750" indent="-285750">
              <a:buFont typeface="Arial" panose="020B0604020202020204" pitchFamily="34" charset="0"/>
              <a:buChar char="•"/>
            </a:pPr>
            <a:r>
              <a:rPr lang="en-DK" dirty="0"/>
              <a:t>…</a:t>
            </a:r>
          </a:p>
        </p:txBody>
      </p:sp>
      <p:sp>
        <p:nvSpPr>
          <p:cNvPr id="7" name="TextBox 6">
            <a:extLst>
              <a:ext uri="{FF2B5EF4-FFF2-40B4-BE49-F238E27FC236}">
                <a16:creationId xmlns:a16="http://schemas.microsoft.com/office/drawing/2014/main" id="{C13AAE1B-A5D1-1C25-2C1B-2A5F66CB5BF8}"/>
              </a:ext>
            </a:extLst>
          </p:cNvPr>
          <p:cNvSpPr txBox="1"/>
          <p:nvPr/>
        </p:nvSpPr>
        <p:spPr>
          <a:xfrm>
            <a:off x="8735292" y="1800273"/>
            <a:ext cx="2770909" cy="1477328"/>
          </a:xfrm>
          <a:prstGeom prst="rect">
            <a:avLst/>
          </a:prstGeom>
          <a:noFill/>
        </p:spPr>
        <p:txBody>
          <a:bodyPr wrap="square" rtlCol="0">
            <a:spAutoFit/>
          </a:bodyPr>
          <a:lstStyle/>
          <a:p>
            <a:r>
              <a:rPr lang="en-DK" dirty="0"/>
              <a:t>Organism products:</a:t>
            </a:r>
          </a:p>
          <a:p>
            <a:pPr marL="285750" indent="-285750">
              <a:buFont typeface="Arial" panose="020B0604020202020204" pitchFamily="34" charset="0"/>
              <a:buChar char="•"/>
            </a:pPr>
            <a:r>
              <a:rPr lang="en-DK" dirty="0"/>
              <a:t>Genes</a:t>
            </a:r>
          </a:p>
          <a:p>
            <a:pPr marL="285750" indent="-285750">
              <a:buFont typeface="Arial" panose="020B0604020202020204" pitchFamily="34" charset="0"/>
              <a:buChar char="•"/>
            </a:pPr>
            <a:r>
              <a:rPr lang="en-DK" dirty="0"/>
              <a:t>Proteins</a:t>
            </a:r>
          </a:p>
          <a:p>
            <a:pPr marL="285750" indent="-285750">
              <a:buFont typeface="Arial" panose="020B0604020202020204" pitchFamily="34" charset="0"/>
              <a:buChar char="•"/>
            </a:pPr>
            <a:r>
              <a:rPr lang="en-DK" dirty="0"/>
              <a:t>Pathways</a:t>
            </a:r>
          </a:p>
          <a:p>
            <a:pPr marL="285750" indent="-285750">
              <a:buFont typeface="Arial" panose="020B0604020202020204" pitchFamily="34" charset="0"/>
              <a:buChar char="•"/>
            </a:pPr>
            <a:r>
              <a:rPr lang="en-DK" dirty="0"/>
              <a:t>Metabolites</a:t>
            </a:r>
          </a:p>
        </p:txBody>
      </p:sp>
      <p:sp>
        <p:nvSpPr>
          <p:cNvPr id="8" name="TextBox 7">
            <a:extLst>
              <a:ext uri="{FF2B5EF4-FFF2-40B4-BE49-F238E27FC236}">
                <a16:creationId xmlns:a16="http://schemas.microsoft.com/office/drawing/2014/main" id="{0567C149-E08A-15F2-43F8-C308AA1B5A39}"/>
              </a:ext>
            </a:extLst>
          </p:cNvPr>
          <p:cNvSpPr txBox="1"/>
          <p:nvPr/>
        </p:nvSpPr>
        <p:spPr>
          <a:xfrm>
            <a:off x="8735292" y="4063753"/>
            <a:ext cx="2743201" cy="2031325"/>
          </a:xfrm>
          <a:prstGeom prst="rect">
            <a:avLst/>
          </a:prstGeom>
          <a:noFill/>
        </p:spPr>
        <p:txBody>
          <a:bodyPr wrap="square" rtlCol="0">
            <a:spAutoFit/>
          </a:bodyPr>
          <a:lstStyle/>
          <a:p>
            <a:r>
              <a:rPr lang="en-DK" dirty="0"/>
              <a:t>In contrast to a monoculture (all cells belong to one organism), in a microbiome we have cells of many different organisms </a:t>
            </a:r>
            <a:r>
              <a:rPr lang="en-DK" dirty="0">
                <a:sym typeface="Wingdings" pitchFamily="2" charset="2"/>
              </a:rPr>
              <a:t> microbial community</a:t>
            </a:r>
            <a:endParaRPr lang="en-DK" dirty="0"/>
          </a:p>
        </p:txBody>
      </p:sp>
      <p:grpSp>
        <p:nvGrpSpPr>
          <p:cNvPr id="14" name="Group 13">
            <a:extLst>
              <a:ext uri="{FF2B5EF4-FFF2-40B4-BE49-F238E27FC236}">
                <a16:creationId xmlns:a16="http://schemas.microsoft.com/office/drawing/2014/main" id="{96410335-7C0A-EC5E-BAE0-AD2F1524976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FA55E980-3FD9-73F6-B886-05847539D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7C6EDF92-8405-988F-5459-97E6AD6C0540}"/>
                </a:ext>
              </a:extLst>
            </p:cNvPr>
            <p:cNvPicPr>
              <a:picLocks noChangeAspect="1"/>
            </p:cNvPicPr>
            <p:nvPr/>
          </p:nvPicPr>
          <p:blipFill>
            <a:blip r:embed="rId3"/>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5435778A-4E3F-EEEA-BF19-3E488C0A65BD}"/>
                </a:ext>
              </a:extLst>
            </p:cNvPr>
            <p:cNvPicPr>
              <a:picLocks noChangeAspect="1"/>
            </p:cNvPicPr>
            <p:nvPr/>
          </p:nvPicPr>
          <p:blipFill>
            <a:blip r:embed="rId3"/>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43CEA990-F107-4A3A-3835-DA0A904A3E06}"/>
                </a:ext>
              </a:extLst>
            </p:cNvPr>
            <p:cNvPicPr>
              <a:picLocks noChangeAspect="1"/>
            </p:cNvPicPr>
            <p:nvPr/>
          </p:nvPicPr>
          <p:blipFill>
            <a:blip r:embed="rId3"/>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17773283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506D42-F026-9382-1C26-DDF56598096E}"/>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25A618-08B0-CD39-EED9-097FD49C3650}"/>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graphicFrame>
        <p:nvGraphicFramePr>
          <p:cNvPr id="6" name="TextBox 3">
            <a:extLst>
              <a:ext uri="{FF2B5EF4-FFF2-40B4-BE49-F238E27FC236}">
                <a16:creationId xmlns:a16="http://schemas.microsoft.com/office/drawing/2014/main" id="{CF5928EC-1CA9-B124-ED24-06AA0BFCD5F9}"/>
              </a:ext>
            </a:extLst>
          </p:cNvPr>
          <p:cNvGraphicFramePr/>
          <p:nvPr>
            <p:extLst>
              <p:ext uri="{D42A27DB-BD31-4B8C-83A1-F6EECF244321}">
                <p14:modId xmlns:p14="http://schemas.microsoft.com/office/powerpoint/2010/main" val="4128226292"/>
              </p:ext>
            </p:extLst>
          </p:nvPr>
        </p:nvGraphicFramePr>
        <p:xfrm>
          <a:off x="838200" y="1579418"/>
          <a:ext cx="10515600" cy="45975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04995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50A91-3176-5927-2A2F-BEBBAFB98FBE}"/>
              </a:ext>
            </a:extLst>
          </p:cNvPr>
          <p:cNvSpPr>
            <a:spLocks noGrp="1"/>
          </p:cNvSpPr>
          <p:nvPr>
            <p:ph type="title"/>
          </p:nvPr>
        </p:nvSpPr>
        <p:spPr/>
        <p:txBody>
          <a:bodyPr/>
          <a:lstStyle/>
          <a:p>
            <a:r>
              <a:rPr lang="en-DK" dirty="0"/>
              <a:t>What is Metagenomics?</a:t>
            </a:r>
          </a:p>
        </p:txBody>
      </p:sp>
      <p:sp>
        <p:nvSpPr>
          <p:cNvPr id="3" name="Content Placeholder 2">
            <a:extLst>
              <a:ext uri="{FF2B5EF4-FFF2-40B4-BE49-F238E27FC236}">
                <a16:creationId xmlns:a16="http://schemas.microsoft.com/office/drawing/2014/main" id="{5E8778BC-5756-6E85-FDCE-6B109645A13A}"/>
              </a:ext>
            </a:extLst>
          </p:cNvPr>
          <p:cNvSpPr>
            <a:spLocks noGrp="1"/>
          </p:cNvSpPr>
          <p:nvPr>
            <p:ph idx="1"/>
          </p:nvPr>
        </p:nvSpPr>
        <p:spPr/>
        <p:txBody>
          <a:bodyPr/>
          <a:lstStyle/>
          <a:p>
            <a:r>
              <a:rPr lang="en-DK" dirty="0"/>
              <a:t>Study of the genetic material sampled directly from the environment (fecal, skin, soil, marine samples …)</a:t>
            </a:r>
          </a:p>
          <a:p>
            <a:r>
              <a:rPr lang="en-DK" dirty="0"/>
              <a:t>Bypasses the need of culturing organisms – many of the organisms that we characterized ca not even be coltured</a:t>
            </a:r>
          </a:p>
          <a:p>
            <a:r>
              <a:rPr lang="en-DK" dirty="0"/>
              <a:t>Uses </a:t>
            </a:r>
            <a:r>
              <a:rPr lang="en-GB" dirty="0"/>
              <a:t>high-throughput sequencing to </a:t>
            </a:r>
            <a:r>
              <a:rPr lang="en-GB" dirty="0" err="1"/>
              <a:t>analyze</a:t>
            </a:r>
            <a:r>
              <a:rPr lang="en-GB" dirty="0"/>
              <a:t> microbial diversity, function, and interactions</a:t>
            </a:r>
          </a:p>
        </p:txBody>
      </p:sp>
    </p:spTree>
    <p:extLst>
      <p:ext uri="{BB962C8B-B14F-4D97-AF65-F5344CB8AC3E}">
        <p14:creationId xmlns:p14="http://schemas.microsoft.com/office/powerpoint/2010/main" val="20424356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3CBE7-6287-CD5B-2E99-02F0D633F90F}"/>
              </a:ext>
            </a:extLst>
          </p:cNvPr>
          <p:cNvSpPr>
            <a:spLocks noGrp="1"/>
          </p:cNvSpPr>
          <p:nvPr>
            <p:ph type="title"/>
          </p:nvPr>
        </p:nvSpPr>
        <p:spPr/>
        <p:txBody>
          <a:bodyPr/>
          <a:lstStyle/>
          <a:p>
            <a:r>
              <a:rPr lang="en-DK" dirty="0"/>
              <a:t>Main applications</a:t>
            </a:r>
          </a:p>
        </p:txBody>
      </p:sp>
      <p:sp>
        <p:nvSpPr>
          <p:cNvPr id="3" name="Content Placeholder 2">
            <a:extLst>
              <a:ext uri="{FF2B5EF4-FFF2-40B4-BE49-F238E27FC236}">
                <a16:creationId xmlns:a16="http://schemas.microsoft.com/office/drawing/2014/main" id="{EA9BB15B-CED5-3A98-CD86-D1405CDA5992}"/>
              </a:ext>
            </a:extLst>
          </p:cNvPr>
          <p:cNvSpPr>
            <a:spLocks noGrp="1"/>
          </p:cNvSpPr>
          <p:nvPr>
            <p:ph idx="1"/>
          </p:nvPr>
        </p:nvSpPr>
        <p:spPr/>
        <p:txBody>
          <a:bodyPr>
            <a:normAutofit fontScale="92500"/>
          </a:bodyPr>
          <a:lstStyle/>
          <a:p>
            <a:pPr>
              <a:buNone/>
            </a:pPr>
            <a:r>
              <a:rPr lang="en-DK" dirty="0"/>
              <a:t>🧬 </a:t>
            </a:r>
            <a:r>
              <a:rPr lang="en-GB" b="1" dirty="0"/>
              <a:t>Microbial Diversity Analysis</a:t>
            </a:r>
            <a:r>
              <a:rPr lang="en-GB" dirty="0"/>
              <a:t>: Who’s there? (e.g., in soil, gut, ocean)</a:t>
            </a:r>
          </a:p>
          <a:p>
            <a:pPr>
              <a:buNone/>
            </a:pPr>
            <a:r>
              <a:rPr lang="en-DK" dirty="0"/>
              <a:t>🦠 </a:t>
            </a:r>
            <a:r>
              <a:rPr lang="en-GB" b="1" dirty="0"/>
              <a:t>Disease &amp; Health Research</a:t>
            </a:r>
            <a:r>
              <a:rPr lang="en-GB" dirty="0"/>
              <a:t>: Microbiome links to health (e.g., gut-brain axis, chronic diseases)</a:t>
            </a:r>
          </a:p>
          <a:p>
            <a:pPr>
              <a:buNone/>
            </a:pPr>
            <a:r>
              <a:rPr lang="en-GB" dirty="0"/>
              <a:t>♻️ </a:t>
            </a:r>
            <a:r>
              <a:rPr lang="en-GB" b="1" dirty="0"/>
              <a:t>Environmental Monitoring</a:t>
            </a:r>
            <a:r>
              <a:rPr lang="en-GB" dirty="0"/>
              <a:t>: Pollution detection, bioremediation</a:t>
            </a:r>
          </a:p>
          <a:p>
            <a:pPr>
              <a:buNone/>
            </a:pPr>
            <a:r>
              <a:rPr lang="en-DK" dirty="0"/>
              <a:t>🌾 </a:t>
            </a:r>
            <a:r>
              <a:rPr lang="en-GB" b="1" dirty="0"/>
              <a:t>Agriculture &amp; Soil Health</a:t>
            </a:r>
            <a:r>
              <a:rPr lang="en-GB" dirty="0"/>
              <a:t>: Plant-microbe interactions, soil fertility</a:t>
            </a:r>
          </a:p>
          <a:p>
            <a:pPr>
              <a:buNone/>
            </a:pPr>
            <a:r>
              <a:rPr lang="en-DK" dirty="0"/>
              <a:t>🍺 </a:t>
            </a:r>
            <a:r>
              <a:rPr lang="en-GB" b="1" dirty="0"/>
              <a:t>Industrial Biotechnology</a:t>
            </a:r>
            <a:r>
              <a:rPr lang="en-GB" dirty="0"/>
              <a:t>: Novel enzymes, biofuels, fermentation</a:t>
            </a:r>
          </a:p>
          <a:p>
            <a:pPr marL="0" indent="0">
              <a:buNone/>
            </a:pPr>
            <a:r>
              <a:rPr lang="en-DK" dirty="0"/>
              <a:t>💊 </a:t>
            </a:r>
            <a:r>
              <a:rPr lang="en-GB" b="1" dirty="0"/>
              <a:t>Antibiotic Resistance Surveillance</a:t>
            </a:r>
            <a:r>
              <a:rPr lang="en-GB" dirty="0"/>
              <a:t>: Track resistance genes in the environment</a:t>
            </a:r>
          </a:p>
        </p:txBody>
      </p:sp>
    </p:spTree>
    <p:extLst>
      <p:ext uri="{BB962C8B-B14F-4D97-AF65-F5344CB8AC3E}">
        <p14:creationId xmlns:p14="http://schemas.microsoft.com/office/powerpoint/2010/main" val="15905981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8BFAE-68E9-FDA4-5A72-61FB79F2574B}"/>
              </a:ext>
            </a:extLst>
          </p:cNvPr>
          <p:cNvSpPr>
            <a:spLocks noGrp="1"/>
          </p:cNvSpPr>
          <p:nvPr>
            <p:ph type="title"/>
          </p:nvPr>
        </p:nvSpPr>
        <p:spPr/>
        <p:txBody>
          <a:bodyPr/>
          <a:lstStyle/>
          <a:p>
            <a:r>
              <a:rPr lang="en-DK" dirty="0"/>
              <a:t>Experimental design</a:t>
            </a:r>
          </a:p>
        </p:txBody>
      </p:sp>
      <p:pic>
        <p:nvPicPr>
          <p:cNvPr id="3" name="Picture 2">
            <a:extLst>
              <a:ext uri="{FF2B5EF4-FFF2-40B4-BE49-F238E27FC236}">
                <a16:creationId xmlns:a16="http://schemas.microsoft.com/office/drawing/2014/main" id="{C0957DF4-0212-CA53-BD45-CB8B9C3D4596}"/>
              </a:ext>
            </a:extLst>
          </p:cNvPr>
          <p:cNvPicPr>
            <a:picLocks noChangeAspect="1"/>
          </p:cNvPicPr>
          <p:nvPr/>
        </p:nvPicPr>
        <p:blipFill>
          <a:blip r:embed="rId3"/>
          <a:stretch>
            <a:fillRect/>
          </a:stretch>
        </p:blipFill>
        <p:spPr>
          <a:xfrm>
            <a:off x="8264235" y="1803260"/>
            <a:ext cx="2695240" cy="2129240"/>
          </a:xfrm>
          <a:prstGeom prst="rect">
            <a:avLst/>
          </a:prstGeom>
        </p:spPr>
      </p:pic>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270E7F32-5878-C308-F287-2858E2EE19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029" y="2168359"/>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8508C72-1D4A-E441-E5B2-F84BAC4C9ACA}"/>
              </a:ext>
            </a:extLst>
          </p:cNvPr>
          <p:cNvSpPr/>
          <p:nvPr/>
        </p:nvSpPr>
        <p:spPr>
          <a:xfrm>
            <a:off x="2043546" y="286788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878C3FC-04E2-5282-1DD2-F94DA56468FD}"/>
              </a:ext>
            </a:extLst>
          </p:cNvPr>
          <p:cNvSpPr txBox="1"/>
          <p:nvPr/>
        </p:nvSpPr>
        <p:spPr>
          <a:xfrm>
            <a:off x="6004096" y="1932063"/>
            <a:ext cx="1731818" cy="369332"/>
          </a:xfrm>
          <a:prstGeom prst="rect">
            <a:avLst/>
          </a:prstGeom>
          <a:noFill/>
        </p:spPr>
        <p:txBody>
          <a:bodyPr wrap="square" rtlCol="0">
            <a:spAutoFit/>
          </a:bodyPr>
          <a:lstStyle/>
          <a:p>
            <a:r>
              <a:rPr lang="en-DK" dirty="0"/>
              <a:t>DNA Extraction</a:t>
            </a:r>
          </a:p>
        </p:txBody>
      </p:sp>
      <p:sp>
        <p:nvSpPr>
          <p:cNvPr id="7" name="TextBox 6">
            <a:extLst>
              <a:ext uri="{FF2B5EF4-FFF2-40B4-BE49-F238E27FC236}">
                <a16:creationId xmlns:a16="http://schemas.microsoft.com/office/drawing/2014/main" id="{4A093191-604C-DC55-7298-739A9AC07B67}"/>
              </a:ext>
            </a:extLst>
          </p:cNvPr>
          <p:cNvSpPr txBox="1"/>
          <p:nvPr/>
        </p:nvSpPr>
        <p:spPr>
          <a:xfrm>
            <a:off x="2467686" y="1921430"/>
            <a:ext cx="1731818" cy="369332"/>
          </a:xfrm>
          <a:prstGeom prst="rect">
            <a:avLst/>
          </a:prstGeom>
          <a:noFill/>
        </p:spPr>
        <p:txBody>
          <a:bodyPr wrap="square" rtlCol="0">
            <a:spAutoFit/>
          </a:bodyPr>
          <a:lstStyle/>
          <a:p>
            <a:r>
              <a:rPr lang="en-DK" dirty="0"/>
              <a:t>DNA Sampling</a:t>
            </a:r>
          </a:p>
        </p:txBody>
      </p:sp>
      <p:sp>
        <p:nvSpPr>
          <p:cNvPr id="8" name="TextBox 7">
            <a:extLst>
              <a:ext uri="{FF2B5EF4-FFF2-40B4-BE49-F238E27FC236}">
                <a16:creationId xmlns:a16="http://schemas.microsoft.com/office/drawing/2014/main" id="{D5C72E17-CBF6-BF30-2EC1-19E5B988BB41}"/>
              </a:ext>
            </a:extLst>
          </p:cNvPr>
          <p:cNvSpPr txBox="1"/>
          <p:nvPr/>
        </p:nvSpPr>
        <p:spPr>
          <a:xfrm>
            <a:off x="4238449" y="1938218"/>
            <a:ext cx="1905000" cy="335756"/>
          </a:xfrm>
          <a:prstGeom prst="rect">
            <a:avLst/>
          </a:prstGeom>
          <a:noFill/>
        </p:spPr>
        <p:txBody>
          <a:bodyPr wrap="square" rtlCol="0">
            <a:spAutoFit/>
          </a:bodyPr>
          <a:lstStyle/>
          <a:p>
            <a:r>
              <a:rPr lang="en-DK" dirty="0"/>
              <a:t>DNA Storage</a:t>
            </a:r>
          </a:p>
        </p:txBody>
      </p:sp>
      <p:sp>
        <p:nvSpPr>
          <p:cNvPr id="12" name="TextBox 11">
            <a:extLst>
              <a:ext uri="{FF2B5EF4-FFF2-40B4-BE49-F238E27FC236}">
                <a16:creationId xmlns:a16="http://schemas.microsoft.com/office/drawing/2014/main" id="{255E1334-4942-3F1C-E726-032CFBF69B0A}"/>
              </a:ext>
            </a:extLst>
          </p:cNvPr>
          <p:cNvSpPr txBox="1"/>
          <p:nvPr/>
        </p:nvSpPr>
        <p:spPr>
          <a:xfrm>
            <a:off x="8527472" y="1344313"/>
            <a:ext cx="1891146" cy="369332"/>
          </a:xfrm>
          <a:prstGeom prst="rect">
            <a:avLst/>
          </a:prstGeom>
          <a:noFill/>
        </p:spPr>
        <p:txBody>
          <a:bodyPr wrap="square" rtlCol="0">
            <a:spAutoFit/>
          </a:bodyPr>
          <a:lstStyle/>
          <a:p>
            <a:r>
              <a:rPr lang="en-DK" dirty="0"/>
              <a:t>DNA Sequencing</a:t>
            </a:r>
          </a:p>
        </p:txBody>
      </p:sp>
      <p:pic>
        <p:nvPicPr>
          <p:cNvPr id="13" name="Picture 12">
            <a:extLst>
              <a:ext uri="{FF2B5EF4-FFF2-40B4-BE49-F238E27FC236}">
                <a16:creationId xmlns:a16="http://schemas.microsoft.com/office/drawing/2014/main" id="{9B21B2C6-C3D6-9AA8-3E04-2FF33B5BCF7A}"/>
              </a:ext>
            </a:extLst>
          </p:cNvPr>
          <p:cNvPicPr>
            <a:picLocks noChangeAspect="1"/>
          </p:cNvPicPr>
          <p:nvPr/>
        </p:nvPicPr>
        <p:blipFill>
          <a:blip r:embed="rId5"/>
          <a:stretch>
            <a:fillRect/>
          </a:stretch>
        </p:blipFill>
        <p:spPr>
          <a:xfrm>
            <a:off x="4430414" y="2279911"/>
            <a:ext cx="1281722" cy="1840956"/>
          </a:xfrm>
          <a:prstGeom prst="rect">
            <a:avLst/>
          </a:prstGeom>
        </p:spPr>
      </p:pic>
      <p:pic>
        <p:nvPicPr>
          <p:cNvPr id="15" name="Picture 14">
            <a:extLst>
              <a:ext uri="{FF2B5EF4-FFF2-40B4-BE49-F238E27FC236}">
                <a16:creationId xmlns:a16="http://schemas.microsoft.com/office/drawing/2014/main" id="{AC2893E1-B6D0-C1C4-2F56-1A3F7500DA73}"/>
              </a:ext>
            </a:extLst>
          </p:cNvPr>
          <p:cNvPicPr>
            <a:picLocks noChangeAspect="1"/>
          </p:cNvPicPr>
          <p:nvPr/>
        </p:nvPicPr>
        <p:blipFill>
          <a:blip r:embed="rId6"/>
          <a:stretch>
            <a:fillRect/>
          </a:stretch>
        </p:blipFill>
        <p:spPr>
          <a:xfrm>
            <a:off x="2095500" y="4682539"/>
            <a:ext cx="2576615" cy="1819886"/>
          </a:xfrm>
          <a:prstGeom prst="rect">
            <a:avLst/>
          </a:prstGeom>
        </p:spPr>
      </p:pic>
      <p:sp>
        <p:nvSpPr>
          <p:cNvPr id="16" name="TextBox 15">
            <a:extLst>
              <a:ext uri="{FF2B5EF4-FFF2-40B4-BE49-F238E27FC236}">
                <a16:creationId xmlns:a16="http://schemas.microsoft.com/office/drawing/2014/main" id="{F7D29B56-383D-8D23-6D89-5AB556E86C94}"/>
              </a:ext>
            </a:extLst>
          </p:cNvPr>
          <p:cNvSpPr txBox="1"/>
          <p:nvPr/>
        </p:nvSpPr>
        <p:spPr>
          <a:xfrm>
            <a:off x="58866" y="5070331"/>
            <a:ext cx="2351841" cy="923330"/>
          </a:xfrm>
          <a:prstGeom prst="rect">
            <a:avLst/>
          </a:prstGeom>
          <a:noFill/>
        </p:spPr>
        <p:txBody>
          <a:bodyPr wrap="square" rtlCol="0">
            <a:spAutoFit/>
          </a:bodyPr>
          <a:lstStyle/>
          <a:p>
            <a:pPr algn="ctr"/>
            <a:r>
              <a:rPr lang="en-US" sz="1800" dirty="0">
                <a:latin typeface="Calibri" charset="0"/>
                <a:ea typeface="Calibri" charset="0"/>
                <a:cs typeface="Calibri" charset="0"/>
              </a:rPr>
              <a:t>Taxonomical and functional </a:t>
            </a:r>
            <a:r>
              <a:rPr lang="en-US" sz="1800" dirty="0" err="1">
                <a:latin typeface="Calibri" charset="0"/>
                <a:ea typeface="Calibri" charset="0"/>
                <a:cs typeface="Calibri" charset="0"/>
              </a:rPr>
              <a:t>chracterization</a:t>
            </a:r>
            <a:endParaRPr lang="en-US" sz="1800" dirty="0">
              <a:latin typeface="Calibri" charset="0"/>
              <a:ea typeface="Calibri" charset="0"/>
              <a:cs typeface="Calibri" charset="0"/>
            </a:endParaRPr>
          </a:p>
        </p:txBody>
      </p:sp>
      <p:pic>
        <p:nvPicPr>
          <p:cNvPr id="17" name="Picture 16">
            <a:extLst>
              <a:ext uri="{FF2B5EF4-FFF2-40B4-BE49-F238E27FC236}">
                <a16:creationId xmlns:a16="http://schemas.microsoft.com/office/drawing/2014/main" id="{749279C6-15BE-97D0-5731-D87244EB0BFF}"/>
              </a:ext>
            </a:extLst>
          </p:cNvPr>
          <p:cNvPicPr>
            <a:picLocks noChangeAspect="1"/>
          </p:cNvPicPr>
          <p:nvPr/>
        </p:nvPicPr>
        <p:blipFill rotWithShape="1">
          <a:blip r:embed="rId7"/>
          <a:srcRect l="53837" r="-139"/>
          <a:stretch/>
        </p:blipFill>
        <p:spPr>
          <a:xfrm>
            <a:off x="6911217" y="4664652"/>
            <a:ext cx="3304057" cy="1773467"/>
          </a:xfrm>
          <a:prstGeom prst="rect">
            <a:avLst/>
          </a:prstGeom>
        </p:spPr>
      </p:pic>
      <p:sp>
        <p:nvSpPr>
          <p:cNvPr id="18" name="TextBox 17">
            <a:extLst>
              <a:ext uri="{FF2B5EF4-FFF2-40B4-BE49-F238E27FC236}">
                <a16:creationId xmlns:a16="http://schemas.microsoft.com/office/drawing/2014/main" id="{CE87839E-7546-A955-F4A5-6DE5F42D1D90}"/>
              </a:ext>
            </a:extLst>
          </p:cNvPr>
          <p:cNvSpPr txBox="1"/>
          <p:nvPr/>
        </p:nvSpPr>
        <p:spPr>
          <a:xfrm>
            <a:off x="7018188" y="4368034"/>
            <a:ext cx="3090115" cy="369332"/>
          </a:xfrm>
          <a:prstGeom prst="rect">
            <a:avLst/>
          </a:prstGeom>
          <a:noFill/>
        </p:spPr>
        <p:txBody>
          <a:bodyPr wrap="square" rtlCol="0">
            <a:spAutoFit/>
          </a:bodyPr>
          <a:lstStyle/>
          <a:p>
            <a:pPr algn="ctr"/>
            <a:r>
              <a:rPr lang="en-US" sz="1800" dirty="0">
                <a:latin typeface="Calibri" charset="0"/>
                <a:ea typeface="Calibri" charset="0"/>
                <a:cs typeface="Calibri" charset="0"/>
              </a:rPr>
              <a:t>Microbiome abundances</a:t>
            </a:r>
          </a:p>
        </p:txBody>
      </p:sp>
      <p:sp>
        <p:nvSpPr>
          <p:cNvPr id="20" name="Right Arrow 19">
            <a:extLst>
              <a:ext uri="{FF2B5EF4-FFF2-40B4-BE49-F238E27FC236}">
                <a16:creationId xmlns:a16="http://schemas.microsoft.com/office/drawing/2014/main" id="{DFE4BD5E-654E-B2FC-B3C0-060CFEDC30E5}"/>
              </a:ext>
            </a:extLst>
          </p:cNvPr>
          <p:cNvSpPr/>
          <p:nvPr/>
        </p:nvSpPr>
        <p:spPr>
          <a:xfrm>
            <a:off x="5780809" y="538513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196" name="Picture 4" descr="What is Microsoft Azure? A Beginners Guide for Organisations">
            <a:extLst>
              <a:ext uri="{FF2B5EF4-FFF2-40B4-BE49-F238E27FC236}">
                <a16:creationId xmlns:a16="http://schemas.microsoft.com/office/drawing/2014/main" id="{57D35678-A4D8-DA8F-1827-E72BD066AF3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17790" y="4918253"/>
            <a:ext cx="1059102" cy="595745"/>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Ijms 23 02181 g001">
            <a:extLst>
              <a:ext uri="{FF2B5EF4-FFF2-40B4-BE49-F238E27FC236}">
                <a16:creationId xmlns:a16="http://schemas.microsoft.com/office/drawing/2014/main" id="{4237EA8E-4884-E1CB-8846-97F3F2C274A7}"/>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5617" t="33068" r="74730" b="50000"/>
          <a:stretch>
            <a:fillRect/>
          </a:stretch>
        </p:blipFill>
        <p:spPr bwMode="auto">
          <a:xfrm>
            <a:off x="6118396" y="3185372"/>
            <a:ext cx="1617518" cy="917567"/>
          </a:xfrm>
          <a:prstGeom prst="rect">
            <a:avLst/>
          </a:prstGeom>
          <a:noFill/>
          <a:extLst>
            <a:ext uri="{909E8E84-426E-40DD-AFC4-6F175D3DCCD1}">
              <a14:hiddenFill xmlns:a14="http://schemas.microsoft.com/office/drawing/2010/main">
                <a:solidFill>
                  <a:srgbClr val="FFFFFF"/>
                </a:solidFill>
              </a14:hiddenFill>
            </a:ext>
          </a:extLst>
        </p:spPr>
      </p:pic>
      <p:sp>
        <p:nvSpPr>
          <p:cNvPr id="21" name="Right Arrow 20">
            <a:extLst>
              <a:ext uri="{FF2B5EF4-FFF2-40B4-BE49-F238E27FC236}">
                <a16:creationId xmlns:a16="http://schemas.microsoft.com/office/drawing/2014/main" id="{ABE164FC-0FAF-42F6-974B-3AA9570EF50E}"/>
              </a:ext>
            </a:extLst>
          </p:cNvPr>
          <p:cNvSpPr/>
          <p:nvPr/>
        </p:nvSpPr>
        <p:spPr>
          <a:xfrm>
            <a:off x="11215613" y="2673984"/>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2" name="Picture 10" descr="Metagenomics: Host DNA Removal or Not?">
            <a:extLst>
              <a:ext uri="{FF2B5EF4-FFF2-40B4-BE49-F238E27FC236}">
                <a16:creationId xmlns:a16="http://schemas.microsoft.com/office/drawing/2014/main" id="{D3524854-1DEA-D579-C38D-D1F950CFA9D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4546" t="25939" r="76117" b="54446"/>
          <a:stretch>
            <a:fillRect/>
          </a:stretch>
        </p:blipFill>
        <p:spPr bwMode="auto">
          <a:xfrm>
            <a:off x="3285298" y="2434345"/>
            <a:ext cx="63556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4" descr="Metagenomics: Host DNA Removal or Not?">
            <a:extLst>
              <a:ext uri="{FF2B5EF4-FFF2-40B4-BE49-F238E27FC236}">
                <a16:creationId xmlns:a16="http://schemas.microsoft.com/office/drawing/2014/main" id="{DDDF007F-EB2A-FCDB-2452-EB73F39314F4}"/>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60082" t="15003" r="8692" b="53768"/>
          <a:stretch>
            <a:fillRect/>
          </a:stretch>
        </p:blipFill>
        <p:spPr bwMode="auto">
          <a:xfrm>
            <a:off x="2744104" y="3170939"/>
            <a:ext cx="1335136" cy="746726"/>
          </a:xfrm>
          <a:prstGeom prst="rect">
            <a:avLst/>
          </a:prstGeom>
          <a:noFill/>
          <a:extLst>
            <a:ext uri="{909E8E84-426E-40DD-AFC4-6F175D3DCCD1}">
              <a14:hiddenFill xmlns:a14="http://schemas.microsoft.com/office/drawing/2010/main">
                <a:solidFill>
                  <a:srgbClr val="FFFFFF"/>
                </a:solidFill>
              </a14:hiddenFill>
            </a:ext>
          </a:extLst>
        </p:spPr>
      </p:pic>
      <p:sp>
        <p:nvSpPr>
          <p:cNvPr id="23" name="Right Arrow 22">
            <a:extLst>
              <a:ext uri="{FF2B5EF4-FFF2-40B4-BE49-F238E27FC236}">
                <a16:creationId xmlns:a16="http://schemas.microsoft.com/office/drawing/2014/main" id="{7BEC7C29-2CBB-F732-7555-4D86A6E97C16}"/>
              </a:ext>
            </a:extLst>
          </p:cNvPr>
          <p:cNvSpPr/>
          <p:nvPr/>
        </p:nvSpPr>
        <p:spPr>
          <a:xfrm>
            <a:off x="7597854" y="2701625"/>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11CFE9FA-FAC9-3878-41A2-71FA0148E3F6}"/>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58332" t="38146" r="37452" b="51685"/>
          <a:stretch>
            <a:fillRect/>
          </a:stretch>
        </p:blipFill>
        <p:spPr bwMode="auto">
          <a:xfrm>
            <a:off x="2744104" y="2434346"/>
            <a:ext cx="40320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C9D92988-482E-1804-CFBB-AD0FE869C724}"/>
              </a:ext>
            </a:extLst>
          </p:cNvPr>
          <p:cNvPicPr>
            <a:picLocks noChangeAspect="1"/>
          </p:cNvPicPr>
          <p:nvPr/>
        </p:nvPicPr>
        <p:blipFill>
          <a:blip r:embed="rId12"/>
          <a:stretch>
            <a:fillRect/>
          </a:stretch>
        </p:blipFill>
        <p:spPr>
          <a:xfrm>
            <a:off x="6296891" y="2343361"/>
            <a:ext cx="1090328" cy="817746"/>
          </a:xfrm>
          <a:prstGeom prst="rect">
            <a:avLst/>
          </a:prstGeom>
        </p:spPr>
      </p:pic>
      <p:cxnSp>
        <p:nvCxnSpPr>
          <p:cNvPr id="26" name="Straight Connector 25">
            <a:extLst>
              <a:ext uri="{FF2B5EF4-FFF2-40B4-BE49-F238E27FC236}">
                <a16:creationId xmlns:a16="http://schemas.microsoft.com/office/drawing/2014/main" id="{3E88A317-1231-C775-AA97-F99F0E91B879}"/>
              </a:ext>
            </a:extLst>
          </p:cNvPr>
          <p:cNvCxnSpPr/>
          <p:nvPr/>
        </p:nvCxnSpPr>
        <p:spPr>
          <a:xfrm>
            <a:off x="4238449" y="1932063"/>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47A8E67-2951-A965-D4F1-1DCD0DFCDD16}"/>
              </a:ext>
            </a:extLst>
          </p:cNvPr>
          <p:cNvCxnSpPr/>
          <p:nvPr/>
        </p:nvCxnSpPr>
        <p:spPr>
          <a:xfrm>
            <a:off x="5887140" y="1921430"/>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216518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1E5B660-1F1C-686C-2328-6FF0A8B7143F}"/>
              </a:ext>
            </a:extLst>
          </p:cNvPr>
          <p:cNvSpPr>
            <a:spLocks noGrp="1"/>
          </p:cNvSpPr>
          <p:nvPr>
            <p:ph type="title"/>
          </p:nvPr>
        </p:nvSpPr>
        <p:spPr>
          <a:xfrm>
            <a:off x="1137034" y="609597"/>
            <a:ext cx="9392421" cy="1330841"/>
          </a:xfrm>
        </p:spPr>
        <p:txBody>
          <a:bodyPr>
            <a:normAutofit/>
          </a:bodyPr>
          <a:lstStyle/>
          <a:p>
            <a:r>
              <a:rPr lang="en-DK" dirty="0"/>
              <a:t>Sample collection</a:t>
            </a:r>
          </a:p>
        </p:txBody>
      </p:sp>
      <p:sp>
        <p:nvSpPr>
          <p:cNvPr id="3" name="Content Placeholder 2">
            <a:extLst>
              <a:ext uri="{FF2B5EF4-FFF2-40B4-BE49-F238E27FC236}">
                <a16:creationId xmlns:a16="http://schemas.microsoft.com/office/drawing/2014/main" id="{A0C4DAEB-20BB-AF4C-92AB-721AC7D2220E}"/>
              </a:ext>
            </a:extLst>
          </p:cNvPr>
          <p:cNvSpPr>
            <a:spLocks noGrp="1"/>
          </p:cNvSpPr>
          <p:nvPr>
            <p:ph idx="1"/>
          </p:nvPr>
        </p:nvSpPr>
        <p:spPr>
          <a:xfrm>
            <a:off x="730868" y="2159373"/>
            <a:ext cx="7732583" cy="4050041"/>
          </a:xfrm>
        </p:spPr>
        <p:txBody>
          <a:bodyPr>
            <a:noAutofit/>
          </a:bodyPr>
          <a:lstStyle/>
          <a:p>
            <a:r>
              <a:rPr lang="en-GB" sz="1800" dirty="0"/>
              <a:t>To obtain a representative and uncontaminated snapshot of a microbial community in a specific environment (e.g., gut, soil, water, skin,…)</a:t>
            </a:r>
          </a:p>
          <a:p>
            <a:r>
              <a:rPr lang="en-GB" sz="1800" dirty="0"/>
              <a:t>Sterile tools and containers need to be used</a:t>
            </a:r>
          </a:p>
          <a:p>
            <a:r>
              <a:rPr lang="en-GB" sz="1800" dirty="0"/>
              <a:t>Microbial DNA can degrade rapidly. A good preservation ensures the microbial community structure remains as close to in situ as possible.</a:t>
            </a:r>
          </a:p>
          <a:p>
            <a:pPr lvl="1"/>
            <a:r>
              <a:rPr lang="en-DK" sz="1800" dirty="0"/>
              <a:t>Freezing (-20 to -80C) for long-term storage</a:t>
            </a:r>
          </a:p>
          <a:p>
            <a:pPr lvl="1"/>
            <a:r>
              <a:rPr lang="en-DK" sz="1800" dirty="0"/>
              <a:t>Preservation buffers if freezing is delayed</a:t>
            </a:r>
          </a:p>
          <a:p>
            <a:r>
              <a:rPr lang="en-GB" sz="1800" dirty="0"/>
              <a:t>Process quickly after sampling to reduce DNA degradation and community shifts if freezing is not possible</a:t>
            </a:r>
          </a:p>
          <a:p>
            <a:r>
              <a:rPr lang="en-GB" sz="1800" dirty="0"/>
              <a:t>For sample transportation use cold chain logistics (ice packs, dry ice, liquid nitrogen)</a:t>
            </a:r>
          </a:p>
          <a:p>
            <a:r>
              <a:rPr lang="en-GB" sz="1800" dirty="0"/>
              <a:t>Label clearly with metadata: time, location, environmental conditions, etc.</a:t>
            </a:r>
          </a:p>
          <a:p>
            <a:pPr lvl="1"/>
            <a:r>
              <a:rPr lang="en-GB" sz="1800" dirty="0"/>
              <a:t>Important for downstream analysis and reproducibility</a:t>
            </a:r>
          </a:p>
          <a:p>
            <a:endParaRPr lang="en-DK" sz="18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10" descr="Metagenomics: Host DNA Removal or Not?">
            <a:extLst>
              <a:ext uri="{FF2B5EF4-FFF2-40B4-BE49-F238E27FC236}">
                <a16:creationId xmlns:a16="http://schemas.microsoft.com/office/drawing/2014/main" id="{1EF0AD1C-827A-0299-2A0D-DBFF9866872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546" t="25939" r="76117" b="54446"/>
          <a:stretch>
            <a:fillRect/>
          </a:stretch>
        </p:blipFill>
        <p:spPr bwMode="auto">
          <a:xfrm>
            <a:off x="10233636" y="1940438"/>
            <a:ext cx="1163635" cy="13671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descr="Metagenomics: Host DNA Removal or Not?">
            <a:extLst>
              <a:ext uri="{FF2B5EF4-FFF2-40B4-BE49-F238E27FC236}">
                <a16:creationId xmlns:a16="http://schemas.microsoft.com/office/drawing/2014/main" id="{36ACF489-045E-F2BA-F183-8874C675320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0082" t="15003" r="8692" b="53768"/>
          <a:stretch>
            <a:fillRect/>
          </a:stretch>
        </p:blipFill>
        <p:spPr bwMode="auto">
          <a:xfrm>
            <a:off x="9194318" y="3428999"/>
            <a:ext cx="2444473" cy="136716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C9BCAE8C-4DD1-F528-5BA6-AC8D15B220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332" t="38146" r="37452" b="51685"/>
          <a:stretch>
            <a:fillRect/>
          </a:stretch>
        </p:blipFill>
        <p:spPr bwMode="auto">
          <a:xfrm>
            <a:off x="9194318" y="2107921"/>
            <a:ext cx="738212" cy="1367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71633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91425D-A7CD-ED76-9397-7FFEAA75C222}"/>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1293230-B0F6-45B1-96D1-13D18E2429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9781AC64-DB84-F8FC-A3C3-61AC4BFD21E0}"/>
              </a:ext>
            </a:extLst>
          </p:cNvPr>
          <p:cNvSpPr>
            <a:spLocks noGrp="1"/>
          </p:cNvSpPr>
          <p:nvPr>
            <p:ph type="title"/>
          </p:nvPr>
        </p:nvSpPr>
        <p:spPr>
          <a:xfrm>
            <a:off x="1109149" y="0"/>
            <a:ext cx="6463301" cy="1322888"/>
          </a:xfrm>
        </p:spPr>
        <p:txBody>
          <a:bodyPr>
            <a:normAutofit/>
          </a:bodyPr>
          <a:lstStyle/>
          <a:p>
            <a:r>
              <a:rPr lang="en-DK" dirty="0"/>
              <a:t>DNA Extraction</a:t>
            </a:r>
          </a:p>
        </p:txBody>
      </p:sp>
      <p:sp>
        <p:nvSpPr>
          <p:cNvPr id="20" name="Freeform: Shape 19">
            <a:extLst>
              <a:ext uri="{FF2B5EF4-FFF2-40B4-BE49-F238E27FC236}">
                <a16:creationId xmlns:a16="http://schemas.microsoft.com/office/drawing/2014/main" id="{2B573B51-C170-49C0-A3D9-8D99730C4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Content Placeholder 4">
            <a:extLst>
              <a:ext uri="{FF2B5EF4-FFF2-40B4-BE49-F238E27FC236}">
                <a16:creationId xmlns:a16="http://schemas.microsoft.com/office/drawing/2014/main" id="{EA789BD0-4A31-AB11-521B-076AA5582F68}"/>
              </a:ext>
            </a:extLst>
          </p:cNvPr>
          <p:cNvSpPr>
            <a:spLocks noGrp="1"/>
          </p:cNvSpPr>
          <p:nvPr>
            <p:ph idx="1"/>
          </p:nvPr>
        </p:nvSpPr>
        <p:spPr>
          <a:xfrm>
            <a:off x="736363" y="1444774"/>
            <a:ext cx="7142363" cy="3361125"/>
          </a:xfrm>
        </p:spPr>
        <p:txBody>
          <a:bodyPr>
            <a:noAutofit/>
          </a:bodyPr>
          <a:lstStyle/>
          <a:p>
            <a:r>
              <a:rPr lang="en-GB" sz="1800" dirty="0"/>
              <a:t>To obtain </a:t>
            </a:r>
            <a:r>
              <a:rPr lang="en-GB" sz="1800" b="1" dirty="0"/>
              <a:t>high-quality, unbiased, and inhibitor-free DNA</a:t>
            </a:r>
            <a:r>
              <a:rPr lang="en-GB" sz="1800" dirty="0"/>
              <a:t> from a complex matrix (e.g., soil, </a:t>
            </a:r>
            <a:r>
              <a:rPr lang="en-GB" sz="1800" dirty="0" err="1"/>
              <a:t>feces</a:t>
            </a:r>
            <a:r>
              <a:rPr lang="en-GB" sz="1800" dirty="0"/>
              <a:t>, water)</a:t>
            </a:r>
          </a:p>
          <a:p>
            <a:r>
              <a:rPr lang="en-GB" sz="1800" dirty="0"/>
              <a:t>Isolate </a:t>
            </a:r>
            <a:r>
              <a:rPr lang="en-GB" sz="1800" b="1" dirty="0"/>
              <a:t>total microbial DNA</a:t>
            </a:r>
            <a:r>
              <a:rPr lang="en-GB" sz="1800" dirty="0"/>
              <a:t> from all organisms in a sample (bacteria, archaea, fungi, viruses—depending on context)</a:t>
            </a:r>
          </a:p>
          <a:p>
            <a:r>
              <a:rPr lang="en-GB" sz="1800" dirty="0"/>
              <a:t>Steps:</a:t>
            </a:r>
          </a:p>
          <a:p>
            <a:pPr lvl="1"/>
            <a:r>
              <a:rPr lang="en-GB" sz="1800" b="1" dirty="0"/>
              <a:t>Cell Lysis: </a:t>
            </a:r>
            <a:r>
              <a:rPr lang="en-GB" sz="1800" dirty="0"/>
              <a:t>The goal is to </a:t>
            </a:r>
            <a:r>
              <a:rPr lang="en-GB" sz="1800" b="1" dirty="0"/>
              <a:t>lyse all types</a:t>
            </a:r>
            <a:r>
              <a:rPr lang="en-GB" sz="1800" dirty="0"/>
              <a:t> of microbes, including tough ones like Gram-positive bacteria or spores</a:t>
            </a:r>
            <a:endParaRPr lang="en-GB" sz="1800" b="1" dirty="0"/>
          </a:p>
          <a:p>
            <a:pPr lvl="1"/>
            <a:r>
              <a:rPr lang="en-GB" sz="1800" b="1" dirty="0"/>
              <a:t>DNA Release: </a:t>
            </a:r>
            <a:r>
              <a:rPr lang="en-GB" sz="1800" dirty="0"/>
              <a:t>Kits are preferred in metagenomics for consistency, ease, and reduced contamination risk (e.g., Qiagen, </a:t>
            </a:r>
            <a:r>
              <a:rPr lang="en-GB" sz="1800" dirty="0" err="1"/>
              <a:t>Zymo</a:t>
            </a:r>
            <a:r>
              <a:rPr lang="en-GB" sz="1800" dirty="0"/>
              <a:t>, MoBio/</a:t>
            </a:r>
            <a:r>
              <a:rPr lang="en-GB" sz="1800" dirty="0" err="1"/>
              <a:t>DNeasy</a:t>
            </a:r>
            <a:r>
              <a:rPr lang="en-GB" sz="1800" dirty="0"/>
              <a:t>)</a:t>
            </a:r>
            <a:endParaRPr lang="en-GB" sz="1800" b="1" dirty="0"/>
          </a:p>
          <a:p>
            <a:pPr lvl="1"/>
            <a:r>
              <a:rPr lang="en-GB" sz="1800" b="1" dirty="0"/>
              <a:t>Contaminant Removal: </a:t>
            </a:r>
            <a:r>
              <a:rPr lang="en-GB" sz="1800" dirty="0"/>
              <a:t>Use specialized kits with inhibitor removal steps (e.g., </a:t>
            </a:r>
            <a:r>
              <a:rPr lang="en-GB" sz="1800" dirty="0" err="1"/>
              <a:t>PowerSoil</a:t>
            </a:r>
            <a:r>
              <a:rPr lang="en-GB" sz="1800" dirty="0"/>
              <a:t> DNA Kit)</a:t>
            </a:r>
            <a:endParaRPr lang="en-GB" sz="1800" b="1" dirty="0"/>
          </a:p>
          <a:p>
            <a:pPr lvl="1"/>
            <a:r>
              <a:rPr lang="en-GB" sz="1800" b="1" dirty="0"/>
              <a:t>DNA Purification: </a:t>
            </a:r>
            <a:r>
              <a:rPr lang="en-GB" sz="1800" dirty="0"/>
              <a:t>remove proteins, RNA, lipids, and inhibitors</a:t>
            </a:r>
          </a:p>
          <a:p>
            <a:pPr lvl="1"/>
            <a:r>
              <a:rPr lang="en-GB" sz="1800" b="1" dirty="0"/>
              <a:t>Quantification &amp; Quality Check</a:t>
            </a:r>
            <a:endParaRPr lang="en-GB" sz="1800" dirty="0"/>
          </a:p>
          <a:p>
            <a:endParaRPr lang="en-DK" sz="1800" dirty="0"/>
          </a:p>
        </p:txBody>
      </p:sp>
      <p:pic>
        <p:nvPicPr>
          <p:cNvPr id="12" name="Picture 11">
            <a:extLst>
              <a:ext uri="{FF2B5EF4-FFF2-40B4-BE49-F238E27FC236}">
                <a16:creationId xmlns:a16="http://schemas.microsoft.com/office/drawing/2014/main" id="{FAB3387C-E23E-B817-5002-A520B138DA80}"/>
              </a:ext>
            </a:extLst>
          </p:cNvPr>
          <p:cNvPicPr>
            <a:picLocks noChangeAspect="1"/>
          </p:cNvPicPr>
          <p:nvPr/>
        </p:nvPicPr>
        <p:blipFill>
          <a:blip r:embed="rId2"/>
          <a:stretch>
            <a:fillRect/>
          </a:stretch>
        </p:blipFill>
        <p:spPr>
          <a:xfrm>
            <a:off x="9148334" y="2524873"/>
            <a:ext cx="1869750" cy="1402313"/>
          </a:xfrm>
          <a:prstGeom prst="rect">
            <a:avLst/>
          </a:prstGeom>
        </p:spPr>
      </p:pic>
      <p:pic>
        <p:nvPicPr>
          <p:cNvPr id="10" name="Picture 6" descr="Ijms 23 02181 g001">
            <a:extLst>
              <a:ext uri="{FF2B5EF4-FFF2-40B4-BE49-F238E27FC236}">
                <a16:creationId xmlns:a16="http://schemas.microsoft.com/office/drawing/2014/main" id="{BA838264-3A59-6853-5114-3C7A72A0A2B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17" t="33068" r="74730" b="50000"/>
          <a:stretch>
            <a:fillRect/>
          </a:stretch>
        </p:blipFill>
        <p:spPr bwMode="auto">
          <a:xfrm>
            <a:off x="8744622" y="3952670"/>
            <a:ext cx="2868561" cy="1624955"/>
          </a:xfrm>
          <a:prstGeom prst="rect">
            <a:avLst/>
          </a:prstGeom>
          <a:noFill/>
          <a:extLst>
            <a:ext uri="{909E8E84-426E-40DD-AFC4-6F175D3DCCD1}">
              <a14:hiddenFill xmlns:a14="http://schemas.microsoft.com/office/drawing/2010/main">
                <a:solidFill>
                  <a:srgbClr val="FFFFFF"/>
                </a:solidFill>
              </a14:hiddenFill>
            </a:ext>
          </a:extLst>
        </p:spPr>
      </p:pic>
      <p:sp>
        <p:nvSpPr>
          <p:cNvPr id="22" name="Freeform: Shape 21">
            <a:extLst>
              <a:ext uri="{FF2B5EF4-FFF2-40B4-BE49-F238E27FC236}">
                <a16:creationId xmlns:a16="http://schemas.microsoft.com/office/drawing/2014/main" id="{CC7BCC73-A901-44EB-B0E7-879E19267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1C5203-7F98-29EA-477A-29994EA5E064}"/>
              </a:ext>
            </a:extLst>
          </p:cNvPr>
          <p:cNvSpPr txBox="1"/>
          <p:nvPr/>
        </p:nvSpPr>
        <p:spPr>
          <a:xfrm>
            <a:off x="8364449" y="1322888"/>
            <a:ext cx="3628905" cy="954107"/>
          </a:xfrm>
          <a:prstGeom prst="rect">
            <a:avLst/>
          </a:prstGeom>
          <a:noFill/>
        </p:spPr>
        <p:txBody>
          <a:bodyPr wrap="square">
            <a:spAutoFit/>
          </a:bodyPr>
          <a:lstStyle/>
          <a:p>
            <a:r>
              <a:rPr lang="en-GB" sz="1400" dirty="0"/>
              <a:t>Common DNA extraction kits:</a:t>
            </a:r>
          </a:p>
          <a:p>
            <a:pPr marL="285750" indent="-285750">
              <a:buFont typeface="Arial" panose="020B0604020202020204" pitchFamily="34" charset="0"/>
              <a:buChar char="•"/>
            </a:pPr>
            <a:r>
              <a:rPr lang="en-GB" sz="1400" dirty="0"/>
              <a:t>QIAGEN </a:t>
            </a:r>
            <a:r>
              <a:rPr lang="en-GB" sz="1400" dirty="0" err="1"/>
              <a:t>DNeasy</a:t>
            </a:r>
            <a:r>
              <a:rPr lang="en-GB" sz="1400" dirty="0"/>
              <a:t> </a:t>
            </a:r>
            <a:r>
              <a:rPr lang="en-GB" sz="1400" dirty="0" err="1"/>
              <a:t>PowerSoil</a:t>
            </a:r>
            <a:r>
              <a:rPr lang="en-GB" sz="1400" dirty="0"/>
              <a:t> Pro Kit</a:t>
            </a:r>
          </a:p>
          <a:p>
            <a:pPr marL="285750" indent="-285750">
              <a:buFont typeface="Arial" panose="020B0604020202020204" pitchFamily="34" charset="0"/>
              <a:buChar char="•"/>
            </a:pPr>
            <a:r>
              <a:rPr lang="en-GB" sz="1400" dirty="0"/>
              <a:t>QIAGEN </a:t>
            </a:r>
            <a:r>
              <a:rPr lang="en-GB" sz="1400" dirty="0" err="1"/>
              <a:t>QIAamp</a:t>
            </a:r>
            <a:r>
              <a:rPr lang="en-GB" sz="1400" dirty="0"/>
              <a:t> </a:t>
            </a:r>
            <a:r>
              <a:rPr lang="en-GB" sz="1400" dirty="0" err="1"/>
              <a:t>PowerFecal</a:t>
            </a:r>
            <a:r>
              <a:rPr lang="en-GB" sz="1400" dirty="0"/>
              <a:t> Pro DNA Kit</a:t>
            </a:r>
          </a:p>
          <a:p>
            <a:pPr marL="285750" indent="-285750">
              <a:buFont typeface="Arial" panose="020B0604020202020204" pitchFamily="34" charset="0"/>
              <a:buChar char="•"/>
            </a:pPr>
            <a:r>
              <a:rPr lang="en-GB" sz="1400" dirty="0" err="1"/>
              <a:t>ZymoBIOMICS</a:t>
            </a:r>
            <a:r>
              <a:rPr lang="en-GB" sz="1400" dirty="0"/>
              <a:t> DNA Miniprep Kit</a:t>
            </a:r>
            <a:endParaRPr lang="en-DK" sz="1400" dirty="0"/>
          </a:p>
        </p:txBody>
      </p:sp>
    </p:spTree>
    <p:extLst>
      <p:ext uri="{BB962C8B-B14F-4D97-AF65-F5344CB8AC3E}">
        <p14:creationId xmlns:p14="http://schemas.microsoft.com/office/powerpoint/2010/main" val="17973115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2F06A7-D3C4-4D76-2FCF-CFA279E8239A}"/>
              </a:ext>
            </a:extLst>
          </p:cNvPr>
          <p:cNvSpPr>
            <a:spLocks noGrp="1"/>
          </p:cNvSpPr>
          <p:nvPr>
            <p:ph type="title"/>
          </p:nvPr>
        </p:nvSpPr>
        <p:spPr>
          <a:xfrm>
            <a:off x="1137034" y="609597"/>
            <a:ext cx="9392421" cy="1330841"/>
          </a:xfrm>
        </p:spPr>
        <p:txBody>
          <a:bodyPr>
            <a:normAutofit/>
          </a:bodyPr>
          <a:lstStyle/>
          <a:p>
            <a:r>
              <a:rPr lang="en-DK"/>
              <a:t>Sequencing</a:t>
            </a:r>
          </a:p>
        </p:txBody>
      </p:sp>
      <p:sp>
        <p:nvSpPr>
          <p:cNvPr id="3" name="Content Placeholder 2">
            <a:extLst>
              <a:ext uri="{FF2B5EF4-FFF2-40B4-BE49-F238E27FC236}">
                <a16:creationId xmlns:a16="http://schemas.microsoft.com/office/drawing/2014/main" id="{052F8F6C-223E-37FC-05D7-F53A283465CA}"/>
              </a:ext>
            </a:extLst>
          </p:cNvPr>
          <p:cNvSpPr>
            <a:spLocks noGrp="1"/>
          </p:cNvSpPr>
          <p:nvPr>
            <p:ph idx="1"/>
          </p:nvPr>
        </p:nvSpPr>
        <p:spPr>
          <a:xfrm>
            <a:off x="1137034" y="2369165"/>
            <a:ext cx="5804093" cy="4313274"/>
          </a:xfrm>
        </p:spPr>
        <p:txBody>
          <a:bodyPr>
            <a:normAutofit/>
          </a:bodyPr>
          <a:lstStyle/>
          <a:p>
            <a:r>
              <a:rPr lang="en-GB" sz="1800" dirty="0"/>
              <a:t>To read the </a:t>
            </a:r>
            <a:r>
              <a:rPr lang="en-GB" sz="1800" b="1" dirty="0"/>
              <a:t>nucleotide sequences</a:t>
            </a:r>
            <a:r>
              <a:rPr lang="en-GB" sz="1800" dirty="0"/>
              <a:t> of DNA fragments extracted from a microbial community — enabling identification of </a:t>
            </a:r>
            <a:r>
              <a:rPr lang="en-GB" sz="1800" b="1" dirty="0"/>
              <a:t>who is present</a:t>
            </a:r>
            <a:r>
              <a:rPr lang="en-GB" sz="1800" dirty="0"/>
              <a:t> and </a:t>
            </a:r>
            <a:r>
              <a:rPr lang="en-GB" sz="1800" b="1" dirty="0"/>
              <a:t>what they can do</a:t>
            </a:r>
          </a:p>
          <a:p>
            <a:r>
              <a:rPr lang="en-GB" sz="1800" b="1" dirty="0"/>
              <a:t>Library preparation: </a:t>
            </a:r>
            <a:r>
              <a:rPr lang="en-GB" sz="1800" dirty="0"/>
              <a:t>DNA must be </a:t>
            </a:r>
            <a:r>
              <a:rPr lang="en-GB" sz="1800" b="1" dirty="0"/>
              <a:t>fragmented</a:t>
            </a:r>
            <a:r>
              <a:rPr lang="en-GB" sz="1800" dirty="0"/>
              <a:t> and </a:t>
            </a:r>
            <a:r>
              <a:rPr lang="en-GB" sz="1800" b="1" dirty="0"/>
              <a:t>tagged with adapters</a:t>
            </a:r>
            <a:r>
              <a:rPr lang="en-GB" sz="1800" dirty="0"/>
              <a:t> for compatibility with sequencing platforms.</a:t>
            </a:r>
          </a:p>
          <a:p>
            <a:r>
              <a:rPr lang="en-GB" sz="1800" dirty="0"/>
              <a:t>Include negative and positive controls (e.g., mock communities)</a:t>
            </a:r>
          </a:p>
          <a:p>
            <a:r>
              <a:rPr lang="en-GB" sz="1800" dirty="0"/>
              <a:t>Choose depth wisely: deeper for complex samples (e.g., soil, strain resolution, SNVs), lighter for simple ones</a:t>
            </a:r>
          </a:p>
          <a:p>
            <a:r>
              <a:rPr lang="en-GB" sz="1800" dirty="0">
                <a:hlinkClick r:id="rId2"/>
              </a:rPr>
              <a:t>https://www.youtube.com/watch?v=HMyCqWhwB8E</a:t>
            </a:r>
            <a:endParaRPr lang="en-GB" sz="1800" dirty="0"/>
          </a:p>
          <a:p>
            <a:endParaRPr lang="en-GB" sz="1800" dirty="0"/>
          </a:p>
          <a:p>
            <a:endParaRPr lang="en-DK" sz="1800" dirty="0"/>
          </a:p>
        </p:txBody>
      </p:sp>
      <p:pic>
        <p:nvPicPr>
          <p:cNvPr id="4" name="Picture 3">
            <a:extLst>
              <a:ext uri="{FF2B5EF4-FFF2-40B4-BE49-F238E27FC236}">
                <a16:creationId xmlns:a16="http://schemas.microsoft.com/office/drawing/2014/main" id="{46FC9626-1667-0887-9989-A5986A20CD66}"/>
              </a:ext>
            </a:extLst>
          </p:cNvPr>
          <p:cNvPicPr>
            <a:picLocks noChangeAspect="1"/>
          </p:cNvPicPr>
          <p:nvPr/>
        </p:nvPicPr>
        <p:blipFill>
          <a:blip r:embed="rId3"/>
          <a:stretch>
            <a:fillRect/>
          </a:stretch>
        </p:blipFill>
        <p:spPr>
          <a:xfrm>
            <a:off x="8192152" y="2453061"/>
            <a:ext cx="2695587" cy="2129514"/>
          </a:xfrm>
          <a:prstGeom prst="rect">
            <a:avLst/>
          </a:prstGeom>
        </p:spPr>
      </p:pic>
      <p:sp>
        <p:nvSpPr>
          <p:cNvPr id="21" name="Freeform: Shape 20">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69268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C0765-0F38-4382-AECB-60588D29BA94}"/>
              </a:ext>
            </a:extLst>
          </p:cNvPr>
          <p:cNvSpPr>
            <a:spLocks noGrp="1"/>
          </p:cNvSpPr>
          <p:nvPr>
            <p:ph type="title"/>
          </p:nvPr>
        </p:nvSpPr>
        <p:spPr/>
        <p:txBody>
          <a:bodyPr/>
          <a:lstStyle/>
          <a:p>
            <a:r>
              <a:rPr lang="en-DK" dirty="0"/>
              <a:t>Platforms</a:t>
            </a:r>
          </a:p>
        </p:txBody>
      </p:sp>
      <p:graphicFrame>
        <p:nvGraphicFramePr>
          <p:cNvPr id="4" name="Table 3">
            <a:extLst>
              <a:ext uri="{FF2B5EF4-FFF2-40B4-BE49-F238E27FC236}">
                <a16:creationId xmlns:a16="http://schemas.microsoft.com/office/drawing/2014/main" id="{2F4FE9B7-5129-2CC4-DBB0-E3BB2986F66C}"/>
              </a:ext>
            </a:extLst>
          </p:cNvPr>
          <p:cNvGraphicFramePr>
            <a:graphicFrameLocks noGrp="1"/>
          </p:cNvGraphicFramePr>
          <p:nvPr>
            <p:extLst>
              <p:ext uri="{D42A27DB-BD31-4B8C-83A1-F6EECF244321}">
                <p14:modId xmlns:p14="http://schemas.microsoft.com/office/powerpoint/2010/main" val="631221738"/>
              </p:ext>
            </p:extLst>
          </p:nvPr>
        </p:nvGraphicFramePr>
        <p:xfrm>
          <a:off x="838200" y="2049157"/>
          <a:ext cx="10515600" cy="2926080"/>
        </p:xfrm>
        <a:graphic>
          <a:graphicData uri="http://schemas.openxmlformats.org/drawingml/2006/table">
            <a:tbl>
              <a:tblPr firstRow="1">
                <a:tableStyleId>{69012ECD-51FC-41F1-AA8D-1B2483CD663E}</a:tableStyleId>
              </a:tblPr>
              <a:tblGrid>
                <a:gridCol w="2628900">
                  <a:extLst>
                    <a:ext uri="{9D8B030D-6E8A-4147-A177-3AD203B41FA5}">
                      <a16:colId xmlns:a16="http://schemas.microsoft.com/office/drawing/2014/main" val="2168012759"/>
                    </a:ext>
                  </a:extLst>
                </a:gridCol>
                <a:gridCol w="2628900">
                  <a:extLst>
                    <a:ext uri="{9D8B030D-6E8A-4147-A177-3AD203B41FA5}">
                      <a16:colId xmlns:a16="http://schemas.microsoft.com/office/drawing/2014/main" val="2995596070"/>
                    </a:ext>
                  </a:extLst>
                </a:gridCol>
                <a:gridCol w="2628900">
                  <a:extLst>
                    <a:ext uri="{9D8B030D-6E8A-4147-A177-3AD203B41FA5}">
                      <a16:colId xmlns:a16="http://schemas.microsoft.com/office/drawing/2014/main" val="1552819022"/>
                    </a:ext>
                  </a:extLst>
                </a:gridCol>
                <a:gridCol w="2628900">
                  <a:extLst>
                    <a:ext uri="{9D8B030D-6E8A-4147-A177-3AD203B41FA5}">
                      <a16:colId xmlns:a16="http://schemas.microsoft.com/office/drawing/2014/main" val="1657934618"/>
                    </a:ext>
                  </a:extLst>
                </a:gridCol>
              </a:tblGrid>
              <a:tr h="0">
                <a:tc>
                  <a:txBody>
                    <a:bodyPr/>
                    <a:lstStyle/>
                    <a:p>
                      <a:pPr algn="ctr"/>
                      <a:r>
                        <a:rPr lang="en-GB" dirty="0"/>
                        <a:t>Platform</a:t>
                      </a:r>
                    </a:p>
                  </a:txBody>
                  <a:tcPr anchor="ctr"/>
                </a:tc>
                <a:tc>
                  <a:txBody>
                    <a:bodyPr/>
                    <a:lstStyle/>
                    <a:p>
                      <a:pPr algn="ctr"/>
                      <a:r>
                        <a:rPr lang="en-GB" dirty="0"/>
                        <a:t>Features</a:t>
                      </a:r>
                    </a:p>
                  </a:txBody>
                  <a:tcPr anchor="ctr"/>
                </a:tc>
                <a:tc>
                  <a:txBody>
                    <a:bodyPr/>
                    <a:lstStyle/>
                    <a:p>
                      <a:pPr algn="ctr"/>
                      <a:r>
                        <a:rPr lang="en-GB" dirty="0"/>
                        <a:t>Read Length</a:t>
                      </a:r>
                    </a:p>
                  </a:txBody>
                  <a:tcPr anchor="ctr"/>
                </a:tc>
                <a:tc>
                  <a:txBody>
                    <a:bodyPr/>
                    <a:lstStyle/>
                    <a:p>
                      <a:pPr algn="ctr"/>
                      <a:r>
                        <a:rPr lang="en-GB" dirty="0"/>
                        <a:t>Use Case</a:t>
                      </a:r>
                    </a:p>
                  </a:txBody>
                  <a:tcPr anchor="ctr"/>
                </a:tc>
                <a:extLst>
                  <a:ext uri="{0D108BD9-81ED-4DB2-BD59-A6C34878D82A}">
                    <a16:rowId xmlns:a16="http://schemas.microsoft.com/office/drawing/2014/main" val="644514461"/>
                  </a:ext>
                </a:extLst>
              </a:tr>
              <a:tr h="0">
                <a:tc>
                  <a:txBody>
                    <a:bodyPr/>
                    <a:lstStyle/>
                    <a:p>
                      <a:pPr algn="ctr"/>
                      <a:r>
                        <a:rPr lang="en-GB" b="1" dirty="0"/>
                        <a:t>Illumina</a:t>
                      </a:r>
                      <a:endParaRPr lang="en-GB" dirty="0"/>
                    </a:p>
                  </a:txBody>
                  <a:tcPr anchor="ctr"/>
                </a:tc>
                <a:tc>
                  <a:txBody>
                    <a:bodyPr/>
                    <a:lstStyle/>
                    <a:p>
                      <a:pPr algn="ctr"/>
                      <a:r>
                        <a:rPr lang="en-GB"/>
                        <a:t>High accuracy, short reads</a:t>
                      </a:r>
                    </a:p>
                  </a:txBody>
                  <a:tcPr anchor="ctr"/>
                </a:tc>
                <a:tc>
                  <a:txBody>
                    <a:bodyPr/>
                    <a:lstStyle/>
                    <a:p>
                      <a:pPr algn="ctr"/>
                      <a:r>
                        <a:rPr lang="en-GB"/>
                        <a:t>~150–300 bp</a:t>
                      </a:r>
                    </a:p>
                  </a:txBody>
                  <a:tcPr anchor="ctr"/>
                </a:tc>
                <a:tc>
                  <a:txBody>
                    <a:bodyPr/>
                    <a:lstStyle/>
                    <a:p>
                      <a:pPr algn="ctr"/>
                      <a:r>
                        <a:rPr lang="en-GB"/>
                        <a:t>Most common for shotgun &amp; amplicon</a:t>
                      </a:r>
                    </a:p>
                  </a:txBody>
                  <a:tcPr anchor="ctr"/>
                </a:tc>
                <a:extLst>
                  <a:ext uri="{0D108BD9-81ED-4DB2-BD59-A6C34878D82A}">
                    <a16:rowId xmlns:a16="http://schemas.microsoft.com/office/drawing/2014/main" val="3351972148"/>
                  </a:ext>
                </a:extLst>
              </a:tr>
              <a:tr h="0">
                <a:tc>
                  <a:txBody>
                    <a:bodyPr/>
                    <a:lstStyle/>
                    <a:p>
                      <a:pPr algn="ctr"/>
                      <a:r>
                        <a:rPr lang="en-GB" b="1" dirty="0"/>
                        <a:t>Oxford Nanopore</a:t>
                      </a:r>
                      <a:endParaRPr lang="en-GB" dirty="0"/>
                    </a:p>
                  </a:txBody>
                  <a:tcPr anchor="ctr"/>
                </a:tc>
                <a:tc>
                  <a:txBody>
                    <a:bodyPr/>
                    <a:lstStyle/>
                    <a:p>
                      <a:pPr algn="ctr"/>
                      <a:r>
                        <a:rPr lang="en-GB" dirty="0"/>
                        <a:t>Long reads, portable</a:t>
                      </a:r>
                    </a:p>
                  </a:txBody>
                  <a:tcPr anchor="ctr"/>
                </a:tc>
                <a:tc>
                  <a:txBody>
                    <a:bodyPr/>
                    <a:lstStyle/>
                    <a:p>
                      <a:pPr algn="ctr"/>
                      <a:r>
                        <a:rPr lang="en-GB"/>
                        <a:t>up to 100 kb+</a:t>
                      </a:r>
                    </a:p>
                  </a:txBody>
                  <a:tcPr anchor="ctr"/>
                </a:tc>
                <a:tc>
                  <a:txBody>
                    <a:bodyPr/>
                    <a:lstStyle/>
                    <a:p>
                      <a:pPr algn="ctr"/>
                      <a:r>
                        <a:rPr lang="en-GB"/>
                        <a:t>Assembly, rare taxa detection</a:t>
                      </a:r>
                    </a:p>
                  </a:txBody>
                  <a:tcPr anchor="ctr"/>
                </a:tc>
                <a:extLst>
                  <a:ext uri="{0D108BD9-81ED-4DB2-BD59-A6C34878D82A}">
                    <a16:rowId xmlns:a16="http://schemas.microsoft.com/office/drawing/2014/main" val="2747834670"/>
                  </a:ext>
                </a:extLst>
              </a:tr>
              <a:tr h="0">
                <a:tc>
                  <a:txBody>
                    <a:bodyPr/>
                    <a:lstStyle/>
                    <a:p>
                      <a:pPr algn="ctr"/>
                      <a:r>
                        <a:rPr lang="en-GB" b="1" dirty="0"/>
                        <a:t>PacBio HiFi</a:t>
                      </a:r>
                      <a:endParaRPr lang="en-GB" dirty="0"/>
                    </a:p>
                  </a:txBody>
                  <a:tcPr anchor="ctr"/>
                </a:tc>
                <a:tc>
                  <a:txBody>
                    <a:bodyPr/>
                    <a:lstStyle/>
                    <a:p>
                      <a:pPr algn="ctr"/>
                      <a:r>
                        <a:rPr lang="en-GB"/>
                        <a:t>Long + accurate reads</a:t>
                      </a:r>
                    </a:p>
                  </a:txBody>
                  <a:tcPr anchor="ctr"/>
                </a:tc>
                <a:tc>
                  <a:txBody>
                    <a:bodyPr/>
                    <a:lstStyle/>
                    <a:p>
                      <a:pPr algn="ctr"/>
                      <a:r>
                        <a:rPr lang="en-GB"/>
                        <a:t>~10–25 kb</a:t>
                      </a:r>
                    </a:p>
                  </a:txBody>
                  <a:tcPr anchor="ctr"/>
                </a:tc>
                <a:tc>
                  <a:txBody>
                    <a:bodyPr/>
                    <a:lstStyle/>
                    <a:p>
                      <a:pPr algn="ctr"/>
                      <a:r>
                        <a:rPr lang="en-GB"/>
                        <a:t>Functional profiling, assembly</a:t>
                      </a:r>
                    </a:p>
                  </a:txBody>
                  <a:tcPr anchor="ctr"/>
                </a:tc>
                <a:extLst>
                  <a:ext uri="{0D108BD9-81ED-4DB2-BD59-A6C34878D82A}">
                    <a16:rowId xmlns:a16="http://schemas.microsoft.com/office/drawing/2014/main" val="3589465776"/>
                  </a:ext>
                </a:extLst>
              </a:tr>
              <a:tr h="0">
                <a:tc>
                  <a:txBody>
                    <a:bodyPr/>
                    <a:lstStyle/>
                    <a:p>
                      <a:pPr algn="ctr"/>
                      <a:r>
                        <a:rPr lang="en-GB" b="1" dirty="0"/>
                        <a:t>Ion Torrent</a:t>
                      </a:r>
                      <a:endParaRPr lang="en-GB" dirty="0"/>
                    </a:p>
                  </a:txBody>
                  <a:tcPr anchor="ctr"/>
                </a:tc>
                <a:tc>
                  <a:txBody>
                    <a:bodyPr/>
                    <a:lstStyle/>
                    <a:p>
                      <a:pPr algn="ctr"/>
                      <a:r>
                        <a:rPr lang="en-GB"/>
                        <a:t>Medium throughput</a:t>
                      </a:r>
                    </a:p>
                  </a:txBody>
                  <a:tcPr anchor="ctr"/>
                </a:tc>
                <a:tc>
                  <a:txBody>
                    <a:bodyPr/>
                    <a:lstStyle/>
                    <a:p>
                      <a:pPr algn="ctr"/>
                      <a:r>
                        <a:rPr lang="en-GB"/>
                        <a:t>~200–400 bp</a:t>
                      </a:r>
                    </a:p>
                  </a:txBody>
                  <a:tcPr anchor="ctr"/>
                </a:tc>
                <a:tc>
                  <a:txBody>
                    <a:bodyPr/>
                    <a:lstStyle/>
                    <a:p>
                      <a:pPr algn="ctr"/>
                      <a:r>
                        <a:rPr lang="en-GB" dirty="0"/>
                        <a:t>Less common but used in clinical</a:t>
                      </a:r>
                    </a:p>
                  </a:txBody>
                  <a:tcPr anchor="ctr"/>
                </a:tc>
                <a:extLst>
                  <a:ext uri="{0D108BD9-81ED-4DB2-BD59-A6C34878D82A}">
                    <a16:rowId xmlns:a16="http://schemas.microsoft.com/office/drawing/2014/main" val="2234130748"/>
                  </a:ext>
                </a:extLst>
              </a:tr>
            </a:tbl>
          </a:graphicData>
        </a:graphic>
      </p:graphicFrame>
    </p:spTree>
    <p:extLst>
      <p:ext uri="{BB962C8B-B14F-4D97-AF65-F5344CB8AC3E}">
        <p14:creationId xmlns:p14="http://schemas.microsoft.com/office/powerpoint/2010/main" val="14698463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C8D6C-17B3-8328-A492-79B8A20F48C9}"/>
              </a:ext>
            </a:extLst>
          </p:cNvPr>
          <p:cNvSpPr>
            <a:spLocks noGrp="1"/>
          </p:cNvSpPr>
          <p:nvPr>
            <p:ph type="title"/>
          </p:nvPr>
        </p:nvSpPr>
        <p:spPr/>
        <p:txBody>
          <a:bodyPr>
            <a:normAutofit fontScale="90000"/>
          </a:bodyPr>
          <a:lstStyle/>
          <a:p>
            <a:r>
              <a:rPr lang="en-DK" dirty="0"/>
              <a:t>Profiling microbial communities</a:t>
            </a:r>
            <a:br>
              <a:rPr lang="en-DK" dirty="0"/>
            </a:br>
            <a:r>
              <a:rPr lang="en-DK" dirty="0"/>
              <a:t>16S amplicon sequencing (16S rRNA sequencing)</a:t>
            </a:r>
          </a:p>
        </p:txBody>
      </p:sp>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EA2DA6C1-8141-96B4-B65D-4F1EC34E65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029" y="2514734"/>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0AEAF06-DD7A-106F-201E-883E32DFDBB1}"/>
              </a:ext>
            </a:extLst>
          </p:cNvPr>
          <p:cNvSpPr txBox="1"/>
          <p:nvPr/>
        </p:nvSpPr>
        <p:spPr>
          <a:xfrm>
            <a:off x="242455" y="6488668"/>
            <a:ext cx="9275618" cy="369332"/>
          </a:xfrm>
          <a:prstGeom prst="rect">
            <a:avLst/>
          </a:prstGeom>
          <a:noFill/>
        </p:spPr>
        <p:txBody>
          <a:bodyPr wrap="square" rtlCol="0">
            <a:spAutoFit/>
          </a:bodyPr>
          <a:lstStyle/>
          <a:p>
            <a:r>
              <a:rPr lang="en-GB" dirty="0"/>
              <a:t> </a:t>
            </a:r>
            <a:r>
              <a:rPr lang="en-GB" i="1" dirty="0"/>
              <a:t>J Clin Invest.</a:t>
            </a:r>
            <a:r>
              <a:rPr lang="en-GB" dirty="0"/>
              <a:t> 2022;</a:t>
            </a:r>
            <a:r>
              <a:rPr lang="en-GB" dirty="0">
                <a:hlinkClick r:id="rId3"/>
              </a:rPr>
              <a:t>132(7)</a:t>
            </a:r>
            <a:r>
              <a:rPr lang="en-GB" dirty="0"/>
              <a:t>:e154944. </a:t>
            </a:r>
            <a:r>
              <a:rPr lang="en-GB" dirty="0">
                <a:hlinkClick r:id="rId4"/>
              </a:rPr>
              <a:t>https://doi.org/10.1172/JCI154944</a:t>
            </a:r>
            <a:r>
              <a:rPr lang="en-GB" dirty="0"/>
              <a:t>.</a:t>
            </a:r>
            <a:endParaRPr lang="en-DK" dirty="0"/>
          </a:p>
        </p:txBody>
      </p:sp>
      <p:pic>
        <p:nvPicPr>
          <p:cNvPr id="7170" name="Picture 2" descr="Bacterial 16S rRNA gene.&#10;(A) Percentage sequence identity of conserved a...">
            <a:extLst>
              <a:ext uri="{FF2B5EF4-FFF2-40B4-BE49-F238E27FC236}">
                <a16:creationId xmlns:a16="http://schemas.microsoft.com/office/drawing/2014/main" id="{87AF6987-A955-B8B2-2921-1C3961917A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08844" y="4269284"/>
            <a:ext cx="4588459" cy="1796054"/>
          </a:xfrm>
          <a:prstGeom prst="rect">
            <a:avLst/>
          </a:prstGeom>
          <a:noFill/>
          <a:extLst>
            <a:ext uri="{909E8E84-426E-40DD-AFC4-6F175D3DCCD1}">
              <a14:hiddenFill xmlns:a14="http://schemas.microsoft.com/office/drawing/2010/main">
                <a:solidFill>
                  <a:srgbClr val="FFFFFF"/>
                </a:solidFill>
              </a14:hiddenFill>
            </a:ext>
          </a:extLst>
        </p:spPr>
      </p:pic>
      <p:sp>
        <p:nvSpPr>
          <p:cNvPr id="6" name="Right Arrow 5">
            <a:extLst>
              <a:ext uri="{FF2B5EF4-FFF2-40B4-BE49-F238E27FC236}">
                <a16:creationId xmlns:a16="http://schemas.microsoft.com/office/drawing/2014/main" id="{E194C3D0-53B0-D3AE-713F-B7AB5F37DC1C}"/>
              </a:ext>
            </a:extLst>
          </p:cNvPr>
          <p:cNvSpPr/>
          <p:nvPr/>
        </p:nvSpPr>
        <p:spPr>
          <a:xfrm>
            <a:off x="2132411" y="3215124"/>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7" name="TextBox 6">
            <a:extLst>
              <a:ext uri="{FF2B5EF4-FFF2-40B4-BE49-F238E27FC236}">
                <a16:creationId xmlns:a16="http://schemas.microsoft.com/office/drawing/2014/main" id="{08B1D750-AF72-C305-B35B-ADAD30E49D60}"/>
              </a:ext>
            </a:extLst>
          </p:cNvPr>
          <p:cNvSpPr txBox="1"/>
          <p:nvPr/>
        </p:nvSpPr>
        <p:spPr>
          <a:xfrm>
            <a:off x="2909456" y="3169496"/>
            <a:ext cx="1281546" cy="646331"/>
          </a:xfrm>
          <a:prstGeom prst="rect">
            <a:avLst/>
          </a:prstGeom>
          <a:noFill/>
        </p:spPr>
        <p:txBody>
          <a:bodyPr wrap="square" rtlCol="0">
            <a:spAutoFit/>
          </a:bodyPr>
          <a:lstStyle/>
          <a:p>
            <a:r>
              <a:rPr lang="en-DK" dirty="0"/>
              <a:t>16S rRNA </a:t>
            </a:r>
          </a:p>
          <a:p>
            <a:r>
              <a:rPr lang="en-DK" dirty="0"/>
              <a:t>gene</a:t>
            </a:r>
          </a:p>
        </p:txBody>
      </p:sp>
      <p:sp>
        <p:nvSpPr>
          <p:cNvPr id="9" name="TextBox 8">
            <a:extLst>
              <a:ext uri="{FF2B5EF4-FFF2-40B4-BE49-F238E27FC236}">
                <a16:creationId xmlns:a16="http://schemas.microsoft.com/office/drawing/2014/main" id="{B24A550D-76C4-5C18-3EA8-54C1870E79BA}"/>
              </a:ext>
            </a:extLst>
          </p:cNvPr>
          <p:cNvSpPr txBox="1"/>
          <p:nvPr/>
        </p:nvSpPr>
        <p:spPr>
          <a:xfrm>
            <a:off x="5059288" y="2659696"/>
            <a:ext cx="1787236" cy="1754326"/>
          </a:xfrm>
          <a:prstGeom prst="rect">
            <a:avLst/>
          </a:prstGeom>
          <a:noFill/>
        </p:spPr>
        <p:txBody>
          <a:bodyPr wrap="square" rtlCol="0">
            <a:spAutoFit/>
          </a:bodyPr>
          <a:lstStyle/>
          <a:p>
            <a:pPr algn="just"/>
            <a:r>
              <a:rPr lang="en-DK" dirty="0"/>
              <a:t>CGCCTAT</a:t>
            </a:r>
          </a:p>
          <a:p>
            <a:pPr algn="just"/>
            <a:r>
              <a:rPr lang="en-DK" dirty="0"/>
              <a:t>C</a:t>
            </a:r>
            <a:r>
              <a:rPr lang="en-DK" dirty="0">
                <a:solidFill>
                  <a:srgbClr val="FF0000"/>
                </a:solidFill>
              </a:rPr>
              <a:t>A</a:t>
            </a:r>
            <a:r>
              <a:rPr lang="en-DK" dirty="0"/>
              <a:t>CCTAT</a:t>
            </a:r>
          </a:p>
          <a:p>
            <a:pPr algn="just"/>
            <a:r>
              <a:rPr lang="en-DK" dirty="0"/>
              <a:t>CGCCTAT</a:t>
            </a:r>
          </a:p>
          <a:p>
            <a:pPr algn="just"/>
            <a:r>
              <a:rPr lang="en-DK" dirty="0"/>
              <a:t>CGCCTAC</a:t>
            </a:r>
          </a:p>
          <a:p>
            <a:pPr algn="just"/>
            <a:r>
              <a:rPr lang="en-DK" dirty="0"/>
              <a:t>CG</a:t>
            </a:r>
            <a:r>
              <a:rPr lang="en-DK" dirty="0">
                <a:solidFill>
                  <a:srgbClr val="FF0000"/>
                </a:solidFill>
              </a:rPr>
              <a:t>C</a:t>
            </a:r>
            <a:r>
              <a:rPr lang="en-DK" dirty="0"/>
              <a:t>CTAT</a:t>
            </a:r>
          </a:p>
          <a:p>
            <a:pPr algn="just"/>
            <a:endParaRPr lang="en-DK" dirty="0"/>
          </a:p>
        </p:txBody>
      </p:sp>
      <p:sp>
        <p:nvSpPr>
          <p:cNvPr id="10" name="TextBox 9">
            <a:extLst>
              <a:ext uri="{FF2B5EF4-FFF2-40B4-BE49-F238E27FC236}">
                <a16:creationId xmlns:a16="http://schemas.microsoft.com/office/drawing/2014/main" id="{4A6145C0-C05C-2C13-0209-0D89100A8ABF}"/>
              </a:ext>
            </a:extLst>
          </p:cNvPr>
          <p:cNvSpPr txBox="1"/>
          <p:nvPr/>
        </p:nvSpPr>
        <p:spPr>
          <a:xfrm>
            <a:off x="5059288" y="1952670"/>
            <a:ext cx="1787236" cy="646331"/>
          </a:xfrm>
          <a:prstGeom prst="rect">
            <a:avLst/>
          </a:prstGeom>
          <a:noFill/>
        </p:spPr>
        <p:txBody>
          <a:bodyPr wrap="square" rtlCol="0">
            <a:spAutoFit/>
          </a:bodyPr>
          <a:lstStyle/>
          <a:p>
            <a:r>
              <a:rPr lang="en-DK" dirty="0"/>
              <a:t>amplicon</a:t>
            </a:r>
          </a:p>
          <a:p>
            <a:r>
              <a:rPr lang="en-DK" dirty="0"/>
              <a:t>sequencing</a:t>
            </a:r>
          </a:p>
        </p:txBody>
      </p:sp>
      <p:pic>
        <p:nvPicPr>
          <p:cNvPr id="7172" name="Picture 4" descr="The SILVA Database Project: An ELIXIR core data resource for high-quality  ribosomal RNA sequences">
            <a:extLst>
              <a:ext uri="{FF2B5EF4-FFF2-40B4-BE49-F238E27FC236}">
                <a16:creationId xmlns:a16="http://schemas.microsoft.com/office/drawing/2014/main" id="{3F73C9C9-61A2-D185-A93D-FFCB517B8E6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91804" y="2623715"/>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descr="greengenes.lbl.gov - Aligned 16S rDNA data and tools">
            <a:extLst>
              <a:ext uri="{FF2B5EF4-FFF2-40B4-BE49-F238E27FC236}">
                <a16:creationId xmlns:a16="http://schemas.microsoft.com/office/drawing/2014/main" id="{0B671EF9-F53E-5A6C-8F28-398692C339A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42788" y="3534387"/>
            <a:ext cx="1522847" cy="1025435"/>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2FE9718D-BCA0-5696-3558-418E6BAF0A42}"/>
              </a:ext>
            </a:extLst>
          </p:cNvPr>
          <p:cNvSpPr txBox="1"/>
          <p:nvPr/>
        </p:nvSpPr>
        <p:spPr>
          <a:xfrm>
            <a:off x="7025548" y="1939728"/>
            <a:ext cx="2176467" cy="646331"/>
          </a:xfrm>
          <a:prstGeom prst="rect">
            <a:avLst/>
          </a:prstGeom>
          <a:noFill/>
        </p:spPr>
        <p:txBody>
          <a:bodyPr wrap="square" rtlCol="0">
            <a:spAutoFit/>
          </a:bodyPr>
          <a:lstStyle/>
          <a:p>
            <a:r>
              <a:rPr lang="en-DK" dirty="0"/>
              <a:t>Compare to a reference database</a:t>
            </a:r>
          </a:p>
        </p:txBody>
      </p:sp>
      <p:sp>
        <p:nvSpPr>
          <p:cNvPr id="15" name="Right Arrow 14">
            <a:extLst>
              <a:ext uri="{FF2B5EF4-FFF2-40B4-BE49-F238E27FC236}">
                <a16:creationId xmlns:a16="http://schemas.microsoft.com/office/drawing/2014/main" id="{2D1CCFF6-55F7-2FAF-E81A-BFFB1E77494B}"/>
              </a:ext>
            </a:extLst>
          </p:cNvPr>
          <p:cNvSpPr/>
          <p:nvPr/>
        </p:nvSpPr>
        <p:spPr>
          <a:xfrm>
            <a:off x="4172493" y="3237513"/>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6" name="Right Arrow 15">
            <a:extLst>
              <a:ext uri="{FF2B5EF4-FFF2-40B4-BE49-F238E27FC236}">
                <a16:creationId xmlns:a16="http://schemas.microsoft.com/office/drawing/2014/main" id="{811C9B3D-5C67-CD42-92F7-18FDF769DF00}"/>
              </a:ext>
            </a:extLst>
          </p:cNvPr>
          <p:cNvSpPr/>
          <p:nvPr/>
        </p:nvSpPr>
        <p:spPr>
          <a:xfrm>
            <a:off x="6311393" y="3219514"/>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Right Arrow 16">
            <a:extLst>
              <a:ext uri="{FF2B5EF4-FFF2-40B4-BE49-F238E27FC236}">
                <a16:creationId xmlns:a16="http://schemas.microsoft.com/office/drawing/2014/main" id="{AF1EEC0D-1C4C-CE1C-09DC-2743C9000BE4}"/>
              </a:ext>
            </a:extLst>
          </p:cNvPr>
          <p:cNvSpPr/>
          <p:nvPr/>
        </p:nvSpPr>
        <p:spPr>
          <a:xfrm>
            <a:off x="9011880" y="3233206"/>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graphicFrame>
        <p:nvGraphicFramePr>
          <p:cNvPr id="21" name="Table 20">
            <a:extLst>
              <a:ext uri="{FF2B5EF4-FFF2-40B4-BE49-F238E27FC236}">
                <a16:creationId xmlns:a16="http://schemas.microsoft.com/office/drawing/2014/main" id="{1B115ECC-1144-B22D-1A6E-145075BAF7CB}"/>
              </a:ext>
            </a:extLst>
          </p:cNvPr>
          <p:cNvGraphicFramePr>
            <a:graphicFrameLocks noGrp="1"/>
          </p:cNvGraphicFramePr>
          <p:nvPr>
            <p:extLst>
              <p:ext uri="{D42A27DB-BD31-4B8C-83A1-F6EECF244321}">
                <p14:modId xmlns:p14="http://schemas.microsoft.com/office/powerpoint/2010/main" val="1113189773"/>
              </p:ext>
            </p:extLst>
          </p:nvPr>
        </p:nvGraphicFramePr>
        <p:xfrm>
          <a:off x="10421825" y="2797651"/>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22" name="TextBox 21">
            <a:extLst>
              <a:ext uri="{FF2B5EF4-FFF2-40B4-BE49-F238E27FC236}">
                <a16:creationId xmlns:a16="http://schemas.microsoft.com/office/drawing/2014/main" id="{1C2C38A3-AE45-D0CE-D1DF-031AB432CAB1}"/>
              </a:ext>
            </a:extLst>
          </p:cNvPr>
          <p:cNvSpPr txBox="1"/>
          <p:nvPr/>
        </p:nvSpPr>
        <p:spPr>
          <a:xfrm>
            <a:off x="9202015" y="4420444"/>
            <a:ext cx="3046486" cy="1200329"/>
          </a:xfrm>
          <a:prstGeom prst="rect">
            <a:avLst/>
          </a:prstGeom>
          <a:noFill/>
        </p:spPr>
        <p:txBody>
          <a:bodyPr wrap="square" rtlCol="0">
            <a:spAutoFit/>
          </a:bodyPr>
          <a:lstStyle/>
          <a:p>
            <a:pPr marL="285750" indent="-285750">
              <a:buFont typeface="Arial" panose="020B0604020202020204" pitchFamily="34" charset="0"/>
              <a:buChar char="•"/>
            </a:pPr>
            <a:r>
              <a:rPr lang="en-DK" dirty="0"/>
              <a:t>Operational taxonic Units (OTUs) – Resolution up to Genus</a:t>
            </a:r>
          </a:p>
          <a:p>
            <a:pPr marL="285750" indent="-285750">
              <a:buFont typeface="Arial" panose="020B0604020202020204" pitchFamily="34" charset="0"/>
              <a:buChar char="•"/>
            </a:pPr>
            <a:r>
              <a:rPr lang="en-DK" dirty="0"/>
              <a:t>Inferred functions</a:t>
            </a:r>
          </a:p>
        </p:txBody>
      </p:sp>
      <p:sp>
        <p:nvSpPr>
          <p:cNvPr id="23" name="TextBox 22">
            <a:extLst>
              <a:ext uri="{FF2B5EF4-FFF2-40B4-BE49-F238E27FC236}">
                <a16:creationId xmlns:a16="http://schemas.microsoft.com/office/drawing/2014/main" id="{02316353-50AF-17A8-1BDE-D9471793CC84}"/>
              </a:ext>
            </a:extLst>
          </p:cNvPr>
          <p:cNvSpPr txBox="1"/>
          <p:nvPr/>
        </p:nvSpPr>
        <p:spPr>
          <a:xfrm>
            <a:off x="9862266" y="2066620"/>
            <a:ext cx="1965177" cy="369332"/>
          </a:xfrm>
          <a:prstGeom prst="rect">
            <a:avLst/>
          </a:prstGeom>
          <a:noFill/>
        </p:spPr>
        <p:txBody>
          <a:bodyPr wrap="square" rtlCol="0">
            <a:spAutoFit/>
          </a:bodyPr>
          <a:lstStyle/>
          <a:p>
            <a:r>
              <a:rPr lang="en-DK" dirty="0"/>
              <a:t>Abundance table</a:t>
            </a:r>
          </a:p>
        </p:txBody>
      </p:sp>
      <p:sp>
        <p:nvSpPr>
          <p:cNvPr id="24" name="TextBox 23">
            <a:extLst>
              <a:ext uri="{FF2B5EF4-FFF2-40B4-BE49-F238E27FC236}">
                <a16:creationId xmlns:a16="http://schemas.microsoft.com/office/drawing/2014/main" id="{8997AB7F-88AA-089D-A88F-C32FDCA4B42B}"/>
              </a:ext>
            </a:extLst>
          </p:cNvPr>
          <p:cNvSpPr txBox="1"/>
          <p:nvPr/>
        </p:nvSpPr>
        <p:spPr>
          <a:xfrm>
            <a:off x="10377055" y="2473169"/>
            <a:ext cx="1094509" cy="369332"/>
          </a:xfrm>
          <a:prstGeom prst="rect">
            <a:avLst/>
          </a:prstGeom>
          <a:noFill/>
        </p:spPr>
        <p:txBody>
          <a:bodyPr wrap="square" rtlCol="0">
            <a:spAutoFit/>
          </a:bodyPr>
          <a:lstStyle/>
          <a:p>
            <a:r>
              <a:rPr lang="en-DK" dirty="0"/>
              <a:t>Samples</a:t>
            </a:r>
          </a:p>
        </p:txBody>
      </p:sp>
      <p:sp>
        <p:nvSpPr>
          <p:cNvPr id="25" name="TextBox 24">
            <a:extLst>
              <a:ext uri="{FF2B5EF4-FFF2-40B4-BE49-F238E27FC236}">
                <a16:creationId xmlns:a16="http://schemas.microsoft.com/office/drawing/2014/main" id="{590BDD0B-722B-AE1A-B502-101BF11C0542}"/>
              </a:ext>
            </a:extLst>
          </p:cNvPr>
          <p:cNvSpPr txBox="1"/>
          <p:nvPr/>
        </p:nvSpPr>
        <p:spPr>
          <a:xfrm rot="16200000">
            <a:off x="9408425" y="3003689"/>
            <a:ext cx="1617517" cy="369332"/>
          </a:xfrm>
          <a:prstGeom prst="rect">
            <a:avLst/>
          </a:prstGeom>
          <a:noFill/>
        </p:spPr>
        <p:txBody>
          <a:bodyPr wrap="square" rtlCol="0">
            <a:spAutoFit/>
          </a:bodyPr>
          <a:lstStyle/>
          <a:p>
            <a:r>
              <a:rPr lang="en-DK" dirty="0"/>
              <a:t>Features</a:t>
            </a:r>
          </a:p>
        </p:txBody>
      </p:sp>
      <p:sp>
        <p:nvSpPr>
          <p:cNvPr id="27" name="TextBox 26">
            <a:extLst>
              <a:ext uri="{FF2B5EF4-FFF2-40B4-BE49-F238E27FC236}">
                <a16:creationId xmlns:a16="http://schemas.microsoft.com/office/drawing/2014/main" id="{0FC22EF4-A361-2DD8-1A9B-5AADEF422334}"/>
              </a:ext>
            </a:extLst>
          </p:cNvPr>
          <p:cNvSpPr txBox="1"/>
          <p:nvPr/>
        </p:nvSpPr>
        <p:spPr>
          <a:xfrm>
            <a:off x="838200" y="1574539"/>
            <a:ext cx="3176163" cy="369332"/>
          </a:xfrm>
          <a:prstGeom prst="rect">
            <a:avLst/>
          </a:prstGeom>
          <a:noFill/>
        </p:spPr>
        <p:txBody>
          <a:bodyPr wrap="square" rtlCol="0">
            <a:spAutoFit/>
          </a:bodyPr>
          <a:lstStyle/>
          <a:p>
            <a:r>
              <a:rPr lang="en-DK" dirty="0"/>
              <a:t>Targets specifically 16S rRNA</a:t>
            </a:r>
          </a:p>
        </p:txBody>
      </p:sp>
    </p:spTree>
    <p:extLst>
      <p:ext uri="{BB962C8B-B14F-4D97-AF65-F5344CB8AC3E}">
        <p14:creationId xmlns:p14="http://schemas.microsoft.com/office/powerpoint/2010/main" val="27024949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3EED1-830F-8DD0-B885-891F0FB07BC3}"/>
              </a:ext>
            </a:extLst>
          </p:cNvPr>
          <p:cNvSpPr>
            <a:spLocks noGrp="1"/>
          </p:cNvSpPr>
          <p:nvPr>
            <p:ph type="title"/>
          </p:nvPr>
        </p:nvSpPr>
        <p:spPr/>
        <p:txBody>
          <a:bodyPr/>
          <a:lstStyle/>
          <a:p>
            <a:r>
              <a:rPr lang="en-DK" dirty="0"/>
              <a:t>Profiling microbial communities </a:t>
            </a:r>
            <a:br>
              <a:rPr lang="en-DK" dirty="0"/>
            </a:br>
            <a:r>
              <a:rPr lang="en-DK" dirty="0"/>
              <a:t>Reference-based methods</a:t>
            </a:r>
          </a:p>
        </p:txBody>
      </p:sp>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45279C7B-DD91-F9F2-F380-BC0F42E6E7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029" y="2514734"/>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67527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A94DE-74AF-9F48-4FCC-6F85663574B0}"/>
              </a:ext>
            </a:extLst>
          </p:cNvPr>
          <p:cNvSpPr>
            <a:spLocks noGrp="1"/>
          </p:cNvSpPr>
          <p:nvPr>
            <p:ph type="title"/>
          </p:nvPr>
        </p:nvSpPr>
        <p:spPr/>
        <p:txBody>
          <a:bodyPr/>
          <a:lstStyle/>
          <a:p>
            <a:r>
              <a:rPr lang="en-DK" dirty="0"/>
              <a:t>Metagenome-assembled genomes</a:t>
            </a:r>
          </a:p>
        </p:txBody>
      </p:sp>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5E430ACA-BD55-3BA4-6314-CC620F796C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029" y="2514734"/>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90480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720C8-ABA1-35DB-5593-DAE69D688CA2}"/>
              </a:ext>
            </a:extLst>
          </p:cNvPr>
          <p:cNvSpPr>
            <a:spLocks noGrp="1"/>
          </p:cNvSpPr>
          <p:nvPr>
            <p:ph type="title"/>
          </p:nvPr>
        </p:nvSpPr>
        <p:spPr/>
        <p:txBody>
          <a:bodyPr/>
          <a:lstStyle/>
          <a:p>
            <a:r>
              <a:rPr lang="en-DK" dirty="0"/>
              <a:t>Microbiome data</a:t>
            </a:r>
          </a:p>
        </p:txBody>
      </p:sp>
      <p:sp>
        <p:nvSpPr>
          <p:cNvPr id="3" name="Content Placeholder 2">
            <a:extLst>
              <a:ext uri="{FF2B5EF4-FFF2-40B4-BE49-F238E27FC236}">
                <a16:creationId xmlns:a16="http://schemas.microsoft.com/office/drawing/2014/main" id="{F3039B2E-6A88-E4A3-7C7E-6379278F32AB}"/>
              </a:ext>
            </a:extLst>
          </p:cNvPr>
          <p:cNvSpPr>
            <a:spLocks noGrp="1"/>
          </p:cNvSpPr>
          <p:nvPr>
            <p:ph idx="1"/>
          </p:nvPr>
        </p:nvSpPr>
        <p:spPr/>
        <p:txBody>
          <a:bodyPr/>
          <a:lstStyle/>
          <a:p>
            <a:r>
              <a:rPr lang="en-DK" dirty="0"/>
              <a:t>Sparsity</a:t>
            </a:r>
          </a:p>
          <a:p>
            <a:r>
              <a:rPr lang="en-DK" dirty="0"/>
              <a:t>Dinamic range</a:t>
            </a:r>
          </a:p>
          <a:p>
            <a:r>
              <a:rPr lang="en-DK" dirty="0"/>
              <a:t>Relative vs Absolute abundace</a:t>
            </a:r>
          </a:p>
          <a:p>
            <a:pPr marL="0" indent="0">
              <a:buNone/>
            </a:pPr>
            <a:r>
              <a:rPr lang="en-DK" dirty="0"/>
              <a:t>.Compositionality</a:t>
            </a:r>
          </a:p>
        </p:txBody>
      </p:sp>
    </p:spTree>
    <p:extLst>
      <p:ext uri="{BB962C8B-B14F-4D97-AF65-F5344CB8AC3E}">
        <p14:creationId xmlns:p14="http://schemas.microsoft.com/office/powerpoint/2010/main" val="16329213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08E8A-B4BF-BEE4-D88C-461A883100BA}"/>
              </a:ext>
            </a:extLst>
          </p:cNvPr>
          <p:cNvSpPr>
            <a:spLocks noGrp="1"/>
          </p:cNvSpPr>
          <p:nvPr>
            <p:ph type="title"/>
          </p:nvPr>
        </p:nvSpPr>
        <p:spPr/>
        <p:txBody>
          <a:bodyPr/>
          <a:lstStyle/>
          <a:p>
            <a:r>
              <a:rPr lang="en-DK" dirty="0"/>
              <a:t>Absolute abundance vs relative abundance</a:t>
            </a:r>
          </a:p>
        </p:txBody>
      </p:sp>
      <p:sp>
        <p:nvSpPr>
          <p:cNvPr id="3" name="Content Placeholder 2">
            <a:extLst>
              <a:ext uri="{FF2B5EF4-FFF2-40B4-BE49-F238E27FC236}">
                <a16:creationId xmlns:a16="http://schemas.microsoft.com/office/drawing/2014/main" id="{2F0565DD-28A1-ACE7-5688-78815BBE606A}"/>
              </a:ext>
            </a:extLst>
          </p:cNvPr>
          <p:cNvSpPr>
            <a:spLocks noGrp="1"/>
          </p:cNvSpPr>
          <p:nvPr>
            <p:ph idx="1"/>
          </p:nvPr>
        </p:nvSpPr>
        <p:spPr/>
        <p:txBody>
          <a:bodyPr/>
          <a:lstStyle/>
          <a:p>
            <a:endParaRPr lang="en-DK"/>
          </a:p>
        </p:txBody>
      </p:sp>
    </p:spTree>
    <p:extLst>
      <p:ext uri="{BB962C8B-B14F-4D97-AF65-F5344CB8AC3E}">
        <p14:creationId xmlns:p14="http://schemas.microsoft.com/office/powerpoint/2010/main" val="1107176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AC41B-3DEA-15CC-3B0F-34412C2383F4}"/>
              </a:ext>
            </a:extLst>
          </p:cNvPr>
          <p:cNvSpPr>
            <a:spLocks noGrp="1"/>
          </p:cNvSpPr>
          <p:nvPr>
            <p:ph type="title"/>
          </p:nvPr>
        </p:nvSpPr>
        <p:spPr/>
        <p:txBody>
          <a:bodyPr/>
          <a:lstStyle/>
          <a:p>
            <a:r>
              <a:rPr lang="en-DK" dirty="0"/>
              <a:t>Compositional data</a:t>
            </a:r>
          </a:p>
        </p:txBody>
      </p:sp>
      <p:sp>
        <p:nvSpPr>
          <p:cNvPr id="4" name="TextBox 3">
            <a:extLst>
              <a:ext uri="{FF2B5EF4-FFF2-40B4-BE49-F238E27FC236}">
                <a16:creationId xmlns:a16="http://schemas.microsoft.com/office/drawing/2014/main" id="{DB1691FA-2BE4-9CFD-F436-6FCBF90281D6}"/>
              </a:ext>
            </a:extLst>
          </p:cNvPr>
          <p:cNvSpPr txBox="1"/>
          <p:nvPr/>
        </p:nvSpPr>
        <p:spPr>
          <a:xfrm>
            <a:off x="838200" y="1532965"/>
            <a:ext cx="10860741" cy="3693319"/>
          </a:xfrm>
          <a:prstGeom prst="rect">
            <a:avLst/>
          </a:prstGeom>
          <a:noFill/>
        </p:spPr>
        <p:txBody>
          <a:bodyPr wrap="square" rtlCol="0">
            <a:spAutoFit/>
          </a:bodyPr>
          <a:lstStyle/>
          <a:p>
            <a:r>
              <a:rPr lang="en-GB" dirty="0"/>
              <a:t>In metagenomics, </a:t>
            </a:r>
            <a:r>
              <a:rPr lang="en-GB" b="1" dirty="0"/>
              <a:t>compositional data</a:t>
            </a:r>
            <a:r>
              <a:rPr lang="en-GB" dirty="0"/>
              <a:t> means that your microbial abundances are </a:t>
            </a:r>
            <a:r>
              <a:rPr lang="en-GB" b="1" dirty="0"/>
              <a:t>relative, not absolute</a:t>
            </a:r>
            <a:r>
              <a:rPr lang="en-GB" dirty="0"/>
              <a:t>. </a:t>
            </a:r>
            <a:r>
              <a:rPr lang="en-GB"/>
              <a:t>You're usually working with </a:t>
            </a:r>
            <a:r>
              <a:rPr lang="en-GB" b="1"/>
              <a:t>proportions or percentages</a:t>
            </a:r>
            <a:r>
              <a:rPr lang="en-GB"/>
              <a:t> of total reads per sample — not true cell counts.</a:t>
            </a:r>
          </a:p>
          <a:p>
            <a:endParaRPr lang="en-GB"/>
          </a:p>
          <a:p>
            <a:r>
              <a:rPr lang="en-GB" dirty="0"/>
              <a:t>Metagenomic studies of microbial communities sample a fraction of the total genomic content (sampling depth), which are then sequenced at a certain sequencing depth. Both sampling depth and sequencing depth can vary several orders of magnitude between samples. As absolute microbial counts (abundances) are normally not known, and measurements depend on sampling and sequencing depths, community compositions are represented using relative abundances. Since relative abundances are constrained (they sum to 1 in a given community), they are susceptible to compositional effects, where an increase in relative abundance of one component leads to a compositional decrease in the relative abundance of other components. Differential analysis based on relative abundances thus needs careful interpretation as compositional effect can introduce spurious differences in relative abundances while the absolute abundances are not different. </a:t>
            </a:r>
            <a:endParaRPr lang="en-DK" dirty="0"/>
          </a:p>
        </p:txBody>
      </p:sp>
    </p:spTree>
    <p:extLst>
      <p:ext uri="{BB962C8B-B14F-4D97-AF65-F5344CB8AC3E}">
        <p14:creationId xmlns:p14="http://schemas.microsoft.com/office/powerpoint/2010/main" val="28406560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8420FA-E99E-A871-07BB-5BFFC106C0DF}"/>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8073478F-D770-E127-57AB-FDEBEBE4D443}"/>
              </a:ext>
            </a:extLst>
          </p:cNvPr>
          <p:cNvSpPr>
            <a:spLocks noGrp="1"/>
          </p:cNvSpPr>
          <p:nvPr>
            <p:ph type="title"/>
          </p:nvPr>
        </p:nvSpPr>
        <p:spPr>
          <a:xfrm>
            <a:off x="520099" y="448056"/>
            <a:ext cx="4245864" cy="1719072"/>
          </a:xfrm>
        </p:spPr>
        <p:txBody>
          <a:bodyPr vert="horz" lIns="91440" tIns="45720" rIns="91440" bIns="45720" rtlCol="0" anchor="b">
            <a:normAutofit/>
          </a:bodyPr>
          <a:lstStyle/>
          <a:p>
            <a:r>
              <a:rPr lang="en-US" sz="3800" kern="1200" dirty="0">
                <a:solidFill>
                  <a:schemeClr val="tx1"/>
                </a:solidFill>
                <a:latin typeface="+mj-lt"/>
                <a:ea typeface="+mj-ea"/>
                <a:cs typeface="+mj-cs"/>
              </a:rPr>
              <a:t>Diversity measures: Alpha diversity</a:t>
            </a:r>
          </a:p>
        </p:txBody>
      </p:sp>
      <p:sp>
        <p:nvSpPr>
          <p:cNvPr id="2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257359-7FDB-A58F-1857-E7536BD00AC5}"/>
              </a:ext>
            </a:extLst>
          </p:cNvPr>
          <p:cNvSpPr txBox="1"/>
          <p:nvPr/>
        </p:nvSpPr>
        <p:spPr>
          <a:xfrm>
            <a:off x="520099" y="3019666"/>
            <a:ext cx="4594161" cy="341071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sz="1600" dirty="0"/>
              <a:t>Diversity within a sample</a:t>
            </a:r>
          </a:p>
          <a:p>
            <a:pPr lvl="1" indent="-228600">
              <a:lnSpc>
                <a:spcPct val="90000"/>
              </a:lnSpc>
              <a:spcAft>
                <a:spcPts val="600"/>
              </a:spcAft>
              <a:buFont typeface="Arial" panose="020B0604020202020204" pitchFamily="34" charset="0"/>
              <a:buChar char="•"/>
            </a:pPr>
            <a:r>
              <a:rPr lang="en-US" sz="1600" b="1" dirty="0"/>
              <a:t>Richness</a:t>
            </a:r>
            <a:r>
              <a:rPr lang="en-US" sz="1600" dirty="0"/>
              <a:t>: Number of unique taxa (e.g., species, OTUs, ASVs)</a:t>
            </a:r>
          </a:p>
          <a:p>
            <a:pPr lvl="2" indent="-228600">
              <a:lnSpc>
                <a:spcPct val="90000"/>
              </a:lnSpc>
              <a:spcAft>
                <a:spcPts val="600"/>
              </a:spcAft>
              <a:buFont typeface="Arial" panose="020B0604020202020204" pitchFamily="34" charset="0"/>
              <a:buChar char="•"/>
            </a:pPr>
            <a:r>
              <a:rPr lang="en-US" sz="1600" dirty="0"/>
              <a:t>How many different taxa are in a sample</a:t>
            </a:r>
          </a:p>
          <a:p>
            <a:pPr lvl="1" indent="-228600">
              <a:lnSpc>
                <a:spcPct val="90000"/>
              </a:lnSpc>
              <a:spcAft>
                <a:spcPts val="600"/>
              </a:spcAft>
              <a:buFont typeface="Arial" panose="020B0604020202020204" pitchFamily="34" charset="0"/>
              <a:buChar char="•"/>
            </a:pPr>
            <a:r>
              <a:rPr lang="en-US" sz="1600" b="1" dirty="0"/>
              <a:t>Shannon Index</a:t>
            </a:r>
            <a:r>
              <a:rPr lang="en-US" sz="1600" dirty="0"/>
              <a:t>: Accounts for both richness and evenness</a:t>
            </a:r>
          </a:p>
          <a:p>
            <a:pPr lvl="2" indent="-228600">
              <a:lnSpc>
                <a:spcPct val="90000"/>
              </a:lnSpc>
              <a:spcAft>
                <a:spcPts val="600"/>
              </a:spcAft>
              <a:buFont typeface="Arial" panose="020B0604020202020204" pitchFamily="34" charset="0"/>
              <a:buChar char="•"/>
            </a:pPr>
            <a:r>
              <a:rPr lang="en-US" sz="1600" b="1" dirty="0"/>
              <a:t>Interprets</a:t>
            </a:r>
            <a:r>
              <a:rPr lang="en-US" sz="1600" dirty="0"/>
              <a:t>: Both richness and evenness (how balanced the community is)</a:t>
            </a:r>
          </a:p>
          <a:p>
            <a:pPr lvl="2" indent="-228600">
              <a:lnSpc>
                <a:spcPct val="90000"/>
              </a:lnSpc>
              <a:spcAft>
                <a:spcPts val="600"/>
              </a:spcAft>
              <a:buFont typeface="Arial" panose="020B0604020202020204" pitchFamily="34" charset="0"/>
              <a:buChar char="•"/>
            </a:pPr>
            <a:r>
              <a:rPr lang="en-US" sz="1600" b="1" dirty="0"/>
              <a:t>Higher value</a:t>
            </a:r>
            <a:r>
              <a:rPr lang="en-US" sz="1600" dirty="0"/>
              <a:t> = More diverse and evenly distributed community</a:t>
            </a:r>
          </a:p>
          <a:p>
            <a:pPr lvl="1" indent="-228600">
              <a:lnSpc>
                <a:spcPct val="90000"/>
              </a:lnSpc>
              <a:spcAft>
                <a:spcPts val="600"/>
              </a:spcAft>
              <a:buFont typeface="Arial" panose="020B0604020202020204" pitchFamily="34" charset="0"/>
              <a:buChar char="•"/>
            </a:pPr>
            <a:r>
              <a:rPr lang="en-US" sz="1600" dirty="0"/>
              <a:t>Other indices: Simpson, Chao1, Faith’s PD (for phylogenetic diversity)</a:t>
            </a:r>
          </a:p>
          <a:p>
            <a:pPr lvl="1" indent="-228600">
              <a:lnSpc>
                <a:spcPct val="90000"/>
              </a:lnSpc>
              <a:spcAft>
                <a:spcPts val="600"/>
              </a:spcAft>
              <a:buFont typeface="Arial" panose="020B0604020202020204" pitchFamily="34" charset="0"/>
              <a:buChar char="•"/>
            </a:pPr>
            <a:endParaRPr lang="en-US" sz="1600" dirty="0"/>
          </a:p>
        </p:txBody>
      </p:sp>
      <p:pic>
        <p:nvPicPr>
          <p:cNvPr id="5" name="Picture 4">
            <a:extLst>
              <a:ext uri="{FF2B5EF4-FFF2-40B4-BE49-F238E27FC236}">
                <a16:creationId xmlns:a16="http://schemas.microsoft.com/office/drawing/2014/main" id="{D189D350-6BCE-DDF4-E6BF-693E95AFD9BD}"/>
              </a:ext>
            </a:extLst>
          </p:cNvPr>
          <p:cNvPicPr>
            <a:picLocks noChangeAspect="1"/>
          </p:cNvPicPr>
          <p:nvPr/>
        </p:nvPicPr>
        <p:blipFill>
          <a:blip r:embed="rId2"/>
          <a:stretch>
            <a:fillRect/>
          </a:stretch>
        </p:blipFill>
        <p:spPr>
          <a:xfrm>
            <a:off x="5108460" y="2573756"/>
            <a:ext cx="6903720" cy="3617360"/>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5EBF6C7B-D2EE-A52D-D08B-C9081378EC83}"/>
              </a:ext>
            </a:extLst>
          </p:cNvPr>
          <p:cNvPicPr>
            <a:picLocks noChangeAspect="1"/>
          </p:cNvPicPr>
          <p:nvPr/>
        </p:nvPicPr>
        <p:blipFill>
          <a:blip r:embed="rId3"/>
          <a:stretch>
            <a:fillRect/>
          </a:stretch>
        </p:blipFill>
        <p:spPr>
          <a:xfrm>
            <a:off x="8719492" y="666884"/>
            <a:ext cx="1915114" cy="762137"/>
          </a:xfrm>
          <a:prstGeom prst="rect">
            <a:avLst/>
          </a:prstGeom>
        </p:spPr>
      </p:pic>
      <p:sp>
        <p:nvSpPr>
          <p:cNvPr id="9" name="TextBox 8">
            <a:extLst>
              <a:ext uri="{FF2B5EF4-FFF2-40B4-BE49-F238E27FC236}">
                <a16:creationId xmlns:a16="http://schemas.microsoft.com/office/drawing/2014/main" id="{6CB17419-C877-1B1C-4D2B-D566C1E0EB26}"/>
              </a:ext>
            </a:extLst>
          </p:cNvPr>
          <p:cNvSpPr txBox="1"/>
          <p:nvPr/>
        </p:nvSpPr>
        <p:spPr>
          <a:xfrm>
            <a:off x="5976050" y="1014320"/>
            <a:ext cx="4047781" cy="1785104"/>
          </a:xfrm>
          <a:prstGeom prst="rect">
            <a:avLst/>
          </a:prstGeom>
          <a:noFill/>
        </p:spPr>
        <p:txBody>
          <a:bodyPr wrap="square" rtlCol="0">
            <a:spAutoFit/>
          </a:bodyPr>
          <a:lstStyle/>
          <a:p>
            <a:pPr lvl="2" indent="-228600">
              <a:lnSpc>
                <a:spcPct val="90000"/>
              </a:lnSpc>
              <a:spcAft>
                <a:spcPts val="600"/>
              </a:spcAft>
              <a:buFont typeface="Arial" panose="020B0604020202020204" pitchFamily="34" charset="0"/>
              <a:buChar char="•"/>
            </a:pPr>
            <a:r>
              <a:rPr lang="en-US" sz="1600" dirty="0"/>
              <a:t>Shannon index:</a:t>
            </a:r>
          </a:p>
          <a:p>
            <a:pPr marL="971550" lvl="2">
              <a:lnSpc>
                <a:spcPct val="90000"/>
              </a:lnSpc>
              <a:spcAft>
                <a:spcPts val="600"/>
              </a:spcAft>
            </a:pPr>
            <a:endParaRPr lang="en-US" sz="1600" dirty="0"/>
          </a:p>
          <a:p>
            <a:pPr marL="1200150" lvl="2" indent="-228600">
              <a:lnSpc>
                <a:spcPct val="90000"/>
              </a:lnSpc>
              <a:spcAft>
                <a:spcPts val="600"/>
              </a:spcAft>
              <a:buFont typeface="Arial" panose="020B0604020202020204" pitchFamily="34" charset="0"/>
              <a:buChar char="•"/>
            </a:pPr>
            <a:r>
              <a:rPr lang="en-US" sz="1600" dirty="0"/>
              <a:t>S = total number of species</a:t>
            </a:r>
          </a:p>
          <a:p>
            <a:pPr marL="1200150" lvl="2" indent="-228600">
              <a:lnSpc>
                <a:spcPct val="90000"/>
              </a:lnSpc>
              <a:spcAft>
                <a:spcPts val="600"/>
              </a:spcAft>
              <a:buFont typeface="Arial" panose="020B0604020202020204" pitchFamily="34" charset="0"/>
              <a:buChar char="•"/>
            </a:pPr>
            <a:r>
              <a:rPr lang="en-US" sz="1600" dirty="0"/>
              <a:t>pi = proportion of species </a:t>
            </a:r>
            <a:r>
              <a:rPr lang="en-US" sz="1600" i="1" dirty="0" err="1"/>
              <a:t>i</a:t>
            </a:r>
            <a:r>
              <a:rPr lang="en-US" sz="1600" dirty="0"/>
              <a:t> in the sample</a:t>
            </a:r>
          </a:p>
          <a:p>
            <a:endParaRPr lang="en-DK" dirty="0"/>
          </a:p>
        </p:txBody>
      </p:sp>
    </p:spTree>
    <p:extLst>
      <p:ext uri="{BB962C8B-B14F-4D97-AF65-F5344CB8AC3E}">
        <p14:creationId xmlns:p14="http://schemas.microsoft.com/office/powerpoint/2010/main" val="21340721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7784E65C-6FD5-298E-77E4-6C95331AE1A4}"/>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4600" kern="1200">
                <a:solidFill>
                  <a:schemeClr val="tx1"/>
                </a:solidFill>
                <a:latin typeface="+mj-lt"/>
                <a:ea typeface="+mj-ea"/>
                <a:cs typeface="+mj-cs"/>
              </a:rPr>
              <a:t>Diversity measures: Beta diversity</a:t>
            </a:r>
          </a:p>
        </p:txBody>
      </p:sp>
      <p:sp>
        <p:nvSpPr>
          <p:cNvPr id="15"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33F8027-9228-36CB-6407-83B4F82E5B5E}"/>
              </a:ext>
            </a:extLst>
          </p:cNvPr>
          <p:cNvSpPr txBox="1"/>
          <p:nvPr/>
        </p:nvSpPr>
        <p:spPr>
          <a:xfrm>
            <a:off x="630935" y="2660904"/>
            <a:ext cx="5248870" cy="354787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sz="1600" dirty="0"/>
              <a:t>Diversity between samples (community composition dissimilarity)</a:t>
            </a:r>
          </a:p>
          <a:p>
            <a:pPr indent="-228600">
              <a:lnSpc>
                <a:spcPct val="90000"/>
              </a:lnSpc>
              <a:spcAft>
                <a:spcPts val="600"/>
              </a:spcAft>
              <a:buFont typeface="Arial" panose="020B0604020202020204" pitchFamily="34" charset="0"/>
              <a:buChar char="•"/>
            </a:pPr>
            <a:r>
              <a:rPr lang="en-US" sz="1600" dirty="0"/>
              <a:t>For example:</a:t>
            </a:r>
          </a:p>
          <a:p>
            <a:pPr indent="-228600">
              <a:lnSpc>
                <a:spcPct val="90000"/>
              </a:lnSpc>
              <a:spcAft>
                <a:spcPts val="600"/>
              </a:spcAft>
              <a:buFont typeface="Arial" panose="020B0604020202020204" pitchFamily="34" charset="0"/>
              <a:buChar char="•"/>
            </a:pPr>
            <a:endParaRPr lang="en-US" sz="1600" dirty="0"/>
          </a:p>
          <a:p>
            <a:pPr marL="742950" lvl="1" indent="-228600">
              <a:lnSpc>
                <a:spcPct val="90000"/>
              </a:lnSpc>
              <a:spcAft>
                <a:spcPts val="600"/>
              </a:spcAft>
              <a:buFont typeface="Arial" panose="020B0604020202020204" pitchFamily="34" charset="0"/>
              <a:buChar char="•"/>
            </a:pPr>
            <a:r>
              <a:rPr lang="en-US" sz="1600" b="1" dirty="0"/>
              <a:t>Bray-Curtis dissimilarity</a:t>
            </a:r>
            <a:r>
              <a:rPr lang="en-US" sz="1600" dirty="0"/>
              <a:t> (abundance-weighted)</a:t>
            </a:r>
          </a:p>
          <a:p>
            <a:pPr marL="742950" lvl="1" indent="-228600">
              <a:lnSpc>
                <a:spcPct val="90000"/>
              </a:lnSpc>
              <a:spcAft>
                <a:spcPts val="600"/>
              </a:spcAft>
              <a:buFont typeface="Arial" panose="020B0604020202020204" pitchFamily="34" charset="0"/>
              <a:buChar char="•"/>
            </a:pPr>
            <a:r>
              <a:rPr lang="en-US" sz="1600" b="1" dirty="0"/>
              <a:t>Jaccard distance</a:t>
            </a:r>
            <a:r>
              <a:rPr lang="en-US" sz="1600" dirty="0"/>
              <a:t> (presence/absence)</a:t>
            </a:r>
          </a:p>
          <a:p>
            <a:pPr marL="742950" lvl="1" indent="-228600">
              <a:lnSpc>
                <a:spcPct val="90000"/>
              </a:lnSpc>
              <a:spcAft>
                <a:spcPts val="600"/>
              </a:spcAft>
              <a:buFont typeface="Arial" panose="020B0604020202020204" pitchFamily="34" charset="0"/>
              <a:buChar char="•"/>
            </a:pPr>
            <a:r>
              <a:rPr lang="en-US" sz="1600" b="1" dirty="0" err="1"/>
              <a:t>UniFrac</a:t>
            </a:r>
            <a:r>
              <a:rPr lang="en-US" sz="1600" dirty="0"/>
              <a:t> (phylogenetic distances: weighted/unweighted)</a:t>
            </a:r>
          </a:p>
          <a:p>
            <a:pPr indent="-228600">
              <a:lnSpc>
                <a:spcPct val="90000"/>
              </a:lnSpc>
              <a:spcAft>
                <a:spcPts val="600"/>
              </a:spcAft>
              <a:buFont typeface="Arial" panose="020B0604020202020204" pitchFamily="34" charset="0"/>
              <a:buChar char="•"/>
            </a:pPr>
            <a:endParaRPr lang="en-US" sz="1600" dirty="0"/>
          </a:p>
          <a:p>
            <a:pPr indent="-228600">
              <a:lnSpc>
                <a:spcPct val="90000"/>
              </a:lnSpc>
              <a:spcAft>
                <a:spcPts val="600"/>
              </a:spcAft>
              <a:buFont typeface="Arial" panose="020B0604020202020204" pitchFamily="34" charset="0"/>
              <a:buChar char="•"/>
            </a:pPr>
            <a:r>
              <a:rPr lang="en-US" sz="1600" dirty="0"/>
              <a:t>These distances between samples are calculated based on the taxa abundance table and projected on the two first dimensions of a </a:t>
            </a:r>
            <a:r>
              <a:rPr lang="en-US" sz="1600" dirty="0" err="1"/>
              <a:t>PCoA</a:t>
            </a:r>
            <a:r>
              <a:rPr lang="en-US" sz="1600" dirty="0"/>
              <a:t>. (other ordination methods are also used: NMDS, </a:t>
            </a:r>
            <a:r>
              <a:rPr lang="en-US" sz="1600" dirty="0" err="1"/>
              <a:t>tSNE</a:t>
            </a:r>
            <a:r>
              <a:rPr lang="en-US" sz="1600" dirty="0"/>
              <a:t> or simply PCA,…)</a:t>
            </a:r>
          </a:p>
        </p:txBody>
      </p:sp>
      <p:pic>
        <p:nvPicPr>
          <p:cNvPr id="6" name="Picture 5" descr="A diagram of a diagram&#10;&#10;AI-generated content may be incorrect.">
            <a:extLst>
              <a:ext uri="{FF2B5EF4-FFF2-40B4-BE49-F238E27FC236}">
                <a16:creationId xmlns:a16="http://schemas.microsoft.com/office/drawing/2014/main" id="{1DF1628D-80C7-55E7-6739-7AF2DC3CFF47}"/>
              </a:ext>
            </a:extLst>
          </p:cNvPr>
          <p:cNvPicPr>
            <a:picLocks noChangeAspect="1"/>
          </p:cNvPicPr>
          <p:nvPr/>
        </p:nvPicPr>
        <p:blipFill>
          <a:blip r:embed="rId2"/>
          <a:stretch>
            <a:fillRect/>
          </a:stretch>
        </p:blipFill>
        <p:spPr>
          <a:xfrm>
            <a:off x="6033810" y="820265"/>
            <a:ext cx="5505918" cy="5519717"/>
          </a:xfrm>
          <a:prstGeom prst="rect">
            <a:avLst/>
          </a:prstGeom>
        </p:spPr>
      </p:pic>
    </p:spTree>
    <p:extLst>
      <p:ext uri="{BB962C8B-B14F-4D97-AF65-F5344CB8AC3E}">
        <p14:creationId xmlns:p14="http://schemas.microsoft.com/office/powerpoint/2010/main" val="15381345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71451-74FA-A847-B9DA-D6212365625A}"/>
              </a:ext>
            </a:extLst>
          </p:cNvPr>
          <p:cNvSpPr>
            <a:spLocks noGrp="1"/>
          </p:cNvSpPr>
          <p:nvPr>
            <p:ph type="title"/>
          </p:nvPr>
        </p:nvSpPr>
        <p:spPr>
          <a:xfrm>
            <a:off x="838200" y="0"/>
            <a:ext cx="10515600" cy="1325563"/>
          </a:xfrm>
        </p:spPr>
        <p:txBody>
          <a:bodyPr/>
          <a:lstStyle/>
          <a:p>
            <a:r>
              <a:rPr lang="en-DK" dirty="0"/>
              <a:t>Sumary table</a:t>
            </a:r>
          </a:p>
        </p:txBody>
      </p:sp>
      <p:graphicFrame>
        <p:nvGraphicFramePr>
          <p:cNvPr id="4" name="Table 3">
            <a:extLst>
              <a:ext uri="{FF2B5EF4-FFF2-40B4-BE49-F238E27FC236}">
                <a16:creationId xmlns:a16="http://schemas.microsoft.com/office/drawing/2014/main" id="{3F103274-35A9-FA6D-5BDA-55F70862CBA8}"/>
              </a:ext>
            </a:extLst>
          </p:cNvPr>
          <p:cNvGraphicFramePr>
            <a:graphicFrameLocks noGrp="1"/>
          </p:cNvGraphicFramePr>
          <p:nvPr>
            <p:extLst>
              <p:ext uri="{D42A27DB-BD31-4B8C-83A1-F6EECF244321}">
                <p14:modId xmlns:p14="http://schemas.microsoft.com/office/powerpoint/2010/main" val="1371451392"/>
              </p:ext>
            </p:extLst>
          </p:nvPr>
        </p:nvGraphicFramePr>
        <p:xfrm>
          <a:off x="754911" y="1233488"/>
          <a:ext cx="10515600" cy="50698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989972497"/>
                    </a:ext>
                  </a:extLst>
                </a:gridCol>
                <a:gridCol w="2628900">
                  <a:extLst>
                    <a:ext uri="{9D8B030D-6E8A-4147-A177-3AD203B41FA5}">
                      <a16:colId xmlns:a16="http://schemas.microsoft.com/office/drawing/2014/main" val="369574122"/>
                    </a:ext>
                  </a:extLst>
                </a:gridCol>
                <a:gridCol w="2628900">
                  <a:extLst>
                    <a:ext uri="{9D8B030D-6E8A-4147-A177-3AD203B41FA5}">
                      <a16:colId xmlns:a16="http://schemas.microsoft.com/office/drawing/2014/main" val="2266295834"/>
                    </a:ext>
                  </a:extLst>
                </a:gridCol>
                <a:gridCol w="2628900">
                  <a:extLst>
                    <a:ext uri="{9D8B030D-6E8A-4147-A177-3AD203B41FA5}">
                      <a16:colId xmlns:a16="http://schemas.microsoft.com/office/drawing/2014/main" val="608773954"/>
                    </a:ext>
                  </a:extLst>
                </a:gridCol>
              </a:tblGrid>
              <a:tr h="370840">
                <a:tc>
                  <a:txBody>
                    <a:bodyPr/>
                    <a:lstStyle/>
                    <a:p>
                      <a:endParaRPr lang="en-DK"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600" dirty="0"/>
                        <a:t>Amplicon/16S sequencing</a:t>
                      </a:r>
                    </a:p>
                  </a:txBody>
                  <a:tcPr anchor="ctr"/>
                </a:tc>
                <a:tc gridSpan="2">
                  <a:txBody>
                    <a:bodyPr/>
                    <a:lstStyle/>
                    <a:p>
                      <a:pPr algn="ctr"/>
                      <a:r>
                        <a:rPr lang="en-DK" sz="1600" dirty="0"/>
                        <a:t>Shotgun metagenomics</a:t>
                      </a:r>
                    </a:p>
                  </a:txBody>
                  <a:tcPr anchor="ctr"/>
                </a:tc>
                <a:tc hMerge="1">
                  <a:txBody>
                    <a:bodyPr/>
                    <a:lstStyle/>
                    <a:p>
                      <a:endParaRPr lang="en-DK" dirty="0"/>
                    </a:p>
                  </a:txBody>
                  <a:tcPr/>
                </a:tc>
                <a:extLst>
                  <a:ext uri="{0D108BD9-81ED-4DB2-BD59-A6C34878D82A}">
                    <a16:rowId xmlns:a16="http://schemas.microsoft.com/office/drawing/2014/main" val="2776263415"/>
                  </a:ext>
                </a:extLst>
              </a:tr>
              <a:tr h="370840">
                <a:tc gridSpan="2">
                  <a:txBody>
                    <a:bodyPr/>
                    <a:lstStyle/>
                    <a:p>
                      <a:endParaRPr lang="en-DK" sz="1600" dirty="0"/>
                    </a:p>
                  </a:txBody>
                  <a:tcPr/>
                </a:tc>
                <a:tc hMerge="1">
                  <a:txBody>
                    <a:bodyPr/>
                    <a:lstStyle/>
                    <a:p>
                      <a:endParaRPr lang="en-DK" dirty="0"/>
                    </a:p>
                  </a:txBody>
                  <a:tcPr/>
                </a:tc>
                <a:tc>
                  <a:txBody>
                    <a:bodyPr/>
                    <a:lstStyle/>
                    <a:p>
                      <a:pPr algn="ctr"/>
                      <a:r>
                        <a:rPr lang="en-DK" sz="1600" dirty="0"/>
                        <a:t>Mapping - based</a:t>
                      </a:r>
                    </a:p>
                  </a:txBody>
                  <a:tcPr anchor="ctr"/>
                </a:tc>
                <a:tc>
                  <a:txBody>
                    <a:bodyPr/>
                    <a:lstStyle/>
                    <a:p>
                      <a:pPr algn="ctr"/>
                      <a:r>
                        <a:rPr lang="en-DK" sz="1600" dirty="0"/>
                        <a:t>Assembly - based</a:t>
                      </a:r>
                    </a:p>
                  </a:txBody>
                  <a:tcPr anchor="ctr"/>
                </a:tc>
                <a:extLst>
                  <a:ext uri="{0D108BD9-81ED-4DB2-BD59-A6C34878D82A}">
                    <a16:rowId xmlns:a16="http://schemas.microsoft.com/office/drawing/2014/main" val="3280208918"/>
                  </a:ext>
                </a:extLst>
              </a:tr>
              <a:tr h="370840">
                <a:tc>
                  <a:txBody>
                    <a:bodyPr/>
                    <a:lstStyle/>
                    <a:p>
                      <a:pPr algn="ctr"/>
                      <a:r>
                        <a:rPr lang="en-DK" sz="1600" dirty="0"/>
                        <a:t>Pros </a:t>
                      </a:r>
                    </a:p>
                  </a:txBody>
                  <a:tcPr anchor="ctr"/>
                </a:tc>
                <a:tc>
                  <a:txBody>
                    <a:bodyPr/>
                    <a:lstStyle/>
                    <a:p>
                      <a:pPr marL="285750" indent="-285750">
                        <a:buFont typeface="Arial" panose="020B0604020202020204" pitchFamily="34" charset="0"/>
                        <a:buChar char="•"/>
                      </a:pPr>
                      <a:r>
                        <a:rPr lang="en-DK" sz="1600" dirty="0"/>
                        <a:t>Can handle low biomass / non-bacterial contamination</a:t>
                      </a:r>
                    </a:p>
                    <a:p>
                      <a:pPr marL="285750" indent="-285750">
                        <a:buFont typeface="Arial" panose="020B0604020202020204" pitchFamily="34" charset="0"/>
                        <a:buChar char="•"/>
                      </a:pPr>
                      <a:r>
                        <a:rPr lang="en-DK" sz="1600" dirty="0"/>
                        <a:t>Rough taxonomy of novel species</a:t>
                      </a:r>
                    </a:p>
                    <a:p>
                      <a:pPr marL="285750" indent="-285750">
                        <a:buFont typeface="Arial" panose="020B0604020202020204" pitchFamily="34" charset="0"/>
                        <a:buChar char="•"/>
                      </a:pPr>
                      <a:r>
                        <a:rPr lang="en-DK" sz="1600" dirty="0"/>
                        <a:t>Less expensive</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Fast and scales well</a:t>
                      </a:r>
                    </a:p>
                    <a:p>
                      <a:pPr marL="285750" indent="-285750">
                        <a:buFont typeface="Arial" panose="020B0604020202020204" pitchFamily="34" charset="0"/>
                        <a:buChar char="•"/>
                      </a:pPr>
                      <a:r>
                        <a:rPr lang="en-DK" sz="1600" dirty="0"/>
                        <a:t>Finds rare entities</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Can identify novel genomes, genes and synteny patterns</a:t>
                      </a:r>
                    </a:p>
                  </a:txBody>
                  <a:tcPr/>
                </a:tc>
                <a:extLst>
                  <a:ext uri="{0D108BD9-81ED-4DB2-BD59-A6C34878D82A}">
                    <a16:rowId xmlns:a16="http://schemas.microsoft.com/office/drawing/2014/main" val="3744426576"/>
                  </a:ext>
                </a:extLst>
              </a:tr>
              <a:tr h="370840">
                <a:tc>
                  <a:txBody>
                    <a:bodyPr/>
                    <a:lstStyle/>
                    <a:p>
                      <a:pPr algn="ctr"/>
                      <a:r>
                        <a:rPr lang="en-DK" sz="1600" dirty="0"/>
                        <a:t>Cons</a:t>
                      </a:r>
                    </a:p>
                  </a:txBody>
                  <a:tcPr anchor="ctr"/>
                </a:tc>
                <a:tc>
                  <a:txBody>
                    <a:bodyPr/>
                    <a:lstStyle/>
                    <a:p>
                      <a:pPr marL="285750" indent="-285750">
                        <a:buFont typeface="Arial" panose="020B0604020202020204" pitchFamily="34" charset="0"/>
                        <a:buChar char="•"/>
                      </a:pPr>
                      <a:r>
                        <a:rPr lang="en-DK" sz="1600" dirty="0"/>
                        <a:t>Low resolution</a:t>
                      </a:r>
                    </a:p>
                    <a:p>
                      <a:pPr marL="285750" indent="-285750">
                        <a:buFont typeface="Arial" panose="020B0604020202020204" pitchFamily="34" charset="0"/>
                        <a:buChar char="•"/>
                      </a:pPr>
                      <a:r>
                        <a:rPr lang="en-DK" sz="1600" dirty="0"/>
                        <a:t>Limited to bacteria or archaea</a:t>
                      </a:r>
                    </a:p>
                    <a:p>
                      <a:pPr marL="285750" indent="-285750">
                        <a:buFont typeface="Arial" panose="020B0604020202020204" pitchFamily="34" charset="0"/>
                        <a:buChar char="•"/>
                      </a:pPr>
                      <a:r>
                        <a:rPr lang="en-DK" sz="1600" dirty="0"/>
                        <a:t>No subspecies or strains resolution</a:t>
                      </a:r>
                    </a:p>
                    <a:p>
                      <a:pPr marL="285750" indent="-285750">
                        <a:buFont typeface="Arial" panose="020B0604020202020204" pitchFamily="34" charset="0"/>
                        <a:buChar char="•"/>
                      </a:pPr>
                      <a:r>
                        <a:rPr lang="en-DK" sz="1600" dirty="0"/>
                        <a:t>Biases due to PCR amplification / amplicon copy number variation</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Limited to what is known in the databases</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Misses rare entities</a:t>
                      </a:r>
                    </a:p>
                    <a:p>
                      <a:pPr marL="285750" indent="-285750">
                        <a:buFont typeface="Arial" panose="020B0604020202020204" pitchFamily="34" charset="0"/>
                        <a:buChar char="•"/>
                      </a:pPr>
                      <a:r>
                        <a:rPr lang="en-DK" sz="1600" dirty="0"/>
                        <a:t>Computationally very intensive</a:t>
                      </a:r>
                    </a:p>
                  </a:txBody>
                  <a:tcPr/>
                </a:tc>
                <a:extLst>
                  <a:ext uri="{0D108BD9-81ED-4DB2-BD59-A6C34878D82A}">
                    <a16:rowId xmlns:a16="http://schemas.microsoft.com/office/drawing/2014/main" val="3187554478"/>
                  </a:ext>
                </a:extLst>
              </a:tr>
            </a:tbl>
          </a:graphicData>
        </a:graphic>
      </p:graphicFrame>
    </p:spTree>
    <p:extLst>
      <p:ext uri="{BB962C8B-B14F-4D97-AF65-F5344CB8AC3E}">
        <p14:creationId xmlns:p14="http://schemas.microsoft.com/office/powerpoint/2010/main" val="24034240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4615" y="450921"/>
            <a:ext cx="12045787" cy="457996"/>
          </a:xfrm>
        </p:spPr>
        <p:txBody>
          <a:bodyPr>
            <a:normAutofit fontScale="90000"/>
          </a:bodyPr>
          <a:lstStyle/>
          <a:p>
            <a:r>
              <a:rPr lang="en-US" dirty="0">
                <a:latin typeface="Calibri" charset="0"/>
                <a:ea typeface="Calibri" charset="0"/>
                <a:cs typeface="Calibri" charset="0"/>
              </a:rPr>
              <a:t>Functional annotation from the gene catalog</a:t>
            </a:r>
          </a:p>
        </p:txBody>
      </p:sp>
      <p:sp>
        <p:nvSpPr>
          <p:cNvPr id="5" name="Slide Number Placeholder 4"/>
          <p:cNvSpPr>
            <a:spLocks noGrp="1"/>
          </p:cNvSpPr>
          <p:nvPr>
            <p:ph type="sldNum" sz="quarter" idx="13"/>
          </p:nvPr>
        </p:nvSpPr>
        <p:spPr/>
        <p:txBody>
          <a:bodyPr/>
          <a:lstStyle/>
          <a:p>
            <a:fld id="{0D08B38D-4F16-45CA-9042-40A25BC4B1DD}" type="slidenum">
              <a:rPr lang="en-GB" smtClean="0">
                <a:latin typeface="Calibri" charset="0"/>
                <a:ea typeface="Calibri" charset="0"/>
                <a:cs typeface="Calibri" charset="0"/>
              </a:rPr>
              <a:pPr/>
              <a:t>27</a:t>
            </a:fld>
            <a:endParaRPr lang="en-GB">
              <a:latin typeface="Calibri" charset="0"/>
              <a:ea typeface="Calibri" charset="0"/>
              <a:cs typeface="Calibri" charset="0"/>
            </a:endParaRPr>
          </a:p>
        </p:txBody>
      </p:sp>
      <p:pic>
        <p:nvPicPr>
          <p:cNvPr id="7" name="Image" descr="Image"/>
          <p:cNvPicPr>
            <a:picLocks noChangeAspect="1"/>
          </p:cNvPicPr>
          <p:nvPr/>
        </p:nvPicPr>
        <p:blipFill rotWithShape="1">
          <a:blip r:embed="rId2"/>
          <a:srcRect l="4151" t="18749" r="67917" b="17050"/>
          <a:stretch/>
        </p:blipFill>
        <p:spPr>
          <a:xfrm>
            <a:off x="1025236" y="1806122"/>
            <a:ext cx="3500269" cy="4525445"/>
          </a:xfrm>
          <a:prstGeom prst="rect">
            <a:avLst/>
          </a:prstGeom>
          <a:ln w="12700" cap="flat">
            <a:noFill/>
            <a:miter lim="400000"/>
          </a:ln>
          <a:effectLst/>
        </p:spPr>
      </p:pic>
      <p:sp>
        <p:nvSpPr>
          <p:cNvPr id="4" name="Right Arrow 3"/>
          <p:cNvSpPr/>
          <p:nvPr/>
        </p:nvSpPr>
        <p:spPr>
          <a:xfrm>
            <a:off x="4587501" y="2814213"/>
            <a:ext cx="1379349"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3" name="TextBox 12"/>
          <p:cNvSpPr txBox="1"/>
          <p:nvPr/>
        </p:nvSpPr>
        <p:spPr>
          <a:xfrm>
            <a:off x="5968140" y="2739871"/>
            <a:ext cx="1322520" cy="646331"/>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r>
              <a:rPr lang="en-US" sz="1800" dirty="0">
                <a:latin typeface="Calibri" charset="0"/>
                <a:ea typeface="Calibri" charset="0"/>
                <a:cs typeface="Calibri" charset="0"/>
              </a:rPr>
              <a:t> orthologous</a:t>
            </a:r>
          </a:p>
        </p:txBody>
      </p:sp>
      <p:sp>
        <p:nvSpPr>
          <p:cNvPr id="14" name="Right Arrow 13"/>
          <p:cNvSpPr/>
          <p:nvPr/>
        </p:nvSpPr>
        <p:spPr>
          <a:xfrm rot="20471525">
            <a:off x="7249463" y="2499647"/>
            <a:ext cx="1154627"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5" name="TextBox 14"/>
          <p:cNvSpPr txBox="1"/>
          <p:nvPr/>
        </p:nvSpPr>
        <p:spPr>
          <a:xfrm>
            <a:off x="8558938" y="2360751"/>
            <a:ext cx="2937832" cy="369332"/>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KEGG modules and pathways</a:t>
            </a:r>
          </a:p>
        </p:txBody>
      </p:sp>
      <p:sp>
        <p:nvSpPr>
          <p:cNvPr id="19" name="TextBox 18"/>
          <p:cNvSpPr txBox="1"/>
          <p:nvPr/>
        </p:nvSpPr>
        <p:spPr>
          <a:xfrm>
            <a:off x="4633994" y="2193467"/>
            <a:ext cx="1126212" cy="723275"/>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endParaRPr lang="en-US" sz="1800" dirty="0">
              <a:latin typeface="Calibri" charset="0"/>
              <a:ea typeface="Calibri" charset="0"/>
              <a:cs typeface="Calibri" charset="0"/>
            </a:endParaRPr>
          </a:p>
          <a:p>
            <a:pPr algn="ctr">
              <a:spcBef>
                <a:spcPts val="600"/>
              </a:spcBef>
            </a:pPr>
            <a:r>
              <a:rPr lang="en-US" sz="1800" dirty="0">
                <a:latin typeface="Calibri" charset="0"/>
                <a:ea typeface="Calibri" charset="0"/>
                <a:cs typeface="Calibri" charset="0"/>
              </a:rPr>
              <a:t>mapper</a:t>
            </a:r>
          </a:p>
        </p:txBody>
      </p:sp>
      <p:grpSp>
        <p:nvGrpSpPr>
          <p:cNvPr id="3" name="Group 2"/>
          <p:cNvGrpSpPr/>
          <p:nvPr/>
        </p:nvGrpSpPr>
        <p:grpSpPr>
          <a:xfrm>
            <a:off x="4616229" y="4457335"/>
            <a:ext cx="6549326" cy="1165960"/>
            <a:chOff x="4616229" y="4069399"/>
            <a:chExt cx="6549326" cy="1165960"/>
          </a:xfrm>
        </p:grpSpPr>
        <p:sp>
          <p:nvSpPr>
            <p:cNvPr id="16" name="Right Arrow 15"/>
            <p:cNvSpPr/>
            <p:nvPr/>
          </p:nvSpPr>
          <p:spPr>
            <a:xfrm>
              <a:off x="4616229" y="4606769"/>
              <a:ext cx="3758341"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7" name="TextBox 16"/>
            <p:cNvSpPr txBox="1"/>
            <p:nvPr/>
          </p:nvSpPr>
          <p:spPr>
            <a:xfrm>
              <a:off x="8630289" y="4589028"/>
              <a:ext cx="2535266"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Antibiotic Resistance Genes (ARGs)</a:t>
              </a:r>
            </a:p>
          </p:txBody>
        </p:sp>
        <p:sp>
          <p:nvSpPr>
            <p:cNvPr id="20" name="TextBox 19"/>
            <p:cNvSpPr txBox="1"/>
            <p:nvPr/>
          </p:nvSpPr>
          <p:spPr>
            <a:xfrm>
              <a:off x="4825457" y="4069399"/>
              <a:ext cx="3084104"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RGI software linking to CARD and </a:t>
              </a:r>
              <a:r>
                <a:rPr lang="en-US" sz="1800" dirty="0" err="1">
                  <a:latin typeface="Calibri" charset="0"/>
                  <a:ea typeface="Calibri" charset="0"/>
                  <a:cs typeface="Calibri" charset="0"/>
                </a:rPr>
                <a:t>Resfams</a:t>
              </a:r>
              <a:r>
                <a:rPr lang="en-US" sz="1800" dirty="0">
                  <a:latin typeface="Calibri" charset="0"/>
                  <a:ea typeface="Calibri" charset="0"/>
                  <a:cs typeface="Calibri" charset="0"/>
                </a:rPr>
                <a:t> database</a:t>
              </a:r>
            </a:p>
          </p:txBody>
        </p:sp>
      </p:grpSp>
      <p:sp>
        <p:nvSpPr>
          <p:cNvPr id="21" name="Right Arrow 20"/>
          <p:cNvSpPr/>
          <p:nvPr/>
        </p:nvSpPr>
        <p:spPr>
          <a:xfrm rot="774441">
            <a:off x="7280113" y="3206419"/>
            <a:ext cx="1154139"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22" name="TextBox 21"/>
          <p:cNvSpPr txBox="1"/>
          <p:nvPr/>
        </p:nvSpPr>
        <p:spPr>
          <a:xfrm>
            <a:off x="6903979" y="3748622"/>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PATRIC database</a:t>
            </a:r>
          </a:p>
        </p:txBody>
      </p:sp>
      <p:sp>
        <p:nvSpPr>
          <p:cNvPr id="23" name="TextBox 22"/>
          <p:cNvSpPr txBox="1"/>
          <p:nvPr/>
        </p:nvSpPr>
        <p:spPr>
          <a:xfrm>
            <a:off x="8560840" y="3350778"/>
            <a:ext cx="1970871" cy="369332"/>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Virulence factors</a:t>
            </a:r>
          </a:p>
        </p:txBody>
      </p:sp>
      <p:sp>
        <p:nvSpPr>
          <p:cNvPr id="24" name="TextBox 23"/>
          <p:cNvSpPr txBox="1"/>
          <p:nvPr/>
        </p:nvSpPr>
        <p:spPr>
          <a:xfrm>
            <a:off x="2665709" y="6267654"/>
            <a:ext cx="1921792" cy="369332"/>
          </a:xfrm>
          <a:prstGeom prst="rect">
            <a:avLst/>
          </a:prstGeom>
          <a:noFill/>
        </p:spPr>
        <p:txBody>
          <a:bodyPr wrap="square" rtlCol="0">
            <a:spAutoFit/>
          </a:bodyPr>
          <a:lstStyle/>
          <a:p>
            <a:pPr>
              <a:spcBef>
                <a:spcPts val="600"/>
              </a:spcBef>
            </a:pPr>
            <a:r>
              <a:rPr lang="en-US" sz="1800">
                <a:latin typeface="Calibri" charset="0"/>
                <a:ea typeface="Calibri" charset="0"/>
                <a:cs typeface="Calibri" charset="0"/>
              </a:rPr>
              <a:t>IGC 9.9 M genes</a:t>
            </a:r>
            <a:endParaRPr lang="en-US" sz="1800" dirty="0">
              <a:latin typeface="Calibri" charset="0"/>
              <a:ea typeface="Calibri" charset="0"/>
              <a:cs typeface="Calibri" charset="0"/>
            </a:endParaRPr>
          </a:p>
        </p:txBody>
      </p:sp>
      <p:sp>
        <p:nvSpPr>
          <p:cNvPr id="26" name="TextBox 25"/>
          <p:cNvSpPr txBox="1"/>
          <p:nvPr/>
        </p:nvSpPr>
        <p:spPr>
          <a:xfrm>
            <a:off x="6903978" y="1735616"/>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KEGG database</a:t>
            </a:r>
          </a:p>
        </p:txBody>
      </p:sp>
      <p:sp>
        <p:nvSpPr>
          <p:cNvPr id="6" name="TextBox 5">
            <a:extLst>
              <a:ext uri="{FF2B5EF4-FFF2-40B4-BE49-F238E27FC236}">
                <a16:creationId xmlns:a16="http://schemas.microsoft.com/office/drawing/2014/main" id="{CCAC9B62-5572-6ECD-848B-4ED26FA9B974}"/>
              </a:ext>
            </a:extLst>
          </p:cNvPr>
          <p:cNvSpPr txBox="1"/>
          <p:nvPr/>
        </p:nvSpPr>
        <p:spPr>
          <a:xfrm>
            <a:off x="344615" y="940534"/>
            <a:ext cx="11570294" cy="923330"/>
          </a:xfrm>
          <a:prstGeom prst="rect">
            <a:avLst/>
          </a:prstGeom>
          <a:noFill/>
        </p:spPr>
        <p:txBody>
          <a:bodyPr wrap="square" rtlCol="0">
            <a:spAutoFit/>
          </a:bodyPr>
          <a:lstStyle/>
          <a:p>
            <a:r>
              <a:rPr lang="en-DK" dirty="0"/>
              <a:t>Many tools are out there to map reads to genes or pathways or to assemble reads and call genes, which are then mapped to databases of interest (metabolic pathways, virulence factors, resistance genes, etc…</a:t>
            </a:r>
          </a:p>
          <a:p>
            <a:endParaRPr lang="en-DK" dirty="0"/>
          </a:p>
        </p:txBody>
      </p:sp>
      <p:pic>
        <p:nvPicPr>
          <p:cNvPr id="8" name="Picture 2" descr="1,500+ Microbiome Stock Illustrations, Royalty-Free Vector Graphics &amp; Clip  Art - iStock | Gut microbiome, Skin microbiome, Microbiome woman">
            <a:extLst>
              <a:ext uri="{FF2B5EF4-FFF2-40B4-BE49-F238E27FC236}">
                <a16:creationId xmlns:a16="http://schemas.microsoft.com/office/drawing/2014/main" id="{79412ABC-35EE-C373-C276-19460430D0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3240" y="2614649"/>
            <a:ext cx="923330" cy="923330"/>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pic>
        <p:nvPicPr>
          <p:cNvPr id="9" name="Picture 2" descr="1,500+ Microbiome Stock Illustrations, Royalty-Free Vector Graphics &amp; Clip  Art - iStock | Gut microbiome, Skin microbiome, Microbiome woman">
            <a:extLst>
              <a:ext uri="{FF2B5EF4-FFF2-40B4-BE49-F238E27FC236}">
                <a16:creationId xmlns:a16="http://schemas.microsoft.com/office/drawing/2014/main" id="{5070BE93-53DE-063E-B620-1DF1470B24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3240" y="3595932"/>
            <a:ext cx="923330" cy="923330"/>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pic>
        <p:nvPicPr>
          <p:cNvPr id="10" name="Picture 2" descr="1,500+ Microbiome Stock Illustrations, Royalty-Free Vector Graphics &amp; Clip  Art - iStock | Gut microbiome, Skin microbiome, Microbiome woman">
            <a:extLst>
              <a:ext uri="{FF2B5EF4-FFF2-40B4-BE49-F238E27FC236}">
                <a16:creationId xmlns:a16="http://schemas.microsoft.com/office/drawing/2014/main" id="{70433BEC-D427-1721-8864-F22D19543F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3240" y="4577215"/>
            <a:ext cx="923330" cy="923330"/>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1412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p:tgtEl>
                                          <p:spTgt spid="3"/>
                                        </p:tgtEl>
                                        <p:attrNameLst>
                                          <p:attrName>ppt_x</p:attrName>
                                        </p:attrNameLst>
                                      </p:cBhvr>
                                      <p:tavLst>
                                        <p:tav tm="0">
                                          <p:val>
                                            <p:strVal val="#ppt_x-#ppt_w*1.125000"/>
                                          </p:val>
                                        </p:tav>
                                        <p:tav tm="100000">
                                          <p:val>
                                            <p:strVal val="#ppt_x"/>
                                          </p:val>
                                        </p:tav>
                                      </p:tavLst>
                                    </p:anim>
                                    <p:animEffect transition="in" filter="wipe(right)">
                                      <p:cBhvr>
                                        <p:cTn id="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8D4F2-5235-63E4-358C-9D41C22B750C}"/>
              </a:ext>
            </a:extLst>
          </p:cNvPr>
          <p:cNvSpPr>
            <a:spLocks noGrp="1"/>
          </p:cNvSpPr>
          <p:nvPr>
            <p:ph type="title"/>
          </p:nvPr>
        </p:nvSpPr>
        <p:spPr/>
        <p:txBody>
          <a:bodyPr/>
          <a:lstStyle/>
          <a:p>
            <a:r>
              <a:rPr lang="en-DK" dirty="0"/>
              <a:t>Examples of data analyses</a:t>
            </a:r>
          </a:p>
        </p:txBody>
      </p:sp>
      <p:sp>
        <p:nvSpPr>
          <p:cNvPr id="3" name="Content Placeholder 2">
            <a:extLst>
              <a:ext uri="{FF2B5EF4-FFF2-40B4-BE49-F238E27FC236}">
                <a16:creationId xmlns:a16="http://schemas.microsoft.com/office/drawing/2014/main" id="{056CE474-A0D5-F98C-8A30-DB0A062D7530}"/>
              </a:ext>
            </a:extLst>
          </p:cNvPr>
          <p:cNvSpPr>
            <a:spLocks noGrp="1"/>
          </p:cNvSpPr>
          <p:nvPr>
            <p:ph idx="1"/>
          </p:nvPr>
        </p:nvSpPr>
        <p:spPr/>
        <p:txBody>
          <a:bodyPr/>
          <a:lstStyle/>
          <a:p>
            <a:endParaRPr lang="en-DK"/>
          </a:p>
        </p:txBody>
      </p:sp>
    </p:spTree>
    <p:extLst>
      <p:ext uri="{BB962C8B-B14F-4D97-AF65-F5344CB8AC3E}">
        <p14:creationId xmlns:p14="http://schemas.microsoft.com/office/powerpoint/2010/main" val="34120151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48541-0746-0372-E58D-B7CD6DAB2728}"/>
              </a:ext>
            </a:extLst>
          </p:cNvPr>
          <p:cNvSpPr>
            <a:spLocks noGrp="1"/>
          </p:cNvSpPr>
          <p:nvPr>
            <p:ph type="title"/>
          </p:nvPr>
        </p:nvSpPr>
        <p:spPr/>
        <p:txBody>
          <a:bodyPr/>
          <a:lstStyle/>
          <a:p>
            <a:r>
              <a:rPr lang="en-DK" dirty="0"/>
              <a:t>Limitations</a:t>
            </a:r>
          </a:p>
        </p:txBody>
      </p:sp>
      <p:sp>
        <p:nvSpPr>
          <p:cNvPr id="3" name="Content Placeholder 2">
            <a:extLst>
              <a:ext uri="{FF2B5EF4-FFF2-40B4-BE49-F238E27FC236}">
                <a16:creationId xmlns:a16="http://schemas.microsoft.com/office/drawing/2014/main" id="{8DD7DDA3-91B9-AADF-4FCB-0F94B3FDCF3B}"/>
              </a:ext>
            </a:extLst>
          </p:cNvPr>
          <p:cNvSpPr>
            <a:spLocks noGrp="1"/>
          </p:cNvSpPr>
          <p:nvPr>
            <p:ph idx="1"/>
          </p:nvPr>
        </p:nvSpPr>
        <p:spPr/>
        <p:txBody>
          <a:bodyPr>
            <a:normAutofit fontScale="77500" lnSpcReduction="20000"/>
          </a:bodyPr>
          <a:lstStyle/>
          <a:p>
            <a:r>
              <a:rPr lang="en-GB" dirty="0"/>
              <a:t>Cloning biases can lead to the misrepresentation of microbial DNA in metagenomic libraries.</a:t>
            </a:r>
          </a:p>
          <a:p>
            <a:r>
              <a:rPr lang="en-GB" dirty="0"/>
              <a:t>Sampling biases can occur when collecting environmental samples which can also lead to misrepresentation of the microbial community.</a:t>
            </a:r>
          </a:p>
          <a:p>
            <a:r>
              <a:rPr lang="en-GB" dirty="0"/>
              <a:t>Metagenomic sequencing can detect the presence of microorganisms but cannot easily determine if they are pathogenic. </a:t>
            </a:r>
          </a:p>
          <a:p>
            <a:r>
              <a:rPr lang="en-GB" dirty="0"/>
              <a:t>The vast amount of metagenomic data requires faster and more scalable computational tools to handle the data efficiently.</a:t>
            </a:r>
          </a:p>
          <a:p>
            <a:r>
              <a:rPr lang="en-GB" dirty="0"/>
              <a:t>Metagenomic datasets contain a mix of DNA from various organisms which often makes it difficult to assemble genomes accurately.</a:t>
            </a:r>
          </a:p>
          <a:p>
            <a:r>
              <a:rPr lang="en-GB" dirty="0"/>
              <a:t>Contamination from host DNA or environmental sources can affect the accuracy of metagenomic analyses.</a:t>
            </a:r>
          </a:p>
          <a:p>
            <a:r>
              <a:rPr lang="en-GB" dirty="0"/>
              <a:t>It is also challenging to extract genes from microorganisms present in low abundance within a sample.</a:t>
            </a:r>
          </a:p>
          <a:p>
            <a:endParaRPr lang="en-DK" dirty="0"/>
          </a:p>
        </p:txBody>
      </p:sp>
    </p:spTree>
    <p:extLst>
      <p:ext uri="{BB962C8B-B14F-4D97-AF65-F5344CB8AC3E}">
        <p14:creationId xmlns:p14="http://schemas.microsoft.com/office/powerpoint/2010/main" val="6771931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38697</TotalTime>
  <Words>2048</Words>
  <Application>Microsoft Macintosh PowerPoint</Application>
  <PresentationFormat>Widescreen</PresentationFormat>
  <Paragraphs>255</Paragraphs>
  <Slides>29</Slides>
  <Notes>5</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Aptos</vt:lpstr>
      <vt:lpstr>Aptos Display</vt:lpstr>
      <vt:lpstr>Arial</vt:lpstr>
      <vt:lpstr>Calibri</vt:lpstr>
      <vt:lpstr>Wingdings</vt:lpstr>
      <vt:lpstr>Office Theme</vt:lpstr>
      <vt:lpstr>Introduction to Metagenomics</vt:lpstr>
      <vt:lpstr>Impact of microbiome studies on health studies</vt:lpstr>
      <vt:lpstr>PowerPoint Presentation</vt:lpstr>
      <vt:lpstr>PowerPoint Presentation</vt:lpstr>
      <vt:lpstr>Impact of microbiome studies on Environmental Science</vt:lpstr>
      <vt:lpstr>PowerPoint Presentation</vt:lpstr>
      <vt:lpstr>PowerPoint Presentation</vt:lpstr>
      <vt:lpstr>Timeline of microbiome science</vt:lpstr>
      <vt:lpstr>Microbiome definition</vt:lpstr>
      <vt:lpstr>What a microbiome study usually answer</vt:lpstr>
      <vt:lpstr>What is Metagenomics?</vt:lpstr>
      <vt:lpstr>Main applications</vt:lpstr>
      <vt:lpstr>Experimental design</vt:lpstr>
      <vt:lpstr>Sample collection</vt:lpstr>
      <vt:lpstr>DNA Extraction</vt:lpstr>
      <vt:lpstr>Sequencing</vt:lpstr>
      <vt:lpstr>Platforms</vt:lpstr>
      <vt:lpstr>Profiling microbial communities 16S amplicon sequencing (16S rRNA sequencing)</vt:lpstr>
      <vt:lpstr>Profiling microbial communities  Reference-based methods</vt:lpstr>
      <vt:lpstr>Metagenome-assembled genomes</vt:lpstr>
      <vt:lpstr>Microbiome data</vt:lpstr>
      <vt:lpstr>Absolute abundance vs relative abundance</vt:lpstr>
      <vt:lpstr>Compositional data</vt:lpstr>
      <vt:lpstr>Diversity measures: Alpha diversity</vt:lpstr>
      <vt:lpstr>Diversity measures: Beta diversity</vt:lpstr>
      <vt:lpstr>Sumary table</vt:lpstr>
      <vt:lpstr>Functional annotation from the gene catalog</vt:lpstr>
      <vt:lpstr>Examples of data analyses</vt:lpstr>
      <vt:lpstr>Limitations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Alberto Pallejà Caro</dc:creator>
  <cp:lastModifiedBy>Alberto Pallejà Caro</cp:lastModifiedBy>
  <cp:revision>12</cp:revision>
  <dcterms:created xsi:type="dcterms:W3CDTF">2025-04-12T18:46:44Z</dcterms:created>
  <dcterms:modified xsi:type="dcterms:W3CDTF">2025-05-22T23:01:28Z</dcterms:modified>
</cp:coreProperties>
</file>