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8"/>
  </p:notesMasterIdLst>
  <p:sldIdLst>
    <p:sldId id="256" r:id="rId2"/>
    <p:sldId id="304" r:id="rId3"/>
    <p:sldId id="273" r:id="rId4"/>
    <p:sldId id="301" r:id="rId5"/>
    <p:sldId id="302" r:id="rId6"/>
    <p:sldId id="300" r:id="rId7"/>
    <p:sldId id="298" r:id="rId8"/>
    <p:sldId id="274" r:id="rId9"/>
    <p:sldId id="297" r:id="rId10"/>
    <p:sldId id="299" r:id="rId11"/>
    <p:sldId id="276" r:id="rId12"/>
    <p:sldId id="277" r:id="rId13"/>
    <p:sldId id="303" r:id="rId14"/>
    <p:sldId id="307" r:id="rId15"/>
    <p:sldId id="305" r:id="rId16"/>
    <p:sldId id="279" r:id="rId17"/>
    <p:sldId id="306" r:id="rId18"/>
    <p:sldId id="281" r:id="rId19"/>
    <p:sldId id="257" r:id="rId20"/>
    <p:sldId id="259" r:id="rId21"/>
    <p:sldId id="267" r:id="rId22"/>
    <p:sldId id="282" r:id="rId23"/>
    <p:sldId id="269" r:id="rId24"/>
    <p:sldId id="270" r:id="rId25"/>
    <p:sldId id="308" r:id="rId26"/>
    <p:sldId id="289" r:id="rId27"/>
    <p:sldId id="290" r:id="rId28"/>
    <p:sldId id="291" r:id="rId29"/>
    <p:sldId id="264" r:id="rId30"/>
    <p:sldId id="292" r:id="rId31"/>
    <p:sldId id="265" r:id="rId32"/>
    <p:sldId id="293" r:id="rId33"/>
    <p:sldId id="278" r:id="rId34"/>
    <p:sldId id="309" r:id="rId35"/>
    <p:sldId id="288" r:id="rId36"/>
    <p:sldId id="296" r:id="rId37"/>
    <p:sldId id="312" r:id="rId38"/>
    <p:sldId id="285" r:id="rId39"/>
    <p:sldId id="262" r:id="rId40"/>
    <p:sldId id="294" r:id="rId41"/>
    <p:sldId id="295" r:id="rId42"/>
    <p:sldId id="311" r:id="rId43"/>
    <p:sldId id="284" r:id="rId44"/>
    <p:sldId id="283" r:id="rId45"/>
    <p:sldId id="313" r:id="rId46"/>
    <p:sldId id="261" r:id="rId47"/>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891"/>
    <p:restoredTop sz="77024"/>
  </p:normalViewPr>
  <p:slideViewPr>
    <p:cSldViewPr snapToGrid="0">
      <p:cViewPr varScale="1">
        <p:scale>
          <a:sx n="93" d="100"/>
          <a:sy n="93" d="100"/>
        </p:scale>
        <p:origin x="1360" y="6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dirty="0"/>
            <a:t>What is the total abundace (number of cells) (by absolute abundace)</a:t>
          </a:r>
          <a:endParaRPr lang="en-US" sz="1600" dirty="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dirty="0"/>
            <a:t>How abundant are bacteria, archaea, protozoa, virus,…</a:t>
          </a:r>
          <a:endParaRPr lang="en-US" sz="1600" dirty="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total abundace (number of cells) (by absolute abundace)</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abundant are bacteria, archaea, protozoa, virus,…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a:t>
            </a:fld>
            <a:endParaRPr lang="en-DK"/>
          </a:p>
        </p:txBody>
      </p:sp>
    </p:spTree>
    <p:extLst>
      <p:ext uri="{BB962C8B-B14F-4D97-AF65-F5344CB8AC3E}">
        <p14:creationId xmlns:p14="http://schemas.microsoft.com/office/powerpoint/2010/main" val="1210362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40588106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 more than a decade microbiome has been associated to a variety of disease becoming a really hot topic in science as it could be the target for disease treatments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Examples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For most of the diseases it is not known whether the microbiota is the cause or the consequence of the disease</a:t>
            </a:r>
          </a:p>
          <a:p>
            <a:endParaRPr lang="en-GB" sz="1200" b="1" i="0" kern="1200" dirty="0">
              <a:solidFill>
                <a:schemeClr val="tx1"/>
              </a:solidFill>
              <a:effectLst/>
              <a:latin typeface="+mn-lt"/>
              <a:ea typeface="+mn-ea"/>
              <a:cs typeface="+mn-cs"/>
            </a:endParaRPr>
          </a:p>
          <a:p>
            <a:r>
              <a:rPr lang="en-US" sz="1200" dirty="0"/>
              <a:t>For some diseases it may also be a disease modifier or may metabolize the drugs administered to the diseased individuals</a:t>
            </a:r>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In one of the pioneering studies, P. Turnbaugh and Ruth Ley showed that obesity was associated to gut microbiome. Microbiome from obese mice had higher capacity to harvest energy from the diet</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also showed that the trait was transmissible! </a:t>
            </a:r>
            <a:r>
              <a:rPr lang="en-GB" dirty="0"/>
              <a:t>Colonization of germ-free mice with an ‘obese microbiota’ results in a significantly greater increase in total body fat than colonization with a ‘lean microbiota’</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39232863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Few years later the Human Microbiome consortium published their data based on thousands of samples showing that diversity of the human microbiome is concordant among measures, unique to each individual and strongly influenced by habitat.</a:t>
            </a:r>
          </a:p>
          <a:p>
            <a:endParaRPr lang="en-DK" dirty="0"/>
          </a:p>
          <a:p>
            <a:r>
              <a:rPr lang="en-DK" dirty="0"/>
              <a:t>They also reported that carriage of different taxa varies among individuals while metabolic pathways remain more stable within a healthy population</a:t>
            </a:r>
          </a:p>
          <a:p>
            <a:endParaRPr lang="en-DK" dirty="0"/>
          </a:p>
          <a:p>
            <a:r>
              <a:rPr lang="en-DK" dirty="0"/>
              <a:t>Q</a:t>
            </a:r>
          </a:p>
        </p:txBody>
      </p:sp>
      <p:sp>
        <p:nvSpPr>
          <p:cNvPr id="4" name="Slide Number Placeholder 3"/>
          <p:cNvSpPr>
            <a:spLocks noGrp="1"/>
          </p:cNvSpPr>
          <p:nvPr>
            <p:ph type="sldNum" sz="quarter" idx="5"/>
          </p:nvPr>
        </p:nvSpPr>
        <p:spPr/>
        <p:txBody>
          <a:bodyPr/>
          <a:lstStyle/>
          <a:p>
            <a:fld id="{90AA28B0-211A-B640-96C3-6E3EBE2D2300}" type="slidenum">
              <a:rPr lang="en-DK" smtClean="0"/>
              <a:t>5</a:t>
            </a:fld>
            <a:endParaRPr lang="en-DK"/>
          </a:p>
        </p:txBody>
      </p:sp>
    </p:spTree>
    <p:extLst>
      <p:ext uri="{BB962C8B-B14F-4D97-AF65-F5344CB8AC3E}">
        <p14:creationId xmlns:p14="http://schemas.microsoft.com/office/powerpoint/2010/main" val="1102314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Meanwhile the analogous European initiative called MetaHIT consortium published their data showing that bacterial richness correlated with metabolic markers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More precisely, </a:t>
            </a:r>
            <a:r>
              <a:rPr lang="en-GB" dirty="0"/>
              <a:t>individuals with a low bacterial gene richness are characterized by more marked overall adiposity, insulin resistance and dyslipidaemia and a more pronounced inflammatory phenotype when compared with high bacterial richness individuals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Individuals with lower number of genes (gene richness) and higher BMI had less efficient weight loss when following a diet</a:t>
            </a:r>
          </a:p>
          <a:p>
            <a:pPr marL="0" marR="0" lvl="0" indent="0" algn="l" defTabSz="914400" rtl="0" eaLnBrk="1" fontAlgn="auto" latinLnBrk="0" hangingPunct="1">
              <a:lnSpc>
                <a:spcPct val="100000"/>
              </a:lnSpc>
              <a:spcBef>
                <a:spcPts val="0"/>
              </a:spcBef>
              <a:spcAft>
                <a:spcPts val="0"/>
              </a:spcAft>
              <a:buClrTx/>
              <a:buSzTx/>
              <a:buFontTx/>
              <a:buNone/>
              <a:tabLst/>
              <a:defRPr/>
            </a:pPr>
            <a:br>
              <a:rPr lang="en-DK" dirty="0"/>
            </a:br>
            <a:r>
              <a:rPr lang="en-DK" dirty="0"/>
              <a:t>So diversity could be related to health markers! </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692370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Probably you have heard about microbial therapies? Probiotics, prebiotics, … and one of the most promising ones is a fecal material transplantation where the microbiota of a healthy donor is encapsulated in a pill that is given to a sick patient (the recipient) to restore the patient microbiome and cure the disease. </a:t>
            </a:r>
            <a:br>
              <a:rPr lang="en-DK" dirty="0"/>
            </a:br>
            <a:br>
              <a:rPr lang="en-DK" dirty="0"/>
            </a:br>
            <a:r>
              <a:rPr lang="en-DK" dirty="0"/>
              <a:t>This has been succesfully used to cure Clostridioides difficile  infection with higher percentages of cured patients without relapse compared to the standard treatment (vancomycin). </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Diversity (Simpson’s index) of patients after FMT resemble more the donors diversity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It has been tried in other disesases like IBD and cancer with different rates of success.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1612038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So for you to get an idea of how promising is this therapy here is an overview of ongoing clinical trials in which the efficacy of FMT is tested for a range of different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Finally to conclude the papers related to medical health, I wanted to highlight a series of back to back papers in Science showing how gut bacteria can affect patient responses to cancer immunotherapy</a:t>
            </a:r>
          </a:p>
          <a:p>
            <a:endParaRPr lang="en-DK" dirty="0"/>
          </a:p>
          <a:p>
            <a:r>
              <a:rPr lang="en-DK" dirty="0"/>
              <a:t>Basically these papers demonstrated better reponse to cancer immunotherapy on patients with higher gut microbiome diversity or presence of good key bacteria in their guts and worse responses on lower diversity or imbalanced microbiomes.</a:t>
            </a:r>
          </a:p>
        </p:txBody>
      </p:sp>
      <p:sp>
        <p:nvSpPr>
          <p:cNvPr id="4" name="Slide Number Placeholder 3"/>
          <p:cNvSpPr>
            <a:spLocks noGrp="1"/>
          </p:cNvSpPr>
          <p:nvPr>
            <p:ph type="sldNum" sz="quarter" idx="5"/>
          </p:nvPr>
        </p:nvSpPr>
        <p:spPr/>
        <p:txBody>
          <a:bodyPr/>
          <a:lstStyle/>
          <a:p>
            <a:fld id="{90AA28B0-211A-B640-96C3-6E3EBE2D2300}" type="slidenum">
              <a:rPr lang="en-DK" smtClean="0"/>
              <a:t>9</a:t>
            </a:fld>
            <a:endParaRPr lang="en-DK"/>
          </a:p>
        </p:txBody>
      </p:sp>
    </p:spTree>
    <p:extLst>
      <p:ext uri="{BB962C8B-B14F-4D97-AF65-F5344CB8AC3E}">
        <p14:creationId xmlns:p14="http://schemas.microsoft.com/office/powerpoint/2010/main" val="1886487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Now let’s have a look to impactful microbiome studies in environmental health.</a:t>
            </a:r>
            <a:br>
              <a:rPr lang="en-DK" dirty="0"/>
            </a:br>
            <a:br>
              <a:rPr lang="en-DK" dirty="0"/>
            </a:br>
            <a:r>
              <a:rPr lang="en-DK" dirty="0"/>
              <a:t>Few years ago, it was published the first genomic catalog of the Earth’s microbiome with more than 10,000 samples collected from diverse habitats comprising host associated, aquatic, terrestrials, air and engineered microbiomes</a:t>
            </a:r>
          </a:p>
          <a:p>
            <a:endParaRPr lang="en-DK" dirty="0"/>
          </a:p>
          <a:p>
            <a:r>
              <a:rPr lang="en-DK" dirty="0"/>
              <a:t>To give an idea of the volume of data reported:</a:t>
            </a:r>
          </a:p>
          <a:p>
            <a:pPr marL="285750" indent="-285750">
              <a:buFont typeface="Arial" panose="020B0604020202020204" pitchFamily="34" charset="0"/>
              <a:buChar char="•"/>
            </a:pPr>
            <a:r>
              <a:rPr lang="en-GB" sz="1200" dirty="0"/>
              <a:t>52,515 metagenome-assembled genomes representing 12,556 novel candidate species from 135 different phyla</a:t>
            </a:r>
          </a:p>
          <a:p>
            <a:pPr marL="285750" indent="-285750">
              <a:buFont typeface="Arial" panose="020B0604020202020204" pitchFamily="34" charset="0"/>
              <a:buChar char="•"/>
            </a:pPr>
            <a:r>
              <a:rPr lang="en-GB" sz="1200" dirty="0"/>
              <a:t>Performing metabolic modelling, understanding secondary-metabolite biosynthetic potential and for resolving thousands of new host linkages to uncultivated viruses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952000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endParaRPr lang="en-GB" sz="1200" dirty="0"/>
          </a:p>
          <a:p>
            <a:pPr marL="0" indent="0">
              <a:buFont typeface="Arial" panose="020B0604020202020204" pitchFamily="34" charset="0"/>
              <a:buNone/>
            </a:pPr>
            <a:r>
              <a:rPr lang="en-GB" sz="1200" dirty="0"/>
              <a:t>Another type of microbial study, </a:t>
            </a:r>
            <a:r>
              <a:rPr lang="en-GB" sz="1200" dirty="0" err="1"/>
              <a:t>resistome</a:t>
            </a:r>
            <a:r>
              <a:rPr lang="en-GB" sz="1200" dirty="0"/>
              <a:t> analysis. I am sure you must have heard that Antimicrobial resistance is a major threat to global health mostly due to the abuse of antibiotic prescription and the utilization of antibiotics on agriculture and farming</a:t>
            </a:r>
          </a:p>
          <a:p>
            <a:pPr marL="0" indent="0">
              <a:buFont typeface="Arial" panose="020B0604020202020204" pitchFamily="34" charset="0"/>
              <a:buNone/>
            </a:pPr>
            <a:endParaRPr lang="en-GB" sz="1200" dirty="0"/>
          </a:p>
          <a:p>
            <a:pPr marL="0" indent="0">
              <a:buFont typeface="Arial" panose="020B0604020202020204" pitchFamily="34" charset="0"/>
              <a:buNone/>
            </a:pPr>
            <a:r>
              <a:rPr lang="en-GB" sz="1200" dirty="0"/>
              <a:t>Our colleagues from DTU Food in collaboration with The Global Sewage Surveillance consortium worked on a </a:t>
            </a:r>
            <a:r>
              <a:rPr lang="en-DK" sz="1200" dirty="0"/>
              <a:t>global resistome based on sewage-based monitoring, where they could describe the ARG abundance around the world revealing regional patterns reflecting taxonomical changes</a:t>
            </a:r>
            <a:endParaRPr lang="en-GB" sz="1200" dirty="0"/>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Understanding the emergence, evolution, and transmission of individual antibiotic resistance genes (ARGs) is essential to develop sustainable strategies to fight this threat</a:t>
            </a:r>
          </a:p>
          <a:p>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Fig b.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Another very interesting study was the study of microbial communities at the Deepwater Hozon oil spill site</a:t>
            </a:r>
            <a:br>
              <a:rPr lang="en-DK" dirty="0"/>
            </a:br>
            <a:br>
              <a:rPr lang="en-DK" dirty="0"/>
            </a:br>
            <a:r>
              <a:rPr lang="en-DK" dirty="0"/>
              <a:t>In this </a:t>
            </a:r>
            <a:r>
              <a:rPr lang="en-GB" sz="1200" dirty="0"/>
              <a:t>Metagenomic Analysis of sediment samples from 64 sites in the Gulf of Mexico, </a:t>
            </a:r>
            <a:r>
              <a:rPr lang="en-GB" sz="1200" dirty="0" err="1"/>
              <a:t>characteryzing</a:t>
            </a:r>
            <a:r>
              <a:rPr lang="en-GB" sz="1200" dirty="0"/>
              <a:t> microbial community's response to the oil spill.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found that </a:t>
            </a:r>
            <a:r>
              <a:rPr lang="en-GB" sz="1200" dirty="0"/>
              <a:t>Uncultured </a:t>
            </a:r>
            <a:r>
              <a:rPr lang="en-GB" sz="1200" i="1" dirty="0" err="1"/>
              <a:t>Gammaproteobacterium</a:t>
            </a:r>
            <a:r>
              <a:rPr lang="en-GB" sz="1200" dirty="0"/>
              <a:t> and </a:t>
            </a:r>
            <a:r>
              <a:rPr lang="en-GB" sz="1200" i="1" dirty="0" err="1"/>
              <a:t>Colwellia</a:t>
            </a:r>
            <a:r>
              <a:rPr lang="en-GB" sz="1200" dirty="0"/>
              <a:t> species, that were enriched in oil-impacted sediments, highlighting their roles in hydrocarbon degradation</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dirty="0"/>
            </a:br>
            <a:r>
              <a:rPr lang="en-GB" sz="1200" dirty="0"/>
              <a:t>Also an increase on the abundance of genes associated with hydrocarbon degradation pathways, including those involved in aliphatic and aromatic hydrocarbon breakdown, indicating an adaptive microbial response to oil contamination.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study emphasized the importance of microbial communities in natural bioremediation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12</a:t>
            </a:fld>
            <a:endParaRPr lang="en-DK"/>
          </a:p>
        </p:txBody>
      </p:sp>
    </p:spTree>
    <p:extLst>
      <p:ext uri="{BB962C8B-B14F-4D97-AF65-F5344CB8AC3E}">
        <p14:creationId xmlns:p14="http://schemas.microsoft.com/office/powerpoint/2010/main" val="22042916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And the final example of this section is the Global ocean microbiome within the Tara Oceans initiative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t>
            </a:r>
            <a:r>
              <a:rPr lang="en-GB" dirty="0" err="1"/>
              <a:t>Characteryzed</a:t>
            </a:r>
            <a:r>
              <a:rPr lang="en-GB" dirty="0"/>
              <a:t> ~1,000 non-redundant microbial genomes from the TARA Oceans metagenomes</a:t>
            </a:r>
          </a:p>
          <a:p>
            <a:endParaRPr lang="en-DK" dirty="0"/>
          </a:p>
          <a:p>
            <a:pPr marL="0" indent="0">
              <a:buFont typeface="Arial" panose="020B0604020202020204" pitchFamily="34" charset="0"/>
              <a:buNone/>
            </a:pPr>
            <a:r>
              <a:rPr lang="en-GB" dirty="0"/>
              <a:t>Nitrogen fixation in the surface ocean impacts global marine nitrogen bioavailability and thus microbial primary productivity</a:t>
            </a:r>
            <a:br>
              <a:rPr lang="en-GB" dirty="0"/>
            </a:br>
            <a:br>
              <a:rPr lang="en-GB" dirty="0"/>
            </a:br>
            <a:r>
              <a:rPr lang="en-GB" dirty="0"/>
              <a:t>Usually this is done by cyanobacteria but in this study they described Non-cyanobacterial diazotrophs inhabiting surface waters of the open ocean, which correspond to lineages within the Proteobacteria and Planctomycetes</a:t>
            </a:r>
            <a:endParaRPr lang="en-DK" sz="11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3389094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9F90-13BF-CD13-7A45-4AF448909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5BC5C-7F2F-263A-6455-210DF531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58256-1B8F-17CE-F7A0-A27DECBB50E2}"/>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44324D11-697D-BE6E-271D-B1B7444D1A77}"/>
              </a:ext>
            </a:extLst>
          </p:cNvPr>
          <p:cNvSpPr>
            <a:spLocks noGrp="1"/>
          </p:cNvSpPr>
          <p:nvPr>
            <p:ph type="sldNum" sz="quarter" idx="5"/>
          </p:nvPr>
        </p:nvSpPr>
        <p:spPr/>
        <p:txBody>
          <a:bodyPr/>
          <a:lstStyle/>
          <a:p>
            <a:fld id="{90AA28B0-211A-B640-96C3-6E3EBE2D2300}" type="slidenum">
              <a:rPr lang="en-DK" smtClean="0"/>
              <a:t>14</a:t>
            </a:fld>
            <a:endParaRPr lang="en-DK"/>
          </a:p>
        </p:txBody>
      </p:sp>
    </p:spTree>
    <p:extLst>
      <p:ext uri="{BB962C8B-B14F-4D97-AF65-F5344CB8AC3E}">
        <p14:creationId xmlns:p14="http://schemas.microsoft.com/office/powerpoint/2010/main" val="2918359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F2505-FA1E-C823-45DA-A5C7D26AA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B7380-AEFA-B21A-AA3D-D99CF3394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1CDDC-1A50-CA7A-80A6-1EC9942E2153}"/>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70CA7C28-7ECA-C73A-7B5A-BC867D386D94}"/>
              </a:ext>
            </a:extLst>
          </p:cNvPr>
          <p:cNvSpPr>
            <a:spLocks noGrp="1"/>
          </p:cNvSpPr>
          <p:nvPr>
            <p:ph type="sldNum" sz="quarter" idx="5"/>
          </p:nvPr>
        </p:nvSpPr>
        <p:spPr/>
        <p:txBody>
          <a:bodyPr/>
          <a:lstStyle/>
          <a:p>
            <a:fld id="{90AA28B0-211A-B640-96C3-6E3EBE2D2300}" type="slidenum">
              <a:rPr lang="en-DK" smtClean="0"/>
              <a:t>15</a:t>
            </a:fld>
            <a:endParaRPr lang="en-DK"/>
          </a:p>
        </p:txBody>
      </p:sp>
    </p:spTree>
    <p:extLst>
      <p:ext uri="{BB962C8B-B14F-4D97-AF65-F5344CB8AC3E}">
        <p14:creationId xmlns:p14="http://schemas.microsoft.com/office/powerpoint/2010/main" val="37028156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30726484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usual procedure in metagenomics is the one presented in this slide:</a:t>
            </a:r>
          </a:p>
          <a:p>
            <a:endParaRPr lang="en-DK" dirty="0"/>
          </a:p>
          <a:p>
            <a:r>
              <a:rPr lang="en-DK" dirty="0"/>
              <a:t>First sampling of DNA. </a:t>
            </a:r>
            <a:r>
              <a:rPr lang="en-GB" dirty="0"/>
              <a:t>DNA sampling tools vary depending on the source material and the application</a:t>
            </a:r>
          </a:p>
          <a:p>
            <a:endParaRPr lang="en-GB" dirty="0"/>
          </a:p>
          <a:p>
            <a:r>
              <a:rPr lang="en-GB" dirty="0"/>
              <a:t>After DNA storage is important, the best thing you can do is freeze the DNA as soon as possible, otherwise you can use preserving buffers</a:t>
            </a:r>
          </a:p>
          <a:p>
            <a:endParaRPr lang="en-GB" dirty="0"/>
          </a:p>
          <a:p>
            <a:r>
              <a:rPr lang="en-GB" dirty="0"/>
              <a:t>Then it will come the DNA Extraction, where different kits are commonly used</a:t>
            </a:r>
          </a:p>
          <a:p>
            <a:endParaRPr lang="en-GB" dirty="0"/>
          </a:p>
          <a:p>
            <a:r>
              <a:rPr lang="en-GB" dirty="0"/>
              <a:t>And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20</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23</a:t>
            </a:fld>
            <a:endParaRPr lang="en-DK"/>
          </a:p>
        </p:txBody>
      </p:sp>
    </p:spTree>
    <p:extLst>
      <p:ext uri="{BB962C8B-B14F-4D97-AF65-F5344CB8AC3E}">
        <p14:creationId xmlns:p14="http://schemas.microsoft.com/office/powerpoint/2010/main" val="35404436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let you what are common sequencing platform nowadays and their common use cases for your revision.</a:t>
            </a:r>
            <a:br>
              <a:rPr lang="en-DK" dirty="0"/>
            </a:br>
            <a:br>
              <a:rPr lang="en-DK" dirty="0"/>
            </a:br>
            <a:r>
              <a:rPr lang="en-DK" dirty="0"/>
              <a:t>WE will talk today only about Illumina which produces short reads with high accuracy and is mostly used for amplicon and shotgun metagenomics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24</a:t>
            </a:fld>
            <a:endParaRPr lang="en-DK"/>
          </a:p>
        </p:txBody>
      </p:sp>
    </p:spTree>
    <p:extLst>
      <p:ext uri="{BB962C8B-B14F-4D97-AF65-F5344CB8AC3E}">
        <p14:creationId xmlns:p14="http://schemas.microsoft.com/office/powerpoint/2010/main" val="38610651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4E441-869B-8016-50FD-94757ABC8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6A962-B252-6A12-4AF5-E1A73ABFA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175D26-EA4D-C988-88A8-500017DAF793}"/>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26799936-84DE-4257-0585-4189A7FF9D16}"/>
              </a:ext>
            </a:extLst>
          </p:cNvPr>
          <p:cNvSpPr>
            <a:spLocks noGrp="1"/>
          </p:cNvSpPr>
          <p:nvPr>
            <p:ph type="sldNum" sz="quarter" idx="5"/>
          </p:nvPr>
        </p:nvSpPr>
        <p:spPr/>
        <p:txBody>
          <a:bodyPr/>
          <a:lstStyle/>
          <a:p>
            <a:fld id="{90AA28B0-211A-B640-96C3-6E3EBE2D2300}" type="slidenum">
              <a:rPr lang="en-DK" smtClean="0"/>
              <a:t>25</a:t>
            </a:fld>
            <a:endParaRPr lang="en-DK"/>
          </a:p>
        </p:txBody>
      </p:sp>
    </p:spTree>
    <p:extLst>
      <p:ext uri="{BB962C8B-B14F-4D97-AF65-F5344CB8AC3E}">
        <p14:creationId xmlns:p14="http://schemas.microsoft.com/office/powerpoint/2010/main" val="197898058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16S rRNA gene is an ancient gene that </a:t>
            </a:r>
            <a:r>
              <a:rPr lang="en-GB" dirty="0"/>
              <a:t>encodes the RNA component of the small (30S) subunit of the prokaryotic ribosome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Traditionally  used to infer phylogenetic trees to figure out species evolution. Based on the similarity between the 16S gene you can build these trees that reflect the distance between the organisms </a:t>
            </a:r>
            <a:endParaRPr lang="en-GB" dirty="0"/>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You see here Eukaryotes because It is also present also in mitochondria and chloroplasts of eukaryotes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27</a:t>
            </a:fld>
            <a:endParaRPr lang="en-DK"/>
          </a:p>
        </p:txBody>
      </p:sp>
    </p:spTree>
    <p:extLst>
      <p:ext uri="{BB962C8B-B14F-4D97-AF65-F5344CB8AC3E}">
        <p14:creationId xmlns:p14="http://schemas.microsoft.com/office/powerpoint/2010/main" val="35010697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SO in our samples we have microbial genomes carrying the 16S rRNA gene, </a:t>
            </a:r>
          </a:p>
          <a:p>
            <a:endParaRPr lang="en-DK" dirty="0"/>
          </a:p>
          <a:p>
            <a:r>
              <a:rPr lang="en-DK" dirty="0"/>
              <a:t>we amplify out this gene with PCR amplification and we sequence all these 16S genes </a:t>
            </a:r>
          </a:p>
          <a:p>
            <a:endParaRPr lang="en-DK" dirty="0"/>
          </a:p>
          <a:p>
            <a:r>
              <a:rPr lang="en-DK" dirty="0"/>
              <a:t>and we can align them to each other and find out the differences, in this example different single nucleotide variants, that can uniquely identify to which species this gene belongs</a:t>
            </a:r>
          </a:p>
          <a:p>
            <a:endParaRPr lang="en-DK" dirty="0"/>
          </a:p>
          <a:p>
            <a:r>
              <a:rPr lang="en-DK" dirty="0"/>
              <a:t>Computationally we would cluster all similar sequences into operational taxonomic units that are compared to 16S gene databases like silva or green genes to assign them taxonomy</a:t>
            </a:r>
          </a:p>
          <a:p>
            <a:endParaRPr lang="en-DK" dirty="0"/>
          </a:p>
          <a:p>
            <a:r>
              <a:rPr lang="en-DK" dirty="0"/>
              <a:t>Or we can use DADA2, my favorite one, </a:t>
            </a:r>
            <a:r>
              <a:rPr lang="en-GB" dirty="0"/>
              <a:t>which assign taxonomy directly to the amplicon sequence variants therefore allowing more precise taxonomic placement than OTUs</a:t>
            </a:r>
          </a:p>
          <a:p>
            <a:endParaRPr lang="en-GB" dirty="0"/>
          </a:p>
          <a:p>
            <a:r>
              <a:rPr lang="en-GB" dirty="0"/>
              <a:t>In any case with amplicon 16S we get only to genus resolution and we do not have functional annotation unless we predict it from taxonomical compositional (PICRUST). Many assumptions, for example Close phylogenetic </a:t>
            </a:r>
            <a:r>
              <a:rPr lang="en-GB" dirty="0" err="1"/>
              <a:t>neighbors</a:t>
            </a:r>
            <a:r>
              <a:rPr lang="en-GB" dirty="0"/>
              <a:t> have similar gene content and functional potential, does not capture HGT or strain level functionality,…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28</a:t>
            </a:fld>
            <a:endParaRPr lang="en-DK"/>
          </a:p>
        </p:txBody>
      </p:sp>
    </p:spTree>
    <p:extLst>
      <p:ext uri="{BB962C8B-B14F-4D97-AF65-F5344CB8AC3E}">
        <p14:creationId xmlns:p14="http://schemas.microsoft.com/office/powerpoint/2010/main" val="209041410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  Microbial genomes in your sample from different organisms (here represented with different colors)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Randomly shattering them into fragments of relatively equal length (150-300 bps) - no PCR amplification</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Sequence all these small fragments of DNA  (in the order of millions per sample)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and we map them with different tools to genomes or to clade-specfic marker genes</a:t>
            </a:r>
          </a:p>
          <a:p>
            <a:endParaRPr lang="en-DK" dirty="0"/>
          </a:p>
          <a:p>
            <a:r>
              <a:rPr lang="en-DK" dirty="0"/>
              <a:t>When we have the gene/genome counts we can divide those by gene or genome length and by sample depth (number of reads detected in a sample) to estimate the final abundance of our taxa.</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29</a:t>
            </a:fld>
            <a:endParaRPr lang="en-DK"/>
          </a:p>
        </p:txBody>
      </p:sp>
    </p:spTree>
    <p:extLst>
      <p:ext uri="{BB962C8B-B14F-4D97-AF65-F5344CB8AC3E}">
        <p14:creationId xmlns:p14="http://schemas.microsoft.com/office/powerpoint/2010/main" val="254882453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jus leave you a table describing tools and databases used in both methods 16S amplicon sequencing and Read-based profiling for your revision.</a:t>
            </a:r>
            <a:br>
              <a:rPr lang="en-DK" dirty="0"/>
            </a:br>
            <a:endParaRPr lang="en-DK" dirty="0"/>
          </a:p>
          <a:p>
            <a:r>
              <a:rPr lang="en-DK" dirty="0"/>
              <a:t>Choice depending on speed vs accuracy, resoulution, sequencing data type, resource requirements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30</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Mapping works better for characteryzed genes or species, human commensals, pathogens or enzyms and species used in industry are well characterized in the databases.</a:t>
            </a:r>
            <a:br>
              <a:rPr lang="en-DK" dirty="0"/>
            </a:br>
            <a:br>
              <a:rPr lang="en-DK" dirty="0"/>
            </a:br>
            <a:r>
              <a:rPr lang="en-DK" dirty="0"/>
              <a:t>The next method </a:t>
            </a:r>
            <a:r>
              <a:rPr lang="en-GB" dirty="0"/>
              <a:t>is very much used currently and preferred as it does not depend that much on the known </a:t>
            </a:r>
            <a:r>
              <a:rPr lang="en-GB" dirty="0" err="1"/>
              <a:t>annotation.It</a:t>
            </a:r>
            <a:r>
              <a:rPr lang="en-GB" dirty="0"/>
              <a:t> is more known as de novo assembly of genomes and it  It is in a way an alternative to reference-based methods.</a:t>
            </a:r>
            <a:br>
              <a:rPr lang="en-GB" dirty="0"/>
            </a:br>
            <a:endParaRPr lang="en-GB" dirty="0"/>
          </a:p>
          <a:p>
            <a:r>
              <a:rPr lang="en-GB" dirty="0"/>
              <a:t>We have </a:t>
            </a:r>
            <a:r>
              <a:rPr lang="en-GB" dirty="0" err="1"/>
              <a:t>fastQ</a:t>
            </a:r>
            <a:r>
              <a:rPr lang="en-GB" dirty="0"/>
              <a:t> files with our reads and we perform QC on the to remove low quality, low complexity and host reads (if there are) and we stitch together sequenced reads to reproduce the original genome from where they came. If we have easy </a:t>
            </a:r>
            <a:r>
              <a:rPr lang="en-GB" dirty="0" err="1"/>
              <a:t>communitires</a:t>
            </a:r>
            <a:r>
              <a:rPr lang="en-GB" dirty="0"/>
              <a:t> and lots of reds we reproduce the whole genomes otherwise we get these large DNA </a:t>
            </a:r>
            <a:r>
              <a:rPr lang="en-GB" dirty="0" err="1"/>
              <a:t>chuncks</a:t>
            </a:r>
            <a:r>
              <a:rPr lang="en-GB" dirty="0"/>
              <a:t> called contigs. </a:t>
            </a:r>
          </a:p>
          <a:p>
            <a:endParaRPr lang="en-GB" dirty="0"/>
          </a:p>
          <a:p>
            <a:r>
              <a:rPr lang="en-GB" dirty="0"/>
              <a:t>These contigs can be clustered into different bins according to their composition (GC content, </a:t>
            </a:r>
            <a:r>
              <a:rPr lang="en-GB" dirty="0" err="1"/>
              <a:t>tetranucletide</a:t>
            </a:r>
            <a:r>
              <a:rPr lang="en-GB" dirty="0"/>
              <a:t> frequencies) or coverage depth across samples (require to remap all the reads to the contigs – more samples higher accuracy).</a:t>
            </a:r>
          </a:p>
          <a:p>
            <a:endParaRPr lang="en-GB" dirty="0"/>
          </a:p>
          <a:p>
            <a:r>
              <a:rPr lang="en-GB" dirty="0"/>
              <a:t>The bins go through </a:t>
            </a:r>
            <a:r>
              <a:rPr lang="en-GB" dirty="0" err="1"/>
              <a:t>refinment</a:t>
            </a:r>
            <a:r>
              <a:rPr lang="en-GB" dirty="0"/>
              <a:t> and quality </a:t>
            </a:r>
            <a:r>
              <a:rPr lang="en-GB" dirty="0" err="1"/>
              <a:t>assessment.In</a:t>
            </a:r>
            <a:r>
              <a:rPr lang="en-GB" dirty="0"/>
              <a:t> many MAGS collections they divide the MAGS on High quality and medium quality based on the completeness and contamination levels (how many marker genes of this species can be found in the bin, how many marker genes from other species)</a:t>
            </a:r>
          </a:p>
          <a:p>
            <a:endParaRPr lang="en-GB" dirty="0"/>
          </a:p>
          <a:p>
            <a:r>
              <a:rPr lang="en-GB" dirty="0"/>
              <a:t>We assign taxonomy therefore to the bins and we can then with the clean bis do </a:t>
            </a:r>
            <a:r>
              <a:rPr lang="en-GB" dirty="0" err="1"/>
              <a:t>phylobgenomic</a:t>
            </a:r>
            <a:r>
              <a:rPr lang="en-GB" dirty="0"/>
              <a:t> analysis of these MAGS or do functional annotation (call genes in the contigs assigned to the bins and map them to pathways, etc and estimate their abundances by mapping reads to the functional features)</a:t>
            </a:r>
          </a:p>
          <a:p>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31</a:t>
            </a:fld>
            <a:endParaRPr lang="en-DK"/>
          </a:p>
        </p:txBody>
      </p:sp>
    </p:spTree>
    <p:extLst>
      <p:ext uri="{BB962C8B-B14F-4D97-AF65-F5344CB8AC3E}">
        <p14:creationId xmlns:p14="http://schemas.microsoft.com/office/powerpoint/2010/main" val="2043543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left you a table with all the tools related to the different steps on building MAGs. As you can see it is a very complex process  and it requires of many softwares that need to be run in a chained way.</a:t>
            </a:r>
            <a:br>
              <a:rPr lang="en-DK" dirty="0"/>
            </a:br>
            <a:r>
              <a:rPr lang="en-DK" dirty="0"/>
              <a:t>Maybe in another course we can cover only that methodology.</a:t>
            </a:r>
          </a:p>
        </p:txBody>
      </p:sp>
      <p:sp>
        <p:nvSpPr>
          <p:cNvPr id="4" name="Slide Number Placeholder 3"/>
          <p:cNvSpPr>
            <a:spLocks noGrp="1"/>
          </p:cNvSpPr>
          <p:nvPr>
            <p:ph type="sldNum" sz="quarter" idx="5"/>
          </p:nvPr>
        </p:nvSpPr>
        <p:spPr/>
        <p:txBody>
          <a:bodyPr/>
          <a:lstStyle/>
          <a:p>
            <a:fld id="{90AA28B0-211A-B640-96C3-6E3EBE2D2300}" type="slidenum">
              <a:rPr lang="en-DK" smtClean="0"/>
              <a:t>32</a:t>
            </a:fld>
            <a:endParaRPr lang="en-DK"/>
          </a:p>
        </p:txBody>
      </p:sp>
    </p:spTree>
    <p:extLst>
      <p:ext uri="{BB962C8B-B14F-4D97-AF65-F5344CB8AC3E}">
        <p14:creationId xmlns:p14="http://schemas.microsoft.com/office/powerpoint/2010/main" val="1725099709"/>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a:t>
            </a:r>
            <a:r>
              <a:rPr lang="en-GB" dirty="0"/>
              <a:t>n</a:t>
            </a:r>
            <a:r>
              <a:rPr lang="en-DK" dirty="0"/>
              <a:t>d finally I wanted to compare the three different methods that we have described.</a:t>
            </a:r>
          </a:p>
          <a:p>
            <a:endParaRPr lang="en-DK" dirty="0"/>
          </a:p>
          <a:p>
            <a:r>
              <a:rPr lang="en-DK" dirty="0"/>
              <a:t>TABLE</a:t>
            </a:r>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127036136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52C9-0B41-3990-822D-46007C82B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8F397-CE3A-2915-C17F-69A1A0364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1243C-293B-3F56-AB43-C6132D0A3035}"/>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E6A540A1-647A-CDBC-B24D-408CC6A0EA1F}"/>
              </a:ext>
            </a:extLst>
          </p:cNvPr>
          <p:cNvSpPr>
            <a:spLocks noGrp="1"/>
          </p:cNvSpPr>
          <p:nvPr>
            <p:ph type="sldNum" sz="quarter" idx="5"/>
          </p:nvPr>
        </p:nvSpPr>
        <p:spPr/>
        <p:txBody>
          <a:bodyPr/>
          <a:lstStyle/>
          <a:p>
            <a:fld id="{90AA28B0-211A-B640-96C3-6E3EBE2D2300}" type="slidenum">
              <a:rPr lang="en-DK" smtClean="0"/>
              <a:t>34</a:t>
            </a:fld>
            <a:endParaRPr lang="en-DK"/>
          </a:p>
        </p:txBody>
      </p:sp>
    </p:spTree>
    <p:extLst>
      <p:ext uri="{BB962C8B-B14F-4D97-AF65-F5344CB8AC3E}">
        <p14:creationId xmlns:p14="http://schemas.microsoft.com/office/powerpoint/2010/main" val="205084238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1E9E8-2258-35AD-4D58-02665780E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487D7-B0FF-52D3-0878-9AD27AA94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B331C0-B31B-F0DB-7822-1334124D1B8B}"/>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DF60612E-65DF-2F60-8C62-002FE88AEFB0}"/>
              </a:ext>
            </a:extLst>
          </p:cNvPr>
          <p:cNvSpPr>
            <a:spLocks noGrp="1"/>
          </p:cNvSpPr>
          <p:nvPr>
            <p:ph type="sldNum" sz="quarter" idx="5"/>
          </p:nvPr>
        </p:nvSpPr>
        <p:spPr/>
        <p:txBody>
          <a:bodyPr/>
          <a:lstStyle/>
          <a:p>
            <a:fld id="{90AA28B0-211A-B640-96C3-6E3EBE2D2300}" type="slidenum">
              <a:rPr lang="en-DK" smtClean="0"/>
              <a:t>37</a:t>
            </a:fld>
            <a:endParaRPr lang="en-DK"/>
          </a:p>
        </p:txBody>
      </p:sp>
    </p:spTree>
    <p:extLst>
      <p:ext uri="{BB962C8B-B14F-4D97-AF65-F5344CB8AC3E}">
        <p14:creationId xmlns:p14="http://schemas.microsoft.com/office/powerpoint/2010/main" val="11011601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Characteristics sparsity and dinami range</a:t>
            </a:r>
          </a:p>
          <a:p>
            <a:r>
              <a:rPr lang="en-DK" dirty="0"/>
              <a:t>Describe table</a:t>
            </a:r>
          </a:p>
          <a:p>
            <a:r>
              <a:rPr lang="en-DK" dirty="0"/>
              <a:t>rel ab or counts per million, etc ..</a:t>
            </a:r>
          </a:p>
          <a:p>
            <a:r>
              <a:rPr lang="en-DK" dirty="0"/>
              <a:t>First row evenly distributed</a:t>
            </a:r>
          </a:p>
          <a:p>
            <a:r>
              <a:rPr lang="en-DK" dirty="0"/>
              <a:t>Highly dinamic range</a:t>
            </a:r>
          </a:p>
          <a:p>
            <a:r>
              <a:rPr lang="en-DK" dirty="0"/>
              <a:t>Some fetures drop 0000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r>
              <a:rPr lang="en-DK" dirty="0"/>
              <a:t>Abundances are relative – not absolute</a:t>
            </a:r>
          </a:p>
          <a:p>
            <a:pPr marL="285750" indent="-285750">
              <a:buFont typeface="Arial" panose="020B0604020202020204" pitchFamily="34" charset="0"/>
              <a:buChar char="•"/>
            </a:pPr>
            <a:r>
              <a:rPr lang="en-GB" b="1" dirty="0"/>
              <a:t>Proportions or percentages</a:t>
            </a:r>
            <a:r>
              <a:rPr lang="en-GB" dirty="0"/>
              <a:t> of total reads per sample — not true cell counts.</a:t>
            </a:r>
          </a:p>
          <a:p>
            <a:endParaRPr lang="en-GB" dirty="0"/>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39</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BE01-8F94-E9D3-D539-0D87F2E23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34A66-A237-251B-DD54-C64FCB54E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10C6A-1DEB-8345-E0F5-687ABC334B9F}"/>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504F62E0-C4BB-9564-DDCE-3200906C5D5B}"/>
              </a:ext>
            </a:extLst>
          </p:cNvPr>
          <p:cNvSpPr>
            <a:spLocks noGrp="1"/>
          </p:cNvSpPr>
          <p:nvPr>
            <p:ph type="sldNum" sz="quarter" idx="5"/>
          </p:nvPr>
        </p:nvSpPr>
        <p:spPr/>
        <p:txBody>
          <a:bodyPr/>
          <a:lstStyle/>
          <a:p>
            <a:fld id="{90AA28B0-211A-B640-96C3-6E3EBE2D2300}" type="slidenum">
              <a:rPr lang="en-DK" smtClean="0"/>
              <a:t>42</a:t>
            </a:fld>
            <a:endParaRPr lang="en-DK"/>
          </a:p>
        </p:txBody>
      </p:sp>
    </p:spTree>
    <p:extLst>
      <p:ext uri="{BB962C8B-B14F-4D97-AF65-F5344CB8AC3E}">
        <p14:creationId xmlns:p14="http://schemas.microsoft.com/office/powerpoint/2010/main" val="221401625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r>
              <a:rPr lang="en-DK" dirty="0"/>
              <a:t>For example Microbiome alpha div</a:t>
            </a:r>
          </a:p>
        </p:txBody>
      </p:sp>
      <p:sp>
        <p:nvSpPr>
          <p:cNvPr id="4" name="Slide Number Placeholder 3"/>
          <p:cNvSpPr>
            <a:spLocks noGrp="1"/>
          </p:cNvSpPr>
          <p:nvPr>
            <p:ph type="sldNum" sz="quarter" idx="5"/>
          </p:nvPr>
        </p:nvSpPr>
        <p:spPr/>
        <p:txBody>
          <a:bodyPr/>
          <a:lstStyle/>
          <a:p>
            <a:fld id="{90AA28B0-211A-B640-96C3-6E3EBE2D2300}" type="slidenum">
              <a:rPr lang="en-DK" smtClean="0"/>
              <a:t>43</a:t>
            </a:fld>
            <a:endParaRPr lang="en-DK"/>
          </a:p>
        </p:txBody>
      </p:sp>
    </p:spTree>
    <p:extLst>
      <p:ext uri="{BB962C8B-B14F-4D97-AF65-F5344CB8AC3E}">
        <p14:creationId xmlns:p14="http://schemas.microsoft.com/office/powerpoint/2010/main" val="1203967522"/>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3FF47-8B5F-FBB8-3B74-54AB58954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01C6B-F93A-3F9C-F234-838533764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49541-127B-F89C-D38E-8E936EFF22AC}"/>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BF5C27F8-833E-84E2-D5A3-5AC1382E4EFE}"/>
              </a:ext>
            </a:extLst>
          </p:cNvPr>
          <p:cNvSpPr>
            <a:spLocks noGrp="1"/>
          </p:cNvSpPr>
          <p:nvPr>
            <p:ph type="sldNum" sz="quarter" idx="5"/>
          </p:nvPr>
        </p:nvSpPr>
        <p:spPr/>
        <p:txBody>
          <a:bodyPr/>
          <a:lstStyle/>
          <a:p>
            <a:fld id="{90AA28B0-211A-B640-96C3-6E3EBE2D2300}" type="slidenum">
              <a:rPr lang="en-DK" smtClean="0"/>
              <a:t>45</a:t>
            </a:fld>
            <a:endParaRPr lang="en-DK"/>
          </a:p>
        </p:txBody>
      </p:sp>
    </p:spTree>
    <p:extLst>
      <p:ext uri="{BB962C8B-B14F-4D97-AF65-F5344CB8AC3E}">
        <p14:creationId xmlns:p14="http://schemas.microsoft.com/office/powerpoint/2010/main" val="264367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oi.org/10.1038/nature0541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hyperlink" Target="https://doi.org/10.1038/nature11234"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doi.org/10.1038/nature1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hyperlink" Target="https://doi.org/10.1056/nejmoa1205037"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26/science.aan3706" TargetMode="External"/><Relationship Id="rId3" Type="http://schemas.openxmlformats.org/officeDocument/2006/relationships/image" Target="../media/image16.png"/><Relationship Id="rId7" Type="http://schemas.openxmlformats.org/officeDocument/2006/relationships/hyperlink" Target="https://doi.org/10.1126/science.aao3290"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doi.org/10.1126/science.aan4236"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doi.org/10.1038/s41587-020-0718-6" TargetMode="Externa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doi.org/10.1038/s41467-022-34312-7"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hyperlink" Target="https://doi.org/10.1038/ismej.2013.254"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hyperlink" Target="https://doi.org/10.1038/s41564-018-0176-9"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jpe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HMyCqWhwB8E" TargetMode="External"/><Relationship Id="rId2" Type="http://schemas.openxmlformats.org/officeDocument/2006/relationships/notesSlide" Target="../notesSlides/notesSlide18.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hyperlink" Target="https://doi.org/10.1172/JCI154944" TargetMode="External"/><Relationship Id="rId5" Type="http://schemas.openxmlformats.org/officeDocument/2006/relationships/hyperlink" Target="http://www.jci.org/132/7" TargetMode="External"/><Relationship Id="rId4" Type="http://schemas.openxmlformats.org/officeDocument/2006/relationships/image" Target="../media/image39.jpe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2.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5.xml"/><Relationship Id="rId1" Type="http://schemas.openxmlformats.org/officeDocument/2006/relationships/slideLayout" Target="../slideLayouts/slideLayout2.xml"/><Relationship Id="rId4" Type="http://schemas.openxmlformats.org/officeDocument/2006/relationships/image" Target="../media/image44.jpeg"/></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44.xml.rels><?xml version="1.0" encoding="UTF-8" standalone="yes"?>
<Relationships xmlns="http://schemas.openxmlformats.org/package/2006/relationships"><Relationship Id="rId2" Type="http://schemas.openxmlformats.org/officeDocument/2006/relationships/image" Target="../media/image47.jp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6741467" y="2181563"/>
            <a:ext cx="4286661" cy="1236027"/>
          </a:xfrm>
        </p:spPr>
        <p:txBody>
          <a:bodyPr vert="horz" lIns="91440" tIns="45720" rIns="91440" bIns="45720" rtlCol="0" anchor="b">
            <a:noAutofit/>
          </a:bodyPr>
          <a:lstStyle/>
          <a:p>
            <a:pPr algn="l"/>
            <a:r>
              <a:rPr lang="en-US" sz="5400" kern="1200" dirty="0">
                <a:solidFill>
                  <a:schemeClr val="bg1"/>
                </a:solidFill>
                <a:latin typeface="+mj-lt"/>
                <a:ea typeface="+mj-ea"/>
                <a:cs typeface="+mj-cs"/>
              </a:rPr>
              <a:t>Introduction to Metagenomics</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a:xfrm>
            <a:off x="7564857" y="3849396"/>
            <a:ext cx="3058995" cy="1415897"/>
          </a:xfrm>
        </p:spPr>
        <p:txBody>
          <a:bodyPr vert="horz" lIns="91440" tIns="45720" rIns="91440" bIns="45720" rtlCol="0">
            <a:normAutofit fontScale="92500" lnSpcReduction="10000"/>
          </a:bodyPr>
          <a:lstStyle/>
          <a:p>
            <a:pPr algn="l"/>
            <a:r>
              <a:rPr lang="en-US" sz="2000" dirty="0">
                <a:solidFill>
                  <a:schemeClr val="bg1"/>
                </a:solidFill>
              </a:rPr>
              <a:t>Data Science platform</a:t>
            </a:r>
          </a:p>
          <a:p>
            <a:pPr algn="l"/>
            <a:r>
              <a:rPr lang="en-US" sz="2000" dirty="0">
                <a:solidFill>
                  <a:schemeClr val="bg1"/>
                </a:solidFill>
              </a:rPr>
              <a:t>DTU – </a:t>
            </a:r>
            <a:r>
              <a:rPr lang="en-US" sz="2000" dirty="0" err="1">
                <a:solidFill>
                  <a:schemeClr val="bg1"/>
                </a:solidFill>
              </a:rPr>
              <a:t>Biosustain</a:t>
            </a:r>
            <a:endParaRPr lang="en-US" sz="2000" dirty="0">
              <a:solidFill>
                <a:schemeClr val="bg1"/>
              </a:solidFill>
            </a:endParaRPr>
          </a:p>
          <a:p>
            <a:pPr algn="l"/>
            <a:r>
              <a:rPr lang="en-US" sz="2000" dirty="0">
                <a:solidFill>
                  <a:schemeClr val="bg1"/>
                </a:solidFill>
              </a:rPr>
              <a:t>Spring Data-type Courses </a:t>
            </a:r>
          </a:p>
          <a:p>
            <a:pPr algn="l"/>
            <a:r>
              <a:rPr lang="en-US" sz="2000" dirty="0">
                <a:solidFill>
                  <a:schemeClr val="bg1"/>
                </a:solidFill>
              </a:rPr>
              <a:t>11th June 2025</a:t>
            </a: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784EBE8-B8CF-A9B8-D609-C4264B84AF8C}"/>
              </a:ext>
            </a:extLst>
          </p:cNvPr>
          <p:cNvGrpSpPr/>
          <p:nvPr/>
        </p:nvGrpSpPr>
        <p:grpSpPr>
          <a:xfrm>
            <a:off x="-2346" y="595726"/>
            <a:ext cx="5666547" cy="5666547"/>
            <a:chOff x="3103417" y="1184563"/>
            <a:chExt cx="5507182" cy="5507182"/>
          </a:xfrm>
        </p:grpSpPr>
        <p:pic>
          <p:nvPicPr>
            <p:cNvPr id="6" name="Picture 2" descr="1,500+ Microbiome Stock Illustrations, Royalty-Free Vector Graphics &amp; Clip  Art - iStock | Gut microbiome, Skin microbiome, Microbiome woman">
              <a:extLst>
                <a:ext uri="{FF2B5EF4-FFF2-40B4-BE49-F238E27FC236}">
                  <a16:creationId xmlns:a16="http://schemas.microsoft.com/office/drawing/2014/main" id="{2F7DF042-900E-9788-5287-AC4E012A7C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Virus">
              <a:extLst>
                <a:ext uri="{FF2B5EF4-FFF2-40B4-BE49-F238E27FC236}">
                  <a16:creationId xmlns:a16="http://schemas.microsoft.com/office/drawing/2014/main" id="{3B1274F2-AD95-A53C-D8A1-7F5E0266DC65}"/>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8" name="Picture 7" descr="Virus">
              <a:extLst>
                <a:ext uri="{FF2B5EF4-FFF2-40B4-BE49-F238E27FC236}">
                  <a16:creationId xmlns:a16="http://schemas.microsoft.com/office/drawing/2014/main" id="{C313216F-15E2-E91B-B3B1-3344D3BD34BF}"/>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0" name="Picture 9" descr="Virus">
              <a:extLst>
                <a:ext uri="{FF2B5EF4-FFF2-40B4-BE49-F238E27FC236}">
                  <a16:creationId xmlns:a16="http://schemas.microsoft.com/office/drawing/2014/main" id="{2764AD2C-7D4B-853A-123C-F43332EB060F}"/>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0" name="Freeform: Shape 29">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5" name="Freeform: Shape 34">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10F4251D-887C-84B5-FB81-6986D59AE41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4800" kern="1200">
                <a:solidFill>
                  <a:schemeClr val="tx2"/>
                </a:solidFill>
                <a:latin typeface="+mj-lt"/>
                <a:ea typeface="+mj-ea"/>
                <a:cs typeface="+mj-cs"/>
              </a:rPr>
              <a:t>Impact of microbiome studies in medical and planetary health</a:t>
            </a:r>
          </a:p>
        </p:txBody>
      </p:sp>
    </p:spTree>
    <p:extLst>
      <p:ext uri="{BB962C8B-B14F-4D97-AF65-F5344CB8AC3E}">
        <p14:creationId xmlns:p14="http://schemas.microsoft.com/office/powerpoint/2010/main" val="385296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8270420" y="1387927"/>
            <a:ext cx="3212502" cy="1942773"/>
          </a:xfrm>
        </p:spPr>
        <p:txBody>
          <a:bodyPr vert="horz" lIns="91440" tIns="45720" rIns="91440" bIns="45720" rtlCol="0" anchor="b">
            <a:normAutofit/>
          </a:bodyPr>
          <a:lstStyle/>
          <a:p>
            <a:r>
              <a:rPr lang="en-US" sz="3300" b="1" kern="1200" dirty="0">
                <a:solidFill>
                  <a:schemeClr val="tx1"/>
                </a:solidFill>
                <a:latin typeface="+mj-lt"/>
                <a:ea typeface="+mj-ea"/>
                <a:cs typeface="+mj-cs"/>
              </a:rPr>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1062"/>
          <a:stretch>
            <a:fillRect/>
          </a:stretch>
        </p:blipFill>
        <p:spPr bwMode="auto">
          <a:xfrm>
            <a:off x="20" y="10"/>
            <a:ext cx="7723393" cy="685799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8270420" y="3412998"/>
            <a:ext cx="3212502" cy="2767366"/>
          </a:xfrm>
          <a:prstGeom prst="rect">
            <a:avLst/>
          </a:prstGeom>
        </p:spPr>
        <p:txBody>
          <a:bodyPr vert="horz" lIns="91440" tIns="45720" rIns="91440" bIns="45720" rtlCol="0">
            <a:normAutofit lnSpcReduction="10000"/>
          </a:bodyPr>
          <a:lstStyle/>
          <a:p>
            <a:pPr marL="285750" indent="-228600">
              <a:lnSpc>
                <a:spcPct val="110000"/>
              </a:lnSpc>
              <a:spcAft>
                <a:spcPts val="600"/>
              </a:spcAft>
              <a:buFont typeface="Arial" panose="020B0604020202020204" pitchFamily="34" charset="0"/>
              <a:buChar char="•"/>
            </a:pPr>
            <a:r>
              <a:rPr lang="en-US" sz="1700" dirty="0"/>
              <a:t>For most of the diseases it is not known whether the microbiota is the cause or the consequence of the disease</a:t>
            </a:r>
          </a:p>
          <a:p>
            <a:pPr marL="285750" indent="-228600">
              <a:lnSpc>
                <a:spcPct val="110000"/>
              </a:lnSpc>
              <a:spcAft>
                <a:spcPts val="600"/>
              </a:spcAft>
              <a:buFont typeface="Arial" panose="020B0604020202020204" pitchFamily="34" charset="0"/>
              <a:buChar char="•"/>
            </a:pPr>
            <a:r>
              <a:rPr lang="en-US" sz="1700" dirty="0"/>
              <a:t>For some diseases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3"/>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4"/>
          <a:stretch>
            <a:fillRect/>
          </a:stretch>
        </p:blipFill>
        <p:spPr>
          <a:xfrm>
            <a:off x="5867399" y="1670791"/>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5"/>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10" y="3837710"/>
            <a:ext cx="492529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The trait is transmissible!</a:t>
            </a:r>
            <a:br>
              <a:rPr lang="en-GB" dirty="0"/>
            </a:b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
        <p:nvSpPr>
          <p:cNvPr id="11" name="TextBox 10">
            <a:extLst>
              <a:ext uri="{FF2B5EF4-FFF2-40B4-BE49-F238E27FC236}">
                <a16:creationId xmlns:a16="http://schemas.microsoft.com/office/drawing/2014/main" id="{8B21EE5E-D324-502C-00ED-C066EEC61527}"/>
              </a:ext>
            </a:extLst>
          </p:cNvPr>
          <p:cNvSpPr txBox="1"/>
          <p:nvPr/>
        </p:nvSpPr>
        <p:spPr>
          <a:xfrm>
            <a:off x="6498772" y="5272539"/>
            <a:ext cx="2373085" cy="1169551"/>
          </a:xfrm>
          <a:prstGeom prst="rect">
            <a:avLst/>
          </a:prstGeom>
          <a:noFill/>
        </p:spPr>
        <p:txBody>
          <a:bodyPr wrap="square" rtlCol="0">
            <a:spAutoFit/>
          </a:bodyPr>
          <a:lstStyle/>
          <a:p>
            <a:r>
              <a:rPr lang="en-GB" sz="1400" dirty="0"/>
              <a:t>Genetically obese mice had an increased concentration of the major fermentation end-products: butyrate and acetate</a:t>
            </a:r>
            <a:endParaRPr lang="en-DK" sz="1400" dirty="0"/>
          </a:p>
        </p:txBody>
      </p:sp>
      <p:sp>
        <p:nvSpPr>
          <p:cNvPr id="12" name="TextBox 11">
            <a:extLst>
              <a:ext uri="{FF2B5EF4-FFF2-40B4-BE49-F238E27FC236}">
                <a16:creationId xmlns:a16="http://schemas.microsoft.com/office/drawing/2014/main" id="{95DACDA9-5A76-DD01-03C5-23B150854F99}"/>
              </a:ext>
            </a:extLst>
          </p:cNvPr>
          <p:cNvSpPr txBox="1"/>
          <p:nvPr/>
        </p:nvSpPr>
        <p:spPr>
          <a:xfrm>
            <a:off x="9002487" y="5253482"/>
            <a:ext cx="1305790" cy="1169551"/>
          </a:xfrm>
          <a:prstGeom prst="rect">
            <a:avLst/>
          </a:prstGeom>
          <a:noFill/>
        </p:spPr>
        <p:txBody>
          <a:bodyPr wrap="square" rtlCol="0">
            <a:spAutoFit/>
          </a:bodyPr>
          <a:lstStyle/>
          <a:p>
            <a:r>
              <a:rPr lang="en-GB" sz="1400" dirty="0"/>
              <a:t>They also had significantly less energy remaining in their faeces</a:t>
            </a:r>
            <a:endParaRPr lang="en-DK" sz="1400" dirty="0"/>
          </a:p>
        </p:txBody>
      </p:sp>
      <p:sp>
        <p:nvSpPr>
          <p:cNvPr id="13" name="TextBox 12">
            <a:extLst>
              <a:ext uri="{FF2B5EF4-FFF2-40B4-BE49-F238E27FC236}">
                <a16:creationId xmlns:a16="http://schemas.microsoft.com/office/drawing/2014/main" id="{CCC3AA88-8801-41F5-A725-6A220EC58816}"/>
              </a:ext>
            </a:extLst>
          </p:cNvPr>
          <p:cNvSpPr txBox="1"/>
          <p:nvPr/>
        </p:nvSpPr>
        <p:spPr>
          <a:xfrm>
            <a:off x="10308277" y="5253481"/>
            <a:ext cx="1883723" cy="1384995"/>
          </a:xfrm>
          <a:prstGeom prst="rect">
            <a:avLst/>
          </a:prstGeom>
          <a:noFill/>
        </p:spPr>
        <p:txBody>
          <a:bodyPr wrap="square" rtlCol="0">
            <a:spAutoFit/>
          </a:bodyPr>
          <a:lstStyle/>
          <a:p>
            <a:r>
              <a:rPr lang="en-GB" sz="1400" dirty="0"/>
              <a:t>Germ-free mice colonized with an obese mice microbiota exhibited significantly greater increase in body fat</a:t>
            </a:r>
            <a:endParaRPr lang="en-DK" sz="1400" dirty="0"/>
          </a:p>
        </p:txBody>
      </p:sp>
    </p:spTree>
    <p:extLst>
      <p:ext uri="{BB962C8B-B14F-4D97-AF65-F5344CB8AC3E}">
        <p14:creationId xmlns:p14="http://schemas.microsoft.com/office/powerpoint/2010/main" val="782816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a:xfrm>
            <a:off x="838200" y="45460"/>
            <a:ext cx="10515600" cy="1325563"/>
          </a:xfrm>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047999"/>
            <a:ext cx="4223657" cy="3693319"/>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Carriage of microbial taxa varies while metabolic pathways remain stable within a healthy population</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3"/>
          <a:stretch>
            <a:fillRect/>
          </a:stretch>
        </p:blipFill>
        <p:spPr>
          <a:xfrm>
            <a:off x="838200" y="1176481"/>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2642619"/>
            <a:ext cx="3796145"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5"/>
          <a:srcRect l="55959" t="96" r="13324" b="57234"/>
          <a:stretch>
            <a:fillRect/>
          </a:stretch>
        </p:blipFill>
        <p:spPr>
          <a:xfrm>
            <a:off x="6477002" y="1041581"/>
            <a:ext cx="3124198" cy="2916982"/>
          </a:xfrm>
          <a:prstGeom prst="rect">
            <a:avLst/>
          </a:prstGeom>
        </p:spPr>
      </p:pic>
      <p:pic>
        <p:nvPicPr>
          <p:cNvPr id="9218" name="Picture 2" descr="Figure 2">
            <a:extLst>
              <a:ext uri="{FF2B5EF4-FFF2-40B4-BE49-F238E27FC236}">
                <a16:creationId xmlns:a16="http://schemas.microsoft.com/office/drawing/2014/main" id="{6C0466F7-2F42-19E5-12C5-4751861D19D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53651" y="3958563"/>
            <a:ext cx="6756121"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61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3"/>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4"/>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5"/>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6"/>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619985" y="3989100"/>
            <a:ext cx="5376067" cy="2308324"/>
          </a:xfrm>
          <a:prstGeom prst="rect">
            <a:avLst/>
          </a:prstGeom>
          <a:noFill/>
        </p:spPr>
        <p:txBody>
          <a:bodyPr wrap="square" rtlCol="0">
            <a:spAutoFit/>
          </a:bodyPr>
          <a:lstStyle/>
          <a:p>
            <a:pPr marL="285750" indent="-285750">
              <a:buFont typeface="Arial" panose="020B0604020202020204" pitchFamily="34" charset="0"/>
              <a:buChar char="•"/>
            </a:pPr>
            <a:r>
              <a:rPr lang="en-GB" dirty="0"/>
              <a:t>Individuals with a low bacterial richness are characterized by more marked overall adiposity, insulin resistance and dyslipidaemia and a more pronounced inflammatory phenotype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DK" dirty="0"/>
              <a:t>Individuals with lower number of genes (gene richness) and higher BMI had less efficient weight loss when following a diet</a:t>
            </a:r>
          </a:p>
        </p:txBody>
      </p:sp>
    </p:spTree>
    <p:extLst>
      <p:ext uri="{BB962C8B-B14F-4D97-AF65-F5344CB8AC3E}">
        <p14:creationId xmlns:p14="http://schemas.microsoft.com/office/powerpoint/2010/main" val="2622805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3"/>
          <a:stretch>
            <a:fillRect/>
          </a:stretch>
        </p:blipFill>
        <p:spPr>
          <a:xfrm>
            <a:off x="474601" y="2374470"/>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4"/>
          <a:stretch>
            <a:fillRect/>
          </a:stretch>
        </p:blipFill>
        <p:spPr>
          <a:xfrm>
            <a:off x="3765251" y="1596849"/>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05181" y="3913206"/>
            <a:ext cx="3054639" cy="369332"/>
          </a:xfrm>
          <a:prstGeom prst="rect">
            <a:avLst/>
          </a:prstGeom>
          <a:noFill/>
        </p:spPr>
        <p:txBody>
          <a:bodyPr wrap="square" rtlCol="0">
            <a:spAutoFit/>
          </a:bodyPr>
          <a:lstStyle/>
          <a:p>
            <a:r>
              <a:rPr lang="en-GB" u="sng" dirty="0">
                <a:hlinkClick r:id="rId5"/>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6"/>
          <a:stretch>
            <a:fillRect/>
          </a:stretch>
        </p:blipFill>
        <p:spPr>
          <a:xfrm>
            <a:off x="8427385" y="2374470"/>
            <a:ext cx="3407942" cy="2924790"/>
          </a:xfrm>
          <a:prstGeom prst="rect">
            <a:avLst/>
          </a:prstGeom>
        </p:spPr>
      </p:pic>
      <p:sp>
        <p:nvSpPr>
          <p:cNvPr id="11" name="TextBox 10">
            <a:extLst>
              <a:ext uri="{FF2B5EF4-FFF2-40B4-BE49-F238E27FC236}">
                <a16:creationId xmlns:a16="http://schemas.microsoft.com/office/drawing/2014/main" id="{41E37838-3975-4D28-1A1C-6452607A9132}"/>
              </a:ext>
            </a:extLst>
          </p:cNvPr>
          <p:cNvSpPr txBox="1"/>
          <p:nvPr/>
        </p:nvSpPr>
        <p:spPr>
          <a:xfrm>
            <a:off x="4158343" y="5607106"/>
            <a:ext cx="4556702" cy="1200329"/>
          </a:xfrm>
          <a:prstGeom prst="rect">
            <a:avLst/>
          </a:prstGeom>
          <a:noFill/>
        </p:spPr>
        <p:txBody>
          <a:bodyPr wrap="square" rtlCol="0">
            <a:spAutoFit/>
          </a:bodyPr>
          <a:lstStyle/>
          <a:p>
            <a:r>
              <a:rPr lang="en-DK" dirty="0"/>
              <a:t>FMT succesfully used to cure </a:t>
            </a:r>
            <a:r>
              <a:rPr lang="en-DK" i="1" dirty="0"/>
              <a:t>Clostridioides difficile  </a:t>
            </a:r>
            <a:r>
              <a:rPr lang="en-DK" dirty="0"/>
              <a:t>infection with higher percentages of cured patients without relapse compared to the standard treatment (vancomycin)</a:t>
            </a:r>
          </a:p>
        </p:txBody>
      </p:sp>
      <p:sp>
        <p:nvSpPr>
          <p:cNvPr id="12" name="TextBox 11">
            <a:extLst>
              <a:ext uri="{FF2B5EF4-FFF2-40B4-BE49-F238E27FC236}">
                <a16:creationId xmlns:a16="http://schemas.microsoft.com/office/drawing/2014/main" id="{D9E8C210-F592-849E-A013-3E74A7C119F5}"/>
              </a:ext>
            </a:extLst>
          </p:cNvPr>
          <p:cNvSpPr txBox="1"/>
          <p:nvPr/>
        </p:nvSpPr>
        <p:spPr>
          <a:xfrm>
            <a:off x="9015206" y="5607106"/>
            <a:ext cx="3124921" cy="923330"/>
          </a:xfrm>
          <a:prstGeom prst="rect">
            <a:avLst/>
          </a:prstGeom>
          <a:noFill/>
        </p:spPr>
        <p:txBody>
          <a:bodyPr wrap="square" rtlCol="0">
            <a:spAutoFit/>
          </a:bodyPr>
          <a:lstStyle/>
          <a:p>
            <a:r>
              <a:rPr lang="en-DK" dirty="0"/>
              <a:t>Diversity (Simpson’s index) of patients after FMT resemble more the donors diversity</a:t>
            </a:r>
          </a:p>
        </p:txBody>
      </p:sp>
    </p:spTree>
    <p:extLst>
      <p:ext uri="{BB962C8B-B14F-4D97-AF65-F5344CB8AC3E}">
        <p14:creationId xmlns:p14="http://schemas.microsoft.com/office/powerpoint/2010/main" val="23303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3"/>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4"/>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5"/>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6"/>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7"/>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8"/>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3"/>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5"/>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69880"/>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a:t>
            </a:r>
            <a:r>
              <a:rPr lang="en-DK" sz="1600" dirty="0"/>
              <a:t>comprising host associated, aquatic, terrestrials, air and engineered microbiomes</a:t>
            </a:r>
            <a:endParaRPr lang="en-GB" sz="1600" dirty="0"/>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208075"/>
            <a:ext cx="11912494" cy="1325563"/>
          </a:xfrm>
        </p:spPr>
        <p:txBody>
          <a:bodyPr>
            <a:normAutofit fontScale="90000"/>
          </a:bodyPr>
          <a:lstStyle/>
          <a:p>
            <a:r>
              <a:rPr lang="en-GB" dirty="0"/>
              <a:t>Antimicrobial resistance is a major threat to global health!</a:t>
            </a:r>
            <a:br>
              <a:rPr lang="en-GB" dirty="0"/>
            </a:br>
            <a:endParaRPr lang="en-DK" dirty="0"/>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252" y="968828"/>
            <a:ext cx="6351019" cy="54675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393729" y="1329717"/>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684675" y="3006117"/>
            <a:ext cx="3502785" cy="523220"/>
          </a:xfrm>
          <a:prstGeom prst="rect">
            <a:avLst/>
          </a:prstGeom>
          <a:noFill/>
        </p:spPr>
        <p:txBody>
          <a:bodyPr wrap="square">
            <a:spAutoFit/>
          </a:bodyPr>
          <a:lstStyle/>
          <a:p>
            <a:r>
              <a:rPr lang="en-GB" sz="1400" b="0" i="0" dirty="0">
                <a:solidFill>
                  <a:srgbClr val="222222"/>
                </a:solidFill>
                <a:effectLst/>
                <a:latin typeface="-apple-system"/>
                <a:hlinkClick r:id="rId5"/>
              </a:rPr>
              <a:t>https://doi.org/10.1038/s41467-022-34312-7</a:t>
            </a:r>
            <a:br>
              <a:rPr lang="en-GB" sz="1400" b="0" i="0" dirty="0">
                <a:solidFill>
                  <a:srgbClr val="222222"/>
                </a:solidFill>
                <a:effectLst/>
                <a:latin typeface="-apple-system"/>
              </a:rPr>
            </a:b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393729" y="3529337"/>
            <a:ext cx="4876800" cy="3046988"/>
          </a:xfrm>
          <a:prstGeom prst="rect">
            <a:avLst/>
          </a:prstGeom>
          <a:noFill/>
        </p:spPr>
        <p:txBody>
          <a:bodyPr wrap="square" rtlCol="0">
            <a:spAutoFit/>
          </a:bodyPr>
          <a:lstStyle/>
          <a:p>
            <a:pPr marL="285750" indent="-285750">
              <a:buFont typeface="Arial" panose="020B0604020202020204" pitchFamily="34" charset="0"/>
              <a:buChar char="•"/>
            </a:pPr>
            <a:r>
              <a:rPr lang="en-DK" sz="1600" dirty="0"/>
              <a:t>The global resistome based on sewage-based monitoring </a:t>
            </a:r>
          </a:p>
          <a:p>
            <a:pPr marL="285750" indent="-285750">
              <a:buFont typeface="Arial" panose="020B0604020202020204" pitchFamily="34" charset="0"/>
              <a:buChar char="•"/>
            </a:pPr>
            <a:endParaRPr lang="en-DK" sz="1600" dirty="0"/>
          </a:p>
          <a:p>
            <a:pPr marL="285750" indent="-285750">
              <a:buFont typeface="Arial" panose="020B0604020202020204" pitchFamily="34" charset="0"/>
              <a:buChar char="•"/>
            </a:pPr>
            <a:r>
              <a:rPr lang="en-GB" sz="1600" dirty="0"/>
              <a:t>Metagenomic samples revealed regional patterns reflecting taxonomical changes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endParaRPr lang="en-GB" sz="1600" dirty="0"/>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3"/>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4"/>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293209"/>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a:t>
            </a:r>
            <a:r>
              <a:rPr lang="en-GB" sz="1600" dirty="0" err="1"/>
              <a:t>characteryzing</a:t>
            </a:r>
            <a:r>
              <a:rPr lang="en-GB" sz="1600" dirty="0"/>
              <a:t> microbial community's response to the oil spill</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were enriched in oil-impacted sediments (hydrocarbon degradation)</a:t>
            </a:r>
          </a:p>
          <a:p>
            <a:pPr marL="285750" indent="-285750">
              <a:buFont typeface="Arial" panose="020B0604020202020204" pitchFamily="34" charset="0"/>
              <a:buChar char="•"/>
            </a:pPr>
            <a:r>
              <a:rPr lang="en-GB" sz="1600" dirty="0"/>
              <a:t>An increase in genes associated with hydrocarbon degradation pathways (aliphatic and aromatic hydrocarbon breakdown), indicating adaptive microbial response to oil contamination</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a:xfrm>
            <a:off x="838200" y="0"/>
            <a:ext cx="10515600" cy="1325563"/>
          </a:xfrm>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429000"/>
            <a:ext cx="5907233" cy="2862322"/>
          </a:xfrm>
          <a:prstGeom prst="rect">
            <a:avLst/>
          </a:prstGeom>
          <a:noFill/>
        </p:spPr>
        <p:txBody>
          <a:bodyPr wrap="square">
            <a:spAutoFit/>
          </a:bodyPr>
          <a:lstStyle/>
          <a:p>
            <a:pPr marL="285750" indent="-285750">
              <a:buFont typeface="Arial" panose="020B0604020202020204" pitchFamily="34" charset="0"/>
              <a:buChar char="•"/>
            </a:pPr>
            <a:r>
              <a:rPr lang="en-GB" dirty="0" err="1"/>
              <a:t>Characteryzed</a:t>
            </a:r>
            <a:r>
              <a:rPr lang="en-GB" dirty="0"/>
              <a:t> ~1,000 non-redundant microbial genomes from the TARA Oceans metagenomes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Nitrogen fixation in the surface ocean impacts global marine nitrogen bioavailability and therefore the microbial primary productivity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Non-cyanobacterial diazotrophs inhabiting surface waters of the open ocean, which correspond to lineages within the Proteobacteria and Planctomycetes</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3"/>
          <a:stretch>
            <a:fillRect/>
          </a:stretch>
        </p:blipFill>
        <p:spPr>
          <a:xfrm>
            <a:off x="838200" y="1261501"/>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2988270"/>
            <a:ext cx="3429000"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5"/>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960F1-B1BB-E8E3-3228-E980DFF12D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225C38A-2803-AD9A-F314-369620F37C18}"/>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kern="1200" dirty="0">
                <a:solidFill>
                  <a:schemeClr val="tx2"/>
                </a:solidFill>
                <a:latin typeface="+mj-lt"/>
                <a:ea typeface="+mj-ea"/>
                <a:cs typeface="+mj-cs"/>
              </a:rPr>
              <a:t>What is metagenomics?</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522922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C9CE-127D-D690-3558-A9C1383FD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CB329-7BF2-57E6-064A-CF135147D23A}"/>
              </a:ext>
            </a:extLst>
          </p:cNvPr>
          <p:cNvSpPr>
            <a:spLocks noGrp="1"/>
          </p:cNvSpPr>
          <p:nvPr>
            <p:ph type="title"/>
          </p:nvPr>
        </p:nvSpPr>
        <p:spPr>
          <a:xfrm>
            <a:off x="838200" y="43666"/>
            <a:ext cx="10515600" cy="1325563"/>
          </a:xfrm>
        </p:spPr>
        <p:txBody>
          <a:bodyPr/>
          <a:lstStyle/>
          <a:p>
            <a:r>
              <a:rPr lang="en-DK" dirty="0"/>
              <a:t>Microbiome definition</a:t>
            </a:r>
          </a:p>
        </p:txBody>
      </p:sp>
      <p:grpSp>
        <p:nvGrpSpPr>
          <p:cNvPr id="14" name="Group 13">
            <a:extLst>
              <a:ext uri="{FF2B5EF4-FFF2-40B4-BE49-F238E27FC236}">
                <a16:creationId xmlns:a16="http://schemas.microsoft.com/office/drawing/2014/main" id="{94300B7E-941B-EA8D-4C91-F9746DFE3EB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1EE1188F-ED3E-7F60-A080-E89D1113C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5215208D-6680-FF0C-6642-62B0473929D2}"/>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33909467-114E-62A6-7DB6-7CB38A26F110}"/>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862A8746-B2D2-47C7-6DB6-1FDB5FAE8D3B}"/>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4028800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organism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37100-9D0F-9772-25FC-7B5B06C1E9E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A00650-474D-1517-DBED-10F69EF61C04}"/>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1406C47C-5AD3-A886-C085-59304A337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6B3564-2302-A7C1-5EA0-517D4126E2DA}"/>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spTree>
    <p:extLst>
      <p:ext uri="{BB962C8B-B14F-4D97-AF65-F5344CB8AC3E}">
        <p14:creationId xmlns:p14="http://schemas.microsoft.com/office/powerpoint/2010/main" val="340917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1781693898"/>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a:xfrm>
            <a:off x="5568534" y="603504"/>
            <a:ext cx="5916169" cy="1527048"/>
          </a:xfrm>
        </p:spPr>
        <p:txBody>
          <a:bodyPr anchor="b">
            <a:normAutofit/>
          </a:bodyPr>
          <a:lstStyle/>
          <a:p>
            <a:r>
              <a:rPr lang="en-DK" dirty="0"/>
              <a:t>What is Metagenomics?</a:t>
            </a:r>
          </a:p>
        </p:txBody>
      </p:sp>
      <p:pic>
        <p:nvPicPr>
          <p:cNvPr id="5" name="Picture 4" descr="Microscopic view of cells">
            <a:extLst>
              <a:ext uri="{FF2B5EF4-FFF2-40B4-BE49-F238E27FC236}">
                <a16:creationId xmlns:a16="http://schemas.microsoft.com/office/drawing/2014/main" id="{EA9BCD2A-FB0B-80F5-0F95-6CDBF774ADA5}"/>
              </a:ext>
            </a:extLst>
          </p:cNvPr>
          <p:cNvPicPr>
            <a:picLocks noChangeAspect="1"/>
          </p:cNvPicPr>
          <p:nvPr/>
        </p:nvPicPr>
        <p:blipFill>
          <a:blip r:embed="rId2"/>
          <a:srcRect l="20350" r="25950"/>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a:xfrm>
            <a:off x="5568533" y="2214282"/>
            <a:ext cx="5916169" cy="4095078"/>
          </a:xfrm>
        </p:spPr>
        <p:txBody>
          <a:bodyPr>
            <a:normAutofit/>
          </a:bodyPr>
          <a:lstStyle/>
          <a:p>
            <a:r>
              <a:rPr lang="en-DK" sz="1800" dirty="0"/>
              <a:t>Study of the genetic material sampled directly from the environment (fecal, skin, soil, marine,… samples)</a:t>
            </a:r>
          </a:p>
          <a:p>
            <a:r>
              <a:rPr lang="en-DK" sz="1800" dirty="0"/>
              <a:t>No need of culturing organisms – many of the organisms that we characterize can not even be cultured</a:t>
            </a:r>
          </a:p>
          <a:p>
            <a:r>
              <a:rPr lang="en-DK" sz="1800" dirty="0"/>
              <a:t>Uses </a:t>
            </a:r>
            <a:r>
              <a:rPr lang="en-GB" sz="1800" dirty="0"/>
              <a:t>high-throughput DNA sequencing to </a:t>
            </a:r>
            <a:r>
              <a:rPr lang="en-GB" sz="1800" dirty="0" err="1"/>
              <a:t>analyze</a:t>
            </a:r>
            <a:r>
              <a:rPr lang="en-GB" sz="1800" dirty="0"/>
              <a:t> microbial diversity, function, and microbial interactions</a:t>
            </a:r>
          </a:p>
        </p:txBody>
      </p:sp>
    </p:spTree>
    <p:extLst>
      <p:ext uri="{BB962C8B-B14F-4D97-AF65-F5344CB8AC3E}">
        <p14:creationId xmlns:p14="http://schemas.microsoft.com/office/powerpoint/2010/main" val="2042435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a:xfrm>
            <a:off x="838200" y="-842"/>
            <a:ext cx="10515600" cy="1325563"/>
          </a:xfrm>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5887139" y="1065179"/>
            <a:ext cx="1955563" cy="646331"/>
          </a:xfrm>
          <a:prstGeom prst="rect">
            <a:avLst/>
          </a:prstGeom>
          <a:noFill/>
        </p:spPr>
        <p:txBody>
          <a:bodyPr wrap="square" rtlCol="0">
            <a:spAutoFit/>
          </a:bodyPr>
          <a:lstStyle/>
          <a:p>
            <a:r>
              <a:rPr lang="en-DK" b="1" dirty="0"/>
              <a:t>DNA Extraction</a:t>
            </a:r>
          </a:p>
          <a:p>
            <a:r>
              <a:rPr lang="en-DK" dirty="0"/>
              <a:t>different kits</a:t>
            </a:r>
          </a:p>
        </p:txBody>
      </p:sp>
      <p:sp>
        <p:nvSpPr>
          <p:cNvPr id="7" name="TextBox 6">
            <a:extLst>
              <a:ext uri="{FF2B5EF4-FFF2-40B4-BE49-F238E27FC236}">
                <a16:creationId xmlns:a16="http://schemas.microsoft.com/office/drawing/2014/main" id="{4A093191-604C-DC55-7298-739A9AC07B67}"/>
              </a:ext>
            </a:extLst>
          </p:cNvPr>
          <p:cNvSpPr txBox="1"/>
          <p:nvPr/>
        </p:nvSpPr>
        <p:spPr>
          <a:xfrm>
            <a:off x="2442166" y="1083447"/>
            <a:ext cx="1955572" cy="1200329"/>
          </a:xfrm>
          <a:prstGeom prst="rect">
            <a:avLst/>
          </a:prstGeom>
          <a:noFill/>
        </p:spPr>
        <p:txBody>
          <a:bodyPr wrap="square" rtlCol="0">
            <a:spAutoFit/>
          </a:bodyPr>
          <a:lstStyle/>
          <a:p>
            <a:r>
              <a:rPr lang="en-DK" b="1" dirty="0"/>
              <a:t>DNA Sampling</a:t>
            </a:r>
          </a:p>
          <a:p>
            <a:r>
              <a:rPr lang="en-DK" dirty="0"/>
              <a:t>spatula, swabs, filtration units, soil cores,…</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083447"/>
            <a:ext cx="1648691" cy="1200329"/>
          </a:xfrm>
          <a:prstGeom prst="rect">
            <a:avLst/>
          </a:prstGeom>
          <a:noFill/>
        </p:spPr>
        <p:txBody>
          <a:bodyPr wrap="square" rtlCol="0">
            <a:spAutoFit/>
          </a:bodyPr>
          <a:lstStyle/>
          <a:p>
            <a:r>
              <a:rPr lang="en-DK" b="1" dirty="0"/>
              <a:t>DNA Storage</a:t>
            </a:r>
          </a:p>
          <a:p>
            <a:r>
              <a:rPr lang="en-DK" dirty="0"/>
              <a:t>freezing, preservation buffers,…</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264234" y="926679"/>
            <a:ext cx="2951373" cy="923330"/>
          </a:xfrm>
          <a:prstGeom prst="rect">
            <a:avLst/>
          </a:prstGeom>
          <a:noFill/>
        </p:spPr>
        <p:txBody>
          <a:bodyPr wrap="square" rtlCol="0">
            <a:spAutoFit/>
          </a:bodyPr>
          <a:lstStyle/>
          <a:p>
            <a:r>
              <a:rPr lang="en-DK" b="1" dirty="0"/>
              <a:t>DNA Sequencing</a:t>
            </a:r>
          </a:p>
          <a:p>
            <a:r>
              <a:rPr lang="en-DK" dirty="0"/>
              <a:t>library prep - fragmented DNA tagged with adapters </a:t>
            </a:r>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1477328"/>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characterization of the sequenced reads (</a:t>
            </a:r>
            <a:r>
              <a:rPr lang="en-US" sz="1800" dirty="0" err="1">
                <a:latin typeface="Calibri" charset="0"/>
                <a:ea typeface="Calibri" charset="0"/>
                <a:cs typeface="Calibri" charset="0"/>
              </a:rPr>
              <a:t>fastQ</a:t>
            </a:r>
            <a:r>
              <a:rPr lang="en-US" sz="1800" dirty="0">
                <a:latin typeface="Calibri" charset="0"/>
                <a:ea typeface="Calibri" charset="0"/>
                <a:cs typeface="Calibri" charset="0"/>
              </a:rPr>
              <a:t> files)</a:t>
            </a: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representative and uncontaminated snapshot of a microbial community in a specific environment (e.g., gut, soil, water, skin,…)</a:t>
            </a:r>
          </a:p>
          <a:p>
            <a:r>
              <a:rPr lang="en-GB" sz="1800" dirty="0"/>
              <a:t>Sterile tools and containers need to be used</a:t>
            </a:r>
          </a:p>
          <a:p>
            <a:r>
              <a:rPr lang="en-GB" sz="1800" dirty="0"/>
              <a:t>Microbial DNA can degrade rapidly. A good preservation ensures the microbial community structure remains as close to in situ as possible.</a:t>
            </a:r>
          </a:p>
          <a:p>
            <a:pPr lvl="1"/>
            <a:r>
              <a:rPr lang="en-DK" sz="1800" dirty="0"/>
              <a:t>Freezing (-20 to -80C) for long-term storage</a:t>
            </a:r>
          </a:p>
          <a:p>
            <a:pPr lvl="1"/>
            <a:r>
              <a:rPr lang="en-DK" sz="1800" dirty="0"/>
              <a:t>Preservation buffers if freezing is delayed</a:t>
            </a:r>
          </a:p>
          <a:p>
            <a:r>
              <a:rPr lang="en-GB" sz="1800" dirty="0"/>
              <a:t>For sample transportation use cold chain logistics (ice packs, dry ice, liquid nitrogen)</a:t>
            </a:r>
          </a:p>
          <a:p>
            <a:r>
              <a:rPr lang="en-GB" sz="1800" dirty="0"/>
              <a:t>Label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075893" y="121885"/>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p>
          <a:p>
            <a:pPr lvl="2"/>
            <a:r>
              <a:rPr lang="en-GB" sz="1400" dirty="0"/>
              <a:t>Mechanical disruption (Bead beating)</a:t>
            </a:r>
          </a:p>
          <a:p>
            <a:pPr lvl="2"/>
            <a:r>
              <a:rPr lang="en-GB" sz="1400" dirty="0"/>
              <a:t>Chemical/enzymatic lysis (detergent/</a:t>
            </a:r>
            <a:r>
              <a:rPr lang="en-GB" sz="1400" dirty="0" err="1"/>
              <a:t>enzyms</a:t>
            </a:r>
            <a:r>
              <a:rPr lang="en-GB" sz="1400" dirty="0"/>
              <a:t> (lysozyme, proteinase K, </a:t>
            </a:r>
            <a:r>
              <a:rPr lang="en-GB" sz="1400" dirty="0" err="1"/>
              <a:t>Rnase</a:t>
            </a:r>
            <a:r>
              <a:rPr lang="en-GB" sz="1400" dirty="0"/>
              <a:t>)</a:t>
            </a:r>
          </a:p>
          <a:p>
            <a:pPr marL="457200" lvl="1" indent="0">
              <a:buNone/>
            </a:pP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a:t>
            </a:r>
            <a:r>
              <a:rPr lang="en-GB" sz="1800" b="1" dirty="0"/>
              <a:t>controls</a:t>
            </a:r>
            <a:r>
              <a:rPr lang="en-GB" sz="1800" dirty="0"/>
              <a:t> (e.g., mock communities)</a:t>
            </a:r>
          </a:p>
          <a:p>
            <a:r>
              <a:rPr lang="en-GB" sz="1800" dirty="0"/>
              <a:t>Choose </a:t>
            </a:r>
            <a:r>
              <a:rPr lang="en-GB" sz="1800" b="1" dirty="0"/>
              <a:t>depth</a:t>
            </a:r>
            <a:r>
              <a:rPr lang="en-GB" sz="1800" dirty="0"/>
              <a:t> wisely: deeper for complex samples or analysis (e.g., soil, strain resolution, single nucleotide variants(SNVs)), shallower for simpler ones</a:t>
            </a:r>
          </a:p>
          <a:p>
            <a:r>
              <a:rPr lang="en-GB" sz="1800" dirty="0"/>
              <a:t>Paired-end sequencing from Illumina:</a:t>
            </a:r>
            <a:endParaRPr lang="en-GB" sz="1800" dirty="0">
              <a:hlinkClick r:id="rId3"/>
            </a:endParaRPr>
          </a:p>
          <a:p>
            <a:pPr lvl="1"/>
            <a:r>
              <a:rPr lang="en-GB" sz="1400" dirty="0">
                <a:hlinkClick r:id="rId3"/>
              </a:rPr>
              <a:t>https://www.youtube.com/watch?v=HMyCqWhwB8E</a:t>
            </a:r>
            <a:endParaRPr lang="en-GB" sz="14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4"/>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E7006-384C-EC21-3B66-C7C6C06C8D0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8A35C66-8DDE-D2EF-F9BD-92AEAC6CFE1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Taxonomical profiling</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5225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(metabarcoding).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Shotgun Metagenomics-based Profiling: whole-genome sequencing data</a:t>
            </a:r>
          </a:p>
          <a:p>
            <a:pPr lvl="2"/>
            <a:r>
              <a:rPr lang="en-GB" dirty="0"/>
              <a:t>Read-based methods: direct mapping of reads to genes, proteins or genomes</a:t>
            </a:r>
          </a:p>
          <a:p>
            <a:pPr lvl="2"/>
            <a:r>
              <a:rPr lang="en-GB" dirty="0"/>
              <a:t>Assembly-based methods</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5999292"/>
            <a:ext cx="6476487" cy="738664"/>
          </a:xfrm>
          <a:prstGeom prst="rect">
            <a:avLst/>
          </a:prstGeom>
          <a:noFill/>
        </p:spPr>
        <p:txBody>
          <a:bodyPr wrap="square" rtlCol="0">
            <a:spAutoFit/>
          </a:bodyPr>
          <a:lstStyle/>
          <a:p>
            <a:r>
              <a:rPr lang="en-GB" sz="1400" dirty="0"/>
              <a:t>Universal phylogenetic tree based on the 16S rRNA gene sequence comparisons. Pace, N. A molecular view of microbial diversity and the biosphere.</a:t>
            </a:r>
          </a:p>
          <a:p>
            <a:r>
              <a:rPr lang="en-GB" sz="1400" dirty="0"/>
              <a:t>Science276:734-740. 1997.</a:t>
            </a:r>
            <a:endParaRPr lang="en-DK" sz="1400"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3"/>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564727"/>
            <a:ext cx="4294909" cy="3416320"/>
          </a:xfrm>
          <a:prstGeom prst="rect">
            <a:avLst/>
          </a:prstGeom>
          <a:noFill/>
        </p:spPr>
        <p:txBody>
          <a:bodyPr wrap="square" rtlCol="0">
            <a:spAutoFit/>
          </a:bodyPr>
          <a:lstStyle/>
          <a:p>
            <a:pPr marL="285750" indent="-285750">
              <a:buFont typeface="Arial" panose="020B0604020202020204" pitchFamily="34" charset="0"/>
              <a:buChar char="•"/>
            </a:pPr>
            <a:r>
              <a:rPr lang="en-DK" dirty="0"/>
              <a:t>16S rRNA gene is an ancient gene that </a:t>
            </a:r>
            <a:r>
              <a:rPr lang="en-GB" dirty="0"/>
              <a:t>encodes the RNA component of the small (30S) subunit of the prokaryotic ribosome</a:t>
            </a:r>
          </a:p>
          <a:p>
            <a:pPr marL="285750" indent="-285750">
              <a:buFont typeface="Arial" panose="020B0604020202020204" pitchFamily="34" charset="0"/>
              <a:buChar char="•"/>
            </a:pPr>
            <a:r>
              <a:rPr lang="en-DK" dirty="0"/>
              <a:t>As it is conserved in many organisms, traditionally  used to infer phylogenetic trees to figure out species evolution</a:t>
            </a:r>
            <a:endParaRPr lang="en-GB" dirty="0"/>
          </a:p>
          <a:p>
            <a:pPr marL="285750" indent="-285750">
              <a:buFont typeface="Arial" panose="020B0604020202020204" pitchFamily="34" charset="0"/>
              <a:buChar char="•"/>
            </a:pPr>
            <a:r>
              <a:rPr lang="en-GB" dirty="0"/>
              <a:t>Present also in mitochondria and chloroplasts of eukaryotes</a:t>
            </a:r>
            <a:endParaRPr lang="en-DK" dirty="0"/>
          </a:p>
          <a:p>
            <a:pPr marL="285750" indent="-285750">
              <a:buFont typeface="Arial" panose="020B0604020202020204" pitchFamily="34" charset="0"/>
              <a:buChar char="•"/>
            </a:pPr>
            <a:r>
              <a:rPr lang="en-DK" dirty="0"/>
              <a:t>Conserved an variable regions (easy to find and amplify) with some unique variable regions (to tag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58891" y="4088769"/>
            <a:ext cx="4880898" cy="19105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8FDF629-F052-5196-DB76-87BC09CF03F5}"/>
              </a:ext>
            </a:extLst>
          </p:cNvPr>
          <p:cNvSpPr txBox="1"/>
          <p:nvPr/>
        </p:nvSpPr>
        <p:spPr>
          <a:xfrm>
            <a:off x="8431481" y="6107014"/>
            <a:ext cx="5438898" cy="523220"/>
          </a:xfrm>
          <a:prstGeom prst="rect">
            <a:avLst/>
          </a:prstGeom>
          <a:noFill/>
        </p:spPr>
        <p:txBody>
          <a:bodyPr wrap="square" rtlCol="0">
            <a:spAutoFit/>
          </a:bodyPr>
          <a:lstStyle/>
          <a:p>
            <a:r>
              <a:rPr lang="en-GB" sz="1400" dirty="0"/>
              <a:t> </a:t>
            </a:r>
            <a:r>
              <a:rPr lang="en-GB" sz="1400" i="1" dirty="0"/>
              <a:t>J Clin Invest.</a:t>
            </a:r>
            <a:r>
              <a:rPr lang="en-GB" sz="1400" dirty="0"/>
              <a:t> 2022;</a:t>
            </a:r>
            <a:r>
              <a:rPr lang="en-GB" sz="1400" dirty="0">
                <a:hlinkClick r:id="rId5"/>
              </a:rPr>
              <a:t>132(7)</a:t>
            </a:r>
            <a:r>
              <a:rPr lang="en-GB" sz="1400" dirty="0"/>
              <a:t>:e154944.</a:t>
            </a:r>
          </a:p>
          <a:p>
            <a:r>
              <a:rPr lang="en-GB" sz="1400" dirty="0"/>
              <a:t> </a:t>
            </a:r>
            <a:r>
              <a:rPr lang="en-GB" sz="1400" dirty="0">
                <a:hlinkClick r:id="rId6"/>
              </a:rPr>
              <a:t>https://doi.org/10.1172/JCI154944</a:t>
            </a:r>
            <a:r>
              <a:rPr lang="en-GB" sz="1400" dirty="0"/>
              <a:t>.</a:t>
            </a:r>
            <a:endParaRPr lang="en-DK" sz="1400" dirty="0"/>
          </a:p>
        </p:txBody>
      </p:sp>
    </p:spTree>
    <p:extLst>
      <p:ext uri="{BB962C8B-B14F-4D97-AF65-F5344CB8AC3E}">
        <p14:creationId xmlns:p14="http://schemas.microsoft.com/office/powerpoint/2010/main" val="102451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680864" y="4907362"/>
            <a:ext cx="2511136" cy="1754326"/>
          </a:xfrm>
          <a:prstGeom prst="rect">
            <a:avLst/>
          </a:prstGeom>
          <a:noFill/>
        </p:spPr>
        <p:txBody>
          <a:bodyPr wrap="square" rtlCol="0">
            <a:spAutoFit/>
          </a:bodyPr>
          <a:lstStyle/>
          <a:p>
            <a:r>
              <a:rPr lang="en-DK" dirty="0"/>
              <a:t>Abundance table of operational taxonomic units (OTUs) or amplicon sequence variants (ASVs) – resolution up to Genus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OTUs/ASVs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695638" y="2105976"/>
            <a:ext cx="230925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3303" y="303789"/>
            <a:ext cx="1367047" cy="450698"/>
          </a:xfrm>
          <a:prstGeom prst="rect">
            <a:avLst/>
          </a:prstGeom>
          <a:noFill/>
          <a:extLst>
            <a:ext uri="{909E8E84-426E-40DD-AFC4-6F175D3DCCD1}">
              <a14:hiddenFill xmlns:a14="http://schemas.microsoft.com/office/drawing/2010/main">
                <a:solidFill>
                  <a:srgbClr val="FFFFFF"/>
                </a:solidFill>
              </a14:hiddenFill>
            </a:ext>
          </a:extLst>
        </p:spPr>
      </p:pic>
      <p:sp>
        <p:nvSpPr>
          <p:cNvPr id="93" name="TextBox 92">
            <a:extLst>
              <a:ext uri="{FF2B5EF4-FFF2-40B4-BE49-F238E27FC236}">
                <a16:creationId xmlns:a16="http://schemas.microsoft.com/office/drawing/2014/main" id="{7A12ECE4-5277-AFE1-86E2-6139A52112F5}"/>
              </a:ext>
            </a:extLst>
          </p:cNvPr>
          <p:cNvSpPr txBox="1"/>
          <p:nvPr/>
        </p:nvSpPr>
        <p:spPr>
          <a:xfrm>
            <a:off x="7564675" y="755171"/>
            <a:ext cx="2270817" cy="1169551"/>
          </a:xfrm>
          <a:prstGeom prst="rect">
            <a:avLst/>
          </a:prstGeom>
          <a:noFill/>
        </p:spPr>
        <p:txBody>
          <a:bodyPr wrap="square" rtlCol="0">
            <a:spAutoFit/>
          </a:bodyPr>
          <a:lstStyle/>
          <a:p>
            <a:r>
              <a:rPr lang="en-GB" sz="1400" dirty="0"/>
              <a:t>assign taxonomy directly to the amplicon sequence variants therefore allowing more precise taxonomic placement than OTUs</a:t>
            </a:r>
            <a:endParaRPr lang="en-DK" sz="1400" dirty="0"/>
          </a:p>
        </p:txBody>
      </p:sp>
    </p:spTree>
    <p:extLst>
      <p:ext uri="{BB962C8B-B14F-4D97-AF65-F5344CB8AC3E}">
        <p14:creationId xmlns:p14="http://schemas.microsoft.com/office/powerpoint/2010/main" val="477317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558583" y="1626987"/>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724810" y="293704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484099" y="4061515"/>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283506"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128633"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3588306"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3775342"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172669"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045506"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345851"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3622942"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350306"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3712997"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117251"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4689742"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391869"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281033"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384942"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308742"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172668"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345850"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117250"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059361"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464649" y="5829298"/>
            <a:ext cx="2512875" cy="923330"/>
          </a:xfrm>
          <a:prstGeom prst="rect">
            <a:avLst/>
          </a:prstGeom>
          <a:noFill/>
        </p:spPr>
        <p:txBody>
          <a:bodyPr wrap="square" rtlCol="0">
            <a:spAutoFit/>
          </a:bodyPr>
          <a:lstStyle/>
          <a:p>
            <a:r>
              <a:rPr lang="en-DK" dirty="0"/>
              <a:t>Microbial genomes in your sample from different organisms</a:t>
            </a:r>
          </a:p>
        </p:txBody>
      </p:sp>
      <p:sp>
        <p:nvSpPr>
          <p:cNvPr id="47" name="TextBox 46">
            <a:extLst>
              <a:ext uri="{FF2B5EF4-FFF2-40B4-BE49-F238E27FC236}">
                <a16:creationId xmlns:a16="http://schemas.microsoft.com/office/drawing/2014/main" id="{D7136B39-DF79-F5AA-46F9-F742D45238F7}"/>
              </a:ext>
            </a:extLst>
          </p:cNvPr>
          <p:cNvSpPr txBox="1"/>
          <p:nvPr/>
        </p:nvSpPr>
        <p:spPr>
          <a:xfrm>
            <a:off x="2917822" y="5427973"/>
            <a:ext cx="2661575" cy="1477328"/>
          </a:xfrm>
          <a:prstGeom prst="rect">
            <a:avLst/>
          </a:prstGeom>
          <a:noFill/>
        </p:spPr>
        <p:txBody>
          <a:bodyPr wrap="square" rtlCol="0">
            <a:spAutoFit/>
          </a:bodyPr>
          <a:lstStyle/>
          <a:p>
            <a:r>
              <a:rPr lang="en-DK" dirty="0"/>
              <a:t>Randomly shattering them into fragments of relatively equal length (150-300 bps) -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5774394" y="5737800"/>
            <a:ext cx="2661575" cy="646331"/>
          </a:xfrm>
          <a:prstGeom prst="rect">
            <a:avLst/>
          </a:prstGeom>
          <a:noFill/>
        </p:spPr>
        <p:txBody>
          <a:bodyPr wrap="square" rtlCol="0">
            <a:spAutoFit/>
          </a:bodyPr>
          <a:lstStyle/>
          <a:p>
            <a:r>
              <a:rPr lang="en-DK" dirty="0"/>
              <a:t>Sequence all fragments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6327453" y="300901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5903075" y="3143447"/>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5867917" y="367126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6588348" y="4390952"/>
            <a:ext cx="1963881" cy="246221"/>
          </a:xfrm>
          <a:prstGeom prst="rect">
            <a:avLst/>
          </a:prstGeom>
          <a:noFill/>
        </p:spPr>
        <p:txBody>
          <a:bodyPr wrap="square" rtlCol="0">
            <a:spAutoFit/>
          </a:bodyPr>
          <a:lstStyle/>
          <a:p>
            <a:r>
              <a:rPr lang="en-DK" sz="1000" b="1" dirty="0">
                <a:solidFill>
                  <a:schemeClr val="tx2">
                    <a:lumMod val="75000"/>
                    <a:lumOff val="25000"/>
                  </a:schemeClr>
                </a:solidFill>
              </a:rPr>
              <a:t>ATCAACACCGAGATATGC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5964903"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TACAACCGAGATGC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6900059" y="469641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5836745"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7" y="489019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407372268"/>
              </p:ext>
            </p:extLst>
          </p:nvPr>
        </p:nvGraphicFramePr>
        <p:xfrm>
          <a:off x="9578842" y="4844095"/>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224841" y="6149957"/>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7575485" y="267026"/>
            <a:ext cx="4574931" cy="646331"/>
          </a:xfrm>
          <a:prstGeom prst="rect">
            <a:avLst/>
          </a:prstGeom>
          <a:noFill/>
        </p:spPr>
        <p:txBody>
          <a:bodyPr wrap="square" rtlCol="0">
            <a:spAutoFit/>
          </a:bodyPr>
          <a:lstStyle/>
          <a:p>
            <a:r>
              <a:rPr lang="en-DK" dirty="0"/>
              <a:t>Read mapping to know  genomes, specific marker genes (BLAST, bowtie2, DIAMOND)</a:t>
            </a:r>
          </a:p>
        </p:txBody>
      </p:sp>
      <p:sp>
        <p:nvSpPr>
          <p:cNvPr id="70" name="TextBox 69">
            <a:extLst>
              <a:ext uri="{FF2B5EF4-FFF2-40B4-BE49-F238E27FC236}">
                <a16:creationId xmlns:a16="http://schemas.microsoft.com/office/drawing/2014/main" id="{66E316CC-DFF9-0D22-69C0-E2055AE564C5}"/>
              </a:ext>
            </a:extLst>
          </p:cNvPr>
          <p:cNvSpPr txBox="1"/>
          <p:nvPr/>
        </p:nvSpPr>
        <p:spPr>
          <a:xfrm>
            <a:off x="9534072" y="4519613"/>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8565442" y="5050133"/>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547012" y="986535"/>
            <a:ext cx="4205096" cy="369332"/>
          </a:xfrm>
          <a:prstGeom prst="rect">
            <a:avLst/>
          </a:prstGeom>
          <a:noFill/>
        </p:spPr>
        <p:txBody>
          <a:bodyPr wrap="square" rtlCol="0">
            <a:spAutoFit/>
          </a:bodyPr>
          <a:lstStyle/>
          <a:p>
            <a:r>
              <a:rPr lang="en-DK" dirty="0"/>
              <a:t>Genome (Kraken 2, Centrifuge,</a:t>
            </a:r>
            <a:r>
              <a:rPr lang="en-GB" b="1" dirty="0"/>
              <a:t> </a:t>
            </a:r>
            <a:r>
              <a:rPr lang="en-GB" dirty="0"/>
              <a:t>GTDB</a:t>
            </a:r>
            <a:r>
              <a:rPr lang="en-DK" dirty="0"/>
              <a:t>)</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570288" y="1716293"/>
            <a:ext cx="4669337" cy="369332"/>
          </a:xfrm>
          <a:prstGeom prst="rect">
            <a:avLst/>
          </a:prstGeom>
          <a:noFill/>
        </p:spPr>
        <p:txBody>
          <a:bodyPr wrap="square" rtlCol="0">
            <a:spAutoFit/>
          </a:bodyPr>
          <a:lstStyle/>
          <a:p>
            <a:r>
              <a:rPr lang="en-DK" dirty="0"/>
              <a:t>Clade-specific Marker genes (Metahphlan v4)</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8958854" y="3508829"/>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9919787" y="3004161"/>
            <a:ext cx="2242580" cy="1569660"/>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sample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
        <p:nvSpPr>
          <p:cNvPr id="90" name="TextBox 89">
            <a:extLst>
              <a:ext uri="{FF2B5EF4-FFF2-40B4-BE49-F238E27FC236}">
                <a16:creationId xmlns:a16="http://schemas.microsoft.com/office/drawing/2014/main" id="{58FF5699-A88A-65DA-18B2-A0500B8EF4BA}"/>
              </a:ext>
            </a:extLst>
          </p:cNvPr>
          <p:cNvSpPr txBox="1"/>
          <p:nvPr/>
        </p:nvSpPr>
        <p:spPr>
          <a:xfrm>
            <a:off x="9919786" y="2327463"/>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1" name="TextBox 90">
            <a:extLst>
              <a:ext uri="{FF2B5EF4-FFF2-40B4-BE49-F238E27FC236}">
                <a16:creationId xmlns:a16="http://schemas.microsoft.com/office/drawing/2014/main" id="{69972474-5440-B27B-089D-0BAC42BF256C}"/>
              </a:ext>
            </a:extLst>
          </p:cNvPr>
          <p:cNvSpPr txBox="1"/>
          <p:nvPr/>
        </p:nvSpPr>
        <p:spPr>
          <a:xfrm>
            <a:off x="10966383" y="2313227"/>
            <a:ext cx="1963881" cy="215444"/>
          </a:xfrm>
          <a:prstGeom prst="rect">
            <a:avLst/>
          </a:prstGeom>
          <a:noFill/>
        </p:spPr>
        <p:txBody>
          <a:bodyPr wrap="square" rtlCol="0">
            <a:spAutoFit/>
          </a:bodyPr>
          <a:lstStyle/>
          <a:p>
            <a:r>
              <a:rPr lang="en-DK" sz="800" b="1" dirty="0">
                <a:solidFill>
                  <a:schemeClr val="tx2">
                    <a:lumMod val="75000"/>
                    <a:lumOff val="25000"/>
                  </a:schemeClr>
                </a:solidFill>
              </a:rPr>
              <a:t>ATCTTCA</a:t>
            </a:r>
          </a:p>
        </p:txBody>
      </p:sp>
      <p:sp>
        <p:nvSpPr>
          <p:cNvPr id="92" name="TextBox 91">
            <a:extLst>
              <a:ext uri="{FF2B5EF4-FFF2-40B4-BE49-F238E27FC236}">
                <a16:creationId xmlns:a16="http://schemas.microsoft.com/office/drawing/2014/main" id="{0520FE48-4819-5C75-E8BD-0218520F7A6B}"/>
              </a:ext>
            </a:extLst>
          </p:cNvPr>
          <p:cNvSpPr txBox="1"/>
          <p:nvPr/>
        </p:nvSpPr>
        <p:spPr>
          <a:xfrm>
            <a:off x="7897806" y="2448815"/>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3" name="TextBox 92">
            <a:extLst>
              <a:ext uri="{FF2B5EF4-FFF2-40B4-BE49-F238E27FC236}">
                <a16:creationId xmlns:a16="http://schemas.microsoft.com/office/drawing/2014/main" id="{7514F333-920D-8A70-6BCF-FA2DA809098C}"/>
              </a:ext>
            </a:extLst>
          </p:cNvPr>
          <p:cNvSpPr txBox="1"/>
          <p:nvPr/>
        </p:nvSpPr>
        <p:spPr>
          <a:xfrm>
            <a:off x="7898335" y="2573930"/>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4" name="TextBox 93">
            <a:extLst>
              <a:ext uri="{FF2B5EF4-FFF2-40B4-BE49-F238E27FC236}">
                <a16:creationId xmlns:a16="http://schemas.microsoft.com/office/drawing/2014/main" id="{2ED368A1-1063-5156-EACE-4D8C47486BD5}"/>
              </a:ext>
            </a:extLst>
          </p:cNvPr>
          <p:cNvSpPr txBox="1"/>
          <p:nvPr/>
        </p:nvSpPr>
        <p:spPr>
          <a:xfrm>
            <a:off x="9919786" y="2452927"/>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5" name="TextBox 94">
            <a:extLst>
              <a:ext uri="{FF2B5EF4-FFF2-40B4-BE49-F238E27FC236}">
                <a16:creationId xmlns:a16="http://schemas.microsoft.com/office/drawing/2014/main" id="{5CF85F73-9979-ED4E-8E22-ADB350E3D213}"/>
              </a:ext>
            </a:extLst>
          </p:cNvPr>
          <p:cNvSpPr txBox="1"/>
          <p:nvPr/>
        </p:nvSpPr>
        <p:spPr>
          <a:xfrm>
            <a:off x="9919786" y="2576909"/>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
        <p:nvSpPr>
          <p:cNvPr id="96" name="TextBox 95">
            <a:extLst>
              <a:ext uri="{FF2B5EF4-FFF2-40B4-BE49-F238E27FC236}">
                <a16:creationId xmlns:a16="http://schemas.microsoft.com/office/drawing/2014/main" id="{3CC0041E-2152-0B3B-F37B-59FFBAE86461}"/>
              </a:ext>
            </a:extLst>
          </p:cNvPr>
          <p:cNvSpPr txBox="1"/>
          <p:nvPr/>
        </p:nvSpPr>
        <p:spPr>
          <a:xfrm>
            <a:off x="7967549" y="2729638"/>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Tree>
    <p:extLst>
      <p:ext uri="{BB962C8B-B14F-4D97-AF65-F5344CB8AC3E}">
        <p14:creationId xmlns:p14="http://schemas.microsoft.com/office/powerpoint/2010/main" val="826752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587084296"/>
              </p:ext>
            </p:extLst>
          </p:nvPr>
        </p:nvGraphicFramePr>
        <p:xfrm>
          <a:off x="1383468" y="1220397"/>
          <a:ext cx="9921841" cy="3112942"/>
        </p:xfrm>
        <a:graphic>
          <a:graphicData uri="http://schemas.openxmlformats.org/drawingml/2006/table">
            <a:tbl>
              <a:tblPr firstRow="1" bandRow="1">
                <a:tableStyleId>{B301B821-A1FF-4177-AEE7-76D212191A09}</a:tableStyleId>
              </a:tblPr>
              <a:tblGrid>
                <a:gridCol w="1751778">
                  <a:extLst>
                    <a:ext uri="{9D8B030D-6E8A-4147-A177-3AD203B41FA5}">
                      <a16:colId xmlns:a16="http://schemas.microsoft.com/office/drawing/2014/main" val="2515698166"/>
                    </a:ext>
                  </a:extLst>
                </a:gridCol>
                <a:gridCol w="5659686">
                  <a:extLst>
                    <a:ext uri="{9D8B030D-6E8A-4147-A177-3AD203B41FA5}">
                      <a16:colId xmlns:a16="http://schemas.microsoft.com/office/drawing/2014/main" val="3073312144"/>
                    </a:ext>
                  </a:extLst>
                </a:gridCol>
                <a:gridCol w="2510377">
                  <a:extLst>
                    <a:ext uri="{9D8B030D-6E8A-4147-A177-3AD203B41FA5}">
                      <a16:colId xmlns:a16="http://schemas.microsoft.com/office/drawing/2014/main" val="374859687"/>
                    </a:ext>
                  </a:extLst>
                </a:gridCol>
              </a:tblGrid>
              <a:tr h="265323">
                <a:tc>
                  <a:txBody>
                    <a:bodyPr/>
                    <a:lstStyle/>
                    <a:p>
                      <a:pPr algn="ctr"/>
                      <a:r>
                        <a:rPr lang="en-DK" sz="1200" dirty="0"/>
                        <a:t>Method</a:t>
                      </a:r>
                    </a:p>
                  </a:txBody>
                  <a:tcPr anchor="ctr"/>
                </a:tc>
                <a:tc>
                  <a:txBody>
                    <a:bodyPr/>
                    <a:lstStyle/>
                    <a:p>
                      <a:pPr algn="ctr"/>
                      <a:r>
                        <a:rPr lang="en-DK" sz="1200" dirty="0"/>
                        <a:t>Tools</a:t>
                      </a:r>
                    </a:p>
                  </a:txBody>
                  <a:tcPr anchor="ctr"/>
                </a:tc>
                <a:tc>
                  <a:txBody>
                    <a:bodyPr/>
                    <a:lstStyle/>
                    <a:p>
                      <a:pPr algn="ctr"/>
                      <a:r>
                        <a:rPr lang="en-DK" sz="1200" dirty="0"/>
                        <a:t>Databases</a:t>
                      </a:r>
                    </a:p>
                  </a:txBody>
                  <a:tcPr anchor="ctr"/>
                </a:tc>
                <a:extLst>
                  <a:ext uri="{0D108BD9-81ED-4DB2-BD59-A6C34878D82A}">
                    <a16:rowId xmlns:a16="http://schemas.microsoft.com/office/drawing/2014/main" val="2920315549"/>
                  </a:ext>
                </a:extLst>
              </a:tr>
              <a:tr h="12841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Amplicon-based Profiling</a:t>
                      </a:r>
                      <a:endParaRPr lang="en-DK" sz="1200" dirty="0"/>
                    </a:p>
                    <a:p>
                      <a:pPr algn="ctr"/>
                      <a:endParaRPr lang="en-DK" sz="1200" dirty="0"/>
                    </a:p>
                  </a:txBody>
                  <a:tcPr anchor="ctr"/>
                </a:tc>
                <a:tc>
                  <a:txBody>
                    <a:bodyPr/>
                    <a:lstStyle/>
                    <a:p>
                      <a:r>
                        <a:rPr lang="en-GB" sz="1200" b="1" dirty="0"/>
                        <a:t>QIIME 2</a:t>
                      </a:r>
                      <a:r>
                        <a:rPr lang="en-GB" sz="1200" dirty="0"/>
                        <a:t>: A popular pipeline supporting DADA2, Deblur, and multiple classifiers (Naive Bayes, etc.).</a:t>
                      </a:r>
                    </a:p>
                    <a:p>
                      <a:r>
                        <a:rPr lang="en-GB" sz="1200" b="1" dirty="0">
                          <a:solidFill>
                            <a:srgbClr val="FF0000"/>
                          </a:solidFill>
                        </a:rPr>
                        <a:t>DADA2</a:t>
                      </a:r>
                      <a:r>
                        <a:rPr lang="en-GB" sz="1200" dirty="0">
                          <a:solidFill>
                            <a:srgbClr val="FF0000"/>
                          </a:solidFill>
                        </a:rPr>
                        <a:t>: High-resolution method that infers amplicon sequence variants (ASVs).</a:t>
                      </a:r>
                    </a:p>
                    <a:p>
                      <a:r>
                        <a:rPr lang="en-GB" sz="1200" b="1" dirty="0"/>
                        <a:t>USEARCH / VSEARCH</a:t>
                      </a:r>
                      <a:r>
                        <a:rPr lang="en-GB" sz="1200" dirty="0"/>
                        <a:t>: Clustering-based OTU picking methods.</a:t>
                      </a:r>
                    </a:p>
                    <a:p>
                      <a:r>
                        <a:rPr lang="en-GB" sz="1200" b="1" dirty="0" err="1"/>
                        <a:t>Mothur</a:t>
                      </a:r>
                      <a:r>
                        <a:rPr lang="en-GB" sz="1200" dirty="0"/>
                        <a:t>: OTU-based method using different clustering and alignment strategies.</a:t>
                      </a:r>
                    </a:p>
                    <a:p>
                      <a:r>
                        <a:rPr lang="en-GB" sz="1200" b="1" dirty="0"/>
                        <a:t>RDP Classifier</a:t>
                      </a:r>
                      <a:r>
                        <a:rPr lang="en-GB" sz="1200" dirty="0"/>
                        <a:t>: Naive Bayesian classifier for assigning taxonomy.</a:t>
                      </a:r>
                    </a:p>
                  </a:txBody>
                  <a:tcPr/>
                </a:tc>
                <a:tc>
                  <a:txBody>
                    <a:bodyPr/>
                    <a:lstStyle/>
                    <a:p>
                      <a:r>
                        <a:rPr lang="en-GB" sz="1200" b="1" dirty="0"/>
                        <a:t>SILVA</a:t>
                      </a:r>
                    </a:p>
                    <a:p>
                      <a:r>
                        <a:rPr lang="en-GB" sz="1200" b="1" dirty="0" err="1"/>
                        <a:t>Greengenes</a:t>
                      </a:r>
                      <a:r>
                        <a:rPr lang="en-GB" sz="1200" dirty="0"/>
                        <a:t> (deprecated but still used)</a:t>
                      </a:r>
                    </a:p>
                    <a:p>
                      <a:r>
                        <a:rPr lang="en-GB" sz="1200" b="1" dirty="0"/>
                        <a:t>RDP</a:t>
                      </a:r>
                    </a:p>
                    <a:p>
                      <a:r>
                        <a:rPr lang="en-GB" sz="1200" b="1" dirty="0"/>
                        <a:t>UNITE</a:t>
                      </a:r>
                      <a:r>
                        <a:rPr lang="en-GB" sz="1200" dirty="0"/>
                        <a:t> (for fungi)</a:t>
                      </a:r>
                    </a:p>
                    <a:p>
                      <a:endParaRPr lang="en-DK" sz="1200" dirty="0"/>
                    </a:p>
                  </a:txBody>
                  <a:tcPr/>
                </a:tc>
                <a:extLst>
                  <a:ext uri="{0D108BD9-81ED-4DB2-BD59-A6C34878D82A}">
                    <a16:rowId xmlns:a16="http://schemas.microsoft.com/office/drawing/2014/main" val="547700518"/>
                  </a:ext>
                </a:extLst>
              </a:tr>
              <a:tr h="13128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Shotgun Metagenomics-based</a:t>
                      </a:r>
                      <a:endParaRPr lang="en-DK" sz="1200" dirty="0"/>
                    </a:p>
                    <a:p>
                      <a:pPr algn="ctr"/>
                      <a:r>
                        <a:rPr lang="en-GB" sz="1200" dirty="0"/>
                        <a:t>Read-based (Direct Mapping)</a:t>
                      </a:r>
                    </a:p>
                    <a:p>
                      <a:pPr algn="ctr"/>
                      <a:r>
                        <a:rPr lang="en-GB" sz="1200" dirty="0"/>
                        <a:t>profiling</a:t>
                      </a:r>
                      <a:endParaRPr lang="en-DK" sz="1200" dirty="0"/>
                    </a:p>
                  </a:txBody>
                  <a:tcPr anchor="ctr"/>
                </a:tc>
                <a:tc>
                  <a:txBody>
                    <a:bodyPr/>
                    <a:lstStyle/>
                    <a:p>
                      <a:r>
                        <a:rPr lang="en-GB" sz="1200" b="1" dirty="0">
                          <a:solidFill>
                            <a:srgbClr val="FF0000"/>
                          </a:solidFill>
                        </a:rPr>
                        <a:t>MetaPhlAn4</a:t>
                      </a:r>
                      <a:r>
                        <a:rPr lang="en-GB" sz="1200" dirty="0">
                          <a:solidFill>
                            <a:srgbClr val="FF0000"/>
                          </a:solidFill>
                        </a:rPr>
                        <a:t>: Uses clade-specific marker genes for fast, accurate profiling.</a:t>
                      </a:r>
                    </a:p>
                    <a:p>
                      <a:r>
                        <a:rPr lang="en-GB" sz="1200" b="1" dirty="0"/>
                        <a:t>Kraken2 / </a:t>
                      </a:r>
                      <a:r>
                        <a:rPr lang="en-GB" sz="1200" b="1" dirty="0" err="1"/>
                        <a:t>KrakenUniq</a:t>
                      </a:r>
                      <a:r>
                        <a:rPr lang="en-GB" sz="1200" dirty="0"/>
                        <a:t>: K-</a:t>
                      </a:r>
                      <a:r>
                        <a:rPr lang="en-GB" sz="1200" dirty="0" err="1"/>
                        <a:t>mer</a:t>
                      </a:r>
                      <a:r>
                        <a:rPr lang="en-GB" sz="1200" dirty="0"/>
                        <a:t> based, ultra-fast classification against a database of genomes.</a:t>
                      </a:r>
                    </a:p>
                    <a:p>
                      <a:r>
                        <a:rPr lang="en-GB" sz="1200" b="1" dirty="0"/>
                        <a:t>Centrifuge</a:t>
                      </a:r>
                      <a:r>
                        <a:rPr lang="en-GB" sz="1200" dirty="0"/>
                        <a:t>: K-</a:t>
                      </a:r>
                      <a:r>
                        <a:rPr lang="en-GB" sz="1200" dirty="0" err="1"/>
                        <a:t>mer</a:t>
                      </a:r>
                      <a:r>
                        <a:rPr lang="en-GB" sz="1200" dirty="0"/>
                        <a:t> based, designed for large reference databases and low-memory use.</a:t>
                      </a:r>
                    </a:p>
                    <a:p>
                      <a:r>
                        <a:rPr lang="en-GB" sz="1200" b="1" dirty="0" err="1"/>
                        <a:t>HUMAnN</a:t>
                      </a:r>
                      <a:r>
                        <a:rPr lang="en-GB" sz="1200" b="1" dirty="0"/>
                        <a:t> / HUMAnN3</a:t>
                      </a:r>
                      <a:r>
                        <a:rPr lang="en-GB" sz="1200" dirty="0"/>
                        <a:t>: Often used alongside MetaPhlAn for functional and taxonomic profiling.</a:t>
                      </a:r>
                    </a:p>
                    <a:p>
                      <a:r>
                        <a:rPr lang="en-GB" sz="1200" b="1" dirty="0" err="1"/>
                        <a:t>StrainPhlAn</a:t>
                      </a:r>
                      <a:r>
                        <a:rPr lang="en-GB" sz="1200" dirty="0"/>
                        <a:t>: Extension of MetaPhlAn for strain-level profiling.</a:t>
                      </a:r>
                    </a:p>
                  </a:txBody>
                  <a:tcPr/>
                </a:tc>
                <a:tc>
                  <a:txBody>
                    <a:bodyPr/>
                    <a:lstStyle/>
                    <a:p>
                      <a:r>
                        <a:rPr lang="en-GB" sz="1200" b="1" dirty="0" err="1"/>
                        <a:t>ChocoPhlAn</a:t>
                      </a:r>
                      <a:r>
                        <a:rPr lang="en-GB" sz="1200" dirty="0"/>
                        <a:t> (used by MetaPhlAn)</a:t>
                      </a:r>
                    </a:p>
                    <a:p>
                      <a:r>
                        <a:rPr lang="en-GB" sz="1200" b="1" dirty="0" err="1"/>
                        <a:t>RefSeq</a:t>
                      </a:r>
                      <a:r>
                        <a:rPr lang="en-GB" sz="1200" b="1" dirty="0"/>
                        <a:t> / GenBank</a:t>
                      </a:r>
                      <a:r>
                        <a:rPr lang="en-GB" sz="1200" dirty="0"/>
                        <a:t> (used by Kraken/Centrifuge)</a:t>
                      </a:r>
                    </a:p>
                    <a:p>
                      <a:r>
                        <a:rPr lang="en-GB" sz="1200" b="1" dirty="0"/>
                        <a:t>GTDB</a:t>
                      </a:r>
                      <a:r>
                        <a:rPr lang="en-GB" sz="12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89" y="59980"/>
            <a:ext cx="11869618" cy="1325563"/>
          </a:xfrm>
        </p:spPr>
        <p:txBody>
          <a:bodyPr>
            <a:normAutofit/>
          </a:bodyPr>
          <a:lstStyle/>
          <a:p>
            <a:r>
              <a:rPr lang="en-DK" sz="4000" dirty="0"/>
              <a:t>Amplicon and read-based shotgun metagenomics tools</a:t>
            </a:r>
          </a:p>
        </p:txBody>
      </p:sp>
      <p:sp>
        <p:nvSpPr>
          <p:cNvPr id="7" name="TextBox 6">
            <a:extLst>
              <a:ext uri="{FF2B5EF4-FFF2-40B4-BE49-F238E27FC236}">
                <a16:creationId xmlns:a16="http://schemas.microsoft.com/office/drawing/2014/main" id="{8BE06B95-E750-5833-A26A-7406DA1544D5}"/>
              </a:ext>
            </a:extLst>
          </p:cNvPr>
          <p:cNvSpPr txBox="1"/>
          <p:nvPr/>
        </p:nvSpPr>
        <p:spPr>
          <a:xfrm>
            <a:off x="1383468" y="4461164"/>
            <a:ext cx="9921841" cy="2308324"/>
          </a:xfrm>
          <a:prstGeom prst="rect">
            <a:avLst/>
          </a:prstGeom>
          <a:noFill/>
        </p:spPr>
        <p:txBody>
          <a:bodyPr wrap="square" rtlCol="0">
            <a:spAutoFit/>
          </a:bodyPr>
          <a:lstStyle/>
          <a:p>
            <a:r>
              <a:rPr lang="en-DK" dirty="0"/>
              <a:t>Choice depending on:</a:t>
            </a:r>
          </a:p>
          <a:p>
            <a:endParaRPr lang="en-DK" dirty="0"/>
          </a:p>
          <a:p>
            <a:pPr marL="285750" indent="-285750">
              <a:buFont typeface="Arial" panose="020B0604020202020204" pitchFamily="34" charset="0"/>
              <a:buChar char="•"/>
            </a:pPr>
            <a:r>
              <a:rPr lang="en-GB" b="1" dirty="0"/>
              <a:t>Speed vs. Accuracy</a:t>
            </a:r>
            <a:r>
              <a:rPr lang="en-GB" dirty="0"/>
              <a:t>: Kraken2 is fast; MetaPhlAn is more accurate for species-level identification.</a:t>
            </a:r>
          </a:p>
          <a:p>
            <a:pPr marL="285750" indent="-285750">
              <a:buFont typeface="Arial" panose="020B0604020202020204" pitchFamily="34" charset="0"/>
              <a:buChar char="•"/>
            </a:pPr>
            <a:r>
              <a:rPr lang="en-GB" b="1" dirty="0"/>
              <a:t>Resolution</a:t>
            </a:r>
            <a:r>
              <a:rPr lang="en-GB" dirty="0"/>
              <a:t>: DADA2 and MetaPhlAn can provide high-resolution profiling.</a:t>
            </a:r>
          </a:p>
          <a:p>
            <a:pPr marL="285750" indent="-285750">
              <a:buFont typeface="Arial" panose="020B0604020202020204" pitchFamily="34" charset="0"/>
              <a:buChar char="•"/>
            </a:pPr>
            <a:r>
              <a:rPr lang="en-GB" b="1" dirty="0"/>
              <a:t>Data Type</a:t>
            </a:r>
            <a:r>
              <a:rPr lang="en-GB" dirty="0"/>
              <a:t>: Amplicon (16S) vs. shotgun metagenomics.</a:t>
            </a:r>
          </a:p>
          <a:p>
            <a:pPr marL="285750" indent="-285750">
              <a:buFont typeface="Arial" panose="020B0604020202020204" pitchFamily="34" charset="0"/>
              <a:buChar char="•"/>
            </a:pPr>
            <a:r>
              <a:rPr lang="en-GB" b="1" dirty="0"/>
              <a:t>Resource Requirements</a:t>
            </a:r>
            <a:r>
              <a:rPr lang="en-GB" dirty="0"/>
              <a:t>: Kraken needs large memory for big databases; MetaPhlAn is lighter.</a:t>
            </a:r>
          </a:p>
          <a:p>
            <a:endParaRPr lang="en-DK" dirty="0"/>
          </a:p>
        </p:txBody>
      </p:sp>
    </p:spTree>
    <p:extLst>
      <p:ext uri="{BB962C8B-B14F-4D97-AF65-F5344CB8AC3E}">
        <p14:creationId xmlns:p14="http://schemas.microsoft.com/office/powerpoint/2010/main" val="213081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367142" y="-177618"/>
            <a:ext cx="10515600" cy="1325563"/>
          </a:xfrm>
        </p:spPr>
        <p:txBody>
          <a:bodyPr/>
          <a:lstStyle/>
          <a:p>
            <a:r>
              <a:rPr lang="en-DK"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
        <p:nvSpPr>
          <p:cNvPr id="4109" name="TextBox 4108">
            <a:extLst>
              <a:ext uri="{FF2B5EF4-FFF2-40B4-BE49-F238E27FC236}">
                <a16:creationId xmlns:a16="http://schemas.microsoft.com/office/drawing/2014/main" id="{766FA89E-D7BA-F4BD-DA17-5B64F4A2CDFD}"/>
              </a:ext>
            </a:extLst>
          </p:cNvPr>
          <p:cNvSpPr txBox="1"/>
          <p:nvPr/>
        </p:nvSpPr>
        <p:spPr>
          <a:xfrm>
            <a:off x="10571071" y="876064"/>
            <a:ext cx="1842668" cy="1015663"/>
          </a:xfrm>
          <a:prstGeom prst="rect">
            <a:avLst/>
          </a:prstGeom>
          <a:noFill/>
        </p:spPr>
        <p:txBody>
          <a:bodyPr wrap="square" rtlCol="0">
            <a:spAutoFit/>
          </a:bodyPr>
          <a:lstStyle/>
          <a:p>
            <a:pPr marL="285750" indent="-285750">
              <a:buFont typeface="Arial" panose="020B0604020202020204" pitchFamily="34" charset="0"/>
              <a:buChar char="•"/>
            </a:pPr>
            <a:r>
              <a:rPr lang="en-DK" sz="1200" dirty="0"/>
              <a:t>GC content</a:t>
            </a:r>
          </a:p>
          <a:p>
            <a:pPr marL="285750" indent="-285750">
              <a:buFont typeface="Arial" panose="020B0604020202020204" pitchFamily="34" charset="0"/>
              <a:buChar char="•"/>
            </a:pPr>
            <a:r>
              <a:rPr lang="en-DK" sz="1200" dirty="0"/>
              <a:t>tetranuclotide frequencies</a:t>
            </a:r>
          </a:p>
          <a:p>
            <a:pPr marL="285750" indent="-285750">
              <a:buFont typeface="Arial" panose="020B0604020202020204" pitchFamily="34" charset="0"/>
              <a:buChar char="•"/>
            </a:pPr>
            <a:r>
              <a:rPr lang="en-DK" sz="1200" dirty="0"/>
              <a:t>coverage depth across samples</a:t>
            </a:r>
          </a:p>
        </p:txBody>
      </p:sp>
    </p:spTree>
    <p:extLst>
      <p:ext uri="{BB962C8B-B14F-4D97-AF65-F5344CB8AC3E}">
        <p14:creationId xmlns:p14="http://schemas.microsoft.com/office/powerpoint/2010/main" val="2829048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Tree>
    <p:extLst>
      <p:ext uri="{BB962C8B-B14F-4D97-AF65-F5344CB8AC3E}">
        <p14:creationId xmlns:p14="http://schemas.microsoft.com/office/powerpoint/2010/main" val="17187496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Sumary table</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1371451392"/>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Mapping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(currently very competitive prices)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371F9-4009-C5A7-259B-4E74DECE4DB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83991F-4406-E4C9-EC2A-59629FA5654A}"/>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Functional profiling</a:t>
            </a:r>
          </a:p>
        </p:txBody>
      </p:sp>
      <p:grpSp>
        <p:nvGrpSpPr>
          <p:cNvPr id="13" name="Group 12">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403681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Functional annotation from the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35</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316838"/>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032011"/>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295396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584611"/>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2150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277428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2889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28536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35818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268742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14512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61249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186280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333701"/>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3442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391729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4180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399669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48734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383043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27428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375551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005822"/>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47671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06596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5848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15788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465866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237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47279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07103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51488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499610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4717309"/>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24625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120927"/>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447064"/>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09038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168628"/>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246870"/>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26380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271632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559838"/>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32321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295279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03103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2874552"/>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109278"/>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3251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403354"/>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481596"/>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19765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275896"/>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35413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4323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51062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588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3667106"/>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05831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13655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3980074"/>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214800"/>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37303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45127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294788"/>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529514"/>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374534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3823590"/>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3901832"/>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61789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4696132"/>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477437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485262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152678"/>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478815"/>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42751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52205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284969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27415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295399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0485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61249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13897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3623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25417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46660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56115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388878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3780658"/>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399308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08762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365159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178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243167"/>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27505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372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168628"/>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2811203"/>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273666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351533"/>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276994"/>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3947973"/>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3789607"/>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05449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594344"/>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1772502"/>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4996106"/>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288564"/>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324398"/>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21508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26205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3559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49689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2637798"/>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34231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39529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28726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2778702"/>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57715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06051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20141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38928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62412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2816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0938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30902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40295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54386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268476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2825670"/>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53019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1407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10747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296657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3811998"/>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24838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43625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367109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385896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37561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18774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449926"/>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5908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273173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291960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01354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376503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23471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29535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15444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3999870"/>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48322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371806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390593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04683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42257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32864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314824"/>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646331"/>
          </a:xfrm>
          <a:prstGeom prst="rect">
            <a:avLst/>
          </a:prstGeom>
          <a:noFill/>
        </p:spPr>
        <p:txBody>
          <a:bodyPr wrap="square" rtlCol="0">
            <a:spAutoFit/>
          </a:bodyPr>
          <a:lstStyle/>
          <a:p>
            <a:r>
              <a:rPr lang="en-DK" dirty="0"/>
              <a:t>From both read-based and assembled-based shotgun metagenomics we end up on lists of genes that we can cluster and turn into a non-redundant gene catalog</a:t>
            </a:r>
          </a:p>
        </p:txBody>
      </p:sp>
    </p:spTree>
    <p:extLst>
      <p:ext uri="{BB962C8B-B14F-4D97-AF65-F5344CB8AC3E}">
        <p14:creationId xmlns:p14="http://schemas.microsoft.com/office/powerpoint/2010/main" val="19714123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838200" y="-93735"/>
            <a:ext cx="10515600" cy="1325563"/>
          </a:xfrm>
        </p:spPr>
        <p:txBody>
          <a:bodyPr/>
          <a:lstStyle/>
          <a:p>
            <a:r>
              <a:rPr lang="en-US" dirty="0">
                <a:latin typeface="Calibri" charset="0"/>
                <a:ea typeface="Calibri" charset="0"/>
                <a:cs typeface="Calibri" charset="0"/>
              </a:rPr>
              <a:t>Functional annotation from the gene catalog</a:t>
            </a:r>
            <a:endParaRPr lang="en-DK" dirty="0"/>
          </a:p>
        </p:txBody>
      </p:sp>
      <p:sp>
        <p:nvSpPr>
          <p:cNvPr id="5" name="Right Arrow 4">
            <a:extLst>
              <a:ext uri="{FF2B5EF4-FFF2-40B4-BE49-F238E27FC236}">
                <a16:creationId xmlns:a16="http://schemas.microsoft.com/office/drawing/2014/main" id="{5330876F-F096-887A-C8A3-AB7D6FA06999}"/>
              </a:ext>
            </a:extLst>
          </p:cNvPr>
          <p:cNvSpPr/>
          <p:nvPr/>
        </p:nvSpPr>
        <p:spPr>
          <a:xfrm>
            <a:off x="2436733" y="2790831"/>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3609801" y="2689789"/>
            <a:ext cx="1322520" cy="646331"/>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r>
              <a:rPr lang="en-US" sz="1800" dirty="0">
                <a:latin typeface="Calibri" charset="0"/>
                <a:ea typeface="Calibri" charset="0"/>
                <a:cs typeface="Calibri" charset="0"/>
              </a:rPr>
              <a:t> orthologous</a:t>
            </a:r>
          </a:p>
        </p:txBody>
      </p:sp>
      <p:sp>
        <p:nvSpPr>
          <p:cNvPr id="7" name="Right Arrow 6">
            <a:extLst>
              <a:ext uri="{FF2B5EF4-FFF2-40B4-BE49-F238E27FC236}">
                <a16:creationId xmlns:a16="http://schemas.microsoft.com/office/drawing/2014/main" id="{A82A6F21-B85D-1D39-F46C-F369CA76EEAC}"/>
              </a:ext>
            </a:extLst>
          </p:cNvPr>
          <p:cNvSpPr/>
          <p:nvPr/>
        </p:nvSpPr>
        <p:spPr>
          <a:xfrm>
            <a:off x="5038926" y="2490488"/>
            <a:ext cx="1154627"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8" name="TextBox 7">
            <a:extLst>
              <a:ext uri="{FF2B5EF4-FFF2-40B4-BE49-F238E27FC236}">
                <a16:creationId xmlns:a16="http://schemas.microsoft.com/office/drawing/2014/main" id="{29BF08A7-3299-121E-1C97-A19EC78BCA79}"/>
              </a:ext>
            </a:extLst>
          </p:cNvPr>
          <p:cNvSpPr txBox="1"/>
          <p:nvPr/>
        </p:nvSpPr>
        <p:spPr>
          <a:xfrm>
            <a:off x="6348401" y="2351592"/>
            <a:ext cx="1810512"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KEGG modules and pathways</a:t>
            </a:r>
          </a:p>
        </p:txBody>
      </p:sp>
      <p:sp>
        <p:nvSpPr>
          <p:cNvPr id="9" name="TextBox 8">
            <a:extLst>
              <a:ext uri="{FF2B5EF4-FFF2-40B4-BE49-F238E27FC236}">
                <a16:creationId xmlns:a16="http://schemas.microsoft.com/office/drawing/2014/main" id="{F37BF3E0-64CD-3FCD-C53A-1E4F4CD96D20}"/>
              </a:ext>
            </a:extLst>
          </p:cNvPr>
          <p:cNvSpPr txBox="1"/>
          <p:nvPr/>
        </p:nvSpPr>
        <p:spPr>
          <a:xfrm>
            <a:off x="2362995" y="2101807"/>
            <a:ext cx="1126212" cy="723275"/>
          </a:xfrm>
          <a:prstGeom prst="rect">
            <a:avLst/>
          </a:prstGeom>
          <a:noFill/>
        </p:spPr>
        <p:txBody>
          <a:bodyPr wrap="square" rtlCol="0">
            <a:spAutoFit/>
          </a:bodyPr>
          <a:lstStyle/>
          <a:p>
            <a:pPr algn="ctr">
              <a:spcBef>
                <a:spcPts val="600"/>
              </a:spcBef>
            </a:pPr>
            <a:r>
              <a:rPr lang="en-US" sz="1800" dirty="0" err="1">
                <a:latin typeface="Calibri" charset="0"/>
                <a:ea typeface="Calibri" charset="0"/>
                <a:cs typeface="Calibri" charset="0"/>
              </a:rPr>
              <a:t>eggNOG</a:t>
            </a:r>
            <a:endParaRPr lang="en-US" sz="1800" dirty="0">
              <a:latin typeface="Calibri" charset="0"/>
              <a:ea typeface="Calibri" charset="0"/>
              <a:cs typeface="Calibri" charset="0"/>
            </a:endParaRPr>
          </a:p>
          <a:p>
            <a:pPr algn="ctr">
              <a:spcBef>
                <a:spcPts val="600"/>
              </a:spcBef>
            </a:pPr>
            <a:r>
              <a:rPr lang="en-US" sz="1800" dirty="0">
                <a:latin typeface="Calibri" charset="0"/>
                <a:ea typeface="Calibri" charset="0"/>
                <a:cs typeface="Calibri" charset="0"/>
              </a:rPr>
              <a:t>mapper</a:t>
            </a:r>
          </a:p>
        </p:txBody>
      </p:sp>
      <p:grpSp>
        <p:nvGrpSpPr>
          <p:cNvPr id="10" name="Group 9">
            <a:extLst>
              <a:ext uri="{FF2B5EF4-FFF2-40B4-BE49-F238E27FC236}">
                <a16:creationId xmlns:a16="http://schemas.microsoft.com/office/drawing/2014/main" id="{D6424B28-8586-FC84-1F74-87398DC57DE2}"/>
              </a:ext>
            </a:extLst>
          </p:cNvPr>
          <p:cNvGrpSpPr/>
          <p:nvPr/>
        </p:nvGrpSpPr>
        <p:grpSpPr>
          <a:xfrm>
            <a:off x="2821337" y="4448176"/>
            <a:ext cx="6087136" cy="1165960"/>
            <a:chOff x="4616229" y="4069399"/>
            <a:chExt cx="6549326" cy="1165960"/>
          </a:xfrm>
        </p:grpSpPr>
        <p:sp>
          <p:nvSpPr>
            <p:cNvPr id="11" name="Right Arrow 10">
              <a:extLst>
                <a:ext uri="{FF2B5EF4-FFF2-40B4-BE49-F238E27FC236}">
                  <a16:creationId xmlns:a16="http://schemas.microsoft.com/office/drawing/2014/main" id="{E1ECA18F-5A7A-A7AF-338E-D598E877FCA6}"/>
                </a:ext>
              </a:extLst>
            </p:cNvPr>
            <p:cNvSpPr/>
            <p:nvPr/>
          </p:nvSpPr>
          <p:spPr>
            <a:xfrm>
              <a:off x="4616229" y="4606769"/>
              <a:ext cx="3758341"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2" name="TextBox 11">
              <a:extLst>
                <a:ext uri="{FF2B5EF4-FFF2-40B4-BE49-F238E27FC236}">
                  <a16:creationId xmlns:a16="http://schemas.microsoft.com/office/drawing/2014/main" id="{F2CAB5B4-0E63-B52C-5E96-451798FED8C1}"/>
                </a:ext>
              </a:extLst>
            </p:cNvPr>
            <p:cNvSpPr txBox="1"/>
            <p:nvPr/>
          </p:nvSpPr>
          <p:spPr>
            <a:xfrm>
              <a:off x="8630289" y="4589028"/>
              <a:ext cx="2535266" cy="646331"/>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Antibiotic Resistance Genes (ARGs)</a:t>
              </a:r>
            </a:p>
          </p:txBody>
        </p:sp>
        <p:sp>
          <p:nvSpPr>
            <p:cNvPr id="13" name="TextBox 12">
              <a:extLst>
                <a:ext uri="{FF2B5EF4-FFF2-40B4-BE49-F238E27FC236}">
                  <a16:creationId xmlns:a16="http://schemas.microsoft.com/office/drawing/2014/main" id="{A6C4F54D-9042-6F62-A3DA-A5DF5CE57C2D}"/>
                </a:ext>
              </a:extLst>
            </p:cNvPr>
            <p:cNvSpPr txBox="1"/>
            <p:nvPr/>
          </p:nvSpPr>
          <p:spPr>
            <a:xfrm>
              <a:off x="4825457" y="4069399"/>
              <a:ext cx="3084104"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RGI software linking to CARD and </a:t>
              </a:r>
              <a:r>
                <a:rPr lang="en-US" sz="1800" dirty="0" err="1">
                  <a:latin typeface="Calibri" charset="0"/>
                  <a:ea typeface="Calibri" charset="0"/>
                  <a:cs typeface="Calibri" charset="0"/>
                </a:rPr>
                <a:t>Resfams</a:t>
              </a:r>
              <a:r>
                <a:rPr lang="en-US" sz="1800" dirty="0">
                  <a:latin typeface="Calibri" charset="0"/>
                  <a:ea typeface="Calibri" charset="0"/>
                  <a:cs typeface="Calibri" charset="0"/>
                </a:rPr>
                <a:t> database</a:t>
              </a:r>
            </a:p>
          </p:txBody>
        </p:sp>
      </p:grpSp>
      <p:sp>
        <p:nvSpPr>
          <p:cNvPr id="14" name="Right Arrow 13">
            <a:extLst>
              <a:ext uri="{FF2B5EF4-FFF2-40B4-BE49-F238E27FC236}">
                <a16:creationId xmlns:a16="http://schemas.microsoft.com/office/drawing/2014/main" id="{DFC63DB7-AB2B-22DC-6163-7C1EFDC72592}"/>
              </a:ext>
            </a:extLst>
          </p:cNvPr>
          <p:cNvSpPr/>
          <p:nvPr/>
        </p:nvSpPr>
        <p:spPr>
          <a:xfrm>
            <a:off x="5044207" y="3230554"/>
            <a:ext cx="1154139"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5" name="TextBox 14">
            <a:extLst>
              <a:ext uri="{FF2B5EF4-FFF2-40B4-BE49-F238E27FC236}">
                <a16:creationId xmlns:a16="http://schemas.microsoft.com/office/drawing/2014/main" id="{BA38931B-FA21-433E-C971-4CAD1827DF39}"/>
              </a:ext>
            </a:extLst>
          </p:cNvPr>
          <p:cNvSpPr txBox="1"/>
          <p:nvPr/>
        </p:nvSpPr>
        <p:spPr>
          <a:xfrm>
            <a:off x="4693442" y="3739463"/>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PATRIC database</a:t>
            </a:r>
          </a:p>
        </p:txBody>
      </p:sp>
      <p:sp>
        <p:nvSpPr>
          <p:cNvPr id="16" name="TextBox 15">
            <a:extLst>
              <a:ext uri="{FF2B5EF4-FFF2-40B4-BE49-F238E27FC236}">
                <a16:creationId xmlns:a16="http://schemas.microsoft.com/office/drawing/2014/main" id="{2A7B681D-CD63-53B1-B804-0BD7EE7744E7}"/>
              </a:ext>
            </a:extLst>
          </p:cNvPr>
          <p:cNvSpPr txBox="1"/>
          <p:nvPr/>
        </p:nvSpPr>
        <p:spPr>
          <a:xfrm>
            <a:off x="6350303" y="3341619"/>
            <a:ext cx="1970871" cy="369332"/>
          </a:xfrm>
          <a:prstGeom prst="rect">
            <a:avLst/>
          </a:prstGeom>
          <a:noFill/>
        </p:spPr>
        <p:txBody>
          <a:bodyPr wrap="square" rtlCol="0">
            <a:spAutoFit/>
          </a:bodyPr>
          <a:lstStyle/>
          <a:p>
            <a:pPr>
              <a:spcBef>
                <a:spcPts val="600"/>
              </a:spcBef>
            </a:pPr>
            <a:r>
              <a:rPr lang="en-US" sz="1800" dirty="0">
                <a:latin typeface="Calibri" charset="0"/>
                <a:ea typeface="Calibri" charset="0"/>
                <a:cs typeface="Calibri" charset="0"/>
              </a:rPr>
              <a:t>Virulence factors</a:t>
            </a:r>
          </a:p>
        </p:txBody>
      </p:sp>
      <p:sp>
        <p:nvSpPr>
          <p:cNvPr id="17" name="TextBox 16">
            <a:extLst>
              <a:ext uri="{FF2B5EF4-FFF2-40B4-BE49-F238E27FC236}">
                <a16:creationId xmlns:a16="http://schemas.microsoft.com/office/drawing/2014/main" id="{BD75D6E8-21EF-C73D-2794-3BFA327A0618}"/>
              </a:ext>
            </a:extLst>
          </p:cNvPr>
          <p:cNvSpPr txBox="1"/>
          <p:nvPr/>
        </p:nvSpPr>
        <p:spPr>
          <a:xfrm>
            <a:off x="4693441" y="1735179"/>
            <a:ext cx="1845593" cy="646331"/>
          </a:xfrm>
          <a:prstGeom prst="rect">
            <a:avLst/>
          </a:prstGeom>
          <a:noFill/>
        </p:spPr>
        <p:txBody>
          <a:bodyPr wrap="square" rtlCol="0">
            <a:spAutoFit/>
          </a:bodyPr>
          <a:lstStyle/>
          <a:p>
            <a:pPr algn="ctr">
              <a:spcBef>
                <a:spcPts val="600"/>
              </a:spcBef>
            </a:pPr>
            <a:r>
              <a:rPr lang="en-US" sz="1800" dirty="0">
                <a:latin typeface="Calibri" charset="0"/>
                <a:ea typeface="Calibri" charset="0"/>
                <a:cs typeface="Calibri" charset="0"/>
              </a:rPr>
              <a:t>Mapping to KEGG database</a:t>
            </a:r>
          </a:p>
        </p:txBody>
      </p:sp>
      <p:sp>
        <p:nvSpPr>
          <p:cNvPr id="18" name="TextBox 17">
            <a:extLst>
              <a:ext uri="{FF2B5EF4-FFF2-40B4-BE49-F238E27FC236}">
                <a16:creationId xmlns:a16="http://schemas.microsoft.com/office/drawing/2014/main" id="{DB429759-03E4-0EF1-7A0A-5132ECCFC9AB}"/>
              </a:ext>
            </a:extLst>
          </p:cNvPr>
          <p:cNvSpPr txBox="1"/>
          <p:nvPr/>
        </p:nvSpPr>
        <p:spPr>
          <a:xfrm>
            <a:off x="344615" y="940534"/>
            <a:ext cx="11570294"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344615" y="4843255"/>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641073" y="246399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641073" y="251096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641073" y="26049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641073" y="274580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641073" y="2886709"/>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641073" y="359122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641073" y="42018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641073" y="31215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641073" y="3027613"/>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641073" y="382606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641073" y="330942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641073" y="345032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641073" y="363819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641073" y="387303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641073" y="45305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641073" y="434271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641073" y="255793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641073" y="265186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641073" y="279277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641073" y="293367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641073" y="3074581"/>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641073" y="377910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641073" y="43896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641073" y="335638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641073" y="321548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641073" y="4060909"/>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641073" y="349729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641073" y="368516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641073" y="392000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641073" y="410787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641073" y="462452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641073" y="443665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641073" y="2698837"/>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641073" y="28397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641073" y="298064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641073" y="316851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641073" y="326245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641073" y="401394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641073" y="448362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641073" y="354426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641073" y="340335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641073" y="4248781"/>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641073" y="373213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641073" y="396697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641073" y="415484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641073" y="429574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641073" y="467148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641073" y="457755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571795" y="4563735"/>
            <a:ext cx="772803" cy="369332"/>
          </a:xfrm>
          <a:prstGeom prst="rect">
            <a:avLst/>
          </a:prstGeom>
          <a:noFill/>
        </p:spPr>
        <p:txBody>
          <a:bodyPr wrap="square" rtlCol="0">
            <a:spAutoFit/>
          </a:bodyPr>
          <a:lstStyle/>
          <a:p>
            <a:r>
              <a:rPr lang="en-DK" dirty="0"/>
              <a:t>…</a:t>
            </a:r>
          </a:p>
        </p:txBody>
      </p:sp>
      <p:sp>
        <p:nvSpPr>
          <p:cNvPr id="69" name="TextBox 68">
            <a:extLst>
              <a:ext uri="{FF2B5EF4-FFF2-40B4-BE49-F238E27FC236}">
                <a16:creationId xmlns:a16="http://schemas.microsoft.com/office/drawing/2014/main" id="{D4D4DF8D-FA6B-DC0F-CBE4-429148C84EFB}"/>
              </a:ext>
            </a:extLst>
          </p:cNvPr>
          <p:cNvSpPr txBox="1"/>
          <p:nvPr/>
        </p:nvSpPr>
        <p:spPr>
          <a:xfrm>
            <a:off x="8630615" y="2209440"/>
            <a:ext cx="3284294" cy="3139321"/>
          </a:xfrm>
          <a:prstGeom prst="rect">
            <a:avLst/>
          </a:prstGeom>
          <a:noFill/>
        </p:spPr>
        <p:txBody>
          <a:bodyPr wrap="square" rtlCol="0">
            <a:spAutoFit/>
          </a:bodyPr>
          <a:lstStyle/>
          <a:p>
            <a:r>
              <a:rPr lang="en-DK" dirty="0"/>
              <a:t>Why building a gene catalog:</a:t>
            </a:r>
          </a:p>
          <a:p>
            <a:pPr marL="285750" indent="-285750">
              <a:buFont typeface="Arial" panose="020B0604020202020204" pitchFamily="34" charset="0"/>
              <a:buChar char="•"/>
            </a:pPr>
            <a:r>
              <a:rPr lang="en-DK" dirty="0"/>
              <a:t>Increased diversity</a:t>
            </a:r>
          </a:p>
          <a:p>
            <a:pPr marL="742950" lvl="1" indent="-285750">
              <a:buFont typeface="Arial" panose="020B0604020202020204" pitchFamily="34" charset="0"/>
              <a:buChar char="•"/>
            </a:pPr>
            <a:r>
              <a:rPr lang="en-DK" dirty="0"/>
              <a:t>Annotation across all genes (not only known – novel functions)</a:t>
            </a:r>
          </a:p>
          <a:p>
            <a:pPr marL="742950" lvl="1" indent="-285750">
              <a:buFont typeface="Arial" panose="020B0604020202020204" pitchFamily="34" charset="0"/>
              <a:buChar char="•"/>
            </a:pPr>
            <a:r>
              <a:rPr lang="en-GB" dirty="0"/>
              <a:t>Discovery of uncharacterized genes</a:t>
            </a:r>
          </a:p>
          <a:p>
            <a:pPr marL="285750" indent="-285750">
              <a:buFont typeface="Arial" panose="020B0604020202020204" pitchFamily="34" charset="0"/>
              <a:buChar char="•"/>
            </a:pPr>
            <a:r>
              <a:rPr lang="en-GB" dirty="0"/>
              <a:t>reusable resource</a:t>
            </a:r>
          </a:p>
          <a:p>
            <a:pPr marL="285750" indent="-285750">
              <a:buFont typeface="Arial" panose="020B0604020202020204" pitchFamily="34" charset="0"/>
              <a:buChar char="•"/>
            </a:pPr>
            <a:r>
              <a:rPr lang="en-GB" dirty="0"/>
              <a:t>increases sensitivity to rare functions (resistance genes, secondary metabolites,…)</a:t>
            </a:r>
            <a:endParaRPr lang="en-DK" dirty="0"/>
          </a:p>
        </p:txBody>
      </p:sp>
    </p:spTree>
    <p:extLst>
      <p:ext uri="{BB962C8B-B14F-4D97-AF65-F5344CB8AC3E}">
        <p14:creationId xmlns:p14="http://schemas.microsoft.com/office/powerpoint/2010/main" val="28625378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8"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p:tgtEl>
                                          <p:spTgt spid="10"/>
                                        </p:tgtEl>
                                        <p:attrNameLst>
                                          <p:attrName>ppt_x</p:attrName>
                                        </p:attrNameLst>
                                      </p:cBhvr>
                                      <p:tavLst>
                                        <p:tav tm="0">
                                          <p:val>
                                            <p:strVal val="#ppt_x-#ppt_w*1.125000"/>
                                          </p:val>
                                        </p:tav>
                                        <p:tav tm="100000">
                                          <p:val>
                                            <p:strVal val="#ppt_x"/>
                                          </p:val>
                                        </p:tav>
                                      </p:tavLst>
                                    </p:anim>
                                    <p:animEffect transition="in" filter="wipe(right)">
                                      <p:cBhvr>
                                        <p:cTn id="8"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B8E9FB-E8E6-8FB5-B6F6-52E8E891E897}"/>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5CE867-5C68-472A-C0FF-7215A9A2E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81B83E-2D83-9880-B2A2-E777438FD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D5001D36-906A-DFDE-9558-53B8F8CE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50B233B0-CD75-4B40-6EC2-646D777A69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BB61C819-568D-C340-5909-E6F7F057C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11E0B722-013A-3520-7B70-B3D3889A8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17E68808-DE27-55BA-175B-C82C88B7E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18AEF7B8-8BD6-C04D-BBA6-70087718E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1CC847C8-0FDD-0A41-ED92-D580E343C3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C05864E7-BA7D-AB9B-8753-AE64CBB0FB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69D457-4CFB-AC9B-277E-97E58090B1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DF612E9-84C9-2D1A-5F1B-19A89B43853F}"/>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Microbiome data</a:t>
            </a:r>
          </a:p>
        </p:txBody>
      </p:sp>
      <p:grpSp>
        <p:nvGrpSpPr>
          <p:cNvPr id="22" name="Group 21">
            <a:extLst>
              <a:ext uri="{FF2B5EF4-FFF2-40B4-BE49-F238E27FC236}">
                <a16:creationId xmlns:a16="http://schemas.microsoft.com/office/drawing/2014/main" id="{BDAC4BA2-E88D-E427-24F3-B8F3A3C30A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619BD1A1-65B6-4618-D7A3-6F5F968E3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2F259CFE-93E7-ADFC-6DC4-6BC5AD2E81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CA58F4B-7FD9-37C9-5226-0FF057D04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7D4B97FF-A861-1CDC-47FA-E6208D349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052074F3-D889-5B0D-ACA3-BDC0B382B5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31148EF-0E78-9879-AE90-071E5EF8D8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7454B015-E0C0-81ED-C7E1-1294EDD7D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DFCF7AFB-90A8-6330-DE42-A13FEB44F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E5D3ACE2-A9D6-A6EF-4942-940A1CC1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6915606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a:bodyPr>
          <a:lstStyle/>
          <a:p>
            <a:r>
              <a:rPr lang="en-DK" sz="1800" dirty="0"/>
              <a:t>Sparsity</a:t>
            </a:r>
          </a:p>
          <a:p>
            <a:r>
              <a:rPr lang="en-DK" sz="1800" dirty="0"/>
              <a:t>Dinamic range</a:t>
            </a:r>
          </a:p>
          <a:p>
            <a:r>
              <a:rPr lang="en-DK" sz="1800" b="1" dirty="0"/>
              <a:t>Relative vs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4524315"/>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Tree>
    <p:extLst>
      <p:ext uri="{BB962C8B-B14F-4D97-AF65-F5344CB8AC3E}">
        <p14:creationId xmlns:p14="http://schemas.microsoft.com/office/powerpoint/2010/main" val="11071766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549676"/>
            <a:ext cx="9282546" cy="2308324"/>
          </a:xfrm>
          <a:prstGeom prst="rect">
            <a:avLst/>
          </a:prstGeom>
          <a:noFill/>
        </p:spPr>
        <p:txBody>
          <a:bodyPr wrap="square" rtlCol="0">
            <a:spAutoFit/>
          </a:bodyPr>
          <a:lstStyle/>
          <a:p>
            <a:pPr marL="285750" indent="-285750">
              <a:buFont typeface="Arial" panose="020B0604020202020204" pitchFamily="34" charset="0"/>
              <a:buChar char="•"/>
            </a:pPr>
            <a:r>
              <a:rPr lang="en-DK" dirty="0"/>
              <a:t>Only Taxon 3 reduced its abundance after antibiotic treament, but 1,2, and 4 seem that they increase</a:t>
            </a:r>
          </a:p>
          <a:p>
            <a:pPr marL="285750" indent="-285750">
              <a:buFont typeface="Arial" panose="020B0604020202020204" pitchFamily="34" charset="0"/>
              <a:buChar char="•"/>
            </a:pPr>
            <a:r>
              <a:rPr lang="en-DK" dirty="0"/>
              <a:t>Affects downstream analysis and interpretations</a:t>
            </a:r>
          </a:p>
          <a:p>
            <a:pPr marL="742950" lvl="1" indent="-285750">
              <a:buFont typeface="Arial" panose="020B0604020202020204" pitchFamily="34" charset="0"/>
              <a:buChar char="•"/>
            </a:pPr>
            <a:r>
              <a:rPr lang="en-DK" dirty="0"/>
              <a:t>e.g. correlations or regression assume independent variables</a:t>
            </a:r>
          </a:p>
          <a:p>
            <a:pPr marL="742950" lvl="1" indent="-285750">
              <a:buFont typeface="Arial" panose="020B0604020202020204" pitchFamily="34" charset="0"/>
              <a:buChar char="•"/>
            </a:pPr>
            <a:r>
              <a:rPr lang="en-DK" dirty="0"/>
              <a:t>other analysis alternatives have been proposed, center-log-ration transformation (clr), ALDEx2, ANCOM</a:t>
            </a:r>
          </a:p>
          <a:p>
            <a:pPr marL="742950" lvl="1" indent="-285750">
              <a:buFont typeface="Arial" panose="020B0604020202020204" pitchFamily="34" charset="0"/>
              <a:buChar char="•"/>
            </a:pPr>
            <a:r>
              <a:rPr lang="en-DK" dirty="0"/>
              <a:t>however, they introduce </a:t>
            </a:r>
            <a:r>
              <a:rPr lang="en-GB" dirty="0"/>
              <a:t>practical limitations — especially with zero handling, computational cost, and difficult interpretation</a:t>
            </a:r>
            <a:endParaRPr lang="en-DK"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1034239" cy="923330"/>
          </a:xfrm>
          <a:prstGeom prst="rect">
            <a:avLst/>
          </a:prstGeom>
          <a:noFill/>
        </p:spPr>
        <p:txBody>
          <a:bodyPr wrap="none" rtlCol="0">
            <a:spAutoFit/>
          </a:bodyPr>
          <a:lstStyle/>
          <a:p>
            <a:r>
              <a:rPr lang="en-DK" dirty="0"/>
              <a:t>Consider read counts as a proxy for cell abundance (not perfect as in 16S we have multiple 16S gene copies,</a:t>
            </a:r>
          </a:p>
          <a:p>
            <a:r>
              <a:rPr lang="en-DK" dirty="0"/>
              <a:t> and in shotgun metagenomics we have different genome sizes – larger genomes contributing with more reads </a:t>
            </a:r>
          </a:p>
          <a:p>
            <a:r>
              <a:rPr lang="en-DK" dirty="0"/>
              <a:t>per cell), extraction efficiency, lib</a:t>
            </a:r>
            <a:r>
              <a:rPr lang="en-GB" dirty="0"/>
              <a:t>r</a:t>
            </a:r>
            <a:r>
              <a:rPr lang="en-DK" dirty="0"/>
              <a:t>ary prep bias ..)</a:t>
            </a:r>
          </a:p>
        </p:txBody>
      </p:sp>
    </p:spTree>
    <p:extLst>
      <p:ext uri="{BB962C8B-B14F-4D97-AF65-F5344CB8AC3E}">
        <p14:creationId xmlns:p14="http://schemas.microsoft.com/office/powerpoint/2010/main" val="393244147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FC0832-A44F-0D84-B6FD-1544DCD731A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45A364-536A-D721-C1AD-EFDA16490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97073CB-7F03-1FD3-1029-72B13237A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5F8430D5-BD88-5D05-103E-906C7B8C8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84065C-9D49-AF22-A29E-0F08BC21D525}"/>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Diversity measures</a:t>
            </a:r>
          </a:p>
        </p:txBody>
      </p:sp>
      <p:grpSp>
        <p:nvGrpSpPr>
          <p:cNvPr id="13" name="Group 12">
            <a:extLst>
              <a:ext uri="{FF2B5EF4-FFF2-40B4-BE49-F238E27FC236}">
                <a16:creationId xmlns:a16="http://schemas.microsoft.com/office/drawing/2014/main" id="{E1C756D9-DE83-837C-2404-15787EA8B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622EBF24-38B5-1960-EEA4-69112B644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7737116-0ED8-FBAE-DEFD-A8FBA92D16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346260-92E3-0680-7D7F-D528BE36C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83F5C54-D84A-5BA7-FDA2-C5C68765C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130C4B-1B33-E3FD-5663-7AB7AB0280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C7B1A534-3E64-B85F-AC58-564191C901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99ABAC8-95DE-F01D-87D4-6DCDC0B6D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28E83A-16C5-85F5-434F-143E2A474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397A128E-77B4-F9E8-AA56-B4BF35E122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4423179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(e.g., species, OTUs, ASVs)</a:t>
            </a:r>
          </a:p>
          <a:p>
            <a:pPr lvl="2" indent="-228600">
              <a:lnSpc>
                <a:spcPct val="90000"/>
              </a:lnSpc>
              <a:spcAft>
                <a:spcPts val="600"/>
              </a:spcAft>
              <a:buFont typeface="Arial" panose="020B0604020202020204" pitchFamily="34" charset="0"/>
              <a:buChar char="•"/>
            </a:pPr>
            <a:r>
              <a:rPr lang="en-US" dirty="0"/>
              <a:t>How many different taxa are in a sample</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a:t>
            </a:r>
          </a:p>
          <a:p>
            <a:pPr lvl="2" indent="-228600">
              <a:lnSpc>
                <a:spcPct val="90000"/>
              </a:lnSpc>
              <a:spcAft>
                <a:spcPts val="600"/>
              </a:spcAft>
              <a:buFont typeface="Arial" panose="020B0604020202020204" pitchFamily="34" charset="0"/>
              <a:buChar char="•"/>
            </a:pPr>
            <a:r>
              <a:rPr lang="en-US" b="1" dirty="0"/>
              <a:t>Interprets</a:t>
            </a:r>
            <a:r>
              <a:rPr lang="en-US" dirty="0"/>
              <a:t>: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Tree>
    <p:extLst>
      <p:ext uri="{BB962C8B-B14F-4D97-AF65-F5344CB8AC3E}">
        <p14:creationId xmlns:p14="http://schemas.microsoft.com/office/powerpoint/2010/main" val="213407219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443345" y="2580894"/>
            <a:ext cx="565265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indent="-228600">
              <a:lnSpc>
                <a:spcPct val="90000"/>
              </a:lnSpc>
              <a:spcAft>
                <a:spcPts val="600"/>
              </a:spcAft>
              <a:buFont typeface="Arial" panose="020B0604020202020204" pitchFamily="34" charset="0"/>
              <a:buChar char="•"/>
            </a:pPr>
            <a:endParaRPr lang="en-US"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 (other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2"/>
          <a:stretch>
            <a:fillRect/>
          </a:stretch>
        </p:blipFill>
        <p:spPr>
          <a:xfrm>
            <a:off x="6033810" y="820265"/>
            <a:ext cx="5505918" cy="5519717"/>
          </a:xfrm>
          <a:prstGeom prst="rect">
            <a:avLst/>
          </a:prstGeom>
        </p:spPr>
      </p:pic>
    </p:spTree>
    <p:extLst>
      <p:ext uri="{BB962C8B-B14F-4D97-AF65-F5344CB8AC3E}">
        <p14:creationId xmlns:p14="http://schemas.microsoft.com/office/powerpoint/2010/main" val="153813453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8558B-750A-4AAC-C05B-AF0A79F5A05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1F606C5-7F12-A8C3-F428-E102D5E7F4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EC7C36-2384-1B41-EC06-489D1AD55B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EA910710-ECEC-345E-F268-29A89076D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F93001-8BB3-2210-FE6F-2C48716E21E0}"/>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Challenges and limitations</a:t>
            </a:r>
          </a:p>
        </p:txBody>
      </p:sp>
      <p:grpSp>
        <p:nvGrpSpPr>
          <p:cNvPr id="13" name="Group 12">
            <a:extLst>
              <a:ext uri="{FF2B5EF4-FFF2-40B4-BE49-F238E27FC236}">
                <a16:creationId xmlns:a16="http://schemas.microsoft.com/office/drawing/2014/main" id="{92FB19B2-EA79-F852-266E-EEC3FB98B6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90B7868B-D64C-D75E-C6E4-F3246EA778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037C398D-2D27-7686-D33C-CFBE195A07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58D860A-5BAF-471E-91B0-C85D4A8F8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6715B49-D30E-78AF-03A9-5DDE62021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CF0E4B41-C6EA-83E2-809F-3D2A53235C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B8372E16-2705-6996-C71B-7A0192058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71D6082-7CB1-D9EF-18CB-EB6F05CE0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5399AB2-EB4F-E8F1-4F66-387B85C81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48D4B483-2925-DE8C-1825-F8246C59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89710508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838200" y="-124691"/>
            <a:ext cx="10360231" cy="1325563"/>
          </a:xfrm>
        </p:spPr>
        <p:txBody>
          <a:bodyPr>
            <a:normAutofit/>
          </a:bodyPr>
          <a:lstStyle/>
          <a:p>
            <a:r>
              <a:rPr lang="en-DK" sz="3600" dirty="0"/>
              <a:t>Challenges and limitations of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838200" y="900544"/>
            <a:ext cx="10360231" cy="4835237"/>
          </a:xfrm>
        </p:spPr>
        <p:txBody>
          <a:bodyPr>
            <a:noAutofit/>
          </a:bodyPr>
          <a:lstStyle/>
          <a:p>
            <a:r>
              <a:rPr lang="en-GB" sz="1600" dirty="0"/>
              <a:t>Shotgun metagenomics have higher cost than 16S amplicon but you get higher taxonomical resolution and functional information</a:t>
            </a:r>
          </a:p>
          <a:p>
            <a:r>
              <a:rPr lang="en-GB" sz="1600" dirty="0"/>
              <a:t>Sampling biases can occur when collecting environmental samples which can also lead to misrepresentation of the microbial community</a:t>
            </a:r>
          </a:p>
          <a:p>
            <a:r>
              <a:rPr lang="en-GB" sz="1600" dirty="0"/>
              <a:t>It is also challenging to extract microbes DNA from low biomass samples - highly dependant on the sampling method and the its accuracy</a:t>
            </a:r>
          </a:p>
          <a:p>
            <a:r>
              <a:rPr lang="en-GB" sz="1600" dirty="0"/>
              <a:t>Microbial genomes available and deposited in reference databases are biased towards model organisms, pathogens and cultivable bacteria</a:t>
            </a:r>
          </a:p>
          <a:p>
            <a:r>
              <a:rPr lang="en-GB" sz="1600" dirty="0"/>
              <a:t>Metagenomic sequencing can detect the presence of microorganisms but cannot easily determine if they are pathogenic (do they have their toxins? Are they active?) </a:t>
            </a:r>
          </a:p>
          <a:p>
            <a:r>
              <a:rPr lang="en-GB" sz="1600" dirty="0"/>
              <a:t>Functional profiling is hindered by the lack of annotation for most genes</a:t>
            </a:r>
          </a:p>
          <a:p>
            <a:r>
              <a:rPr lang="en-GB" sz="1600" dirty="0"/>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r>
              <a:rPr lang="en-DK" sz="1600" dirty="0"/>
              <a:t>“Live or dead” dilemma – DNA persists in the environment after the death of the host cell, sequencing results may not be representative of the active microbial population</a:t>
            </a:r>
          </a:p>
          <a:p>
            <a:r>
              <a:rPr lang="en-DK" sz="1600" dirty="0"/>
              <a:t>Snapshot of the microbiome - many metagenomics studies are cross-sectional and can not assess intra- vs inter-subject variation – more longitudinal studies are needed</a:t>
            </a:r>
          </a:p>
          <a:p>
            <a:r>
              <a:rPr lang="en-DK" sz="1600" dirty="0"/>
              <a:t>Disentangling the cause from the effect – follow ups, longitudinal and prospective studies needed</a:t>
            </a:r>
          </a:p>
          <a:p>
            <a:r>
              <a:rPr lang="en-DK" sz="1600" dirty="0"/>
              <a:t>Metagenomics have not yet reached the level of standardization of other high-throughput techniques</a:t>
            </a:r>
          </a:p>
        </p:txBody>
      </p:sp>
    </p:spTree>
    <p:extLst>
      <p:ext uri="{BB962C8B-B14F-4D97-AF65-F5344CB8AC3E}">
        <p14:creationId xmlns:p14="http://schemas.microsoft.com/office/powerpoint/2010/main" val="67719316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64184</TotalTime>
  <Words>5958</Words>
  <Application>Microsoft Macintosh PowerPoint</Application>
  <PresentationFormat>Widescreen</PresentationFormat>
  <Paragraphs>804</Paragraphs>
  <Slides>46</Slides>
  <Notes>34</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46</vt:i4>
      </vt:variant>
    </vt:vector>
  </HeadingPairs>
  <TitlesOfParts>
    <vt:vector size="56" baseType="lpstr">
      <vt:lpstr>-apple-system</vt:lpstr>
      <vt:lpstr>Aptos</vt:lpstr>
      <vt:lpstr>Aptos Display</vt:lpstr>
      <vt:lpstr>Arial</vt:lpstr>
      <vt:lpstr>Calibri</vt:lpstr>
      <vt:lpstr>Neue Haas Grotesk Text Pro</vt:lpstr>
      <vt:lpstr>Source Sans Pro</vt:lpstr>
      <vt:lpstr>system-ui</vt:lpstr>
      <vt:lpstr>Wingdings</vt:lpstr>
      <vt:lpstr>Office Theme</vt:lpstr>
      <vt:lpstr>Introduction to Metagenomics</vt:lpstr>
      <vt:lpstr>Impact of microbiome studies in medical and planetary health</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Antimicrobial resistance is a major threat to global health! </vt:lpstr>
      <vt:lpstr>Microbial community at the Deepwater Horizon oil spill site</vt:lpstr>
      <vt:lpstr>Global ocean microbiome (Tara oceans)</vt:lpstr>
      <vt:lpstr>What is metagenomics?</vt:lpstr>
      <vt:lpstr>Microbiome definition</vt:lpstr>
      <vt:lpstr>Microbiome definition</vt:lpstr>
      <vt:lpstr>What a microbiome study usually answer?</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Taxonomical profiling</vt:lpstr>
      <vt:lpstr>16S amplicon sequencing</vt:lpstr>
      <vt:lpstr>16S amplicon sequencing</vt:lpstr>
      <vt:lpstr>Reference-based methods</vt:lpstr>
      <vt:lpstr>Amplicon and read-based shotgun metagenomics tools</vt:lpstr>
      <vt:lpstr>Metagenome-assembled genomes (MAG)</vt:lpstr>
      <vt:lpstr>MAG construction tools</vt:lpstr>
      <vt:lpstr>Sumary table</vt:lpstr>
      <vt:lpstr>Functional profiling</vt:lpstr>
      <vt:lpstr>Functional annotation from the gene catalog</vt:lpstr>
      <vt:lpstr>Functional annotation from the gene catalog</vt:lpstr>
      <vt:lpstr>Microbiome data</vt:lpstr>
      <vt:lpstr>Microbiome data</vt:lpstr>
      <vt:lpstr>Microbiome data</vt:lpstr>
      <vt:lpstr>Compositional data</vt:lpstr>
      <vt:lpstr>Ideal scenario: absolute abundances</vt:lpstr>
      <vt:lpstr>Diversity measures</vt:lpstr>
      <vt:lpstr>Diversity measures: Alpha diversity</vt:lpstr>
      <vt:lpstr>Diversity measures: Beta diversity</vt:lpstr>
      <vt:lpstr>Challenges and limitations</vt:lpstr>
      <vt:lpstr>Challenges and limitations of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59</cp:revision>
  <cp:lastPrinted>2025-06-09T09:36:52Z</cp:lastPrinted>
  <dcterms:created xsi:type="dcterms:W3CDTF">2025-04-12T18:46:44Z</dcterms:created>
  <dcterms:modified xsi:type="dcterms:W3CDTF">2025-06-09T15:48:34Z</dcterms:modified>
</cp:coreProperties>
</file>