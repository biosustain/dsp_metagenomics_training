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71" r:id="rId3"/>
    <p:sldId id="273" r:id="rId4"/>
    <p:sldId id="274" r:id="rId5"/>
    <p:sldId id="275" r:id="rId6"/>
    <p:sldId id="276" r:id="rId7"/>
    <p:sldId id="277" r:id="rId8"/>
    <p:sldId id="272" r:id="rId9"/>
    <p:sldId id="279" r:id="rId10"/>
    <p:sldId id="281" r:id="rId11"/>
    <p:sldId id="257" r:id="rId12"/>
    <p:sldId id="258" r:id="rId13"/>
    <p:sldId id="259" r:id="rId14"/>
    <p:sldId id="267" r:id="rId15"/>
    <p:sldId id="282" r:id="rId16"/>
    <p:sldId id="269" r:id="rId17"/>
    <p:sldId id="270" r:id="rId18"/>
    <p:sldId id="289" r:id="rId19"/>
    <p:sldId id="280" r:id="rId20"/>
    <p:sldId id="290" r:id="rId21"/>
    <p:sldId id="291" r:id="rId22"/>
    <p:sldId id="264" r:id="rId23"/>
    <p:sldId id="292" r:id="rId24"/>
    <p:sldId id="265" r:id="rId25"/>
    <p:sldId id="293" r:id="rId26"/>
    <p:sldId id="288" r:id="rId27"/>
    <p:sldId id="296" r:id="rId28"/>
    <p:sldId id="278" r:id="rId29"/>
    <p:sldId id="285" r:id="rId30"/>
    <p:sldId id="262" r:id="rId31"/>
    <p:sldId id="294" r:id="rId32"/>
    <p:sldId id="295" r:id="rId33"/>
    <p:sldId id="284" r:id="rId34"/>
    <p:sldId id="283" r:id="rId35"/>
    <p:sldId id="286" r:id="rId36"/>
    <p:sldId id="261" r:id="rId37"/>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11"/>
    <p:restoredTop sz="81202"/>
  </p:normalViewPr>
  <p:slideViewPr>
    <p:cSldViewPr snapToGrid="0">
      <p:cViewPr varScale="1">
        <p:scale>
          <a:sx n="93" d="100"/>
          <a:sy n="93" d="100"/>
        </p:scale>
        <p:origin x="248"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a:t>What is the toal abundace (number of cells) (by absolute abundace)</a:t>
          </a:r>
          <a:endParaRPr lang="en-US" sz="160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a:t>How abundant are bacteria, archaea, protozo, virus,…</a:t>
          </a:r>
          <a:endParaRPr lang="en-US" sz="160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present?z</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present?z</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What is the toal abundace (number of cells) (by absolute abundace)</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abundant are bacteria, archaea, protozo, virus,…</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associations between the intestinal microbiome and disease. At this moment, for most diseases it is not known whether the microbiota is causally related or merely a result of the pathophysiology.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overview of ongoing trials in which the efficacy of FMT is tested for a range of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Choropleth of the world coloured by the country-wise average total AMR load (see methods). Small green dots show unique sampling sites contributing to the average. Some areas are disputed, and we realize that exact border placement is difficult due to geopolitical issues. </a:t>
            </a:r>
            <a:r>
              <a:rPr lang="en-GB" sz="1200" b="1" i="0" kern="1200" dirty="0">
                <a:solidFill>
                  <a:schemeClr val="tx1"/>
                </a:solidFill>
                <a:effectLst/>
                <a:latin typeface="+mn-lt"/>
                <a:ea typeface="+mn-ea"/>
                <a:cs typeface="+mn-cs"/>
              </a:rPr>
              <a:t>b</a:t>
            </a:r>
            <a:r>
              <a:rPr lang="en-GB" sz="1200" b="0" i="0" kern="1200" dirty="0">
                <a:solidFill>
                  <a:schemeClr val="tx1"/>
                </a:solidFill>
                <a:effectLst/>
                <a:latin typeface="+mn-lt"/>
                <a:ea typeface="+mn-ea"/>
                <a:cs typeface="+mn-cs"/>
              </a:rPr>
              <a:t>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1739019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29</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1203967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pubmed.ncbi.nlm.nih.gov/36309208/" TargetMode="External"/><Relationship Id="rId2" Type="http://schemas.openxmlformats.org/officeDocument/2006/relationships/hyperlink" Target="https://www.thelancet.com/journals/ebiom/article/PIIS2352-3964%2819%2930375-5/fulltex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wired.com/story/the-antibiotic-resistance-crisis-has-a-troubling-twist" TargetMode="External"/><Relationship Id="rId2" Type="http://schemas.openxmlformats.org/officeDocument/2006/relationships/hyperlink" Target="https://en.wikipedia.org/wiki/Plant_microbiome" TargetMode="External"/><Relationship Id="rId1" Type="http://schemas.openxmlformats.org/officeDocument/2006/relationships/slideLayout" Target="../slideLayouts/slideLayout2.xml"/><Relationship Id="rId4" Type="http://schemas.openxmlformats.org/officeDocument/2006/relationships/hyperlink" Target="https://www.nature.com/articles/s41467-024-51957-8"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5.jpeg"/><Relationship Id="rId9"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www.jci.org/132/7" TargetMode="External"/><Relationship Id="rId7" Type="http://schemas.openxmlformats.org/officeDocument/2006/relationships/image" Target="../media/image19.png"/><Relationship Id="rId2" Type="http://schemas.openxmlformats.org/officeDocument/2006/relationships/image" Target="../media/image5.jpe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jpeg"/><Relationship Id="rId4" Type="http://schemas.openxmlformats.org/officeDocument/2006/relationships/hyperlink" Target="https://doi.org/10.1172/JCI154944"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1420897" y="1152093"/>
            <a:ext cx="9870558" cy="2387600"/>
          </a:xfrm>
        </p:spPr>
        <p:txBody>
          <a:bodyPr>
            <a:normAutofit/>
          </a:bodyPr>
          <a:lstStyle/>
          <a:p>
            <a:r>
              <a:rPr lang="en-DK" dirty="0"/>
              <a:t>Introduction to Metagenomics</a:t>
            </a:r>
          </a:p>
        </p:txBody>
      </p: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p:txBody>
          <a:bodyPr>
            <a:normAutofit lnSpcReduction="10000"/>
          </a:bodyPr>
          <a:lstStyle/>
          <a:p>
            <a:r>
              <a:rPr lang="en-DK" sz="2800" dirty="0"/>
              <a:t>Data Science platform</a:t>
            </a:r>
          </a:p>
          <a:p>
            <a:r>
              <a:rPr lang="en-DK" dirty="0"/>
              <a:t>DTU – Biosustain</a:t>
            </a:r>
          </a:p>
          <a:p>
            <a:r>
              <a:rPr lang="en-DK" dirty="0"/>
              <a:t>Spring Courses</a:t>
            </a:r>
            <a:br>
              <a:rPr lang="en-DK" dirty="0"/>
            </a:br>
            <a:r>
              <a:rPr lang="en-DK" dirty="0"/>
              <a:t>11th June 2025</a:t>
            </a:r>
          </a:p>
        </p:txBody>
      </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FAE5FB-F371-9CE3-E58D-9B0A0349B58B}"/>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Impact of microbiome studies on health studies</a:t>
            </a:r>
          </a:p>
        </p:txBody>
      </p:sp>
      <p:graphicFrame>
        <p:nvGraphicFramePr>
          <p:cNvPr id="4" name="Table 3">
            <a:extLst>
              <a:ext uri="{FF2B5EF4-FFF2-40B4-BE49-F238E27FC236}">
                <a16:creationId xmlns:a16="http://schemas.microsoft.com/office/drawing/2014/main" id="{DB93A725-5BAC-EDCF-BCC3-74FB5991DDD8}"/>
              </a:ext>
            </a:extLst>
          </p:cNvPr>
          <p:cNvGraphicFramePr>
            <a:graphicFrameLocks noGrp="1"/>
          </p:cNvGraphicFramePr>
          <p:nvPr>
            <p:extLst>
              <p:ext uri="{D42A27DB-BD31-4B8C-83A1-F6EECF244321}">
                <p14:modId xmlns:p14="http://schemas.microsoft.com/office/powerpoint/2010/main" val="2724658075"/>
              </p:ext>
            </p:extLst>
          </p:nvPr>
        </p:nvGraphicFramePr>
        <p:xfrm>
          <a:off x="643467" y="1897481"/>
          <a:ext cx="10905068" cy="4635554"/>
        </p:xfrm>
        <a:graphic>
          <a:graphicData uri="http://schemas.openxmlformats.org/drawingml/2006/table">
            <a:tbl>
              <a:tblPr/>
              <a:tblGrid>
                <a:gridCol w="3530465">
                  <a:extLst>
                    <a:ext uri="{9D8B030D-6E8A-4147-A177-3AD203B41FA5}">
                      <a16:colId xmlns:a16="http://schemas.microsoft.com/office/drawing/2014/main" val="3483611759"/>
                    </a:ext>
                  </a:extLst>
                </a:gridCol>
                <a:gridCol w="3696072">
                  <a:extLst>
                    <a:ext uri="{9D8B030D-6E8A-4147-A177-3AD203B41FA5}">
                      <a16:colId xmlns:a16="http://schemas.microsoft.com/office/drawing/2014/main" val="3096535932"/>
                    </a:ext>
                  </a:extLst>
                </a:gridCol>
                <a:gridCol w="3678531">
                  <a:extLst>
                    <a:ext uri="{9D8B030D-6E8A-4147-A177-3AD203B41FA5}">
                      <a16:colId xmlns:a16="http://schemas.microsoft.com/office/drawing/2014/main" val="982739280"/>
                    </a:ext>
                  </a:extLst>
                </a:gridCol>
              </a:tblGrid>
              <a:tr h="288174">
                <a:tc>
                  <a:txBody>
                    <a:bodyPr/>
                    <a:lstStyle/>
                    <a:p>
                      <a:r>
                        <a:rPr lang="en-GB" sz="1400" b="1"/>
                        <a:t>Achievement</a:t>
                      </a:r>
                      <a:endParaRPr lang="en-GB" sz="1400"/>
                    </a:p>
                  </a:txBody>
                  <a:tcPr marL="58707" marR="58707" marT="29354" marB="29354" anchor="ctr">
                    <a:lnL>
                      <a:noFill/>
                    </a:lnL>
                    <a:lnR>
                      <a:noFill/>
                    </a:lnR>
                    <a:lnT>
                      <a:noFill/>
                    </a:lnT>
                    <a:lnB>
                      <a:noFill/>
                    </a:lnB>
                    <a:noFill/>
                  </a:tcPr>
                </a:tc>
                <a:tc>
                  <a:txBody>
                    <a:bodyPr/>
                    <a:lstStyle/>
                    <a:p>
                      <a:r>
                        <a:rPr lang="en-GB" sz="1400" b="1"/>
                        <a:t>Description</a:t>
                      </a:r>
                      <a:endParaRPr lang="en-GB" sz="1400"/>
                    </a:p>
                  </a:txBody>
                  <a:tcPr marL="58707" marR="58707" marT="29354" marB="29354" anchor="ctr">
                    <a:lnL>
                      <a:noFill/>
                    </a:lnL>
                    <a:lnR>
                      <a:noFill/>
                    </a:lnR>
                    <a:lnT>
                      <a:noFill/>
                    </a:lnT>
                    <a:lnB>
                      <a:noFill/>
                    </a:lnB>
                    <a:noFill/>
                  </a:tcPr>
                </a:tc>
                <a:tc>
                  <a:txBody>
                    <a:bodyPr/>
                    <a:lstStyle/>
                    <a:p>
                      <a:r>
                        <a:rPr lang="en-GB" sz="1400" b="1"/>
                        <a:t>Citation</a:t>
                      </a:r>
                      <a:endParaRPr lang="en-GB" sz="1400"/>
                    </a:p>
                  </a:txBody>
                  <a:tcPr marL="58707" marR="58707" marT="29354" marB="29354" anchor="ctr">
                    <a:lnL>
                      <a:noFill/>
                    </a:lnL>
                    <a:lnR>
                      <a:noFill/>
                    </a:lnR>
                    <a:lnT>
                      <a:noFill/>
                    </a:lnT>
                    <a:lnB>
                      <a:noFill/>
                    </a:lnB>
                    <a:noFill/>
                  </a:tcPr>
                </a:tc>
                <a:extLst>
                  <a:ext uri="{0D108BD9-81ED-4DB2-BD59-A6C34878D82A}">
                    <a16:rowId xmlns:a16="http://schemas.microsoft.com/office/drawing/2014/main" val="2115895726"/>
                  </a:ext>
                </a:extLst>
              </a:tr>
              <a:tr h="843336">
                <a:tc>
                  <a:txBody>
                    <a:bodyPr/>
                    <a:lstStyle/>
                    <a:p>
                      <a:r>
                        <a:rPr lang="en-GB" sz="1400" b="1"/>
                        <a:t>Human Microbiome Mapping</a:t>
                      </a:r>
                      <a:endParaRPr lang="en-GB" sz="1400"/>
                    </a:p>
                  </a:txBody>
                  <a:tcPr marL="58707" marR="58707" marT="29354" marB="29354" anchor="ctr">
                    <a:lnL>
                      <a:noFill/>
                    </a:lnL>
                    <a:lnR>
                      <a:noFill/>
                    </a:lnR>
                    <a:lnT>
                      <a:noFill/>
                    </a:lnT>
                    <a:lnB>
                      <a:noFill/>
                    </a:lnB>
                    <a:noFill/>
                  </a:tcPr>
                </a:tc>
                <a:tc>
                  <a:txBody>
                    <a:bodyPr/>
                    <a:lstStyle/>
                    <a:p>
                      <a:r>
                        <a:rPr lang="en-GB" sz="1400"/>
                        <a:t>The Human Microbiome Project (HMP) mapped microbial communities across various body sites, revealing extensive microbial diversity in healthy individuals.</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2765195234"/>
                  </a:ext>
                </a:extLst>
              </a:tr>
              <a:tr h="658282">
                <a:tc>
                  <a:txBody>
                    <a:bodyPr/>
                    <a:lstStyle/>
                    <a:p>
                      <a:r>
                        <a:rPr lang="en-GB" sz="1400" b="1"/>
                        <a:t>Microbiome and Chronic Diseases</a:t>
                      </a:r>
                      <a:endParaRPr lang="en-GB" sz="1400"/>
                    </a:p>
                  </a:txBody>
                  <a:tcPr marL="58707" marR="58707" marT="29354" marB="29354" anchor="ctr">
                    <a:lnL>
                      <a:noFill/>
                    </a:lnL>
                    <a:lnR>
                      <a:noFill/>
                    </a:lnR>
                    <a:lnT>
                      <a:noFill/>
                    </a:lnT>
                    <a:lnB>
                      <a:noFill/>
                    </a:lnB>
                    <a:noFill/>
                  </a:tcPr>
                </a:tc>
                <a:tc>
                  <a:txBody>
                    <a:bodyPr/>
                    <a:lstStyle/>
                    <a:p>
                      <a:r>
                        <a:rPr lang="en-GB" sz="1400"/>
                        <a:t>Established associations between gut microbiota and conditions like obesity, type 2 diabetes, IBD, cardiovascular disease, and autoimmune disorders.</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390021459"/>
                  </a:ext>
                </a:extLst>
              </a:tr>
              <a:tr h="843336">
                <a:tc>
                  <a:txBody>
                    <a:bodyPr/>
                    <a:lstStyle/>
                    <a:p>
                      <a:r>
                        <a:rPr lang="en-GB" sz="1400" b="1"/>
                        <a:t>Gut-Brain Axis</a:t>
                      </a:r>
                      <a:endParaRPr lang="en-GB" sz="1400"/>
                    </a:p>
                  </a:txBody>
                  <a:tcPr marL="58707" marR="58707" marT="29354" marB="29354" anchor="ctr">
                    <a:lnL>
                      <a:noFill/>
                    </a:lnL>
                    <a:lnR>
                      <a:noFill/>
                    </a:lnR>
                    <a:lnT>
                      <a:noFill/>
                    </a:lnT>
                    <a:lnB>
                      <a:noFill/>
                    </a:lnB>
                    <a:noFill/>
                  </a:tcPr>
                </a:tc>
                <a:tc>
                  <a:txBody>
                    <a:bodyPr/>
                    <a:lstStyle/>
                    <a:p>
                      <a:r>
                        <a:rPr lang="en-GB" sz="1400"/>
                        <a:t>Demonstrated that gut microbes influence mood, anxiety, and cognitive functions, contributing to understanding of disorders like depression, autism, and Parkinson’s disease.</a:t>
                      </a:r>
                    </a:p>
                  </a:txBody>
                  <a:tcPr marL="58707" marR="58707" marT="29354" marB="29354" anchor="ctr">
                    <a:lnL>
                      <a:noFill/>
                    </a:lnL>
                    <a:lnR>
                      <a:noFill/>
                    </a:lnR>
                    <a:lnT>
                      <a:noFill/>
                    </a:lnT>
                    <a:lnB>
                      <a:noFill/>
                    </a:lnB>
                    <a:noFill/>
                  </a:tcPr>
                </a:tc>
                <a:tc>
                  <a:txBody>
                    <a:bodyPr/>
                    <a:lstStyle/>
                    <a:p>
                      <a:r>
                        <a:rPr lang="en-GB" sz="1400"/>
                        <a:t>NIH Human Microbiome Project</a:t>
                      </a:r>
                    </a:p>
                  </a:txBody>
                  <a:tcPr marL="58707" marR="58707" marT="29354" marB="29354" anchor="ctr">
                    <a:lnL>
                      <a:noFill/>
                    </a:lnL>
                    <a:lnR>
                      <a:noFill/>
                    </a:lnR>
                    <a:lnT>
                      <a:noFill/>
                    </a:lnT>
                    <a:lnB>
                      <a:noFill/>
                    </a:lnB>
                    <a:noFill/>
                  </a:tcPr>
                </a:tc>
                <a:extLst>
                  <a:ext uri="{0D108BD9-81ED-4DB2-BD59-A6C34878D82A}">
                    <a16:rowId xmlns:a16="http://schemas.microsoft.com/office/drawing/2014/main" val="667968994"/>
                  </a:ext>
                </a:extLst>
              </a:tr>
              <a:tr h="658282">
                <a:tc>
                  <a:txBody>
                    <a:bodyPr/>
                    <a:lstStyle/>
                    <a:p>
                      <a:r>
                        <a:rPr lang="en-GB" sz="1400" b="1"/>
                        <a:t>Fecal Microbiota Transplantation (FMT)</a:t>
                      </a:r>
                      <a:endParaRPr lang="en-GB" sz="1400"/>
                    </a:p>
                  </a:txBody>
                  <a:tcPr marL="58707" marR="58707" marT="29354" marB="29354" anchor="ctr">
                    <a:lnL>
                      <a:noFill/>
                    </a:lnL>
                    <a:lnR>
                      <a:noFill/>
                    </a:lnR>
                    <a:lnT>
                      <a:noFill/>
                    </a:lnT>
                    <a:lnB>
                      <a:noFill/>
                    </a:lnB>
                    <a:noFill/>
                  </a:tcPr>
                </a:tc>
                <a:tc>
                  <a:txBody>
                    <a:bodyPr/>
                    <a:lstStyle/>
                    <a:p>
                      <a:r>
                        <a:rPr lang="en-GB" sz="1400"/>
                        <a:t>FMT has shown high efficacy in treating recurrent </a:t>
                      </a:r>
                      <a:r>
                        <a:rPr lang="en-GB" sz="1400" i="1"/>
                        <a:t>Clostridioides difficile</a:t>
                      </a:r>
                      <a:r>
                        <a:rPr lang="en-GB" sz="1400"/>
                        <a:t> infections, with success rates up to 90%.</a:t>
                      </a:r>
                    </a:p>
                  </a:txBody>
                  <a:tcPr marL="58707" marR="58707" marT="29354" marB="29354" anchor="ctr">
                    <a:lnL>
                      <a:noFill/>
                    </a:lnL>
                    <a:lnR>
                      <a:noFill/>
                    </a:lnR>
                    <a:lnT>
                      <a:noFill/>
                    </a:lnT>
                    <a:lnB>
                      <a:noFill/>
                    </a:lnB>
                    <a:noFill/>
                  </a:tcPr>
                </a:tc>
                <a:tc>
                  <a:txBody>
                    <a:bodyPr/>
                    <a:lstStyle/>
                    <a:p>
                      <a:r>
                        <a:rPr lang="en-GB" sz="1400" dirty="0">
                          <a:hlinkClick r:id="rId2"/>
                        </a:rPr>
                        <a:t>eBioMedicine, The Lancet</a:t>
                      </a:r>
                      <a:endParaRPr lang="en-GB" sz="1400" dirty="0"/>
                    </a:p>
                  </a:txBody>
                  <a:tcPr marL="58707" marR="58707" marT="29354" marB="29354" anchor="ctr">
                    <a:lnL>
                      <a:noFill/>
                    </a:lnL>
                    <a:lnR>
                      <a:noFill/>
                    </a:lnR>
                    <a:lnT>
                      <a:noFill/>
                    </a:lnT>
                    <a:lnB>
                      <a:noFill/>
                    </a:lnB>
                    <a:noFill/>
                  </a:tcPr>
                </a:tc>
                <a:extLst>
                  <a:ext uri="{0D108BD9-81ED-4DB2-BD59-A6C34878D82A}">
                    <a16:rowId xmlns:a16="http://schemas.microsoft.com/office/drawing/2014/main" val="1260892422"/>
                  </a:ext>
                </a:extLst>
              </a:tr>
              <a:tr h="658282">
                <a:tc>
                  <a:txBody>
                    <a:bodyPr/>
                    <a:lstStyle/>
                    <a:p>
                      <a:r>
                        <a:rPr lang="en-GB" sz="1400" b="1"/>
                        <a:t>Microbiome and Drug Response</a:t>
                      </a:r>
                      <a:endParaRPr lang="en-GB" sz="1400"/>
                    </a:p>
                  </a:txBody>
                  <a:tcPr marL="58707" marR="58707" marT="29354" marB="29354" anchor="ctr">
                    <a:lnL>
                      <a:noFill/>
                    </a:lnL>
                    <a:lnR>
                      <a:noFill/>
                    </a:lnR>
                    <a:lnT>
                      <a:noFill/>
                    </a:lnT>
                    <a:lnB>
                      <a:noFill/>
                    </a:lnB>
                    <a:noFill/>
                  </a:tcPr>
                </a:tc>
                <a:tc>
                  <a:txBody>
                    <a:bodyPr/>
                    <a:lstStyle/>
                    <a:p>
                      <a:r>
                        <a:rPr lang="en-GB" sz="1400"/>
                        <a:t>Studies indicate that gut bacteria can modulate the efficacy and toxicity of drugs, including chemotherapy and immunotherapy agents.</a:t>
                      </a:r>
                    </a:p>
                  </a:txBody>
                  <a:tcPr marL="58707" marR="58707" marT="29354" marB="29354" anchor="ctr">
                    <a:lnL>
                      <a:noFill/>
                    </a:lnL>
                    <a:lnR>
                      <a:noFill/>
                    </a:lnR>
                    <a:lnT>
                      <a:noFill/>
                    </a:lnT>
                    <a:lnB>
                      <a:noFill/>
                    </a:lnB>
                    <a:noFill/>
                  </a:tcPr>
                </a:tc>
                <a:tc>
                  <a:txBody>
                    <a:bodyPr/>
                    <a:lstStyle/>
                    <a:p>
                      <a:r>
                        <a:rPr lang="en-GB" sz="1400" dirty="0">
                          <a:hlinkClick r:id="rId3"/>
                        </a:rPr>
                        <a:t>https://</a:t>
                      </a:r>
                      <a:r>
                        <a:rPr lang="en-GB" sz="1400" dirty="0" err="1">
                          <a:hlinkClick r:id="rId3"/>
                        </a:rPr>
                        <a:t>pubmed.ncbi.nlm.nih.gov</a:t>
                      </a:r>
                      <a:r>
                        <a:rPr lang="en-GB" sz="1400" dirty="0">
                          <a:hlinkClick r:id="rId3"/>
                        </a:rPr>
                        <a:t>/36309208/</a:t>
                      </a:r>
                      <a:endParaRPr lang="en-GB" sz="1400" dirty="0"/>
                    </a:p>
                  </a:txBody>
                  <a:tcPr marL="58707" marR="58707" marT="29354" marB="29354" anchor="ctr">
                    <a:lnL>
                      <a:noFill/>
                    </a:lnL>
                    <a:lnR>
                      <a:noFill/>
                    </a:lnR>
                    <a:lnT>
                      <a:noFill/>
                    </a:lnT>
                    <a:lnB>
                      <a:noFill/>
                    </a:lnB>
                    <a:noFill/>
                  </a:tcPr>
                </a:tc>
                <a:extLst>
                  <a:ext uri="{0D108BD9-81ED-4DB2-BD59-A6C34878D82A}">
                    <a16:rowId xmlns:a16="http://schemas.microsoft.com/office/drawing/2014/main" val="2934537183"/>
                  </a:ext>
                </a:extLst>
              </a:tr>
            </a:tbl>
          </a:graphicData>
        </a:graphic>
      </p:graphicFrame>
    </p:spTree>
    <p:extLst>
      <p:ext uri="{BB962C8B-B14F-4D97-AF65-F5344CB8AC3E}">
        <p14:creationId xmlns:p14="http://schemas.microsoft.com/office/powerpoint/2010/main" val="1254196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p:txBody>
          <a:bodyPr/>
          <a:lstStyle/>
          <a:p>
            <a:endParaRPr lang="en-DK"/>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9650" y="0"/>
            <a:ext cx="76327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644EDA-4027-47E4-C8D1-DC28B767676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Impact of microbiome studies on Environmental Science</a:t>
            </a:r>
          </a:p>
        </p:txBody>
      </p:sp>
      <p:graphicFrame>
        <p:nvGraphicFramePr>
          <p:cNvPr id="5" name="Table 4">
            <a:extLst>
              <a:ext uri="{FF2B5EF4-FFF2-40B4-BE49-F238E27FC236}">
                <a16:creationId xmlns:a16="http://schemas.microsoft.com/office/drawing/2014/main" id="{F5D8AB45-4765-CEAF-47D3-11FF6FF36CCA}"/>
              </a:ext>
            </a:extLst>
          </p:cNvPr>
          <p:cNvGraphicFramePr>
            <a:graphicFrameLocks noGrp="1"/>
          </p:cNvGraphicFramePr>
          <p:nvPr>
            <p:extLst>
              <p:ext uri="{D42A27DB-BD31-4B8C-83A1-F6EECF244321}">
                <p14:modId xmlns:p14="http://schemas.microsoft.com/office/powerpoint/2010/main" val="2865863587"/>
              </p:ext>
            </p:extLst>
          </p:nvPr>
        </p:nvGraphicFramePr>
        <p:xfrm>
          <a:off x="643317" y="1795306"/>
          <a:ext cx="10905366" cy="4817956"/>
        </p:xfrm>
        <a:graphic>
          <a:graphicData uri="http://schemas.openxmlformats.org/drawingml/2006/table">
            <a:tbl>
              <a:tblPr/>
              <a:tblGrid>
                <a:gridCol w="3218026">
                  <a:extLst>
                    <a:ext uri="{9D8B030D-6E8A-4147-A177-3AD203B41FA5}">
                      <a16:colId xmlns:a16="http://schemas.microsoft.com/office/drawing/2014/main" val="2911860135"/>
                    </a:ext>
                  </a:extLst>
                </a:gridCol>
                <a:gridCol w="4912242">
                  <a:extLst>
                    <a:ext uri="{9D8B030D-6E8A-4147-A177-3AD203B41FA5}">
                      <a16:colId xmlns:a16="http://schemas.microsoft.com/office/drawing/2014/main" val="3496743960"/>
                    </a:ext>
                  </a:extLst>
                </a:gridCol>
                <a:gridCol w="2775098">
                  <a:extLst>
                    <a:ext uri="{9D8B030D-6E8A-4147-A177-3AD203B41FA5}">
                      <a16:colId xmlns:a16="http://schemas.microsoft.com/office/drawing/2014/main" val="2796709956"/>
                    </a:ext>
                  </a:extLst>
                </a:gridCol>
              </a:tblGrid>
              <a:tr h="193393">
                <a:tc>
                  <a:txBody>
                    <a:bodyPr/>
                    <a:lstStyle/>
                    <a:p>
                      <a:r>
                        <a:rPr lang="en-GB" sz="1600" b="1"/>
                        <a:t>Achievement</a:t>
                      </a:r>
                      <a:endParaRPr lang="en-GB" sz="1600"/>
                    </a:p>
                  </a:txBody>
                  <a:tcPr marL="48348" marR="48348" marT="24174" marB="24174" anchor="ctr">
                    <a:lnL>
                      <a:noFill/>
                    </a:lnL>
                    <a:lnR>
                      <a:noFill/>
                    </a:lnR>
                    <a:lnT>
                      <a:noFill/>
                    </a:lnT>
                    <a:lnB>
                      <a:noFill/>
                    </a:lnB>
                    <a:noFill/>
                  </a:tcPr>
                </a:tc>
                <a:tc>
                  <a:txBody>
                    <a:bodyPr/>
                    <a:lstStyle/>
                    <a:p>
                      <a:r>
                        <a:rPr lang="en-GB" sz="1600" b="1"/>
                        <a:t>Description</a:t>
                      </a:r>
                      <a:endParaRPr lang="en-GB" sz="1600"/>
                    </a:p>
                  </a:txBody>
                  <a:tcPr marL="48348" marR="48348" marT="24174" marB="24174" anchor="ctr">
                    <a:lnL>
                      <a:noFill/>
                    </a:lnL>
                    <a:lnR>
                      <a:noFill/>
                    </a:lnR>
                    <a:lnT>
                      <a:noFill/>
                    </a:lnT>
                    <a:lnB>
                      <a:noFill/>
                    </a:lnB>
                    <a:noFill/>
                  </a:tcPr>
                </a:tc>
                <a:tc>
                  <a:txBody>
                    <a:bodyPr/>
                    <a:lstStyle/>
                    <a:p>
                      <a:r>
                        <a:rPr lang="en-GB" sz="1600" b="1"/>
                        <a:t>Citation</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4036522085"/>
                  </a:ext>
                </a:extLst>
              </a:tr>
              <a:tr h="918616">
                <a:tc>
                  <a:txBody>
                    <a:bodyPr/>
                    <a:lstStyle/>
                    <a:p>
                      <a:r>
                        <a:rPr lang="en-GB" sz="1600" b="1"/>
                        <a:t>Soil and Plant Microbiomes</a:t>
                      </a:r>
                      <a:endParaRPr lang="en-GB" sz="1600"/>
                    </a:p>
                  </a:txBody>
                  <a:tcPr marL="48348" marR="48348" marT="24174" marB="24174" anchor="ctr">
                    <a:lnL>
                      <a:noFill/>
                    </a:lnL>
                    <a:lnR>
                      <a:noFill/>
                    </a:lnR>
                    <a:lnT>
                      <a:noFill/>
                    </a:lnT>
                    <a:lnB>
                      <a:noFill/>
                    </a:lnB>
                    <a:noFill/>
                  </a:tcPr>
                </a:tc>
                <a:tc>
                  <a:txBody>
                    <a:bodyPr/>
                    <a:lstStyle/>
                    <a:p>
                      <a:r>
                        <a:rPr lang="en-GB" sz="1600"/>
                        <a:t>Advanced understanding of plant-microbe interactions in the rhizosphere, leading to improved soil fertility and plant growth through biofertilizers and biopesticides.</a:t>
                      </a:r>
                    </a:p>
                  </a:txBody>
                  <a:tcPr marL="48348" marR="48348" marT="24174" marB="24174" anchor="ctr">
                    <a:lnL>
                      <a:noFill/>
                    </a:lnL>
                    <a:lnR>
                      <a:noFill/>
                    </a:lnR>
                    <a:lnT>
                      <a:noFill/>
                    </a:lnT>
                    <a:lnB>
                      <a:noFill/>
                    </a:lnB>
                    <a:noFill/>
                  </a:tcPr>
                </a:tc>
                <a:tc>
                  <a:txBody>
                    <a:bodyPr/>
                    <a:lstStyle/>
                    <a:p>
                      <a:r>
                        <a:rPr lang="en-GB" sz="1600" dirty="0">
                          <a:hlinkClick r:id="rId2"/>
                        </a:rPr>
                        <a:t>Plant Microbiome - Wikipedia</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1919197000"/>
                  </a:ext>
                </a:extLst>
              </a:tr>
              <a:tr h="773571">
                <a:tc>
                  <a:txBody>
                    <a:bodyPr/>
                    <a:lstStyle/>
                    <a:p>
                      <a:r>
                        <a:rPr lang="en-GB" sz="1600" b="1"/>
                        <a:t>Bioremediation</a:t>
                      </a:r>
                      <a:endParaRPr lang="en-GB" sz="1600"/>
                    </a:p>
                  </a:txBody>
                  <a:tcPr marL="48348" marR="48348" marT="24174" marB="24174" anchor="ctr">
                    <a:lnL>
                      <a:noFill/>
                    </a:lnL>
                    <a:lnR>
                      <a:noFill/>
                    </a:lnR>
                    <a:lnT>
                      <a:noFill/>
                    </a:lnT>
                    <a:lnB>
                      <a:noFill/>
                    </a:lnB>
                    <a:noFill/>
                  </a:tcPr>
                </a:tc>
                <a:tc>
                  <a:txBody>
                    <a:bodyPr/>
                    <a:lstStyle/>
                    <a:p>
                      <a:r>
                        <a:rPr lang="en-GB" sz="1600"/>
                        <a:t>Utilization of microbes to clean up environmental pollutants like oil spills, heavy metals, and plastics, enhancing wastewater treatment processes.</a:t>
                      </a:r>
                    </a:p>
                  </a:txBody>
                  <a:tcPr marL="48348" marR="48348" marT="24174" marB="24174" anchor="ctr">
                    <a:lnL>
                      <a:noFill/>
                    </a:lnL>
                    <a:lnR>
                      <a:noFill/>
                    </a:lnR>
                    <a:lnT>
                      <a:noFill/>
                    </a:lnT>
                    <a:lnB>
                      <a:noFill/>
                    </a:lnB>
                    <a:noFill/>
                  </a:tcPr>
                </a:tc>
                <a:tc>
                  <a:txBody>
                    <a:bodyPr/>
                    <a:lstStyle/>
                    <a:p>
                      <a:r>
                        <a:rPr lang="en-GB" sz="1600" dirty="0">
                          <a:hlinkClick r:id="rId3"/>
                        </a:rPr>
                        <a:t>Wired</a:t>
                      </a:r>
                      <a:br>
                        <a:rPr lang="en-GB" sz="1600" dirty="0"/>
                      </a:br>
                      <a:r>
                        <a:rPr lang="en-GB" sz="1600" dirty="0">
                          <a:hlinkClick r:id="rId4"/>
                        </a:rPr>
                        <a:t>https://www.nature.com/articles/s41467-024-51957-8</a:t>
                      </a:r>
                      <a:endParaRPr lang="en-GB" sz="1600" dirty="0"/>
                    </a:p>
                    <a:p>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1603341877"/>
                  </a:ext>
                </a:extLst>
              </a:tr>
              <a:tr h="773571">
                <a:tc>
                  <a:txBody>
                    <a:bodyPr/>
                    <a:lstStyle/>
                    <a:p>
                      <a:r>
                        <a:rPr lang="en-GB" sz="1600" b="1"/>
                        <a:t>Climate Change and Carbon Cycling</a:t>
                      </a:r>
                      <a:endParaRPr lang="en-GB" sz="1600"/>
                    </a:p>
                  </a:txBody>
                  <a:tcPr marL="48348" marR="48348" marT="24174" marB="24174" anchor="ctr">
                    <a:lnL>
                      <a:noFill/>
                    </a:lnL>
                    <a:lnR>
                      <a:noFill/>
                    </a:lnR>
                    <a:lnT>
                      <a:noFill/>
                    </a:lnT>
                    <a:lnB>
                      <a:noFill/>
                    </a:lnB>
                    <a:noFill/>
                  </a:tcPr>
                </a:tc>
                <a:tc>
                  <a:txBody>
                    <a:bodyPr/>
                    <a:lstStyle/>
                    <a:p>
                      <a:r>
                        <a:rPr lang="en-GB" sz="1600"/>
                        <a:t>Microbiome studies have revealed microbial roles in carbon sequestration and greenhouse gas emissions, aiding in climate feedback modeling.</a:t>
                      </a:r>
                    </a:p>
                  </a:txBody>
                  <a:tcPr marL="48348" marR="48348" marT="24174" marB="24174" anchor="ctr">
                    <a:lnL>
                      <a:noFill/>
                    </a:lnL>
                    <a:lnR>
                      <a:noFill/>
                    </a:lnR>
                    <a:lnT>
                      <a:noFill/>
                    </a:lnT>
                    <a:lnB>
                      <a:noFill/>
                    </a:lnB>
                    <a:noFill/>
                  </a:tcPr>
                </a:tc>
                <a:tc>
                  <a:txBody>
                    <a:bodyPr/>
                    <a:lstStyle/>
                    <a:p>
                      <a:r>
                        <a:rPr lang="en-GB" sz="1600" dirty="0">
                          <a:hlinkClick r:id="rId3"/>
                        </a:rPr>
                        <a:t>Wired</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328501200"/>
                  </a:ext>
                </a:extLst>
              </a:tr>
              <a:tr h="773571">
                <a:tc>
                  <a:txBody>
                    <a:bodyPr/>
                    <a:lstStyle/>
                    <a:p>
                      <a:r>
                        <a:rPr lang="en-GB" sz="1600" b="1"/>
                        <a:t>Marine and Aquatic Ecosystems</a:t>
                      </a:r>
                      <a:endParaRPr lang="en-GB" sz="1600"/>
                    </a:p>
                  </a:txBody>
                  <a:tcPr marL="48348" marR="48348" marT="24174" marB="24174" anchor="ctr">
                    <a:lnL>
                      <a:noFill/>
                    </a:lnL>
                    <a:lnR>
                      <a:noFill/>
                    </a:lnR>
                    <a:lnT>
                      <a:noFill/>
                    </a:lnT>
                    <a:lnB>
                      <a:noFill/>
                    </a:lnB>
                    <a:noFill/>
                  </a:tcPr>
                </a:tc>
                <a:tc>
                  <a:txBody>
                    <a:bodyPr/>
                    <a:lstStyle/>
                    <a:p>
                      <a:r>
                        <a:rPr lang="en-GB" sz="1600"/>
                        <a:t>Microbial communities regulate oceanic nutrient cycling, such as nitrogen fixation, and contribute to coral reef health and resilience.</a:t>
                      </a:r>
                    </a:p>
                  </a:txBody>
                  <a:tcPr marL="48348" marR="48348" marT="24174" marB="24174" anchor="ctr">
                    <a:lnL>
                      <a:noFill/>
                    </a:lnL>
                    <a:lnR>
                      <a:noFill/>
                    </a:lnR>
                    <a:lnT>
                      <a:noFill/>
                    </a:lnT>
                    <a:lnB>
                      <a:noFill/>
                    </a:lnB>
                    <a:noFill/>
                  </a:tcPr>
                </a:tc>
                <a:tc>
                  <a:txBody>
                    <a:bodyPr/>
                    <a:lstStyle/>
                    <a:p>
                      <a:r>
                        <a:rPr lang="en-GB" sz="1600">
                          <a:hlinkClick r:id="rId3"/>
                        </a:rPr>
                        <a:t>Wired</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3873410902"/>
                  </a:ext>
                </a:extLst>
              </a:tr>
              <a:tr h="918616">
                <a:tc>
                  <a:txBody>
                    <a:bodyPr/>
                    <a:lstStyle/>
                    <a:p>
                      <a:r>
                        <a:rPr lang="en-GB" sz="1600" b="1"/>
                        <a:t>One Health Framework</a:t>
                      </a:r>
                      <a:endParaRPr lang="en-GB" sz="1600"/>
                    </a:p>
                  </a:txBody>
                  <a:tcPr marL="48348" marR="48348" marT="24174" marB="24174" anchor="ctr">
                    <a:lnL>
                      <a:noFill/>
                    </a:lnL>
                    <a:lnR>
                      <a:noFill/>
                    </a:lnR>
                    <a:lnT>
                      <a:noFill/>
                    </a:lnT>
                    <a:lnB>
                      <a:noFill/>
                    </a:lnB>
                    <a:noFill/>
                  </a:tcPr>
                </a:tc>
                <a:tc>
                  <a:txBody>
                    <a:bodyPr/>
                    <a:lstStyle/>
                    <a:p>
                      <a:r>
                        <a:rPr lang="en-GB" sz="1600"/>
                        <a:t>Integration of microbiome knowledge across humans, animals, and the environment supports global health efforts in disease surveillance and antimicrobial resistance.</a:t>
                      </a:r>
                    </a:p>
                  </a:txBody>
                  <a:tcPr marL="48348" marR="48348" marT="24174" marB="24174" anchor="ctr">
                    <a:lnL>
                      <a:noFill/>
                    </a:lnL>
                    <a:lnR>
                      <a:noFill/>
                    </a:lnR>
                    <a:lnT>
                      <a:noFill/>
                    </a:lnT>
                    <a:lnB>
                      <a:noFill/>
                    </a:lnB>
                    <a:noFill/>
                  </a:tcPr>
                </a:tc>
                <a:tc>
                  <a:txBody>
                    <a:bodyPr/>
                    <a:lstStyle/>
                    <a:p>
                      <a:r>
                        <a:rPr lang="en-GB" sz="1600" dirty="0">
                          <a:hlinkClick r:id="rId3"/>
                        </a:rPr>
                        <a:t>Wired</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3413597155"/>
                  </a:ext>
                </a:extLst>
              </a:tr>
            </a:tbl>
          </a:graphicData>
        </a:graphic>
      </p:graphicFrame>
    </p:spTree>
    <p:extLst>
      <p:ext uri="{BB962C8B-B14F-4D97-AF65-F5344CB8AC3E}">
        <p14:creationId xmlns:p14="http://schemas.microsoft.com/office/powerpoint/2010/main" val="39596787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p:txBody>
          <a:bodyPr/>
          <a:lstStyle/>
          <a:p>
            <a:endParaRPr lang="en-DK"/>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2963" y="0"/>
            <a:ext cx="79660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0869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p:txBody>
          <a:bodyPr/>
          <a:lstStyle/>
          <a:p>
            <a:endParaRPr lang="en-DK"/>
          </a:p>
        </p:txBody>
      </p:sp>
      <p:sp>
        <p:nvSpPr>
          <p:cNvPr id="3" name="Content Placeholder 2">
            <a:extLst>
              <a:ext uri="{FF2B5EF4-FFF2-40B4-BE49-F238E27FC236}">
                <a16:creationId xmlns:a16="http://schemas.microsoft.com/office/drawing/2014/main" id="{54C10B1D-834B-3664-1B89-2C4D3478CEA2}"/>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22765102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89D9A-D4D8-628D-D280-B8AA4E96DB75}"/>
              </a:ext>
            </a:extLst>
          </p:cNvPr>
          <p:cNvSpPr>
            <a:spLocks noGrp="1"/>
          </p:cNvSpPr>
          <p:nvPr>
            <p:ph type="title"/>
          </p:nvPr>
        </p:nvSpPr>
        <p:spPr>
          <a:xfrm>
            <a:off x="533400" y="-166255"/>
            <a:ext cx="10515600" cy="1325563"/>
          </a:xfrm>
        </p:spPr>
        <p:txBody>
          <a:bodyPr/>
          <a:lstStyle/>
          <a:p>
            <a:r>
              <a:rPr lang="en-DK" dirty="0"/>
              <a:t>Timeline of microbiome science</a:t>
            </a:r>
          </a:p>
        </p:txBody>
      </p:sp>
      <p:pic>
        <p:nvPicPr>
          <p:cNvPr id="9218" name="Picture 2">
            <a:extLst>
              <a:ext uri="{FF2B5EF4-FFF2-40B4-BE49-F238E27FC236}">
                <a16:creationId xmlns:a16="http://schemas.microsoft.com/office/drawing/2014/main" id="{B88AD619-927B-65E6-BDEA-8260C21E23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692" y="711200"/>
            <a:ext cx="12192000" cy="614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408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4128226292"/>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p:txBody>
          <a:bodyPr/>
          <a:lstStyle/>
          <a:p>
            <a:r>
              <a:rPr lang="en-DK" dirty="0"/>
              <a:t>What is Metagenomics?</a:t>
            </a:r>
          </a:p>
        </p:txBody>
      </p:sp>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p:txBody>
          <a:bodyPr/>
          <a:lstStyle/>
          <a:p>
            <a:r>
              <a:rPr lang="en-DK" dirty="0"/>
              <a:t>Study of the genetic material sampled directly from the environment (fecal, skin, soil, marine samples …)</a:t>
            </a:r>
          </a:p>
          <a:p>
            <a:r>
              <a:rPr lang="en-DK" dirty="0"/>
              <a:t>Bypasses the need of culturing organisms – many of the organisms that we characterized ca not even be coltured</a:t>
            </a:r>
          </a:p>
          <a:p>
            <a:r>
              <a:rPr lang="en-DK" dirty="0"/>
              <a:t>Uses </a:t>
            </a:r>
            <a:r>
              <a:rPr lang="en-GB" dirty="0"/>
              <a:t>high-throughput sequencing to </a:t>
            </a:r>
            <a:r>
              <a:rPr lang="en-GB" dirty="0" err="1"/>
              <a:t>analyze</a:t>
            </a:r>
            <a:r>
              <a:rPr lang="en-GB" dirty="0"/>
              <a:t> microbial diversity, function, and interactions</a:t>
            </a:r>
          </a:p>
        </p:txBody>
      </p:sp>
    </p:spTree>
    <p:extLst>
      <p:ext uri="{BB962C8B-B14F-4D97-AF65-F5344CB8AC3E}">
        <p14:creationId xmlns:p14="http://schemas.microsoft.com/office/powerpoint/2010/main" val="2042435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CBE7-6287-CD5B-2E99-02F0D633F90F}"/>
              </a:ext>
            </a:extLst>
          </p:cNvPr>
          <p:cNvSpPr>
            <a:spLocks noGrp="1"/>
          </p:cNvSpPr>
          <p:nvPr>
            <p:ph type="title"/>
          </p:nvPr>
        </p:nvSpPr>
        <p:spPr/>
        <p:txBody>
          <a:bodyPr/>
          <a:lstStyle/>
          <a:p>
            <a:r>
              <a:rPr lang="en-DK" dirty="0"/>
              <a:t>Main applications</a:t>
            </a:r>
          </a:p>
        </p:txBody>
      </p:sp>
      <p:sp>
        <p:nvSpPr>
          <p:cNvPr id="3" name="Content Placeholder 2">
            <a:extLst>
              <a:ext uri="{FF2B5EF4-FFF2-40B4-BE49-F238E27FC236}">
                <a16:creationId xmlns:a16="http://schemas.microsoft.com/office/drawing/2014/main" id="{EA9BB15B-CED5-3A98-CD86-D1405CDA5992}"/>
              </a:ext>
            </a:extLst>
          </p:cNvPr>
          <p:cNvSpPr>
            <a:spLocks noGrp="1"/>
          </p:cNvSpPr>
          <p:nvPr>
            <p:ph idx="1"/>
          </p:nvPr>
        </p:nvSpPr>
        <p:spPr/>
        <p:txBody>
          <a:bodyPr>
            <a:normAutofit fontScale="92500"/>
          </a:bodyPr>
          <a:lstStyle/>
          <a:p>
            <a:pPr>
              <a:buNone/>
            </a:pPr>
            <a:r>
              <a:rPr lang="en-DK" dirty="0"/>
              <a:t>🧬 </a:t>
            </a:r>
            <a:r>
              <a:rPr lang="en-GB" b="1" dirty="0"/>
              <a:t>Microbial Diversity Analysis</a:t>
            </a:r>
            <a:r>
              <a:rPr lang="en-GB" dirty="0"/>
              <a:t>: Who’s there? (e.g., in soil, gut, ocean)</a:t>
            </a:r>
          </a:p>
          <a:p>
            <a:pPr>
              <a:buNone/>
            </a:pPr>
            <a:r>
              <a:rPr lang="en-DK" dirty="0"/>
              <a:t>🦠 </a:t>
            </a:r>
            <a:r>
              <a:rPr lang="en-GB" b="1" dirty="0"/>
              <a:t>Disease &amp; Health Research</a:t>
            </a:r>
            <a:r>
              <a:rPr lang="en-GB" dirty="0"/>
              <a:t>: Microbiome links to health (e.g., gut-brain axis, chronic diseases)</a:t>
            </a:r>
          </a:p>
          <a:p>
            <a:pPr>
              <a:buNone/>
            </a:pPr>
            <a:r>
              <a:rPr lang="en-GB" dirty="0"/>
              <a:t>♻️ </a:t>
            </a:r>
            <a:r>
              <a:rPr lang="en-GB" b="1" dirty="0"/>
              <a:t>Environmental Monitoring</a:t>
            </a:r>
            <a:r>
              <a:rPr lang="en-GB" dirty="0"/>
              <a:t>: Pollution detection, bioremediation</a:t>
            </a:r>
          </a:p>
          <a:p>
            <a:pPr>
              <a:buNone/>
            </a:pPr>
            <a:r>
              <a:rPr lang="en-DK" dirty="0"/>
              <a:t>🌾 </a:t>
            </a:r>
            <a:r>
              <a:rPr lang="en-GB" b="1" dirty="0"/>
              <a:t>Agriculture &amp; Soil Health</a:t>
            </a:r>
            <a:r>
              <a:rPr lang="en-GB" dirty="0"/>
              <a:t>: Plant-microbe interactions, soil fertility</a:t>
            </a:r>
          </a:p>
          <a:p>
            <a:pPr>
              <a:buNone/>
            </a:pPr>
            <a:r>
              <a:rPr lang="en-DK" dirty="0"/>
              <a:t>🍺 </a:t>
            </a:r>
            <a:r>
              <a:rPr lang="en-GB" b="1" dirty="0"/>
              <a:t>Industrial Biotechnology</a:t>
            </a:r>
            <a:r>
              <a:rPr lang="en-GB" dirty="0"/>
              <a:t>: Novel enzymes, biofuels, fermentation</a:t>
            </a:r>
          </a:p>
          <a:p>
            <a:pPr marL="0" indent="0">
              <a:buNone/>
            </a:pPr>
            <a:r>
              <a:rPr lang="en-DK" dirty="0"/>
              <a:t>💊 </a:t>
            </a:r>
            <a:r>
              <a:rPr lang="en-GB" b="1" dirty="0"/>
              <a:t>Antibiotic Resistance Surveillance</a:t>
            </a:r>
            <a:r>
              <a:rPr lang="en-GB" dirty="0"/>
              <a:t>: Track resistance genes in the environment</a:t>
            </a:r>
          </a:p>
        </p:txBody>
      </p:sp>
    </p:spTree>
    <p:extLst>
      <p:ext uri="{BB962C8B-B14F-4D97-AF65-F5344CB8AC3E}">
        <p14:creationId xmlns:p14="http://schemas.microsoft.com/office/powerpoint/2010/main" val="15905981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6004096" y="1932063"/>
            <a:ext cx="1731818" cy="369332"/>
          </a:xfrm>
          <a:prstGeom prst="rect">
            <a:avLst/>
          </a:prstGeom>
          <a:noFill/>
        </p:spPr>
        <p:txBody>
          <a:bodyPr wrap="square" rtlCol="0">
            <a:spAutoFit/>
          </a:bodyPr>
          <a:lstStyle/>
          <a:p>
            <a:r>
              <a:rPr lang="en-DK" dirty="0"/>
              <a:t>DNA Extraction</a:t>
            </a:r>
          </a:p>
        </p:txBody>
      </p:sp>
      <p:sp>
        <p:nvSpPr>
          <p:cNvPr id="7" name="TextBox 6">
            <a:extLst>
              <a:ext uri="{FF2B5EF4-FFF2-40B4-BE49-F238E27FC236}">
                <a16:creationId xmlns:a16="http://schemas.microsoft.com/office/drawing/2014/main" id="{4A093191-604C-DC55-7298-739A9AC07B67}"/>
              </a:ext>
            </a:extLst>
          </p:cNvPr>
          <p:cNvSpPr txBox="1"/>
          <p:nvPr/>
        </p:nvSpPr>
        <p:spPr>
          <a:xfrm>
            <a:off x="2467686" y="1921430"/>
            <a:ext cx="1731818" cy="369332"/>
          </a:xfrm>
          <a:prstGeom prst="rect">
            <a:avLst/>
          </a:prstGeom>
          <a:noFill/>
        </p:spPr>
        <p:txBody>
          <a:bodyPr wrap="square" rtlCol="0">
            <a:spAutoFit/>
          </a:bodyPr>
          <a:lstStyle/>
          <a:p>
            <a:r>
              <a:rPr lang="en-DK" dirty="0"/>
              <a:t>DNA Sampling</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938218"/>
            <a:ext cx="1905000" cy="335756"/>
          </a:xfrm>
          <a:prstGeom prst="rect">
            <a:avLst/>
          </a:prstGeom>
          <a:noFill/>
        </p:spPr>
        <p:txBody>
          <a:bodyPr wrap="square" rtlCol="0">
            <a:spAutoFit/>
          </a:bodyPr>
          <a:lstStyle/>
          <a:p>
            <a:r>
              <a:rPr lang="en-DK" dirty="0"/>
              <a:t>DNA Storage</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527472" y="1344313"/>
            <a:ext cx="1891146" cy="369332"/>
          </a:xfrm>
          <a:prstGeom prst="rect">
            <a:avLst/>
          </a:prstGeom>
          <a:noFill/>
        </p:spPr>
        <p:txBody>
          <a:bodyPr wrap="square" rtlCol="0">
            <a:spAutoFit/>
          </a:bodyPr>
          <a:lstStyle/>
          <a:p>
            <a:r>
              <a:rPr lang="en-DK" dirty="0"/>
              <a:t>DNA Sequencing</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923330"/>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a:t>
            </a:r>
            <a:r>
              <a:rPr lang="en-US" sz="1800" dirty="0" err="1">
                <a:latin typeface="Calibri" charset="0"/>
                <a:ea typeface="Calibri" charset="0"/>
                <a:cs typeface="Calibri" charset="0"/>
              </a:rPr>
              <a:t>chracterization</a:t>
            </a:r>
            <a:endParaRPr lang="en-US" sz="1800" dirty="0">
              <a:latin typeface="Calibri" charset="0"/>
              <a:ea typeface="Calibri" charset="0"/>
              <a:cs typeface="Calibri" charset="0"/>
            </a:endParaRP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109149" y="0"/>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endParaRPr lang="en-GB" sz="1800" b="1" dirty="0"/>
          </a:p>
          <a:p>
            <a:pPr lvl="1"/>
            <a:r>
              <a:rPr lang="en-GB" sz="1800" b="1" dirty="0"/>
              <a:t>DNA Release: </a:t>
            </a: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controls (e.g., mock communities)</a:t>
            </a:r>
          </a:p>
          <a:p>
            <a:r>
              <a:rPr lang="en-GB" sz="1800" dirty="0"/>
              <a:t>Choose depth wisely: deeper for complex samples (e.g., soil, strain resolution, SNVs), lighter for simple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lstStyle/>
          <a:p>
            <a:r>
              <a:rPr lang="en-GB" dirty="0"/>
              <a:t>Process of identifying and quantifying the microbial taxa present in a sample - this can be bacteria, archaea, viruses, fungi, …</a:t>
            </a:r>
          </a:p>
          <a:p>
            <a:r>
              <a:rPr lang="en-GB" dirty="0"/>
              <a:t>Typically from metagenomic or amplicon sequencing data.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 </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C8D6C-17B3-8328-A492-79B8A20F48C9}"/>
              </a:ext>
            </a:extLst>
          </p:cNvPr>
          <p:cNvSpPr>
            <a:spLocks noGrp="1"/>
          </p:cNvSpPr>
          <p:nvPr>
            <p:ph type="title"/>
          </p:nvPr>
        </p:nvSpPr>
        <p:spPr/>
        <p:txBody>
          <a:bodyPr>
            <a:normAutofit fontScale="90000"/>
          </a:bodyPr>
          <a:lstStyle/>
          <a:p>
            <a:r>
              <a:rPr lang="en-DK" dirty="0"/>
              <a:t>Profiling microbial communities</a:t>
            </a:r>
            <a:br>
              <a:rPr lang="en-DK" dirty="0"/>
            </a:br>
            <a:r>
              <a:rPr lang="en-DK" dirty="0"/>
              <a:t>16S amplicon sequencing (16S rRNA sequencing)</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0AEAF06-DD7A-106F-201E-883E32DFDBB1}"/>
              </a:ext>
            </a:extLst>
          </p:cNvPr>
          <p:cNvSpPr txBox="1"/>
          <p:nvPr/>
        </p:nvSpPr>
        <p:spPr>
          <a:xfrm>
            <a:off x="242455" y="6488668"/>
            <a:ext cx="9275618" cy="369332"/>
          </a:xfrm>
          <a:prstGeom prst="rect">
            <a:avLst/>
          </a:prstGeom>
          <a:noFill/>
        </p:spPr>
        <p:txBody>
          <a:bodyPr wrap="square" rtlCol="0">
            <a:spAutoFit/>
          </a:bodyPr>
          <a:lstStyle/>
          <a:p>
            <a:r>
              <a:rPr lang="en-GB" dirty="0"/>
              <a:t> </a:t>
            </a:r>
            <a:r>
              <a:rPr lang="en-GB" i="1" dirty="0"/>
              <a:t>J Clin Invest.</a:t>
            </a:r>
            <a:r>
              <a:rPr lang="en-GB" dirty="0"/>
              <a:t> 2022;</a:t>
            </a:r>
            <a:r>
              <a:rPr lang="en-GB" dirty="0">
                <a:hlinkClick r:id="rId3"/>
              </a:rPr>
              <a:t>132(7)</a:t>
            </a:r>
            <a:r>
              <a:rPr lang="en-GB" dirty="0"/>
              <a:t>:e154944. </a:t>
            </a:r>
            <a:r>
              <a:rPr lang="en-GB" dirty="0">
                <a:hlinkClick r:id="rId4"/>
              </a:rPr>
              <a:t>https://doi.org/10.1172/JCI154944</a:t>
            </a:r>
            <a:r>
              <a:rPr lang="en-GB" dirty="0"/>
              <a:t>.</a:t>
            </a:r>
            <a:endParaRPr lang="en-DK" dirty="0"/>
          </a:p>
        </p:txBody>
      </p:sp>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838200" y="1574539"/>
            <a:ext cx="3176163" cy="369332"/>
          </a:xfrm>
          <a:prstGeom prst="rect">
            <a:avLst/>
          </a:prstGeom>
          <a:noFill/>
        </p:spPr>
        <p:txBody>
          <a:bodyPr wrap="square" rtlCol="0">
            <a:spAutoFit/>
          </a:bodyPr>
          <a:lstStyle/>
          <a:p>
            <a:r>
              <a:rPr lang="en-DK" dirty="0"/>
              <a:t>Targets specifically 16S rRNA</a:t>
            </a:r>
          </a:p>
        </p:txBody>
      </p:sp>
    </p:spTree>
    <p:extLst>
      <p:ext uri="{BB962C8B-B14F-4D97-AF65-F5344CB8AC3E}">
        <p14:creationId xmlns:p14="http://schemas.microsoft.com/office/powerpoint/2010/main" val="27024949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6169709"/>
            <a:ext cx="9550218" cy="646331"/>
          </a:xfrm>
          <a:prstGeom prst="rect">
            <a:avLst/>
          </a:prstGeom>
          <a:noFill/>
        </p:spPr>
        <p:txBody>
          <a:bodyPr wrap="square" rtlCol="0">
            <a:spAutoFit/>
          </a:bodyPr>
          <a:lstStyle/>
          <a:p>
            <a:r>
              <a:rPr lang="en-GB" b="1" dirty="0"/>
              <a:t>Figure2</a:t>
            </a:r>
            <a:r>
              <a:rPr lang="en-GB" dirty="0"/>
              <a:t>. Universal phylogenetic tree based on the 16S rRNA gene sequence comparisons. Pace, N. A molecular view of microbial diversity and the biosphere. Science276:734-740. 1997.</a:t>
            </a:r>
            <a:endParaRPr lang="en-DK"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2"/>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907653"/>
            <a:ext cx="4294909" cy="2862322"/>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a:t>
            </a:r>
          </a:p>
          <a:p>
            <a:pPr marL="285750" indent="-285750">
              <a:buFont typeface="Arial" panose="020B0604020202020204" pitchFamily="34" charset="0"/>
              <a:buChar char="•"/>
            </a:pPr>
            <a:r>
              <a:rPr lang="en-DK" dirty="0"/>
              <a:t>traditionally  used to infer phylogenetic trees to figure out the species evolution</a:t>
            </a:r>
          </a:p>
          <a:p>
            <a:pPr marL="285750" indent="-285750">
              <a:buFont typeface="Arial" panose="020B0604020202020204" pitchFamily="34" charset="0"/>
              <a:buChar char="•"/>
            </a:pPr>
            <a:r>
              <a:rPr lang="en-DK" dirty="0"/>
              <a:t>Found in most of the species</a:t>
            </a:r>
          </a:p>
          <a:p>
            <a:pPr marL="285750" indent="-285750">
              <a:buFont typeface="Arial" panose="020B0604020202020204" pitchFamily="34" charset="0"/>
              <a:buChar char="•"/>
            </a:pPr>
            <a:r>
              <a:rPr lang="en-DK" dirty="0"/>
              <a:t>Subtle differences can be used to tell species apart</a:t>
            </a:r>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4404" y="3918351"/>
            <a:ext cx="4880898" cy="19105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45162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802076" y="2200069"/>
            <a:ext cx="1965177" cy="923330"/>
          </a:xfrm>
          <a:prstGeom prst="rect">
            <a:avLst/>
          </a:prstGeom>
          <a:noFill/>
        </p:spPr>
        <p:txBody>
          <a:bodyPr wrap="square" rtlCol="0">
            <a:spAutoFit/>
          </a:bodyPr>
          <a:lstStyle/>
          <a:p>
            <a:r>
              <a:rPr lang="en-DK" dirty="0"/>
              <a:t>Abundance table of operational taxonomic units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878278" y="5194380"/>
            <a:ext cx="228601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4080636808"/>
              </p:ext>
            </p:extLst>
          </p:nvPr>
        </p:nvGraphicFramePr>
        <p:xfrm>
          <a:off x="787723" y="941326"/>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90" y="-110519"/>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26</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D4F2-5235-63E4-358C-9D41C22B750C}"/>
              </a:ext>
            </a:extLst>
          </p:cNvPr>
          <p:cNvSpPr>
            <a:spLocks noGrp="1"/>
          </p:cNvSpPr>
          <p:nvPr>
            <p:ph type="title"/>
          </p:nvPr>
        </p:nvSpPr>
        <p:spPr/>
        <p:txBody>
          <a:bodyPr/>
          <a:lstStyle/>
          <a:p>
            <a:r>
              <a:rPr lang="en-DK" dirty="0"/>
              <a:t>Examples of data analyses</a:t>
            </a:r>
          </a:p>
        </p:txBody>
      </p:sp>
      <p:sp>
        <p:nvSpPr>
          <p:cNvPr id="3" name="Content Placeholder 2">
            <a:extLst>
              <a:ext uri="{FF2B5EF4-FFF2-40B4-BE49-F238E27FC236}">
                <a16:creationId xmlns:a16="http://schemas.microsoft.com/office/drawing/2014/main" id="{056CE474-A0D5-F98C-8A30-DB0A062D7530}"/>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34120151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p:txBody>
          <a:bodyPr/>
          <a:lstStyle/>
          <a:p>
            <a:r>
              <a:rPr lang="en-DK" dirty="0"/>
              <a:t>Limitations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p:txBody>
          <a:bodyPr>
            <a:normAutofit fontScale="77500" lnSpcReduction="20000"/>
          </a:bodyPr>
          <a:lstStyle/>
          <a:p>
            <a:r>
              <a:rPr lang="en-GB" dirty="0"/>
              <a:t>Cloning biases can lead to the misrepresentation of microbial DNA in metagenomic libraries.</a:t>
            </a:r>
          </a:p>
          <a:p>
            <a:r>
              <a:rPr lang="en-GB" dirty="0"/>
              <a:t>Sampling biases can occur when collecting environmental samples which can also lead to misrepresentation of the microbial community.</a:t>
            </a:r>
          </a:p>
          <a:p>
            <a:r>
              <a:rPr lang="en-GB" dirty="0"/>
              <a:t>Metagenomic sequencing can detect the presence of microorganisms but cannot easily determine if they are pathogenic. </a:t>
            </a:r>
          </a:p>
          <a:p>
            <a:r>
              <a:rPr lang="en-GB" dirty="0"/>
              <a:t>The vast amount of metagenomic data requires faster and more scalable computational tools to handle the data efficiently.</a:t>
            </a:r>
          </a:p>
          <a:p>
            <a:r>
              <a:rPr lang="en-GB" dirty="0"/>
              <a:t>Metagenomic datasets contain a mix of DNA from various organisms which often makes it difficult to assemble genomes accurately.</a:t>
            </a:r>
          </a:p>
          <a:p>
            <a:r>
              <a:rPr lang="en-GB" dirty="0"/>
              <a:t>Contamination from host DNA or environmental sources can affect the accuracy of metagenomic analyses.</a:t>
            </a:r>
          </a:p>
          <a:p>
            <a:r>
              <a:rPr lang="en-GB" dirty="0"/>
              <a:t>It is also challenging to extract genes from microorganisms present in low abundance within a sample.</a:t>
            </a:r>
          </a:p>
          <a:p>
            <a:endParaRPr lang="en-DK" dirty="0"/>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49849</TotalTime>
  <Words>3457</Words>
  <Application>Microsoft Macintosh PowerPoint</Application>
  <PresentationFormat>Widescreen</PresentationFormat>
  <Paragraphs>634</Paragraphs>
  <Slides>36</Slides>
  <Notes>9</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Aptos Display</vt:lpstr>
      <vt:lpstr>Arial</vt:lpstr>
      <vt:lpstr>Calibri</vt:lpstr>
      <vt:lpstr>Wingdings</vt:lpstr>
      <vt:lpstr>Office Theme</vt:lpstr>
      <vt:lpstr>Introduction to Metagenomics</vt:lpstr>
      <vt:lpstr>Impact of microbiome studies on health studies</vt:lpstr>
      <vt:lpstr>PowerPoint Presentation</vt:lpstr>
      <vt:lpstr>PowerPoint Presentation</vt:lpstr>
      <vt:lpstr>Impact of microbiome studies on Environmental Science</vt:lpstr>
      <vt:lpstr>PowerPoint Presentation</vt:lpstr>
      <vt:lpstr>PowerPoint Presentation</vt:lpstr>
      <vt:lpstr>Timeline of microbiome science</vt:lpstr>
      <vt:lpstr>Microbiome definition</vt:lpstr>
      <vt:lpstr>What a microbiome study usually answer</vt:lpstr>
      <vt:lpstr>What is Metagenomics?</vt:lpstr>
      <vt:lpstr>Main applications</vt:lpstr>
      <vt:lpstr>Experimental design</vt:lpstr>
      <vt:lpstr>Sample collection</vt:lpstr>
      <vt:lpstr>DNA Extraction</vt:lpstr>
      <vt:lpstr>Sequencing</vt:lpstr>
      <vt:lpstr>Platforms</vt:lpstr>
      <vt:lpstr>Taxonomical profiling</vt:lpstr>
      <vt:lpstr>Profiling microbial communities 16S amplicon sequencing (16S rRNA sequencing)</vt:lpstr>
      <vt:lpstr>16S amplicon sequencing</vt:lpstr>
      <vt:lpstr>16S amplicon sequencing</vt:lpstr>
      <vt:lpstr>Reference-based methods</vt:lpstr>
      <vt:lpstr>Amplicon and read-based shotgun metagenomics tools</vt:lpstr>
      <vt:lpstr>Metagenome-assembled genomes (MAG)</vt:lpstr>
      <vt:lpstr>MAG construction tools</vt:lpstr>
      <vt:lpstr>Functional annotation from the gene catalog</vt:lpstr>
      <vt:lpstr>Functional annotation from the gene catalog</vt:lpstr>
      <vt:lpstr>Sumary table</vt:lpstr>
      <vt:lpstr>Microbiome data</vt:lpstr>
      <vt:lpstr>Microbiome data</vt:lpstr>
      <vt:lpstr>Compositional data</vt:lpstr>
      <vt:lpstr>Ideal scenario: absolute abundances</vt:lpstr>
      <vt:lpstr>Diversity measures: Alpha diversity</vt:lpstr>
      <vt:lpstr>Diversity measures: Beta diversity</vt:lpstr>
      <vt:lpstr>Examples of data analyses</vt:lpstr>
      <vt:lpstr>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31</cp:revision>
  <dcterms:created xsi:type="dcterms:W3CDTF">2025-04-12T18:46:44Z</dcterms:created>
  <dcterms:modified xsi:type="dcterms:W3CDTF">2025-05-30T16:53:50Z</dcterms:modified>
</cp:coreProperties>
</file>