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91" r:id="rId29"/>
    <p:sldId id="264" r:id="rId30"/>
    <p:sldId id="292" r:id="rId31"/>
    <p:sldId id="265" r:id="rId32"/>
    <p:sldId id="293" r:id="rId33"/>
    <p:sldId id="278" r:id="rId34"/>
    <p:sldId id="309" r:id="rId35"/>
    <p:sldId id="288" r:id="rId36"/>
    <p:sldId id="296" r:id="rId37"/>
    <p:sldId id="312" r:id="rId38"/>
    <p:sldId id="285" r:id="rId39"/>
    <p:sldId id="262" r:id="rId40"/>
    <p:sldId id="294" r:id="rId41"/>
    <p:sldId id="295" r:id="rId42"/>
    <p:sldId id="311" r:id="rId43"/>
    <p:sldId id="284" r:id="rId44"/>
    <p:sldId id="283" r:id="rId45"/>
    <p:sldId id="313" r:id="rId46"/>
    <p:sldId id="261" r:id="rId47"/>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778"/>
    <p:restoredTop sz="77067"/>
  </p:normalViewPr>
  <p:slideViewPr>
    <p:cSldViewPr snapToGrid="0">
      <p:cViewPr varScale="1">
        <p:scale>
          <a:sx n="93" d="100"/>
          <a:sy n="93" d="100"/>
        </p:scale>
        <p:origin x="248" y="4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a:t>
            </a:fld>
            <a:endParaRPr lang="en-DK"/>
          </a:p>
        </p:txBody>
      </p:sp>
    </p:spTree>
    <p:extLst>
      <p:ext uri="{BB962C8B-B14F-4D97-AF65-F5344CB8AC3E}">
        <p14:creationId xmlns:p14="http://schemas.microsoft.com/office/powerpoint/2010/main" val="1210362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Microbiome from obese mice had higher capacity to harvest energy from the diet</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consortium published their data based on thousands of samples showing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a:p>
            <a:r>
              <a:rPr lang="en-DK" dirty="0"/>
              <a:t>Q</a:t>
            </a:r>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environmental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Performing metabolic modelling, understanding secondary-metabolite biosynthetic potential and for resolving thousands of new host linkages to uncultivated viruses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procedure in metagenomics is the one presented in this slide:</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And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35404436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16S rRNA gene is an ancient gene that </a:t>
            </a:r>
            <a:r>
              <a:rPr lang="en-GB" dirty="0"/>
              <a:t>encodes the RNA component of the small (30S) subunit of the prokaryotic ribosome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Traditionally  used to infer phylogenetic trees to figure out species evolution. Based on the similarity between the 16S gene you can build these trees that reflect the distance between the organisms </a:t>
            </a:r>
            <a:endParaRPr lang="en-GB" dirty="0"/>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You see here Eukaryotes because It is also present also in mitochondria and chloroplasts of eukaryotes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27</a:t>
            </a:fld>
            <a:endParaRPr lang="en-DK"/>
          </a:p>
        </p:txBody>
      </p:sp>
    </p:spTree>
    <p:extLst>
      <p:ext uri="{BB962C8B-B14F-4D97-AF65-F5344CB8AC3E}">
        <p14:creationId xmlns:p14="http://schemas.microsoft.com/office/powerpoint/2010/main" val="35010697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37</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42</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45</a:t>
            </a:fld>
            <a:endParaRPr lang="en-DK"/>
          </a:p>
        </p:txBody>
      </p:sp>
    </p:spTree>
    <p:extLst>
      <p:ext uri="{BB962C8B-B14F-4D97-AF65-F5344CB8AC3E}">
        <p14:creationId xmlns:p14="http://schemas.microsoft.com/office/powerpoint/2010/main" val="264367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HMyCqWhwB8E"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doi.org/10.1172/JCI154944" TargetMode="External"/><Relationship Id="rId5" Type="http://schemas.openxmlformats.org/officeDocument/2006/relationships/hyperlink" Target="http://www.jci.org/132/7" TargetMode="Externa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4.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DTU – </a:t>
            </a:r>
            <a:r>
              <a:rPr lang="en-US" sz="2000" dirty="0" err="1">
                <a:solidFill>
                  <a:schemeClr val="bg1"/>
                </a:solidFill>
              </a:rPr>
              <a:t>Biosustain</a:t>
            </a:r>
            <a:endParaRPr lang="en-US" sz="2000" dirty="0">
              <a:solidFill>
                <a:schemeClr val="bg1"/>
              </a:solidFill>
            </a:endParaRPr>
          </a:p>
          <a:p>
            <a:pPr algn="l"/>
            <a:r>
              <a:rPr lang="en-US" sz="2000" dirty="0">
                <a:solidFill>
                  <a:schemeClr val="bg1"/>
                </a:solidFill>
              </a:rPr>
              <a:t>Spring Data-type Courses </a:t>
            </a:r>
          </a:p>
          <a:p>
            <a:pPr algn="l"/>
            <a:r>
              <a:rPr lang="en-US" sz="2000" dirty="0">
                <a:solidFill>
                  <a:schemeClr val="bg1"/>
                </a:solidFill>
              </a:rPr>
              <a:t>11th June 2025</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lnSpcReduction="10000"/>
          </a:bodyPr>
          <a:lstStyle/>
          <a:p>
            <a:pPr marL="285750" indent="-228600">
              <a:lnSpc>
                <a:spcPct val="110000"/>
              </a:lnSpc>
              <a:spcAft>
                <a:spcPts val="600"/>
              </a:spcAft>
              <a:buFont typeface="Arial" panose="020B0604020202020204" pitchFamily="34" charset="0"/>
              <a:buChar char="•"/>
            </a:pPr>
            <a:r>
              <a:rPr lang="en-US" sz="1700" dirty="0"/>
              <a:t>For most of the diseases it is not known whether the microbiota is the cause or the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047999"/>
            <a:ext cx="4223657"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 bacterial richness are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69880"/>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a:t>
            </a:r>
            <a:r>
              <a:rPr lang="en-GB" sz="1600" dirty="0" err="1"/>
              <a:t>characteryzing</a:t>
            </a:r>
            <a:r>
              <a:rPr lang="en-GB" sz="1600" dirty="0"/>
              <a:t>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2862322"/>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metagenomes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therefore the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1781693898"/>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2"/>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a:t>
            </a:r>
          </a:p>
          <a:p>
            <a:r>
              <a:rPr lang="en-DK" sz="1800" dirty="0"/>
              <a:t>Uses </a:t>
            </a:r>
            <a:r>
              <a:rPr lang="en-GB" sz="1800" dirty="0"/>
              <a:t>high-throughput DNA sequencing to </a:t>
            </a:r>
            <a:r>
              <a:rPr lang="en-GB" sz="1800" dirty="0" err="1"/>
              <a:t>analyze</a:t>
            </a:r>
            <a:r>
              <a:rPr lang="en-GB" sz="1800" dirty="0"/>
              <a:t> microbial diversity, function,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646331"/>
          </a:xfrm>
          <a:prstGeom prst="rect">
            <a:avLst/>
          </a:prstGeom>
          <a:noFill/>
        </p:spPr>
        <p:txBody>
          <a:bodyPr wrap="square" rtlCol="0">
            <a:spAutoFit/>
          </a:bodyPr>
          <a:lstStyle/>
          <a:p>
            <a:r>
              <a:rPr lang="en-DK" b="1" dirty="0"/>
              <a:t>DNA Extraction</a:t>
            </a:r>
          </a:p>
          <a:p>
            <a:r>
              <a:rPr lang="en-DK" dirty="0"/>
              <a:t>different kits</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DK" dirty="0"/>
              <a:t>library prep - fragmented DNA tagged with adapters </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t>Paired-end sequencing from Illumina:</a:t>
            </a:r>
            <a:endParaRPr lang="en-GB" sz="1800" dirty="0">
              <a:hlinkClick r:id="rId3"/>
            </a:endParaRPr>
          </a:p>
          <a:p>
            <a:pPr lvl="1"/>
            <a:r>
              <a:rPr lang="en-GB" sz="1400" dirty="0">
                <a:hlinkClick r:id="rId3"/>
              </a:rPr>
              <a:t>https://www.youtube.com/watch?v=HMyCqWhwB8E</a:t>
            </a:r>
            <a:endParaRPr lang="en-GB" sz="14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4"/>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3"/>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843677"/>
            <a:ext cx="4294909" cy="3139321"/>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 that </a:t>
            </a:r>
            <a:r>
              <a:rPr lang="en-GB" dirty="0"/>
              <a:t>encodes the RNA component of the small (30S) subunit of the prokaryotic ribosome</a:t>
            </a:r>
          </a:p>
          <a:p>
            <a:pPr marL="285750" indent="-285750">
              <a:buFont typeface="Arial" panose="020B0604020202020204" pitchFamily="34" charset="0"/>
              <a:buChar char="•"/>
            </a:pPr>
            <a:r>
              <a:rPr lang="en-DK" dirty="0"/>
              <a:t>Traditionally  used to infer phylogenetic trees to figure out species evolution</a:t>
            </a:r>
            <a:endParaRPr lang="en-GB" dirty="0"/>
          </a:p>
          <a:p>
            <a:pPr marL="285750" indent="-285750">
              <a:buFont typeface="Arial" panose="020B0604020202020204" pitchFamily="34" charset="0"/>
              <a:buChar char="•"/>
            </a:pPr>
            <a:r>
              <a:rPr lang="en-GB" dirty="0"/>
              <a:t>Present also in mitochondria and chloroplasts of eukaryotes</a:t>
            </a:r>
            <a:endParaRPr lang="en-DK" dirty="0"/>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5"/>
              </a:rPr>
              <a:t>132(7)</a:t>
            </a:r>
            <a:r>
              <a:rPr lang="en-GB" sz="1400" dirty="0"/>
              <a:t>:e154944.</a:t>
            </a:r>
          </a:p>
          <a:p>
            <a:r>
              <a:rPr lang="en-GB" sz="1400" dirty="0"/>
              <a:t> </a:t>
            </a:r>
            <a:r>
              <a:rPr lang="en-GB" sz="1400" dirty="0">
                <a:hlinkClick r:id="rId6"/>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958473" y="4907362"/>
            <a:ext cx="2130608" cy="1477328"/>
          </a:xfrm>
          <a:prstGeom prst="rect">
            <a:avLst/>
          </a:prstGeom>
          <a:noFill/>
        </p:spPr>
        <p:txBody>
          <a:bodyPr wrap="square" rtlCol="0">
            <a:spAutoFit/>
          </a:bodyPr>
          <a:lstStyle/>
          <a:p>
            <a:r>
              <a:rPr lang="en-DK" dirty="0"/>
              <a:t>Abundance table of operational taxonomic units (OTUs) – resolution up to Genus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695638" y="2105976"/>
            <a:ext cx="230925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64667" y="780501"/>
            <a:ext cx="1367047" cy="4506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7317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780325" y="224407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946552" y="3554136"/>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705841" y="4678603"/>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699150"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544277"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4003950"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4190986"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588313"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461150"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761495"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4038586"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765950"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4128641"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532895"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5105386"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807513"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696677"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800586"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724386"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588312"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761494"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532894"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475005"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523887" y="5931535"/>
            <a:ext cx="2512875" cy="646331"/>
          </a:xfrm>
          <a:prstGeom prst="rect">
            <a:avLst/>
          </a:prstGeom>
          <a:noFill/>
        </p:spPr>
        <p:txBody>
          <a:bodyPr wrap="square" rtlCol="0">
            <a:spAutoFit/>
          </a:bodyPr>
          <a:lstStyle/>
          <a:p>
            <a:r>
              <a:rPr lang="en-DK" dirty="0"/>
              <a:t>Microbial genomes in our sample</a:t>
            </a:r>
          </a:p>
        </p:txBody>
      </p:sp>
      <p:sp>
        <p:nvSpPr>
          <p:cNvPr id="47" name="TextBox 46">
            <a:extLst>
              <a:ext uri="{FF2B5EF4-FFF2-40B4-BE49-F238E27FC236}">
                <a16:creationId xmlns:a16="http://schemas.microsoft.com/office/drawing/2014/main" id="{D7136B39-DF79-F5AA-46F9-F742D45238F7}"/>
              </a:ext>
            </a:extLst>
          </p:cNvPr>
          <p:cNvSpPr txBox="1"/>
          <p:nvPr/>
        </p:nvSpPr>
        <p:spPr>
          <a:xfrm>
            <a:off x="3172674" y="5693533"/>
            <a:ext cx="2909459" cy="923330"/>
          </a:xfrm>
          <a:prstGeom prst="rect">
            <a:avLst/>
          </a:prstGeom>
          <a:noFill/>
        </p:spPr>
        <p:txBody>
          <a:bodyPr wrap="square" rtlCol="0">
            <a:spAutoFit/>
          </a:bodyPr>
          <a:lstStyle/>
          <a:p>
            <a:r>
              <a:rPr lang="en-DK" dirty="0"/>
              <a:t>Shatter randomly  into fragments of 150 bps with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6286482" y="5845887"/>
            <a:ext cx="3525982" cy="646331"/>
          </a:xfrm>
          <a:prstGeom prst="rect">
            <a:avLst/>
          </a:prstGeom>
          <a:noFill/>
        </p:spPr>
        <p:txBody>
          <a:bodyPr wrap="square" rtlCol="0">
            <a:spAutoFit/>
          </a:bodyPr>
          <a:lstStyle/>
          <a:p>
            <a:r>
              <a:rPr lang="en-DK" dirty="0"/>
              <a:t>Sequence all fragments (in the order of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7374599" y="290939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7277617" y="3283223"/>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6491378" y="369897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7211809" y="4418662"/>
            <a:ext cx="1963881" cy="246221"/>
          </a:xfrm>
          <a:prstGeom prst="rect">
            <a:avLst/>
          </a:prstGeom>
          <a:noFill/>
        </p:spPr>
        <p:txBody>
          <a:bodyPr wrap="square" rtlCol="0">
            <a:spAutoFit/>
          </a:bodyPr>
          <a:lstStyle/>
          <a:p>
            <a:r>
              <a:rPr lang="en-DK" sz="1000" b="1" dirty="0">
                <a:solidFill>
                  <a:schemeClr val="tx2">
                    <a:lumMod val="75000"/>
                    <a:lumOff val="25000"/>
                  </a:schemeClr>
                </a:solidFill>
              </a:rPr>
              <a:t>TTCAACACCGAGATATGC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7045560"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7523520" y="472412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6917402"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1" y="480648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3119048504"/>
              </p:ext>
            </p:extLst>
          </p:nvPr>
        </p:nvGraphicFramePr>
        <p:xfrm>
          <a:off x="10285431" y="4747110"/>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931430" y="6052972"/>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8249901" y="323244"/>
            <a:ext cx="3756777" cy="646331"/>
          </a:xfrm>
          <a:prstGeom prst="rect">
            <a:avLst/>
          </a:prstGeom>
          <a:noFill/>
        </p:spPr>
        <p:txBody>
          <a:bodyPr wrap="square" rtlCol="0">
            <a:spAutoFit/>
          </a:bodyPr>
          <a:lstStyle/>
          <a:p>
            <a:r>
              <a:rPr lang="en-DK" dirty="0"/>
              <a:t>Read mapping to know  genomes, specific marker genes</a:t>
            </a:r>
          </a:p>
        </p:txBody>
      </p:sp>
      <p:sp>
        <p:nvSpPr>
          <p:cNvPr id="70" name="TextBox 69">
            <a:extLst>
              <a:ext uri="{FF2B5EF4-FFF2-40B4-BE49-F238E27FC236}">
                <a16:creationId xmlns:a16="http://schemas.microsoft.com/office/drawing/2014/main" id="{66E316CC-DFF9-0D22-69C0-E2055AE564C5}"/>
              </a:ext>
            </a:extLst>
          </p:cNvPr>
          <p:cNvSpPr txBox="1"/>
          <p:nvPr/>
        </p:nvSpPr>
        <p:spPr>
          <a:xfrm>
            <a:off x="10240661" y="4422628"/>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9272031" y="4953148"/>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678571" y="1040692"/>
            <a:ext cx="1229585" cy="369332"/>
          </a:xfrm>
          <a:prstGeom prst="rect">
            <a:avLst/>
          </a:prstGeom>
          <a:noFill/>
        </p:spPr>
        <p:txBody>
          <a:bodyPr wrap="square" rtlCol="0">
            <a:spAutoFit/>
          </a:bodyPr>
          <a:lstStyle/>
          <a:p>
            <a:r>
              <a:rPr lang="en-DK" dirty="0"/>
              <a:t>Genome</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695644" y="1757303"/>
            <a:ext cx="1783340" cy="369332"/>
          </a:xfrm>
          <a:prstGeom prst="rect">
            <a:avLst/>
          </a:prstGeom>
          <a:noFill/>
        </p:spPr>
        <p:txBody>
          <a:bodyPr wrap="square" rtlCol="0">
            <a:spAutoFit/>
          </a:bodyPr>
          <a:lstStyle/>
          <a:p>
            <a:r>
              <a:rPr lang="en-DK" dirty="0"/>
              <a:t>Marker genes</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9166143" y="3297657"/>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10140738" y="2614481"/>
            <a:ext cx="2223300" cy="1815882"/>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Tree>
    <p:extLst>
      <p:ext uri="{BB962C8B-B14F-4D97-AF65-F5344CB8AC3E}">
        <p14:creationId xmlns:p14="http://schemas.microsoft.com/office/powerpoint/2010/main" val="826752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3950817729"/>
              </p:ext>
            </p:extLst>
          </p:nvPr>
        </p:nvGraphicFramePr>
        <p:xfrm>
          <a:off x="787723" y="1345087"/>
          <a:ext cx="10616551" cy="4790151"/>
        </p:xfrm>
        <a:graphic>
          <a:graphicData uri="http://schemas.openxmlformats.org/drawingml/2006/table">
            <a:tbl>
              <a:tblPr firstRow="1" bandRow="1">
                <a:tableStyleId>{B301B821-A1FF-4177-AEE7-76D212191A09}</a:tableStyleId>
              </a:tblPr>
              <a:tblGrid>
                <a:gridCol w="1874435">
                  <a:extLst>
                    <a:ext uri="{9D8B030D-6E8A-4147-A177-3AD203B41FA5}">
                      <a16:colId xmlns:a16="http://schemas.microsoft.com/office/drawing/2014/main" val="2515698166"/>
                    </a:ext>
                  </a:extLst>
                </a:gridCol>
                <a:gridCol w="6055967">
                  <a:extLst>
                    <a:ext uri="{9D8B030D-6E8A-4147-A177-3AD203B41FA5}">
                      <a16:colId xmlns:a16="http://schemas.microsoft.com/office/drawing/2014/main" val="3073312144"/>
                    </a:ext>
                  </a:extLst>
                </a:gridCol>
                <a:gridCol w="2686149">
                  <a:extLst>
                    <a:ext uri="{9D8B030D-6E8A-4147-A177-3AD203B41FA5}">
                      <a16:colId xmlns:a16="http://schemas.microsoft.com/office/drawing/2014/main" val="374859687"/>
                    </a:ext>
                  </a:extLst>
                </a:gridCol>
              </a:tblGrid>
              <a:tr h="461991">
                <a:tc>
                  <a:txBody>
                    <a:bodyPr/>
                    <a:lstStyle/>
                    <a:p>
                      <a:pPr algn="ctr"/>
                      <a:r>
                        <a:rPr lang="en-DK" sz="1600" dirty="0"/>
                        <a:t>Method</a:t>
                      </a:r>
                    </a:p>
                  </a:txBody>
                  <a:tcPr anchor="ctr"/>
                </a:tc>
                <a:tc>
                  <a:txBody>
                    <a:bodyPr/>
                    <a:lstStyle/>
                    <a:p>
                      <a:pPr algn="ctr"/>
                      <a:r>
                        <a:rPr lang="en-DK" sz="1600" dirty="0"/>
                        <a:t>Tools</a:t>
                      </a:r>
                    </a:p>
                  </a:txBody>
                  <a:tcPr anchor="ctr"/>
                </a:tc>
                <a:tc>
                  <a:txBody>
                    <a:bodyPr/>
                    <a:lstStyle/>
                    <a:p>
                      <a:pPr algn="ctr"/>
                      <a:r>
                        <a:rPr lang="en-DK" sz="1600" dirty="0"/>
                        <a:t>Databases</a:t>
                      </a:r>
                    </a:p>
                  </a:txBody>
                  <a:tcPr anchor="ctr"/>
                </a:tc>
                <a:extLst>
                  <a:ext uri="{0D108BD9-81ED-4DB2-BD59-A6C34878D82A}">
                    <a16:rowId xmlns:a16="http://schemas.microsoft.com/office/drawing/2014/main" val="2920315549"/>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Amplicon-based Profiling</a:t>
                      </a:r>
                      <a:endParaRPr lang="en-DK" sz="1600" dirty="0"/>
                    </a:p>
                    <a:p>
                      <a:pPr algn="ctr"/>
                      <a:endParaRPr lang="en-DK" sz="1600" dirty="0"/>
                    </a:p>
                  </a:txBody>
                  <a:tcPr anchor="ctr"/>
                </a:tc>
                <a:tc>
                  <a:txBody>
                    <a:bodyPr/>
                    <a:lstStyle/>
                    <a:p>
                      <a:r>
                        <a:rPr lang="en-GB" sz="1600" b="1" dirty="0"/>
                        <a:t>QIIME 2</a:t>
                      </a:r>
                      <a:r>
                        <a:rPr lang="en-GB" sz="1600" dirty="0"/>
                        <a:t>: A popular pipeline supporting DADA2, Deblur, and multiple classifiers (Naive Bayes, etc.).</a:t>
                      </a:r>
                    </a:p>
                    <a:p>
                      <a:r>
                        <a:rPr lang="en-GB" sz="1600" b="1" dirty="0">
                          <a:solidFill>
                            <a:srgbClr val="FF0000"/>
                          </a:solidFill>
                        </a:rPr>
                        <a:t>DADA2</a:t>
                      </a:r>
                      <a:r>
                        <a:rPr lang="en-GB" sz="1600" dirty="0">
                          <a:solidFill>
                            <a:srgbClr val="FF0000"/>
                          </a:solidFill>
                        </a:rPr>
                        <a:t>: High-resolution method that infers amplicon sequence variants (ASVs).</a:t>
                      </a:r>
                    </a:p>
                    <a:p>
                      <a:r>
                        <a:rPr lang="en-GB" sz="1600" b="1" dirty="0"/>
                        <a:t>USEARCH / VSEARCH</a:t>
                      </a:r>
                      <a:r>
                        <a:rPr lang="en-GB" sz="1600" dirty="0"/>
                        <a:t>: Clustering-based OTU picking methods.</a:t>
                      </a:r>
                    </a:p>
                    <a:p>
                      <a:r>
                        <a:rPr lang="en-GB" sz="1600" b="1" dirty="0" err="1"/>
                        <a:t>Mothur</a:t>
                      </a:r>
                      <a:r>
                        <a:rPr lang="en-GB" sz="1600" dirty="0"/>
                        <a:t>: OTU-based method using different clustering and alignment strategies.</a:t>
                      </a:r>
                    </a:p>
                    <a:p>
                      <a:r>
                        <a:rPr lang="en-GB" sz="1600" b="1" dirty="0"/>
                        <a:t>RDP Classifier</a:t>
                      </a:r>
                      <a:r>
                        <a:rPr lang="en-GB" sz="1600" dirty="0"/>
                        <a:t>: Naive Bayesian classifier for assigning taxonomy.</a:t>
                      </a:r>
                    </a:p>
                  </a:txBody>
                  <a:tcPr/>
                </a:tc>
                <a:tc>
                  <a:txBody>
                    <a:bodyPr/>
                    <a:lstStyle/>
                    <a:p>
                      <a:r>
                        <a:rPr lang="en-GB" sz="1600" b="1" dirty="0"/>
                        <a:t>SILVA</a:t>
                      </a:r>
                    </a:p>
                    <a:p>
                      <a:r>
                        <a:rPr lang="en-GB" sz="1600" b="1" dirty="0" err="1"/>
                        <a:t>Greengenes</a:t>
                      </a:r>
                      <a:r>
                        <a:rPr lang="en-GB" sz="1600" dirty="0"/>
                        <a:t> (deprecated but still used)</a:t>
                      </a:r>
                    </a:p>
                    <a:p>
                      <a:r>
                        <a:rPr lang="en-GB" sz="1600" b="1" dirty="0"/>
                        <a:t>RDP</a:t>
                      </a:r>
                    </a:p>
                    <a:p>
                      <a:r>
                        <a:rPr lang="en-GB" sz="1600" b="1" dirty="0"/>
                        <a:t>UNITE</a:t>
                      </a:r>
                      <a:r>
                        <a:rPr lang="en-GB" sz="1600" dirty="0"/>
                        <a:t> (for fungi)</a:t>
                      </a:r>
                    </a:p>
                    <a:p>
                      <a:endParaRPr lang="en-DK" sz="1600" dirty="0"/>
                    </a:p>
                  </a:txBody>
                  <a:tcPr/>
                </a:tc>
                <a:extLst>
                  <a:ext uri="{0D108BD9-81ED-4DB2-BD59-A6C34878D82A}">
                    <a16:rowId xmlns:a16="http://schemas.microsoft.com/office/drawing/2014/main" val="547700518"/>
                  </a:ext>
                </a:extLst>
              </a:tr>
              <a:tr h="228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600" dirty="0"/>
                        <a:t>Shotgun Metagenomics-based</a:t>
                      </a:r>
                      <a:endParaRPr lang="en-DK" sz="1600" dirty="0"/>
                    </a:p>
                    <a:p>
                      <a:pPr algn="ctr"/>
                      <a:r>
                        <a:rPr lang="en-GB" sz="1600" dirty="0"/>
                        <a:t>Read-based (Direct Mapping)</a:t>
                      </a:r>
                    </a:p>
                    <a:p>
                      <a:pPr algn="ctr"/>
                      <a:r>
                        <a:rPr lang="en-GB" sz="1600" dirty="0"/>
                        <a:t>profiling</a:t>
                      </a:r>
                      <a:endParaRPr lang="en-DK" sz="1600" dirty="0"/>
                    </a:p>
                  </a:txBody>
                  <a:tcPr anchor="ctr"/>
                </a:tc>
                <a:tc>
                  <a:txBody>
                    <a:bodyPr/>
                    <a:lstStyle/>
                    <a:p>
                      <a:r>
                        <a:rPr lang="en-GB" sz="1600" b="1" dirty="0">
                          <a:solidFill>
                            <a:srgbClr val="FF0000"/>
                          </a:solidFill>
                        </a:rPr>
                        <a:t>MetaPhlAn4</a:t>
                      </a:r>
                      <a:r>
                        <a:rPr lang="en-GB" sz="1600" dirty="0">
                          <a:solidFill>
                            <a:srgbClr val="FF0000"/>
                          </a:solidFill>
                        </a:rPr>
                        <a:t>: Uses clade-specific marker genes for fast, accurate profiling.</a:t>
                      </a:r>
                    </a:p>
                    <a:p>
                      <a:r>
                        <a:rPr lang="en-GB" sz="1600" b="1" dirty="0"/>
                        <a:t>Kraken2 / </a:t>
                      </a:r>
                      <a:r>
                        <a:rPr lang="en-GB" sz="1600" b="1" dirty="0" err="1"/>
                        <a:t>KrakenUniq</a:t>
                      </a:r>
                      <a:r>
                        <a:rPr lang="en-GB" sz="1600" dirty="0"/>
                        <a:t>: K-</a:t>
                      </a:r>
                      <a:r>
                        <a:rPr lang="en-GB" sz="1600" dirty="0" err="1"/>
                        <a:t>mer</a:t>
                      </a:r>
                      <a:r>
                        <a:rPr lang="en-GB" sz="1600" dirty="0"/>
                        <a:t> based, ultra-fast classification against a database of genomes.</a:t>
                      </a:r>
                    </a:p>
                    <a:p>
                      <a:r>
                        <a:rPr lang="en-GB" sz="1600" b="1" dirty="0"/>
                        <a:t>Centrifuge</a:t>
                      </a:r>
                      <a:r>
                        <a:rPr lang="en-GB" sz="1600" dirty="0"/>
                        <a:t>: K-</a:t>
                      </a:r>
                      <a:r>
                        <a:rPr lang="en-GB" sz="1600" dirty="0" err="1"/>
                        <a:t>mer</a:t>
                      </a:r>
                      <a:r>
                        <a:rPr lang="en-GB" sz="1600" dirty="0"/>
                        <a:t> based, designed for large reference databases and low-memory use.</a:t>
                      </a:r>
                    </a:p>
                    <a:p>
                      <a:r>
                        <a:rPr lang="en-GB" sz="1600" b="1" dirty="0" err="1"/>
                        <a:t>HUMAnN</a:t>
                      </a:r>
                      <a:r>
                        <a:rPr lang="en-GB" sz="1600" b="1" dirty="0"/>
                        <a:t> / HUMAnN3</a:t>
                      </a:r>
                      <a:r>
                        <a:rPr lang="en-GB" sz="1600" dirty="0"/>
                        <a:t>: Often used alongside MetaPhlAn for functional and taxonomic profiling.</a:t>
                      </a:r>
                    </a:p>
                    <a:p>
                      <a:r>
                        <a:rPr lang="en-GB" sz="1600" b="1" dirty="0" err="1"/>
                        <a:t>StrainPhlAn</a:t>
                      </a:r>
                      <a:r>
                        <a:rPr lang="en-GB" sz="1600" dirty="0"/>
                        <a:t>: Extension of MetaPhlAn for strain-level profiling.</a:t>
                      </a:r>
                    </a:p>
                  </a:txBody>
                  <a:tcPr/>
                </a:tc>
                <a:tc>
                  <a:txBody>
                    <a:bodyPr/>
                    <a:lstStyle/>
                    <a:p>
                      <a:r>
                        <a:rPr lang="en-GB" sz="1600" b="1" dirty="0" err="1"/>
                        <a:t>ChocoPhlAn</a:t>
                      </a:r>
                      <a:r>
                        <a:rPr lang="en-GB" sz="1600" dirty="0"/>
                        <a:t> (used by MetaPhlAn)</a:t>
                      </a:r>
                    </a:p>
                    <a:p>
                      <a:r>
                        <a:rPr lang="en-GB" sz="1600" b="1" dirty="0" err="1"/>
                        <a:t>RefSeq</a:t>
                      </a:r>
                      <a:r>
                        <a:rPr lang="en-GB" sz="1600" b="1" dirty="0"/>
                        <a:t> / GenBank</a:t>
                      </a:r>
                      <a:r>
                        <a:rPr lang="en-GB" sz="1600" dirty="0"/>
                        <a:t> (used by Kraken/Centrifuge)</a:t>
                      </a:r>
                    </a:p>
                    <a:p>
                      <a:r>
                        <a:rPr lang="en-GB" sz="1600" b="1" dirty="0"/>
                        <a:t>GTDB</a:t>
                      </a:r>
                      <a:r>
                        <a:rPr lang="en-GB" sz="16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Tree>
    <p:extLst>
      <p:ext uri="{BB962C8B-B14F-4D97-AF65-F5344CB8AC3E}">
        <p14:creationId xmlns:p14="http://schemas.microsoft.com/office/powerpoint/2010/main" val="213081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9048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35</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838200" y="-124691"/>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838200" y="900544"/>
            <a:ext cx="10360231" cy="4835237"/>
          </a:xfrm>
        </p:spPr>
        <p:txBody>
          <a:bodyPr>
            <a:noAutofit/>
          </a:bodyPr>
          <a:lstStyle/>
          <a:p>
            <a:r>
              <a:rPr lang="en-GB" sz="1600" dirty="0"/>
              <a:t>Shotgun metagenomics have higher cost than 16S amplicon but you get higher taxonomical resolution and functional information</a:t>
            </a:r>
          </a:p>
          <a:p>
            <a:r>
              <a:rPr lang="en-GB" sz="1600" dirty="0"/>
              <a:t>Sampling biases can occur when collecting environmental samples which can also lead to misrepresentation of the microbial community</a:t>
            </a:r>
          </a:p>
          <a:p>
            <a:r>
              <a:rPr lang="en-GB" sz="1600" dirty="0"/>
              <a:t>It is also challenging to extract microbes DNA from low biomass samples - highly dependant on the sampling method and the its accuracy</a:t>
            </a:r>
          </a:p>
          <a:p>
            <a:r>
              <a:rPr lang="en-GB" sz="1600" dirty="0"/>
              <a:t>Microbial genomes available and deposited in reference databases are biased towards model organisms, pathogens and cultivable bacteria</a:t>
            </a:r>
          </a:p>
          <a:p>
            <a:r>
              <a:rPr lang="en-GB" sz="1600" dirty="0"/>
              <a:t>Metagenomic sequencing can detect the presence of microorganisms but cannot easily determine if they are pathogenic (do they have their toxins? Are they active?) </a:t>
            </a:r>
          </a:p>
          <a:p>
            <a:r>
              <a:rPr lang="en-GB" sz="1600" dirty="0"/>
              <a:t>Functional profiling is hindered by the lack of annotation for most genes</a:t>
            </a:r>
          </a:p>
          <a:p>
            <a:r>
              <a:rPr lang="en-GB" sz="1600" dirty="0"/>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r>
              <a:rPr lang="en-DK" sz="1600" dirty="0"/>
              <a:t>“Live or dead” dilemma – DNA persists in the environment after the death of the host cell, sequencing results may not be representative of the active microbial population</a:t>
            </a:r>
          </a:p>
          <a:p>
            <a:r>
              <a:rPr lang="en-DK" sz="1600" dirty="0"/>
              <a:t>Snapshot of the microbiome - many metagenomics studies are cross-sectional and can not assess intra- vs inter-subject variation – more longitudinal studies are needed</a:t>
            </a:r>
          </a:p>
          <a:p>
            <a:r>
              <a:rPr lang="en-DK" sz="1600" dirty="0"/>
              <a:t>Disentangling the cause from the effect – follow ups, longitudinal and prospective studies needed</a:t>
            </a:r>
          </a:p>
          <a:p>
            <a:r>
              <a:rPr lang="en-DK" sz="1600" dirty="0"/>
              <a:t>Metagenomics have not yet reached the level of standardization of other high-throughput techniques</a:t>
            </a:r>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63811</TotalTime>
  <Words>5157</Words>
  <Application>Microsoft Macintosh PowerPoint</Application>
  <PresentationFormat>Widescreen</PresentationFormat>
  <Paragraphs>749</Paragraphs>
  <Slides>46</Slides>
  <Notes>29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46</vt:i4>
      </vt:variant>
    </vt:vector>
  </HeadingPairs>
  <TitlesOfParts>
    <vt:vector size="56"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16S amplicon sequencing</vt:lpstr>
      <vt:lpstr>Reference-based methods</vt:lpstr>
      <vt:lpstr>Amplicon and read-based shotgun metagenomics tools</vt:lpstr>
      <vt:lpstr>Metagenome-assembled genomes (MAG)</vt:lpstr>
      <vt:lpstr>MAG construction tools</vt:lpstr>
      <vt:lpstr>Sumary table</vt:lpstr>
      <vt:lpstr>Functional profiling</vt:lpstr>
      <vt:lpstr>Functional annotation from the gene catalog</vt:lpstr>
      <vt:lpstr>Functional annotation from the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54</cp:revision>
  <cp:lastPrinted>2025-06-07T22:01:04Z</cp:lastPrinted>
  <dcterms:created xsi:type="dcterms:W3CDTF">2025-04-12T18:46:44Z</dcterms:created>
  <dcterms:modified xsi:type="dcterms:W3CDTF">2025-06-09T09:35:52Z</dcterms:modified>
</cp:coreProperties>
</file>