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304" r:id="rId3"/>
    <p:sldId id="273" r:id="rId4"/>
    <p:sldId id="301" r:id="rId5"/>
    <p:sldId id="302" r:id="rId6"/>
    <p:sldId id="300" r:id="rId7"/>
    <p:sldId id="298" r:id="rId8"/>
    <p:sldId id="274" r:id="rId9"/>
    <p:sldId id="297" r:id="rId10"/>
    <p:sldId id="299" r:id="rId11"/>
    <p:sldId id="276" r:id="rId12"/>
    <p:sldId id="277" r:id="rId13"/>
    <p:sldId id="303" r:id="rId14"/>
    <p:sldId id="307" r:id="rId15"/>
    <p:sldId id="305" r:id="rId16"/>
    <p:sldId id="279" r:id="rId17"/>
    <p:sldId id="306" r:id="rId18"/>
    <p:sldId id="281" r:id="rId19"/>
    <p:sldId id="257" r:id="rId20"/>
    <p:sldId id="259" r:id="rId21"/>
    <p:sldId id="267" r:id="rId22"/>
    <p:sldId id="282" r:id="rId23"/>
    <p:sldId id="269" r:id="rId24"/>
    <p:sldId id="270" r:id="rId25"/>
    <p:sldId id="308" r:id="rId26"/>
    <p:sldId id="289" r:id="rId27"/>
    <p:sldId id="290" r:id="rId28"/>
    <p:sldId id="291" r:id="rId29"/>
    <p:sldId id="264" r:id="rId30"/>
    <p:sldId id="292" r:id="rId31"/>
    <p:sldId id="265" r:id="rId32"/>
    <p:sldId id="293" r:id="rId33"/>
    <p:sldId id="278" r:id="rId34"/>
    <p:sldId id="309" r:id="rId35"/>
    <p:sldId id="288" r:id="rId36"/>
    <p:sldId id="296" r:id="rId37"/>
    <p:sldId id="315" r:id="rId38"/>
    <p:sldId id="312" r:id="rId39"/>
    <p:sldId id="285" r:id="rId40"/>
    <p:sldId id="262" r:id="rId41"/>
    <p:sldId id="294" r:id="rId42"/>
    <p:sldId id="295" r:id="rId43"/>
    <p:sldId id="311" r:id="rId44"/>
    <p:sldId id="284" r:id="rId45"/>
    <p:sldId id="283" r:id="rId46"/>
    <p:sldId id="313" r:id="rId47"/>
    <p:sldId id="261" r:id="rId48"/>
    <p:sldId id="314" r:id="rId49"/>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16"/>
    <p:restoredTop sz="79749"/>
  </p:normalViewPr>
  <p:slideViewPr>
    <p:cSldViewPr snapToGrid="0">
      <p:cViewPr varScale="1">
        <p:scale>
          <a:sx n="98" d="100"/>
          <a:sy n="98" d="100"/>
        </p:scale>
        <p:origin x="179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C1A0C2-F72A-4791-8A2F-1FAC90C24D12}" type="doc">
      <dgm:prSet loTypeId="urn:microsoft.com/office/officeart/2016/7/layout/VerticalDownArrowProcess" loCatId="process" qsTypeId="urn:microsoft.com/office/officeart/2005/8/quickstyle/simple5" qsCatId="simple" csTypeId="urn:microsoft.com/office/officeart/2005/8/colors/colorful2" csCatId="colorful" phldr="1"/>
      <dgm:spPr/>
      <dgm:t>
        <a:bodyPr/>
        <a:lstStyle/>
        <a:p>
          <a:endParaRPr lang="en-US"/>
        </a:p>
      </dgm:t>
    </dgm:pt>
    <dgm:pt modelId="{1FAEABA9-9CB0-47C2-AFC0-DD469FB9F5A9}">
      <dgm:prSet/>
      <dgm:spPr/>
      <dgm:t>
        <a:bodyPr/>
        <a:lstStyle/>
        <a:p>
          <a:r>
            <a:rPr lang="en-DK" dirty="0"/>
            <a:t>Who is living in this habitat?</a:t>
          </a:r>
          <a:endParaRPr lang="en-US" dirty="0"/>
        </a:p>
      </dgm:t>
    </dgm:pt>
    <dgm:pt modelId="{15BE7340-7176-437F-BCB3-2824005D5BC1}" type="parTrans" cxnId="{7DD2F9E7-3896-4510-BC80-B8B300732E4E}">
      <dgm:prSet/>
      <dgm:spPr/>
      <dgm:t>
        <a:bodyPr/>
        <a:lstStyle/>
        <a:p>
          <a:endParaRPr lang="en-US"/>
        </a:p>
      </dgm:t>
    </dgm:pt>
    <dgm:pt modelId="{3975B443-F06F-4209-8EB2-500EFE0FF7BA}" type="sibTrans" cxnId="{7DD2F9E7-3896-4510-BC80-B8B300732E4E}">
      <dgm:prSet/>
      <dgm:spPr/>
      <dgm:t>
        <a:bodyPr/>
        <a:lstStyle/>
        <a:p>
          <a:endParaRPr lang="en-US"/>
        </a:p>
      </dgm:t>
    </dgm:pt>
    <dgm:pt modelId="{983D7529-D97F-456A-A2D9-22B7F2DC7AC5}">
      <dgm:prSet custT="1"/>
      <dgm:spPr/>
      <dgm:t>
        <a:bodyPr/>
        <a:lstStyle/>
        <a:p>
          <a:pPr>
            <a:buFont typeface="Arial" panose="020B0604020202020204" pitchFamily="34" charset="0"/>
            <a:buChar char="•"/>
          </a:pPr>
          <a:r>
            <a:rPr lang="en-DK" sz="1600" dirty="0"/>
            <a:t>What is the relative proportion of the different members</a:t>
          </a:r>
          <a:endParaRPr lang="en-US" sz="1600" dirty="0"/>
        </a:p>
      </dgm:t>
    </dgm:pt>
    <dgm:pt modelId="{ED2BC299-2FFF-4A8A-8EF0-F6F46F5BBCAD}" type="parTrans" cxnId="{8E3C85D7-1019-4BCB-B70F-CC0D4B30AB91}">
      <dgm:prSet/>
      <dgm:spPr/>
      <dgm:t>
        <a:bodyPr/>
        <a:lstStyle/>
        <a:p>
          <a:endParaRPr lang="en-US"/>
        </a:p>
      </dgm:t>
    </dgm:pt>
    <dgm:pt modelId="{CFA72191-0730-4FC8-AB81-1E672D194443}" type="sibTrans" cxnId="{8E3C85D7-1019-4BCB-B70F-CC0D4B30AB91}">
      <dgm:prSet/>
      <dgm:spPr/>
      <dgm:t>
        <a:bodyPr/>
        <a:lstStyle/>
        <a:p>
          <a:endParaRPr lang="en-US"/>
        </a:p>
      </dgm:t>
    </dgm:pt>
    <dgm:pt modelId="{95D1B40B-7D99-4F85-A058-8F0BC05E6222}">
      <dgm:prSet custT="1"/>
      <dgm:spPr/>
      <dgm:t>
        <a:bodyPr/>
        <a:lstStyle/>
        <a:p>
          <a:pPr>
            <a:buFont typeface="Arial" panose="020B0604020202020204" pitchFamily="34" charset="0"/>
            <a:buNone/>
          </a:pPr>
          <a:r>
            <a:rPr lang="en-DK" sz="1600" dirty="0"/>
            <a:t>What is the total abundace (number of cells) (by absolute abundace)</a:t>
          </a:r>
          <a:endParaRPr lang="en-US" sz="1600" dirty="0"/>
        </a:p>
      </dgm:t>
    </dgm:pt>
    <dgm:pt modelId="{43C1D882-F45D-4AFC-B9DC-8B4EDF4B140B}" type="parTrans" cxnId="{AC61D38A-2C6E-4E6C-8142-780CA1A88220}">
      <dgm:prSet/>
      <dgm:spPr/>
      <dgm:t>
        <a:bodyPr/>
        <a:lstStyle/>
        <a:p>
          <a:endParaRPr lang="en-US"/>
        </a:p>
      </dgm:t>
    </dgm:pt>
    <dgm:pt modelId="{5344D2E8-27A7-47EB-8092-EB43F4EBFD25}" type="sibTrans" cxnId="{AC61D38A-2C6E-4E6C-8142-780CA1A88220}">
      <dgm:prSet/>
      <dgm:spPr/>
      <dgm:t>
        <a:bodyPr/>
        <a:lstStyle/>
        <a:p>
          <a:endParaRPr lang="en-US"/>
        </a:p>
      </dgm:t>
    </dgm:pt>
    <dgm:pt modelId="{BA4598E6-6F26-4338-B43A-FB390AB08F05}">
      <dgm:prSet custT="1"/>
      <dgm:spPr/>
      <dgm:t>
        <a:bodyPr/>
        <a:lstStyle/>
        <a:p>
          <a:pPr>
            <a:buFont typeface="Arial" panose="020B0604020202020204" pitchFamily="34" charset="0"/>
            <a:buNone/>
          </a:pPr>
          <a:r>
            <a:rPr lang="en-DK" sz="1600" dirty="0"/>
            <a:t>How abundant are bacteria, archaea, protozoa, virus,…</a:t>
          </a:r>
          <a:endParaRPr lang="en-US" sz="1600" dirty="0"/>
        </a:p>
      </dgm:t>
    </dgm:pt>
    <dgm:pt modelId="{489B905A-1624-4E8B-8F09-8C3962FFFF40}" type="parTrans" cxnId="{DB034B5D-39AB-4AB4-8ED3-5C6B40683B28}">
      <dgm:prSet/>
      <dgm:spPr/>
      <dgm:t>
        <a:bodyPr/>
        <a:lstStyle/>
        <a:p>
          <a:endParaRPr lang="en-US"/>
        </a:p>
      </dgm:t>
    </dgm:pt>
    <dgm:pt modelId="{61D5A9C5-B610-41D4-A270-27808340986A}" type="sibTrans" cxnId="{DB034B5D-39AB-4AB4-8ED3-5C6B40683B28}">
      <dgm:prSet/>
      <dgm:spPr/>
      <dgm:t>
        <a:bodyPr/>
        <a:lstStyle/>
        <a:p>
          <a:endParaRPr lang="en-US"/>
        </a:p>
      </dgm:t>
    </dgm:pt>
    <dgm:pt modelId="{E3A3FE97-F636-40B9-847F-6F155CB6E442}">
      <dgm:prSet custT="1"/>
      <dgm:spPr/>
      <dgm:t>
        <a:bodyPr/>
        <a:lstStyle/>
        <a:p>
          <a:pPr>
            <a:buFont typeface="Arial" panose="020B0604020202020204" pitchFamily="34" charset="0"/>
            <a:buNone/>
          </a:pPr>
          <a:r>
            <a:rPr lang="en-DK" sz="1600" dirty="0"/>
            <a:t>How diverse is the microbial community (diversity indices)</a:t>
          </a:r>
          <a:endParaRPr lang="en-US" sz="1600" dirty="0"/>
        </a:p>
      </dgm:t>
    </dgm:pt>
    <dgm:pt modelId="{E931D86A-15E2-4799-B917-C7B98952ACDE}" type="parTrans" cxnId="{607DBF3E-808D-4B0D-A4D3-1C03D933CDD6}">
      <dgm:prSet/>
      <dgm:spPr/>
      <dgm:t>
        <a:bodyPr/>
        <a:lstStyle/>
        <a:p>
          <a:endParaRPr lang="en-US"/>
        </a:p>
      </dgm:t>
    </dgm:pt>
    <dgm:pt modelId="{EC5A6174-834C-40AF-8235-5AC67585320F}" type="sibTrans" cxnId="{607DBF3E-808D-4B0D-A4D3-1C03D933CDD6}">
      <dgm:prSet/>
      <dgm:spPr/>
      <dgm:t>
        <a:bodyPr/>
        <a:lstStyle/>
        <a:p>
          <a:endParaRPr lang="en-US"/>
        </a:p>
      </dgm:t>
    </dgm:pt>
    <dgm:pt modelId="{A1395E35-9B34-4E20-8D40-6EFCEB101DEC}">
      <dgm:prSet custT="1"/>
      <dgm:spPr/>
      <dgm:t>
        <a:bodyPr/>
        <a:lstStyle/>
        <a:p>
          <a:pPr>
            <a:buFont typeface="Arial" panose="020B0604020202020204" pitchFamily="34" charset="0"/>
            <a:buNone/>
          </a:pPr>
          <a:r>
            <a:rPr lang="en-DK" sz="1600" dirty="0"/>
            <a:t>How evenly distributed is it?</a:t>
          </a:r>
          <a:endParaRPr lang="en-US" sz="1600" dirty="0"/>
        </a:p>
      </dgm:t>
    </dgm:pt>
    <dgm:pt modelId="{84D06B47-DC89-4610-8639-8DAA4E5ADD26}" type="parTrans" cxnId="{BFB21192-CC2F-44A4-B1B3-9064D91F606E}">
      <dgm:prSet/>
      <dgm:spPr/>
      <dgm:t>
        <a:bodyPr/>
        <a:lstStyle/>
        <a:p>
          <a:endParaRPr lang="en-US"/>
        </a:p>
      </dgm:t>
    </dgm:pt>
    <dgm:pt modelId="{106EDDC3-9964-4FDC-9612-11100A4C4C34}" type="sibTrans" cxnId="{BFB21192-CC2F-44A4-B1B3-9064D91F606E}">
      <dgm:prSet/>
      <dgm:spPr/>
      <dgm:t>
        <a:bodyPr/>
        <a:lstStyle/>
        <a:p>
          <a:endParaRPr lang="en-US"/>
        </a:p>
      </dgm:t>
    </dgm:pt>
    <dgm:pt modelId="{3795CB3D-EED0-4174-9802-021B51EB6C05}">
      <dgm:prSet/>
      <dgm:spPr/>
      <dgm:t>
        <a:bodyPr/>
        <a:lstStyle/>
        <a:p>
          <a:r>
            <a:rPr lang="en-DK"/>
            <a:t>What are these organisms doing?</a:t>
          </a:r>
          <a:endParaRPr lang="en-US"/>
        </a:p>
      </dgm:t>
    </dgm:pt>
    <dgm:pt modelId="{8757FDD7-DCBB-4AED-8980-85932D501EAF}" type="parTrans" cxnId="{473A3DC0-4593-4B48-A281-30361941A67C}">
      <dgm:prSet/>
      <dgm:spPr/>
      <dgm:t>
        <a:bodyPr/>
        <a:lstStyle/>
        <a:p>
          <a:endParaRPr lang="en-US"/>
        </a:p>
      </dgm:t>
    </dgm:pt>
    <dgm:pt modelId="{073A3C1C-B64E-42DD-8E01-F7106100F34A}" type="sibTrans" cxnId="{473A3DC0-4593-4B48-A281-30361941A67C}">
      <dgm:prSet/>
      <dgm:spPr/>
      <dgm:t>
        <a:bodyPr/>
        <a:lstStyle/>
        <a:p>
          <a:endParaRPr lang="en-US"/>
        </a:p>
      </dgm:t>
    </dgm:pt>
    <dgm:pt modelId="{D262F0D7-89F6-48B8-B717-6C16B898EC42}">
      <dgm:prSet custT="1"/>
      <dgm:spPr/>
      <dgm:t>
        <a:bodyPr/>
        <a:lstStyle/>
        <a:p>
          <a:r>
            <a:rPr lang="en-DK" sz="1600" dirty="0"/>
            <a:t>What functions potentially do they perform? </a:t>
          </a:r>
          <a:endParaRPr lang="en-US" sz="1600" dirty="0"/>
        </a:p>
      </dgm:t>
    </dgm:pt>
    <dgm:pt modelId="{9F46D7AE-B7F6-4146-BFEB-CB12D542B781}" type="parTrans" cxnId="{01F67E76-46FE-4586-A701-A09A03738ED7}">
      <dgm:prSet/>
      <dgm:spPr/>
      <dgm:t>
        <a:bodyPr/>
        <a:lstStyle/>
        <a:p>
          <a:endParaRPr lang="en-US"/>
        </a:p>
      </dgm:t>
    </dgm:pt>
    <dgm:pt modelId="{AE86FEAE-3410-4438-8C0E-493B030FBCEA}" type="sibTrans" cxnId="{01F67E76-46FE-4586-A701-A09A03738ED7}">
      <dgm:prSet/>
      <dgm:spPr/>
      <dgm:t>
        <a:bodyPr/>
        <a:lstStyle/>
        <a:p>
          <a:endParaRPr lang="en-US"/>
        </a:p>
      </dgm:t>
    </dgm:pt>
    <dgm:pt modelId="{A217D896-37B0-45EE-9ACB-1B8783AFD582}">
      <dgm:prSet custT="1"/>
      <dgm:spPr/>
      <dgm:t>
        <a:bodyPr/>
        <a:lstStyle/>
        <a:p>
          <a:r>
            <a:rPr lang="en-DK" sz="1600" dirty="0"/>
            <a:t>What substrates they consume?</a:t>
          </a:r>
          <a:endParaRPr lang="en-US" sz="1600" dirty="0"/>
        </a:p>
      </dgm:t>
    </dgm:pt>
    <dgm:pt modelId="{EEC1CF6F-0D73-44C2-AA32-1B2466DB547B}" type="parTrans" cxnId="{4B7C626E-0857-41E0-96CE-B0DDC9485099}">
      <dgm:prSet/>
      <dgm:spPr/>
      <dgm:t>
        <a:bodyPr/>
        <a:lstStyle/>
        <a:p>
          <a:endParaRPr lang="en-US"/>
        </a:p>
      </dgm:t>
    </dgm:pt>
    <dgm:pt modelId="{DCED2500-90D6-4DDD-BB76-DD85A5BC0D85}" type="sibTrans" cxnId="{4B7C626E-0857-41E0-96CE-B0DDC9485099}">
      <dgm:prSet/>
      <dgm:spPr/>
      <dgm:t>
        <a:bodyPr/>
        <a:lstStyle/>
        <a:p>
          <a:endParaRPr lang="en-US"/>
        </a:p>
      </dgm:t>
    </dgm:pt>
    <dgm:pt modelId="{A2ADD0CB-A8F1-481D-B9D2-58DF1CE91B39}">
      <dgm:prSet custT="1"/>
      <dgm:spPr/>
      <dgm:t>
        <a:bodyPr/>
        <a:lstStyle/>
        <a:p>
          <a:r>
            <a:rPr lang="en-DK" sz="1600" dirty="0"/>
            <a:t>What metabolites they produce?</a:t>
          </a:r>
          <a:endParaRPr lang="en-US" sz="1600" dirty="0"/>
        </a:p>
      </dgm:t>
    </dgm:pt>
    <dgm:pt modelId="{917051FD-618E-43AC-A535-7363B7031E23}" type="parTrans" cxnId="{0B41A8EA-2525-48F1-8FDB-44A90AB178B7}">
      <dgm:prSet/>
      <dgm:spPr/>
      <dgm:t>
        <a:bodyPr/>
        <a:lstStyle/>
        <a:p>
          <a:endParaRPr lang="en-US"/>
        </a:p>
      </dgm:t>
    </dgm:pt>
    <dgm:pt modelId="{0BA95E5E-9F6F-4512-AC5E-8E713A6B0A9A}" type="sibTrans" cxnId="{0B41A8EA-2525-48F1-8FDB-44A90AB178B7}">
      <dgm:prSet/>
      <dgm:spPr/>
      <dgm:t>
        <a:bodyPr/>
        <a:lstStyle/>
        <a:p>
          <a:endParaRPr lang="en-US"/>
        </a:p>
      </dgm:t>
    </dgm:pt>
    <dgm:pt modelId="{FC4DAE19-4537-40BB-9D39-9A341C5E2F83}">
      <dgm:prSet/>
      <dgm:spPr/>
      <dgm:t>
        <a:bodyPr/>
        <a:lstStyle/>
        <a:p>
          <a:r>
            <a:rPr lang="en-DK"/>
            <a:t>How do they perform their activities?</a:t>
          </a:r>
          <a:endParaRPr lang="en-US"/>
        </a:p>
      </dgm:t>
    </dgm:pt>
    <dgm:pt modelId="{EF824A53-765A-4FE2-BBAD-6EA72315803D}" type="parTrans" cxnId="{80A79511-80CE-4F7C-9096-F37DEE0DF2F8}">
      <dgm:prSet/>
      <dgm:spPr/>
      <dgm:t>
        <a:bodyPr/>
        <a:lstStyle/>
        <a:p>
          <a:endParaRPr lang="en-US"/>
        </a:p>
      </dgm:t>
    </dgm:pt>
    <dgm:pt modelId="{969F6927-568A-46D5-9728-E843163BAAA4}" type="sibTrans" cxnId="{80A79511-80CE-4F7C-9096-F37DEE0DF2F8}">
      <dgm:prSet/>
      <dgm:spPr/>
      <dgm:t>
        <a:bodyPr/>
        <a:lstStyle/>
        <a:p>
          <a:endParaRPr lang="en-US"/>
        </a:p>
      </dgm:t>
    </dgm:pt>
    <dgm:pt modelId="{EEFD09AB-6C54-476E-8909-698397A00A29}">
      <dgm:prSet custT="1"/>
      <dgm:spPr/>
      <dgm:t>
        <a:bodyPr/>
        <a:lstStyle/>
        <a:p>
          <a:r>
            <a:rPr lang="en-DK" sz="1600" dirty="0"/>
            <a:t>Which genes and/or pathways are present?</a:t>
          </a:r>
          <a:endParaRPr lang="en-US" sz="1600" dirty="0"/>
        </a:p>
      </dgm:t>
    </dgm:pt>
    <dgm:pt modelId="{CD9E3175-4770-4681-BDCF-96BA015B1386}" type="parTrans" cxnId="{931BCDB7-A24E-43CF-8D97-29292CD75A69}">
      <dgm:prSet/>
      <dgm:spPr/>
      <dgm:t>
        <a:bodyPr/>
        <a:lstStyle/>
        <a:p>
          <a:endParaRPr lang="en-US"/>
        </a:p>
      </dgm:t>
    </dgm:pt>
    <dgm:pt modelId="{CB5DE36C-F8EB-4F53-BA54-345C7F8AE731}" type="sibTrans" cxnId="{931BCDB7-A24E-43CF-8D97-29292CD75A69}">
      <dgm:prSet/>
      <dgm:spPr/>
      <dgm:t>
        <a:bodyPr/>
        <a:lstStyle/>
        <a:p>
          <a:endParaRPr lang="en-US"/>
        </a:p>
      </dgm:t>
    </dgm:pt>
    <dgm:pt modelId="{34AA6C30-A1EC-C94B-8426-CE3DBC37A0AB}" type="pres">
      <dgm:prSet presAssocID="{8CC1A0C2-F72A-4791-8A2F-1FAC90C24D12}" presName="Name0" presStyleCnt="0">
        <dgm:presLayoutVars>
          <dgm:dir/>
          <dgm:animLvl val="lvl"/>
          <dgm:resizeHandles val="exact"/>
        </dgm:presLayoutVars>
      </dgm:prSet>
      <dgm:spPr/>
    </dgm:pt>
    <dgm:pt modelId="{967925EF-A0E4-BF4D-9618-4882CAB00907}" type="pres">
      <dgm:prSet presAssocID="{FC4DAE19-4537-40BB-9D39-9A341C5E2F83}" presName="boxAndChildren" presStyleCnt="0"/>
      <dgm:spPr/>
    </dgm:pt>
    <dgm:pt modelId="{1CABDDCF-600E-F64D-9FE8-51C059221E31}" type="pres">
      <dgm:prSet presAssocID="{FC4DAE19-4537-40BB-9D39-9A341C5E2F83}" presName="parentTextBox" presStyleLbl="alignNode1" presStyleIdx="0" presStyleCnt="3"/>
      <dgm:spPr/>
    </dgm:pt>
    <dgm:pt modelId="{4448FB35-B32F-0446-BAC8-F42CFC40B710}" type="pres">
      <dgm:prSet presAssocID="{FC4DAE19-4537-40BB-9D39-9A341C5E2F83}" presName="descendantBox" presStyleLbl="bgAccFollowNode1" presStyleIdx="0" presStyleCnt="3"/>
      <dgm:spPr/>
    </dgm:pt>
    <dgm:pt modelId="{6B4EF679-E713-4348-BFCC-F4D6BDCC87E5}" type="pres">
      <dgm:prSet presAssocID="{073A3C1C-B64E-42DD-8E01-F7106100F34A}" presName="sp" presStyleCnt="0"/>
      <dgm:spPr/>
    </dgm:pt>
    <dgm:pt modelId="{EB2E621F-42AA-BD42-8093-2750535CF277}" type="pres">
      <dgm:prSet presAssocID="{3795CB3D-EED0-4174-9802-021B51EB6C05}" presName="arrowAndChildren" presStyleCnt="0"/>
      <dgm:spPr/>
    </dgm:pt>
    <dgm:pt modelId="{6D2A7753-A147-A54D-B180-5D044F2BFA1C}" type="pres">
      <dgm:prSet presAssocID="{3795CB3D-EED0-4174-9802-021B51EB6C05}" presName="parentTextArrow" presStyleLbl="node1" presStyleIdx="0" presStyleCnt="0"/>
      <dgm:spPr/>
    </dgm:pt>
    <dgm:pt modelId="{98124513-59BF-5340-8A3D-8381895C49FB}" type="pres">
      <dgm:prSet presAssocID="{3795CB3D-EED0-4174-9802-021B51EB6C05}" presName="arrow" presStyleLbl="alignNode1" presStyleIdx="1" presStyleCnt="3"/>
      <dgm:spPr/>
    </dgm:pt>
    <dgm:pt modelId="{57BEB718-1341-3447-9064-890F87069466}" type="pres">
      <dgm:prSet presAssocID="{3795CB3D-EED0-4174-9802-021B51EB6C05}" presName="descendantArrow" presStyleLbl="bgAccFollowNode1" presStyleIdx="1" presStyleCnt="3"/>
      <dgm:spPr/>
    </dgm:pt>
    <dgm:pt modelId="{B76F1D80-B997-6748-8A77-EE6B1BA0EC37}" type="pres">
      <dgm:prSet presAssocID="{3975B443-F06F-4209-8EB2-500EFE0FF7BA}" presName="sp" presStyleCnt="0"/>
      <dgm:spPr/>
    </dgm:pt>
    <dgm:pt modelId="{FDD4CAF4-57A2-CF4D-BFA3-9A6E111E328E}" type="pres">
      <dgm:prSet presAssocID="{1FAEABA9-9CB0-47C2-AFC0-DD469FB9F5A9}" presName="arrowAndChildren" presStyleCnt="0"/>
      <dgm:spPr/>
    </dgm:pt>
    <dgm:pt modelId="{E44A02AB-9A62-D349-8C07-632D0442D40C}" type="pres">
      <dgm:prSet presAssocID="{1FAEABA9-9CB0-47C2-AFC0-DD469FB9F5A9}" presName="parentTextArrow" presStyleLbl="node1" presStyleIdx="0" presStyleCnt="0"/>
      <dgm:spPr/>
    </dgm:pt>
    <dgm:pt modelId="{D398163D-00CC-0E48-98F0-5A74906FC835}" type="pres">
      <dgm:prSet presAssocID="{1FAEABA9-9CB0-47C2-AFC0-DD469FB9F5A9}" presName="arrow" presStyleLbl="alignNode1" presStyleIdx="2" presStyleCnt="3" custScaleY="131798"/>
      <dgm:spPr/>
    </dgm:pt>
    <dgm:pt modelId="{B71D9932-F7D9-BE46-89F6-303D2A0D8F84}" type="pres">
      <dgm:prSet presAssocID="{1FAEABA9-9CB0-47C2-AFC0-DD469FB9F5A9}" presName="descendantArrow" presStyleLbl="bgAccFollowNode1" presStyleIdx="2" presStyleCnt="3" custScaleY="143942"/>
      <dgm:spPr/>
    </dgm:pt>
  </dgm:ptLst>
  <dgm:cxnLst>
    <dgm:cxn modelId="{93909310-144E-E34C-9F09-5CAD96C5ED6A}" type="presOf" srcId="{D262F0D7-89F6-48B8-B717-6C16B898EC42}" destId="{57BEB718-1341-3447-9064-890F87069466}" srcOrd="0" destOrd="0" presId="urn:microsoft.com/office/officeart/2016/7/layout/VerticalDownArrowProcess"/>
    <dgm:cxn modelId="{80A79511-80CE-4F7C-9096-F37DEE0DF2F8}" srcId="{8CC1A0C2-F72A-4791-8A2F-1FAC90C24D12}" destId="{FC4DAE19-4537-40BB-9D39-9A341C5E2F83}" srcOrd="2" destOrd="0" parTransId="{EF824A53-765A-4FE2-BBAD-6EA72315803D}" sibTransId="{969F6927-568A-46D5-9728-E843163BAAA4}"/>
    <dgm:cxn modelId="{A55B362E-5886-D449-A7E5-2E29FDBE96FA}" type="presOf" srcId="{8CC1A0C2-F72A-4791-8A2F-1FAC90C24D12}" destId="{34AA6C30-A1EC-C94B-8426-CE3DBC37A0AB}" srcOrd="0" destOrd="0" presId="urn:microsoft.com/office/officeart/2016/7/layout/VerticalDownArrowProcess"/>
    <dgm:cxn modelId="{495D9934-3403-DC40-92E5-2729BFB48254}" type="presOf" srcId="{A1395E35-9B34-4E20-8D40-6EFCEB101DEC}" destId="{B71D9932-F7D9-BE46-89F6-303D2A0D8F84}" srcOrd="0" destOrd="4" presId="urn:microsoft.com/office/officeart/2016/7/layout/VerticalDownArrowProcess"/>
    <dgm:cxn modelId="{AA356C39-A2C3-FC45-B70F-5243CF69988D}" type="presOf" srcId="{3795CB3D-EED0-4174-9802-021B51EB6C05}" destId="{6D2A7753-A147-A54D-B180-5D044F2BFA1C}" srcOrd="0" destOrd="0" presId="urn:microsoft.com/office/officeart/2016/7/layout/VerticalDownArrowProcess"/>
    <dgm:cxn modelId="{607DBF3E-808D-4B0D-A4D3-1C03D933CDD6}" srcId="{1FAEABA9-9CB0-47C2-AFC0-DD469FB9F5A9}" destId="{E3A3FE97-F636-40B9-847F-6F155CB6E442}" srcOrd="3" destOrd="0" parTransId="{E931D86A-15E2-4799-B917-C7B98952ACDE}" sibTransId="{EC5A6174-834C-40AF-8235-5AC67585320F}"/>
    <dgm:cxn modelId="{F8F22458-88B9-8C43-8D2C-261AB5B018B9}" type="presOf" srcId="{3795CB3D-EED0-4174-9802-021B51EB6C05}" destId="{98124513-59BF-5340-8A3D-8381895C49FB}" srcOrd="1" destOrd="0" presId="urn:microsoft.com/office/officeart/2016/7/layout/VerticalDownArrowProcess"/>
    <dgm:cxn modelId="{DB034B5D-39AB-4AB4-8ED3-5C6B40683B28}" srcId="{1FAEABA9-9CB0-47C2-AFC0-DD469FB9F5A9}" destId="{BA4598E6-6F26-4338-B43A-FB390AB08F05}" srcOrd="2" destOrd="0" parTransId="{489B905A-1624-4E8B-8F09-8C3962FFFF40}" sibTransId="{61D5A9C5-B610-41D4-A270-27808340986A}"/>
    <dgm:cxn modelId="{182CAF69-E16F-6B4C-90ED-CE155B568673}" type="presOf" srcId="{983D7529-D97F-456A-A2D9-22B7F2DC7AC5}" destId="{B71D9932-F7D9-BE46-89F6-303D2A0D8F84}" srcOrd="0" destOrd="0" presId="urn:microsoft.com/office/officeart/2016/7/layout/VerticalDownArrowProcess"/>
    <dgm:cxn modelId="{4B7C626E-0857-41E0-96CE-B0DDC9485099}" srcId="{3795CB3D-EED0-4174-9802-021B51EB6C05}" destId="{A217D896-37B0-45EE-9ACB-1B8783AFD582}" srcOrd="1" destOrd="0" parTransId="{EEC1CF6F-0D73-44C2-AA32-1B2466DB547B}" sibTransId="{DCED2500-90D6-4DDD-BB76-DD85A5BC0D85}"/>
    <dgm:cxn modelId="{01F67E76-46FE-4586-A701-A09A03738ED7}" srcId="{3795CB3D-EED0-4174-9802-021B51EB6C05}" destId="{D262F0D7-89F6-48B8-B717-6C16B898EC42}" srcOrd="0" destOrd="0" parTransId="{9F46D7AE-B7F6-4146-BFEB-CB12D542B781}" sibTransId="{AE86FEAE-3410-4438-8C0E-493B030FBCEA}"/>
    <dgm:cxn modelId="{AC61D38A-2C6E-4E6C-8142-780CA1A88220}" srcId="{1FAEABA9-9CB0-47C2-AFC0-DD469FB9F5A9}" destId="{95D1B40B-7D99-4F85-A058-8F0BC05E6222}" srcOrd="1" destOrd="0" parTransId="{43C1D882-F45D-4AFC-B9DC-8B4EDF4B140B}" sibTransId="{5344D2E8-27A7-47EB-8092-EB43F4EBFD25}"/>
    <dgm:cxn modelId="{BFB21192-CC2F-44A4-B1B3-9064D91F606E}" srcId="{1FAEABA9-9CB0-47C2-AFC0-DD469FB9F5A9}" destId="{A1395E35-9B34-4E20-8D40-6EFCEB101DEC}" srcOrd="4" destOrd="0" parTransId="{84D06B47-DC89-4610-8639-8DAA4E5ADD26}" sibTransId="{106EDDC3-9964-4FDC-9612-11100A4C4C34}"/>
    <dgm:cxn modelId="{26C8C493-4732-6F4D-9047-73031A62005B}" type="presOf" srcId="{EEFD09AB-6C54-476E-8909-698397A00A29}" destId="{4448FB35-B32F-0446-BAC8-F42CFC40B710}" srcOrd="0" destOrd="0" presId="urn:microsoft.com/office/officeart/2016/7/layout/VerticalDownArrowProcess"/>
    <dgm:cxn modelId="{22599599-B8DC-2C4E-BF56-5EDE679A307D}" type="presOf" srcId="{BA4598E6-6F26-4338-B43A-FB390AB08F05}" destId="{B71D9932-F7D9-BE46-89F6-303D2A0D8F84}" srcOrd="0" destOrd="2" presId="urn:microsoft.com/office/officeart/2016/7/layout/VerticalDownArrowProcess"/>
    <dgm:cxn modelId="{F6F3F3B4-0763-5A4B-B1CE-66D4F6823765}" type="presOf" srcId="{A2ADD0CB-A8F1-481D-B9D2-58DF1CE91B39}" destId="{57BEB718-1341-3447-9064-890F87069466}" srcOrd="0" destOrd="2" presId="urn:microsoft.com/office/officeart/2016/7/layout/VerticalDownArrowProcess"/>
    <dgm:cxn modelId="{18C1ACB6-2EF9-1049-A4D0-C64279420923}" type="presOf" srcId="{A217D896-37B0-45EE-9ACB-1B8783AFD582}" destId="{57BEB718-1341-3447-9064-890F87069466}" srcOrd="0" destOrd="1" presId="urn:microsoft.com/office/officeart/2016/7/layout/VerticalDownArrowProcess"/>
    <dgm:cxn modelId="{931BCDB7-A24E-43CF-8D97-29292CD75A69}" srcId="{FC4DAE19-4537-40BB-9D39-9A341C5E2F83}" destId="{EEFD09AB-6C54-476E-8909-698397A00A29}" srcOrd="0" destOrd="0" parTransId="{CD9E3175-4770-4681-BDCF-96BA015B1386}" sibTransId="{CB5DE36C-F8EB-4F53-BA54-345C7F8AE731}"/>
    <dgm:cxn modelId="{48BB1AC0-23A1-E548-9337-A1E1962C4DDF}" type="presOf" srcId="{E3A3FE97-F636-40B9-847F-6F155CB6E442}" destId="{B71D9932-F7D9-BE46-89F6-303D2A0D8F84}" srcOrd="0" destOrd="3" presId="urn:microsoft.com/office/officeart/2016/7/layout/VerticalDownArrowProcess"/>
    <dgm:cxn modelId="{473A3DC0-4593-4B48-A281-30361941A67C}" srcId="{8CC1A0C2-F72A-4791-8A2F-1FAC90C24D12}" destId="{3795CB3D-EED0-4174-9802-021B51EB6C05}" srcOrd="1" destOrd="0" parTransId="{8757FDD7-DCBB-4AED-8980-85932D501EAF}" sibTransId="{073A3C1C-B64E-42DD-8E01-F7106100F34A}"/>
    <dgm:cxn modelId="{8E3C85D7-1019-4BCB-B70F-CC0D4B30AB91}" srcId="{1FAEABA9-9CB0-47C2-AFC0-DD469FB9F5A9}" destId="{983D7529-D97F-456A-A2D9-22B7F2DC7AC5}" srcOrd="0" destOrd="0" parTransId="{ED2BC299-2FFF-4A8A-8EF0-F6F46F5BBCAD}" sibTransId="{CFA72191-0730-4FC8-AB81-1E672D194443}"/>
    <dgm:cxn modelId="{29045ADD-4F9A-9745-8C62-6131508C9EAA}" type="presOf" srcId="{FC4DAE19-4537-40BB-9D39-9A341C5E2F83}" destId="{1CABDDCF-600E-F64D-9FE8-51C059221E31}" srcOrd="0" destOrd="0" presId="urn:microsoft.com/office/officeart/2016/7/layout/VerticalDownArrowProcess"/>
    <dgm:cxn modelId="{7DD2F9E7-3896-4510-BC80-B8B300732E4E}" srcId="{8CC1A0C2-F72A-4791-8A2F-1FAC90C24D12}" destId="{1FAEABA9-9CB0-47C2-AFC0-DD469FB9F5A9}" srcOrd="0" destOrd="0" parTransId="{15BE7340-7176-437F-BCB3-2824005D5BC1}" sibTransId="{3975B443-F06F-4209-8EB2-500EFE0FF7BA}"/>
    <dgm:cxn modelId="{0B41A8EA-2525-48F1-8FDB-44A90AB178B7}" srcId="{3795CB3D-EED0-4174-9802-021B51EB6C05}" destId="{A2ADD0CB-A8F1-481D-B9D2-58DF1CE91B39}" srcOrd="2" destOrd="0" parTransId="{917051FD-618E-43AC-A535-7363B7031E23}" sibTransId="{0BA95E5E-9F6F-4512-AC5E-8E713A6B0A9A}"/>
    <dgm:cxn modelId="{DF473DEB-83C3-4F49-A236-42AD0911C9E1}" type="presOf" srcId="{1FAEABA9-9CB0-47C2-AFC0-DD469FB9F5A9}" destId="{D398163D-00CC-0E48-98F0-5A74906FC835}" srcOrd="1" destOrd="0" presId="urn:microsoft.com/office/officeart/2016/7/layout/VerticalDownArrowProcess"/>
    <dgm:cxn modelId="{E8FE4DF7-F2A9-3948-8E1A-39C7180D39CC}" type="presOf" srcId="{1FAEABA9-9CB0-47C2-AFC0-DD469FB9F5A9}" destId="{E44A02AB-9A62-D349-8C07-632D0442D40C}" srcOrd="0" destOrd="0" presId="urn:microsoft.com/office/officeart/2016/7/layout/VerticalDownArrowProcess"/>
    <dgm:cxn modelId="{63F679FF-00EB-D942-A4FC-F7D87F4FEF71}" type="presOf" srcId="{95D1B40B-7D99-4F85-A058-8F0BC05E6222}" destId="{B71D9932-F7D9-BE46-89F6-303D2A0D8F84}" srcOrd="0" destOrd="1" presId="urn:microsoft.com/office/officeart/2016/7/layout/VerticalDownArrowProcess"/>
    <dgm:cxn modelId="{67FFE28C-965D-FF46-9EA7-3011F2AB8778}" type="presParOf" srcId="{34AA6C30-A1EC-C94B-8426-CE3DBC37A0AB}" destId="{967925EF-A0E4-BF4D-9618-4882CAB00907}" srcOrd="0" destOrd="0" presId="urn:microsoft.com/office/officeart/2016/7/layout/VerticalDownArrowProcess"/>
    <dgm:cxn modelId="{2B6FF561-09B8-264F-AF46-18AED20A1059}" type="presParOf" srcId="{967925EF-A0E4-BF4D-9618-4882CAB00907}" destId="{1CABDDCF-600E-F64D-9FE8-51C059221E31}" srcOrd="0" destOrd="0" presId="urn:microsoft.com/office/officeart/2016/7/layout/VerticalDownArrowProcess"/>
    <dgm:cxn modelId="{97E4FD98-786A-B145-8D1C-57F06B962598}" type="presParOf" srcId="{967925EF-A0E4-BF4D-9618-4882CAB00907}" destId="{4448FB35-B32F-0446-BAC8-F42CFC40B710}" srcOrd="1" destOrd="0" presId="urn:microsoft.com/office/officeart/2016/7/layout/VerticalDownArrowProcess"/>
    <dgm:cxn modelId="{664131D3-DD06-E94D-8B0A-16BE7A422279}" type="presParOf" srcId="{34AA6C30-A1EC-C94B-8426-CE3DBC37A0AB}" destId="{6B4EF679-E713-4348-BFCC-F4D6BDCC87E5}" srcOrd="1" destOrd="0" presId="urn:microsoft.com/office/officeart/2016/7/layout/VerticalDownArrowProcess"/>
    <dgm:cxn modelId="{838675E8-58C3-7749-9669-736FAD6A24B7}" type="presParOf" srcId="{34AA6C30-A1EC-C94B-8426-CE3DBC37A0AB}" destId="{EB2E621F-42AA-BD42-8093-2750535CF277}" srcOrd="2" destOrd="0" presId="urn:microsoft.com/office/officeart/2016/7/layout/VerticalDownArrowProcess"/>
    <dgm:cxn modelId="{64FA31FF-40F4-D941-BCFD-7C712657D1E2}" type="presParOf" srcId="{EB2E621F-42AA-BD42-8093-2750535CF277}" destId="{6D2A7753-A147-A54D-B180-5D044F2BFA1C}" srcOrd="0" destOrd="0" presId="urn:microsoft.com/office/officeart/2016/7/layout/VerticalDownArrowProcess"/>
    <dgm:cxn modelId="{C0A71A05-D5D3-2B4D-9673-5F86F2BEC327}" type="presParOf" srcId="{EB2E621F-42AA-BD42-8093-2750535CF277}" destId="{98124513-59BF-5340-8A3D-8381895C49FB}" srcOrd="1" destOrd="0" presId="urn:microsoft.com/office/officeart/2016/7/layout/VerticalDownArrowProcess"/>
    <dgm:cxn modelId="{4C49CD74-9F58-BB46-8C03-592DA4E31EE4}" type="presParOf" srcId="{EB2E621F-42AA-BD42-8093-2750535CF277}" destId="{57BEB718-1341-3447-9064-890F87069466}" srcOrd="2" destOrd="0" presId="urn:microsoft.com/office/officeart/2016/7/layout/VerticalDownArrowProcess"/>
    <dgm:cxn modelId="{8FB59EF5-3F2A-6F46-A0C9-F55CE028B12E}" type="presParOf" srcId="{34AA6C30-A1EC-C94B-8426-CE3DBC37A0AB}" destId="{B76F1D80-B997-6748-8A77-EE6B1BA0EC37}" srcOrd="3" destOrd="0" presId="urn:microsoft.com/office/officeart/2016/7/layout/VerticalDownArrowProcess"/>
    <dgm:cxn modelId="{EB521D50-145A-6943-BE7F-8C4517B7189C}" type="presParOf" srcId="{34AA6C30-A1EC-C94B-8426-CE3DBC37A0AB}" destId="{FDD4CAF4-57A2-CF4D-BFA3-9A6E111E328E}" srcOrd="4" destOrd="0" presId="urn:microsoft.com/office/officeart/2016/7/layout/VerticalDownArrowProcess"/>
    <dgm:cxn modelId="{B91DC79C-0D4A-664E-A507-6D94DFFBDD74}" type="presParOf" srcId="{FDD4CAF4-57A2-CF4D-BFA3-9A6E111E328E}" destId="{E44A02AB-9A62-D349-8C07-632D0442D40C}" srcOrd="0" destOrd="0" presId="urn:microsoft.com/office/officeart/2016/7/layout/VerticalDownArrowProcess"/>
    <dgm:cxn modelId="{C0048015-DCE7-2841-A84A-77A4FF3E9648}" type="presParOf" srcId="{FDD4CAF4-57A2-CF4D-BFA3-9A6E111E328E}" destId="{D398163D-00CC-0E48-98F0-5A74906FC835}" srcOrd="1" destOrd="0" presId="urn:microsoft.com/office/officeart/2016/7/layout/VerticalDownArrowProcess"/>
    <dgm:cxn modelId="{E4456406-055C-1D44-BDAD-0ED777443D31}" type="presParOf" srcId="{FDD4CAF4-57A2-CF4D-BFA3-9A6E111E328E}" destId="{B71D9932-F7D9-BE46-89F6-303D2A0D8F84}" srcOrd="2" destOrd="0" presId="urn:microsoft.com/office/officeart/2016/7/layout/VerticalDown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BDDCF-600E-F64D-9FE8-51C059221E31}">
      <dsp:nvSpPr>
        <dsp:cNvPr id="0" name=""/>
        <dsp:cNvSpPr/>
      </dsp:nvSpPr>
      <dsp:spPr>
        <a:xfrm>
          <a:off x="0" y="3583499"/>
          <a:ext cx="2628900" cy="101357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DK" sz="1900" kern="1200"/>
            <a:t>How do they perform their activities?</a:t>
          </a:r>
          <a:endParaRPr lang="en-US" sz="1900" kern="1200"/>
        </a:p>
      </dsp:txBody>
      <dsp:txXfrm>
        <a:off x="0" y="3583499"/>
        <a:ext cx="2628900" cy="1013570"/>
      </dsp:txXfrm>
    </dsp:sp>
    <dsp:sp modelId="{4448FB35-B32F-0446-BAC8-F42CFC40B710}">
      <dsp:nvSpPr>
        <dsp:cNvPr id="0" name=""/>
        <dsp:cNvSpPr/>
      </dsp:nvSpPr>
      <dsp:spPr>
        <a:xfrm>
          <a:off x="2628900" y="3583499"/>
          <a:ext cx="7886700" cy="101357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203200" rIns="159980" bIns="203200" numCol="1" spcCol="1270" anchor="ctr" anchorCtr="0">
          <a:noAutofit/>
        </a:bodyPr>
        <a:lstStyle/>
        <a:p>
          <a:pPr marL="0" lvl="0" indent="0" algn="l" defTabSz="711200">
            <a:lnSpc>
              <a:spcPct val="90000"/>
            </a:lnSpc>
            <a:spcBef>
              <a:spcPct val="0"/>
            </a:spcBef>
            <a:spcAft>
              <a:spcPct val="35000"/>
            </a:spcAft>
            <a:buNone/>
          </a:pPr>
          <a:r>
            <a:rPr lang="en-DK" sz="1600" kern="1200" dirty="0"/>
            <a:t>Which genes and/or pathways are present?</a:t>
          </a:r>
          <a:endParaRPr lang="en-US" sz="1600" kern="1200" dirty="0"/>
        </a:p>
      </dsp:txBody>
      <dsp:txXfrm>
        <a:off x="2628900" y="3583499"/>
        <a:ext cx="7886700" cy="1013570"/>
      </dsp:txXfrm>
    </dsp:sp>
    <dsp:sp modelId="{98124513-59BF-5340-8A3D-8381895C49FB}">
      <dsp:nvSpPr>
        <dsp:cNvPr id="0" name=""/>
        <dsp:cNvSpPr/>
      </dsp:nvSpPr>
      <dsp:spPr>
        <a:xfrm rot="10800000">
          <a:off x="0" y="2039832"/>
          <a:ext cx="2628900" cy="1558870"/>
        </a:xfrm>
        <a:prstGeom prst="upArrowCallout">
          <a:avLst>
            <a:gd name="adj1" fmla="val 5000"/>
            <a:gd name="adj2" fmla="val 10000"/>
            <a:gd name="adj3" fmla="val 15000"/>
            <a:gd name="adj4" fmla="val 64977"/>
          </a:avLst>
        </a:prstGeom>
        <a:gradFill rotWithShape="0">
          <a:gsLst>
            <a:gs pos="0">
              <a:schemeClr val="accent2">
                <a:hueOff val="3221806"/>
                <a:satOff val="-9246"/>
                <a:lumOff val="-14805"/>
                <a:alphaOff val="0"/>
                <a:satMod val="103000"/>
                <a:lumMod val="102000"/>
                <a:tint val="94000"/>
              </a:schemeClr>
            </a:gs>
            <a:gs pos="50000">
              <a:schemeClr val="accent2">
                <a:hueOff val="3221806"/>
                <a:satOff val="-9246"/>
                <a:lumOff val="-14805"/>
                <a:alphaOff val="0"/>
                <a:satMod val="110000"/>
                <a:lumMod val="100000"/>
                <a:shade val="100000"/>
              </a:schemeClr>
            </a:gs>
            <a:gs pos="100000">
              <a:schemeClr val="accent2">
                <a:hueOff val="3221806"/>
                <a:satOff val="-9246"/>
                <a:lumOff val="-14805"/>
                <a:alphaOff val="0"/>
                <a:lumMod val="99000"/>
                <a:satMod val="120000"/>
                <a:shade val="78000"/>
              </a:schemeClr>
            </a:gs>
          </a:gsLst>
          <a:lin ang="5400000" scaled="0"/>
        </a:gradFill>
        <a:ln w="12700" cap="flat" cmpd="sng" algn="ctr">
          <a:solidFill>
            <a:schemeClr val="accent2">
              <a:hueOff val="3221806"/>
              <a:satOff val="-9246"/>
              <a:lumOff val="-1480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DK" sz="1900" kern="1200"/>
            <a:t>What are these organisms doing?</a:t>
          </a:r>
          <a:endParaRPr lang="en-US" sz="1900" kern="1200"/>
        </a:p>
      </dsp:txBody>
      <dsp:txXfrm rot="-10800000">
        <a:off x="0" y="2039832"/>
        <a:ext cx="2628900" cy="1013266"/>
      </dsp:txXfrm>
    </dsp:sp>
    <dsp:sp modelId="{57BEB718-1341-3447-9064-890F87069466}">
      <dsp:nvSpPr>
        <dsp:cNvPr id="0" name=""/>
        <dsp:cNvSpPr/>
      </dsp:nvSpPr>
      <dsp:spPr>
        <a:xfrm>
          <a:off x="2628900" y="2039832"/>
          <a:ext cx="7886700" cy="1013266"/>
        </a:xfrm>
        <a:prstGeom prst="rect">
          <a:avLst/>
        </a:prstGeom>
        <a:solidFill>
          <a:schemeClr val="accent2">
            <a:tint val="40000"/>
            <a:alpha val="90000"/>
            <a:hueOff val="3367362"/>
            <a:satOff val="-31116"/>
            <a:lumOff val="-3508"/>
            <a:alphaOff val="0"/>
          </a:schemeClr>
        </a:solidFill>
        <a:ln w="12700" cap="flat" cmpd="sng" algn="ctr">
          <a:solidFill>
            <a:schemeClr val="accent2">
              <a:tint val="40000"/>
              <a:alpha val="90000"/>
              <a:hueOff val="3367362"/>
              <a:satOff val="-31116"/>
              <a:lumOff val="-350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203200" rIns="159980" bIns="203200" numCol="1" spcCol="1270" anchor="ctr" anchorCtr="0">
          <a:noAutofit/>
        </a:bodyPr>
        <a:lstStyle/>
        <a:p>
          <a:pPr marL="0" lvl="0" indent="0" algn="l" defTabSz="711200">
            <a:lnSpc>
              <a:spcPct val="90000"/>
            </a:lnSpc>
            <a:spcBef>
              <a:spcPct val="0"/>
            </a:spcBef>
            <a:spcAft>
              <a:spcPct val="35000"/>
            </a:spcAft>
            <a:buNone/>
          </a:pPr>
          <a:r>
            <a:rPr lang="en-DK" sz="1600" kern="1200" dirty="0"/>
            <a:t>What functions potentially do they perform? </a:t>
          </a:r>
          <a:endParaRPr lang="en-US" sz="1600" kern="1200" dirty="0"/>
        </a:p>
        <a:p>
          <a:pPr marL="0" lvl="0" indent="0" algn="l" defTabSz="711200">
            <a:lnSpc>
              <a:spcPct val="90000"/>
            </a:lnSpc>
            <a:spcBef>
              <a:spcPct val="0"/>
            </a:spcBef>
            <a:spcAft>
              <a:spcPct val="35000"/>
            </a:spcAft>
            <a:buNone/>
          </a:pPr>
          <a:r>
            <a:rPr lang="en-DK" sz="1600" kern="1200" dirty="0"/>
            <a:t>What substrates they consume?</a:t>
          </a:r>
          <a:endParaRPr lang="en-US" sz="1600" kern="1200" dirty="0"/>
        </a:p>
        <a:p>
          <a:pPr marL="0" lvl="0" indent="0" algn="l" defTabSz="711200">
            <a:lnSpc>
              <a:spcPct val="90000"/>
            </a:lnSpc>
            <a:spcBef>
              <a:spcPct val="0"/>
            </a:spcBef>
            <a:spcAft>
              <a:spcPct val="35000"/>
            </a:spcAft>
            <a:buNone/>
          </a:pPr>
          <a:r>
            <a:rPr lang="en-DK" sz="1600" kern="1200" dirty="0"/>
            <a:t>What metabolites they produce?</a:t>
          </a:r>
          <a:endParaRPr lang="en-US" sz="1600" kern="1200" dirty="0"/>
        </a:p>
      </dsp:txBody>
      <dsp:txXfrm>
        <a:off x="2628900" y="2039832"/>
        <a:ext cx="7886700" cy="1013266"/>
      </dsp:txXfrm>
    </dsp:sp>
    <dsp:sp modelId="{D398163D-00CC-0E48-98F0-5A74906FC835}">
      <dsp:nvSpPr>
        <dsp:cNvPr id="0" name=""/>
        <dsp:cNvSpPr/>
      </dsp:nvSpPr>
      <dsp:spPr>
        <a:xfrm rot="10800000">
          <a:off x="0" y="475"/>
          <a:ext cx="2628900" cy="2054560"/>
        </a:xfrm>
        <a:prstGeom prst="upArrowCallout">
          <a:avLst>
            <a:gd name="adj1" fmla="val 5000"/>
            <a:gd name="adj2" fmla="val 10000"/>
            <a:gd name="adj3" fmla="val 15000"/>
            <a:gd name="adj4" fmla="val 64977"/>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w="12700" cap="flat" cmpd="sng" algn="ctr">
          <a:solidFill>
            <a:schemeClr val="accent2">
              <a:hueOff val="6443612"/>
              <a:satOff val="-18493"/>
              <a:lumOff val="-2960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135128" rIns="186967" bIns="135128" numCol="1" spcCol="1270" anchor="ctr" anchorCtr="0">
          <a:noAutofit/>
        </a:bodyPr>
        <a:lstStyle/>
        <a:p>
          <a:pPr marL="0" lvl="0" indent="0" algn="ctr" defTabSz="844550">
            <a:lnSpc>
              <a:spcPct val="90000"/>
            </a:lnSpc>
            <a:spcBef>
              <a:spcPct val="0"/>
            </a:spcBef>
            <a:spcAft>
              <a:spcPct val="35000"/>
            </a:spcAft>
            <a:buNone/>
          </a:pPr>
          <a:r>
            <a:rPr lang="en-DK" sz="1900" kern="1200" dirty="0"/>
            <a:t>Who is living in this habitat?</a:t>
          </a:r>
          <a:endParaRPr lang="en-US" sz="1900" kern="1200" dirty="0"/>
        </a:p>
      </dsp:txBody>
      <dsp:txXfrm rot="-10800000">
        <a:off x="0" y="475"/>
        <a:ext cx="2628900" cy="1335464"/>
      </dsp:txXfrm>
    </dsp:sp>
    <dsp:sp modelId="{B71D9932-F7D9-BE46-89F6-303D2A0D8F84}">
      <dsp:nvSpPr>
        <dsp:cNvPr id="0" name=""/>
        <dsp:cNvSpPr/>
      </dsp:nvSpPr>
      <dsp:spPr>
        <a:xfrm>
          <a:off x="2628900" y="25695"/>
          <a:ext cx="7886700" cy="1458515"/>
        </a:xfrm>
        <a:prstGeom prst="rect">
          <a:avLst/>
        </a:prstGeom>
        <a:solidFill>
          <a:schemeClr val="accent2">
            <a:tint val="40000"/>
            <a:alpha val="90000"/>
            <a:hueOff val="6734724"/>
            <a:satOff val="-62232"/>
            <a:lumOff val="-7015"/>
            <a:alphaOff val="0"/>
          </a:schemeClr>
        </a:solidFill>
        <a:ln w="12700" cap="flat" cmpd="sng" algn="ctr">
          <a:solidFill>
            <a:schemeClr val="accent2">
              <a:tint val="40000"/>
              <a:alpha val="90000"/>
              <a:hueOff val="6734724"/>
              <a:satOff val="-62232"/>
              <a:lumOff val="-701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203200" rIns="159980" bIns="20320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DK" sz="1600" kern="1200" dirty="0"/>
            <a:t>What is the relative proportion of the different members</a:t>
          </a:r>
          <a:endParaRPr lang="en-US" sz="1600" kern="1200" dirty="0"/>
        </a:p>
        <a:p>
          <a:pPr marL="0" lvl="0" indent="0" algn="l" defTabSz="711200">
            <a:lnSpc>
              <a:spcPct val="90000"/>
            </a:lnSpc>
            <a:spcBef>
              <a:spcPct val="0"/>
            </a:spcBef>
            <a:spcAft>
              <a:spcPct val="35000"/>
            </a:spcAft>
            <a:buFont typeface="Arial" panose="020B0604020202020204" pitchFamily="34" charset="0"/>
            <a:buNone/>
          </a:pPr>
          <a:r>
            <a:rPr lang="en-DK" sz="1600" kern="1200" dirty="0"/>
            <a:t>What is the total abundace (number of cells) (by absolute abundace)</a:t>
          </a:r>
          <a:endParaRPr lang="en-US" sz="1600" kern="1200" dirty="0"/>
        </a:p>
        <a:p>
          <a:pPr marL="0" lvl="0" indent="0" algn="l" defTabSz="711200">
            <a:lnSpc>
              <a:spcPct val="90000"/>
            </a:lnSpc>
            <a:spcBef>
              <a:spcPct val="0"/>
            </a:spcBef>
            <a:spcAft>
              <a:spcPct val="35000"/>
            </a:spcAft>
            <a:buFont typeface="Arial" panose="020B0604020202020204" pitchFamily="34" charset="0"/>
            <a:buNone/>
          </a:pPr>
          <a:r>
            <a:rPr lang="en-DK" sz="1600" kern="1200" dirty="0"/>
            <a:t>How abundant are bacteria, archaea, protozoa, virus,…</a:t>
          </a:r>
          <a:endParaRPr lang="en-US" sz="1600" kern="1200" dirty="0"/>
        </a:p>
        <a:p>
          <a:pPr marL="0" lvl="0" indent="0" algn="l" defTabSz="711200">
            <a:lnSpc>
              <a:spcPct val="90000"/>
            </a:lnSpc>
            <a:spcBef>
              <a:spcPct val="0"/>
            </a:spcBef>
            <a:spcAft>
              <a:spcPct val="35000"/>
            </a:spcAft>
            <a:buFont typeface="Arial" panose="020B0604020202020204" pitchFamily="34" charset="0"/>
            <a:buNone/>
          </a:pPr>
          <a:r>
            <a:rPr lang="en-DK" sz="1600" kern="1200" dirty="0"/>
            <a:t>How diverse is the microbial community (diversity indices)</a:t>
          </a:r>
          <a:endParaRPr lang="en-US" sz="1600" kern="1200" dirty="0"/>
        </a:p>
        <a:p>
          <a:pPr marL="0" lvl="0" indent="0" algn="l" defTabSz="711200">
            <a:lnSpc>
              <a:spcPct val="90000"/>
            </a:lnSpc>
            <a:spcBef>
              <a:spcPct val="0"/>
            </a:spcBef>
            <a:spcAft>
              <a:spcPct val="35000"/>
            </a:spcAft>
            <a:buFont typeface="Arial" panose="020B0604020202020204" pitchFamily="34" charset="0"/>
            <a:buNone/>
          </a:pPr>
          <a:r>
            <a:rPr lang="en-DK" sz="1600" kern="1200" dirty="0"/>
            <a:t>How evenly distributed is it?</a:t>
          </a:r>
          <a:endParaRPr lang="en-US" sz="1600" kern="1200" dirty="0"/>
        </a:p>
      </dsp:txBody>
      <dsp:txXfrm>
        <a:off x="2628900" y="25695"/>
        <a:ext cx="7886700" cy="1458515"/>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742ACD-0F18-E14C-99C6-E2FCF606A3AF}" type="datetimeFigureOut">
              <a:rPr lang="en-DK" smtClean="0"/>
              <a:t>29/04/2026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A28B0-211A-B640-96C3-6E3EBE2D2300}" type="slidenum">
              <a:rPr lang="en-DK" smtClean="0"/>
              <a:t>‹#›</a:t>
            </a:fld>
            <a:endParaRPr lang="en-DK"/>
          </a:p>
        </p:txBody>
      </p:sp>
    </p:spTree>
    <p:extLst>
      <p:ext uri="{BB962C8B-B14F-4D97-AF65-F5344CB8AC3E}">
        <p14:creationId xmlns:p14="http://schemas.microsoft.com/office/powerpoint/2010/main" val="2207260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a:t>
            </a:fld>
            <a:endParaRPr lang="en-DK"/>
          </a:p>
        </p:txBody>
      </p:sp>
    </p:spTree>
    <p:extLst>
      <p:ext uri="{BB962C8B-B14F-4D97-AF65-F5344CB8AC3E}">
        <p14:creationId xmlns:p14="http://schemas.microsoft.com/office/powerpoint/2010/main" val="1210362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In these first slides I am going to give examples of the impact of microbiome studies on the fields of medical health and planetary health</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2</a:t>
            </a:fld>
            <a:endParaRPr lang="en-DK"/>
          </a:p>
        </p:txBody>
      </p:sp>
    </p:spTree>
    <p:extLst>
      <p:ext uri="{BB962C8B-B14F-4D97-AF65-F5344CB8AC3E}">
        <p14:creationId xmlns:p14="http://schemas.microsoft.com/office/powerpoint/2010/main" val="4058810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Over more than a decade microbiome has been associated to a variety of disease becoming a really hot topic in science as it could be the target for disease treatments</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Examples</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For most of the diseases it is not known whether the microbiota is the cause or the consequence of the disease</a:t>
            </a:r>
          </a:p>
          <a:p>
            <a:endParaRPr lang="en-GB" sz="1200" b="1" i="0" kern="1200" dirty="0">
              <a:solidFill>
                <a:schemeClr val="tx1"/>
              </a:solidFill>
              <a:effectLst/>
              <a:latin typeface="+mn-lt"/>
              <a:ea typeface="+mn-ea"/>
              <a:cs typeface="+mn-cs"/>
            </a:endParaRPr>
          </a:p>
          <a:p>
            <a:r>
              <a:rPr lang="en-US" sz="1200" dirty="0"/>
              <a:t>For some diseases it may also be a disease modifier or may metabolize the drugs administered to the diseased individuals</a:t>
            </a:r>
          </a:p>
        </p:txBody>
      </p:sp>
      <p:sp>
        <p:nvSpPr>
          <p:cNvPr id="4" name="Slide Number Placeholder 3"/>
          <p:cNvSpPr>
            <a:spLocks noGrp="1"/>
          </p:cNvSpPr>
          <p:nvPr>
            <p:ph type="sldNum" sz="quarter" idx="5"/>
          </p:nvPr>
        </p:nvSpPr>
        <p:spPr/>
        <p:txBody>
          <a:bodyPr/>
          <a:lstStyle/>
          <a:p>
            <a:fld id="{90AA28B0-211A-B640-96C3-6E3EBE2D2300}" type="slidenum">
              <a:rPr lang="en-DK" smtClean="0"/>
              <a:t>3</a:t>
            </a:fld>
            <a:endParaRPr lang="en-DK"/>
          </a:p>
        </p:txBody>
      </p:sp>
    </p:spTree>
    <p:extLst>
      <p:ext uri="{BB962C8B-B14F-4D97-AF65-F5344CB8AC3E}">
        <p14:creationId xmlns:p14="http://schemas.microsoft.com/office/powerpoint/2010/main" val="1931736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In one of the pioneering studies, P. Turnbaugh and Ruth Ley showed that obesity was associated to gut microbiome. </a:t>
            </a:r>
            <a:br>
              <a:rPr lang="en-DK" dirty="0"/>
            </a:br>
            <a:br>
              <a:rPr lang="en-DK" dirty="0"/>
            </a:br>
            <a:r>
              <a:rPr lang="en-DK" dirty="0"/>
              <a:t>Microbiome from obese mice had higher capacity to harvest energy from the diet, and less energy left in their feces</a:t>
            </a:r>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They also showed that the trait was transmissible! </a:t>
            </a:r>
            <a:r>
              <a:rPr lang="en-GB" dirty="0"/>
              <a:t>Colonization of germ-free mice with an ‘obese microbiota’ results in a significantly greater increase in total body fat than colonization with a ‘lean microbiota’</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a:t>
            </a:fld>
            <a:endParaRPr lang="en-DK"/>
          </a:p>
        </p:txBody>
      </p:sp>
    </p:spTree>
    <p:extLst>
      <p:ext uri="{BB962C8B-B14F-4D97-AF65-F5344CB8AC3E}">
        <p14:creationId xmlns:p14="http://schemas.microsoft.com/office/powerpoint/2010/main" val="3923286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Few years later the Human Microbiome Project from US published their data based on thousands of samples which constituted a great resource to study the microbiome</a:t>
            </a:r>
          </a:p>
          <a:p>
            <a:endParaRPr lang="en-DK" dirty="0"/>
          </a:p>
          <a:p>
            <a:r>
              <a:rPr lang="en-DK" dirty="0"/>
              <a:t>They showed that diversity of the human microbiome is concordant among measures, unique to each individual and strongly influenced by habitat.</a:t>
            </a:r>
          </a:p>
          <a:p>
            <a:endParaRPr lang="en-DK" dirty="0"/>
          </a:p>
          <a:p>
            <a:r>
              <a:rPr lang="en-DK" dirty="0"/>
              <a:t>They also reported that carriage of different taxa varies among individuals while metabolic pathways remain more stable within a healthy population</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5</a:t>
            </a:fld>
            <a:endParaRPr lang="en-DK"/>
          </a:p>
        </p:txBody>
      </p:sp>
    </p:spTree>
    <p:extLst>
      <p:ext uri="{BB962C8B-B14F-4D97-AF65-F5344CB8AC3E}">
        <p14:creationId xmlns:p14="http://schemas.microsoft.com/office/powerpoint/2010/main" val="1102314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Meanwhile the analogous European initiative called MetaHIT consortium published their data showing that bacterial richness correlated with metabolic markers</a:t>
            </a:r>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More precisely, </a:t>
            </a:r>
            <a:r>
              <a:rPr lang="en-GB" dirty="0"/>
              <a:t>individuals with a low bacterial gene richness are characterized by more marked overall adiposity, insulin resistance and dyslipidaemia and a more pronounced inflammatory phenotype when compared with high bacterial richness individuals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Individuals with lower number of genes (gene richness) and higher BMI had less efficient weight loss when following a diet</a:t>
            </a:r>
          </a:p>
          <a:p>
            <a:pPr marL="0" marR="0" lvl="0" indent="0" algn="l" defTabSz="914400" rtl="0" eaLnBrk="1" fontAlgn="auto" latinLnBrk="0" hangingPunct="1">
              <a:lnSpc>
                <a:spcPct val="100000"/>
              </a:lnSpc>
              <a:spcBef>
                <a:spcPts val="0"/>
              </a:spcBef>
              <a:spcAft>
                <a:spcPts val="0"/>
              </a:spcAft>
              <a:buClrTx/>
              <a:buSzTx/>
              <a:buFontTx/>
              <a:buNone/>
              <a:tabLst/>
              <a:defRPr/>
            </a:pPr>
            <a:br>
              <a:rPr lang="en-DK" dirty="0"/>
            </a:br>
            <a:r>
              <a:rPr lang="en-DK" dirty="0"/>
              <a:t>So diversity could be related to health markers! </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6</a:t>
            </a:fld>
            <a:endParaRPr lang="en-DK"/>
          </a:p>
        </p:txBody>
      </p:sp>
    </p:spTree>
    <p:extLst>
      <p:ext uri="{BB962C8B-B14F-4D97-AF65-F5344CB8AC3E}">
        <p14:creationId xmlns:p14="http://schemas.microsoft.com/office/powerpoint/2010/main" val="692370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Probably you have heard about microbial therapies? Probiotics, prebiotics, … and one of the most promising ones is a fecal material transplantation where the microbiota of a healthy donor is encapsulated in a pill that is given to a sick patient (the recipient) to restore the patient microbiome and cure the disease or alleviate symptoms </a:t>
            </a:r>
            <a:br>
              <a:rPr lang="en-DK" dirty="0"/>
            </a:br>
            <a:br>
              <a:rPr lang="en-DK" dirty="0"/>
            </a:br>
            <a:r>
              <a:rPr lang="en-DK" dirty="0"/>
              <a:t>This has been succesfully used to cure Clostridioides difficile  infection with higher percentages of cured patients without relapse compared to the standard treatment (vancomycin). </a:t>
            </a:r>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Diversity (Simpson’s index) of patients after FMT resemble more the donors diversity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It has been tried in other disesases like IBD and cancer with different rates of success.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7</a:t>
            </a:fld>
            <a:endParaRPr lang="en-DK"/>
          </a:p>
        </p:txBody>
      </p:sp>
    </p:spTree>
    <p:extLst>
      <p:ext uri="{BB962C8B-B14F-4D97-AF65-F5344CB8AC3E}">
        <p14:creationId xmlns:p14="http://schemas.microsoft.com/office/powerpoint/2010/main" val="1612038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So for you to get an idea of how promising is this therapy here is an overview of ongoing clinical trials in which the efficacy of FMT is tested for a range of different diseases</a:t>
            </a:r>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8</a:t>
            </a:fld>
            <a:endParaRPr lang="en-DK"/>
          </a:p>
        </p:txBody>
      </p:sp>
    </p:spTree>
    <p:extLst>
      <p:ext uri="{BB962C8B-B14F-4D97-AF65-F5344CB8AC3E}">
        <p14:creationId xmlns:p14="http://schemas.microsoft.com/office/powerpoint/2010/main" val="2052751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Finally to conclude the papers related to medical health, I wanted to highlight a series of back to back papers in Science showing how gut bacteria can affect patient responses to cancer immunotherapy</a:t>
            </a:r>
          </a:p>
          <a:p>
            <a:endParaRPr lang="en-DK" dirty="0"/>
          </a:p>
          <a:p>
            <a:r>
              <a:rPr lang="en-DK" dirty="0"/>
              <a:t>Basically these papers demonstrated better reponse to cancer immunotherapy on patients with higher gut microbiome diversity or presence of good key bacteria in their guts and worse responses on lower diversity or imbalanced microbiomes.</a:t>
            </a:r>
          </a:p>
        </p:txBody>
      </p:sp>
      <p:sp>
        <p:nvSpPr>
          <p:cNvPr id="4" name="Slide Number Placeholder 3"/>
          <p:cNvSpPr>
            <a:spLocks noGrp="1"/>
          </p:cNvSpPr>
          <p:nvPr>
            <p:ph type="sldNum" sz="quarter" idx="5"/>
          </p:nvPr>
        </p:nvSpPr>
        <p:spPr/>
        <p:txBody>
          <a:bodyPr/>
          <a:lstStyle/>
          <a:p>
            <a:fld id="{90AA28B0-211A-B640-96C3-6E3EBE2D2300}" type="slidenum">
              <a:rPr lang="en-DK" smtClean="0"/>
              <a:t>9</a:t>
            </a:fld>
            <a:endParaRPr lang="en-DK"/>
          </a:p>
        </p:txBody>
      </p:sp>
    </p:spTree>
    <p:extLst>
      <p:ext uri="{BB962C8B-B14F-4D97-AF65-F5344CB8AC3E}">
        <p14:creationId xmlns:p14="http://schemas.microsoft.com/office/powerpoint/2010/main" val="1886487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Now let’s have a look to impactful microbiome studies in planetary health.</a:t>
            </a:r>
            <a:br>
              <a:rPr lang="en-DK" dirty="0"/>
            </a:br>
            <a:br>
              <a:rPr lang="en-DK" dirty="0"/>
            </a:br>
            <a:r>
              <a:rPr lang="en-DK" dirty="0"/>
              <a:t>Few years ago, it was published the first genomic catalog of the Earth’s microbiome with more than 10,000 samples collected from diverse habitats comprising host associated, aquatic, terrestrials, air and engineered microbiomes</a:t>
            </a:r>
          </a:p>
          <a:p>
            <a:endParaRPr lang="en-DK" dirty="0"/>
          </a:p>
          <a:p>
            <a:r>
              <a:rPr lang="en-DK" dirty="0"/>
              <a:t>To give an idea of the volume of data reported:</a:t>
            </a:r>
          </a:p>
          <a:p>
            <a:pPr marL="285750" indent="-285750">
              <a:buFont typeface="Arial" panose="020B0604020202020204" pitchFamily="34" charset="0"/>
              <a:buChar char="•"/>
            </a:pPr>
            <a:r>
              <a:rPr lang="en-GB" sz="1200" dirty="0"/>
              <a:t>52,515 metagenome-assembled genomes representing 12,556 novel candidate species from 135 different phyla</a:t>
            </a:r>
          </a:p>
          <a:p>
            <a:pPr marL="285750" indent="-285750">
              <a:buFont typeface="Arial" panose="020B0604020202020204" pitchFamily="34" charset="0"/>
              <a:buChar char="•"/>
            </a:pPr>
            <a:r>
              <a:rPr lang="en-GB" sz="1200" dirty="0"/>
              <a:t>The </a:t>
            </a:r>
            <a:r>
              <a:rPr lang="en-GB" sz="1200" dirty="0" err="1"/>
              <a:t>catalog</a:t>
            </a:r>
            <a:r>
              <a:rPr lang="en-GB" sz="1200" dirty="0"/>
              <a:t> allows metabolic modelling, understanding secondary-metabolite biosynthetic potential and resolving thousands of new host linkages to uncultivated viruses</a:t>
            </a:r>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10</a:t>
            </a:fld>
            <a:endParaRPr lang="en-DK"/>
          </a:p>
        </p:txBody>
      </p:sp>
    </p:spTree>
    <p:extLst>
      <p:ext uri="{BB962C8B-B14F-4D97-AF65-F5344CB8AC3E}">
        <p14:creationId xmlns:p14="http://schemas.microsoft.com/office/powerpoint/2010/main" val="1952000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GB" sz="1200" dirty="0"/>
          </a:p>
          <a:p>
            <a:pPr marL="0" indent="0">
              <a:buFont typeface="Arial" panose="020B0604020202020204" pitchFamily="34" charset="0"/>
              <a:buNone/>
            </a:pPr>
            <a:r>
              <a:rPr lang="en-GB" sz="1200" dirty="0"/>
              <a:t>Another type of microbial study, </a:t>
            </a:r>
            <a:r>
              <a:rPr lang="en-GB" sz="1200" dirty="0" err="1"/>
              <a:t>resistome</a:t>
            </a:r>
            <a:r>
              <a:rPr lang="en-GB" sz="1200" dirty="0"/>
              <a:t> analysis. I am sure you must have heard that Antimicrobial resistance is a major threat to global health mostly due to the abuse of antibiotic prescription and the utilization of antibiotics on agriculture and farming</a:t>
            </a:r>
          </a:p>
          <a:p>
            <a:pPr marL="0" indent="0">
              <a:buFont typeface="Arial" panose="020B0604020202020204" pitchFamily="34" charset="0"/>
              <a:buNone/>
            </a:pPr>
            <a:endParaRPr lang="en-GB" sz="1200" dirty="0"/>
          </a:p>
          <a:p>
            <a:pPr marL="0" indent="0">
              <a:buFont typeface="Arial" panose="020B0604020202020204" pitchFamily="34" charset="0"/>
              <a:buNone/>
            </a:pPr>
            <a:r>
              <a:rPr lang="en-GB" sz="1200" dirty="0"/>
              <a:t>Our colleagues from DTU Food in collaboration with The Global Sewage Surveillance consortium worked on a </a:t>
            </a:r>
            <a:r>
              <a:rPr lang="en-DK" sz="1200" dirty="0"/>
              <a:t>global resistome based on sewage-based monitoring, where they could describe the ARG abundance around the world revealing regional patterns reflecting taxonomical changes</a:t>
            </a:r>
            <a:endParaRPr lang="en-GB" sz="1200" dirty="0"/>
          </a:p>
          <a:p>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Understanding the emergence, evolution, and transmission of individual antibiotic resistance genes (ARGs) is essential to develop sustainable strategies to fight this threat</a:t>
            </a:r>
          </a:p>
          <a:p>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Fig b. Stacked bar chart of relative abundances per drug class per country. Each panel represent countries in a World Bank region and is ordered by the Shannon diversity of class-level AMR.</a:t>
            </a:r>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11</a:t>
            </a:fld>
            <a:endParaRPr lang="en-DK"/>
          </a:p>
        </p:txBody>
      </p:sp>
    </p:spTree>
    <p:extLst>
      <p:ext uri="{BB962C8B-B14F-4D97-AF65-F5344CB8AC3E}">
        <p14:creationId xmlns:p14="http://schemas.microsoft.com/office/powerpoint/2010/main" val="1012883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Another very interesting study was the study of microbial communities at the Deepwater Horizon oil spill site</a:t>
            </a:r>
            <a:br>
              <a:rPr lang="en-DK" dirty="0"/>
            </a:br>
            <a:br>
              <a:rPr lang="en-DK" dirty="0"/>
            </a:br>
            <a:r>
              <a:rPr lang="en-DK" dirty="0"/>
              <a:t>In this </a:t>
            </a:r>
            <a:r>
              <a:rPr lang="en-GB" sz="1200" dirty="0"/>
              <a:t>Metagenomic Analysis of sediment samples from 64 sites in the Gulf of Mexico, </a:t>
            </a:r>
            <a:r>
              <a:rPr lang="en-GB" sz="1200" dirty="0" err="1"/>
              <a:t>characteryzing</a:t>
            </a:r>
            <a:r>
              <a:rPr lang="en-GB" sz="1200" dirty="0"/>
              <a:t> the microbial community's response to the oil spill.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They found that </a:t>
            </a:r>
            <a:r>
              <a:rPr lang="en-GB" sz="1200" dirty="0"/>
              <a:t>Uncultured </a:t>
            </a:r>
            <a:r>
              <a:rPr lang="en-GB" sz="1200" i="1" dirty="0" err="1"/>
              <a:t>Gammaproteobacterium</a:t>
            </a:r>
            <a:r>
              <a:rPr lang="en-GB" sz="1200" dirty="0"/>
              <a:t> and </a:t>
            </a:r>
            <a:r>
              <a:rPr lang="en-GB" sz="1200" i="1" dirty="0" err="1"/>
              <a:t>Colwellia</a:t>
            </a:r>
            <a:r>
              <a:rPr lang="en-GB" sz="1200" dirty="0"/>
              <a:t> species, that were enriched in oil-impacted sediments, highlighting their roles in hydrocarbon degradation</a:t>
            </a:r>
          </a:p>
          <a:p>
            <a:pPr marL="0" marR="0" lvl="0" indent="0" algn="l" defTabSz="914400" rtl="0" eaLnBrk="1" fontAlgn="auto" latinLnBrk="0" hangingPunct="1">
              <a:lnSpc>
                <a:spcPct val="100000"/>
              </a:lnSpc>
              <a:spcBef>
                <a:spcPts val="0"/>
              </a:spcBef>
              <a:spcAft>
                <a:spcPts val="0"/>
              </a:spcAft>
              <a:buClrTx/>
              <a:buSzTx/>
              <a:buFontTx/>
              <a:buNone/>
              <a:tabLst/>
              <a:defRPr/>
            </a:pPr>
            <a:br>
              <a:rPr lang="en-GB" sz="1200" dirty="0"/>
            </a:br>
            <a:r>
              <a:rPr lang="en-GB" sz="1200" dirty="0"/>
              <a:t>Also an increase on the abundance of genes associated with hydrocarbon degradation pathways, including those involved in aliphatic and aromatic hydrocarbon breakdown, indicating an adaptive microbial response to oil contamination.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 study emphasized the importance of microbial communities in natural bioremediation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12</a:t>
            </a:fld>
            <a:endParaRPr lang="en-DK"/>
          </a:p>
        </p:txBody>
      </p:sp>
    </p:spTree>
    <p:extLst>
      <p:ext uri="{BB962C8B-B14F-4D97-AF65-F5344CB8AC3E}">
        <p14:creationId xmlns:p14="http://schemas.microsoft.com/office/powerpoint/2010/main" val="2204291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And the final example of this section is the Global ocean microbiome within the Tara Oceans initiative</a:t>
            </a:r>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They </a:t>
            </a:r>
            <a:r>
              <a:rPr lang="en-GB" dirty="0" err="1"/>
              <a:t>Characteryzed</a:t>
            </a:r>
            <a:r>
              <a:rPr lang="en-GB" dirty="0"/>
              <a:t> ~1,000 non-redundant microbial genomes from the TARA Oceans metagenomes</a:t>
            </a:r>
          </a:p>
          <a:p>
            <a:endParaRPr lang="en-DK" dirty="0"/>
          </a:p>
          <a:p>
            <a:pPr marL="0" indent="0">
              <a:buFont typeface="Arial" panose="020B0604020202020204" pitchFamily="34" charset="0"/>
              <a:buNone/>
            </a:pPr>
            <a:r>
              <a:rPr lang="en-GB" dirty="0"/>
              <a:t>Nitrogen fixation in the surface ocean impacts global marine nitrogen bioavailability and thus microbial primary productivity</a:t>
            </a:r>
            <a:br>
              <a:rPr lang="en-GB" dirty="0"/>
            </a:br>
            <a:br>
              <a:rPr lang="en-GB" dirty="0"/>
            </a:br>
            <a:r>
              <a:rPr lang="en-GB" dirty="0"/>
              <a:t>Usually this is done by cyanobacteria but in this study they described Non-cyanobacterial diazotrophs inhabiting surface waters of the open ocean, which correspond to lineages within the Proteobacteria and Planctomycetes </a:t>
            </a:r>
            <a:r>
              <a:rPr lang="en-GB" sz="1100" dirty="0"/>
              <a:t>have also the functional potential (</a:t>
            </a:r>
            <a:r>
              <a:rPr lang="en-GB" sz="1100" dirty="0" err="1"/>
              <a:t>nifD</a:t>
            </a:r>
            <a:r>
              <a:rPr lang="en-GB" sz="1100" dirty="0"/>
              <a:t>, </a:t>
            </a:r>
            <a:r>
              <a:rPr lang="en-GB" sz="1100" dirty="0" err="1"/>
              <a:t>nifH</a:t>
            </a:r>
            <a:r>
              <a:rPr lang="en-GB" sz="1100" dirty="0"/>
              <a:t>) </a:t>
            </a:r>
            <a:endParaRPr lang="en-DK"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DK"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13</a:t>
            </a:fld>
            <a:endParaRPr lang="en-DK"/>
          </a:p>
        </p:txBody>
      </p:sp>
    </p:spTree>
    <p:extLst>
      <p:ext uri="{BB962C8B-B14F-4D97-AF65-F5344CB8AC3E}">
        <p14:creationId xmlns:p14="http://schemas.microsoft.com/office/powerpoint/2010/main" val="3389094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D9F90-13BF-CD13-7A45-4AF448909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5BC5C-7F2F-263A-6455-210DF53197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58256-1B8F-17CE-F7A0-A27DECBB50E2}"/>
              </a:ext>
            </a:extLst>
          </p:cNvPr>
          <p:cNvSpPr>
            <a:spLocks noGrp="1"/>
          </p:cNvSpPr>
          <p:nvPr>
            <p:ph type="body" idx="1"/>
          </p:nvPr>
        </p:nvSpPr>
        <p:spPr/>
        <p:txBody>
          <a:bodyPr/>
          <a:lstStyle/>
          <a:p>
            <a:r>
              <a:rPr lang="en-DK" dirty="0"/>
              <a:t>Now we are going to define what is metagenomics</a:t>
            </a:r>
          </a:p>
        </p:txBody>
      </p:sp>
      <p:sp>
        <p:nvSpPr>
          <p:cNvPr id="4" name="Slide Number Placeholder 3">
            <a:extLst>
              <a:ext uri="{FF2B5EF4-FFF2-40B4-BE49-F238E27FC236}">
                <a16:creationId xmlns:a16="http://schemas.microsoft.com/office/drawing/2014/main" id="{44324D11-697D-BE6E-271D-B1B7444D1A77}"/>
              </a:ext>
            </a:extLst>
          </p:cNvPr>
          <p:cNvSpPr>
            <a:spLocks noGrp="1"/>
          </p:cNvSpPr>
          <p:nvPr>
            <p:ph type="sldNum" sz="quarter" idx="5"/>
          </p:nvPr>
        </p:nvSpPr>
        <p:spPr/>
        <p:txBody>
          <a:bodyPr/>
          <a:lstStyle/>
          <a:p>
            <a:fld id="{90AA28B0-211A-B640-96C3-6E3EBE2D2300}" type="slidenum">
              <a:rPr lang="en-DK" smtClean="0"/>
              <a:t>14</a:t>
            </a:fld>
            <a:endParaRPr lang="en-DK"/>
          </a:p>
        </p:txBody>
      </p:sp>
    </p:spTree>
    <p:extLst>
      <p:ext uri="{BB962C8B-B14F-4D97-AF65-F5344CB8AC3E}">
        <p14:creationId xmlns:p14="http://schemas.microsoft.com/office/powerpoint/2010/main" val="2918359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F2505-FA1E-C823-45DA-A5C7D26AA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B7380-AEFA-B21A-AA3D-D99CF3394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1CDDC-1A50-CA7A-80A6-1EC9942E2153}"/>
              </a:ext>
            </a:extLst>
          </p:cNvPr>
          <p:cNvSpPr>
            <a:spLocks noGrp="1"/>
          </p:cNvSpPr>
          <p:nvPr>
            <p:ph type="body" idx="1"/>
          </p:nvPr>
        </p:nvSpPr>
        <p:spPr/>
        <p:txBody>
          <a:bodyPr/>
          <a:lstStyle/>
          <a:p>
            <a:r>
              <a:rPr lang="en-DK" dirty="0"/>
              <a:t>WHO do you expecto to find in a microbiome?</a:t>
            </a:r>
            <a:br>
              <a:rPr lang="en-DK" dirty="0"/>
            </a:br>
            <a:br>
              <a:rPr lang="en-DK" dirty="0"/>
            </a:br>
            <a:r>
              <a:rPr lang="en-DK" dirty="0"/>
              <a:t>WHERE do you expect to find microbe communities?</a:t>
            </a:r>
          </a:p>
          <a:p>
            <a:endParaRPr lang="en-DK" dirty="0"/>
          </a:p>
          <a:p>
            <a:r>
              <a:rPr lang="en-DK" dirty="0"/>
              <a:t>What other products you can find in a microbiome sample?</a:t>
            </a:r>
            <a:br>
              <a:rPr lang="en-DK" dirty="0"/>
            </a:br>
            <a:endParaRPr lang="en-DK" dirty="0"/>
          </a:p>
        </p:txBody>
      </p:sp>
      <p:sp>
        <p:nvSpPr>
          <p:cNvPr id="4" name="Slide Number Placeholder 3">
            <a:extLst>
              <a:ext uri="{FF2B5EF4-FFF2-40B4-BE49-F238E27FC236}">
                <a16:creationId xmlns:a16="http://schemas.microsoft.com/office/drawing/2014/main" id="{70CA7C28-7ECA-C73A-7B5A-BC867D386D94}"/>
              </a:ext>
            </a:extLst>
          </p:cNvPr>
          <p:cNvSpPr>
            <a:spLocks noGrp="1"/>
          </p:cNvSpPr>
          <p:nvPr>
            <p:ph type="sldNum" sz="quarter" idx="5"/>
          </p:nvPr>
        </p:nvSpPr>
        <p:spPr/>
        <p:txBody>
          <a:bodyPr/>
          <a:lstStyle/>
          <a:p>
            <a:fld id="{90AA28B0-211A-B640-96C3-6E3EBE2D2300}" type="slidenum">
              <a:rPr lang="en-DK" smtClean="0"/>
              <a:t>15</a:t>
            </a:fld>
            <a:endParaRPr lang="en-DK"/>
          </a:p>
        </p:txBody>
      </p:sp>
    </p:spTree>
    <p:extLst>
      <p:ext uri="{BB962C8B-B14F-4D97-AF65-F5344CB8AC3E}">
        <p14:creationId xmlns:p14="http://schemas.microsoft.com/office/powerpoint/2010/main" val="3702815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16</a:t>
            </a:fld>
            <a:endParaRPr lang="en-DK"/>
          </a:p>
        </p:txBody>
      </p:sp>
    </p:spTree>
    <p:extLst>
      <p:ext uri="{BB962C8B-B14F-4D97-AF65-F5344CB8AC3E}">
        <p14:creationId xmlns:p14="http://schemas.microsoft.com/office/powerpoint/2010/main" val="3072648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18</a:t>
            </a:fld>
            <a:endParaRPr lang="en-DK"/>
          </a:p>
        </p:txBody>
      </p:sp>
    </p:spTree>
    <p:extLst>
      <p:ext uri="{BB962C8B-B14F-4D97-AF65-F5344CB8AC3E}">
        <p14:creationId xmlns:p14="http://schemas.microsoft.com/office/powerpoint/2010/main" val="227275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sz="1200" dirty="0"/>
              <a:t>Study of the genetic material sampled directly from the environment (fecal, skin, soil, marine,… samples)</a:t>
            </a:r>
          </a:p>
          <a:p>
            <a:endParaRPr lang="en-DK" sz="1200" dirty="0"/>
          </a:p>
          <a:p>
            <a:r>
              <a:rPr lang="en-DK" sz="1200" dirty="0"/>
              <a:t>No need of culturing organisms – many of the organisms that we characterize can not even be cultured – </a:t>
            </a:r>
          </a:p>
          <a:p>
            <a:endParaRPr lang="en-DK" sz="1200" dirty="0"/>
          </a:p>
          <a:p>
            <a:r>
              <a:rPr lang="en-DK" sz="1200" dirty="0"/>
              <a:t>we can study all the organisms in the microbial community</a:t>
            </a:r>
          </a:p>
          <a:p>
            <a:endParaRPr lang="en-DK" sz="1200" dirty="0"/>
          </a:p>
          <a:p>
            <a:r>
              <a:rPr lang="en-DK" sz="1200" dirty="0"/>
              <a:t>Uses </a:t>
            </a:r>
            <a:r>
              <a:rPr lang="en-GB" sz="1200" dirty="0"/>
              <a:t>high-throughput DNA sequencing technology to </a:t>
            </a:r>
            <a:r>
              <a:rPr lang="en-GB" sz="1200" dirty="0" err="1"/>
              <a:t>analyze</a:t>
            </a:r>
            <a:r>
              <a:rPr lang="en-GB" sz="1200" dirty="0"/>
              <a:t> microbial diversity, taxonomical and functional profiles, and microbial interactions</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19</a:t>
            </a:fld>
            <a:endParaRPr lang="en-DK"/>
          </a:p>
        </p:txBody>
      </p:sp>
    </p:spTree>
    <p:extLst>
      <p:ext uri="{BB962C8B-B14F-4D97-AF65-F5344CB8AC3E}">
        <p14:creationId xmlns:p14="http://schemas.microsoft.com/office/powerpoint/2010/main" val="2186133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The usual experimental design in metagenomics:</a:t>
            </a:r>
          </a:p>
          <a:p>
            <a:endParaRPr lang="en-DK" dirty="0"/>
          </a:p>
          <a:p>
            <a:r>
              <a:rPr lang="en-DK" dirty="0"/>
              <a:t>First sampling of DNA. </a:t>
            </a:r>
            <a:r>
              <a:rPr lang="en-GB" dirty="0"/>
              <a:t>DNA sampling tools vary depending on the source material and the application</a:t>
            </a:r>
          </a:p>
          <a:p>
            <a:endParaRPr lang="en-GB" dirty="0"/>
          </a:p>
          <a:p>
            <a:r>
              <a:rPr lang="en-GB" dirty="0"/>
              <a:t>After DNA storage is important, the best thing you can do is freeze the DNA as soon as possible, otherwise you can use preserving buffers</a:t>
            </a:r>
          </a:p>
          <a:p>
            <a:endParaRPr lang="en-GB" dirty="0"/>
          </a:p>
          <a:p>
            <a:r>
              <a:rPr lang="en-GB" dirty="0"/>
              <a:t>Then it will come the DNA Extraction, where different kits are commonly used.</a:t>
            </a:r>
          </a:p>
          <a:p>
            <a:endParaRPr lang="en-GB" dirty="0"/>
          </a:p>
          <a:p>
            <a:r>
              <a:rPr lang="en-GB" dirty="0"/>
              <a:t>Then prior to DNA sequencing in the library preparation the </a:t>
            </a:r>
            <a:r>
              <a:rPr lang="en-GB" dirty="0" err="1"/>
              <a:t>Dna</a:t>
            </a:r>
            <a:r>
              <a:rPr lang="en-GB" dirty="0"/>
              <a:t> is fragmented into small reads of the same length, end are repaired and adapters are ligated. Then sequencing starts!</a:t>
            </a:r>
          </a:p>
          <a:p>
            <a:endParaRPr lang="en-GB" dirty="0"/>
          </a:p>
          <a:p>
            <a:r>
              <a:rPr lang="en-GB" dirty="0"/>
              <a:t>Once is finished the sequencer provider or our colleagues will pass us the </a:t>
            </a:r>
            <a:r>
              <a:rPr lang="en-GB" dirty="0" err="1"/>
              <a:t>fastq</a:t>
            </a:r>
            <a:r>
              <a:rPr lang="en-GB" dirty="0"/>
              <a:t> files containing the reads and we can do the taxonomical and functional characterization to get an abundance table</a:t>
            </a:r>
          </a:p>
          <a:p>
            <a:endParaRPr lang="en-GB" dirty="0"/>
          </a:p>
          <a:p>
            <a:r>
              <a:rPr lang="en-GB" dirty="0"/>
              <a:t>Here taxa will be in the rows and samples in the columns</a:t>
            </a:r>
          </a:p>
          <a:p>
            <a:endParaRPr lang="en-GB" dirty="0"/>
          </a:p>
          <a:p>
            <a:r>
              <a:rPr lang="en-GB" dirty="0"/>
              <a:t>And this is the starting point of our downstream analysis</a:t>
            </a:r>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20</a:t>
            </a:fld>
            <a:endParaRPr lang="en-DK"/>
          </a:p>
        </p:txBody>
      </p:sp>
    </p:spTree>
    <p:extLst>
      <p:ext uri="{BB962C8B-B14F-4D97-AF65-F5344CB8AC3E}">
        <p14:creationId xmlns:p14="http://schemas.microsoft.com/office/powerpoint/2010/main" val="2255913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23</a:t>
            </a:fld>
            <a:endParaRPr lang="en-DK"/>
          </a:p>
        </p:txBody>
      </p:sp>
    </p:spTree>
    <p:extLst>
      <p:ext uri="{BB962C8B-B14F-4D97-AF65-F5344CB8AC3E}">
        <p14:creationId xmlns:p14="http://schemas.microsoft.com/office/powerpoint/2010/main" val="3540443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Here I let you what are common sequencing platform nowadays and their common use cases for your revision.</a:t>
            </a:r>
            <a:br>
              <a:rPr lang="en-DK" dirty="0"/>
            </a:br>
            <a:br>
              <a:rPr lang="en-DK" dirty="0"/>
            </a:br>
            <a:r>
              <a:rPr lang="en-DK" dirty="0"/>
              <a:t>WE will talk today only about Illumina which produces short reads with high accuracy and is mostly used for amplicon and shotgun metagenomics</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24</a:t>
            </a:fld>
            <a:endParaRPr lang="en-DK"/>
          </a:p>
        </p:txBody>
      </p:sp>
    </p:spTree>
    <p:extLst>
      <p:ext uri="{BB962C8B-B14F-4D97-AF65-F5344CB8AC3E}">
        <p14:creationId xmlns:p14="http://schemas.microsoft.com/office/powerpoint/2010/main" val="3861065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4E441-869B-8016-50FD-94757ABC8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6A962-B252-6A12-4AF5-E1A73ABFA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175D26-EA4D-C988-88A8-500017DAF793}"/>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26799936-84DE-4257-0585-4189A7FF9D16}"/>
              </a:ext>
            </a:extLst>
          </p:cNvPr>
          <p:cNvSpPr>
            <a:spLocks noGrp="1"/>
          </p:cNvSpPr>
          <p:nvPr>
            <p:ph type="sldNum" sz="quarter" idx="5"/>
          </p:nvPr>
        </p:nvSpPr>
        <p:spPr/>
        <p:txBody>
          <a:bodyPr/>
          <a:lstStyle/>
          <a:p>
            <a:fld id="{90AA28B0-211A-B640-96C3-6E3EBE2D2300}" type="slidenum">
              <a:rPr lang="en-DK" smtClean="0"/>
              <a:t>25</a:t>
            </a:fld>
            <a:endParaRPr lang="en-DK"/>
          </a:p>
        </p:txBody>
      </p:sp>
    </p:spTree>
    <p:extLst>
      <p:ext uri="{BB962C8B-B14F-4D97-AF65-F5344CB8AC3E}">
        <p14:creationId xmlns:p14="http://schemas.microsoft.com/office/powerpoint/2010/main" val="1978980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- 16S rRNA gene is an ancient gene that </a:t>
            </a:r>
            <a:r>
              <a:rPr lang="en-GB" dirty="0"/>
              <a:t>encodes the RNA component of the small (30S) subunit of the prokaryotic ribosome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285750" indent="-285750">
              <a:buFont typeface="Arial" panose="020B0604020202020204" pitchFamily="34" charset="0"/>
              <a:buChar char="•"/>
            </a:pPr>
            <a:r>
              <a:rPr lang="en-DK" dirty="0"/>
              <a:t>As it is conserved in many organisms, traditionally  used to infer phylogenetic trees to figure out species evolution</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16s gene has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conserved region: spread around all organisms and easy to amplify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variable unique regions: to tag specifically species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endParaRPr lang="en-DK"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27</a:t>
            </a:fld>
            <a:endParaRPr lang="en-DK"/>
          </a:p>
        </p:txBody>
      </p:sp>
    </p:spTree>
    <p:extLst>
      <p:ext uri="{BB962C8B-B14F-4D97-AF65-F5344CB8AC3E}">
        <p14:creationId xmlns:p14="http://schemas.microsoft.com/office/powerpoint/2010/main" val="35010697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SO in our samples we have microbial genomes carrying the 16S rRNA gene, </a:t>
            </a:r>
          </a:p>
          <a:p>
            <a:endParaRPr lang="en-DK" dirty="0"/>
          </a:p>
          <a:p>
            <a:r>
              <a:rPr lang="en-DK" dirty="0"/>
              <a:t>we amplify out this gene with PCR amplification and we sequence all these 16S genes </a:t>
            </a:r>
          </a:p>
          <a:p>
            <a:endParaRPr lang="en-DK" dirty="0"/>
          </a:p>
          <a:p>
            <a:r>
              <a:rPr lang="en-DK" dirty="0"/>
              <a:t>and we can align them to each other and find out the differences -  in this example different single nucleotide variants, that can uniquely identify to which species this gene belongs</a:t>
            </a:r>
          </a:p>
          <a:p>
            <a:endParaRPr lang="en-DK" dirty="0"/>
          </a:p>
          <a:p>
            <a:r>
              <a:rPr lang="en-DK" dirty="0"/>
              <a:t>Computationally we would cluster all similar sequences into operational taxonomic units that are compared to 16S gene databases like silva or green genes to assign them taxonomy</a:t>
            </a:r>
          </a:p>
          <a:p>
            <a:endParaRPr lang="en-DK" dirty="0"/>
          </a:p>
          <a:p>
            <a:r>
              <a:rPr lang="en-DK" dirty="0"/>
              <a:t>Or we can use DADA2, my favorite one, </a:t>
            </a:r>
            <a:r>
              <a:rPr lang="en-GB" dirty="0"/>
              <a:t>which assign taxonomy directly to the amplicon sequence variants therefore allowing more precise taxonomic placement than OTUs</a:t>
            </a:r>
          </a:p>
          <a:p>
            <a:endParaRPr lang="en-GB" dirty="0"/>
          </a:p>
          <a:p>
            <a:r>
              <a:rPr lang="en-GB" dirty="0"/>
              <a:t>In the end we are going to get an OTUs or ASVs abundance table but we get only to genus resolution </a:t>
            </a:r>
          </a:p>
          <a:p>
            <a:endParaRPr lang="en-GB" dirty="0"/>
          </a:p>
          <a:p>
            <a:r>
              <a:rPr lang="en-GB" dirty="0"/>
              <a:t>and we do not have functional annotation unless we predict it from taxonomical compositional (PICRUST). </a:t>
            </a:r>
          </a:p>
          <a:p>
            <a:endParaRPr lang="en-GB" dirty="0"/>
          </a:p>
          <a:p>
            <a:r>
              <a:rPr lang="en-GB" dirty="0"/>
              <a:t>Many assumptions, for example Close phylogenetic </a:t>
            </a:r>
            <a:r>
              <a:rPr lang="en-GB" dirty="0" err="1"/>
              <a:t>neighbors</a:t>
            </a:r>
            <a:r>
              <a:rPr lang="en-GB" dirty="0"/>
              <a:t> have similar gene content and functional potential, does not capture HGT or strain level functionality,…</a:t>
            </a:r>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28</a:t>
            </a:fld>
            <a:endParaRPr lang="en-DK"/>
          </a:p>
        </p:txBody>
      </p:sp>
    </p:spTree>
    <p:extLst>
      <p:ext uri="{BB962C8B-B14F-4D97-AF65-F5344CB8AC3E}">
        <p14:creationId xmlns:p14="http://schemas.microsoft.com/office/powerpoint/2010/main" val="2090414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  Microbial genomes in your sample from different organisms (here represented with different colors)</a:t>
            </a:r>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Randomly shattering them into fragments of relatively equal length (150-300 bps) - no PCR amplification</a:t>
            </a:r>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Sequence all these small fragments of DNA  (in the order of millions per sample)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and we map them with different tools to genomes or to clade-specfic marker genes</a:t>
            </a:r>
          </a:p>
          <a:p>
            <a:endParaRPr lang="en-DK" dirty="0"/>
          </a:p>
          <a:p>
            <a:r>
              <a:rPr lang="en-DK" dirty="0"/>
              <a:t>When we know all the gene/genome counts (reads mapping) we can divide those by gene or genome length and by sample depth (number of reads detected in a sample) to estimate the final abundance of our taxa.</a:t>
            </a:r>
          </a:p>
          <a:p>
            <a:endParaRPr lang="en-DK"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29</a:t>
            </a:fld>
            <a:endParaRPr lang="en-DK"/>
          </a:p>
        </p:txBody>
      </p:sp>
    </p:spTree>
    <p:extLst>
      <p:ext uri="{BB962C8B-B14F-4D97-AF65-F5344CB8AC3E}">
        <p14:creationId xmlns:p14="http://schemas.microsoft.com/office/powerpoint/2010/main" val="25488245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Here I just added table describing tools and databases used the 16S amplicon sequencing and in the Reference-based profiling for your revision.</a:t>
            </a:r>
            <a:br>
              <a:rPr lang="en-DK" dirty="0"/>
            </a:br>
            <a:endParaRPr lang="en-DK" dirty="0"/>
          </a:p>
          <a:p>
            <a:r>
              <a:rPr lang="en-DK" dirty="0"/>
              <a:t>I highlighted in red my preferred methods, both in my opinion with higher resolution.</a:t>
            </a:r>
          </a:p>
          <a:p>
            <a:endParaRPr lang="en-DK" dirty="0"/>
          </a:p>
          <a:p>
            <a:r>
              <a:rPr lang="en-DK" dirty="0"/>
              <a:t>Choice depending on your needs:</a:t>
            </a:r>
          </a:p>
          <a:p>
            <a:endParaRPr lang="en-DK" dirty="0"/>
          </a:p>
          <a:p>
            <a:r>
              <a:rPr lang="en-GB" b="1" dirty="0"/>
              <a:t>Speed vs. Accuracy</a:t>
            </a:r>
            <a:r>
              <a:rPr lang="en-GB" dirty="0"/>
              <a:t>: Kraken2 is fast; MetaPhlAn is more accurate for species-level identification.</a:t>
            </a:r>
          </a:p>
          <a:p>
            <a:r>
              <a:rPr lang="en-GB" b="1" dirty="0"/>
              <a:t>Resolution</a:t>
            </a:r>
            <a:r>
              <a:rPr lang="en-GB" dirty="0"/>
              <a:t>: DADA2 and MetaPhlAn can provide high-resolution profiling.</a:t>
            </a:r>
          </a:p>
          <a:p>
            <a:r>
              <a:rPr lang="en-GB" b="1" dirty="0"/>
              <a:t>Data Type</a:t>
            </a:r>
            <a:r>
              <a:rPr lang="en-GB" dirty="0"/>
              <a:t>: Amplicon (16S) vs. shotgun metagenomics.</a:t>
            </a:r>
          </a:p>
          <a:p>
            <a:r>
              <a:rPr lang="en-GB" b="1" dirty="0"/>
              <a:t>Resource Requirements</a:t>
            </a:r>
            <a:r>
              <a:rPr lang="en-GB" dirty="0"/>
              <a:t>: Kraken needs large memory for big databases; MetaPhlAn is lighter.</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30</a:t>
            </a:fld>
            <a:endParaRPr lang="en-DK"/>
          </a:p>
        </p:txBody>
      </p:sp>
    </p:spTree>
    <p:extLst>
      <p:ext uri="{BB962C8B-B14F-4D97-AF65-F5344CB8AC3E}">
        <p14:creationId xmlns:p14="http://schemas.microsoft.com/office/powerpoint/2010/main" val="115073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Reference-based methods rely on what is known in the databases (human commensals, pathogens or enzyms and species used in the industry better characterized in the databases)</a:t>
            </a:r>
            <a:br>
              <a:rPr lang="en-DK" dirty="0"/>
            </a:br>
            <a:br>
              <a:rPr lang="en-DK" dirty="0"/>
            </a:br>
            <a:r>
              <a:rPr lang="en-DK" dirty="0"/>
              <a:t>The next method </a:t>
            </a:r>
            <a:r>
              <a:rPr lang="en-GB" dirty="0"/>
              <a:t>I am </a:t>
            </a:r>
            <a:r>
              <a:rPr lang="en-GB" dirty="0" err="1"/>
              <a:t>gonna</a:t>
            </a:r>
            <a:r>
              <a:rPr lang="en-GB" dirty="0"/>
              <a:t> present is an assemble based method called metagenome assembled genomes.</a:t>
            </a:r>
          </a:p>
          <a:p>
            <a:endParaRPr lang="en-GB" dirty="0"/>
          </a:p>
          <a:p>
            <a:r>
              <a:rPr lang="en-GB" dirty="0"/>
              <a:t>Let’s go step by step: </a:t>
            </a:r>
          </a:p>
          <a:p>
            <a:pPr marL="171450" indent="-171450">
              <a:buFontTx/>
              <a:buChar char="-"/>
            </a:pPr>
            <a:r>
              <a:rPr lang="en-GB" dirty="0"/>
              <a:t>We have </a:t>
            </a:r>
            <a:r>
              <a:rPr lang="en-GB" dirty="0" err="1"/>
              <a:t>fastQ</a:t>
            </a:r>
            <a:r>
              <a:rPr lang="en-GB" dirty="0"/>
              <a:t> files with our reads and we perform QC to remove low quality, low complexity and host reads (if there are)</a:t>
            </a:r>
          </a:p>
          <a:p>
            <a:pPr marL="171450" indent="-171450">
              <a:buFontTx/>
              <a:buChar char="-"/>
            </a:pPr>
            <a:r>
              <a:rPr lang="en-GB" dirty="0"/>
              <a:t>we stitch together sequenced reads to reproduce the original genome from where they came. If we had easy </a:t>
            </a:r>
            <a:r>
              <a:rPr lang="en-GB" dirty="0" err="1"/>
              <a:t>communitires</a:t>
            </a:r>
            <a:r>
              <a:rPr lang="en-GB" dirty="0"/>
              <a:t> and lots of reds we could reproduce the whole genome, otherwise we get these large DNA chunks called contigs. </a:t>
            </a:r>
          </a:p>
          <a:p>
            <a:pPr marL="171450" indent="-171450">
              <a:buFontTx/>
              <a:buChar char="-"/>
            </a:pPr>
            <a:r>
              <a:rPr lang="en-GB" dirty="0"/>
              <a:t>These contigs can be clustered into different bins according to their composition (GC content, tetranucleotide frequencies) or coverage depth across samples (require to remap all the reads to the contigs – more samples higher accuracy).</a:t>
            </a:r>
          </a:p>
          <a:p>
            <a:pPr marL="171450" indent="-171450">
              <a:buFontTx/>
              <a:buChar char="-"/>
            </a:pPr>
            <a:r>
              <a:rPr lang="en-GB" dirty="0"/>
              <a:t>The bins go through </a:t>
            </a:r>
            <a:r>
              <a:rPr lang="en-GB" dirty="0" err="1"/>
              <a:t>refinment</a:t>
            </a:r>
            <a:r>
              <a:rPr lang="en-GB" dirty="0"/>
              <a:t> and quality assessment. In many MAG collections they divide the MAGs on High quality and medium quality based on the completeness and contamination levels (how many marker genes of this species can be found in the bin, how many marker genes from other species)</a:t>
            </a:r>
          </a:p>
          <a:p>
            <a:pPr marL="171450" indent="-171450">
              <a:buFontTx/>
              <a:buChar char="-"/>
            </a:pPr>
            <a:r>
              <a:rPr lang="en-GB" dirty="0"/>
              <a:t>We assign taxonomy therefore to the bins and we can then with the clean bins do phylogenomic analysis or do functional annotation (call genes in the contigs assigned to the bins and map them to pathways, etc.. and estimate their abundances by mapping reads to the functional features)</a:t>
            </a:r>
          </a:p>
          <a:p>
            <a:endParaRPr lang="en-GB"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31</a:t>
            </a:fld>
            <a:endParaRPr lang="en-DK"/>
          </a:p>
        </p:txBody>
      </p:sp>
    </p:spTree>
    <p:extLst>
      <p:ext uri="{BB962C8B-B14F-4D97-AF65-F5344CB8AC3E}">
        <p14:creationId xmlns:p14="http://schemas.microsoft.com/office/powerpoint/2010/main" val="2043543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Here I left you a table with all the tools related to the different steps on building MAGs. As you can see it is a very complex process  and it requires of many softwares that need to be run in a chained way.</a:t>
            </a:r>
            <a:br>
              <a:rPr lang="en-DK" dirty="0"/>
            </a:br>
            <a:endParaRPr lang="en-DK" dirty="0"/>
          </a:p>
          <a:p>
            <a:r>
              <a:rPr lang="en-DK" dirty="0"/>
              <a:t>Maybe in another course we can cover only that methodology.</a:t>
            </a:r>
          </a:p>
        </p:txBody>
      </p:sp>
      <p:sp>
        <p:nvSpPr>
          <p:cNvPr id="4" name="Slide Number Placeholder 3"/>
          <p:cNvSpPr>
            <a:spLocks noGrp="1"/>
          </p:cNvSpPr>
          <p:nvPr>
            <p:ph type="sldNum" sz="quarter" idx="5"/>
          </p:nvPr>
        </p:nvSpPr>
        <p:spPr/>
        <p:txBody>
          <a:bodyPr/>
          <a:lstStyle/>
          <a:p>
            <a:fld id="{90AA28B0-211A-B640-96C3-6E3EBE2D2300}" type="slidenum">
              <a:rPr lang="en-DK" smtClean="0"/>
              <a:t>32</a:t>
            </a:fld>
            <a:endParaRPr lang="en-DK"/>
          </a:p>
        </p:txBody>
      </p:sp>
    </p:spTree>
    <p:extLst>
      <p:ext uri="{BB962C8B-B14F-4D97-AF65-F5344CB8AC3E}">
        <p14:creationId xmlns:p14="http://schemas.microsoft.com/office/powerpoint/2010/main" val="17250997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A</a:t>
            </a:r>
            <a:r>
              <a:rPr lang="en-GB" dirty="0"/>
              <a:t>n</a:t>
            </a:r>
            <a:r>
              <a:rPr lang="en-DK" dirty="0"/>
              <a:t>d finally I wanted to compare the three different methods that we have described.</a:t>
            </a:r>
          </a:p>
          <a:p>
            <a:endParaRPr lang="en-DK" dirty="0"/>
          </a:p>
          <a:p>
            <a:r>
              <a:rPr lang="en-DK" dirty="0"/>
              <a:t>TABLE</a:t>
            </a:r>
          </a:p>
        </p:txBody>
      </p:sp>
      <p:sp>
        <p:nvSpPr>
          <p:cNvPr id="4" name="Slide Number Placeholder 3"/>
          <p:cNvSpPr>
            <a:spLocks noGrp="1"/>
          </p:cNvSpPr>
          <p:nvPr>
            <p:ph type="sldNum" sz="quarter" idx="5"/>
          </p:nvPr>
        </p:nvSpPr>
        <p:spPr/>
        <p:txBody>
          <a:bodyPr/>
          <a:lstStyle/>
          <a:p>
            <a:fld id="{90AA28B0-211A-B640-96C3-6E3EBE2D2300}" type="slidenum">
              <a:rPr lang="en-DK" smtClean="0"/>
              <a:t>33</a:t>
            </a:fld>
            <a:endParaRPr lang="en-DK"/>
          </a:p>
        </p:txBody>
      </p:sp>
    </p:spTree>
    <p:extLst>
      <p:ext uri="{BB962C8B-B14F-4D97-AF65-F5344CB8AC3E}">
        <p14:creationId xmlns:p14="http://schemas.microsoft.com/office/powerpoint/2010/main" val="1270361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52C9-0B41-3990-822D-46007C82B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8F397-CE3A-2915-C17F-69A1A0364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1243C-293B-3F56-AB43-C6132D0A3035}"/>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E6A540A1-647A-CDBC-B24D-408CC6A0EA1F}"/>
              </a:ext>
            </a:extLst>
          </p:cNvPr>
          <p:cNvSpPr>
            <a:spLocks noGrp="1"/>
          </p:cNvSpPr>
          <p:nvPr>
            <p:ph type="sldNum" sz="quarter" idx="5"/>
          </p:nvPr>
        </p:nvSpPr>
        <p:spPr/>
        <p:txBody>
          <a:bodyPr/>
          <a:lstStyle/>
          <a:p>
            <a:fld id="{90AA28B0-211A-B640-96C3-6E3EBE2D2300}" type="slidenum">
              <a:rPr lang="en-DK" smtClean="0"/>
              <a:t>34</a:t>
            </a:fld>
            <a:endParaRPr lang="en-DK"/>
          </a:p>
        </p:txBody>
      </p:sp>
    </p:spTree>
    <p:extLst>
      <p:ext uri="{BB962C8B-B14F-4D97-AF65-F5344CB8AC3E}">
        <p14:creationId xmlns:p14="http://schemas.microsoft.com/office/powerpoint/2010/main" val="20508423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To do functional annotation you can always map reads to genes (read/reference-based annotation)</a:t>
            </a:r>
          </a:p>
          <a:p>
            <a:endParaRPr lang="en-DK" dirty="0"/>
          </a:p>
          <a:p>
            <a:r>
              <a:rPr lang="en-DK" dirty="0"/>
              <a:t>A common resource used in functional annotation is building a microbial gene catalog</a:t>
            </a:r>
          </a:p>
          <a:p>
            <a:endParaRPr lang="en-DK" dirty="0"/>
          </a:p>
          <a:p>
            <a:r>
              <a:rPr lang="en-DK" dirty="0"/>
              <a:t>We have high quality reads that were stitched into contigs, and the genes are called up on in these contigs. </a:t>
            </a:r>
          </a:p>
          <a:p>
            <a:endParaRPr lang="en-DK" dirty="0"/>
          </a:p>
          <a:p>
            <a:r>
              <a:rPr lang="en-DK" dirty="0"/>
              <a:t>W</a:t>
            </a:r>
            <a:r>
              <a:rPr lang="en-GB" dirty="0" err="1"/>
              <a:t>i</a:t>
            </a:r>
            <a:r>
              <a:rPr lang="en-DK" dirty="0"/>
              <a:t>th softwares like CD-HIT, a quite used one, we can cluster these genes based on sequence similarity and asking for a % identity and a % of coverage. </a:t>
            </a:r>
          </a:p>
          <a:p>
            <a:endParaRPr lang="en-DK" dirty="0"/>
          </a:p>
          <a:p>
            <a:r>
              <a:rPr lang="en-DK" dirty="0"/>
              <a:t>The longest sequences of these clusters are then taken as representatives of each gene cluster and a non-redundant gene catalog is then ready.</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35</a:t>
            </a:fld>
            <a:endParaRPr lang="en-DK"/>
          </a:p>
        </p:txBody>
      </p:sp>
    </p:spTree>
    <p:extLst>
      <p:ext uri="{BB962C8B-B14F-4D97-AF65-F5344CB8AC3E}">
        <p14:creationId xmlns:p14="http://schemas.microsoft.com/office/powerpoint/2010/main" val="22096524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When we have this gene catalog we can maps reads to the genes to figure out the gene abundance (normalized by gene length and sample depth)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Parallelly, catalog genes can be mapped to several functional information databases (e.g KEGG database)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This is usually done by eggNOG mapper which is a tool that map the genes to orthologous groups. An ortholog group is a collection of genes that </a:t>
            </a:r>
            <a:r>
              <a:rPr lang="en-GB" sz="1200" dirty="0"/>
              <a:t>Descend from a single gene in the last common ancestor and typically perform the same function across species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alibri" charset="0"/>
              <a:ea typeface="Calibri" charset="0"/>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charset="0"/>
                <a:ea typeface="Calibri" charset="0"/>
                <a:cs typeface="Calibri" charset="0"/>
              </a:rPr>
              <a:t>Once we have this mapping we can transfer all the information know to these orthologous to the genes and then we have them mapped to KEGG pathways, CAZY, …</a:t>
            </a:r>
            <a:br>
              <a:rPr lang="en-GB" sz="1200" dirty="0">
                <a:latin typeface="Calibri" charset="0"/>
                <a:ea typeface="Calibri" charset="0"/>
                <a:cs typeface="Calibri" charset="0"/>
              </a:rPr>
            </a:br>
            <a:br>
              <a:rPr lang="en-GB" sz="1200" dirty="0">
                <a:latin typeface="Calibri" charset="0"/>
                <a:ea typeface="Calibri" charset="0"/>
                <a:cs typeface="Calibri" charset="0"/>
              </a:rPr>
            </a:br>
            <a:r>
              <a:rPr lang="en-GB" sz="1200" dirty="0">
                <a:latin typeface="Calibri" charset="0"/>
                <a:ea typeface="Calibri" charset="0"/>
                <a:cs typeface="Calibri" charset="0"/>
              </a:rPr>
              <a:t>Then in the end we can collapse the gene </a:t>
            </a:r>
            <a:r>
              <a:rPr lang="en-GB" sz="1200" dirty="0" err="1">
                <a:latin typeface="Calibri" charset="0"/>
                <a:ea typeface="Calibri" charset="0"/>
                <a:cs typeface="Calibri" charset="0"/>
              </a:rPr>
              <a:t>abundaces</a:t>
            </a:r>
            <a:r>
              <a:rPr lang="en-GB" sz="1200" dirty="0">
                <a:latin typeface="Calibri" charset="0"/>
                <a:ea typeface="Calibri" charset="0"/>
                <a:cs typeface="Calibri" charset="0"/>
              </a:rPr>
              <a:t> into the different feature that these genes map to and get different features abundance.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alibri" charset="0"/>
              <a:ea typeface="Calibri" charset="0"/>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charset="0"/>
                <a:ea typeface="Calibri" charset="0"/>
                <a:cs typeface="Calibri" charset="0"/>
              </a:rPr>
              <a:t>But why to build a gene </a:t>
            </a:r>
            <a:r>
              <a:rPr lang="en-GB" sz="1200" dirty="0" err="1">
                <a:latin typeface="Calibri" charset="0"/>
                <a:ea typeface="Calibri" charset="0"/>
                <a:cs typeface="Calibri" charset="0"/>
              </a:rPr>
              <a:t>catalog</a:t>
            </a:r>
            <a:r>
              <a:rPr lang="en-GB" sz="1200" dirty="0">
                <a:latin typeface="Calibri" charset="0"/>
                <a:ea typeface="Calibri" charset="0"/>
                <a:cs typeface="Calibri"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alibri" charset="0"/>
              <a:ea typeface="Calibri" charset="0"/>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charset="0"/>
                <a:ea typeface="Calibri" charset="0"/>
                <a:cs typeface="Calibri"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alibri" charset="0"/>
              <a:ea typeface="Calibri" charset="0"/>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36</a:t>
            </a:fld>
            <a:endParaRPr lang="en-DK"/>
          </a:p>
        </p:txBody>
      </p:sp>
    </p:spTree>
    <p:extLst>
      <p:ext uri="{BB962C8B-B14F-4D97-AF65-F5344CB8AC3E}">
        <p14:creationId xmlns:p14="http://schemas.microsoft.com/office/powerpoint/2010/main" val="26714957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E9E8-2258-35AD-4D58-02665780E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487D7-B0FF-52D3-0878-9AD27AA94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331C0-B31B-F0DB-7822-1334124D1B8B}"/>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DF60612E-65DF-2F60-8C62-002FE88AEFB0}"/>
              </a:ext>
            </a:extLst>
          </p:cNvPr>
          <p:cNvSpPr>
            <a:spLocks noGrp="1"/>
          </p:cNvSpPr>
          <p:nvPr>
            <p:ph type="sldNum" sz="quarter" idx="5"/>
          </p:nvPr>
        </p:nvSpPr>
        <p:spPr/>
        <p:txBody>
          <a:bodyPr/>
          <a:lstStyle/>
          <a:p>
            <a:fld id="{90AA28B0-211A-B640-96C3-6E3EBE2D2300}" type="slidenum">
              <a:rPr lang="en-DK" smtClean="0"/>
              <a:t>38</a:t>
            </a:fld>
            <a:endParaRPr lang="en-DK"/>
          </a:p>
        </p:txBody>
      </p:sp>
    </p:spTree>
    <p:extLst>
      <p:ext uri="{BB962C8B-B14F-4D97-AF65-F5344CB8AC3E}">
        <p14:creationId xmlns:p14="http://schemas.microsoft.com/office/powerpoint/2010/main" val="110116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How does it look the microbiome data?</a:t>
            </a:r>
          </a:p>
          <a:p>
            <a:endParaRPr lang="en-DK" dirty="0"/>
          </a:p>
          <a:p>
            <a:r>
              <a:rPr lang="en-DK" dirty="0"/>
              <a:t>Microbiome data shows sparsity and a dinamic range</a:t>
            </a:r>
          </a:p>
          <a:p>
            <a:endParaRPr lang="en-DK" dirty="0"/>
          </a:p>
          <a:p>
            <a:r>
              <a:rPr lang="en-DK" dirty="0"/>
              <a:t>Here we have a relative abundace table fo taxa or functional features in rows and samples in columns. I added the metadata which is area and condition measured</a:t>
            </a:r>
          </a:p>
          <a:p>
            <a:endParaRPr lang="en-DK" dirty="0"/>
          </a:p>
          <a:p>
            <a:r>
              <a:rPr lang="en-DK" dirty="0"/>
              <a:t>As you can see the abundance </a:t>
            </a:r>
          </a:p>
          <a:p>
            <a:pPr marL="171450" indent="-171450">
              <a:buFontTx/>
              <a:buChar char="-"/>
            </a:pPr>
            <a:r>
              <a:rPr lang="en-DK" dirty="0"/>
              <a:t>First row evenly distributed</a:t>
            </a:r>
          </a:p>
          <a:p>
            <a:pPr marL="171450" indent="-171450">
              <a:buFontTx/>
              <a:buChar char="-"/>
            </a:pPr>
            <a:r>
              <a:rPr lang="en-DK" dirty="0"/>
              <a:t>Highly dinamic range</a:t>
            </a:r>
          </a:p>
          <a:p>
            <a:r>
              <a:rPr lang="en-DK" dirty="0"/>
              <a:t>- Some fetures drop 0</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39</a:t>
            </a:fld>
            <a:endParaRPr lang="en-DK"/>
          </a:p>
        </p:txBody>
      </p:sp>
    </p:spTree>
    <p:extLst>
      <p:ext uri="{BB962C8B-B14F-4D97-AF65-F5344CB8AC3E}">
        <p14:creationId xmlns:p14="http://schemas.microsoft.com/office/powerpoint/2010/main" val="4998746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DK" dirty="0"/>
              <a:t>Microbiome data is usually expressed as relatives abundance, which makes this data compostional</a:t>
            </a:r>
          </a:p>
          <a:p>
            <a:pPr marL="0" indent="0">
              <a:buFont typeface="Arial" panose="020B0604020202020204" pitchFamily="34" charset="0"/>
              <a:buNone/>
            </a:pPr>
            <a:endParaRPr lang="en-DK" dirty="0"/>
          </a:p>
          <a:p>
            <a:pPr marL="0" indent="0">
              <a:buFont typeface="Arial" panose="020B0604020202020204" pitchFamily="34" charset="0"/>
              <a:buNone/>
            </a:pPr>
            <a:r>
              <a:rPr lang="en-DK" dirty="0"/>
              <a:t>What compositional data means:</a:t>
            </a:r>
          </a:p>
          <a:p>
            <a:pPr marL="0" indent="0">
              <a:buFont typeface="Arial" panose="020B0604020202020204" pitchFamily="34" charset="0"/>
              <a:buNone/>
            </a:pPr>
            <a:endParaRPr lang="en-DK" dirty="0"/>
          </a:p>
          <a:p>
            <a:pPr marL="285750" indent="-285750">
              <a:buFont typeface="Arial" panose="020B0604020202020204" pitchFamily="34" charset="0"/>
              <a:buChar char="•"/>
            </a:pPr>
            <a:r>
              <a:rPr lang="en-GB" dirty="0"/>
              <a:t>Sampling of a fraction of the total genomic DNA</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Different sequencing depth between samples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Both sampling depth and sequencing depth can vary several orders of magnitude between samples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Absolute abundances are normally not known – abundances are relative and constraint to sum to 1 (or 100%)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t>Proportions or percentages</a:t>
            </a:r>
            <a:r>
              <a:rPr lang="en-GB" dirty="0"/>
              <a:t> of total reads per sample — not true cell counts.</a:t>
            </a:r>
          </a:p>
          <a:p>
            <a:pPr marL="285750" indent="-285750">
              <a:buFont typeface="Arial" panose="020B0604020202020204" pitchFamily="34" charset="0"/>
              <a:buChar char="•"/>
            </a:pPr>
            <a:endParaRPr lang="en-GB"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Relative abundances are susceptible to compositional effects. </a:t>
            </a:r>
          </a:p>
          <a:p>
            <a:pPr marL="0" indent="0">
              <a:buFont typeface="Arial" panose="020B0604020202020204" pitchFamily="34" charset="0"/>
              <a:buNone/>
            </a:pPr>
            <a:endParaRPr lang="en-DK" dirty="0"/>
          </a:p>
          <a:p>
            <a:r>
              <a:rPr lang="en-GB" dirty="0"/>
              <a:t>----</a:t>
            </a:r>
          </a:p>
          <a:p>
            <a:r>
              <a:rPr lang="en-GB" dirty="0"/>
              <a:t>Metagenomic studies of microbial communities sample a fraction of the total genomic content (sampling depth), which are then sequenced at a certain sequencing depth. Both sampling depth and sequencing depth can vary several orders of magnitude between samples. As absolute microbial counts (abundances) are normally not known, and measurements depend on sampling and sequencing depths, community compositions are represented using relative abundances. Since relative abundances are constrained (they sum to 1 in a given community), they are susceptible to compositional effects, where an increase in relative abundance of one component leads to a compositional decrease in the relative abundance of other components. Differential analysis based on relative abundances thus needs careful interpretation as compositional effect can introduce spurious differences in relative abundances while the absolute abundances are not different. </a:t>
            </a:r>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40</a:t>
            </a:fld>
            <a:endParaRPr lang="en-DK"/>
          </a:p>
        </p:txBody>
      </p:sp>
    </p:spTree>
    <p:extLst>
      <p:ext uri="{BB962C8B-B14F-4D97-AF65-F5344CB8AC3E}">
        <p14:creationId xmlns:p14="http://schemas.microsoft.com/office/powerpoint/2010/main" val="42832832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Here I prepared an example to illustrate the compositionality issue.</a:t>
            </a:r>
          </a:p>
          <a:p>
            <a:endParaRPr lang="en-DK" dirty="0"/>
          </a:p>
          <a:p>
            <a:r>
              <a:rPr lang="en-DK" dirty="0"/>
              <a:t>Consider read counts as a proxy for cell abundance (not perfect as in 16S gene we have multiple gene copies in some genomes, and in shotgun metagenomics we have different genome sizes – larger genomes contributing with more reads per cell, extraction efficiency, lib</a:t>
            </a:r>
            <a:r>
              <a:rPr lang="en-GB" dirty="0"/>
              <a:t>r</a:t>
            </a:r>
            <a:r>
              <a:rPr lang="en-DK" dirty="0"/>
              <a:t>ary prep bias, etc ...)</a:t>
            </a:r>
          </a:p>
          <a:p>
            <a:endParaRPr lang="en-DK" dirty="0"/>
          </a:p>
          <a:p>
            <a:r>
              <a:rPr lang="en-DK" dirty="0"/>
              <a:t>Then we have in the tablæe cell counts and relative abundace for S1 before an antibiotic treatment and fro sample 2 after the antibiotic treatment. </a:t>
            </a:r>
          </a:p>
          <a:p>
            <a:endParaRPr lang="en-DK" dirty="0"/>
          </a:p>
          <a:p>
            <a:r>
              <a:rPr lang="en-DK" dirty="0"/>
              <a:t>TABLE</a:t>
            </a:r>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Only Taxon 3 reduced its abundance after antibiotic treament, but 1,2, and 4 seem that they increase. Their number of cells have not changed but due to the decrease of one taxon the orther 3 seem to have increased abundances.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T</a:t>
            </a:r>
            <a:r>
              <a:rPr lang="en-GB" dirty="0"/>
              <a:t>h</a:t>
            </a:r>
            <a:r>
              <a:rPr lang="en-DK" dirty="0"/>
              <a:t>is affects downstream analysis and specially interpretations. </a:t>
            </a:r>
          </a:p>
          <a:p>
            <a:endParaRPr lang="en-DK" dirty="0"/>
          </a:p>
          <a:p>
            <a:r>
              <a:rPr lang="en-DK" sz="1200" dirty="0"/>
              <a:t>e.g correlations or regression assume independent variables</a:t>
            </a:r>
          </a:p>
          <a:p>
            <a:endParaRPr lang="en-DK"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sz="1200" dirty="0"/>
              <a:t>analysis alternatives and data transformations have been proposed: center-log-ration transformation (clr), ALDEx2, ANCOM</a:t>
            </a:r>
          </a:p>
          <a:p>
            <a:endParaRPr lang="en-DK"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sz="1200" dirty="0"/>
              <a:t>however, they introduce </a:t>
            </a:r>
            <a:r>
              <a:rPr lang="en-GB" sz="1200" dirty="0"/>
              <a:t>practical limitations — especially with zero handling, computational cost, and difficult interpretation</a:t>
            </a:r>
            <a:endParaRPr lang="en-DK" sz="1200" dirty="0"/>
          </a:p>
          <a:p>
            <a:endParaRPr lang="en-DK" sz="1200" dirty="0"/>
          </a:p>
          <a:p>
            <a:r>
              <a:rPr lang="en-DK" sz="1200" dirty="0"/>
              <a:t>Best thing you can do after your analysis is plotting your data, perhaps also as an exploratory step plotting your data is advisable!</a:t>
            </a:r>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41</a:t>
            </a:fld>
            <a:endParaRPr lang="en-DK"/>
          </a:p>
        </p:txBody>
      </p:sp>
    </p:spTree>
    <p:extLst>
      <p:ext uri="{BB962C8B-B14F-4D97-AF65-F5344CB8AC3E}">
        <p14:creationId xmlns:p14="http://schemas.microsoft.com/office/powerpoint/2010/main" val="18934767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The ideal scenario it would be measure absolute abundances, something that different groups and companies are starting to do.</a:t>
            </a:r>
          </a:p>
          <a:p>
            <a:endParaRPr lang="en-DK" dirty="0"/>
          </a:p>
          <a:p>
            <a:r>
              <a:rPr lang="en-DK" dirty="0"/>
              <a:t>This way we have true cell counts</a:t>
            </a:r>
          </a:p>
          <a:p>
            <a:br>
              <a:rPr lang="en-DK" dirty="0"/>
            </a:br>
            <a:r>
              <a:rPr lang="en-DK" dirty="0"/>
              <a:t>to obtain absolute abundances, you can</a:t>
            </a:r>
          </a:p>
          <a:p>
            <a:endParaRPr lang="en-DK" dirty="0"/>
          </a:p>
          <a:p>
            <a:pPr marL="285750" indent="-285750">
              <a:buFont typeface="Arial" panose="020B0604020202020204" pitchFamily="34" charset="0"/>
              <a:buChar char="•"/>
            </a:pPr>
            <a:r>
              <a:rPr lang="en-GB" dirty="0"/>
              <a:t>Add </a:t>
            </a:r>
            <a:r>
              <a:rPr lang="en-GB" b="1" dirty="0"/>
              <a:t>internal spike-in controls</a:t>
            </a:r>
            <a:r>
              <a:rPr lang="en-GB" dirty="0"/>
              <a:t> (known amounts of reference DNA). Then. you can calculate the other taxa abundance on respect to that reference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Use </a:t>
            </a:r>
            <a:r>
              <a:rPr lang="en-GB" b="1" dirty="0"/>
              <a:t>qPCR or flow cytometry</a:t>
            </a:r>
            <a:r>
              <a:rPr lang="en-GB" dirty="0"/>
              <a:t> to estimate </a:t>
            </a:r>
            <a:r>
              <a:rPr lang="en-GB" b="1" dirty="0"/>
              <a:t>total bacterial load</a:t>
            </a:r>
            <a:r>
              <a:rPr lang="en-GB" dirty="0"/>
              <a:t>. Then normalize your data accordingly</a:t>
            </a:r>
          </a:p>
          <a:p>
            <a:pPr marL="285750" indent="-285750">
              <a:buFont typeface="Arial" panose="020B0604020202020204" pitchFamily="34" charset="0"/>
              <a:buChar char="•"/>
            </a:pPr>
            <a:endParaRPr lang="en-GB"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This allows you to correct read counts to reflect </a:t>
            </a:r>
            <a:r>
              <a:rPr lang="en-GB" b="1" dirty="0"/>
              <a:t>absolute abundance</a:t>
            </a:r>
            <a:r>
              <a:rPr lang="en-GB" dirty="0"/>
              <a:t>, not just proportions.</a:t>
            </a:r>
          </a:p>
          <a:p>
            <a:pPr marL="285750" indent="-285750">
              <a:buFont typeface="Arial" panose="020B0604020202020204" pitchFamily="34" charset="0"/>
              <a:buChar char="•"/>
            </a:pPr>
            <a:endParaRPr lang="en-GB"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42</a:t>
            </a:fld>
            <a:endParaRPr lang="en-DK"/>
          </a:p>
        </p:txBody>
      </p:sp>
    </p:spTree>
    <p:extLst>
      <p:ext uri="{BB962C8B-B14F-4D97-AF65-F5344CB8AC3E}">
        <p14:creationId xmlns:p14="http://schemas.microsoft.com/office/powerpoint/2010/main" val="1710216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BE01-8F94-E9D3-D539-0D87F2E23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34A66-A237-251B-DD54-C64FCB54EE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10C6A-1DEB-8345-E0F5-687ABC334B9F}"/>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504F62E0-C4BB-9564-DDCE-3200906C5D5B}"/>
              </a:ext>
            </a:extLst>
          </p:cNvPr>
          <p:cNvSpPr>
            <a:spLocks noGrp="1"/>
          </p:cNvSpPr>
          <p:nvPr>
            <p:ph type="sldNum" sz="quarter" idx="5"/>
          </p:nvPr>
        </p:nvSpPr>
        <p:spPr/>
        <p:txBody>
          <a:bodyPr/>
          <a:lstStyle/>
          <a:p>
            <a:fld id="{90AA28B0-211A-B640-96C3-6E3EBE2D2300}" type="slidenum">
              <a:rPr lang="en-DK" smtClean="0"/>
              <a:t>43</a:t>
            </a:fld>
            <a:endParaRPr lang="en-DK"/>
          </a:p>
        </p:txBody>
      </p:sp>
    </p:spTree>
    <p:extLst>
      <p:ext uri="{BB962C8B-B14F-4D97-AF65-F5344CB8AC3E}">
        <p14:creationId xmlns:p14="http://schemas.microsoft.com/office/powerpoint/2010/main" val="22140162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There are several ways how microbiome ecologist describe microbiome data:</a:t>
            </a:r>
          </a:p>
          <a:p>
            <a:endParaRPr lang="en-DK" dirty="0"/>
          </a:p>
          <a:p>
            <a:r>
              <a:rPr lang="en-DK" dirty="0"/>
              <a:t>For example Microbiome alpha div which is the diversity within a sample</a:t>
            </a:r>
          </a:p>
          <a:p>
            <a:endParaRPr lang="en-DK" dirty="0"/>
          </a:p>
          <a:p>
            <a:r>
              <a:rPr lang="en-DK" dirty="0"/>
              <a:t>Two common measures of diversity are </a:t>
            </a:r>
          </a:p>
          <a:p>
            <a:endParaRPr lang="en-DK" dirty="0"/>
          </a:p>
          <a:p>
            <a:pPr lvl="1" indent="-228600">
              <a:lnSpc>
                <a:spcPct val="90000"/>
              </a:lnSpc>
              <a:spcAft>
                <a:spcPts val="600"/>
              </a:spcAft>
              <a:buFont typeface="Arial" panose="020B0604020202020204" pitchFamily="34" charset="0"/>
              <a:buChar char="•"/>
            </a:pPr>
            <a:r>
              <a:rPr lang="en-DK" dirty="0"/>
              <a:t>- </a:t>
            </a:r>
            <a:r>
              <a:rPr lang="en-US" b="1" dirty="0"/>
              <a:t>Richness</a:t>
            </a:r>
            <a:r>
              <a:rPr lang="en-US" dirty="0"/>
              <a:t>: number of unique taxa found in a sample (species, OTUs, ASVs,…)</a:t>
            </a:r>
          </a:p>
          <a:p>
            <a:pPr lvl="1" indent="-228600">
              <a:lnSpc>
                <a:spcPct val="90000"/>
              </a:lnSpc>
              <a:spcAft>
                <a:spcPts val="600"/>
              </a:spcAft>
              <a:buFont typeface="Arial" panose="020B0604020202020204" pitchFamily="34" charset="0"/>
              <a:buChar char="•"/>
            </a:pPr>
            <a:r>
              <a:rPr lang="en-US" b="1" dirty="0"/>
              <a:t>Shannon Index</a:t>
            </a:r>
            <a:r>
              <a:rPr lang="en-US" dirty="0"/>
              <a:t>: Accounts for both richness and evenness (how balanced the community is)</a:t>
            </a:r>
          </a:p>
          <a:p>
            <a:pPr lvl="2" indent="-228600">
              <a:lnSpc>
                <a:spcPct val="90000"/>
              </a:lnSpc>
              <a:spcAft>
                <a:spcPts val="600"/>
              </a:spcAft>
              <a:buFont typeface="Arial" panose="020B0604020202020204" pitchFamily="34" charset="0"/>
              <a:buChar char="•"/>
            </a:pPr>
            <a:r>
              <a:rPr lang="en-US" b="1" dirty="0"/>
              <a:t>Higher values</a:t>
            </a:r>
            <a:r>
              <a:rPr lang="en-US" dirty="0"/>
              <a:t> indicate More diverse and evenly distributed community</a:t>
            </a:r>
          </a:p>
          <a:p>
            <a:pPr lvl="2" indent="-228600">
              <a:lnSpc>
                <a:spcPct val="90000"/>
              </a:lnSpc>
              <a:spcAft>
                <a:spcPts val="600"/>
              </a:spcAft>
              <a:buFont typeface="Arial" panose="020B0604020202020204" pitchFamily="34" charset="0"/>
              <a:buChar char="•"/>
            </a:pPr>
            <a:r>
              <a:rPr lang="en-US" dirty="0"/>
              <a:t>There are other indices used but here we will focus on these two, up there you have the Shannon formula </a:t>
            </a:r>
          </a:p>
          <a:p>
            <a:pPr lvl="2" indent="-228600">
              <a:lnSpc>
                <a:spcPct val="90000"/>
              </a:lnSpc>
              <a:spcAft>
                <a:spcPts val="600"/>
              </a:spcAft>
              <a:buFont typeface="Arial" panose="020B0604020202020204" pitchFamily="34" charset="0"/>
              <a:buChar char="•"/>
            </a:pPr>
            <a:endParaRPr lang="en-US" dirty="0"/>
          </a:p>
          <a:p>
            <a:pPr lvl="2" indent="-228600">
              <a:lnSpc>
                <a:spcPct val="90000"/>
              </a:lnSpc>
              <a:spcAft>
                <a:spcPts val="600"/>
              </a:spcAft>
              <a:buFont typeface="Arial" panose="020B0604020202020204" pitchFamily="34" charset="0"/>
              <a:buChar char="•"/>
            </a:pPr>
            <a:endParaRPr lang="en-US" dirty="0"/>
          </a:p>
          <a:p>
            <a:pPr lvl="2" indent="-228600">
              <a:lnSpc>
                <a:spcPct val="90000"/>
              </a:lnSpc>
              <a:spcAft>
                <a:spcPts val="600"/>
              </a:spcAft>
              <a:buFont typeface="Arial" panose="020B0604020202020204" pitchFamily="34" charset="0"/>
              <a:buChar char="•"/>
            </a:pPr>
            <a:r>
              <a:rPr lang="en-US" dirty="0"/>
              <a:t>PLOT – here we studied the diversity after an antibiotic treatment in young humans and you can see that after an initial decrease of both richness and Shannon index both recovered diversity within half a year.</a:t>
            </a:r>
          </a:p>
          <a:p>
            <a:endParaRPr lang="en-DK"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44</a:t>
            </a:fld>
            <a:endParaRPr lang="en-DK"/>
          </a:p>
        </p:txBody>
      </p:sp>
    </p:spTree>
    <p:extLst>
      <p:ext uri="{BB962C8B-B14F-4D97-AF65-F5344CB8AC3E}">
        <p14:creationId xmlns:p14="http://schemas.microsoft.com/office/powerpoint/2010/main" val="12039675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Another diversity measure is beta diversity which is diversity between samples</a:t>
            </a:r>
          </a:p>
          <a:p>
            <a:endParaRPr lang="en-DK" dirty="0"/>
          </a:p>
          <a:p>
            <a:r>
              <a:rPr lang="en-DK" dirty="0"/>
              <a:t>This one is measured by ecological distances or dissimilarities based on the species abundance table. Few of the most known and used are:</a:t>
            </a:r>
          </a:p>
          <a:p>
            <a:endParaRPr lang="en-DK" dirty="0"/>
          </a:p>
          <a:p>
            <a:pPr marL="742950" lvl="1" indent="-228600">
              <a:lnSpc>
                <a:spcPct val="90000"/>
              </a:lnSpc>
              <a:spcAft>
                <a:spcPts val="600"/>
              </a:spcAft>
              <a:buFont typeface="Arial" panose="020B0604020202020204" pitchFamily="34" charset="0"/>
              <a:buChar char="•"/>
            </a:pPr>
            <a:r>
              <a:rPr lang="en-US" b="1" dirty="0"/>
              <a:t>Bray-Curtis dissimilarity</a:t>
            </a:r>
            <a:r>
              <a:rPr lang="en-US" dirty="0"/>
              <a:t> (presence/absence + abundance-weighted)</a:t>
            </a:r>
          </a:p>
          <a:p>
            <a:pPr marL="742950" lvl="1" indent="-228600">
              <a:lnSpc>
                <a:spcPct val="90000"/>
              </a:lnSpc>
              <a:spcAft>
                <a:spcPts val="600"/>
              </a:spcAft>
              <a:buFont typeface="Arial" panose="020B0604020202020204" pitchFamily="34" charset="0"/>
              <a:buChar char="•"/>
            </a:pPr>
            <a:r>
              <a:rPr lang="en-US" b="1" dirty="0"/>
              <a:t>Jaccard distance</a:t>
            </a:r>
            <a:r>
              <a:rPr lang="en-US" dirty="0"/>
              <a:t> (presence/absence)</a:t>
            </a:r>
          </a:p>
          <a:p>
            <a:pPr marL="742950" lvl="1" indent="-228600">
              <a:lnSpc>
                <a:spcPct val="90000"/>
              </a:lnSpc>
              <a:spcAft>
                <a:spcPts val="600"/>
              </a:spcAft>
              <a:buFont typeface="Arial" panose="020B0604020202020204" pitchFamily="34" charset="0"/>
              <a:buChar char="•"/>
            </a:pPr>
            <a:r>
              <a:rPr lang="en-US" b="1" dirty="0" err="1"/>
              <a:t>UniFrac</a:t>
            </a:r>
            <a:r>
              <a:rPr lang="en-US" dirty="0"/>
              <a:t> (phylogenetic distances: weighted/unweighted)</a:t>
            </a:r>
          </a:p>
          <a:p>
            <a:endParaRPr lang="en-DK" dirty="0"/>
          </a:p>
          <a:p>
            <a:pPr indent="-228600">
              <a:lnSpc>
                <a:spcPct val="90000"/>
              </a:lnSpc>
              <a:spcAft>
                <a:spcPts val="600"/>
              </a:spcAft>
              <a:buFont typeface="Arial" panose="020B0604020202020204" pitchFamily="34" charset="0"/>
              <a:buChar char="•"/>
            </a:pPr>
            <a:r>
              <a:rPr lang="en-US" dirty="0"/>
              <a:t>These distances between samples are calculated based on the taxa abundance table and projected on the two first dimensions of a </a:t>
            </a:r>
            <a:r>
              <a:rPr lang="en-US" dirty="0" err="1"/>
              <a:t>PCoA</a:t>
            </a:r>
            <a:r>
              <a:rPr lang="en-US" dirty="0"/>
              <a:t>.</a:t>
            </a:r>
          </a:p>
          <a:p>
            <a:pPr indent="-228600">
              <a:lnSpc>
                <a:spcPct val="90000"/>
              </a:lnSpc>
              <a:spcAft>
                <a:spcPts val="600"/>
              </a:spcAft>
              <a:buFont typeface="Arial" panose="020B0604020202020204" pitchFamily="34" charset="0"/>
              <a:buChar char="•"/>
            </a:pPr>
            <a:r>
              <a:rPr lang="en-US" dirty="0"/>
              <a:t>other ordination methods are also used: NMDS, </a:t>
            </a:r>
            <a:r>
              <a:rPr lang="en-US" dirty="0" err="1"/>
              <a:t>tSNE</a:t>
            </a:r>
            <a:r>
              <a:rPr lang="en-US" dirty="0"/>
              <a:t> or simply PCA,…)</a:t>
            </a:r>
          </a:p>
          <a:p>
            <a:endParaRPr lang="en-DK" dirty="0"/>
          </a:p>
          <a:p>
            <a:r>
              <a:rPr lang="en-DK" dirty="0"/>
              <a:t>In this example is about the dataset that I talked in the previous slide and as you can see the microbial composition changes dramatically after an antibiotic treatment and looks more and more similar to the baseline composition when the time passes and the gut microbiotat recovers. </a:t>
            </a:r>
          </a:p>
          <a:p>
            <a:endParaRPr lang="en-DK" dirty="0"/>
          </a:p>
          <a:p>
            <a:r>
              <a:rPr lang="en-DK" dirty="0"/>
              <a:t>Same you could have in environmental studies, you change a condition in a microbial community and it changes drastically and perhaps with the time it comes back to the original composition once the new resource is consumed or dervies into a totally different composition, then samples will be placed further away in the PCoA.</a:t>
            </a:r>
            <a:br>
              <a:rPr lang="en-DK" dirty="0"/>
            </a:br>
            <a:endParaRPr lang="en-DK" dirty="0"/>
          </a:p>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45</a:t>
            </a:fld>
            <a:endParaRPr lang="en-DK"/>
          </a:p>
        </p:txBody>
      </p:sp>
    </p:spTree>
    <p:extLst>
      <p:ext uri="{BB962C8B-B14F-4D97-AF65-F5344CB8AC3E}">
        <p14:creationId xmlns:p14="http://schemas.microsoft.com/office/powerpoint/2010/main" val="16509633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3FF47-8B5F-FBB8-3B74-54AB58954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01C6B-F93A-3F9C-F234-838533764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49541-127B-F89C-D38E-8E936EFF22AC}"/>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BF5C27F8-833E-84E2-D5A3-5AC1382E4EFE}"/>
              </a:ext>
            </a:extLst>
          </p:cNvPr>
          <p:cNvSpPr>
            <a:spLocks noGrp="1"/>
          </p:cNvSpPr>
          <p:nvPr>
            <p:ph type="sldNum" sz="quarter" idx="5"/>
          </p:nvPr>
        </p:nvSpPr>
        <p:spPr/>
        <p:txBody>
          <a:bodyPr/>
          <a:lstStyle/>
          <a:p>
            <a:fld id="{90AA28B0-211A-B640-96C3-6E3EBE2D2300}" type="slidenum">
              <a:rPr lang="en-DK" smtClean="0"/>
              <a:t>46</a:t>
            </a:fld>
            <a:endParaRPr lang="en-DK"/>
          </a:p>
        </p:txBody>
      </p:sp>
    </p:spTree>
    <p:extLst>
      <p:ext uri="{BB962C8B-B14F-4D97-AF65-F5344CB8AC3E}">
        <p14:creationId xmlns:p14="http://schemas.microsoft.com/office/powerpoint/2010/main" val="2643675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47</a:t>
            </a:fld>
            <a:endParaRPr lang="en-DK"/>
          </a:p>
        </p:txBody>
      </p:sp>
    </p:spTree>
    <p:extLst>
      <p:ext uri="{BB962C8B-B14F-4D97-AF65-F5344CB8AC3E}">
        <p14:creationId xmlns:p14="http://schemas.microsoft.com/office/powerpoint/2010/main" val="12513872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90AA28B0-211A-B640-96C3-6E3EBE2D2300}" type="slidenum">
              <a:rPr lang="en-DK" smtClean="0"/>
              <a:t>48</a:t>
            </a:fld>
            <a:endParaRPr lang="en-DK"/>
          </a:p>
        </p:txBody>
      </p:sp>
    </p:spTree>
    <p:extLst>
      <p:ext uri="{BB962C8B-B14F-4D97-AF65-F5344CB8AC3E}">
        <p14:creationId xmlns:p14="http://schemas.microsoft.com/office/powerpoint/2010/main" val="458843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5B08F-E520-C3B5-CF9B-504793A963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K"/>
          </a:p>
        </p:txBody>
      </p:sp>
      <p:sp>
        <p:nvSpPr>
          <p:cNvPr id="3" name="Subtitle 2">
            <a:extLst>
              <a:ext uri="{FF2B5EF4-FFF2-40B4-BE49-F238E27FC236}">
                <a16:creationId xmlns:a16="http://schemas.microsoft.com/office/drawing/2014/main" id="{F4631A82-7552-8E6A-ED1A-6F8952FF07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K"/>
          </a:p>
        </p:txBody>
      </p:sp>
      <p:sp>
        <p:nvSpPr>
          <p:cNvPr id="4" name="Date Placeholder 3">
            <a:extLst>
              <a:ext uri="{FF2B5EF4-FFF2-40B4-BE49-F238E27FC236}">
                <a16:creationId xmlns:a16="http://schemas.microsoft.com/office/drawing/2014/main" id="{E0B516EA-D451-0AB0-D5F8-CC04ADCC9DFE}"/>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5" name="Footer Placeholder 4">
            <a:extLst>
              <a:ext uri="{FF2B5EF4-FFF2-40B4-BE49-F238E27FC236}">
                <a16:creationId xmlns:a16="http://schemas.microsoft.com/office/drawing/2014/main" id="{1FEAD2FD-85CA-C2DD-96EC-B43C04695A8A}"/>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8ADD16B8-D8A1-9E9A-AFC4-9BFBA234DA7C}"/>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394819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D9A50-A97B-1DEC-D02D-B56F74D74333}"/>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7D7FEA44-2742-0632-74EB-913304C1938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8AFEB3A7-2D23-164A-FB57-4534F944C69D}"/>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5" name="Footer Placeholder 4">
            <a:extLst>
              <a:ext uri="{FF2B5EF4-FFF2-40B4-BE49-F238E27FC236}">
                <a16:creationId xmlns:a16="http://schemas.microsoft.com/office/drawing/2014/main" id="{DAEB35BE-6289-D804-9F31-79C413075DEC}"/>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6BB688F1-0F65-AF33-857A-F52DB5A0F2B3}"/>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420525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2D400-9FBF-96E9-75F6-72F07FEB8DF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K"/>
          </a:p>
        </p:txBody>
      </p:sp>
      <p:sp>
        <p:nvSpPr>
          <p:cNvPr id="3" name="Text Placeholder 2">
            <a:extLst>
              <a:ext uri="{FF2B5EF4-FFF2-40B4-BE49-F238E27FC236}">
                <a16:creationId xmlns:a16="http://schemas.microsoft.com/office/drawing/2014/main" id="{C63DA5BE-F890-1291-0BC4-F90EBB3CF1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7EC702-E4E2-6F95-232F-5E1D84826CE9}"/>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5" name="Footer Placeholder 4">
            <a:extLst>
              <a:ext uri="{FF2B5EF4-FFF2-40B4-BE49-F238E27FC236}">
                <a16:creationId xmlns:a16="http://schemas.microsoft.com/office/drawing/2014/main" id="{C6E5F506-60F8-3E43-7EA8-A671C94DADC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AB3443D2-1B51-6B4B-5C26-94551B342984}"/>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2795280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51EAE-B27B-84FE-5C2A-F7058ED26278}"/>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77BC7A39-68E6-A948-FB5C-AD855F26D1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Content Placeholder 3">
            <a:extLst>
              <a:ext uri="{FF2B5EF4-FFF2-40B4-BE49-F238E27FC236}">
                <a16:creationId xmlns:a16="http://schemas.microsoft.com/office/drawing/2014/main" id="{FE704136-F2EA-8AEB-7251-BF415EB3208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5" name="Date Placeholder 4">
            <a:extLst>
              <a:ext uri="{FF2B5EF4-FFF2-40B4-BE49-F238E27FC236}">
                <a16:creationId xmlns:a16="http://schemas.microsoft.com/office/drawing/2014/main" id="{CBF387A1-9E39-6C08-06D9-A3EF9AD3C226}"/>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6" name="Footer Placeholder 5">
            <a:extLst>
              <a:ext uri="{FF2B5EF4-FFF2-40B4-BE49-F238E27FC236}">
                <a16:creationId xmlns:a16="http://schemas.microsoft.com/office/drawing/2014/main" id="{472E8ADE-AE0E-3184-2436-5913B1BF1C49}"/>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A4BAAA52-52C3-26D5-D331-8EB9D626F79A}"/>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265401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3B20-C872-D41F-9C11-B42CDAFB0179}"/>
              </a:ext>
            </a:extLst>
          </p:cNvPr>
          <p:cNvSpPr>
            <a:spLocks noGrp="1"/>
          </p:cNvSpPr>
          <p:nvPr>
            <p:ph type="title"/>
          </p:nvPr>
        </p:nvSpPr>
        <p:spPr>
          <a:xfrm>
            <a:off x="839788" y="365125"/>
            <a:ext cx="10515600" cy="1325563"/>
          </a:xfrm>
        </p:spPr>
        <p:txBody>
          <a:bodyPr/>
          <a:lstStyle/>
          <a:p>
            <a:r>
              <a:rPr lang="en-GB"/>
              <a:t>Click to edit Master title style</a:t>
            </a:r>
            <a:endParaRPr lang="en-DK"/>
          </a:p>
        </p:txBody>
      </p:sp>
      <p:sp>
        <p:nvSpPr>
          <p:cNvPr id="3" name="Text Placeholder 2">
            <a:extLst>
              <a:ext uri="{FF2B5EF4-FFF2-40B4-BE49-F238E27FC236}">
                <a16:creationId xmlns:a16="http://schemas.microsoft.com/office/drawing/2014/main" id="{F0F175B8-A698-AF7B-D736-B09E5258E9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C64EDC3-5A33-0A73-74BB-C78A58E69AA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5" name="Text Placeholder 4">
            <a:extLst>
              <a:ext uri="{FF2B5EF4-FFF2-40B4-BE49-F238E27FC236}">
                <a16:creationId xmlns:a16="http://schemas.microsoft.com/office/drawing/2014/main" id="{48DEA8AB-C145-24DB-4999-CAB5A88AB4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8233B10-E822-10E9-585F-269B50B884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7" name="Date Placeholder 6">
            <a:extLst>
              <a:ext uri="{FF2B5EF4-FFF2-40B4-BE49-F238E27FC236}">
                <a16:creationId xmlns:a16="http://schemas.microsoft.com/office/drawing/2014/main" id="{F5D717AE-BA66-636D-D88C-F7F031F1F76D}"/>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8" name="Footer Placeholder 7">
            <a:extLst>
              <a:ext uri="{FF2B5EF4-FFF2-40B4-BE49-F238E27FC236}">
                <a16:creationId xmlns:a16="http://schemas.microsoft.com/office/drawing/2014/main" id="{0C21625F-FF66-FD6B-BAFB-1589D878997A}"/>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70D48355-B36F-727E-51AA-DE40595FC31B}"/>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423620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8CF26-DE4F-56D9-8A1B-F5F978B90B8A}"/>
              </a:ext>
            </a:extLst>
          </p:cNvPr>
          <p:cNvSpPr>
            <a:spLocks noGrp="1"/>
          </p:cNvSpPr>
          <p:nvPr>
            <p:ph type="title"/>
          </p:nvPr>
        </p:nvSpPr>
        <p:spPr/>
        <p:txBody>
          <a:bodyPr/>
          <a:lstStyle/>
          <a:p>
            <a:r>
              <a:rPr lang="en-GB"/>
              <a:t>Click to edit Master title style</a:t>
            </a:r>
            <a:endParaRPr lang="en-DK"/>
          </a:p>
        </p:txBody>
      </p:sp>
      <p:sp>
        <p:nvSpPr>
          <p:cNvPr id="3" name="Date Placeholder 2">
            <a:extLst>
              <a:ext uri="{FF2B5EF4-FFF2-40B4-BE49-F238E27FC236}">
                <a16:creationId xmlns:a16="http://schemas.microsoft.com/office/drawing/2014/main" id="{5C72E4D4-C128-6528-CCAB-0EECA186A2BB}"/>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4" name="Footer Placeholder 3">
            <a:extLst>
              <a:ext uri="{FF2B5EF4-FFF2-40B4-BE49-F238E27FC236}">
                <a16:creationId xmlns:a16="http://schemas.microsoft.com/office/drawing/2014/main" id="{D0D77489-056E-6BAE-1D66-821CCC573654}"/>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6E932BAF-DEE0-9A5D-8557-C68D35FC5189}"/>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119635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D6AAF1-ABB5-B82B-E3F5-87B76E253CB2}"/>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3" name="Footer Placeholder 2">
            <a:extLst>
              <a:ext uri="{FF2B5EF4-FFF2-40B4-BE49-F238E27FC236}">
                <a16:creationId xmlns:a16="http://schemas.microsoft.com/office/drawing/2014/main" id="{142574EF-E8B0-1A30-C556-80C308CF0FB0}"/>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31D081B3-FFB7-6C6C-29CE-D66BBB75C985}"/>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390403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EF720-683C-4DC4-6BA9-D55E58722C9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K"/>
          </a:p>
        </p:txBody>
      </p:sp>
      <p:sp>
        <p:nvSpPr>
          <p:cNvPr id="3" name="Content Placeholder 2">
            <a:extLst>
              <a:ext uri="{FF2B5EF4-FFF2-40B4-BE49-F238E27FC236}">
                <a16:creationId xmlns:a16="http://schemas.microsoft.com/office/drawing/2014/main" id="{442BDA84-39EF-28C6-74AF-91C14F574D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Text Placeholder 3">
            <a:extLst>
              <a:ext uri="{FF2B5EF4-FFF2-40B4-BE49-F238E27FC236}">
                <a16:creationId xmlns:a16="http://schemas.microsoft.com/office/drawing/2014/main" id="{86CAC6B0-CA34-E106-0E5B-E37C3CC279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405152-097A-80B7-5BB1-AF363EDFEFE2}"/>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6" name="Footer Placeholder 5">
            <a:extLst>
              <a:ext uri="{FF2B5EF4-FFF2-40B4-BE49-F238E27FC236}">
                <a16:creationId xmlns:a16="http://schemas.microsoft.com/office/drawing/2014/main" id="{ACBD7508-FECD-02D3-52F9-4CD63ECFA86D}"/>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9D675DFA-DB7D-98C6-3379-934A7B2590DE}"/>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2210090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5254E-1F75-C304-E115-BF609C2CA2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K"/>
          </a:p>
        </p:txBody>
      </p:sp>
      <p:sp>
        <p:nvSpPr>
          <p:cNvPr id="3" name="Picture Placeholder 2">
            <a:extLst>
              <a:ext uri="{FF2B5EF4-FFF2-40B4-BE49-F238E27FC236}">
                <a16:creationId xmlns:a16="http://schemas.microsoft.com/office/drawing/2014/main" id="{B11B10A1-7661-F511-813C-8B1712A7FC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13FFECFC-62FE-D6AA-4BDE-20DE0A3C5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525938-09DE-2D93-8A77-71C80781F63C}"/>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6" name="Footer Placeholder 5">
            <a:extLst>
              <a:ext uri="{FF2B5EF4-FFF2-40B4-BE49-F238E27FC236}">
                <a16:creationId xmlns:a16="http://schemas.microsoft.com/office/drawing/2014/main" id="{E093DA5A-5F2E-9C6C-4A34-60667478BC50}"/>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4BBE1887-D0F2-C08B-1212-F65BA3B3E08C}"/>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12820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13790-C8F5-FE67-3E0D-CF979E071F7E}"/>
              </a:ext>
            </a:extLst>
          </p:cNvPr>
          <p:cNvSpPr>
            <a:spLocks noGrp="1"/>
          </p:cNvSpPr>
          <p:nvPr>
            <p:ph type="title"/>
          </p:nvPr>
        </p:nvSpPr>
        <p:spPr/>
        <p:txBody>
          <a:bodyPr/>
          <a:lstStyle/>
          <a:p>
            <a:r>
              <a:rPr lang="en-GB"/>
              <a:t>Click to edit Master title style</a:t>
            </a:r>
            <a:endParaRPr lang="en-DK"/>
          </a:p>
        </p:txBody>
      </p:sp>
      <p:sp>
        <p:nvSpPr>
          <p:cNvPr id="3" name="Vertical Text Placeholder 2">
            <a:extLst>
              <a:ext uri="{FF2B5EF4-FFF2-40B4-BE49-F238E27FC236}">
                <a16:creationId xmlns:a16="http://schemas.microsoft.com/office/drawing/2014/main" id="{1C47FAAE-2BC3-F8C4-BB61-12EE426E9AD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3932B4F9-E2D9-63E7-07FA-B54FD71295CC}"/>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5" name="Footer Placeholder 4">
            <a:extLst>
              <a:ext uri="{FF2B5EF4-FFF2-40B4-BE49-F238E27FC236}">
                <a16:creationId xmlns:a16="http://schemas.microsoft.com/office/drawing/2014/main" id="{5FEEA928-A165-75A6-626C-E45C80A0B56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0E9F087E-FFC1-11D9-CA7F-6FD23AC0F858}"/>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93775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24E164-E60A-A366-DC15-67269EF339B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K"/>
          </a:p>
        </p:txBody>
      </p:sp>
      <p:sp>
        <p:nvSpPr>
          <p:cNvPr id="3" name="Vertical Text Placeholder 2">
            <a:extLst>
              <a:ext uri="{FF2B5EF4-FFF2-40B4-BE49-F238E27FC236}">
                <a16:creationId xmlns:a16="http://schemas.microsoft.com/office/drawing/2014/main" id="{8FD01CD6-D05A-1E96-494E-656AA84F7D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EAB435A5-F7D5-01F8-8A4E-1D45684276D9}"/>
              </a:ext>
            </a:extLst>
          </p:cNvPr>
          <p:cNvSpPr>
            <a:spLocks noGrp="1"/>
          </p:cNvSpPr>
          <p:nvPr>
            <p:ph type="dt" sz="half" idx="10"/>
          </p:nvPr>
        </p:nvSpPr>
        <p:spPr/>
        <p:txBody>
          <a:bodyPr/>
          <a:lstStyle/>
          <a:p>
            <a:fld id="{AF0867AF-5E38-4D41-A409-B469C3993211}" type="datetimeFigureOut">
              <a:rPr lang="en-DK" smtClean="0"/>
              <a:t>29/04/2026</a:t>
            </a:fld>
            <a:endParaRPr lang="en-DK"/>
          </a:p>
        </p:txBody>
      </p:sp>
      <p:sp>
        <p:nvSpPr>
          <p:cNvPr id="5" name="Footer Placeholder 4">
            <a:extLst>
              <a:ext uri="{FF2B5EF4-FFF2-40B4-BE49-F238E27FC236}">
                <a16:creationId xmlns:a16="http://schemas.microsoft.com/office/drawing/2014/main" id="{8656779A-2273-663F-A7CE-EE7755ECA148}"/>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9D992B9C-F7D6-70EB-BA4E-DA23DF03A6D8}"/>
              </a:ext>
            </a:extLst>
          </p:cNvPr>
          <p:cNvSpPr>
            <a:spLocks noGrp="1"/>
          </p:cNvSpPr>
          <p:nvPr>
            <p:ph type="sldNum" sz="quarter" idx="12"/>
          </p:nvPr>
        </p:nvSpPr>
        <p:spPr/>
        <p:txBody>
          <a:bodyPr/>
          <a:lstStyle/>
          <a:p>
            <a:fld id="{55594515-A7E2-9645-9FB0-ED223F25913F}" type="slidenum">
              <a:rPr lang="en-DK" smtClean="0"/>
              <a:t>‹#›</a:t>
            </a:fld>
            <a:endParaRPr lang="en-DK"/>
          </a:p>
        </p:txBody>
      </p:sp>
    </p:spTree>
    <p:extLst>
      <p:ext uri="{BB962C8B-B14F-4D97-AF65-F5344CB8AC3E}">
        <p14:creationId xmlns:p14="http://schemas.microsoft.com/office/powerpoint/2010/main" val="170137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o indhold 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3181" y="1547617"/>
            <a:ext cx="10880619" cy="3617678"/>
          </a:xfrm>
        </p:spPr>
        <p:txBody>
          <a:bodyPr>
            <a:normAutofit/>
          </a:bodyPr>
          <a:lstStyle>
            <a:lvl1pPr marL="0" indent="0">
              <a:lnSpc>
                <a:spcPct val="100000"/>
              </a:lnSpc>
              <a:buNone/>
              <a:defRPr sz="1500"/>
            </a:lvl1pPr>
            <a:lvl2pPr marL="453177" indent="0">
              <a:buNone/>
              <a:defRPr/>
            </a:lvl2pPr>
            <a:lvl3pPr marL="906355" indent="0">
              <a:buNone/>
              <a:defRPr/>
            </a:lvl3pPr>
            <a:lvl4pPr marL="1359532" indent="0">
              <a:buNone/>
              <a:defRPr/>
            </a:lvl4pPr>
            <a:lvl5pPr marL="1812709" indent="0">
              <a:buNone/>
              <a:defRPr/>
            </a:lvl5pPr>
          </a:lstStyle>
          <a:p>
            <a:pPr lvl="0"/>
            <a:r>
              <a:rPr lang="en-US"/>
              <a:t>Edit Master text styles</a:t>
            </a:r>
          </a:p>
        </p:txBody>
      </p:sp>
      <p:sp>
        <p:nvSpPr>
          <p:cNvPr id="5" name="Content Placeholder 2">
            <a:extLst>
              <a:ext uri="{FF2B5EF4-FFF2-40B4-BE49-F238E27FC236}">
                <a16:creationId xmlns:a16="http://schemas.microsoft.com/office/drawing/2014/main" id="{5BF103BB-A9CF-463C-AC74-666431857D92}"/>
              </a:ext>
            </a:extLst>
          </p:cNvPr>
          <p:cNvSpPr>
            <a:spLocks noGrp="1"/>
          </p:cNvSpPr>
          <p:nvPr>
            <p:ph sz="half" idx="10"/>
          </p:nvPr>
        </p:nvSpPr>
        <p:spPr>
          <a:xfrm>
            <a:off x="473182" y="5441303"/>
            <a:ext cx="8418785" cy="995601"/>
          </a:xfrm>
        </p:spPr>
        <p:txBody>
          <a:bodyPr>
            <a:normAutofit/>
          </a:bodyPr>
          <a:lstStyle>
            <a:lvl1pPr marL="0" indent="0">
              <a:lnSpc>
                <a:spcPct val="100000"/>
              </a:lnSpc>
              <a:buNone/>
              <a:defRPr sz="1000"/>
            </a:lvl1pPr>
            <a:lvl2pPr marL="453177" indent="0">
              <a:buNone/>
              <a:defRPr/>
            </a:lvl2pPr>
            <a:lvl3pPr marL="906355" indent="0">
              <a:buNone/>
              <a:defRPr/>
            </a:lvl3pPr>
            <a:lvl4pPr marL="1359532" indent="0">
              <a:buNone/>
              <a:defRPr/>
            </a:lvl4pPr>
            <a:lvl5pPr marL="1812709" indent="0">
              <a:buNone/>
              <a:defRPr/>
            </a:lvl5pPr>
          </a:lstStyle>
          <a:p>
            <a:pPr lvl="0"/>
            <a:r>
              <a:rPr lang="en-US"/>
              <a:t>Edit Master text styles</a:t>
            </a:r>
          </a:p>
        </p:txBody>
      </p:sp>
      <p:sp>
        <p:nvSpPr>
          <p:cNvPr id="4" name="Pladsholder til dato 3" hidden="1"/>
          <p:cNvSpPr>
            <a:spLocks noGrp="1"/>
          </p:cNvSpPr>
          <p:nvPr>
            <p:ph type="dt" sz="half" idx="11"/>
          </p:nvPr>
        </p:nvSpPr>
        <p:spPr/>
        <p:txBody>
          <a:bodyPr/>
          <a:lstStyle/>
          <a:p>
            <a:endParaRPr lang="en-GB"/>
          </a:p>
        </p:txBody>
      </p:sp>
      <p:sp>
        <p:nvSpPr>
          <p:cNvPr id="7" name="Pladsholder til sidefod 6" hidden="1"/>
          <p:cNvSpPr>
            <a:spLocks noGrp="1"/>
          </p:cNvSpPr>
          <p:nvPr>
            <p:ph type="ftr" sz="quarter" idx="12"/>
          </p:nvPr>
        </p:nvSpPr>
        <p:spPr/>
        <p:txBody>
          <a:bodyPr/>
          <a:lstStyle/>
          <a:p>
            <a:endParaRPr lang="en-GB" dirty="0"/>
          </a:p>
        </p:txBody>
      </p:sp>
      <p:sp>
        <p:nvSpPr>
          <p:cNvPr id="8" name="Pladsholder til slidenummer 7"/>
          <p:cNvSpPr>
            <a:spLocks noGrp="1"/>
          </p:cNvSpPr>
          <p:nvPr>
            <p:ph type="sldNum" sz="quarter" idx="13"/>
          </p:nvPr>
        </p:nvSpPr>
        <p:spPr/>
        <p:txBody>
          <a:bodyPr/>
          <a:lstStyle/>
          <a:p>
            <a:fld id="{0D08B38D-4F16-45CA-9042-40A25BC4B1DD}" type="slidenum">
              <a:rPr lang="en-GB" smtClean="0"/>
              <a:pPr/>
              <a:t>‹#›</a:t>
            </a:fld>
            <a:endParaRPr lang="en-GB"/>
          </a:p>
        </p:txBody>
      </p:sp>
    </p:spTree>
    <p:extLst>
      <p:ext uri="{BB962C8B-B14F-4D97-AF65-F5344CB8AC3E}">
        <p14:creationId xmlns:p14="http://schemas.microsoft.com/office/powerpoint/2010/main" val="2581409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CF05-F4FA-6704-5BDF-92EB8359D0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K"/>
          </a:p>
        </p:txBody>
      </p:sp>
      <p:sp>
        <p:nvSpPr>
          <p:cNvPr id="3" name="Text Placeholder 2">
            <a:extLst>
              <a:ext uri="{FF2B5EF4-FFF2-40B4-BE49-F238E27FC236}">
                <a16:creationId xmlns:a16="http://schemas.microsoft.com/office/drawing/2014/main" id="{01EA2D9D-9E6A-0C70-C935-B9BE9219B7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BD9F152E-C076-529A-1362-A2C2F8B2AE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0867AF-5E38-4D41-A409-B469C3993211}" type="datetimeFigureOut">
              <a:rPr lang="en-DK" smtClean="0"/>
              <a:t>29/04/2026</a:t>
            </a:fld>
            <a:endParaRPr lang="en-DK"/>
          </a:p>
        </p:txBody>
      </p:sp>
      <p:sp>
        <p:nvSpPr>
          <p:cNvPr id="5" name="Footer Placeholder 4">
            <a:extLst>
              <a:ext uri="{FF2B5EF4-FFF2-40B4-BE49-F238E27FC236}">
                <a16:creationId xmlns:a16="http://schemas.microsoft.com/office/drawing/2014/main" id="{63EDEB37-D1BD-7D04-DFDB-7A287FE31D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FBAD4327-821C-E45E-38E2-ECDB9D1CD4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594515-A7E2-9645-9FB0-ED223F25913F}" type="slidenum">
              <a:rPr lang="en-DK" smtClean="0"/>
              <a:t>‹#›</a:t>
            </a:fld>
            <a:endParaRPr lang="en-DK"/>
          </a:p>
        </p:txBody>
      </p:sp>
    </p:spTree>
    <p:extLst>
      <p:ext uri="{BB962C8B-B14F-4D97-AF65-F5344CB8AC3E}">
        <p14:creationId xmlns:p14="http://schemas.microsoft.com/office/powerpoint/2010/main" val="1815745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doi.org/10.1038/nature05414"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hyperlink" Target="https://doi.org/10.1038/nature1123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doi.org/10.1038/nature12506"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hyperlink" Target="https://doi.org/10.1056/nejmoa1205037"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doi.org/10.1126/science.aan3706" TargetMode="External"/><Relationship Id="rId3" Type="http://schemas.openxmlformats.org/officeDocument/2006/relationships/image" Target="../media/image16.png"/><Relationship Id="rId7" Type="http://schemas.openxmlformats.org/officeDocument/2006/relationships/hyperlink" Target="https://doi.org/10.1126/science.aao3290"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doi.org/10.1126/science.aan4236" TargetMode="Externa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doi.org/10.1038/s41587-020-0718-6" TargetMode="Externa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s://doi.org/10.1038/s41467-022-34312-7" TargetMode="Externa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hyperlink" Target="https://doi.org/10.1038/ismej.2013.254"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s://doi.org/10.1038/s41564-018-0176-9"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7.jpeg"/><Relationship Id="rId7" Type="http://schemas.openxmlformats.org/officeDocument/2006/relationships/diagramColors" Target="../diagrams/colors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1.jpeg"/><Relationship Id="rId9"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HMyCqWhwB8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doi.org/10.1172/JCI154944" TargetMode="External"/><Relationship Id="rId5" Type="http://schemas.openxmlformats.org/officeDocument/2006/relationships/hyperlink" Target="http://www.jci.org/132/7" TargetMode="External"/><Relationship Id="rId4" Type="http://schemas.openxmlformats.org/officeDocument/2006/relationships/image" Target="../media/image39.jpe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32.xml.rels><?xml version="1.0" encoding="UTF-8" standalone="yes"?>
<Relationships xmlns="http://schemas.openxmlformats.org/package/2006/relationships"><Relationship Id="rId3" Type="http://schemas.openxmlformats.org/officeDocument/2006/relationships/hyperlink" Target="https://pubmed.ncbi.nlm.nih.gov/28898207/"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pubmed.ncbi.nlm.nih.gov/27306058/"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hyperlink" Target="https://pubmed.ncbi.nlm.nih.gov/30349083/" TargetMode="Externa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hyperlink" Target="https://pubmed.ncbi.nlm.nih.gov/30349083/"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pubmed.ncbi.nlm.nih.gov/28898207/"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pubmed.ncbi.nlm.nih.gov/28898207/"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9C237F5-AF80-1180-65FB-F0665383AEE9}"/>
              </a:ext>
            </a:extLst>
          </p:cNvPr>
          <p:cNvSpPr>
            <a:spLocks noGrp="1"/>
          </p:cNvSpPr>
          <p:nvPr>
            <p:ph type="ctrTitle"/>
          </p:nvPr>
        </p:nvSpPr>
        <p:spPr>
          <a:xfrm>
            <a:off x="6741467" y="2181563"/>
            <a:ext cx="4286661" cy="1236027"/>
          </a:xfrm>
        </p:spPr>
        <p:txBody>
          <a:bodyPr vert="horz" lIns="91440" tIns="45720" rIns="91440" bIns="45720" rtlCol="0" anchor="b">
            <a:noAutofit/>
          </a:bodyPr>
          <a:lstStyle/>
          <a:p>
            <a:pPr algn="l"/>
            <a:r>
              <a:rPr lang="en-US" sz="5400" kern="1200" dirty="0">
                <a:solidFill>
                  <a:schemeClr val="bg1"/>
                </a:solidFill>
                <a:latin typeface="+mj-lt"/>
                <a:ea typeface="+mj-ea"/>
                <a:cs typeface="+mj-cs"/>
              </a:rPr>
              <a:t>Introduction to Metagenomics</a:t>
            </a:r>
          </a:p>
        </p:txBody>
      </p:sp>
      <p:cxnSp>
        <p:nvCxnSpPr>
          <p:cNvPr id="26" name="Straight Connector 25">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CCB7DCFE-F312-235E-9685-7FF3058B7A5E}"/>
              </a:ext>
            </a:extLst>
          </p:cNvPr>
          <p:cNvSpPr>
            <a:spLocks noGrp="1"/>
          </p:cNvSpPr>
          <p:nvPr>
            <p:ph type="subTitle" idx="1"/>
          </p:nvPr>
        </p:nvSpPr>
        <p:spPr>
          <a:xfrm>
            <a:off x="7564857" y="3849396"/>
            <a:ext cx="3058995" cy="1415897"/>
          </a:xfrm>
        </p:spPr>
        <p:txBody>
          <a:bodyPr vert="horz" lIns="91440" tIns="45720" rIns="91440" bIns="45720" rtlCol="0">
            <a:normAutofit fontScale="92500" lnSpcReduction="10000"/>
          </a:bodyPr>
          <a:lstStyle/>
          <a:p>
            <a:pPr algn="l"/>
            <a:r>
              <a:rPr lang="en-US" sz="2000" dirty="0">
                <a:solidFill>
                  <a:schemeClr val="bg1"/>
                </a:solidFill>
              </a:rPr>
              <a:t>Data Science platform</a:t>
            </a:r>
          </a:p>
          <a:p>
            <a:pPr algn="l"/>
            <a:r>
              <a:rPr lang="en-US" sz="2000" dirty="0">
                <a:solidFill>
                  <a:schemeClr val="bg1"/>
                </a:solidFill>
              </a:rPr>
              <a:t>BRIGHT</a:t>
            </a:r>
          </a:p>
          <a:p>
            <a:pPr algn="l"/>
            <a:r>
              <a:rPr lang="en-US" sz="2000" dirty="0">
                <a:solidFill>
                  <a:schemeClr val="bg1"/>
                </a:solidFill>
              </a:rPr>
              <a:t>Spring Data-type Courses </a:t>
            </a:r>
          </a:p>
          <a:p>
            <a:pPr algn="l"/>
            <a:r>
              <a:rPr lang="en-US" sz="2000" dirty="0">
                <a:solidFill>
                  <a:schemeClr val="bg1"/>
                </a:solidFill>
              </a:rPr>
              <a:t>6</a:t>
            </a:r>
            <a:r>
              <a:rPr lang="en-US" sz="2000" baseline="30000" dirty="0">
                <a:solidFill>
                  <a:schemeClr val="bg1"/>
                </a:solidFill>
              </a:rPr>
              <a:t>th</a:t>
            </a:r>
            <a:r>
              <a:rPr lang="en-US" sz="2000" dirty="0">
                <a:solidFill>
                  <a:schemeClr val="bg1"/>
                </a:solidFill>
              </a:rPr>
              <a:t> May 2026</a:t>
            </a:r>
          </a:p>
        </p:txBody>
      </p:sp>
      <p:cxnSp>
        <p:nvCxnSpPr>
          <p:cNvPr id="28" name="Straight Connector 27">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784EBE8-B8CF-A9B8-D609-C4264B84AF8C}"/>
              </a:ext>
            </a:extLst>
          </p:cNvPr>
          <p:cNvGrpSpPr/>
          <p:nvPr/>
        </p:nvGrpSpPr>
        <p:grpSpPr>
          <a:xfrm>
            <a:off x="-2346" y="595726"/>
            <a:ext cx="5666547" cy="5666547"/>
            <a:chOff x="3103417" y="1184563"/>
            <a:chExt cx="5507182" cy="5507182"/>
          </a:xfrm>
        </p:grpSpPr>
        <p:pic>
          <p:nvPicPr>
            <p:cNvPr id="6" name="Picture 2" descr="1,500+ Microbiome Stock Illustrations, Royalty-Free Vector Graphics &amp; Clip  Art - iStock | Gut microbiome, Skin microbiome, Microbiome woman">
              <a:extLst>
                <a:ext uri="{FF2B5EF4-FFF2-40B4-BE49-F238E27FC236}">
                  <a16:creationId xmlns:a16="http://schemas.microsoft.com/office/drawing/2014/main" id="{2F7DF042-900E-9788-5287-AC4E012A7C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417" y="1184563"/>
              <a:ext cx="5507182" cy="55071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Virus">
              <a:extLst>
                <a:ext uri="{FF2B5EF4-FFF2-40B4-BE49-F238E27FC236}">
                  <a16:creationId xmlns:a16="http://schemas.microsoft.com/office/drawing/2014/main" id="{3B1274F2-AD95-A53C-D8A1-7F5E0266DC65}"/>
                </a:ext>
              </a:extLst>
            </p:cNvPr>
            <p:cNvPicPr>
              <a:picLocks noChangeAspect="1"/>
            </p:cNvPicPr>
            <p:nvPr/>
          </p:nvPicPr>
          <p:blipFill>
            <a:blip r:embed="rId4"/>
            <a:stretch>
              <a:fillRect/>
            </a:stretch>
          </p:blipFill>
          <p:spPr>
            <a:xfrm>
              <a:off x="6613359" y="3092935"/>
              <a:ext cx="369332" cy="369332"/>
            </a:xfrm>
            <a:prstGeom prst="rect">
              <a:avLst/>
            </a:prstGeom>
          </p:spPr>
        </p:pic>
        <p:pic>
          <p:nvPicPr>
            <p:cNvPr id="8" name="Picture 7" descr="Virus">
              <a:extLst>
                <a:ext uri="{FF2B5EF4-FFF2-40B4-BE49-F238E27FC236}">
                  <a16:creationId xmlns:a16="http://schemas.microsoft.com/office/drawing/2014/main" id="{C313216F-15E2-E91B-B3B1-3344D3BD34BF}"/>
                </a:ext>
              </a:extLst>
            </p:cNvPr>
            <p:cNvPicPr>
              <a:picLocks noChangeAspect="1"/>
            </p:cNvPicPr>
            <p:nvPr/>
          </p:nvPicPr>
          <p:blipFill>
            <a:blip r:embed="rId4"/>
            <a:stretch>
              <a:fillRect/>
            </a:stretch>
          </p:blipFill>
          <p:spPr>
            <a:xfrm>
              <a:off x="4499448" y="2037278"/>
              <a:ext cx="369332" cy="369332"/>
            </a:xfrm>
            <a:prstGeom prst="rect">
              <a:avLst/>
            </a:prstGeom>
          </p:spPr>
        </p:pic>
        <p:pic>
          <p:nvPicPr>
            <p:cNvPr id="10" name="Picture 9" descr="Virus">
              <a:extLst>
                <a:ext uri="{FF2B5EF4-FFF2-40B4-BE49-F238E27FC236}">
                  <a16:creationId xmlns:a16="http://schemas.microsoft.com/office/drawing/2014/main" id="{2764AD2C-7D4B-853A-123C-F43332EB060F}"/>
                </a:ext>
              </a:extLst>
            </p:cNvPr>
            <p:cNvPicPr>
              <a:picLocks noChangeAspect="1"/>
            </p:cNvPicPr>
            <p:nvPr/>
          </p:nvPicPr>
          <p:blipFill>
            <a:blip r:embed="rId4"/>
            <a:stretch>
              <a:fillRect/>
            </a:stretch>
          </p:blipFill>
          <p:spPr>
            <a:xfrm rot="19207075">
              <a:off x="4036414" y="3582188"/>
              <a:ext cx="369332" cy="369332"/>
            </a:xfrm>
            <a:prstGeom prst="rect">
              <a:avLst/>
            </a:prstGeom>
          </p:spPr>
        </p:pic>
      </p:grpSp>
    </p:spTree>
    <p:extLst>
      <p:ext uri="{BB962C8B-B14F-4D97-AF65-F5344CB8AC3E}">
        <p14:creationId xmlns:p14="http://schemas.microsoft.com/office/powerpoint/2010/main" val="2201468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30" name="Freeform: Shape 29">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30">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5" name="Freeform: Shape 34">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10F4251D-887C-84B5-FB81-6986D59AE416}"/>
              </a:ext>
            </a:extLst>
          </p:cNvPr>
          <p:cNvSpPr>
            <a:spLocks noGrp="1"/>
          </p:cNvSpPr>
          <p:nvPr>
            <p:ph type="title"/>
          </p:nvPr>
        </p:nvSpPr>
        <p:spPr>
          <a:xfrm>
            <a:off x="3215729" y="1764407"/>
            <a:ext cx="5760846" cy="2310312"/>
          </a:xfrm>
        </p:spPr>
        <p:txBody>
          <a:bodyPr vert="horz" lIns="91440" tIns="45720" rIns="91440" bIns="45720" rtlCol="0" anchor="b">
            <a:normAutofit/>
          </a:bodyPr>
          <a:lstStyle/>
          <a:p>
            <a:pPr algn="ctr"/>
            <a:r>
              <a:rPr lang="en-US" sz="4800" kern="1200">
                <a:solidFill>
                  <a:schemeClr val="tx2"/>
                </a:solidFill>
                <a:latin typeface="+mj-lt"/>
                <a:ea typeface="+mj-ea"/>
                <a:cs typeface="+mj-cs"/>
              </a:rPr>
              <a:t>Impact of microbiome studies in medical and planetary health</a:t>
            </a:r>
          </a:p>
        </p:txBody>
      </p:sp>
    </p:spTree>
    <p:extLst>
      <p:ext uri="{BB962C8B-B14F-4D97-AF65-F5344CB8AC3E}">
        <p14:creationId xmlns:p14="http://schemas.microsoft.com/office/powerpoint/2010/main" val="385296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DB7A68AE-7C10-E7E7-40D8-0125E0C1F66F}"/>
              </a:ext>
            </a:extLst>
          </p:cNvPr>
          <p:cNvSpPr>
            <a:spLocks noGrp="1"/>
          </p:cNvSpPr>
          <p:nvPr>
            <p:ph type="title"/>
          </p:nvPr>
        </p:nvSpPr>
        <p:spPr>
          <a:xfrm>
            <a:off x="8270420" y="1387927"/>
            <a:ext cx="3212502" cy="1942773"/>
          </a:xfrm>
        </p:spPr>
        <p:txBody>
          <a:bodyPr vert="horz" lIns="91440" tIns="45720" rIns="91440" bIns="45720" rtlCol="0" anchor="b">
            <a:normAutofit/>
          </a:bodyPr>
          <a:lstStyle/>
          <a:p>
            <a:r>
              <a:rPr lang="en-US" sz="3300" b="1" kern="1200" dirty="0">
                <a:solidFill>
                  <a:schemeClr val="tx1"/>
                </a:solidFill>
                <a:latin typeface="+mj-lt"/>
                <a:ea typeface="+mj-ea"/>
                <a:cs typeface="+mj-cs"/>
              </a:rPr>
              <a:t>Microbiome has been associated with a variety of diseases </a:t>
            </a:r>
          </a:p>
        </p:txBody>
      </p:sp>
      <p:pic>
        <p:nvPicPr>
          <p:cNvPr id="2050" name="Picture 2" descr="Fig. 1">
            <a:extLst>
              <a:ext uri="{FF2B5EF4-FFF2-40B4-BE49-F238E27FC236}">
                <a16:creationId xmlns:a16="http://schemas.microsoft.com/office/drawing/2014/main" id="{90C191E8-ED4B-E122-2BCB-BA7970454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 b="1062"/>
          <a:stretch>
            <a:fillRect/>
          </a:stretch>
        </p:blipFill>
        <p:spPr bwMode="auto">
          <a:xfrm>
            <a:off x="20" y="10"/>
            <a:ext cx="7723393"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140B6EE-B0EF-631F-981F-DDE73B1C198B}"/>
              </a:ext>
            </a:extLst>
          </p:cNvPr>
          <p:cNvSpPr txBox="1"/>
          <p:nvPr/>
        </p:nvSpPr>
        <p:spPr>
          <a:xfrm>
            <a:off x="8270420" y="3412998"/>
            <a:ext cx="3212502" cy="2767366"/>
          </a:xfrm>
          <a:prstGeom prst="rect">
            <a:avLst/>
          </a:prstGeom>
        </p:spPr>
        <p:txBody>
          <a:bodyPr vert="horz" lIns="91440" tIns="45720" rIns="91440" bIns="45720" rtlCol="0">
            <a:normAutofit/>
          </a:bodyPr>
          <a:lstStyle/>
          <a:p>
            <a:pPr marL="285750" indent="-228600">
              <a:lnSpc>
                <a:spcPct val="110000"/>
              </a:lnSpc>
              <a:spcAft>
                <a:spcPts val="600"/>
              </a:spcAft>
              <a:buFont typeface="Arial" panose="020B0604020202020204" pitchFamily="34" charset="0"/>
              <a:buChar char="•"/>
            </a:pPr>
            <a:r>
              <a:rPr lang="en-US" sz="1700" dirty="0"/>
              <a:t>Microbiota: cause or consequence of the disease?</a:t>
            </a:r>
          </a:p>
          <a:p>
            <a:pPr marL="285750" indent="-228600">
              <a:lnSpc>
                <a:spcPct val="110000"/>
              </a:lnSpc>
              <a:spcAft>
                <a:spcPts val="600"/>
              </a:spcAft>
              <a:buFont typeface="Arial" panose="020B0604020202020204" pitchFamily="34" charset="0"/>
              <a:buChar char="•"/>
            </a:pPr>
            <a:r>
              <a:rPr lang="en-US" sz="1700" dirty="0"/>
              <a:t>For some diseases it may also be a disease modifier or may metabolize the drugs administered to the diseased individuals</a:t>
            </a:r>
          </a:p>
        </p:txBody>
      </p:sp>
    </p:spTree>
    <p:extLst>
      <p:ext uri="{BB962C8B-B14F-4D97-AF65-F5344CB8AC3E}">
        <p14:creationId xmlns:p14="http://schemas.microsoft.com/office/powerpoint/2010/main" val="2311454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B7F42-7DF3-7366-2432-8A90F1D583D8}"/>
              </a:ext>
            </a:extLst>
          </p:cNvPr>
          <p:cNvSpPr>
            <a:spLocks noGrp="1"/>
          </p:cNvSpPr>
          <p:nvPr>
            <p:ph type="title"/>
          </p:nvPr>
        </p:nvSpPr>
        <p:spPr>
          <a:xfrm>
            <a:off x="720437" y="365125"/>
            <a:ext cx="11028218" cy="1325563"/>
          </a:xfrm>
        </p:spPr>
        <p:txBody>
          <a:bodyPr/>
          <a:lstStyle/>
          <a:p>
            <a:r>
              <a:rPr lang="en-DK" dirty="0"/>
              <a:t>Obesity associated gut microbiome – a transmissible trait</a:t>
            </a:r>
          </a:p>
        </p:txBody>
      </p:sp>
      <p:pic>
        <p:nvPicPr>
          <p:cNvPr id="5" name="Picture 4" descr="A screenshot of a web page&#10;&#10;AI-generated content may be incorrect.">
            <a:extLst>
              <a:ext uri="{FF2B5EF4-FFF2-40B4-BE49-F238E27FC236}">
                <a16:creationId xmlns:a16="http://schemas.microsoft.com/office/drawing/2014/main" id="{EC3FEC11-6718-3444-62B3-718F55AC881D}"/>
              </a:ext>
            </a:extLst>
          </p:cNvPr>
          <p:cNvPicPr>
            <a:picLocks noChangeAspect="1"/>
          </p:cNvPicPr>
          <p:nvPr/>
        </p:nvPicPr>
        <p:blipFill>
          <a:blip r:embed="rId3"/>
          <a:stretch>
            <a:fillRect/>
          </a:stretch>
        </p:blipFill>
        <p:spPr>
          <a:xfrm>
            <a:off x="838200" y="1690688"/>
            <a:ext cx="4749800" cy="1473200"/>
          </a:xfrm>
          <a:prstGeom prst="rect">
            <a:avLst/>
          </a:prstGeom>
        </p:spPr>
      </p:pic>
      <p:pic>
        <p:nvPicPr>
          <p:cNvPr id="7" name="Picture 6" descr="A graph of a plant&#10;&#10;AI-generated content may be incorrect.">
            <a:extLst>
              <a:ext uri="{FF2B5EF4-FFF2-40B4-BE49-F238E27FC236}">
                <a16:creationId xmlns:a16="http://schemas.microsoft.com/office/drawing/2014/main" id="{57A146FE-EC58-3FB5-2443-484A22A02215}"/>
              </a:ext>
            </a:extLst>
          </p:cNvPr>
          <p:cNvPicPr>
            <a:picLocks noChangeAspect="1"/>
          </p:cNvPicPr>
          <p:nvPr/>
        </p:nvPicPr>
        <p:blipFill>
          <a:blip r:embed="rId4"/>
          <a:stretch>
            <a:fillRect/>
          </a:stretch>
        </p:blipFill>
        <p:spPr>
          <a:xfrm>
            <a:off x="5867399" y="1670791"/>
            <a:ext cx="6324601" cy="3601748"/>
          </a:xfrm>
          <a:prstGeom prst="rect">
            <a:avLst/>
          </a:prstGeom>
        </p:spPr>
      </p:pic>
      <p:sp>
        <p:nvSpPr>
          <p:cNvPr id="9" name="TextBox 8">
            <a:extLst>
              <a:ext uri="{FF2B5EF4-FFF2-40B4-BE49-F238E27FC236}">
                <a16:creationId xmlns:a16="http://schemas.microsoft.com/office/drawing/2014/main" id="{202603B7-A256-8AE4-AEDC-A30230CA47B8}"/>
              </a:ext>
            </a:extLst>
          </p:cNvPr>
          <p:cNvSpPr txBox="1"/>
          <p:nvPr/>
        </p:nvSpPr>
        <p:spPr>
          <a:xfrm>
            <a:off x="2847108" y="3163888"/>
            <a:ext cx="3020291" cy="307777"/>
          </a:xfrm>
          <a:prstGeom prst="rect">
            <a:avLst/>
          </a:prstGeom>
          <a:noFill/>
        </p:spPr>
        <p:txBody>
          <a:bodyPr wrap="square">
            <a:spAutoFit/>
          </a:bodyPr>
          <a:lstStyle/>
          <a:p>
            <a:r>
              <a:rPr lang="en-GB" sz="1400" b="0" i="0" dirty="0">
                <a:solidFill>
                  <a:srgbClr val="222222"/>
                </a:solidFill>
                <a:effectLst/>
                <a:latin typeface="-apple-system"/>
                <a:hlinkClick r:id="rId5"/>
              </a:rPr>
              <a:t>https://doi.org/10.1038/nature05414</a:t>
            </a:r>
            <a:endParaRPr lang="en-GB" sz="1400" b="0" i="0" dirty="0">
              <a:solidFill>
                <a:srgbClr val="222222"/>
              </a:solidFill>
              <a:effectLst/>
              <a:latin typeface="-apple-system"/>
            </a:endParaRPr>
          </a:p>
        </p:txBody>
      </p:sp>
      <p:sp>
        <p:nvSpPr>
          <p:cNvPr id="10" name="TextBox 9">
            <a:extLst>
              <a:ext uri="{FF2B5EF4-FFF2-40B4-BE49-F238E27FC236}">
                <a16:creationId xmlns:a16="http://schemas.microsoft.com/office/drawing/2014/main" id="{4E5418EF-12C2-EAB9-2C71-ABCF7EA7D033}"/>
              </a:ext>
            </a:extLst>
          </p:cNvPr>
          <p:cNvSpPr txBox="1"/>
          <p:nvPr/>
        </p:nvSpPr>
        <p:spPr>
          <a:xfrm>
            <a:off x="942110" y="3837710"/>
            <a:ext cx="4925290" cy="2585323"/>
          </a:xfrm>
          <a:prstGeom prst="rect">
            <a:avLst/>
          </a:prstGeom>
          <a:noFill/>
        </p:spPr>
        <p:txBody>
          <a:bodyPr wrap="square" rtlCol="0">
            <a:spAutoFit/>
          </a:bodyPr>
          <a:lstStyle/>
          <a:p>
            <a:pPr marL="285750" indent="-285750">
              <a:buFont typeface="Arial" panose="020B0604020202020204" pitchFamily="34" charset="0"/>
              <a:buChar char="•"/>
            </a:pPr>
            <a:r>
              <a:rPr lang="en-GB" dirty="0"/>
              <a:t>Obese mice had an increased capacity to harvest energy from the diet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The trait is transmissible!</a:t>
            </a:r>
            <a:br>
              <a:rPr lang="en-GB" dirty="0"/>
            </a:br>
            <a:r>
              <a:rPr lang="en-GB" dirty="0"/>
              <a:t>Colonization of germ-free mice with an ‘obese microbiota’ resulted in a significantly greater increase in total body fat than colonization with a ‘lean microbiota’</a:t>
            </a:r>
          </a:p>
          <a:p>
            <a:pPr marL="285750" indent="-285750">
              <a:buFont typeface="Arial" panose="020B0604020202020204" pitchFamily="34" charset="0"/>
              <a:buChar char="•"/>
            </a:pPr>
            <a:endParaRPr lang="en-DK" dirty="0"/>
          </a:p>
        </p:txBody>
      </p:sp>
      <p:sp>
        <p:nvSpPr>
          <p:cNvPr id="11" name="TextBox 10">
            <a:extLst>
              <a:ext uri="{FF2B5EF4-FFF2-40B4-BE49-F238E27FC236}">
                <a16:creationId xmlns:a16="http://schemas.microsoft.com/office/drawing/2014/main" id="{8B21EE5E-D324-502C-00ED-C066EEC61527}"/>
              </a:ext>
            </a:extLst>
          </p:cNvPr>
          <p:cNvSpPr txBox="1"/>
          <p:nvPr/>
        </p:nvSpPr>
        <p:spPr>
          <a:xfrm>
            <a:off x="6498772" y="5272539"/>
            <a:ext cx="2373085" cy="1169551"/>
          </a:xfrm>
          <a:prstGeom prst="rect">
            <a:avLst/>
          </a:prstGeom>
          <a:noFill/>
        </p:spPr>
        <p:txBody>
          <a:bodyPr wrap="square" rtlCol="0">
            <a:spAutoFit/>
          </a:bodyPr>
          <a:lstStyle/>
          <a:p>
            <a:r>
              <a:rPr lang="en-GB" sz="1400" dirty="0"/>
              <a:t>Genetically obese mice had an increased concentration of the major fermentation end-products: butyrate and acetate</a:t>
            </a:r>
            <a:endParaRPr lang="en-DK" sz="1400" dirty="0"/>
          </a:p>
        </p:txBody>
      </p:sp>
      <p:sp>
        <p:nvSpPr>
          <p:cNvPr id="12" name="TextBox 11">
            <a:extLst>
              <a:ext uri="{FF2B5EF4-FFF2-40B4-BE49-F238E27FC236}">
                <a16:creationId xmlns:a16="http://schemas.microsoft.com/office/drawing/2014/main" id="{95DACDA9-5A76-DD01-03C5-23B150854F99}"/>
              </a:ext>
            </a:extLst>
          </p:cNvPr>
          <p:cNvSpPr txBox="1"/>
          <p:nvPr/>
        </p:nvSpPr>
        <p:spPr>
          <a:xfrm>
            <a:off x="9002487" y="5253482"/>
            <a:ext cx="1305790" cy="1169551"/>
          </a:xfrm>
          <a:prstGeom prst="rect">
            <a:avLst/>
          </a:prstGeom>
          <a:noFill/>
        </p:spPr>
        <p:txBody>
          <a:bodyPr wrap="square" rtlCol="0">
            <a:spAutoFit/>
          </a:bodyPr>
          <a:lstStyle/>
          <a:p>
            <a:r>
              <a:rPr lang="en-GB" sz="1400" dirty="0"/>
              <a:t>They also had significantly less energy remaining in their faeces</a:t>
            </a:r>
            <a:endParaRPr lang="en-DK" sz="1400" dirty="0"/>
          </a:p>
        </p:txBody>
      </p:sp>
      <p:sp>
        <p:nvSpPr>
          <p:cNvPr id="13" name="TextBox 12">
            <a:extLst>
              <a:ext uri="{FF2B5EF4-FFF2-40B4-BE49-F238E27FC236}">
                <a16:creationId xmlns:a16="http://schemas.microsoft.com/office/drawing/2014/main" id="{CCC3AA88-8801-41F5-A725-6A220EC58816}"/>
              </a:ext>
            </a:extLst>
          </p:cNvPr>
          <p:cNvSpPr txBox="1"/>
          <p:nvPr/>
        </p:nvSpPr>
        <p:spPr>
          <a:xfrm>
            <a:off x="10308277" y="5253481"/>
            <a:ext cx="1883723" cy="1384995"/>
          </a:xfrm>
          <a:prstGeom prst="rect">
            <a:avLst/>
          </a:prstGeom>
          <a:noFill/>
        </p:spPr>
        <p:txBody>
          <a:bodyPr wrap="square" rtlCol="0">
            <a:spAutoFit/>
          </a:bodyPr>
          <a:lstStyle/>
          <a:p>
            <a:r>
              <a:rPr lang="en-GB" sz="1400" dirty="0"/>
              <a:t>Germ-free mice colonized with an obese mice microbiota exhibited significantly greater increase in body fat</a:t>
            </a:r>
            <a:endParaRPr lang="en-DK" sz="1400" dirty="0"/>
          </a:p>
        </p:txBody>
      </p:sp>
    </p:spTree>
    <p:extLst>
      <p:ext uri="{BB962C8B-B14F-4D97-AF65-F5344CB8AC3E}">
        <p14:creationId xmlns:p14="http://schemas.microsoft.com/office/powerpoint/2010/main" val="78281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9872-81A7-7E09-FAE3-5BF58C6C6633}"/>
              </a:ext>
            </a:extLst>
          </p:cNvPr>
          <p:cNvSpPr>
            <a:spLocks noGrp="1"/>
          </p:cNvSpPr>
          <p:nvPr>
            <p:ph type="title"/>
          </p:nvPr>
        </p:nvSpPr>
        <p:spPr>
          <a:xfrm>
            <a:off x="838200" y="45460"/>
            <a:ext cx="10515600" cy="1325563"/>
          </a:xfrm>
        </p:spPr>
        <p:txBody>
          <a:bodyPr/>
          <a:lstStyle/>
          <a:p>
            <a:r>
              <a:rPr lang="en-GB" dirty="0"/>
              <a:t>The Human Microbiome Project (HMP) </a:t>
            </a:r>
            <a:endParaRPr lang="en-DK" dirty="0"/>
          </a:p>
        </p:txBody>
      </p:sp>
      <p:sp>
        <p:nvSpPr>
          <p:cNvPr id="5" name="TextBox 4">
            <a:extLst>
              <a:ext uri="{FF2B5EF4-FFF2-40B4-BE49-F238E27FC236}">
                <a16:creationId xmlns:a16="http://schemas.microsoft.com/office/drawing/2014/main" id="{4E5B5DBD-465E-6464-8875-99C51140620B}"/>
              </a:ext>
            </a:extLst>
          </p:cNvPr>
          <p:cNvSpPr txBox="1"/>
          <p:nvPr/>
        </p:nvSpPr>
        <p:spPr>
          <a:xfrm>
            <a:off x="541422" y="3047999"/>
            <a:ext cx="4520436" cy="3693319"/>
          </a:xfrm>
          <a:prstGeom prst="rect">
            <a:avLst/>
          </a:prstGeom>
          <a:noFill/>
        </p:spPr>
        <p:txBody>
          <a:bodyPr wrap="square" rtlCol="0">
            <a:spAutoFit/>
          </a:bodyPr>
          <a:lstStyle/>
          <a:p>
            <a:pPr marL="285750" indent="-285750">
              <a:buFont typeface="Arial" panose="020B0604020202020204" pitchFamily="34" charset="0"/>
              <a:buChar char="•"/>
            </a:pPr>
            <a:r>
              <a:rPr lang="en-DK" dirty="0"/>
              <a:t>Great initial resource to study the microbiome (based on thousands of samples)</a:t>
            </a:r>
          </a:p>
          <a:p>
            <a:pPr marL="285750" indent="-285750">
              <a:buFont typeface="Arial" panose="020B0604020202020204" pitchFamily="34" charset="0"/>
              <a:buChar char="•"/>
            </a:pPr>
            <a:endParaRPr lang="en-DK" dirty="0"/>
          </a:p>
          <a:p>
            <a:pPr marL="285750" indent="-285750">
              <a:buFont typeface="Arial" panose="020B0604020202020204" pitchFamily="34" charset="0"/>
              <a:buChar char="•"/>
            </a:pPr>
            <a:r>
              <a:rPr lang="en-GB" dirty="0"/>
              <a:t>Diversity of the human microbiome is concordant among measures, unique to each individual, and strongly determined by microbial habitat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Carriage of microbial taxa varies while metabolic pathways remain stable within a healthy population</a:t>
            </a:r>
          </a:p>
          <a:p>
            <a:pPr marL="285750" indent="-285750">
              <a:buFont typeface="Arial" panose="020B0604020202020204" pitchFamily="34" charset="0"/>
              <a:buChar char="•"/>
            </a:pPr>
            <a:endParaRPr lang="en-GB" dirty="0"/>
          </a:p>
        </p:txBody>
      </p:sp>
      <p:pic>
        <p:nvPicPr>
          <p:cNvPr id="7" name="Picture 6" descr="A screenshot of a cell phone&#10;&#10;AI-generated content may be incorrect.">
            <a:extLst>
              <a:ext uri="{FF2B5EF4-FFF2-40B4-BE49-F238E27FC236}">
                <a16:creationId xmlns:a16="http://schemas.microsoft.com/office/drawing/2014/main" id="{C1BE2593-3A72-9B21-8510-C99051A3E2E5}"/>
              </a:ext>
            </a:extLst>
          </p:cNvPr>
          <p:cNvPicPr>
            <a:picLocks noChangeAspect="1"/>
          </p:cNvPicPr>
          <p:nvPr/>
        </p:nvPicPr>
        <p:blipFill>
          <a:blip r:embed="rId3"/>
          <a:stretch>
            <a:fillRect/>
          </a:stretch>
        </p:blipFill>
        <p:spPr>
          <a:xfrm>
            <a:off x="838200" y="1176481"/>
            <a:ext cx="4876800" cy="1498600"/>
          </a:xfrm>
          <a:prstGeom prst="rect">
            <a:avLst/>
          </a:prstGeom>
        </p:spPr>
      </p:pic>
      <p:sp>
        <p:nvSpPr>
          <p:cNvPr id="9" name="TextBox 8">
            <a:extLst>
              <a:ext uri="{FF2B5EF4-FFF2-40B4-BE49-F238E27FC236}">
                <a16:creationId xmlns:a16="http://schemas.microsoft.com/office/drawing/2014/main" id="{1B80557C-57F5-C34A-C311-CF84C8A2CB10}"/>
              </a:ext>
            </a:extLst>
          </p:cNvPr>
          <p:cNvSpPr txBox="1"/>
          <p:nvPr/>
        </p:nvSpPr>
        <p:spPr>
          <a:xfrm>
            <a:off x="838200" y="2642619"/>
            <a:ext cx="3796145" cy="307777"/>
          </a:xfrm>
          <a:prstGeom prst="rect">
            <a:avLst/>
          </a:prstGeom>
          <a:noFill/>
        </p:spPr>
        <p:txBody>
          <a:bodyPr wrap="square">
            <a:spAutoFit/>
          </a:bodyPr>
          <a:lstStyle/>
          <a:p>
            <a:r>
              <a:rPr lang="en-GB" sz="1400" b="0" i="0" dirty="0">
                <a:solidFill>
                  <a:srgbClr val="222222"/>
                </a:solidFill>
                <a:effectLst/>
                <a:latin typeface="-apple-system"/>
                <a:hlinkClick r:id="rId4"/>
              </a:rPr>
              <a:t>https://doi.org/10.1038/nature11234</a:t>
            </a:r>
            <a:endParaRPr lang="en-GB" sz="1400" b="0" i="0" dirty="0">
              <a:solidFill>
                <a:srgbClr val="222222"/>
              </a:solidFill>
              <a:effectLst/>
              <a:latin typeface="-apple-system"/>
            </a:endParaRPr>
          </a:p>
        </p:txBody>
      </p:sp>
      <p:pic>
        <p:nvPicPr>
          <p:cNvPr id="4" name="Picture 3" descr="A diagram of different colored objects&#10;&#10;AI-generated content may be incorrect.">
            <a:extLst>
              <a:ext uri="{FF2B5EF4-FFF2-40B4-BE49-F238E27FC236}">
                <a16:creationId xmlns:a16="http://schemas.microsoft.com/office/drawing/2014/main" id="{59CBD1D4-CBDA-3C02-C63C-9D806AEA0C3C}"/>
              </a:ext>
            </a:extLst>
          </p:cNvPr>
          <p:cNvPicPr>
            <a:picLocks noChangeAspect="1"/>
          </p:cNvPicPr>
          <p:nvPr/>
        </p:nvPicPr>
        <p:blipFill>
          <a:blip r:embed="rId5"/>
          <a:srcRect l="55959" t="96" r="13324" b="57234"/>
          <a:stretch>
            <a:fillRect/>
          </a:stretch>
        </p:blipFill>
        <p:spPr>
          <a:xfrm>
            <a:off x="6477002" y="1041581"/>
            <a:ext cx="3124198" cy="2916982"/>
          </a:xfrm>
          <a:prstGeom prst="rect">
            <a:avLst/>
          </a:prstGeom>
        </p:spPr>
      </p:pic>
      <p:pic>
        <p:nvPicPr>
          <p:cNvPr id="9218" name="Picture 2" descr="Figure 2">
            <a:extLst>
              <a:ext uri="{FF2B5EF4-FFF2-40B4-BE49-F238E27FC236}">
                <a16:creationId xmlns:a16="http://schemas.microsoft.com/office/drawing/2014/main" id="{6C0466F7-2F42-19E5-12C5-4751861D19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3651" y="3958563"/>
            <a:ext cx="6756121" cy="2585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961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6532-898D-3186-D0CF-67EBD5A12A4F}"/>
              </a:ext>
            </a:extLst>
          </p:cNvPr>
          <p:cNvSpPr>
            <a:spLocks noGrp="1"/>
          </p:cNvSpPr>
          <p:nvPr>
            <p:ph type="title"/>
          </p:nvPr>
        </p:nvSpPr>
        <p:spPr>
          <a:xfrm>
            <a:off x="838200" y="470705"/>
            <a:ext cx="10993582" cy="1325563"/>
          </a:xfrm>
        </p:spPr>
        <p:txBody>
          <a:bodyPr>
            <a:normAutofit fontScale="90000"/>
          </a:bodyPr>
          <a:lstStyle/>
          <a:p>
            <a:r>
              <a:rPr lang="en-GB" dirty="0"/>
              <a:t>Richness of human gut microbiome correlates with metabolic markers (lessons of </a:t>
            </a:r>
            <a:r>
              <a:rPr lang="en-GB" dirty="0" err="1"/>
              <a:t>MetaHIT</a:t>
            </a:r>
            <a:r>
              <a:rPr lang="en-GB" dirty="0"/>
              <a:t> study)</a:t>
            </a:r>
            <a:br>
              <a:rPr lang="en-GB" dirty="0"/>
            </a:br>
            <a:endParaRPr lang="en-DK" dirty="0"/>
          </a:p>
        </p:txBody>
      </p:sp>
      <p:pic>
        <p:nvPicPr>
          <p:cNvPr id="7" name="Picture 6" descr="A screenshot of a computer&#10;&#10;AI-generated content may be incorrect.">
            <a:extLst>
              <a:ext uri="{FF2B5EF4-FFF2-40B4-BE49-F238E27FC236}">
                <a16:creationId xmlns:a16="http://schemas.microsoft.com/office/drawing/2014/main" id="{DF9B7393-EB47-61C6-2688-ECB6EF050190}"/>
              </a:ext>
            </a:extLst>
          </p:cNvPr>
          <p:cNvPicPr>
            <a:picLocks noChangeAspect="1"/>
          </p:cNvPicPr>
          <p:nvPr/>
        </p:nvPicPr>
        <p:blipFill>
          <a:blip r:embed="rId3"/>
          <a:stretch>
            <a:fillRect/>
          </a:stretch>
        </p:blipFill>
        <p:spPr>
          <a:xfrm>
            <a:off x="755070" y="1579847"/>
            <a:ext cx="4800600" cy="2120900"/>
          </a:xfrm>
          <a:prstGeom prst="rect">
            <a:avLst/>
          </a:prstGeom>
        </p:spPr>
      </p:pic>
      <p:sp>
        <p:nvSpPr>
          <p:cNvPr id="5" name="TextBox 4">
            <a:extLst>
              <a:ext uri="{FF2B5EF4-FFF2-40B4-BE49-F238E27FC236}">
                <a16:creationId xmlns:a16="http://schemas.microsoft.com/office/drawing/2014/main" id="{6B9A79F8-628C-9BE4-29F0-589037E4C4F8}"/>
              </a:ext>
            </a:extLst>
          </p:cNvPr>
          <p:cNvSpPr txBox="1"/>
          <p:nvPr/>
        </p:nvSpPr>
        <p:spPr>
          <a:xfrm>
            <a:off x="3491343" y="3392970"/>
            <a:ext cx="2202873" cy="307777"/>
          </a:xfrm>
          <a:prstGeom prst="rect">
            <a:avLst/>
          </a:prstGeom>
          <a:noFill/>
        </p:spPr>
        <p:txBody>
          <a:bodyPr wrap="square">
            <a:spAutoFit/>
          </a:bodyPr>
          <a:lstStyle/>
          <a:p>
            <a:pPr algn="l"/>
            <a:r>
              <a:rPr lang="en-GB" sz="1400" b="0" i="0" u="sng" dirty="0">
                <a:solidFill>
                  <a:srgbClr val="205493"/>
                </a:solidFill>
                <a:effectLst/>
                <a:latin typeface="system-ui"/>
                <a:hlinkClick r:id="rId4"/>
              </a:rPr>
              <a:t>10.1038/nature12506</a:t>
            </a:r>
            <a:endParaRPr lang="en-GB" sz="1400" b="0" i="0" dirty="0">
              <a:solidFill>
                <a:srgbClr val="212121"/>
              </a:solidFill>
              <a:effectLst/>
              <a:latin typeface="system-ui"/>
            </a:endParaRPr>
          </a:p>
        </p:txBody>
      </p:sp>
      <p:pic>
        <p:nvPicPr>
          <p:cNvPr id="9" name="Picture 8" descr="A graph of a number of gene numbers&#10;&#10;AI-generated content may be incorrect.">
            <a:extLst>
              <a:ext uri="{FF2B5EF4-FFF2-40B4-BE49-F238E27FC236}">
                <a16:creationId xmlns:a16="http://schemas.microsoft.com/office/drawing/2014/main" id="{52343361-8B67-80FA-304D-77145579E631}"/>
              </a:ext>
            </a:extLst>
          </p:cNvPr>
          <p:cNvPicPr>
            <a:picLocks noChangeAspect="1"/>
          </p:cNvPicPr>
          <p:nvPr/>
        </p:nvPicPr>
        <p:blipFill>
          <a:blip r:embed="rId5"/>
          <a:stretch>
            <a:fillRect/>
          </a:stretch>
        </p:blipFill>
        <p:spPr>
          <a:xfrm>
            <a:off x="6497786" y="1454219"/>
            <a:ext cx="4832263" cy="2705529"/>
          </a:xfrm>
          <a:prstGeom prst="rect">
            <a:avLst/>
          </a:prstGeom>
        </p:spPr>
      </p:pic>
      <p:pic>
        <p:nvPicPr>
          <p:cNvPr id="11" name="Picture 10" descr="A graph of bmi and bgc&#10;&#10;AI-generated content may be incorrect.">
            <a:extLst>
              <a:ext uri="{FF2B5EF4-FFF2-40B4-BE49-F238E27FC236}">
                <a16:creationId xmlns:a16="http://schemas.microsoft.com/office/drawing/2014/main" id="{D2709E30-7C21-57DD-569E-E2FE42DEFD17}"/>
              </a:ext>
            </a:extLst>
          </p:cNvPr>
          <p:cNvPicPr>
            <a:picLocks noChangeAspect="1"/>
          </p:cNvPicPr>
          <p:nvPr/>
        </p:nvPicPr>
        <p:blipFill>
          <a:blip r:embed="rId6"/>
          <a:stretch>
            <a:fillRect/>
          </a:stretch>
        </p:blipFill>
        <p:spPr>
          <a:xfrm>
            <a:off x="8021782" y="4389919"/>
            <a:ext cx="2065486" cy="2468081"/>
          </a:xfrm>
          <a:prstGeom prst="rect">
            <a:avLst/>
          </a:prstGeom>
        </p:spPr>
      </p:pic>
      <p:sp>
        <p:nvSpPr>
          <p:cNvPr id="12" name="TextBox 11">
            <a:extLst>
              <a:ext uri="{FF2B5EF4-FFF2-40B4-BE49-F238E27FC236}">
                <a16:creationId xmlns:a16="http://schemas.microsoft.com/office/drawing/2014/main" id="{3AC1AB23-A9CE-8CBB-CDA7-4948D8D374F3}"/>
              </a:ext>
            </a:extLst>
          </p:cNvPr>
          <p:cNvSpPr txBox="1"/>
          <p:nvPr/>
        </p:nvSpPr>
        <p:spPr>
          <a:xfrm>
            <a:off x="619985" y="3989100"/>
            <a:ext cx="5376067" cy="2308324"/>
          </a:xfrm>
          <a:prstGeom prst="rect">
            <a:avLst/>
          </a:prstGeom>
          <a:noFill/>
        </p:spPr>
        <p:txBody>
          <a:bodyPr wrap="square" rtlCol="0">
            <a:spAutoFit/>
          </a:bodyPr>
          <a:lstStyle/>
          <a:p>
            <a:pPr marL="285750" indent="-285750">
              <a:buFont typeface="Arial" panose="020B0604020202020204" pitchFamily="34" charset="0"/>
              <a:buChar char="•"/>
            </a:pPr>
            <a:r>
              <a:rPr lang="en-GB" dirty="0"/>
              <a:t>Individuals with a lower bacterial gene richness were characterized by more marked overall adiposity, insulin resistance and dyslipidaemia and a more pronounced inflammatory phenotype</a:t>
            </a:r>
          </a:p>
          <a:p>
            <a:pPr marL="285750" indent="-285750">
              <a:buFont typeface="Arial" panose="020B0604020202020204" pitchFamily="34" charset="0"/>
              <a:buChar char="•"/>
            </a:pPr>
            <a:endParaRPr lang="en-DK" dirty="0"/>
          </a:p>
          <a:p>
            <a:pPr marL="285750" indent="-285750">
              <a:buFont typeface="Arial" panose="020B0604020202020204" pitchFamily="34" charset="0"/>
              <a:buChar char="•"/>
            </a:pPr>
            <a:r>
              <a:rPr lang="en-DK" dirty="0"/>
              <a:t>Individuals with lower number of genes (gene richness) and higher BMI had less efficient weight loss when following a diet</a:t>
            </a:r>
          </a:p>
        </p:txBody>
      </p:sp>
    </p:spTree>
    <p:extLst>
      <p:ext uri="{BB962C8B-B14F-4D97-AF65-F5344CB8AC3E}">
        <p14:creationId xmlns:p14="http://schemas.microsoft.com/office/powerpoint/2010/main" val="2622805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4CC7-2CE8-32A5-4893-C78B53CD8DA9}"/>
              </a:ext>
            </a:extLst>
          </p:cNvPr>
          <p:cNvSpPr>
            <a:spLocks noGrp="1"/>
          </p:cNvSpPr>
          <p:nvPr>
            <p:ph type="title"/>
          </p:nvPr>
        </p:nvSpPr>
        <p:spPr/>
        <p:txBody>
          <a:bodyPr/>
          <a:lstStyle/>
          <a:p>
            <a:r>
              <a:rPr lang="en-DK" dirty="0"/>
              <a:t>Fecal material transplantation (FMT) as experimental cure for </a:t>
            </a:r>
            <a:r>
              <a:rPr lang="en-DK" i="1" dirty="0"/>
              <a:t>Clostridioides difficile</a:t>
            </a:r>
          </a:p>
        </p:txBody>
      </p:sp>
      <p:pic>
        <p:nvPicPr>
          <p:cNvPr id="5" name="Content Placeholder 4" descr="A screenshot of a medical website&#10;&#10;AI-generated content may be incorrect.">
            <a:extLst>
              <a:ext uri="{FF2B5EF4-FFF2-40B4-BE49-F238E27FC236}">
                <a16:creationId xmlns:a16="http://schemas.microsoft.com/office/drawing/2014/main" id="{5084CE9B-1F08-C3AD-2799-E715AA58892B}"/>
              </a:ext>
            </a:extLst>
          </p:cNvPr>
          <p:cNvPicPr>
            <a:picLocks noGrp="1" noChangeAspect="1"/>
          </p:cNvPicPr>
          <p:nvPr>
            <p:ph idx="1"/>
          </p:nvPr>
        </p:nvPicPr>
        <p:blipFill>
          <a:blip r:embed="rId3"/>
          <a:stretch>
            <a:fillRect/>
          </a:stretch>
        </p:blipFill>
        <p:spPr>
          <a:xfrm>
            <a:off x="474601" y="2374470"/>
            <a:ext cx="3185219" cy="1460207"/>
          </a:xfrm>
        </p:spPr>
      </p:pic>
      <p:pic>
        <p:nvPicPr>
          <p:cNvPr id="7" name="Picture 6" descr="A graph of a number of patients with numbers&#10;&#10;AI-generated content may be incorrect.">
            <a:extLst>
              <a:ext uri="{FF2B5EF4-FFF2-40B4-BE49-F238E27FC236}">
                <a16:creationId xmlns:a16="http://schemas.microsoft.com/office/drawing/2014/main" id="{D9C7ACFB-8951-2C6C-3B10-5885E6C5EE3B}"/>
              </a:ext>
            </a:extLst>
          </p:cNvPr>
          <p:cNvPicPr>
            <a:picLocks noChangeAspect="1"/>
          </p:cNvPicPr>
          <p:nvPr/>
        </p:nvPicPr>
        <p:blipFill>
          <a:blip r:embed="rId4"/>
          <a:stretch>
            <a:fillRect/>
          </a:stretch>
        </p:blipFill>
        <p:spPr>
          <a:xfrm>
            <a:off x="3765251" y="1596849"/>
            <a:ext cx="4556702" cy="3926640"/>
          </a:xfrm>
          <a:prstGeom prst="rect">
            <a:avLst/>
          </a:prstGeom>
        </p:spPr>
      </p:pic>
      <p:sp>
        <p:nvSpPr>
          <p:cNvPr id="8" name="TextBox 7">
            <a:extLst>
              <a:ext uri="{FF2B5EF4-FFF2-40B4-BE49-F238E27FC236}">
                <a16:creationId xmlns:a16="http://schemas.microsoft.com/office/drawing/2014/main" id="{02855226-B87D-B4B4-E950-DAFD87A168D8}"/>
              </a:ext>
            </a:extLst>
          </p:cNvPr>
          <p:cNvSpPr txBox="1"/>
          <p:nvPr/>
        </p:nvSpPr>
        <p:spPr>
          <a:xfrm>
            <a:off x="605181" y="3913206"/>
            <a:ext cx="3054639" cy="369332"/>
          </a:xfrm>
          <a:prstGeom prst="rect">
            <a:avLst/>
          </a:prstGeom>
          <a:noFill/>
        </p:spPr>
        <p:txBody>
          <a:bodyPr wrap="square" rtlCol="0">
            <a:spAutoFit/>
          </a:bodyPr>
          <a:lstStyle/>
          <a:p>
            <a:r>
              <a:rPr lang="en-GB" u="sng" dirty="0">
                <a:hlinkClick r:id="rId5"/>
              </a:rPr>
              <a:t>10.1056/NEJMoa1205037</a:t>
            </a:r>
            <a:endParaRPr lang="en-GB" dirty="0"/>
          </a:p>
        </p:txBody>
      </p:sp>
      <p:pic>
        <p:nvPicPr>
          <p:cNvPr id="10" name="Picture 9" descr="A graph of a patient&#10;&#10;AI-generated content may be incorrect.">
            <a:extLst>
              <a:ext uri="{FF2B5EF4-FFF2-40B4-BE49-F238E27FC236}">
                <a16:creationId xmlns:a16="http://schemas.microsoft.com/office/drawing/2014/main" id="{761B5B3A-85AB-D960-446A-12B5878C7E72}"/>
              </a:ext>
            </a:extLst>
          </p:cNvPr>
          <p:cNvPicPr>
            <a:picLocks noChangeAspect="1"/>
          </p:cNvPicPr>
          <p:nvPr/>
        </p:nvPicPr>
        <p:blipFill>
          <a:blip r:embed="rId6"/>
          <a:stretch>
            <a:fillRect/>
          </a:stretch>
        </p:blipFill>
        <p:spPr>
          <a:xfrm>
            <a:off x="8427385" y="2374470"/>
            <a:ext cx="3407942" cy="2924790"/>
          </a:xfrm>
          <a:prstGeom prst="rect">
            <a:avLst/>
          </a:prstGeom>
        </p:spPr>
      </p:pic>
      <p:sp>
        <p:nvSpPr>
          <p:cNvPr id="11" name="TextBox 10">
            <a:extLst>
              <a:ext uri="{FF2B5EF4-FFF2-40B4-BE49-F238E27FC236}">
                <a16:creationId xmlns:a16="http://schemas.microsoft.com/office/drawing/2014/main" id="{41E37838-3975-4D28-1A1C-6452607A9132}"/>
              </a:ext>
            </a:extLst>
          </p:cNvPr>
          <p:cNvSpPr txBox="1"/>
          <p:nvPr/>
        </p:nvSpPr>
        <p:spPr>
          <a:xfrm>
            <a:off x="4158343" y="5607106"/>
            <a:ext cx="4556702" cy="1200329"/>
          </a:xfrm>
          <a:prstGeom prst="rect">
            <a:avLst/>
          </a:prstGeom>
          <a:noFill/>
        </p:spPr>
        <p:txBody>
          <a:bodyPr wrap="square" rtlCol="0">
            <a:spAutoFit/>
          </a:bodyPr>
          <a:lstStyle/>
          <a:p>
            <a:r>
              <a:rPr lang="en-DK" dirty="0"/>
              <a:t>FMT succesfully used to cure </a:t>
            </a:r>
            <a:r>
              <a:rPr lang="en-DK" i="1" dirty="0"/>
              <a:t>Clostridioides difficile  </a:t>
            </a:r>
            <a:r>
              <a:rPr lang="en-DK" dirty="0"/>
              <a:t>infection with higher percentages of cured patients without relapse compared to the standard treatment (vancomycin)</a:t>
            </a:r>
          </a:p>
        </p:txBody>
      </p:sp>
      <p:sp>
        <p:nvSpPr>
          <p:cNvPr id="12" name="TextBox 11">
            <a:extLst>
              <a:ext uri="{FF2B5EF4-FFF2-40B4-BE49-F238E27FC236}">
                <a16:creationId xmlns:a16="http://schemas.microsoft.com/office/drawing/2014/main" id="{D9E8C210-F592-849E-A013-3E74A7C119F5}"/>
              </a:ext>
            </a:extLst>
          </p:cNvPr>
          <p:cNvSpPr txBox="1"/>
          <p:nvPr/>
        </p:nvSpPr>
        <p:spPr>
          <a:xfrm>
            <a:off x="9015206" y="5607106"/>
            <a:ext cx="3124921" cy="923330"/>
          </a:xfrm>
          <a:prstGeom prst="rect">
            <a:avLst/>
          </a:prstGeom>
          <a:noFill/>
        </p:spPr>
        <p:txBody>
          <a:bodyPr wrap="square" rtlCol="0">
            <a:spAutoFit/>
          </a:bodyPr>
          <a:lstStyle/>
          <a:p>
            <a:r>
              <a:rPr lang="en-DK" dirty="0"/>
              <a:t>Diversity (Simpson’s index) of patients after FMT resemble more the donors diversity</a:t>
            </a:r>
          </a:p>
        </p:txBody>
      </p:sp>
    </p:spTree>
    <p:extLst>
      <p:ext uri="{BB962C8B-B14F-4D97-AF65-F5344CB8AC3E}">
        <p14:creationId xmlns:p14="http://schemas.microsoft.com/office/powerpoint/2010/main" val="2330305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13B96-5008-5F99-6813-445BD2BD57FC}"/>
              </a:ext>
            </a:extLst>
          </p:cNvPr>
          <p:cNvSpPr>
            <a:spLocks noGrp="1"/>
          </p:cNvSpPr>
          <p:nvPr>
            <p:ph type="title"/>
          </p:nvPr>
        </p:nvSpPr>
        <p:spPr/>
        <p:txBody>
          <a:bodyPr/>
          <a:lstStyle/>
          <a:p>
            <a:endParaRPr lang="en-DK"/>
          </a:p>
        </p:txBody>
      </p:sp>
      <p:pic>
        <p:nvPicPr>
          <p:cNvPr id="3074" name="Picture 2" descr="Fig. 2">
            <a:extLst>
              <a:ext uri="{FF2B5EF4-FFF2-40B4-BE49-F238E27FC236}">
                <a16:creationId xmlns:a16="http://schemas.microsoft.com/office/drawing/2014/main" id="{0423E12F-3F0C-705D-386D-F1F51191DC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38" y="0"/>
            <a:ext cx="107775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941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65729-C95C-00A9-7425-5E822A93EC01}"/>
              </a:ext>
            </a:extLst>
          </p:cNvPr>
          <p:cNvSpPr>
            <a:spLocks noGrp="1"/>
          </p:cNvSpPr>
          <p:nvPr>
            <p:ph type="title"/>
          </p:nvPr>
        </p:nvSpPr>
        <p:spPr>
          <a:xfrm>
            <a:off x="644233" y="226575"/>
            <a:ext cx="11281066" cy="1325563"/>
          </a:xfrm>
        </p:spPr>
        <p:txBody>
          <a:bodyPr/>
          <a:lstStyle/>
          <a:p>
            <a:r>
              <a:rPr lang="en-GB" dirty="0"/>
              <a:t>Resident gut bacteria can affect patient responses to cancer immunotherapy</a:t>
            </a:r>
          </a:p>
        </p:txBody>
      </p:sp>
      <p:sp>
        <p:nvSpPr>
          <p:cNvPr id="4" name="TextBox 3">
            <a:extLst>
              <a:ext uri="{FF2B5EF4-FFF2-40B4-BE49-F238E27FC236}">
                <a16:creationId xmlns:a16="http://schemas.microsoft.com/office/drawing/2014/main" id="{3868CD8A-668D-E242-B665-02B8187758F8}"/>
              </a:ext>
            </a:extLst>
          </p:cNvPr>
          <p:cNvSpPr txBox="1"/>
          <p:nvPr/>
        </p:nvSpPr>
        <p:spPr>
          <a:xfrm>
            <a:off x="6381751" y="1717105"/>
            <a:ext cx="5463889" cy="5078313"/>
          </a:xfrm>
          <a:prstGeom prst="rect">
            <a:avLst/>
          </a:prstGeom>
          <a:noFill/>
        </p:spPr>
        <p:txBody>
          <a:bodyPr wrap="square" rtlCol="0">
            <a:spAutoFit/>
          </a:bodyPr>
          <a:lstStyle/>
          <a:p>
            <a:r>
              <a:rPr lang="en-GB" dirty="0"/>
              <a:t>In a series of back-to-back papers in Science:</a:t>
            </a:r>
          </a:p>
          <a:p>
            <a:pPr marL="742950" lvl="1" indent="-285750">
              <a:buFont typeface="Arial" panose="020B0604020202020204" pitchFamily="34" charset="0"/>
              <a:buChar char="•"/>
            </a:pPr>
            <a:r>
              <a:rPr lang="en-GB" dirty="0" err="1"/>
              <a:t>Routy</a:t>
            </a:r>
            <a:r>
              <a:rPr lang="en-GB" dirty="0"/>
              <a:t> et al. showed that </a:t>
            </a:r>
            <a:r>
              <a:rPr lang="en-GB" dirty="0" err="1"/>
              <a:t>abx</a:t>
            </a:r>
            <a:r>
              <a:rPr lang="en-GB" dirty="0"/>
              <a:t> consumption --&gt; poor response to cancer immunotherapy (immunotherapeutic PD1 blockade)</a:t>
            </a:r>
          </a:p>
          <a:p>
            <a:pPr marL="742950" lvl="1" indent="-285750">
              <a:buFont typeface="Arial" panose="020B0604020202020204" pitchFamily="34" charset="0"/>
              <a:buChar char="•"/>
            </a:pPr>
            <a:r>
              <a:rPr lang="en-GB" dirty="0"/>
              <a:t>Low levels of </a:t>
            </a:r>
            <a:r>
              <a:rPr lang="en-GB" i="1" dirty="0" err="1"/>
              <a:t>Akkermansia</a:t>
            </a:r>
            <a:r>
              <a:rPr lang="en-GB" i="1" dirty="0"/>
              <a:t> </a:t>
            </a:r>
            <a:r>
              <a:rPr lang="en-GB" i="1" dirty="0" err="1"/>
              <a:t>muciniphila</a:t>
            </a:r>
            <a:r>
              <a:rPr lang="en-GB" i="1" dirty="0"/>
              <a:t> </a:t>
            </a:r>
            <a:r>
              <a:rPr lang="en-GB" dirty="0"/>
              <a:t>in lung and kidney cancer patients </a:t>
            </a:r>
            <a:r>
              <a:rPr lang="en-GB" dirty="0">
                <a:sym typeface="Wingdings" pitchFamily="2" charset="2"/>
              </a:rPr>
              <a:t> oral supplementation of this bacteria to </a:t>
            </a:r>
            <a:r>
              <a:rPr lang="en-GB" dirty="0" err="1">
                <a:sym typeface="Wingdings" pitchFamily="2" charset="2"/>
              </a:rPr>
              <a:t>abx</a:t>
            </a:r>
            <a:r>
              <a:rPr lang="en-GB" dirty="0">
                <a:sym typeface="Wingdings" pitchFamily="2" charset="2"/>
              </a:rPr>
              <a:t>-treated mice restored response to immunotherapy</a:t>
            </a:r>
          </a:p>
          <a:p>
            <a:pPr marL="742950" lvl="1" indent="-285750">
              <a:buFont typeface="Arial" panose="020B0604020202020204" pitchFamily="34" charset="0"/>
              <a:buChar char="•"/>
            </a:pPr>
            <a:r>
              <a:rPr lang="en-GB" dirty="0"/>
              <a:t>Matson </a:t>
            </a:r>
            <a:r>
              <a:rPr lang="en-GB" i="1" dirty="0"/>
              <a:t>et al.</a:t>
            </a:r>
            <a:r>
              <a:rPr lang="en-GB" dirty="0"/>
              <a:t> and Gopalakrishnan </a:t>
            </a:r>
            <a:r>
              <a:rPr lang="en-GB" i="1" dirty="0"/>
              <a:t>et al.</a:t>
            </a:r>
            <a:r>
              <a:rPr lang="en-GB" dirty="0"/>
              <a:t> studied melanoma patients receiving PD-1 blockade and found a greater abundance of “good” bacteria in the guts of responding patients. </a:t>
            </a:r>
          </a:p>
          <a:p>
            <a:pPr marL="742950" lvl="1" indent="-285750">
              <a:buFont typeface="Arial" panose="020B0604020202020204" pitchFamily="34" charset="0"/>
              <a:buChar char="•"/>
            </a:pPr>
            <a:r>
              <a:rPr lang="en-GB" dirty="0"/>
              <a:t>Non-responders had an imbalance in gut flora composition, which correlated with impaired immune cell activity.</a:t>
            </a:r>
          </a:p>
          <a:p>
            <a:r>
              <a:rPr lang="en-GB" dirty="0"/>
              <a:t>	</a:t>
            </a:r>
            <a:endParaRPr lang="en-DK" dirty="0"/>
          </a:p>
        </p:txBody>
      </p:sp>
      <p:pic>
        <p:nvPicPr>
          <p:cNvPr id="6" name="Picture 5" descr="A screenshot of a computer&#10;&#10;AI-generated content may be incorrect.">
            <a:extLst>
              <a:ext uri="{FF2B5EF4-FFF2-40B4-BE49-F238E27FC236}">
                <a16:creationId xmlns:a16="http://schemas.microsoft.com/office/drawing/2014/main" id="{6748D2F5-0801-40F6-BD03-9352E59FC1D6}"/>
              </a:ext>
            </a:extLst>
          </p:cNvPr>
          <p:cNvPicPr>
            <a:picLocks noChangeAspect="1"/>
          </p:cNvPicPr>
          <p:nvPr/>
        </p:nvPicPr>
        <p:blipFill>
          <a:blip r:embed="rId3"/>
          <a:stretch>
            <a:fillRect/>
          </a:stretch>
        </p:blipFill>
        <p:spPr>
          <a:xfrm>
            <a:off x="644233" y="1446644"/>
            <a:ext cx="5683423" cy="1655911"/>
          </a:xfrm>
          <a:prstGeom prst="rect">
            <a:avLst/>
          </a:prstGeom>
        </p:spPr>
      </p:pic>
      <p:pic>
        <p:nvPicPr>
          <p:cNvPr id="8" name="Picture 7" descr="A screenshot of a cell phone&#10;&#10;AI-generated content may be incorrect.">
            <a:extLst>
              <a:ext uri="{FF2B5EF4-FFF2-40B4-BE49-F238E27FC236}">
                <a16:creationId xmlns:a16="http://schemas.microsoft.com/office/drawing/2014/main" id="{133EE286-EA2C-AE96-82A0-CA5C039CEAD5}"/>
              </a:ext>
            </a:extLst>
          </p:cNvPr>
          <p:cNvPicPr>
            <a:picLocks noChangeAspect="1"/>
          </p:cNvPicPr>
          <p:nvPr/>
        </p:nvPicPr>
        <p:blipFill>
          <a:blip r:embed="rId4"/>
          <a:stretch>
            <a:fillRect/>
          </a:stretch>
        </p:blipFill>
        <p:spPr>
          <a:xfrm>
            <a:off x="644233" y="3127640"/>
            <a:ext cx="5669391" cy="1641878"/>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4D5D29BC-F6ED-DBB3-6F06-C0FDE9F6C827}"/>
              </a:ext>
            </a:extLst>
          </p:cNvPr>
          <p:cNvPicPr>
            <a:picLocks noChangeAspect="1"/>
          </p:cNvPicPr>
          <p:nvPr/>
        </p:nvPicPr>
        <p:blipFill>
          <a:blip r:embed="rId5"/>
          <a:stretch>
            <a:fillRect/>
          </a:stretch>
        </p:blipFill>
        <p:spPr>
          <a:xfrm>
            <a:off x="644233" y="4795935"/>
            <a:ext cx="5655359" cy="1613812"/>
          </a:xfrm>
          <a:prstGeom prst="rect">
            <a:avLst/>
          </a:prstGeom>
        </p:spPr>
      </p:pic>
      <p:sp>
        <p:nvSpPr>
          <p:cNvPr id="11" name="TextBox 10">
            <a:extLst>
              <a:ext uri="{FF2B5EF4-FFF2-40B4-BE49-F238E27FC236}">
                <a16:creationId xmlns:a16="http://schemas.microsoft.com/office/drawing/2014/main" id="{B43A9A99-6B19-25D5-02A5-2C39F7FAC4D6}"/>
              </a:ext>
            </a:extLst>
          </p:cNvPr>
          <p:cNvSpPr txBox="1"/>
          <p:nvPr/>
        </p:nvSpPr>
        <p:spPr>
          <a:xfrm>
            <a:off x="3741949" y="6122252"/>
            <a:ext cx="2633131" cy="307777"/>
          </a:xfrm>
          <a:prstGeom prst="rect">
            <a:avLst/>
          </a:prstGeom>
          <a:noFill/>
        </p:spPr>
        <p:txBody>
          <a:bodyPr wrap="square" rtlCol="0">
            <a:spAutoFit/>
          </a:bodyPr>
          <a:lstStyle/>
          <a:p>
            <a:r>
              <a:rPr lang="en-GB" sz="1400" dirty="0">
                <a:hlinkClick r:id="rId6"/>
              </a:rPr>
              <a:t>DOI: 10.1126/science.aan4236</a:t>
            </a:r>
            <a:endParaRPr lang="en-DK" sz="1400" dirty="0"/>
          </a:p>
        </p:txBody>
      </p:sp>
      <p:sp>
        <p:nvSpPr>
          <p:cNvPr id="12" name="TextBox 11">
            <a:extLst>
              <a:ext uri="{FF2B5EF4-FFF2-40B4-BE49-F238E27FC236}">
                <a16:creationId xmlns:a16="http://schemas.microsoft.com/office/drawing/2014/main" id="{008ECBDF-E4D6-3199-95EE-E6457829A05F}"/>
              </a:ext>
            </a:extLst>
          </p:cNvPr>
          <p:cNvSpPr txBox="1"/>
          <p:nvPr/>
        </p:nvSpPr>
        <p:spPr>
          <a:xfrm>
            <a:off x="3741949" y="4484154"/>
            <a:ext cx="2585708" cy="307777"/>
          </a:xfrm>
          <a:prstGeom prst="rect">
            <a:avLst/>
          </a:prstGeom>
          <a:noFill/>
        </p:spPr>
        <p:txBody>
          <a:bodyPr wrap="none" rtlCol="0">
            <a:spAutoFit/>
          </a:bodyPr>
          <a:lstStyle/>
          <a:p>
            <a:r>
              <a:rPr lang="en-GB" sz="1400" dirty="0">
                <a:hlinkClick r:id="rId7"/>
              </a:rPr>
              <a:t>DOI: 10.1126/science.aao3290</a:t>
            </a:r>
            <a:endParaRPr lang="en-DK" sz="1400" dirty="0"/>
          </a:p>
        </p:txBody>
      </p:sp>
      <p:sp>
        <p:nvSpPr>
          <p:cNvPr id="13" name="TextBox 12">
            <a:extLst>
              <a:ext uri="{FF2B5EF4-FFF2-40B4-BE49-F238E27FC236}">
                <a16:creationId xmlns:a16="http://schemas.microsoft.com/office/drawing/2014/main" id="{44BBA3BE-BBEF-FEAA-F968-C6E54E2EBB37}"/>
              </a:ext>
            </a:extLst>
          </p:cNvPr>
          <p:cNvSpPr txBox="1"/>
          <p:nvPr/>
        </p:nvSpPr>
        <p:spPr>
          <a:xfrm>
            <a:off x="3741949" y="2804491"/>
            <a:ext cx="2585707" cy="307777"/>
          </a:xfrm>
          <a:prstGeom prst="rect">
            <a:avLst/>
          </a:prstGeom>
          <a:noFill/>
        </p:spPr>
        <p:txBody>
          <a:bodyPr wrap="square" rtlCol="0">
            <a:spAutoFit/>
          </a:bodyPr>
          <a:lstStyle/>
          <a:p>
            <a:r>
              <a:rPr lang="en-GB" sz="1400" u="sng" dirty="0">
                <a:hlinkClick r:id="rId8"/>
              </a:rPr>
              <a:t>DOI: 10.1126/science.aan3706</a:t>
            </a:r>
            <a:endParaRPr lang="en-DK" sz="1400" dirty="0"/>
          </a:p>
        </p:txBody>
      </p:sp>
    </p:spTree>
    <p:extLst>
      <p:ext uri="{BB962C8B-B14F-4D97-AF65-F5344CB8AC3E}">
        <p14:creationId xmlns:p14="http://schemas.microsoft.com/office/powerpoint/2010/main" val="4045354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C260B-763F-7627-417F-691E3D5426E6}"/>
              </a:ext>
            </a:extLst>
          </p:cNvPr>
          <p:cNvSpPr>
            <a:spLocks noGrp="1"/>
          </p:cNvSpPr>
          <p:nvPr>
            <p:ph type="title"/>
          </p:nvPr>
        </p:nvSpPr>
        <p:spPr>
          <a:xfrm>
            <a:off x="767200" y="0"/>
            <a:ext cx="9366193" cy="1039488"/>
          </a:xfrm>
        </p:spPr>
        <p:txBody>
          <a:bodyPr>
            <a:normAutofit/>
          </a:bodyPr>
          <a:lstStyle/>
          <a:p>
            <a:r>
              <a:rPr lang="en-DK" dirty="0"/>
              <a:t>A genomic catalog of Earth’s microbiome</a:t>
            </a:r>
          </a:p>
        </p:txBody>
      </p:sp>
      <p:pic>
        <p:nvPicPr>
          <p:cNvPr id="5" name="Picture 4" descr="A screenshot of a website&#10;&#10;AI-generated content may be incorrect.">
            <a:extLst>
              <a:ext uri="{FF2B5EF4-FFF2-40B4-BE49-F238E27FC236}">
                <a16:creationId xmlns:a16="http://schemas.microsoft.com/office/drawing/2014/main" id="{9D285B95-9764-D8E8-20C6-3F1A7655FAB7}"/>
              </a:ext>
            </a:extLst>
          </p:cNvPr>
          <p:cNvPicPr>
            <a:picLocks noChangeAspect="1"/>
          </p:cNvPicPr>
          <p:nvPr/>
        </p:nvPicPr>
        <p:blipFill>
          <a:blip r:embed="rId3"/>
          <a:stretch>
            <a:fillRect/>
          </a:stretch>
        </p:blipFill>
        <p:spPr>
          <a:xfrm>
            <a:off x="767200" y="1071707"/>
            <a:ext cx="4851400" cy="1638300"/>
          </a:xfrm>
          <a:prstGeom prst="rect">
            <a:avLst/>
          </a:prstGeom>
        </p:spPr>
      </p:pic>
      <p:pic>
        <p:nvPicPr>
          <p:cNvPr id="7170" name="Picture 2" descr="Fig. 1">
            <a:extLst>
              <a:ext uri="{FF2B5EF4-FFF2-40B4-BE49-F238E27FC236}">
                <a16:creationId xmlns:a16="http://schemas.microsoft.com/office/drawing/2014/main" id="{DA43104C-61A9-C889-A689-EA4ECC23E7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8334" y="2850368"/>
            <a:ext cx="9082818" cy="39406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568068E-3436-504C-013B-AA9EF859B544}"/>
              </a:ext>
            </a:extLst>
          </p:cNvPr>
          <p:cNvSpPr txBox="1"/>
          <p:nvPr/>
        </p:nvSpPr>
        <p:spPr>
          <a:xfrm>
            <a:off x="6937091" y="6481594"/>
            <a:ext cx="3532909" cy="309393"/>
          </a:xfrm>
          <a:prstGeom prst="rect">
            <a:avLst/>
          </a:prstGeom>
          <a:noFill/>
        </p:spPr>
        <p:txBody>
          <a:bodyPr wrap="square">
            <a:spAutoFit/>
          </a:bodyPr>
          <a:lstStyle/>
          <a:p>
            <a:r>
              <a:rPr lang="en-GB" sz="1400" b="0" i="0" dirty="0">
                <a:solidFill>
                  <a:srgbClr val="222222"/>
                </a:solidFill>
                <a:effectLst/>
                <a:latin typeface="-apple-system"/>
                <a:hlinkClick r:id="rId5"/>
              </a:rPr>
              <a:t>https://doi.org/10.1038/s41587-020-0718-6</a:t>
            </a:r>
            <a:endParaRPr lang="en-GB" sz="1400" b="0" i="0" dirty="0">
              <a:solidFill>
                <a:srgbClr val="222222"/>
              </a:solidFill>
              <a:effectLst/>
              <a:latin typeface="-apple-system"/>
            </a:endParaRPr>
          </a:p>
        </p:txBody>
      </p:sp>
      <p:sp>
        <p:nvSpPr>
          <p:cNvPr id="8" name="TextBox 7">
            <a:extLst>
              <a:ext uri="{FF2B5EF4-FFF2-40B4-BE49-F238E27FC236}">
                <a16:creationId xmlns:a16="http://schemas.microsoft.com/office/drawing/2014/main" id="{3B6632BB-E2AA-0CE7-B7AA-D72251487ACC}"/>
              </a:ext>
            </a:extLst>
          </p:cNvPr>
          <p:cNvSpPr txBox="1"/>
          <p:nvPr/>
        </p:nvSpPr>
        <p:spPr>
          <a:xfrm>
            <a:off x="5846617" y="901146"/>
            <a:ext cx="6040583" cy="2308324"/>
          </a:xfrm>
          <a:prstGeom prst="rect">
            <a:avLst/>
          </a:prstGeom>
          <a:noFill/>
        </p:spPr>
        <p:txBody>
          <a:bodyPr wrap="square" rtlCol="0">
            <a:spAutoFit/>
          </a:bodyPr>
          <a:lstStyle/>
          <a:p>
            <a:pPr marL="285750" indent="-285750">
              <a:buFont typeface="Arial" panose="020B0604020202020204" pitchFamily="34" charset="0"/>
              <a:buChar char="•"/>
            </a:pPr>
            <a:r>
              <a:rPr lang="en-GB" sz="1600" dirty="0"/>
              <a:t>&gt;10,000 metagenomes collected from diverse habitats </a:t>
            </a:r>
            <a:r>
              <a:rPr lang="en-DK" sz="1600" dirty="0"/>
              <a:t>comprising host associated, aquatic, terrestrials, air and engineered microbiomes</a:t>
            </a:r>
            <a:endParaRPr lang="en-GB" sz="1600" dirty="0"/>
          </a:p>
          <a:p>
            <a:pPr marL="285750" indent="-285750">
              <a:buFont typeface="Arial" panose="020B0604020202020204" pitchFamily="34" charset="0"/>
              <a:buChar char="•"/>
            </a:pPr>
            <a:r>
              <a:rPr lang="en-GB" sz="1600" dirty="0"/>
              <a:t>52,515 metagenome-assembled genomes representing 12,556 novel candidate species from 135 different phyla</a:t>
            </a:r>
          </a:p>
          <a:p>
            <a:pPr marL="285750" indent="-285750">
              <a:buFont typeface="Arial" panose="020B0604020202020204" pitchFamily="34" charset="0"/>
              <a:buChar char="•"/>
            </a:pPr>
            <a:r>
              <a:rPr lang="en-GB" sz="1600" dirty="0"/>
              <a:t>The </a:t>
            </a:r>
            <a:r>
              <a:rPr lang="en-GB" sz="1600" dirty="0" err="1"/>
              <a:t>catalog</a:t>
            </a:r>
            <a:r>
              <a:rPr lang="en-GB" sz="1600" dirty="0"/>
              <a:t> allows metabolic modelling, understanding secondary-metabolite biosynthetic potential and resolving thousands of new host linkages to uncultivated viruses</a:t>
            </a:r>
          </a:p>
          <a:p>
            <a:pPr marL="285750" indent="-285750">
              <a:buFont typeface="Arial" panose="020B0604020202020204" pitchFamily="34" charset="0"/>
              <a:buChar char="•"/>
            </a:pPr>
            <a:endParaRPr lang="en-DK" sz="1600" dirty="0"/>
          </a:p>
        </p:txBody>
      </p:sp>
    </p:spTree>
    <p:extLst>
      <p:ext uri="{BB962C8B-B14F-4D97-AF65-F5344CB8AC3E}">
        <p14:creationId xmlns:p14="http://schemas.microsoft.com/office/powerpoint/2010/main" val="1734766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82AB-8865-2DAB-B6FC-E0504B920FBF}"/>
              </a:ext>
            </a:extLst>
          </p:cNvPr>
          <p:cNvSpPr>
            <a:spLocks noGrp="1"/>
          </p:cNvSpPr>
          <p:nvPr>
            <p:ph type="title"/>
          </p:nvPr>
        </p:nvSpPr>
        <p:spPr>
          <a:xfrm>
            <a:off x="279506" y="208075"/>
            <a:ext cx="11912494" cy="1325563"/>
          </a:xfrm>
        </p:spPr>
        <p:txBody>
          <a:bodyPr>
            <a:normAutofit fontScale="90000"/>
          </a:bodyPr>
          <a:lstStyle/>
          <a:p>
            <a:r>
              <a:rPr lang="en-GB" dirty="0"/>
              <a:t>Antimicrobial resistance is a major threat to global health!</a:t>
            </a:r>
            <a:br>
              <a:rPr lang="en-GB" dirty="0"/>
            </a:br>
            <a:endParaRPr lang="en-DK" dirty="0"/>
          </a:p>
        </p:txBody>
      </p:sp>
      <p:pic>
        <p:nvPicPr>
          <p:cNvPr id="5122" name="Picture 2" descr="Fig. 1">
            <a:extLst>
              <a:ext uri="{FF2B5EF4-FFF2-40B4-BE49-F238E27FC236}">
                <a16:creationId xmlns:a16="http://schemas.microsoft.com/office/drawing/2014/main" id="{306129E8-681B-BC84-9D69-1CF02F872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252" y="968828"/>
            <a:ext cx="6351019" cy="54675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screenshot of a web page&#10;&#10;AI-generated content may be incorrect.">
            <a:extLst>
              <a:ext uri="{FF2B5EF4-FFF2-40B4-BE49-F238E27FC236}">
                <a16:creationId xmlns:a16="http://schemas.microsoft.com/office/drawing/2014/main" id="{D7ED1C8A-6016-3DF2-C87A-BE889D218625}"/>
              </a:ext>
            </a:extLst>
          </p:cNvPr>
          <p:cNvPicPr>
            <a:picLocks noChangeAspect="1"/>
          </p:cNvPicPr>
          <p:nvPr/>
        </p:nvPicPr>
        <p:blipFill>
          <a:blip r:embed="rId4"/>
          <a:stretch>
            <a:fillRect/>
          </a:stretch>
        </p:blipFill>
        <p:spPr>
          <a:xfrm>
            <a:off x="393729" y="1329717"/>
            <a:ext cx="4876800" cy="1676400"/>
          </a:xfrm>
          <a:prstGeom prst="rect">
            <a:avLst/>
          </a:prstGeom>
        </p:spPr>
      </p:pic>
      <p:sp>
        <p:nvSpPr>
          <p:cNvPr id="6" name="TextBox 5">
            <a:extLst>
              <a:ext uri="{FF2B5EF4-FFF2-40B4-BE49-F238E27FC236}">
                <a16:creationId xmlns:a16="http://schemas.microsoft.com/office/drawing/2014/main" id="{D7A9C659-EEBF-D504-D95B-EE85BAC79B54}"/>
              </a:ext>
            </a:extLst>
          </p:cNvPr>
          <p:cNvSpPr txBox="1"/>
          <p:nvPr/>
        </p:nvSpPr>
        <p:spPr>
          <a:xfrm>
            <a:off x="684675" y="3006117"/>
            <a:ext cx="3502785" cy="523220"/>
          </a:xfrm>
          <a:prstGeom prst="rect">
            <a:avLst/>
          </a:prstGeom>
          <a:noFill/>
        </p:spPr>
        <p:txBody>
          <a:bodyPr wrap="square">
            <a:spAutoFit/>
          </a:bodyPr>
          <a:lstStyle/>
          <a:p>
            <a:r>
              <a:rPr lang="en-GB" sz="1400" b="0" i="0" dirty="0">
                <a:solidFill>
                  <a:srgbClr val="222222"/>
                </a:solidFill>
                <a:effectLst/>
                <a:latin typeface="-apple-system"/>
                <a:hlinkClick r:id="rId5"/>
              </a:rPr>
              <a:t>https://doi.org/10.1038/s41467-022-34312-7</a:t>
            </a:r>
            <a:br>
              <a:rPr lang="en-GB" sz="1400" b="0" i="0" dirty="0">
                <a:solidFill>
                  <a:srgbClr val="222222"/>
                </a:solidFill>
                <a:effectLst/>
                <a:latin typeface="-apple-system"/>
              </a:rPr>
            </a:br>
            <a:endParaRPr lang="en-DK" sz="1400" dirty="0"/>
          </a:p>
        </p:txBody>
      </p:sp>
      <p:sp>
        <p:nvSpPr>
          <p:cNvPr id="7" name="TextBox 6">
            <a:extLst>
              <a:ext uri="{FF2B5EF4-FFF2-40B4-BE49-F238E27FC236}">
                <a16:creationId xmlns:a16="http://schemas.microsoft.com/office/drawing/2014/main" id="{2247C859-EE72-9B38-9A96-6BFAD4D3D326}"/>
              </a:ext>
            </a:extLst>
          </p:cNvPr>
          <p:cNvSpPr txBox="1"/>
          <p:nvPr/>
        </p:nvSpPr>
        <p:spPr>
          <a:xfrm>
            <a:off x="393729" y="3529337"/>
            <a:ext cx="4876800" cy="3046988"/>
          </a:xfrm>
          <a:prstGeom prst="rect">
            <a:avLst/>
          </a:prstGeom>
          <a:noFill/>
        </p:spPr>
        <p:txBody>
          <a:bodyPr wrap="square" rtlCol="0">
            <a:spAutoFit/>
          </a:bodyPr>
          <a:lstStyle/>
          <a:p>
            <a:pPr marL="285750" indent="-285750">
              <a:buFont typeface="Arial" panose="020B0604020202020204" pitchFamily="34" charset="0"/>
              <a:buChar char="•"/>
            </a:pPr>
            <a:r>
              <a:rPr lang="en-DK" sz="1600" dirty="0"/>
              <a:t>The global resistome based on sewage-based monitoring </a:t>
            </a:r>
          </a:p>
          <a:p>
            <a:pPr marL="285750" indent="-285750">
              <a:buFont typeface="Arial" panose="020B0604020202020204" pitchFamily="34" charset="0"/>
              <a:buChar char="•"/>
            </a:pPr>
            <a:endParaRPr lang="en-DK" sz="1600" dirty="0"/>
          </a:p>
          <a:p>
            <a:pPr marL="285750" indent="-285750">
              <a:buFont typeface="Arial" panose="020B0604020202020204" pitchFamily="34" charset="0"/>
              <a:buChar char="•"/>
            </a:pPr>
            <a:r>
              <a:rPr lang="en-GB" sz="1600" dirty="0"/>
              <a:t>Metagenomic samples revealed regional patterns reflecting taxonomical changes</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Understanding the emergence, evolution, and transmission of individual antibiotic resistance genes (ARGs) is essential to develop sustainable strategies to fight this threat</a:t>
            </a:r>
          </a:p>
          <a:p>
            <a:pPr marL="285750" indent="-285750">
              <a:buFont typeface="Arial" panose="020B0604020202020204" pitchFamily="34" charset="0"/>
              <a:buChar char="•"/>
            </a:pPr>
            <a:endParaRPr lang="en-GB" sz="1600" dirty="0"/>
          </a:p>
          <a:p>
            <a:endParaRPr lang="en-DK" sz="1600" dirty="0"/>
          </a:p>
        </p:txBody>
      </p:sp>
    </p:spTree>
    <p:extLst>
      <p:ext uri="{BB962C8B-B14F-4D97-AF65-F5344CB8AC3E}">
        <p14:creationId xmlns:p14="http://schemas.microsoft.com/office/powerpoint/2010/main" val="1180869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4085-86C7-2F25-2D73-C9FA77DAB732}"/>
              </a:ext>
            </a:extLst>
          </p:cNvPr>
          <p:cNvSpPr>
            <a:spLocks noGrp="1"/>
          </p:cNvSpPr>
          <p:nvPr>
            <p:ph type="title"/>
          </p:nvPr>
        </p:nvSpPr>
        <p:spPr>
          <a:xfrm>
            <a:off x="484909" y="365125"/>
            <a:ext cx="11360727" cy="1325563"/>
          </a:xfrm>
        </p:spPr>
        <p:txBody>
          <a:bodyPr/>
          <a:lstStyle/>
          <a:p>
            <a:r>
              <a:rPr lang="en-GB" dirty="0"/>
              <a:t>Microbial community at the Deepwater Horizon oil spill site</a:t>
            </a:r>
            <a:endParaRPr lang="en-DK" dirty="0"/>
          </a:p>
        </p:txBody>
      </p:sp>
      <p:pic>
        <p:nvPicPr>
          <p:cNvPr id="6" name="Picture 5" descr="A screenshot of a computer&#10;&#10;AI-generated content may be incorrect.">
            <a:extLst>
              <a:ext uri="{FF2B5EF4-FFF2-40B4-BE49-F238E27FC236}">
                <a16:creationId xmlns:a16="http://schemas.microsoft.com/office/drawing/2014/main" id="{9E790896-823C-8786-2894-EABA738E6F1F}"/>
              </a:ext>
            </a:extLst>
          </p:cNvPr>
          <p:cNvPicPr>
            <a:picLocks noChangeAspect="1"/>
          </p:cNvPicPr>
          <p:nvPr/>
        </p:nvPicPr>
        <p:blipFill>
          <a:blip r:embed="rId3"/>
          <a:stretch>
            <a:fillRect/>
          </a:stretch>
        </p:blipFill>
        <p:spPr>
          <a:xfrm>
            <a:off x="484909" y="1621413"/>
            <a:ext cx="4140200" cy="1524000"/>
          </a:xfrm>
          <a:prstGeom prst="rect">
            <a:avLst/>
          </a:prstGeom>
        </p:spPr>
      </p:pic>
      <p:sp>
        <p:nvSpPr>
          <p:cNvPr id="8" name="TextBox 7">
            <a:extLst>
              <a:ext uri="{FF2B5EF4-FFF2-40B4-BE49-F238E27FC236}">
                <a16:creationId xmlns:a16="http://schemas.microsoft.com/office/drawing/2014/main" id="{D1134BA2-29B6-32C4-4E9A-C56FC9F999ED}"/>
              </a:ext>
            </a:extLst>
          </p:cNvPr>
          <p:cNvSpPr txBox="1"/>
          <p:nvPr/>
        </p:nvSpPr>
        <p:spPr>
          <a:xfrm>
            <a:off x="484909" y="3145413"/>
            <a:ext cx="4003964" cy="307777"/>
          </a:xfrm>
          <a:prstGeom prst="rect">
            <a:avLst/>
          </a:prstGeom>
          <a:noFill/>
        </p:spPr>
        <p:txBody>
          <a:bodyPr wrap="square">
            <a:spAutoFit/>
          </a:bodyPr>
          <a:lstStyle/>
          <a:p>
            <a:r>
              <a:rPr lang="en-GB" sz="1400" b="0" i="0" u="none" strike="noStrike" dirty="0">
                <a:solidFill>
                  <a:srgbClr val="006FB7"/>
                </a:solidFill>
                <a:effectLst/>
                <a:latin typeface="Source Sans Pro" panose="020B0503030403020204" pitchFamily="34" charset="0"/>
                <a:hlinkClick r:id="rId4"/>
              </a:rPr>
              <a:t>https://doi.org/10.1038/ismej.2013.254</a:t>
            </a:r>
            <a:endParaRPr lang="en-DK" sz="1400" dirty="0"/>
          </a:p>
        </p:txBody>
      </p:sp>
      <p:pic>
        <p:nvPicPr>
          <p:cNvPr id="8194" name="Picture 2" descr="Non-metric multidimensional scaling ordination of 16S rRNA gene iTag sequence data. (a) The main ordination shows sample similarity and the correlations between environmental variables and ordination axes. The three most abundant OTUs in the contaminated samples (uncultured Gammaproteobacterium, Colwellia and Rhodobacteraceae) are represented by arrows. Sample BP366 is indicated by a blue square. Samples that exceeded the EPA’s aquatic benchmark for PAHs are denoted by red circles. (b) For this same ordination, the concentrations of TPH, total nitrogen, DIN, nitrate and ammonium are indicated by bubble size and contour lines. (c) Rarified abundance of an uncultured Gammaproteobacterium OTU and a Colwellia OTU are shown for the same ordination, with bubble size and contour lines indicating abundance. P-values indicate the significance for the variable shown and are based on 999 permutations.">
            <a:extLst>
              <a:ext uri="{FF2B5EF4-FFF2-40B4-BE49-F238E27FC236}">
                <a16:creationId xmlns:a16="http://schemas.microsoft.com/office/drawing/2014/main" id="{BD82D36B-873B-2BCB-6391-85696FF31C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9739" y="1454727"/>
            <a:ext cx="5844321" cy="475413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C78DED1-22D5-5B7B-5A66-79D54CC21CF2}"/>
              </a:ext>
            </a:extLst>
          </p:cNvPr>
          <p:cNvSpPr txBox="1"/>
          <p:nvPr/>
        </p:nvSpPr>
        <p:spPr>
          <a:xfrm>
            <a:off x="346363" y="3470565"/>
            <a:ext cx="5375563" cy="3293209"/>
          </a:xfrm>
          <a:prstGeom prst="rect">
            <a:avLst/>
          </a:prstGeom>
          <a:noFill/>
        </p:spPr>
        <p:txBody>
          <a:bodyPr wrap="square" rtlCol="0">
            <a:spAutoFit/>
          </a:bodyPr>
          <a:lstStyle/>
          <a:p>
            <a:pPr marL="285750" indent="-285750">
              <a:buFont typeface="Arial" panose="020B0604020202020204" pitchFamily="34" charset="0"/>
              <a:buChar char="•"/>
            </a:pPr>
            <a:r>
              <a:rPr lang="en-GB" sz="1600" dirty="0"/>
              <a:t>Metagenomic Analysis of sediment samples from 64 sites in the Gulf of Mexico, characterizing microbial community's response to the oil spill</a:t>
            </a:r>
          </a:p>
          <a:p>
            <a:pPr marL="285750" indent="-285750">
              <a:buFont typeface="Arial" panose="020B0604020202020204" pitchFamily="34" charset="0"/>
              <a:buChar char="•"/>
            </a:pPr>
            <a:r>
              <a:rPr lang="en-GB" sz="1600" dirty="0"/>
              <a:t>Uncultured </a:t>
            </a:r>
            <a:r>
              <a:rPr lang="en-GB" sz="1600" i="1" dirty="0" err="1"/>
              <a:t>Gammaproteobacterium</a:t>
            </a:r>
            <a:r>
              <a:rPr lang="en-GB" sz="1600" dirty="0"/>
              <a:t> and </a:t>
            </a:r>
            <a:r>
              <a:rPr lang="en-GB" sz="1600" i="1" dirty="0" err="1"/>
              <a:t>Colwellia</a:t>
            </a:r>
            <a:r>
              <a:rPr lang="en-GB" sz="1600" dirty="0"/>
              <a:t> species were enriched in oil-impacted sediments (hydrocarbon degradation)</a:t>
            </a:r>
          </a:p>
          <a:p>
            <a:pPr marL="285750" indent="-285750">
              <a:buFont typeface="Arial" panose="020B0604020202020204" pitchFamily="34" charset="0"/>
              <a:buChar char="•"/>
            </a:pPr>
            <a:r>
              <a:rPr lang="en-GB" sz="1600" dirty="0"/>
              <a:t>An increase in genes associated with hydrocarbon degradation pathways (aliphatic and aromatic hydrocarbon breakdown), indicating adaptive microbial response to oil contamination</a:t>
            </a:r>
          </a:p>
          <a:p>
            <a:pPr marL="285750" indent="-285750">
              <a:buFont typeface="Arial" panose="020B0604020202020204" pitchFamily="34" charset="0"/>
              <a:buChar char="•"/>
            </a:pPr>
            <a:r>
              <a:rPr lang="en-GB" sz="1600" dirty="0"/>
              <a:t>The study emphasized the importance of microbial communities in natural bioremediation processes.</a:t>
            </a:r>
          </a:p>
          <a:p>
            <a:pPr marL="285750" indent="-285750">
              <a:buFont typeface="Arial" panose="020B0604020202020204" pitchFamily="34" charset="0"/>
              <a:buChar char="•"/>
            </a:pPr>
            <a:endParaRPr lang="en-DK" sz="1600" dirty="0"/>
          </a:p>
        </p:txBody>
      </p:sp>
    </p:spTree>
    <p:extLst>
      <p:ext uri="{BB962C8B-B14F-4D97-AF65-F5344CB8AC3E}">
        <p14:creationId xmlns:p14="http://schemas.microsoft.com/office/powerpoint/2010/main" val="2276510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6D69C-5B22-DCD5-8246-C3B9C996046B}"/>
              </a:ext>
            </a:extLst>
          </p:cNvPr>
          <p:cNvSpPr>
            <a:spLocks noGrp="1"/>
          </p:cNvSpPr>
          <p:nvPr>
            <p:ph type="title"/>
          </p:nvPr>
        </p:nvSpPr>
        <p:spPr>
          <a:xfrm>
            <a:off x="838200" y="0"/>
            <a:ext cx="10515600" cy="1325563"/>
          </a:xfrm>
        </p:spPr>
        <p:txBody>
          <a:bodyPr/>
          <a:lstStyle/>
          <a:p>
            <a:r>
              <a:rPr lang="en-DK" dirty="0"/>
              <a:t>Global ocean microbiome (Tara oceans)</a:t>
            </a:r>
          </a:p>
        </p:txBody>
      </p:sp>
      <p:sp>
        <p:nvSpPr>
          <p:cNvPr id="9" name="TextBox 8">
            <a:extLst>
              <a:ext uri="{FF2B5EF4-FFF2-40B4-BE49-F238E27FC236}">
                <a16:creationId xmlns:a16="http://schemas.microsoft.com/office/drawing/2014/main" id="{8B19BD36-B49A-BAC4-1153-4DF23973430E}"/>
              </a:ext>
            </a:extLst>
          </p:cNvPr>
          <p:cNvSpPr txBox="1"/>
          <p:nvPr/>
        </p:nvSpPr>
        <p:spPr>
          <a:xfrm>
            <a:off x="544368" y="3429000"/>
            <a:ext cx="5907233" cy="3416320"/>
          </a:xfrm>
          <a:prstGeom prst="rect">
            <a:avLst/>
          </a:prstGeom>
          <a:noFill/>
        </p:spPr>
        <p:txBody>
          <a:bodyPr wrap="square">
            <a:spAutoFit/>
          </a:bodyPr>
          <a:lstStyle/>
          <a:p>
            <a:pPr marL="285750" indent="-285750">
              <a:buFont typeface="Arial" panose="020B0604020202020204" pitchFamily="34" charset="0"/>
              <a:buChar char="•"/>
            </a:pPr>
            <a:r>
              <a:rPr lang="en-GB" dirty="0" err="1"/>
              <a:t>Characteryzed</a:t>
            </a:r>
            <a:r>
              <a:rPr lang="en-GB" dirty="0"/>
              <a:t> ~1,000 non-redundant microbial genomes from the TARA Oceans sites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Nitrogen fixation in the surface ocean impacts global marine nitrogen bioavailability and therefore the microbial primary productivity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Usually done by cyanobacteria, but non-cyanobacterial diazotrophs inhabiting surface waters of the open ocean (lineages within the Proteobacteria and Planctomycetes) have also the functional potential (</a:t>
            </a:r>
            <a:r>
              <a:rPr lang="en-GB" dirty="0" err="1"/>
              <a:t>nifD</a:t>
            </a:r>
            <a:r>
              <a:rPr lang="en-GB" dirty="0"/>
              <a:t>, </a:t>
            </a:r>
            <a:r>
              <a:rPr lang="en-GB" dirty="0" err="1"/>
              <a:t>nifH</a:t>
            </a:r>
            <a:r>
              <a:rPr lang="en-GB" dirty="0"/>
              <a:t>) </a:t>
            </a:r>
            <a:endParaRPr lang="en-DK" sz="1600" dirty="0"/>
          </a:p>
        </p:txBody>
      </p:sp>
      <p:pic>
        <p:nvPicPr>
          <p:cNvPr id="11" name="Picture 10" descr="A screenshot of a website&#10;&#10;AI-generated content may be incorrect.">
            <a:extLst>
              <a:ext uri="{FF2B5EF4-FFF2-40B4-BE49-F238E27FC236}">
                <a16:creationId xmlns:a16="http://schemas.microsoft.com/office/drawing/2014/main" id="{4DF999F6-563F-C573-34EE-8DECE6270E8A}"/>
              </a:ext>
            </a:extLst>
          </p:cNvPr>
          <p:cNvPicPr>
            <a:picLocks noChangeAspect="1"/>
          </p:cNvPicPr>
          <p:nvPr/>
        </p:nvPicPr>
        <p:blipFill>
          <a:blip r:embed="rId3"/>
          <a:stretch>
            <a:fillRect/>
          </a:stretch>
        </p:blipFill>
        <p:spPr>
          <a:xfrm>
            <a:off x="838200" y="1261501"/>
            <a:ext cx="4902200" cy="1714500"/>
          </a:xfrm>
          <a:prstGeom prst="rect">
            <a:avLst/>
          </a:prstGeom>
        </p:spPr>
      </p:pic>
      <p:sp>
        <p:nvSpPr>
          <p:cNvPr id="13" name="TextBox 12">
            <a:extLst>
              <a:ext uri="{FF2B5EF4-FFF2-40B4-BE49-F238E27FC236}">
                <a16:creationId xmlns:a16="http://schemas.microsoft.com/office/drawing/2014/main" id="{400BEC6C-9247-0065-3537-B52F6D04CE55}"/>
              </a:ext>
            </a:extLst>
          </p:cNvPr>
          <p:cNvSpPr txBox="1"/>
          <p:nvPr/>
        </p:nvSpPr>
        <p:spPr>
          <a:xfrm>
            <a:off x="782780" y="2988270"/>
            <a:ext cx="3429000" cy="307777"/>
          </a:xfrm>
          <a:prstGeom prst="rect">
            <a:avLst/>
          </a:prstGeom>
          <a:noFill/>
        </p:spPr>
        <p:txBody>
          <a:bodyPr wrap="square">
            <a:spAutoFit/>
          </a:bodyPr>
          <a:lstStyle/>
          <a:p>
            <a:r>
              <a:rPr lang="en-GB" sz="1400" b="0" i="0" dirty="0">
                <a:solidFill>
                  <a:srgbClr val="222222"/>
                </a:solidFill>
                <a:effectLst/>
                <a:latin typeface="-apple-system"/>
                <a:hlinkClick r:id="rId4"/>
              </a:rPr>
              <a:t>https://doi.org/10.1038/s41564-018-0176-9</a:t>
            </a:r>
            <a:endParaRPr lang="en-GB" sz="1400" b="0" i="0" dirty="0">
              <a:solidFill>
                <a:srgbClr val="222222"/>
              </a:solidFill>
              <a:effectLst/>
              <a:latin typeface="-apple-system"/>
            </a:endParaRPr>
          </a:p>
        </p:txBody>
      </p:sp>
      <p:pic>
        <p:nvPicPr>
          <p:cNvPr id="15" name="Picture 14" descr="A screenshot of a diagram&#10;&#10;AI-generated content may be incorrect.">
            <a:extLst>
              <a:ext uri="{FF2B5EF4-FFF2-40B4-BE49-F238E27FC236}">
                <a16:creationId xmlns:a16="http://schemas.microsoft.com/office/drawing/2014/main" id="{6E57706C-EDE5-5087-5D6D-3F585C7BF1BB}"/>
              </a:ext>
            </a:extLst>
          </p:cNvPr>
          <p:cNvPicPr>
            <a:picLocks noChangeAspect="1"/>
          </p:cNvPicPr>
          <p:nvPr/>
        </p:nvPicPr>
        <p:blipFill>
          <a:blip r:embed="rId5"/>
          <a:stretch>
            <a:fillRect/>
          </a:stretch>
        </p:blipFill>
        <p:spPr>
          <a:xfrm>
            <a:off x="6451601" y="1435677"/>
            <a:ext cx="5697557" cy="5057198"/>
          </a:xfrm>
          <a:prstGeom prst="rect">
            <a:avLst/>
          </a:prstGeom>
        </p:spPr>
      </p:pic>
    </p:spTree>
    <p:extLst>
      <p:ext uri="{BB962C8B-B14F-4D97-AF65-F5344CB8AC3E}">
        <p14:creationId xmlns:p14="http://schemas.microsoft.com/office/powerpoint/2010/main" val="1548777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9960F1-B1BB-E8E3-3228-E980DFF12D27}"/>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Freeform: Shape 10">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4" name="Freeform: Shape 13">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7225C38A-2803-AD9A-F314-369620F37C18}"/>
              </a:ext>
            </a:extLst>
          </p:cNvPr>
          <p:cNvSpPr>
            <a:spLocks noGrp="1"/>
          </p:cNvSpPr>
          <p:nvPr>
            <p:ph type="title"/>
          </p:nvPr>
        </p:nvSpPr>
        <p:spPr>
          <a:xfrm>
            <a:off x="3502731" y="1542402"/>
            <a:ext cx="5186842" cy="2387918"/>
          </a:xfrm>
        </p:spPr>
        <p:txBody>
          <a:bodyPr vert="horz" lIns="91440" tIns="45720" rIns="91440" bIns="45720" rtlCol="0" anchor="b">
            <a:normAutofit/>
          </a:bodyPr>
          <a:lstStyle/>
          <a:p>
            <a:pPr algn="ctr"/>
            <a:r>
              <a:rPr lang="en-US" kern="1200" dirty="0">
                <a:solidFill>
                  <a:schemeClr val="tx2"/>
                </a:solidFill>
                <a:latin typeface="+mj-lt"/>
                <a:ea typeface="+mj-ea"/>
                <a:cs typeface="+mj-cs"/>
              </a:rPr>
              <a:t>What is metagenomics?</a:t>
            </a:r>
          </a:p>
        </p:txBody>
      </p:sp>
      <p:grpSp>
        <p:nvGrpSpPr>
          <p:cNvPr id="22" name="Group 21">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3" name="Freeform: Shape 22">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29" name="Freeform: Shape 28">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522922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FC9CE-127D-D690-3558-A9C1383FD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CB329-7BF2-57E6-064A-CF135147D23A}"/>
              </a:ext>
            </a:extLst>
          </p:cNvPr>
          <p:cNvSpPr>
            <a:spLocks noGrp="1"/>
          </p:cNvSpPr>
          <p:nvPr>
            <p:ph type="title"/>
          </p:nvPr>
        </p:nvSpPr>
        <p:spPr>
          <a:xfrm>
            <a:off x="838200" y="43666"/>
            <a:ext cx="10515600" cy="1325563"/>
          </a:xfrm>
        </p:spPr>
        <p:txBody>
          <a:bodyPr/>
          <a:lstStyle/>
          <a:p>
            <a:r>
              <a:rPr lang="en-DK" dirty="0"/>
              <a:t>Microbiome definition</a:t>
            </a:r>
          </a:p>
        </p:txBody>
      </p:sp>
      <p:grpSp>
        <p:nvGrpSpPr>
          <p:cNvPr id="14" name="Group 13">
            <a:extLst>
              <a:ext uri="{FF2B5EF4-FFF2-40B4-BE49-F238E27FC236}">
                <a16:creationId xmlns:a16="http://schemas.microsoft.com/office/drawing/2014/main" id="{94300B7E-941B-EA8D-4C91-F9746DFE3EB2}"/>
              </a:ext>
            </a:extLst>
          </p:cNvPr>
          <p:cNvGrpSpPr/>
          <p:nvPr/>
        </p:nvGrpSpPr>
        <p:grpSpPr>
          <a:xfrm>
            <a:off x="3103417" y="1184563"/>
            <a:ext cx="5507182" cy="5507182"/>
            <a:chOff x="3103417" y="1184563"/>
            <a:chExt cx="5507182" cy="5507182"/>
          </a:xfrm>
        </p:grpSpPr>
        <p:pic>
          <p:nvPicPr>
            <p:cNvPr id="6146" name="Picture 2" descr="1,500+ Microbiome Stock Illustrations, Royalty-Free Vector Graphics &amp; Clip  Art - iStock | Gut microbiome, Skin microbiome, Microbiome woman">
              <a:extLst>
                <a:ext uri="{FF2B5EF4-FFF2-40B4-BE49-F238E27FC236}">
                  <a16:creationId xmlns:a16="http://schemas.microsoft.com/office/drawing/2014/main" id="{1EE1188F-ED3E-7F60-A080-E89D1113C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417" y="1184563"/>
              <a:ext cx="5507182" cy="55071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Virus">
              <a:extLst>
                <a:ext uri="{FF2B5EF4-FFF2-40B4-BE49-F238E27FC236}">
                  <a16:creationId xmlns:a16="http://schemas.microsoft.com/office/drawing/2014/main" id="{5215208D-6680-FF0C-6642-62B0473929D2}"/>
                </a:ext>
              </a:extLst>
            </p:cNvPr>
            <p:cNvPicPr>
              <a:picLocks noChangeAspect="1"/>
            </p:cNvPicPr>
            <p:nvPr/>
          </p:nvPicPr>
          <p:blipFill>
            <a:blip r:embed="rId4"/>
            <a:stretch>
              <a:fillRect/>
            </a:stretch>
          </p:blipFill>
          <p:spPr>
            <a:xfrm>
              <a:off x="6613359" y="3092935"/>
              <a:ext cx="369332" cy="369332"/>
            </a:xfrm>
            <a:prstGeom prst="rect">
              <a:avLst/>
            </a:prstGeom>
          </p:spPr>
        </p:pic>
        <p:pic>
          <p:nvPicPr>
            <p:cNvPr id="12" name="Picture 11" descr="Virus">
              <a:extLst>
                <a:ext uri="{FF2B5EF4-FFF2-40B4-BE49-F238E27FC236}">
                  <a16:creationId xmlns:a16="http://schemas.microsoft.com/office/drawing/2014/main" id="{33909467-114E-62A6-7DB6-7CB38A26F110}"/>
                </a:ext>
              </a:extLst>
            </p:cNvPr>
            <p:cNvPicPr>
              <a:picLocks noChangeAspect="1"/>
            </p:cNvPicPr>
            <p:nvPr/>
          </p:nvPicPr>
          <p:blipFill>
            <a:blip r:embed="rId4"/>
            <a:stretch>
              <a:fillRect/>
            </a:stretch>
          </p:blipFill>
          <p:spPr>
            <a:xfrm>
              <a:off x="4499448" y="2037278"/>
              <a:ext cx="369332" cy="369332"/>
            </a:xfrm>
            <a:prstGeom prst="rect">
              <a:avLst/>
            </a:prstGeom>
          </p:spPr>
        </p:pic>
        <p:pic>
          <p:nvPicPr>
            <p:cNvPr id="13" name="Picture 12" descr="Virus">
              <a:extLst>
                <a:ext uri="{FF2B5EF4-FFF2-40B4-BE49-F238E27FC236}">
                  <a16:creationId xmlns:a16="http://schemas.microsoft.com/office/drawing/2014/main" id="{862A8746-B2D2-47C7-6DB6-1FDB5FAE8D3B}"/>
                </a:ext>
              </a:extLst>
            </p:cNvPr>
            <p:cNvPicPr>
              <a:picLocks noChangeAspect="1"/>
            </p:cNvPicPr>
            <p:nvPr/>
          </p:nvPicPr>
          <p:blipFill>
            <a:blip r:embed="rId4"/>
            <a:stretch>
              <a:fillRect/>
            </a:stretch>
          </p:blipFill>
          <p:spPr>
            <a:xfrm rot="19207075">
              <a:off x="4036414" y="3582188"/>
              <a:ext cx="369332" cy="369332"/>
            </a:xfrm>
            <a:prstGeom prst="rect">
              <a:avLst/>
            </a:prstGeom>
          </p:spPr>
        </p:pic>
      </p:grpSp>
    </p:spTree>
    <p:extLst>
      <p:ext uri="{BB962C8B-B14F-4D97-AF65-F5344CB8AC3E}">
        <p14:creationId xmlns:p14="http://schemas.microsoft.com/office/powerpoint/2010/main" val="4028800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6ACF9-B90D-C710-AF06-A897EC8FB91F}"/>
              </a:ext>
            </a:extLst>
          </p:cNvPr>
          <p:cNvSpPr>
            <a:spLocks noGrp="1"/>
          </p:cNvSpPr>
          <p:nvPr>
            <p:ph type="title"/>
          </p:nvPr>
        </p:nvSpPr>
        <p:spPr>
          <a:xfrm>
            <a:off x="838200" y="43666"/>
            <a:ext cx="10515600" cy="1325563"/>
          </a:xfrm>
        </p:spPr>
        <p:txBody>
          <a:bodyPr/>
          <a:lstStyle/>
          <a:p>
            <a:r>
              <a:rPr lang="en-DK" dirty="0"/>
              <a:t>Microbiome definition</a:t>
            </a:r>
          </a:p>
        </p:txBody>
      </p:sp>
      <p:sp>
        <p:nvSpPr>
          <p:cNvPr id="4" name="TextBox 3">
            <a:extLst>
              <a:ext uri="{FF2B5EF4-FFF2-40B4-BE49-F238E27FC236}">
                <a16:creationId xmlns:a16="http://schemas.microsoft.com/office/drawing/2014/main" id="{48769A3B-5D9E-E7D0-D526-1268F30B0B71}"/>
              </a:ext>
            </a:extLst>
          </p:cNvPr>
          <p:cNvSpPr txBox="1"/>
          <p:nvPr/>
        </p:nvSpPr>
        <p:spPr>
          <a:xfrm>
            <a:off x="912942" y="1954833"/>
            <a:ext cx="2175164" cy="2031325"/>
          </a:xfrm>
          <a:prstGeom prst="rect">
            <a:avLst/>
          </a:prstGeom>
          <a:noFill/>
        </p:spPr>
        <p:txBody>
          <a:bodyPr wrap="square" rtlCol="0">
            <a:spAutoFit/>
          </a:bodyPr>
          <a:lstStyle/>
          <a:p>
            <a:r>
              <a:rPr lang="en-DK" dirty="0"/>
              <a:t>Inhabitants:</a:t>
            </a:r>
          </a:p>
          <a:p>
            <a:pPr marL="285750" indent="-285750">
              <a:buFont typeface="Arial" panose="020B0604020202020204" pitchFamily="34" charset="0"/>
              <a:buChar char="•"/>
            </a:pPr>
            <a:r>
              <a:rPr lang="en-DK" dirty="0"/>
              <a:t>Bacteria</a:t>
            </a:r>
          </a:p>
          <a:p>
            <a:pPr marL="285750" indent="-285750">
              <a:buFont typeface="Arial" panose="020B0604020202020204" pitchFamily="34" charset="0"/>
              <a:buChar char="•"/>
            </a:pPr>
            <a:r>
              <a:rPr lang="en-DK" dirty="0"/>
              <a:t>Archaea</a:t>
            </a:r>
          </a:p>
          <a:p>
            <a:pPr marL="285750" indent="-285750">
              <a:buFont typeface="Arial" panose="020B0604020202020204" pitchFamily="34" charset="0"/>
              <a:buChar char="•"/>
            </a:pPr>
            <a:r>
              <a:rPr lang="en-DK" dirty="0"/>
              <a:t>Fungi</a:t>
            </a:r>
          </a:p>
          <a:p>
            <a:pPr marL="285750" indent="-285750">
              <a:buFont typeface="Arial" panose="020B0604020202020204" pitchFamily="34" charset="0"/>
              <a:buChar char="•"/>
            </a:pPr>
            <a:r>
              <a:rPr lang="en-DK" dirty="0"/>
              <a:t>Viruses</a:t>
            </a:r>
          </a:p>
          <a:p>
            <a:pPr marL="285750" indent="-285750">
              <a:buFont typeface="Arial" panose="020B0604020202020204" pitchFamily="34" charset="0"/>
              <a:buChar char="•"/>
            </a:pPr>
            <a:r>
              <a:rPr lang="en-DK" dirty="0"/>
              <a:t>Protozoa</a:t>
            </a:r>
          </a:p>
          <a:p>
            <a:pPr marL="285750" indent="-285750">
              <a:buFont typeface="Arial" panose="020B0604020202020204" pitchFamily="34" charset="0"/>
              <a:buChar char="•"/>
            </a:pPr>
            <a:r>
              <a:rPr lang="en-DK" dirty="0"/>
              <a:t>…</a:t>
            </a:r>
          </a:p>
        </p:txBody>
      </p:sp>
      <p:sp>
        <p:nvSpPr>
          <p:cNvPr id="5" name="TextBox 4">
            <a:extLst>
              <a:ext uri="{FF2B5EF4-FFF2-40B4-BE49-F238E27FC236}">
                <a16:creationId xmlns:a16="http://schemas.microsoft.com/office/drawing/2014/main" id="{5C09A294-C945-E9F9-B338-B6EF07B8CEBD}"/>
              </a:ext>
            </a:extLst>
          </p:cNvPr>
          <p:cNvSpPr txBox="1"/>
          <p:nvPr/>
        </p:nvSpPr>
        <p:spPr>
          <a:xfrm>
            <a:off x="949037" y="1074120"/>
            <a:ext cx="8021783" cy="369332"/>
          </a:xfrm>
          <a:prstGeom prst="rect">
            <a:avLst/>
          </a:prstGeom>
          <a:noFill/>
        </p:spPr>
        <p:txBody>
          <a:bodyPr wrap="square" rtlCol="0">
            <a:spAutoFit/>
          </a:bodyPr>
          <a:lstStyle/>
          <a:p>
            <a:r>
              <a:rPr lang="en-DK" dirty="0"/>
              <a:t>Microbiome refers to an microbial community in an specific environment</a:t>
            </a:r>
          </a:p>
        </p:txBody>
      </p:sp>
      <p:sp>
        <p:nvSpPr>
          <p:cNvPr id="6" name="TextBox 5">
            <a:extLst>
              <a:ext uri="{FF2B5EF4-FFF2-40B4-BE49-F238E27FC236}">
                <a16:creationId xmlns:a16="http://schemas.microsoft.com/office/drawing/2014/main" id="{5CFCF3C9-1D6F-68B0-A820-340A61AB5F3B}"/>
              </a:ext>
            </a:extLst>
          </p:cNvPr>
          <p:cNvSpPr txBox="1"/>
          <p:nvPr/>
        </p:nvSpPr>
        <p:spPr>
          <a:xfrm>
            <a:off x="912941" y="4155153"/>
            <a:ext cx="2576945" cy="2031325"/>
          </a:xfrm>
          <a:prstGeom prst="rect">
            <a:avLst/>
          </a:prstGeom>
          <a:noFill/>
        </p:spPr>
        <p:txBody>
          <a:bodyPr wrap="square" rtlCol="0">
            <a:spAutoFit/>
          </a:bodyPr>
          <a:lstStyle/>
          <a:p>
            <a:r>
              <a:rPr lang="en-DK" dirty="0"/>
              <a:t>Environment:</a:t>
            </a:r>
          </a:p>
          <a:p>
            <a:pPr marL="285750" indent="-285750">
              <a:buFont typeface="Arial" panose="020B0604020202020204" pitchFamily="34" charset="0"/>
              <a:buChar char="•"/>
            </a:pPr>
            <a:r>
              <a:rPr lang="en-DK" dirty="0"/>
              <a:t>Soil</a:t>
            </a:r>
          </a:p>
          <a:p>
            <a:pPr marL="285750" indent="-285750">
              <a:buFont typeface="Arial" panose="020B0604020202020204" pitchFamily="34" charset="0"/>
              <a:buChar char="•"/>
            </a:pPr>
            <a:r>
              <a:rPr lang="en-DK" dirty="0"/>
              <a:t>Ocean</a:t>
            </a:r>
          </a:p>
          <a:p>
            <a:pPr marL="285750" indent="-285750">
              <a:buFont typeface="Arial" panose="020B0604020202020204" pitchFamily="34" charset="0"/>
              <a:buChar char="•"/>
            </a:pPr>
            <a:r>
              <a:rPr lang="en-DK" dirty="0"/>
              <a:t>Wastewater plant</a:t>
            </a:r>
          </a:p>
          <a:p>
            <a:pPr marL="285750" indent="-285750">
              <a:buFont typeface="Arial" panose="020B0604020202020204" pitchFamily="34" charset="0"/>
              <a:buChar char="•"/>
            </a:pPr>
            <a:r>
              <a:rPr lang="en-DK" dirty="0"/>
              <a:t>Gut</a:t>
            </a:r>
          </a:p>
          <a:p>
            <a:pPr marL="285750" indent="-285750">
              <a:buFont typeface="Arial" panose="020B0604020202020204" pitchFamily="34" charset="0"/>
              <a:buChar char="•"/>
            </a:pPr>
            <a:r>
              <a:rPr lang="en-DK" dirty="0"/>
              <a:t>Skin</a:t>
            </a:r>
          </a:p>
          <a:p>
            <a:pPr marL="285750" indent="-285750">
              <a:buFont typeface="Arial" panose="020B0604020202020204" pitchFamily="34" charset="0"/>
              <a:buChar char="•"/>
            </a:pPr>
            <a:r>
              <a:rPr lang="en-DK" dirty="0"/>
              <a:t>…</a:t>
            </a:r>
          </a:p>
        </p:txBody>
      </p:sp>
      <p:sp>
        <p:nvSpPr>
          <p:cNvPr id="7" name="TextBox 6">
            <a:extLst>
              <a:ext uri="{FF2B5EF4-FFF2-40B4-BE49-F238E27FC236}">
                <a16:creationId xmlns:a16="http://schemas.microsoft.com/office/drawing/2014/main" id="{C13AAE1B-A5D1-1C25-2C1B-2A5F66CB5BF8}"/>
              </a:ext>
            </a:extLst>
          </p:cNvPr>
          <p:cNvSpPr txBox="1"/>
          <p:nvPr/>
        </p:nvSpPr>
        <p:spPr>
          <a:xfrm>
            <a:off x="8735292" y="1800273"/>
            <a:ext cx="2770909" cy="1477328"/>
          </a:xfrm>
          <a:prstGeom prst="rect">
            <a:avLst/>
          </a:prstGeom>
          <a:noFill/>
        </p:spPr>
        <p:txBody>
          <a:bodyPr wrap="square" rtlCol="0">
            <a:spAutoFit/>
          </a:bodyPr>
          <a:lstStyle/>
          <a:p>
            <a:r>
              <a:rPr lang="en-DK" dirty="0"/>
              <a:t>Organism products:</a:t>
            </a:r>
          </a:p>
          <a:p>
            <a:pPr marL="285750" indent="-285750">
              <a:buFont typeface="Arial" panose="020B0604020202020204" pitchFamily="34" charset="0"/>
              <a:buChar char="•"/>
            </a:pPr>
            <a:r>
              <a:rPr lang="en-DK" dirty="0"/>
              <a:t>Genes</a:t>
            </a:r>
          </a:p>
          <a:p>
            <a:pPr marL="285750" indent="-285750">
              <a:buFont typeface="Arial" panose="020B0604020202020204" pitchFamily="34" charset="0"/>
              <a:buChar char="•"/>
            </a:pPr>
            <a:r>
              <a:rPr lang="en-DK" dirty="0"/>
              <a:t>Proteins</a:t>
            </a:r>
          </a:p>
          <a:p>
            <a:pPr marL="285750" indent="-285750">
              <a:buFont typeface="Arial" panose="020B0604020202020204" pitchFamily="34" charset="0"/>
              <a:buChar char="•"/>
            </a:pPr>
            <a:r>
              <a:rPr lang="en-DK" dirty="0"/>
              <a:t>Pathways</a:t>
            </a:r>
          </a:p>
          <a:p>
            <a:pPr marL="285750" indent="-285750">
              <a:buFont typeface="Arial" panose="020B0604020202020204" pitchFamily="34" charset="0"/>
              <a:buChar char="•"/>
            </a:pPr>
            <a:r>
              <a:rPr lang="en-DK" dirty="0"/>
              <a:t>Metabolites</a:t>
            </a:r>
          </a:p>
        </p:txBody>
      </p:sp>
      <p:sp>
        <p:nvSpPr>
          <p:cNvPr id="8" name="TextBox 7">
            <a:extLst>
              <a:ext uri="{FF2B5EF4-FFF2-40B4-BE49-F238E27FC236}">
                <a16:creationId xmlns:a16="http://schemas.microsoft.com/office/drawing/2014/main" id="{0567C149-E08A-15F2-43F8-C308AA1B5A39}"/>
              </a:ext>
            </a:extLst>
          </p:cNvPr>
          <p:cNvSpPr txBox="1"/>
          <p:nvPr/>
        </p:nvSpPr>
        <p:spPr>
          <a:xfrm>
            <a:off x="8735292" y="4063753"/>
            <a:ext cx="2743201" cy="2031325"/>
          </a:xfrm>
          <a:prstGeom prst="rect">
            <a:avLst/>
          </a:prstGeom>
          <a:solidFill>
            <a:schemeClr val="accent6">
              <a:lumMod val="20000"/>
              <a:lumOff val="80000"/>
            </a:schemeClr>
          </a:solidFill>
        </p:spPr>
        <p:txBody>
          <a:bodyPr wrap="square" rtlCol="0">
            <a:spAutoFit/>
          </a:bodyPr>
          <a:lstStyle/>
          <a:p>
            <a:r>
              <a:rPr lang="en-DK" dirty="0"/>
              <a:t>In contrast to a monoculture (all cells belong to one organism), in a microbiome we have cells of many different organisms </a:t>
            </a:r>
            <a:r>
              <a:rPr lang="en-DK" dirty="0">
                <a:sym typeface="Wingdings" pitchFamily="2" charset="2"/>
              </a:rPr>
              <a:t> microbial community</a:t>
            </a:r>
            <a:endParaRPr lang="en-DK" dirty="0"/>
          </a:p>
        </p:txBody>
      </p:sp>
      <p:grpSp>
        <p:nvGrpSpPr>
          <p:cNvPr id="14" name="Group 13">
            <a:extLst>
              <a:ext uri="{FF2B5EF4-FFF2-40B4-BE49-F238E27FC236}">
                <a16:creationId xmlns:a16="http://schemas.microsoft.com/office/drawing/2014/main" id="{96410335-7C0A-EC5E-BAE0-AD2F15249762}"/>
              </a:ext>
            </a:extLst>
          </p:cNvPr>
          <p:cNvGrpSpPr/>
          <p:nvPr/>
        </p:nvGrpSpPr>
        <p:grpSpPr>
          <a:xfrm>
            <a:off x="3009900" y="1443452"/>
            <a:ext cx="5168900" cy="5122448"/>
            <a:chOff x="3103417" y="1184563"/>
            <a:chExt cx="5507182" cy="5507182"/>
          </a:xfrm>
        </p:grpSpPr>
        <p:pic>
          <p:nvPicPr>
            <p:cNvPr id="6146" name="Picture 2" descr="1,500+ Microbiome Stock Illustrations, Royalty-Free Vector Graphics &amp; Clip  Art - iStock | Gut microbiome, Skin microbiome, Microbiome woman">
              <a:extLst>
                <a:ext uri="{FF2B5EF4-FFF2-40B4-BE49-F238E27FC236}">
                  <a16:creationId xmlns:a16="http://schemas.microsoft.com/office/drawing/2014/main" id="{FA55E980-3FD9-73F6-B886-05847539D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417" y="1184563"/>
              <a:ext cx="5507182" cy="55071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Virus">
              <a:extLst>
                <a:ext uri="{FF2B5EF4-FFF2-40B4-BE49-F238E27FC236}">
                  <a16:creationId xmlns:a16="http://schemas.microsoft.com/office/drawing/2014/main" id="{7C6EDF92-8405-988F-5459-97E6AD6C0540}"/>
                </a:ext>
              </a:extLst>
            </p:cNvPr>
            <p:cNvPicPr>
              <a:picLocks noChangeAspect="1"/>
            </p:cNvPicPr>
            <p:nvPr/>
          </p:nvPicPr>
          <p:blipFill>
            <a:blip r:embed="rId4"/>
            <a:stretch>
              <a:fillRect/>
            </a:stretch>
          </p:blipFill>
          <p:spPr>
            <a:xfrm>
              <a:off x="6613359" y="3092935"/>
              <a:ext cx="369332" cy="369332"/>
            </a:xfrm>
            <a:prstGeom prst="rect">
              <a:avLst/>
            </a:prstGeom>
          </p:spPr>
        </p:pic>
        <p:pic>
          <p:nvPicPr>
            <p:cNvPr id="12" name="Picture 11" descr="Virus">
              <a:extLst>
                <a:ext uri="{FF2B5EF4-FFF2-40B4-BE49-F238E27FC236}">
                  <a16:creationId xmlns:a16="http://schemas.microsoft.com/office/drawing/2014/main" id="{5435778A-4E3F-EEEA-BF19-3E488C0A65BD}"/>
                </a:ext>
              </a:extLst>
            </p:cNvPr>
            <p:cNvPicPr>
              <a:picLocks noChangeAspect="1"/>
            </p:cNvPicPr>
            <p:nvPr/>
          </p:nvPicPr>
          <p:blipFill>
            <a:blip r:embed="rId4"/>
            <a:stretch>
              <a:fillRect/>
            </a:stretch>
          </p:blipFill>
          <p:spPr>
            <a:xfrm>
              <a:off x="4499448" y="2037278"/>
              <a:ext cx="369332" cy="369332"/>
            </a:xfrm>
            <a:prstGeom prst="rect">
              <a:avLst/>
            </a:prstGeom>
          </p:spPr>
        </p:pic>
        <p:pic>
          <p:nvPicPr>
            <p:cNvPr id="13" name="Picture 12" descr="Virus">
              <a:extLst>
                <a:ext uri="{FF2B5EF4-FFF2-40B4-BE49-F238E27FC236}">
                  <a16:creationId xmlns:a16="http://schemas.microsoft.com/office/drawing/2014/main" id="{43CEA990-F107-4A3A-3835-DA0A904A3E06}"/>
                </a:ext>
              </a:extLst>
            </p:cNvPr>
            <p:cNvPicPr>
              <a:picLocks noChangeAspect="1"/>
            </p:cNvPicPr>
            <p:nvPr/>
          </p:nvPicPr>
          <p:blipFill>
            <a:blip r:embed="rId4"/>
            <a:stretch>
              <a:fillRect/>
            </a:stretch>
          </p:blipFill>
          <p:spPr>
            <a:xfrm rot="19207075">
              <a:off x="4036414" y="3582188"/>
              <a:ext cx="369332" cy="369332"/>
            </a:xfrm>
            <a:prstGeom prst="rect">
              <a:avLst/>
            </a:prstGeom>
          </p:spPr>
        </p:pic>
      </p:grpSp>
    </p:spTree>
    <p:extLst>
      <p:ext uri="{BB962C8B-B14F-4D97-AF65-F5344CB8AC3E}">
        <p14:creationId xmlns:p14="http://schemas.microsoft.com/office/powerpoint/2010/main" val="1777328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837100-9D0F-9772-25FC-7B5B06C1E9E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7A00650-474D-1517-DBED-10F69EF61C04}"/>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1406C47C-5AD3-A886-C085-59304A337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6B3564-2302-A7C1-5EA0-517D4126E2DA}"/>
              </a:ext>
            </a:extLst>
          </p:cNvPr>
          <p:cNvSpPr>
            <a:spLocks noGrp="1"/>
          </p:cNvSpPr>
          <p:nvPr>
            <p:ph type="title"/>
          </p:nvPr>
        </p:nvSpPr>
        <p:spPr>
          <a:xfrm>
            <a:off x="838200" y="173739"/>
            <a:ext cx="10515600" cy="1325563"/>
          </a:xfrm>
        </p:spPr>
        <p:txBody>
          <a:bodyPr vert="horz" lIns="91440" tIns="45720" rIns="91440" bIns="45720" rtlCol="0" anchor="ctr">
            <a:normAutofit/>
          </a:bodyPr>
          <a:lstStyle/>
          <a:p>
            <a:r>
              <a:rPr lang="en-US" dirty="0"/>
              <a:t>What a microbiome study usually answer?</a:t>
            </a:r>
          </a:p>
        </p:txBody>
      </p:sp>
    </p:spTree>
    <p:extLst>
      <p:ext uri="{BB962C8B-B14F-4D97-AF65-F5344CB8AC3E}">
        <p14:creationId xmlns:p14="http://schemas.microsoft.com/office/powerpoint/2010/main" val="340917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506D42-F026-9382-1C26-DDF56598096E}"/>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25A618-08B0-CD39-EED9-097FD49C3650}"/>
              </a:ext>
            </a:extLst>
          </p:cNvPr>
          <p:cNvSpPr>
            <a:spLocks noGrp="1"/>
          </p:cNvSpPr>
          <p:nvPr>
            <p:ph type="title"/>
          </p:nvPr>
        </p:nvSpPr>
        <p:spPr>
          <a:xfrm>
            <a:off x="838200" y="173739"/>
            <a:ext cx="10515600" cy="1325563"/>
          </a:xfrm>
        </p:spPr>
        <p:txBody>
          <a:bodyPr vert="horz" lIns="91440" tIns="45720" rIns="91440" bIns="45720" rtlCol="0" anchor="ctr">
            <a:normAutofit/>
          </a:bodyPr>
          <a:lstStyle/>
          <a:p>
            <a:r>
              <a:rPr lang="en-US" dirty="0"/>
              <a:t>What a microbiome study usually answer</a:t>
            </a:r>
          </a:p>
        </p:txBody>
      </p:sp>
      <p:graphicFrame>
        <p:nvGraphicFramePr>
          <p:cNvPr id="6" name="TextBox 3">
            <a:extLst>
              <a:ext uri="{FF2B5EF4-FFF2-40B4-BE49-F238E27FC236}">
                <a16:creationId xmlns:a16="http://schemas.microsoft.com/office/drawing/2014/main" id="{CF5928EC-1CA9-B124-ED24-06AA0BFCD5F9}"/>
              </a:ext>
            </a:extLst>
          </p:cNvPr>
          <p:cNvGraphicFramePr/>
          <p:nvPr>
            <p:extLst>
              <p:ext uri="{D42A27DB-BD31-4B8C-83A1-F6EECF244321}">
                <p14:modId xmlns:p14="http://schemas.microsoft.com/office/powerpoint/2010/main" val="2489363537"/>
              </p:ext>
            </p:extLst>
          </p:nvPr>
        </p:nvGraphicFramePr>
        <p:xfrm>
          <a:off x="838200" y="1579418"/>
          <a:ext cx="10515600" cy="45975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0499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D50A91-3176-5927-2A2F-BEBBAFB98FBE}"/>
              </a:ext>
            </a:extLst>
          </p:cNvPr>
          <p:cNvSpPr>
            <a:spLocks noGrp="1"/>
          </p:cNvSpPr>
          <p:nvPr>
            <p:ph type="title"/>
          </p:nvPr>
        </p:nvSpPr>
        <p:spPr>
          <a:xfrm>
            <a:off x="5568534" y="603504"/>
            <a:ext cx="5916169" cy="1527048"/>
          </a:xfrm>
        </p:spPr>
        <p:txBody>
          <a:bodyPr anchor="b">
            <a:normAutofit/>
          </a:bodyPr>
          <a:lstStyle/>
          <a:p>
            <a:r>
              <a:rPr lang="en-DK" dirty="0"/>
              <a:t>What is Metagenomics?</a:t>
            </a:r>
          </a:p>
        </p:txBody>
      </p:sp>
      <p:pic>
        <p:nvPicPr>
          <p:cNvPr id="5" name="Picture 4" descr="Microscopic view of cells">
            <a:extLst>
              <a:ext uri="{FF2B5EF4-FFF2-40B4-BE49-F238E27FC236}">
                <a16:creationId xmlns:a16="http://schemas.microsoft.com/office/drawing/2014/main" id="{EA9BCD2A-FB0B-80F5-0F95-6CDBF774ADA5}"/>
              </a:ext>
            </a:extLst>
          </p:cNvPr>
          <p:cNvPicPr>
            <a:picLocks noChangeAspect="1"/>
          </p:cNvPicPr>
          <p:nvPr/>
        </p:nvPicPr>
        <p:blipFill>
          <a:blip r:embed="rId3"/>
          <a:srcRect l="20350" r="25950"/>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5E8778BC-5756-6E85-FDCE-6B109645A13A}"/>
              </a:ext>
            </a:extLst>
          </p:cNvPr>
          <p:cNvSpPr>
            <a:spLocks noGrp="1"/>
          </p:cNvSpPr>
          <p:nvPr>
            <p:ph idx="1"/>
          </p:nvPr>
        </p:nvSpPr>
        <p:spPr>
          <a:xfrm>
            <a:off x="5568533" y="2214282"/>
            <a:ext cx="5916169" cy="4095078"/>
          </a:xfrm>
        </p:spPr>
        <p:txBody>
          <a:bodyPr>
            <a:normAutofit/>
          </a:bodyPr>
          <a:lstStyle/>
          <a:p>
            <a:r>
              <a:rPr lang="en-DK" sz="1800" dirty="0"/>
              <a:t>Study of the genetic material sampled directly from the environment (fecal, skin, soil, marine,… samples)</a:t>
            </a:r>
          </a:p>
          <a:p>
            <a:r>
              <a:rPr lang="en-DK" sz="1800" dirty="0"/>
              <a:t>No need of culturing organisms – many of the organisms that we characterize can not even be cultured – we can study all the organisms in the microbial community</a:t>
            </a:r>
          </a:p>
          <a:p>
            <a:r>
              <a:rPr lang="en-DK" sz="1800" dirty="0"/>
              <a:t>Uses </a:t>
            </a:r>
            <a:r>
              <a:rPr lang="en-GB" sz="1800" dirty="0"/>
              <a:t>high-throughput DNA sequencing technology to </a:t>
            </a:r>
            <a:r>
              <a:rPr lang="en-GB" sz="1800" dirty="0" err="1"/>
              <a:t>analyze</a:t>
            </a:r>
            <a:r>
              <a:rPr lang="en-GB" sz="1800" dirty="0"/>
              <a:t> microbial diversity, taxonomic and functional profiles, and microbial interactions</a:t>
            </a:r>
          </a:p>
        </p:txBody>
      </p:sp>
    </p:spTree>
    <p:extLst>
      <p:ext uri="{BB962C8B-B14F-4D97-AF65-F5344CB8AC3E}">
        <p14:creationId xmlns:p14="http://schemas.microsoft.com/office/powerpoint/2010/main" val="2042435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8BFAE-68E9-FDA4-5A72-61FB79F2574B}"/>
              </a:ext>
            </a:extLst>
          </p:cNvPr>
          <p:cNvSpPr>
            <a:spLocks noGrp="1"/>
          </p:cNvSpPr>
          <p:nvPr>
            <p:ph type="title"/>
          </p:nvPr>
        </p:nvSpPr>
        <p:spPr>
          <a:xfrm>
            <a:off x="838200" y="-842"/>
            <a:ext cx="10515600" cy="1325563"/>
          </a:xfrm>
        </p:spPr>
        <p:txBody>
          <a:bodyPr/>
          <a:lstStyle/>
          <a:p>
            <a:r>
              <a:rPr lang="en-DK" dirty="0"/>
              <a:t>Experimental design</a:t>
            </a:r>
          </a:p>
        </p:txBody>
      </p:sp>
      <p:pic>
        <p:nvPicPr>
          <p:cNvPr id="3" name="Picture 2">
            <a:extLst>
              <a:ext uri="{FF2B5EF4-FFF2-40B4-BE49-F238E27FC236}">
                <a16:creationId xmlns:a16="http://schemas.microsoft.com/office/drawing/2014/main" id="{C0957DF4-0212-CA53-BD45-CB8B9C3D4596}"/>
              </a:ext>
            </a:extLst>
          </p:cNvPr>
          <p:cNvPicPr>
            <a:picLocks noChangeAspect="1"/>
          </p:cNvPicPr>
          <p:nvPr/>
        </p:nvPicPr>
        <p:blipFill>
          <a:blip r:embed="rId3"/>
          <a:stretch>
            <a:fillRect/>
          </a:stretch>
        </p:blipFill>
        <p:spPr>
          <a:xfrm>
            <a:off x="8264235" y="1803260"/>
            <a:ext cx="2695240" cy="2129240"/>
          </a:xfrm>
          <a:prstGeom prst="rect">
            <a:avLst/>
          </a:prstGeom>
        </p:spPr>
      </p:pic>
      <p:pic>
        <p:nvPicPr>
          <p:cNvPr id="4" name="Picture 2" descr="1,500+ Microbiome Stock Illustrations, Royalty-Free Vector Graphics &amp; Clip  Art - iStock | Gut microbiome, Skin microbiome, Microbiome woman">
            <a:extLst>
              <a:ext uri="{FF2B5EF4-FFF2-40B4-BE49-F238E27FC236}">
                <a16:creationId xmlns:a16="http://schemas.microsoft.com/office/drawing/2014/main" id="{270E7F32-5878-C308-F287-2858E2EE19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029" y="2168359"/>
            <a:ext cx="1617517" cy="161751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D8508C72-1D4A-E441-E5B2-F84BAC4C9ACA}"/>
              </a:ext>
            </a:extLst>
          </p:cNvPr>
          <p:cNvSpPr/>
          <p:nvPr/>
        </p:nvSpPr>
        <p:spPr>
          <a:xfrm>
            <a:off x="2043546" y="2867880"/>
            <a:ext cx="561109" cy="3325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TextBox 5">
            <a:extLst>
              <a:ext uri="{FF2B5EF4-FFF2-40B4-BE49-F238E27FC236}">
                <a16:creationId xmlns:a16="http://schemas.microsoft.com/office/drawing/2014/main" id="{5878C3FC-04E2-5282-1DD2-F94DA56468FD}"/>
              </a:ext>
            </a:extLst>
          </p:cNvPr>
          <p:cNvSpPr txBox="1"/>
          <p:nvPr/>
        </p:nvSpPr>
        <p:spPr>
          <a:xfrm>
            <a:off x="5887139" y="1065179"/>
            <a:ext cx="1955563" cy="1200329"/>
          </a:xfrm>
          <a:prstGeom prst="rect">
            <a:avLst/>
          </a:prstGeom>
          <a:noFill/>
        </p:spPr>
        <p:txBody>
          <a:bodyPr wrap="square" rtlCol="0">
            <a:spAutoFit/>
          </a:bodyPr>
          <a:lstStyle/>
          <a:p>
            <a:r>
              <a:rPr lang="en-DK" b="1" dirty="0"/>
              <a:t>DNA Extraction</a:t>
            </a:r>
          </a:p>
          <a:p>
            <a:r>
              <a:rPr lang="en-DK" dirty="0"/>
              <a:t>Kits to lyse the cells and release the DNA</a:t>
            </a:r>
          </a:p>
        </p:txBody>
      </p:sp>
      <p:sp>
        <p:nvSpPr>
          <p:cNvPr id="7" name="TextBox 6">
            <a:extLst>
              <a:ext uri="{FF2B5EF4-FFF2-40B4-BE49-F238E27FC236}">
                <a16:creationId xmlns:a16="http://schemas.microsoft.com/office/drawing/2014/main" id="{4A093191-604C-DC55-7298-739A9AC07B67}"/>
              </a:ext>
            </a:extLst>
          </p:cNvPr>
          <p:cNvSpPr txBox="1"/>
          <p:nvPr/>
        </p:nvSpPr>
        <p:spPr>
          <a:xfrm>
            <a:off x="2442166" y="1083447"/>
            <a:ext cx="1955572" cy="1200329"/>
          </a:xfrm>
          <a:prstGeom prst="rect">
            <a:avLst/>
          </a:prstGeom>
          <a:noFill/>
        </p:spPr>
        <p:txBody>
          <a:bodyPr wrap="square" rtlCol="0">
            <a:spAutoFit/>
          </a:bodyPr>
          <a:lstStyle/>
          <a:p>
            <a:r>
              <a:rPr lang="en-DK" b="1" dirty="0"/>
              <a:t>DNA Sampling</a:t>
            </a:r>
          </a:p>
          <a:p>
            <a:r>
              <a:rPr lang="en-DK" dirty="0"/>
              <a:t>spatula, swabs, filtration units, soil cores,…</a:t>
            </a:r>
          </a:p>
        </p:txBody>
      </p:sp>
      <p:sp>
        <p:nvSpPr>
          <p:cNvPr id="8" name="TextBox 7">
            <a:extLst>
              <a:ext uri="{FF2B5EF4-FFF2-40B4-BE49-F238E27FC236}">
                <a16:creationId xmlns:a16="http://schemas.microsoft.com/office/drawing/2014/main" id="{D5C72E17-CBF6-BF30-2EC1-19E5B988BB41}"/>
              </a:ext>
            </a:extLst>
          </p:cNvPr>
          <p:cNvSpPr txBox="1"/>
          <p:nvPr/>
        </p:nvSpPr>
        <p:spPr>
          <a:xfrm>
            <a:off x="4238449" y="1083447"/>
            <a:ext cx="1648691" cy="1200329"/>
          </a:xfrm>
          <a:prstGeom prst="rect">
            <a:avLst/>
          </a:prstGeom>
          <a:noFill/>
        </p:spPr>
        <p:txBody>
          <a:bodyPr wrap="square" rtlCol="0">
            <a:spAutoFit/>
          </a:bodyPr>
          <a:lstStyle/>
          <a:p>
            <a:r>
              <a:rPr lang="en-DK" b="1" dirty="0"/>
              <a:t>DNA Storage</a:t>
            </a:r>
          </a:p>
          <a:p>
            <a:r>
              <a:rPr lang="en-DK" dirty="0"/>
              <a:t>freezing, preservation buffers,…</a:t>
            </a:r>
          </a:p>
        </p:txBody>
      </p:sp>
      <p:sp>
        <p:nvSpPr>
          <p:cNvPr id="12" name="TextBox 11">
            <a:extLst>
              <a:ext uri="{FF2B5EF4-FFF2-40B4-BE49-F238E27FC236}">
                <a16:creationId xmlns:a16="http://schemas.microsoft.com/office/drawing/2014/main" id="{255E1334-4942-3F1C-E726-032CFBF69B0A}"/>
              </a:ext>
            </a:extLst>
          </p:cNvPr>
          <p:cNvSpPr txBox="1"/>
          <p:nvPr/>
        </p:nvSpPr>
        <p:spPr>
          <a:xfrm>
            <a:off x="8264234" y="926679"/>
            <a:ext cx="2951373" cy="923330"/>
          </a:xfrm>
          <a:prstGeom prst="rect">
            <a:avLst/>
          </a:prstGeom>
          <a:noFill/>
        </p:spPr>
        <p:txBody>
          <a:bodyPr wrap="square" rtlCol="0">
            <a:spAutoFit/>
          </a:bodyPr>
          <a:lstStyle/>
          <a:p>
            <a:r>
              <a:rPr lang="en-DK" b="1" dirty="0"/>
              <a:t>DNA Sequencing</a:t>
            </a:r>
          </a:p>
          <a:p>
            <a:r>
              <a:rPr lang="en-GB" dirty="0"/>
              <a:t>library prep: fragmentation, end repair, adapter ligation</a:t>
            </a:r>
            <a:endParaRPr lang="en-DK" dirty="0"/>
          </a:p>
        </p:txBody>
      </p:sp>
      <p:pic>
        <p:nvPicPr>
          <p:cNvPr id="13" name="Picture 12">
            <a:extLst>
              <a:ext uri="{FF2B5EF4-FFF2-40B4-BE49-F238E27FC236}">
                <a16:creationId xmlns:a16="http://schemas.microsoft.com/office/drawing/2014/main" id="{9B21B2C6-C3D6-9AA8-3E04-2FF33B5BCF7A}"/>
              </a:ext>
            </a:extLst>
          </p:cNvPr>
          <p:cNvPicPr>
            <a:picLocks noChangeAspect="1"/>
          </p:cNvPicPr>
          <p:nvPr/>
        </p:nvPicPr>
        <p:blipFill>
          <a:blip r:embed="rId5"/>
          <a:stretch>
            <a:fillRect/>
          </a:stretch>
        </p:blipFill>
        <p:spPr>
          <a:xfrm>
            <a:off x="4430414" y="2279911"/>
            <a:ext cx="1281722" cy="1840956"/>
          </a:xfrm>
          <a:prstGeom prst="rect">
            <a:avLst/>
          </a:prstGeom>
        </p:spPr>
      </p:pic>
      <p:pic>
        <p:nvPicPr>
          <p:cNvPr id="15" name="Picture 14">
            <a:extLst>
              <a:ext uri="{FF2B5EF4-FFF2-40B4-BE49-F238E27FC236}">
                <a16:creationId xmlns:a16="http://schemas.microsoft.com/office/drawing/2014/main" id="{AC2893E1-B6D0-C1C4-2F56-1A3F7500DA73}"/>
              </a:ext>
            </a:extLst>
          </p:cNvPr>
          <p:cNvPicPr>
            <a:picLocks noChangeAspect="1"/>
          </p:cNvPicPr>
          <p:nvPr/>
        </p:nvPicPr>
        <p:blipFill>
          <a:blip r:embed="rId6"/>
          <a:stretch>
            <a:fillRect/>
          </a:stretch>
        </p:blipFill>
        <p:spPr>
          <a:xfrm>
            <a:off x="2095500" y="4682539"/>
            <a:ext cx="2576615" cy="1819886"/>
          </a:xfrm>
          <a:prstGeom prst="rect">
            <a:avLst/>
          </a:prstGeom>
        </p:spPr>
      </p:pic>
      <p:sp>
        <p:nvSpPr>
          <p:cNvPr id="16" name="TextBox 15">
            <a:extLst>
              <a:ext uri="{FF2B5EF4-FFF2-40B4-BE49-F238E27FC236}">
                <a16:creationId xmlns:a16="http://schemas.microsoft.com/office/drawing/2014/main" id="{F7D29B56-383D-8D23-6D89-5AB556E86C94}"/>
              </a:ext>
            </a:extLst>
          </p:cNvPr>
          <p:cNvSpPr txBox="1"/>
          <p:nvPr/>
        </p:nvSpPr>
        <p:spPr>
          <a:xfrm>
            <a:off x="58866" y="5070331"/>
            <a:ext cx="2351841" cy="1477328"/>
          </a:xfrm>
          <a:prstGeom prst="rect">
            <a:avLst/>
          </a:prstGeom>
          <a:noFill/>
        </p:spPr>
        <p:txBody>
          <a:bodyPr wrap="square" rtlCol="0">
            <a:spAutoFit/>
          </a:bodyPr>
          <a:lstStyle/>
          <a:p>
            <a:pPr algn="ctr"/>
            <a:r>
              <a:rPr lang="en-US" sz="1800" dirty="0">
                <a:latin typeface="Calibri" charset="0"/>
                <a:ea typeface="Calibri" charset="0"/>
                <a:cs typeface="Calibri" charset="0"/>
              </a:rPr>
              <a:t>Taxonomical and functional characterization of the sequenced reads (</a:t>
            </a:r>
            <a:r>
              <a:rPr lang="en-US" sz="1800" dirty="0" err="1">
                <a:latin typeface="Calibri" charset="0"/>
                <a:ea typeface="Calibri" charset="0"/>
                <a:cs typeface="Calibri" charset="0"/>
              </a:rPr>
              <a:t>fastQ</a:t>
            </a:r>
            <a:r>
              <a:rPr lang="en-US" sz="1800" dirty="0">
                <a:latin typeface="Calibri" charset="0"/>
                <a:ea typeface="Calibri" charset="0"/>
                <a:cs typeface="Calibri" charset="0"/>
              </a:rPr>
              <a:t> files)</a:t>
            </a:r>
          </a:p>
        </p:txBody>
      </p:sp>
      <p:pic>
        <p:nvPicPr>
          <p:cNvPr id="17" name="Picture 16">
            <a:extLst>
              <a:ext uri="{FF2B5EF4-FFF2-40B4-BE49-F238E27FC236}">
                <a16:creationId xmlns:a16="http://schemas.microsoft.com/office/drawing/2014/main" id="{749279C6-15BE-97D0-5731-D87244EB0BFF}"/>
              </a:ext>
            </a:extLst>
          </p:cNvPr>
          <p:cNvPicPr>
            <a:picLocks noChangeAspect="1"/>
          </p:cNvPicPr>
          <p:nvPr/>
        </p:nvPicPr>
        <p:blipFill rotWithShape="1">
          <a:blip r:embed="rId7"/>
          <a:srcRect l="53837" r="-139"/>
          <a:stretch/>
        </p:blipFill>
        <p:spPr>
          <a:xfrm>
            <a:off x="6911217" y="4664652"/>
            <a:ext cx="3304057" cy="1773467"/>
          </a:xfrm>
          <a:prstGeom prst="rect">
            <a:avLst/>
          </a:prstGeom>
        </p:spPr>
      </p:pic>
      <p:sp>
        <p:nvSpPr>
          <p:cNvPr id="18" name="TextBox 17">
            <a:extLst>
              <a:ext uri="{FF2B5EF4-FFF2-40B4-BE49-F238E27FC236}">
                <a16:creationId xmlns:a16="http://schemas.microsoft.com/office/drawing/2014/main" id="{CE87839E-7546-A955-F4A5-6DE5F42D1D90}"/>
              </a:ext>
            </a:extLst>
          </p:cNvPr>
          <p:cNvSpPr txBox="1"/>
          <p:nvPr/>
        </p:nvSpPr>
        <p:spPr>
          <a:xfrm>
            <a:off x="7018188" y="4368034"/>
            <a:ext cx="3090115" cy="369332"/>
          </a:xfrm>
          <a:prstGeom prst="rect">
            <a:avLst/>
          </a:prstGeom>
          <a:noFill/>
        </p:spPr>
        <p:txBody>
          <a:bodyPr wrap="square" rtlCol="0">
            <a:spAutoFit/>
          </a:bodyPr>
          <a:lstStyle/>
          <a:p>
            <a:pPr algn="ctr"/>
            <a:r>
              <a:rPr lang="en-US" sz="1800" dirty="0">
                <a:latin typeface="Calibri" charset="0"/>
                <a:ea typeface="Calibri" charset="0"/>
                <a:cs typeface="Calibri" charset="0"/>
              </a:rPr>
              <a:t>Microbiome abundances</a:t>
            </a:r>
          </a:p>
        </p:txBody>
      </p:sp>
      <p:sp>
        <p:nvSpPr>
          <p:cNvPr id="20" name="Right Arrow 19">
            <a:extLst>
              <a:ext uri="{FF2B5EF4-FFF2-40B4-BE49-F238E27FC236}">
                <a16:creationId xmlns:a16="http://schemas.microsoft.com/office/drawing/2014/main" id="{DFE4BD5E-654E-B2FC-B3C0-060CFEDC30E5}"/>
              </a:ext>
            </a:extLst>
          </p:cNvPr>
          <p:cNvSpPr/>
          <p:nvPr/>
        </p:nvSpPr>
        <p:spPr>
          <a:xfrm>
            <a:off x="5780809" y="5385130"/>
            <a:ext cx="561109" cy="3325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8196" name="Picture 4" descr="What is Microsoft Azure? A Beginners Guide for Organisations">
            <a:extLst>
              <a:ext uri="{FF2B5EF4-FFF2-40B4-BE49-F238E27FC236}">
                <a16:creationId xmlns:a16="http://schemas.microsoft.com/office/drawing/2014/main" id="{57D35678-A4D8-DA8F-1827-E72BD066AF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7790" y="4918253"/>
            <a:ext cx="1059102" cy="59574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Ijms 23 02181 g001">
            <a:extLst>
              <a:ext uri="{FF2B5EF4-FFF2-40B4-BE49-F238E27FC236}">
                <a16:creationId xmlns:a16="http://schemas.microsoft.com/office/drawing/2014/main" id="{4237EA8E-4884-E1CB-8846-97F3F2C274A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5617" t="33068" r="74730" b="50000"/>
          <a:stretch>
            <a:fillRect/>
          </a:stretch>
        </p:blipFill>
        <p:spPr bwMode="auto">
          <a:xfrm>
            <a:off x="6118396" y="3185372"/>
            <a:ext cx="1617518" cy="917567"/>
          </a:xfrm>
          <a:prstGeom prst="rect">
            <a:avLst/>
          </a:prstGeom>
          <a:noFill/>
          <a:extLst>
            <a:ext uri="{909E8E84-426E-40DD-AFC4-6F175D3DCCD1}">
              <a14:hiddenFill xmlns:a14="http://schemas.microsoft.com/office/drawing/2010/main">
                <a:solidFill>
                  <a:srgbClr val="FFFFFF"/>
                </a:solidFill>
              </a14:hiddenFill>
            </a:ext>
          </a:extLst>
        </p:spPr>
      </p:pic>
      <p:sp>
        <p:nvSpPr>
          <p:cNvPr id="21" name="Right Arrow 20">
            <a:extLst>
              <a:ext uri="{FF2B5EF4-FFF2-40B4-BE49-F238E27FC236}">
                <a16:creationId xmlns:a16="http://schemas.microsoft.com/office/drawing/2014/main" id="{ABE164FC-0FAF-42F6-974B-3AA9570EF50E}"/>
              </a:ext>
            </a:extLst>
          </p:cNvPr>
          <p:cNvSpPr/>
          <p:nvPr/>
        </p:nvSpPr>
        <p:spPr>
          <a:xfrm>
            <a:off x="11215613" y="2673984"/>
            <a:ext cx="561109" cy="3325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8202" name="Picture 10" descr="Metagenomics: Host DNA Removal or Not?">
            <a:extLst>
              <a:ext uri="{FF2B5EF4-FFF2-40B4-BE49-F238E27FC236}">
                <a16:creationId xmlns:a16="http://schemas.microsoft.com/office/drawing/2014/main" id="{D3524854-1DEA-D579-C38D-D1F950CFA9D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4546" t="25939" r="76117" b="54446"/>
          <a:stretch>
            <a:fillRect/>
          </a:stretch>
        </p:blipFill>
        <p:spPr bwMode="auto">
          <a:xfrm>
            <a:off x="3285298" y="2434345"/>
            <a:ext cx="635561" cy="74672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descr="Metagenomics: Host DNA Removal or Not?">
            <a:extLst>
              <a:ext uri="{FF2B5EF4-FFF2-40B4-BE49-F238E27FC236}">
                <a16:creationId xmlns:a16="http://schemas.microsoft.com/office/drawing/2014/main" id="{DDDF007F-EB2A-FCDB-2452-EB73F39314F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60082" t="15003" r="8692" b="53768"/>
          <a:stretch>
            <a:fillRect/>
          </a:stretch>
        </p:blipFill>
        <p:spPr bwMode="auto">
          <a:xfrm>
            <a:off x="2744104" y="3170939"/>
            <a:ext cx="1335136" cy="746726"/>
          </a:xfrm>
          <a:prstGeom prst="rect">
            <a:avLst/>
          </a:prstGeom>
          <a:noFill/>
          <a:extLst>
            <a:ext uri="{909E8E84-426E-40DD-AFC4-6F175D3DCCD1}">
              <a14:hiddenFill xmlns:a14="http://schemas.microsoft.com/office/drawing/2010/main">
                <a:solidFill>
                  <a:srgbClr val="FFFFFF"/>
                </a:solidFill>
              </a14:hiddenFill>
            </a:ext>
          </a:extLst>
        </p:spPr>
      </p:pic>
      <p:sp>
        <p:nvSpPr>
          <p:cNvPr id="23" name="Right Arrow 22">
            <a:extLst>
              <a:ext uri="{FF2B5EF4-FFF2-40B4-BE49-F238E27FC236}">
                <a16:creationId xmlns:a16="http://schemas.microsoft.com/office/drawing/2014/main" id="{7BEC7C29-2CBB-F732-7555-4D86A6E97C16}"/>
              </a:ext>
            </a:extLst>
          </p:cNvPr>
          <p:cNvSpPr/>
          <p:nvPr/>
        </p:nvSpPr>
        <p:spPr>
          <a:xfrm>
            <a:off x="7597854" y="2701625"/>
            <a:ext cx="561109" cy="3325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8208" name="Picture 16" descr="Evaluation of methods for the reduction of contaminating host reads when  performing shotgun metagenomic sequencing of the milk microbiome |  Scientific Reports">
            <a:extLst>
              <a:ext uri="{FF2B5EF4-FFF2-40B4-BE49-F238E27FC236}">
                <a16:creationId xmlns:a16="http://schemas.microsoft.com/office/drawing/2014/main" id="{11CFE9FA-FAC9-3878-41A2-71FA0148E3F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58332" t="38146" r="37452" b="51685"/>
          <a:stretch>
            <a:fillRect/>
          </a:stretch>
        </p:blipFill>
        <p:spPr bwMode="auto">
          <a:xfrm>
            <a:off x="2744104" y="2434346"/>
            <a:ext cx="403201" cy="74672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C9D92988-482E-1804-CFBB-AD0FE869C724}"/>
              </a:ext>
            </a:extLst>
          </p:cNvPr>
          <p:cNvPicPr>
            <a:picLocks noChangeAspect="1"/>
          </p:cNvPicPr>
          <p:nvPr/>
        </p:nvPicPr>
        <p:blipFill>
          <a:blip r:embed="rId12"/>
          <a:stretch>
            <a:fillRect/>
          </a:stretch>
        </p:blipFill>
        <p:spPr>
          <a:xfrm>
            <a:off x="6296891" y="2343361"/>
            <a:ext cx="1090328" cy="817746"/>
          </a:xfrm>
          <a:prstGeom prst="rect">
            <a:avLst/>
          </a:prstGeom>
        </p:spPr>
      </p:pic>
      <p:cxnSp>
        <p:nvCxnSpPr>
          <p:cNvPr id="26" name="Straight Connector 25">
            <a:extLst>
              <a:ext uri="{FF2B5EF4-FFF2-40B4-BE49-F238E27FC236}">
                <a16:creationId xmlns:a16="http://schemas.microsoft.com/office/drawing/2014/main" id="{3E88A317-1231-C775-AA97-F99F0E91B879}"/>
              </a:ext>
            </a:extLst>
          </p:cNvPr>
          <p:cNvCxnSpPr/>
          <p:nvPr/>
        </p:nvCxnSpPr>
        <p:spPr>
          <a:xfrm>
            <a:off x="4238449" y="1932063"/>
            <a:ext cx="0" cy="227426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47A8E67-2951-A965-D4F1-1DCD0DFCDD16}"/>
              </a:ext>
            </a:extLst>
          </p:cNvPr>
          <p:cNvCxnSpPr/>
          <p:nvPr/>
        </p:nvCxnSpPr>
        <p:spPr>
          <a:xfrm>
            <a:off x="5887140" y="1921430"/>
            <a:ext cx="0" cy="227426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D9F994D-2362-1A0A-DE28-B081FAEAE8C3}"/>
              </a:ext>
            </a:extLst>
          </p:cNvPr>
          <p:cNvSpPr txBox="1"/>
          <p:nvPr/>
        </p:nvSpPr>
        <p:spPr>
          <a:xfrm>
            <a:off x="10560983" y="5269316"/>
            <a:ext cx="1309248" cy="646331"/>
          </a:xfrm>
          <a:prstGeom prst="rect">
            <a:avLst/>
          </a:prstGeom>
          <a:noFill/>
        </p:spPr>
        <p:txBody>
          <a:bodyPr wrap="square" rtlCol="0">
            <a:spAutoFit/>
          </a:bodyPr>
          <a:lstStyle/>
          <a:p>
            <a:r>
              <a:rPr lang="en-DK" b="1" dirty="0"/>
              <a:t>Data Analysis</a:t>
            </a:r>
          </a:p>
        </p:txBody>
      </p:sp>
    </p:spTree>
    <p:extLst>
      <p:ext uri="{BB962C8B-B14F-4D97-AF65-F5344CB8AC3E}">
        <p14:creationId xmlns:p14="http://schemas.microsoft.com/office/powerpoint/2010/main" val="721651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1E5B660-1F1C-686C-2328-6FF0A8B7143F}"/>
              </a:ext>
            </a:extLst>
          </p:cNvPr>
          <p:cNvSpPr>
            <a:spLocks noGrp="1"/>
          </p:cNvSpPr>
          <p:nvPr>
            <p:ph type="title"/>
          </p:nvPr>
        </p:nvSpPr>
        <p:spPr>
          <a:xfrm>
            <a:off x="1137034" y="609597"/>
            <a:ext cx="9392421" cy="1330841"/>
          </a:xfrm>
        </p:spPr>
        <p:txBody>
          <a:bodyPr>
            <a:normAutofit/>
          </a:bodyPr>
          <a:lstStyle/>
          <a:p>
            <a:r>
              <a:rPr lang="en-DK" dirty="0"/>
              <a:t>Sample collection</a:t>
            </a:r>
          </a:p>
        </p:txBody>
      </p:sp>
      <p:sp>
        <p:nvSpPr>
          <p:cNvPr id="3" name="Content Placeholder 2">
            <a:extLst>
              <a:ext uri="{FF2B5EF4-FFF2-40B4-BE49-F238E27FC236}">
                <a16:creationId xmlns:a16="http://schemas.microsoft.com/office/drawing/2014/main" id="{A0C4DAEB-20BB-AF4C-92AB-721AC7D2220E}"/>
              </a:ext>
            </a:extLst>
          </p:cNvPr>
          <p:cNvSpPr>
            <a:spLocks noGrp="1"/>
          </p:cNvSpPr>
          <p:nvPr>
            <p:ph idx="1"/>
          </p:nvPr>
        </p:nvSpPr>
        <p:spPr>
          <a:xfrm>
            <a:off x="730868" y="2159373"/>
            <a:ext cx="7732583" cy="4050041"/>
          </a:xfrm>
        </p:spPr>
        <p:txBody>
          <a:bodyPr>
            <a:noAutofit/>
          </a:bodyPr>
          <a:lstStyle/>
          <a:p>
            <a:r>
              <a:rPr lang="en-GB" sz="1800" dirty="0"/>
              <a:t>To obtain a </a:t>
            </a:r>
            <a:r>
              <a:rPr lang="en-GB" sz="1800" b="1" dirty="0"/>
              <a:t>representative and uncontaminated snapshot of a microbial community</a:t>
            </a:r>
            <a:r>
              <a:rPr lang="en-GB" sz="1800" dirty="0"/>
              <a:t> in a specific environment (e.g., gut, soil, water, skin,…)</a:t>
            </a:r>
          </a:p>
          <a:p>
            <a:r>
              <a:rPr lang="en-GB" sz="1800" b="1" dirty="0"/>
              <a:t>Sterile tools </a:t>
            </a:r>
            <a:r>
              <a:rPr lang="en-GB" sz="1800" dirty="0"/>
              <a:t>and containers need to be used</a:t>
            </a:r>
          </a:p>
          <a:p>
            <a:r>
              <a:rPr lang="en-GB" sz="1800" dirty="0"/>
              <a:t>Microbial DNA can degrade rapidly. A good preservation ensures the microbial community structure remains as close to in situ as possible.</a:t>
            </a:r>
          </a:p>
          <a:p>
            <a:pPr lvl="1"/>
            <a:r>
              <a:rPr lang="en-DK" sz="1800" b="1" dirty="0"/>
              <a:t>Freezing</a:t>
            </a:r>
            <a:r>
              <a:rPr lang="en-DK" sz="1800" dirty="0"/>
              <a:t> (-20 to -80C) for long-term storage</a:t>
            </a:r>
          </a:p>
          <a:p>
            <a:pPr lvl="1"/>
            <a:r>
              <a:rPr lang="en-DK" sz="1800" dirty="0"/>
              <a:t>Preservation buffers if freezing is delayed</a:t>
            </a:r>
          </a:p>
          <a:p>
            <a:r>
              <a:rPr lang="en-GB" sz="1800" dirty="0"/>
              <a:t>For sample transportation use </a:t>
            </a:r>
            <a:r>
              <a:rPr lang="en-GB" sz="1800" b="1" dirty="0"/>
              <a:t>cold chain logistics </a:t>
            </a:r>
            <a:r>
              <a:rPr lang="en-GB" sz="1800" dirty="0"/>
              <a:t>(ice packs, dry ice, liquid nitrogen)</a:t>
            </a:r>
          </a:p>
          <a:p>
            <a:r>
              <a:rPr lang="en-GB" sz="1800" b="1" dirty="0"/>
              <a:t>Label</a:t>
            </a:r>
            <a:r>
              <a:rPr lang="en-GB" sz="1800" dirty="0"/>
              <a:t> clearly with metadata: time, location, environmental conditions, etc.</a:t>
            </a:r>
          </a:p>
          <a:p>
            <a:pPr lvl="1"/>
            <a:r>
              <a:rPr lang="en-GB" sz="1800" dirty="0"/>
              <a:t>Important for downstream analysis and reproducibility</a:t>
            </a:r>
          </a:p>
          <a:p>
            <a:endParaRPr lang="en-DK" sz="1800" dirty="0"/>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10" descr="Metagenomics: Host DNA Removal or Not?">
            <a:extLst>
              <a:ext uri="{FF2B5EF4-FFF2-40B4-BE49-F238E27FC236}">
                <a16:creationId xmlns:a16="http://schemas.microsoft.com/office/drawing/2014/main" id="{1EF0AD1C-827A-0299-2A0D-DBFF986687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546" t="25939" r="76117" b="54446"/>
          <a:stretch>
            <a:fillRect/>
          </a:stretch>
        </p:blipFill>
        <p:spPr bwMode="auto">
          <a:xfrm>
            <a:off x="10233636" y="1940438"/>
            <a:ext cx="1163635" cy="13671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descr="Metagenomics: Host DNA Removal or Not?">
            <a:extLst>
              <a:ext uri="{FF2B5EF4-FFF2-40B4-BE49-F238E27FC236}">
                <a16:creationId xmlns:a16="http://schemas.microsoft.com/office/drawing/2014/main" id="{36ACF489-045E-F2BA-F183-8874C67532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082" t="15003" r="8692" b="53768"/>
          <a:stretch>
            <a:fillRect/>
          </a:stretch>
        </p:blipFill>
        <p:spPr bwMode="auto">
          <a:xfrm>
            <a:off x="9194318" y="3428999"/>
            <a:ext cx="2444473" cy="136716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descr="Evaluation of methods for the reduction of contaminating host reads when  performing shotgun metagenomic sequencing of the milk microbiome |  Scientific Reports">
            <a:extLst>
              <a:ext uri="{FF2B5EF4-FFF2-40B4-BE49-F238E27FC236}">
                <a16:creationId xmlns:a16="http://schemas.microsoft.com/office/drawing/2014/main" id="{C9BCAE8C-4DD1-F528-5BA6-AC8D15B220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332" t="38146" r="37452" b="51685"/>
          <a:stretch>
            <a:fillRect/>
          </a:stretch>
        </p:blipFill>
        <p:spPr bwMode="auto">
          <a:xfrm>
            <a:off x="9194318" y="2107921"/>
            <a:ext cx="738212" cy="1367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163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91425D-A7CD-ED76-9397-7FFEAA75C222}"/>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781AC64-DB84-F8FC-A3C3-61AC4BFD21E0}"/>
              </a:ext>
            </a:extLst>
          </p:cNvPr>
          <p:cNvSpPr>
            <a:spLocks noGrp="1"/>
          </p:cNvSpPr>
          <p:nvPr>
            <p:ph type="title"/>
          </p:nvPr>
        </p:nvSpPr>
        <p:spPr>
          <a:xfrm>
            <a:off x="1075893" y="121885"/>
            <a:ext cx="6463301" cy="1322888"/>
          </a:xfrm>
        </p:spPr>
        <p:txBody>
          <a:bodyPr>
            <a:normAutofit/>
          </a:bodyPr>
          <a:lstStyle/>
          <a:p>
            <a:r>
              <a:rPr lang="en-DK" dirty="0"/>
              <a:t>DNA Extraction</a:t>
            </a:r>
          </a:p>
        </p:txBody>
      </p:sp>
      <p:sp>
        <p:nvSpPr>
          <p:cNvPr id="20" name="Freeform: Shape 19">
            <a:extLst>
              <a:ext uri="{FF2B5EF4-FFF2-40B4-BE49-F238E27FC236}">
                <a16:creationId xmlns:a16="http://schemas.microsoft.com/office/drawing/2014/main" id="{2B573B51-C170-49C0-A3D9-8D99730C45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4" y="2"/>
            <a:ext cx="7602076" cy="470844"/>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Content Placeholder 4">
            <a:extLst>
              <a:ext uri="{FF2B5EF4-FFF2-40B4-BE49-F238E27FC236}">
                <a16:creationId xmlns:a16="http://schemas.microsoft.com/office/drawing/2014/main" id="{EA789BD0-4A31-AB11-521B-076AA5582F68}"/>
              </a:ext>
            </a:extLst>
          </p:cNvPr>
          <p:cNvSpPr>
            <a:spLocks noGrp="1"/>
          </p:cNvSpPr>
          <p:nvPr>
            <p:ph idx="1"/>
          </p:nvPr>
        </p:nvSpPr>
        <p:spPr>
          <a:xfrm>
            <a:off x="736363" y="1444774"/>
            <a:ext cx="7142363" cy="3361125"/>
          </a:xfrm>
        </p:spPr>
        <p:txBody>
          <a:bodyPr>
            <a:noAutofit/>
          </a:bodyPr>
          <a:lstStyle/>
          <a:p>
            <a:r>
              <a:rPr lang="en-GB" sz="1800" dirty="0"/>
              <a:t>To obtain </a:t>
            </a:r>
            <a:r>
              <a:rPr lang="en-GB" sz="1800" b="1" dirty="0"/>
              <a:t>high-quality, unbiased, and inhibitor-free DNA</a:t>
            </a:r>
            <a:r>
              <a:rPr lang="en-GB" sz="1800" dirty="0"/>
              <a:t> from a complex matrix (e.g., soil, </a:t>
            </a:r>
            <a:r>
              <a:rPr lang="en-GB" sz="1800" dirty="0" err="1"/>
              <a:t>feces</a:t>
            </a:r>
            <a:r>
              <a:rPr lang="en-GB" sz="1800" dirty="0"/>
              <a:t>, water)</a:t>
            </a:r>
          </a:p>
          <a:p>
            <a:r>
              <a:rPr lang="en-GB" sz="1800" dirty="0"/>
              <a:t>Isolate </a:t>
            </a:r>
            <a:r>
              <a:rPr lang="en-GB" sz="1800" b="1" dirty="0"/>
              <a:t>total microbial DNA</a:t>
            </a:r>
            <a:r>
              <a:rPr lang="en-GB" sz="1800" dirty="0"/>
              <a:t> from all organisms in a sample (bacteria, archaea, fungi, viruses—depending on context)</a:t>
            </a:r>
          </a:p>
          <a:p>
            <a:r>
              <a:rPr lang="en-GB" sz="1800" dirty="0"/>
              <a:t>Steps:</a:t>
            </a:r>
          </a:p>
          <a:p>
            <a:pPr lvl="1"/>
            <a:r>
              <a:rPr lang="en-GB" sz="1800" b="1" dirty="0"/>
              <a:t>Cell Lysis: </a:t>
            </a:r>
            <a:r>
              <a:rPr lang="en-GB" sz="1800" dirty="0"/>
              <a:t>The goal is to </a:t>
            </a:r>
            <a:r>
              <a:rPr lang="en-GB" sz="1800" b="1" dirty="0"/>
              <a:t>lyse all types</a:t>
            </a:r>
            <a:r>
              <a:rPr lang="en-GB" sz="1800" dirty="0"/>
              <a:t> of microbes, including tough ones like Gram-positive bacteria or spores.</a:t>
            </a:r>
          </a:p>
          <a:p>
            <a:pPr lvl="2"/>
            <a:r>
              <a:rPr lang="en-GB" sz="1400" dirty="0"/>
              <a:t>Mechanical disruption (Bead beating)</a:t>
            </a:r>
          </a:p>
          <a:p>
            <a:pPr lvl="2"/>
            <a:r>
              <a:rPr lang="en-GB" sz="1400" dirty="0"/>
              <a:t>Chemical/enzymatic lysis (detergent/</a:t>
            </a:r>
            <a:r>
              <a:rPr lang="en-GB" sz="1400" dirty="0" err="1"/>
              <a:t>enzyms</a:t>
            </a:r>
            <a:r>
              <a:rPr lang="en-GB" sz="1400" dirty="0"/>
              <a:t> (lysozyme, proteinase K, </a:t>
            </a:r>
            <a:r>
              <a:rPr lang="en-GB" sz="1400" dirty="0" err="1"/>
              <a:t>Rnase</a:t>
            </a:r>
            <a:r>
              <a:rPr lang="en-GB" sz="1400" dirty="0"/>
              <a:t>)</a:t>
            </a:r>
          </a:p>
          <a:p>
            <a:pPr marL="457200" lvl="1" indent="0">
              <a:buNone/>
            </a:pPr>
            <a:r>
              <a:rPr lang="en-GB" sz="1800" dirty="0"/>
              <a:t>Kits are preferred in metagenomics for consistency, ease, and reduced contamination risk (e.g., Qiagen, </a:t>
            </a:r>
            <a:r>
              <a:rPr lang="en-GB" sz="1800" dirty="0" err="1"/>
              <a:t>Zymo</a:t>
            </a:r>
            <a:r>
              <a:rPr lang="en-GB" sz="1800" dirty="0"/>
              <a:t>, MoBio/</a:t>
            </a:r>
            <a:r>
              <a:rPr lang="en-GB" sz="1800" dirty="0" err="1"/>
              <a:t>DNeasy</a:t>
            </a:r>
            <a:r>
              <a:rPr lang="en-GB" sz="1800" dirty="0"/>
              <a:t>)</a:t>
            </a:r>
            <a:endParaRPr lang="en-GB" sz="1800" b="1" dirty="0"/>
          </a:p>
          <a:p>
            <a:pPr lvl="1"/>
            <a:r>
              <a:rPr lang="en-GB" sz="1800" b="1" dirty="0"/>
              <a:t>Contaminant Removal: </a:t>
            </a:r>
            <a:r>
              <a:rPr lang="en-GB" sz="1800" dirty="0"/>
              <a:t>Use specialized kits with inhibitor removal steps (e.g., </a:t>
            </a:r>
            <a:r>
              <a:rPr lang="en-GB" sz="1800" dirty="0" err="1"/>
              <a:t>PowerSoil</a:t>
            </a:r>
            <a:r>
              <a:rPr lang="en-GB" sz="1800" dirty="0"/>
              <a:t> DNA Kit)</a:t>
            </a:r>
            <a:endParaRPr lang="en-GB" sz="1800" b="1" dirty="0"/>
          </a:p>
          <a:p>
            <a:pPr lvl="1"/>
            <a:r>
              <a:rPr lang="en-GB" sz="1800" b="1" dirty="0"/>
              <a:t>DNA Purification: </a:t>
            </a:r>
            <a:r>
              <a:rPr lang="en-GB" sz="1800" dirty="0"/>
              <a:t>remove proteins, RNA, lipids, and inhibitors</a:t>
            </a:r>
          </a:p>
          <a:p>
            <a:pPr lvl="1"/>
            <a:r>
              <a:rPr lang="en-GB" sz="1800" b="1" dirty="0"/>
              <a:t>Quantification &amp; Quality Check</a:t>
            </a:r>
            <a:endParaRPr lang="en-GB" sz="1800" dirty="0"/>
          </a:p>
          <a:p>
            <a:endParaRPr lang="en-DK" sz="1800" dirty="0"/>
          </a:p>
        </p:txBody>
      </p:sp>
      <p:pic>
        <p:nvPicPr>
          <p:cNvPr id="12" name="Picture 11">
            <a:extLst>
              <a:ext uri="{FF2B5EF4-FFF2-40B4-BE49-F238E27FC236}">
                <a16:creationId xmlns:a16="http://schemas.microsoft.com/office/drawing/2014/main" id="{FAB3387C-E23E-B817-5002-A520B138DA80}"/>
              </a:ext>
            </a:extLst>
          </p:cNvPr>
          <p:cNvPicPr>
            <a:picLocks noChangeAspect="1"/>
          </p:cNvPicPr>
          <p:nvPr/>
        </p:nvPicPr>
        <p:blipFill>
          <a:blip r:embed="rId2"/>
          <a:stretch>
            <a:fillRect/>
          </a:stretch>
        </p:blipFill>
        <p:spPr>
          <a:xfrm>
            <a:off x="9148334" y="2524873"/>
            <a:ext cx="1869750" cy="1402313"/>
          </a:xfrm>
          <a:prstGeom prst="rect">
            <a:avLst/>
          </a:prstGeom>
        </p:spPr>
      </p:pic>
      <p:pic>
        <p:nvPicPr>
          <p:cNvPr id="10" name="Picture 6" descr="Ijms 23 02181 g001">
            <a:extLst>
              <a:ext uri="{FF2B5EF4-FFF2-40B4-BE49-F238E27FC236}">
                <a16:creationId xmlns:a16="http://schemas.microsoft.com/office/drawing/2014/main" id="{BA838264-3A59-6853-5114-3C7A72A0A2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17" t="33068" r="74730" b="50000"/>
          <a:stretch>
            <a:fillRect/>
          </a:stretch>
        </p:blipFill>
        <p:spPr bwMode="auto">
          <a:xfrm>
            <a:off x="8744622" y="3952670"/>
            <a:ext cx="2868561" cy="1624955"/>
          </a:xfrm>
          <a:prstGeom prst="rect">
            <a:avLst/>
          </a:prstGeom>
          <a:noFill/>
          <a:extLst>
            <a:ext uri="{909E8E84-426E-40DD-AFC4-6F175D3DCCD1}">
              <a14:hiddenFill xmlns:a14="http://schemas.microsoft.com/office/drawing/2010/main">
                <a:solidFill>
                  <a:srgbClr val="FFFFFF"/>
                </a:solidFill>
              </a14:hiddenFill>
            </a:ext>
          </a:extLst>
        </p:spPr>
      </p:pic>
      <p:sp>
        <p:nvSpPr>
          <p:cNvPr id="22" name="Freeform: Shape 21">
            <a:extLst>
              <a:ext uri="{FF2B5EF4-FFF2-40B4-BE49-F238E27FC236}">
                <a16:creationId xmlns:a16="http://schemas.microsoft.com/office/drawing/2014/main" id="{CC7BCC73-A901-44EB-B0E7-879E19267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9827"/>
            <a:ext cx="10680562" cy="1078174"/>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11C5203-7F98-29EA-477A-29994EA5E064}"/>
              </a:ext>
            </a:extLst>
          </p:cNvPr>
          <p:cNvSpPr txBox="1"/>
          <p:nvPr/>
        </p:nvSpPr>
        <p:spPr>
          <a:xfrm>
            <a:off x="8364449" y="1322888"/>
            <a:ext cx="3628905" cy="954107"/>
          </a:xfrm>
          <a:prstGeom prst="rect">
            <a:avLst/>
          </a:prstGeom>
          <a:noFill/>
        </p:spPr>
        <p:txBody>
          <a:bodyPr wrap="square">
            <a:spAutoFit/>
          </a:bodyPr>
          <a:lstStyle/>
          <a:p>
            <a:r>
              <a:rPr lang="en-GB" sz="1400" dirty="0"/>
              <a:t>Common DNA extraction kits:</a:t>
            </a:r>
          </a:p>
          <a:p>
            <a:pPr marL="285750" indent="-285750">
              <a:buFont typeface="Arial" panose="020B0604020202020204" pitchFamily="34" charset="0"/>
              <a:buChar char="•"/>
            </a:pPr>
            <a:r>
              <a:rPr lang="en-GB" sz="1400" dirty="0"/>
              <a:t>QIAGEN </a:t>
            </a:r>
            <a:r>
              <a:rPr lang="en-GB" sz="1400" dirty="0" err="1"/>
              <a:t>DNeasy</a:t>
            </a:r>
            <a:r>
              <a:rPr lang="en-GB" sz="1400" dirty="0"/>
              <a:t> </a:t>
            </a:r>
            <a:r>
              <a:rPr lang="en-GB" sz="1400" dirty="0" err="1"/>
              <a:t>PowerSoil</a:t>
            </a:r>
            <a:r>
              <a:rPr lang="en-GB" sz="1400" dirty="0"/>
              <a:t> Pro Kit</a:t>
            </a:r>
          </a:p>
          <a:p>
            <a:pPr marL="285750" indent="-285750">
              <a:buFont typeface="Arial" panose="020B0604020202020204" pitchFamily="34" charset="0"/>
              <a:buChar char="•"/>
            </a:pPr>
            <a:r>
              <a:rPr lang="en-GB" sz="1400" dirty="0"/>
              <a:t>QIAGEN </a:t>
            </a:r>
            <a:r>
              <a:rPr lang="en-GB" sz="1400" dirty="0" err="1"/>
              <a:t>QIAamp</a:t>
            </a:r>
            <a:r>
              <a:rPr lang="en-GB" sz="1400" dirty="0"/>
              <a:t> </a:t>
            </a:r>
            <a:r>
              <a:rPr lang="en-GB" sz="1400" dirty="0" err="1"/>
              <a:t>PowerFecal</a:t>
            </a:r>
            <a:r>
              <a:rPr lang="en-GB" sz="1400" dirty="0"/>
              <a:t> Pro DNA Kit</a:t>
            </a:r>
          </a:p>
          <a:p>
            <a:pPr marL="285750" indent="-285750">
              <a:buFont typeface="Arial" panose="020B0604020202020204" pitchFamily="34" charset="0"/>
              <a:buChar char="•"/>
            </a:pPr>
            <a:r>
              <a:rPr lang="en-GB" sz="1400" dirty="0" err="1"/>
              <a:t>ZymoBIOMICS</a:t>
            </a:r>
            <a:r>
              <a:rPr lang="en-GB" sz="1400" dirty="0"/>
              <a:t> DNA Miniprep Kit</a:t>
            </a:r>
            <a:endParaRPr lang="en-DK" sz="1400" dirty="0"/>
          </a:p>
        </p:txBody>
      </p:sp>
    </p:spTree>
    <p:extLst>
      <p:ext uri="{BB962C8B-B14F-4D97-AF65-F5344CB8AC3E}">
        <p14:creationId xmlns:p14="http://schemas.microsoft.com/office/powerpoint/2010/main" val="1797311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2F06A7-D3C4-4D76-2FCF-CFA279E8239A}"/>
              </a:ext>
            </a:extLst>
          </p:cNvPr>
          <p:cNvSpPr>
            <a:spLocks noGrp="1"/>
          </p:cNvSpPr>
          <p:nvPr>
            <p:ph type="title"/>
          </p:nvPr>
        </p:nvSpPr>
        <p:spPr>
          <a:xfrm>
            <a:off x="1137034" y="609597"/>
            <a:ext cx="9392421" cy="1330841"/>
          </a:xfrm>
        </p:spPr>
        <p:txBody>
          <a:bodyPr>
            <a:normAutofit/>
          </a:bodyPr>
          <a:lstStyle/>
          <a:p>
            <a:r>
              <a:rPr lang="en-DK"/>
              <a:t>Sequencing</a:t>
            </a:r>
          </a:p>
        </p:txBody>
      </p:sp>
      <p:sp>
        <p:nvSpPr>
          <p:cNvPr id="3" name="Content Placeholder 2">
            <a:extLst>
              <a:ext uri="{FF2B5EF4-FFF2-40B4-BE49-F238E27FC236}">
                <a16:creationId xmlns:a16="http://schemas.microsoft.com/office/drawing/2014/main" id="{052F8F6C-223E-37FC-05D7-F53A283465CA}"/>
              </a:ext>
            </a:extLst>
          </p:cNvPr>
          <p:cNvSpPr>
            <a:spLocks noGrp="1"/>
          </p:cNvSpPr>
          <p:nvPr>
            <p:ph idx="1"/>
          </p:nvPr>
        </p:nvSpPr>
        <p:spPr>
          <a:xfrm>
            <a:off x="1137034" y="2369165"/>
            <a:ext cx="5804093" cy="4313274"/>
          </a:xfrm>
        </p:spPr>
        <p:txBody>
          <a:bodyPr>
            <a:normAutofit/>
          </a:bodyPr>
          <a:lstStyle/>
          <a:p>
            <a:r>
              <a:rPr lang="en-GB" sz="1800" dirty="0"/>
              <a:t>To read the </a:t>
            </a:r>
            <a:r>
              <a:rPr lang="en-GB" sz="1800" b="1" dirty="0"/>
              <a:t>nucleotide sequences</a:t>
            </a:r>
            <a:r>
              <a:rPr lang="en-GB" sz="1800" dirty="0"/>
              <a:t> of DNA fragments extracted from a microbial community — enabling identification of </a:t>
            </a:r>
            <a:r>
              <a:rPr lang="en-GB" sz="1800" b="1" dirty="0"/>
              <a:t>who is present</a:t>
            </a:r>
            <a:r>
              <a:rPr lang="en-GB" sz="1800" dirty="0"/>
              <a:t> and </a:t>
            </a:r>
            <a:r>
              <a:rPr lang="en-GB" sz="1800" b="1" dirty="0"/>
              <a:t>what they can do</a:t>
            </a:r>
          </a:p>
          <a:p>
            <a:r>
              <a:rPr lang="en-GB" sz="1800" b="1" dirty="0"/>
              <a:t>Library preparation: </a:t>
            </a:r>
            <a:r>
              <a:rPr lang="en-GB" sz="1800" dirty="0"/>
              <a:t>DNA must be </a:t>
            </a:r>
            <a:r>
              <a:rPr lang="en-GB" sz="1800" b="1" dirty="0"/>
              <a:t>fragmented</a:t>
            </a:r>
            <a:r>
              <a:rPr lang="en-GB" sz="1800" dirty="0"/>
              <a:t> and </a:t>
            </a:r>
            <a:r>
              <a:rPr lang="en-GB" sz="1800" b="1" dirty="0"/>
              <a:t>tagged with adapters</a:t>
            </a:r>
            <a:r>
              <a:rPr lang="en-GB" sz="1800" dirty="0"/>
              <a:t> for compatibility with sequencing platforms.</a:t>
            </a:r>
          </a:p>
          <a:p>
            <a:r>
              <a:rPr lang="en-GB" sz="1800" dirty="0"/>
              <a:t>Include negative and positive </a:t>
            </a:r>
            <a:r>
              <a:rPr lang="en-GB" sz="1800" b="1" dirty="0"/>
              <a:t>controls</a:t>
            </a:r>
            <a:r>
              <a:rPr lang="en-GB" sz="1800" dirty="0"/>
              <a:t> (e.g., mock communities)</a:t>
            </a:r>
          </a:p>
          <a:p>
            <a:r>
              <a:rPr lang="en-GB" sz="1800" dirty="0"/>
              <a:t>Choose </a:t>
            </a:r>
            <a:r>
              <a:rPr lang="en-GB" sz="1800" b="1" dirty="0"/>
              <a:t>depth</a:t>
            </a:r>
            <a:r>
              <a:rPr lang="en-GB" sz="1800" dirty="0"/>
              <a:t> wisely: deeper for complex samples or analysis (e.g., soil, strain resolution, single nucleotide variants(SNVs)), shallower for simpler ones</a:t>
            </a:r>
          </a:p>
          <a:p>
            <a:r>
              <a:rPr lang="en-GB" sz="1800" dirty="0"/>
              <a:t>Paired-end sequencing from Illumina (Sequencing by Synthesis):</a:t>
            </a:r>
            <a:endParaRPr lang="en-GB" sz="1800" dirty="0">
              <a:hlinkClick r:id="rId3"/>
            </a:endParaRPr>
          </a:p>
          <a:p>
            <a:pPr lvl="1"/>
            <a:r>
              <a:rPr lang="en-GB" sz="1400" dirty="0">
                <a:hlinkClick r:id="rId3"/>
              </a:rPr>
              <a:t>https://www.youtube.com/watch?v=HMyCqWhwB8E</a:t>
            </a:r>
            <a:endParaRPr lang="en-GB" sz="1400" dirty="0"/>
          </a:p>
          <a:p>
            <a:endParaRPr lang="en-GB" sz="1800" dirty="0"/>
          </a:p>
          <a:p>
            <a:endParaRPr lang="en-DK" sz="1800" dirty="0"/>
          </a:p>
        </p:txBody>
      </p:sp>
      <p:pic>
        <p:nvPicPr>
          <p:cNvPr id="4" name="Picture 3">
            <a:extLst>
              <a:ext uri="{FF2B5EF4-FFF2-40B4-BE49-F238E27FC236}">
                <a16:creationId xmlns:a16="http://schemas.microsoft.com/office/drawing/2014/main" id="{46FC9626-1667-0887-9989-A5986A20CD66}"/>
              </a:ext>
            </a:extLst>
          </p:cNvPr>
          <p:cNvPicPr>
            <a:picLocks noChangeAspect="1"/>
          </p:cNvPicPr>
          <p:nvPr/>
        </p:nvPicPr>
        <p:blipFill>
          <a:blip r:embed="rId4"/>
          <a:stretch>
            <a:fillRect/>
          </a:stretch>
        </p:blipFill>
        <p:spPr>
          <a:xfrm>
            <a:off x="8192152" y="2453061"/>
            <a:ext cx="2695587" cy="2129514"/>
          </a:xfrm>
          <a:prstGeom prst="rect">
            <a:avLst/>
          </a:prstGeom>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26926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0765-0F38-4382-AECB-60588D29BA94}"/>
              </a:ext>
            </a:extLst>
          </p:cNvPr>
          <p:cNvSpPr>
            <a:spLocks noGrp="1"/>
          </p:cNvSpPr>
          <p:nvPr>
            <p:ph type="title"/>
          </p:nvPr>
        </p:nvSpPr>
        <p:spPr/>
        <p:txBody>
          <a:bodyPr/>
          <a:lstStyle/>
          <a:p>
            <a:r>
              <a:rPr lang="en-DK" dirty="0"/>
              <a:t>Platforms</a:t>
            </a:r>
          </a:p>
        </p:txBody>
      </p:sp>
      <p:graphicFrame>
        <p:nvGraphicFramePr>
          <p:cNvPr id="4" name="Table 3">
            <a:extLst>
              <a:ext uri="{FF2B5EF4-FFF2-40B4-BE49-F238E27FC236}">
                <a16:creationId xmlns:a16="http://schemas.microsoft.com/office/drawing/2014/main" id="{2F4FE9B7-5129-2CC4-DBB0-E3BB2986F66C}"/>
              </a:ext>
            </a:extLst>
          </p:cNvPr>
          <p:cNvGraphicFramePr>
            <a:graphicFrameLocks noGrp="1"/>
          </p:cNvGraphicFramePr>
          <p:nvPr>
            <p:extLst>
              <p:ext uri="{D42A27DB-BD31-4B8C-83A1-F6EECF244321}">
                <p14:modId xmlns:p14="http://schemas.microsoft.com/office/powerpoint/2010/main" val="631221738"/>
              </p:ext>
            </p:extLst>
          </p:nvPr>
        </p:nvGraphicFramePr>
        <p:xfrm>
          <a:off x="838200" y="2049157"/>
          <a:ext cx="10515600" cy="2926080"/>
        </p:xfrm>
        <a:graphic>
          <a:graphicData uri="http://schemas.openxmlformats.org/drawingml/2006/table">
            <a:tbl>
              <a:tblPr firstRow="1">
                <a:tableStyleId>{69012ECD-51FC-41F1-AA8D-1B2483CD663E}</a:tableStyleId>
              </a:tblPr>
              <a:tblGrid>
                <a:gridCol w="2628900">
                  <a:extLst>
                    <a:ext uri="{9D8B030D-6E8A-4147-A177-3AD203B41FA5}">
                      <a16:colId xmlns:a16="http://schemas.microsoft.com/office/drawing/2014/main" val="2168012759"/>
                    </a:ext>
                  </a:extLst>
                </a:gridCol>
                <a:gridCol w="2628900">
                  <a:extLst>
                    <a:ext uri="{9D8B030D-6E8A-4147-A177-3AD203B41FA5}">
                      <a16:colId xmlns:a16="http://schemas.microsoft.com/office/drawing/2014/main" val="2995596070"/>
                    </a:ext>
                  </a:extLst>
                </a:gridCol>
                <a:gridCol w="2628900">
                  <a:extLst>
                    <a:ext uri="{9D8B030D-6E8A-4147-A177-3AD203B41FA5}">
                      <a16:colId xmlns:a16="http://schemas.microsoft.com/office/drawing/2014/main" val="1552819022"/>
                    </a:ext>
                  </a:extLst>
                </a:gridCol>
                <a:gridCol w="2628900">
                  <a:extLst>
                    <a:ext uri="{9D8B030D-6E8A-4147-A177-3AD203B41FA5}">
                      <a16:colId xmlns:a16="http://schemas.microsoft.com/office/drawing/2014/main" val="1657934618"/>
                    </a:ext>
                  </a:extLst>
                </a:gridCol>
              </a:tblGrid>
              <a:tr h="0">
                <a:tc>
                  <a:txBody>
                    <a:bodyPr/>
                    <a:lstStyle/>
                    <a:p>
                      <a:pPr algn="ctr"/>
                      <a:r>
                        <a:rPr lang="en-GB" dirty="0"/>
                        <a:t>Platform</a:t>
                      </a:r>
                    </a:p>
                  </a:txBody>
                  <a:tcPr anchor="ctr"/>
                </a:tc>
                <a:tc>
                  <a:txBody>
                    <a:bodyPr/>
                    <a:lstStyle/>
                    <a:p>
                      <a:pPr algn="ctr"/>
                      <a:r>
                        <a:rPr lang="en-GB" dirty="0"/>
                        <a:t>Features</a:t>
                      </a:r>
                    </a:p>
                  </a:txBody>
                  <a:tcPr anchor="ctr"/>
                </a:tc>
                <a:tc>
                  <a:txBody>
                    <a:bodyPr/>
                    <a:lstStyle/>
                    <a:p>
                      <a:pPr algn="ctr"/>
                      <a:r>
                        <a:rPr lang="en-GB" dirty="0"/>
                        <a:t>Read Length</a:t>
                      </a:r>
                    </a:p>
                  </a:txBody>
                  <a:tcPr anchor="ctr"/>
                </a:tc>
                <a:tc>
                  <a:txBody>
                    <a:bodyPr/>
                    <a:lstStyle/>
                    <a:p>
                      <a:pPr algn="ctr"/>
                      <a:r>
                        <a:rPr lang="en-GB" dirty="0"/>
                        <a:t>Use Case</a:t>
                      </a:r>
                    </a:p>
                  </a:txBody>
                  <a:tcPr anchor="ctr"/>
                </a:tc>
                <a:extLst>
                  <a:ext uri="{0D108BD9-81ED-4DB2-BD59-A6C34878D82A}">
                    <a16:rowId xmlns:a16="http://schemas.microsoft.com/office/drawing/2014/main" val="644514461"/>
                  </a:ext>
                </a:extLst>
              </a:tr>
              <a:tr h="0">
                <a:tc>
                  <a:txBody>
                    <a:bodyPr/>
                    <a:lstStyle/>
                    <a:p>
                      <a:pPr algn="ctr"/>
                      <a:r>
                        <a:rPr lang="en-GB" b="1" dirty="0"/>
                        <a:t>Illumina</a:t>
                      </a:r>
                      <a:endParaRPr lang="en-GB" dirty="0"/>
                    </a:p>
                  </a:txBody>
                  <a:tcPr anchor="ctr"/>
                </a:tc>
                <a:tc>
                  <a:txBody>
                    <a:bodyPr/>
                    <a:lstStyle/>
                    <a:p>
                      <a:pPr algn="ctr"/>
                      <a:r>
                        <a:rPr lang="en-GB"/>
                        <a:t>High accuracy, short reads</a:t>
                      </a:r>
                    </a:p>
                  </a:txBody>
                  <a:tcPr anchor="ctr"/>
                </a:tc>
                <a:tc>
                  <a:txBody>
                    <a:bodyPr/>
                    <a:lstStyle/>
                    <a:p>
                      <a:pPr algn="ctr"/>
                      <a:r>
                        <a:rPr lang="en-GB"/>
                        <a:t>~150–300 bp</a:t>
                      </a:r>
                    </a:p>
                  </a:txBody>
                  <a:tcPr anchor="ctr"/>
                </a:tc>
                <a:tc>
                  <a:txBody>
                    <a:bodyPr/>
                    <a:lstStyle/>
                    <a:p>
                      <a:pPr algn="ctr"/>
                      <a:r>
                        <a:rPr lang="en-GB"/>
                        <a:t>Most common for shotgun &amp; amplicon</a:t>
                      </a:r>
                    </a:p>
                  </a:txBody>
                  <a:tcPr anchor="ctr"/>
                </a:tc>
                <a:extLst>
                  <a:ext uri="{0D108BD9-81ED-4DB2-BD59-A6C34878D82A}">
                    <a16:rowId xmlns:a16="http://schemas.microsoft.com/office/drawing/2014/main" val="3351972148"/>
                  </a:ext>
                </a:extLst>
              </a:tr>
              <a:tr h="0">
                <a:tc>
                  <a:txBody>
                    <a:bodyPr/>
                    <a:lstStyle/>
                    <a:p>
                      <a:pPr algn="ctr"/>
                      <a:r>
                        <a:rPr lang="en-GB" b="1" dirty="0"/>
                        <a:t>Oxford Nanopore</a:t>
                      </a:r>
                      <a:endParaRPr lang="en-GB" dirty="0"/>
                    </a:p>
                  </a:txBody>
                  <a:tcPr anchor="ctr"/>
                </a:tc>
                <a:tc>
                  <a:txBody>
                    <a:bodyPr/>
                    <a:lstStyle/>
                    <a:p>
                      <a:pPr algn="ctr"/>
                      <a:r>
                        <a:rPr lang="en-GB" dirty="0"/>
                        <a:t>Long reads, portable</a:t>
                      </a:r>
                    </a:p>
                  </a:txBody>
                  <a:tcPr anchor="ctr"/>
                </a:tc>
                <a:tc>
                  <a:txBody>
                    <a:bodyPr/>
                    <a:lstStyle/>
                    <a:p>
                      <a:pPr algn="ctr"/>
                      <a:r>
                        <a:rPr lang="en-GB"/>
                        <a:t>up to 100 kb+</a:t>
                      </a:r>
                    </a:p>
                  </a:txBody>
                  <a:tcPr anchor="ctr"/>
                </a:tc>
                <a:tc>
                  <a:txBody>
                    <a:bodyPr/>
                    <a:lstStyle/>
                    <a:p>
                      <a:pPr algn="ctr"/>
                      <a:r>
                        <a:rPr lang="en-GB"/>
                        <a:t>Assembly, rare taxa detection</a:t>
                      </a:r>
                    </a:p>
                  </a:txBody>
                  <a:tcPr anchor="ctr"/>
                </a:tc>
                <a:extLst>
                  <a:ext uri="{0D108BD9-81ED-4DB2-BD59-A6C34878D82A}">
                    <a16:rowId xmlns:a16="http://schemas.microsoft.com/office/drawing/2014/main" val="2747834670"/>
                  </a:ext>
                </a:extLst>
              </a:tr>
              <a:tr h="0">
                <a:tc>
                  <a:txBody>
                    <a:bodyPr/>
                    <a:lstStyle/>
                    <a:p>
                      <a:pPr algn="ctr"/>
                      <a:r>
                        <a:rPr lang="en-GB" b="1" dirty="0"/>
                        <a:t>PacBio HiFi</a:t>
                      </a:r>
                      <a:endParaRPr lang="en-GB" dirty="0"/>
                    </a:p>
                  </a:txBody>
                  <a:tcPr anchor="ctr"/>
                </a:tc>
                <a:tc>
                  <a:txBody>
                    <a:bodyPr/>
                    <a:lstStyle/>
                    <a:p>
                      <a:pPr algn="ctr"/>
                      <a:r>
                        <a:rPr lang="en-GB"/>
                        <a:t>Long + accurate reads</a:t>
                      </a:r>
                    </a:p>
                  </a:txBody>
                  <a:tcPr anchor="ctr"/>
                </a:tc>
                <a:tc>
                  <a:txBody>
                    <a:bodyPr/>
                    <a:lstStyle/>
                    <a:p>
                      <a:pPr algn="ctr"/>
                      <a:r>
                        <a:rPr lang="en-GB"/>
                        <a:t>~10–25 kb</a:t>
                      </a:r>
                    </a:p>
                  </a:txBody>
                  <a:tcPr anchor="ctr"/>
                </a:tc>
                <a:tc>
                  <a:txBody>
                    <a:bodyPr/>
                    <a:lstStyle/>
                    <a:p>
                      <a:pPr algn="ctr"/>
                      <a:r>
                        <a:rPr lang="en-GB"/>
                        <a:t>Functional profiling, assembly</a:t>
                      </a:r>
                    </a:p>
                  </a:txBody>
                  <a:tcPr anchor="ctr"/>
                </a:tc>
                <a:extLst>
                  <a:ext uri="{0D108BD9-81ED-4DB2-BD59-A6C34878D82A}">
                    <a16:rowId xmlns:a16="http://schemas.microsoft.com/office/drawing/2014/main" val="3589465776"/>
                  </a:ext>
                </a:extLst>
              </a:tr>
              <a:tr h="0">
                <a:tc>
                  <a:txBody>
                    <a:bodyPr/>
                    <a:lstStyle/>
                    <a:p>
                      <a:pPr algn="ctr"/>
                      <a:r>
                        <a:rPr lang="en-GB" b="1" dirty="0"/>
                        <a:t>Ion Torrent</a:t>
                      </a:r>
                      <a:endParaRPr lang="en-GB" dirty="0"/>
                    </a:p>
                  </a:txBody>
                  <a:tcPr anchor="ctr"/>
                </a:tc>
                <a:tc>
                  <a:txBody>
                    <a:bodyPr/>
                    <a:lstStyle/>
                    <a:p>
                      <a:pPr algn="ctr"/>
                      <a:r>
                        <a:rPr lang="en-GB"/>
                        <a:t>Medium throughput</a:t>
                      </a:r>
                    </a:p>
                  </a:txBody>
                  <a:tcPr anchor="ctr"/>
                </a:tc>
                <a:tc>
                  <a:txBody>
                    <a:bodyPr/>
                    <a:lstStyle/>
                    <a:p>
                      <a:pPr algn="ctr"/>
                      <a:r>
                        <a:rPr lang="en-GB"/>
                        <a:t>~200–400 bp</a:t>
                      </a:r>
                    </a:p>
                  </a:txBody>
                  <a:tcPr anchor="ctr"/>
                </a:tc>
                <a:tc>
                  <a:txBody>
                    <a:bodyPr/>
                    <a:lstStyle/>
                    <a:p>
                      <a:pPr algn="ctr"/>
                      <a:r>
                        <a:rPr lang="en-GB" dirty="0"/>
                        <a:t>Less common but used in clinical</a:t>
                      </a:r>
                    </a:p>
                  </a:txBody>
                  <a:tcPr anchor="ctr"/>
                </a:tc>
                <a:extLst>
                  <a:ext uri="{0D108BD9-81ED-4DB2-BD59-A6C34878D82A}">
                    <a16:rowId xmlns:a16="http://schemas.microsoft.com/office/drawing/2014/main" val="2234130748"/>
                  </a:ext>
                </a:extLst>
              </a:tr>
            </a:tbl>
          </a:graphicData>
        </a:graphic>
      </p:graphicFrame>
    </p:spTree>
    <p:extLst>
      <p:ext uri="{BB962C8B-B14F-4D97-AF65-F5344CB8AC3E}">
        <p14:creationId xmlns:p14="http://schemas.microsoft.com/office/powerpoint/2010/main" val="1469846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DE7006-384C-EC21-3B66-C7C6C06C8D01}"/>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3" name="Freeform: Shape 10">
            <a:extLst>
              <a:ext uri="{FF2B5EF4-FFF2-40B4-BE49-F238E27FC236}">
                <a16:creationId xmlns:a16="http://schemas.microsoft.com/office/drawing/2014/main" id="{CBCB02B1-1B82-403C-B7D2-E2CED1882F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CCDE13A7-6382-4A67-BEBE-4FF1F37C7F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35" name="Freeform: Shape 13">
              <a:extLst>
                <a:ext uri="{FF2B5EF4-FFF2-40B4-BE49-F238E27FC236}">
                  <a16:creationId xmlns:a16="http://schemas.microsoft.com/office/drawing/2014/main" id="{E9978FC9-2E40-4257-8D97-FAB20CA4B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14">
              <a:extLst>
                <a:ext uri="{FF2B5EF4-FFF2-40B4-BE49-F238E27FC236}">
                  <a16:creationId xmlns:a16="http://schemas.microsoft.com/office/drawing/2014/main" id="{740ABB98-77BA-4C40-8121-34D196E58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15">
              <a:extLst>
                <a:ext uri="{FF2B5EF4-FFF2-40B4-BE49-F238E27FC236}">
                  <a16:creationId xmlns:a16="http://schemas.microsoft.com/office/drawing/2014/main" id="{41AA752E-66C1-4835-8A3C-556475159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16">
              <a:extLst>
                <a:ext uri="{FF2B5EF4-FFF2-40B4-BE49-F238E27FC236}">
                  <a16:creationId xmlns:a16="http://schemas.microsoft.com/office/drawing/2014/main" id="{EE9555AB-2295-4939-AEC9-B2CBFCB4C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Freeform: Shape 17">
              <a:extLst>
                <a:ext uri="{FF2B5EF4-FFF2-40B4-BE49-F238E27FC236}">
                  <a16:creationId xmlns:a16="http://schemas.microsoft.com/office/drawing/2014/main" id="{97499201-5A2C-48B3-9B02-5519B8829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3FC2AE7-C60C-4C48-BCAE-410BB6C3D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40EA1593-6BC9-441E-8F3C-46DD50F81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48A35C66-8DDE-D2EF-F9BD-92AEAC6CFE19}"/>
              </a:ext>
            </a:extLst>
          </p:cNvPr>
          <p:cNvSpPr>
            <a:spLocks noGrp="1"/>
          </p:cNvSpPr>
          <p:nvPr>
            <p:ph type="title"/>
          </p:nvPr>
        </p:nvSpPr>
        <p:spPr>
          <a:xfrm>
            <a:off x="3371787" y="1741337"/>
            <a:ext cx="5448730" cy="2387918"/>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Taxonomical profiling</a:t>
            </a:r>
          </a:p>
        </p:txBody>
      </p:sp>
      <p:grpSp>
        <p:nvGrpSpPr>
          <p:cNvPr id="22" name="Group 21">
            <a:extLst>
              <a:ext uri="{FF2B5EF4-FFF2-40B4-BE49-F238E27FC236}">
                <a16:creationId xmlns:a16="http://schemas.microsoft.com/office/drawing/2014/main" id="{17147D5D-F01F-4164-BD81-D10DC6F23E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142" y="2854"/>
            <a:ext cx="2783421" cy="2406445"/>
            <a:chOff x="-305" y="-4155"/>
            <a:chExt cx="2514948" cy="2174333"/>
          </a:xfrm>
        </p:grpSpPr>
        <p:sp>
          <p:nvSpPr>
            <p:cNvPr id="23" name="Freeform: Shape 22">
              <a:extLst>
                <a:ext uri="{FF2B5EF4-FFF2-40B4-BE49-F238E27FC236}">
                  <a16:creationId xmlns:a16="http://schemas.microsoft.com/office/drawing/2014/main" id="{F24C7412-3E2D-4708-8DC3-425A457A1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1483A6A-CB0B-4469-B09D-C9451F9B0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A935E9D-EB55-46F3-BCCB-9CB918E87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8EDC5655-C7D7-4936-91EA-E188A96DC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6D0E248E-80AB-4B35-BA8D-F940FCB443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417253" y="4456669"/>
            <a:ext cx="2783421" cy="2406445"/>
            <a:chOff x="-305" y="-4155"/>
            <a:chExt cx="2514948" cy="2174333"/>
          </a:xfrm>
        </p:grpSpPr>
        <p:sp>
          <p:nvSpPr>
            <p:cNvPr id="29" name="Freeform: Shape 28">
              <a:extLst>
                <a:ext uri="{FF2B5EF4-FFF2-40B4-BE49-F238E27FC236}">
                  <a16:creationId xmlns:a16="http://schemas.microsoft.com/office/drawing/2014/main" id="{F9E91B0A-66E8-4298-BAC6-004DBE491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A629C66-36BD-487E-B1CD-ED026D778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6BC2D2C-3D7D-4224-81BC-22C094C9F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53BDF903-22C5-4312-8776-C2ABC3EDC0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52258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70155-8915-3119-7B02-8BC445E88D18}"/>
              </a:ext>
            </a:extLst>
          </p:cNvPr>
          <p:cNvSpPr>
            <a:spLocks noGrp="1"/>
          </p:cNvSpPr>
          <p:nvPr>
            <p:ph type="title"/>
          </p:nvPr>
        </p:nvSpPr>
        <p:spPr/>
        <p:txBody>
          <a:bodyPr/>
          <a:lstStyle/>
          <a:p>
            <a:r>
              <a:rPr lang="en-DK" dirty="0"/>
              <a:t>Taxonomical profiling</a:t>
            </a:r>
          </a:p>
        </p:txBody>
      </p:sp>
      <p:sp>
        <p:nvSpPr>
          <p:cNvPr id="3" name="Content Placeholder 2">
            <a:extLst>
              <a:ext uri="{FF2B5EF4-FFF2-40B4-BE49-F238E27FC236}">
                <a16:creationId xmlns:a16="http://schemas.microsoft.com/office/drawing/2014/main" id="{DB9628FE-6155-3D9A-3A57-D41C0761D47A}"/>
              </a:ext>
            </a:extLst>
          </p:cNvPr>
          <p:cNvSpPr>
            <a:spLocks noGrp="1"/>
          </p:cNvSpPr>
          <p:nvPr>
            <p:ph idx="1"/>
          </p:nvPr>
        </p:nvSpPr>
        <p:spPr/>
        <p:txBody>
          <a:bodyPr>
            <a:normAutofit fontScale="92500" lnSpcReduction="10000"/>
          </a:bodyPr>
          <a:lstStyle/>
          <a:p>
            <a:r>
              <a:rPr lang="en-GB" dirty="0"/>
              <a:t>Process of identifying and quantifying the microbial taxa present in a sample - this can be bacteria, archaea, viruses, fungi, …</a:t>
            </a:r>
          </a:p>
          <a:p>
            <a:r>
              <a:rPr lang="en-GB" dirty="0"/>
              <a:t>Typically from metagenomic or amplicon sequencing data (metabarcoding). </a:t>
            </a:r>
          </a:p>
          <a:p>
            <a:r>
              <a:rPr lang="en-GB" dirty="0"/>
              <a:t>The most common taxonomical profiling methods can be grouped based on the type of sequencing data used:</a:t>
            </a:r>
          </a:p>
          <a:p>
            <a:pPr lvl="1"/>
            <a:r>
              <a:rPr lang="en-GB" dirty="0"/>
              <a:t>Amplicon based profiling: 16S, 18S, ITS rRNA sequencing – e.g. 16S rRNA gene is used to profile bacteria and archaea</a:t>
            </a:r>
          </a:p>
          <a:p>
            <a:pPr lvl="1"/>
            <a:r>
              <a:rPr lang="en-GB" dirty="0"/>
              <a:t>Whole-genome shotgun (WGS) metagenomics involves random sequencing of all genetic material in a sample:</a:t>
            </a:r>
          </a:p>
          <a:p>
            <a:pPr lvl="2"/>
            <a:r>
              <a:rPr lang="en-GB" dirty="0"/>
              <a:t>Reference-based methods: direct mapping of reads to genes, proteins or genomes</a:t>
            </a:r>
          </a:p>
          <a:p>
            <a:pPr lvl="2"/>
            <a:r>
              <a:rPr lang="en-GB" dirty="0"/>
              <a:t>Assembly-based methods: assemble reads into contigs and bin them into metagenome/assembled genomes</a:t>
            </a:r>
            <a:endParaRPr lang="en-DK" dirty="0"/>
          </a:p>
        </p:txBody>
      </p:sp>
    </p:spTree>
    <p:extLst>
      <p:ext uri="{BB962C8B-B14F-4D97-AF65-F5344CB8AC3E}">
        <p14:creationId xmlns:p14="http://schemas.microsoft.com/office/powerpoint/2010/main" val="2630135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4D9EA-2B0F-F4A2-BAFE-2F6810695864}"/>
              </a:ext>
            </a:extLst>
          </p:cNvPr>
          <p:cNvSpPr>
            <a:spLocks noGrp="1"/>
          </p:cNvSpPr>
          <p:nvPr>
            <p:ph type="title"/>
          </p:nvPr>
        </p:nvSpPr>
        <p:spPr/>
        <p:txBody>
          <a:bodyPr/>
          <a:lstStyle/>
          <a:p>
            <a:r>
              <a:rPr lang="en-DK" dirty="0"/>
              <a:t>16S amplicon sequencing</a:t>
            </a:r>
          </a:p>
        </p:txBody>
      </p:sp>
      <p:sp>
        <p:nvSpPr>
          <p:cNvPr id="4" name="TextBox 3">
            <a:extLst>
              <a:ext uri="{FF2B5EF4-FFF2-40B4-BE49-F238E27FC236}">
                <a16:creationId xmlns:a16="http://schemas.microsoft.com/office/drawing/2014/main" id="{7298787D-BC4D-B71B-3493-627E364AAABB}"/>
              </a:ext>
            </a:extLst>
          </p:cNvPr>
          <p:cNvSpPr txBox="1"/>
          <p:nvPr/>
        </p:nvSpPr>
        <p:spPr>
          <a:xfrm>
            <a:off x="411201" y="5999292"/>
            <a:ext cx="6476487" cy="738664"/>
          </a:xfrm>
          <a:prstGeom prst="rect">
            <a:avLst/>
          </a:prstGeom>
          <a:noFill/>
        </p:spPr>
        <p:txBody>
          <a:bodyPr wrap="square" rtlCol="0">
            <a:spAutoFit/>
          </a:bodyPr>
          <a:lstStyle/>
          <a:p>
            <a:r>
              <a:rPr lang="en-GB" sz="1400" dirty="0"/>
              <a:t>Universal phylogenetic tree based on the 16S rRNA gene sequence comparisons. Pace, N. A molecular view of microbial diversity and the biosphere.</a:t>
            </a:r>
          </a:p>
          <a:p>
            <a:r>
              <a:rPr lang="en-GB" sz="1400" dirty="0"/>
              <a:t>Science276:734-740. 1997.</a:t>
            </a:r>
            <a:endParaRPr lang="en-DK" sz="1400" dirty="0"/>
          </a:p>
        </p:txBody>
      </p:sp>
      <p:pic>
        <p:nvPicPr>
          <p:cNvPr id="6" name="Picture 5">
            <a:extLst>
              <a:ext uri="{FF2B5EF4-FFF2-40B4-BE49-F238E27FC236}">
                <a16:creationId xmlns:a16="http://schemas.microsoft.com/office/drawing/2014/main" id="{2E5BE48C-D9BE-F1C8-6007-A102A356E590}"/>
              </a:ext>
            </a:extLst>
          </p:cNvPr>
          <p:cNvPicPr>
            <a:picLocks noChangeAspect="1"/>
          </p:cNvPicPr>
          <p:nvPr/>
        </p:nvPicPr>
        <p:blipFill>
          <a:blip r:embed="rId3"/>
          <a:stretch>
            <a:fillRect/>
          </a:stretch>
        </p:blipFill>
        <p:spPr>
          <a:xfrm>
            <a:off x="411201" y="1507610"/>
            <a:ext cx="6647690" cy="4491682"/>
          </a:xfrm>
          <a:prstGeom prst="rect">
            <a:avLst/>
          </a:prstGeom>
        </p:spPr>
      </p:pic>
      <p:sp>
        <p:nvSpPr>
          <p:cNvPr id="7" name="TextBox 6">
            <a:extLst>
              <a:ext uri="{FF2B5EF4-FFF2-40B4-BE49-F238E27FC236}">
                <a16:creationId xmlns:a16="http://schemas.microsoft.com/office/drawing/2014/main" id="{82CD7763-2407-CD71-06F6-72EF3BD4991A}"/>
              </a:ext>
            </a:extLst>
          </p:cNvPr>
          <p:cNvSpPr txBox="1"/>
          <p:nvPr/>
        </p:nvSpPr>
        <p:spPr>
          <a:xfrm>
            <a:off x="7485890" y="687838"/>
            <a:ext cx="4294909" cy="3293209"/>
          </a:xfrm>
          <a:prstGeom prst="rect">
            <a:avLst/>
          </a:prstGeom>
          <a:noFill/>
        </p:spPr>
        <p:txBody>
          <a:bodyPr wrap="square" rtlCol="0">
            <a:spAutoFit/>
          </a:bodyPr>
          <a:lstStyle/>
          <a:p>
            <a:pPr marL="285750" indent="-285750">
              <a:buFont typeface="Arial" panose="020B0604020202020204" pitchFamily="34" charset="0"/>
              <a:buChar char="•"/>
            </a:pPr>
            <a:r>
              <a:rPr lang="en-DK" sz="1600" dirty="0"/>
              <a:t>16S rRNA gene is an ancient gene that </a:t>
            </a:r>
            <a:r>
              <a:rPr lang="en-GB" sz="1600" dirty="0"/>
              <a:t>encodes the RNA component of the small (30S) subunit of the prokaryotic ribosome</a:t>
            </a:r>
          </a:p>
          <a:p>
            <a:pPr marL="285750" indent="-285750">
              <a:buFont typeface="Arial" panose="020B0604020202020204" pitchFamily="34" charset="0"/>
              <a:buChar char="•"/>
            </a:pPr>
            <a:r>
              <a:rPr lang="en-DK" sz="1600" dirty="0"/>
              <a:t>As it is conserved in many organisms, traditionally  used to infer phylogenetic trees to figure out species evolution</a:t>
            </a:r>
            <a:r>
              <a:rPr lang="en-GB" sz="1600" dirty="0"/>
              <a:t> (Present also in mitochondria and chloroplasts of eukaryotes)</a:t>
            </a:r>
            <a:endParaRPr lang="en-DK" sz="1600" dirty="0"/>
          </a:p>
          <a:p>
            <a:pPr marL="285750" indent="-285750">
              <a:buFont typeface="Arial" panose="020B0604020202020204" pitchFamily="34" charset="0"/>
              <a:buChar char="•"/>
            </a:pPr>
            <a:r>
              <a:rPr lang="en-GB" sz="1600" dirty="0"/>
              <a:t>16s gene has</a:t>
            </a:r>
          </a:p>
          <a:p>
            <a:pPr marL="742950" lvl="1" indent="-285750">
              <a:buFont typeface="Arial" panose="020B0604020202020204" pitchFamily="34" charset="0"/>
              <a:buChar char="•"/>
            </a:pPr>
            <a:r>
              <a:rPr lang="en-GB" sz="1600" dirty="0"/>
              <a:t>conserved regions: spread around all organisms and easy to amplify</a:t>
            </a:r>
          </a:p>
          <a:p>
            <a:pPr marL="742950" lvl="1" indent="-285750">
              <a:buFont typeface="Arial" panose="020B0604020202020204" pitchFamily="34" charset="0"/>
              <a:buChar char="•"/>
            </a:pPr>
            <a:r>
              <a:rPr lang="en-GB" sz="1600" dirty="0"/>
              <a:t>variable unique regions: to tag specifically species</a:t>
            </a:r>
          </a:p>
        </p:txBody>
      </p:sp>
      <p:pic>
        <p:nvPicPr>
          <p:cNvPr id="8" name="Picture 2" descr="Bacterial 16S rRNA gene.&#10;(A) Percentage sequence identity of conserved a...">
            <a:extLst>
              <a:ext uri="{FF2B5EF4-FFF2-40B4-BE49-F238E27FC236}">
                <a16:creationId xmlns:a16="http://schemas.microsoft.com/office/drawing/2014/main" id="{FF37B4E9-6A75-9269-EFF7-1C5BC5215D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8891" y="4088769"/>
            <a:ext cx="4880898" cy="19105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8FDF629-F052-5196-DB76-87BC09CF03F5}"/>
              </a:ext>
            </a:extLst>
          </p:cNvPr>
          <p:cNvSpPr txBox="1"/>
          <p:nvPr/>
        </p:nvSpPr>
        <p:spPr>
          <a:xfrm>
            <a:off x="8431481" y="6107014"/>
            <a:ext cx="5438898" cy="523220"/>
          </a:xfrm>
          <a:prstGeom prst="rect">
            <a:avLst/>
          </a:prstGeom>
          <a:noFill/>
        </p:spPr>
        <p:txBody>
          <a:bodyPr wrap="square" rtlCol="0">
            <a:spAutoFit/>
          </a:bodyPr>
          <a:lstStyle/>
          <a:p>
            <a:r>
              <a:rPr lang="en-GB" sz="1400" dirty="0"/>
              <a:t> </a:t>
            </a:r>
            <a:r>
              <a:rPr lang="en-GB" sz="1400" i="1" dirty="0"/>
              <a:t>J Clin Invest.</a:t>
            </a:r>
            <a:r>
              <a:rPr lang="en-GB" sz="1400" dirty="0"/>
              <a:t> 2022;</a:t>
            </a:r>
            <a:r>
              <a:rPr lang="en-GB" sz="1400" dirty="0">
                <a:hlinkClick r:id="rId5"/>
              </a:rPr>
              <a:t>132(7)</a:t>
            </a:r>
            <a:r>
              <a:rPr lang="en-GB" sz="1400" dirty="0"/>
              <a:t>:e154944.</a:t>
            </a:r>
          </a:p>
          <a:p>
            <a:r>
              <a:rPr lang="en-GB" sz="1400" dirty="0"/>
              <a:t> </a:t>
            </a:r>
            <a:r>
              <a:rPr lang="en-GB" sz="1400" dirty="0">
                <a:hlinkClick r:id="rId6"/>
              </a:rPr>
              <a:t>https://doi.org/10.1172/JCI154944</a:t>
            </a:r>
            <a:r>
              <a:rPr lang="en-GB" sz="1400" dirty="0"/>
              <a:t>.</a:t>
            </a:r>
            <a:endParaRPr lang="en-DK" sz="1400" dirty="0"/>
          </a:p>
        </p:txBody>
      </p:sp>
    </p:spTree>
    <p:extLst>
      <p:ext uri="{BB962C8B-B14F-4D97-AF65-F5344CB8AC3E}">
        <p14:creationId xmlns:p14="http://schemas.microsoft.com/office/powerpoint/2010/main" val="1024516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025E1-D875-06AE-84CD-F3288F6F1C61}"/>
              </a:ext>
            </a:extLst>
          </p:cNvPr>
          <p:cNvSpPr>
            <a:spLocks noGrp="1"/>
          </p:cNvSpPr>
          <p:nvPr>
            <p:ph type="title"/>
          </p:nvPr>
        </p:nvSpPr>
        <p:spPr/>
        <p:txBody>
          <a:bodyPr/>
          <a:lstStyle/>
          <a:p>
            <a:r>
              <a:rPr lang="en-DK" dirty="0"/>
              <a:t>16S amplicon sequencing</a:t>
            </a:r>
          </a:p>
        </p:txBody>
      </p:sp>
      <p:grpSp>
        <p:nvGrpSpPr>
          <p:cNvPr id="15" name="Group 14">
            <a:extLst>
              <a:ext uri="{FF2B5EF4-FFF2-40B4-BE49-F238E27FC236}">
                <a16:creationId xmlns:a16="http://schemas.microsoft.com/office/drawing/2014/main" id="{A376D0E5-E31F-2E76-A5E9-E2D5F2EBA505}"/>
              </a:ext>
            </a:extLst>
          </p:cNvPr>
          <p:cNvGrpSpPr/>
          <p:nvPr/>
        </p:nvGrpSpPr>
        <p:grpSpPr>
          <a:xfrm>
            <a:off x="936761" y="1864538"/>
            <a:ext cx="955964" cy="1109852"/>
            <a:chOff x="1357745" y="2008909"/>
            <a:chExt cx="955964" cy="1109852"/>
          </a:xfrm>
        </p:grpSpPr>
        <p:sp>
          <p:nvSpPr>
            <p:cNvPr id="4" name="Oval 3">
              <a:extLst>
                <a:ext uri="{FF2B5EF4-FFF2-40B4-BE49-F238E27FC236}">
                  <a16:creationId xmlns:a16="http://schemas.microsoft.com/office/drawing/2014/main" id="{DF9795FB-34D1-6EA3-DED2-2D813E681559}"/>
                </a:ext>
              </a:extLst>
            </p:cNvPr>
            <p:cNvSpPr/>
            <p:nvPr/>
          </p:nvSpPr>
          <p:spPr>
            <a:xfrm>
              <a:off x="1357745" y="2008909"/>
              <a:ext cx="955964" cy="955964"/>
            </a:xfrm>
            <a:prstGeom prst="ellipse">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TextBox 5">
              <a:extLst>
                <a:ext uri="{FF2B5EF4-FFF2-40B4-BE49-F238E27FC236}">
                  <a16:creationId xmlns:a16="http://schemas.microsoft.com/office/drawing/2014/main" id="{5C024A06-F848-AD50-C3D2-E0502F3B93FD}"/>
                </a:ext>
              </a:extLst>
            </p:cNvPr>
            <p:cNvSpPr txBox="1"/>
            <p:nvPr/>
          </p:nvSpPr>
          <p:spPr>
            <a:xfrm>
              <a:off x="1593273" y="2780207"/>
              <a:ext cx="554182" cy="338554"/>
            </a:xfrm>
            <a:prstGeom prst="rect">
              <a:avLst/>
            </a:prstGeom>
            <a:solidFill>
              <a:schemeClr val="bg1"/>
            </a:solidFill>
            <a:ln w="12700">
              <a:solidFill>
                <a:schemeClr val="tx2">
                  <a:lumMod val="75000"/>
                  <a:lumOff val="25000"/>
                </a:schemeClr>
              </a:solidFill>
            </a:ln>
          </p:spPr>
          <p:txBody>
            <a:bodyPr wrap="square" rtlCol="0">
              <a:spAutoFit/>
            </a:bodyPr>
            <a:lstStyle/>
            <a:p>
              <a:r>
                <a:rPr lang="en-DK" sz="1600" dirty="0"/>
                <a:t>16S</a:t>
              </a:r>
            </a:p>
          </p:txBody>
        </p:sp>
      </p:grpSp>
      <p:grpSp>
        <p:nvGrpSpPr>
          <p:cNvPr id="33" name="Group 32">
            <a:extLst>
              <a:ext uri="{FF2B5EF4-FFF2-40B4-BE49-F238E27FC236}">
                <a16:creationId xmlns:a16="http://schemas.microsoft.com/office/drawing/2014/main" id="{6A45A0F9-9612-F618-DF53-D2FA952E4761}"/>
              </a:ext>
            </a:extLst>
          </p:cNvPr>
          <p:cNvGrpSpPr/>
          <p:nvPr/>
        </p:nvGrpSpPr>
        <p:grpSpPr>
          <a:xfrm>
            <a:off x="2308361" y="1864538"/>
            <a:ext cx="1004455" cy="1066800"/>
            <a:chOff x="2729345" y="2008909"/>
            <a:chExt cx="1004455" cy="1066800"/>
          </a:xfrm>
        </p:grpSpPr>
        <p:sp>
          <p:nvSpPr>
            <p:cNvPr id="5" name="Oval 4">
              <a:extLst>
                <a:ext uri="{FF2B5EF4-FFF2-40B4-BE49-F238E27FC236}">
                  <a16:creationId xmlns:a16="http://schemas.microsoft.com/office/drawing/2014/main" id="{524EE552-D68F-430A-D9F8-A6967433E536}"/>
                </a:ext>
              </a:extLst>
            </p:cNvPr>
            <p:cNvSpPr/>
            <p:nvPr/>
          </p:nvSpPr>
          <p:spPr>
            <a:xfrm>
              <a:off x="2729345" y="2119745"/>
              <a:ext cx="955964" cy="955964"/>
            </a:xfrm>
            <a:prstGeom prst="ellipse">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TextBox 7">
              <a:extLst>
                <a:ext uri="{FF2B5EF4-FFF2-40B4-BE49-F238E27FC236}">
                  <a16:creationId xmlns:a16="http://schemas.microsoft.com/office/drawing/2014/main" id="{DEB0E2D0-5C0C-0AF1-A38A-2FC9D3717A9F}"/>
                </a:ext>
              </a:extLst>
            </p:cNvPr>
            <p:cNvSpPr txBox="1"/>
            <p:nvPr/>
          </p:nvSpPr>
          <p:spPr>
            <a:xfrm>
              <a:off x="3179618" y="2008909"/>
              <a:ext cx="554182" cy="338554"/>
            </a:xfrm>
            <a:prstGeom prst="rect">
              <a:avLst/>
            </a:prstGeom>
            <a:solidFill>
              <a:schemeClr val="bg1"/>
            </a:solidFill>
            <a:ln w="12700">
              <a:solidFill>
                <a:schemeClr val="tx2">
                  <a:lumMod val="75000"/>
                  <a:lumOff val="25000"/>
                </a:schemeClr>
              </a:solidFill>
            </a:ln>
          </p:spPr>
          <p:txBody>
            <a:bodyPr wrap="square" rtlCol="0">
              <a:spAutoFit/>
            </a:bodyPr>
            <a:lstStyle/>
            <a:p>
              <a:r>
                <a:rPr lang="en-DK" sz="1600" dirty="0"/>
                <a:t>16S</a:t>
              </a:r>
            </a:p>
          </p:txBody>
        </p:sp>
      </p:grpSp>
      <p:grpSp>
        <p:nvGrpSpPr>
          <p:cNvPr id="18" name="Group 17">
            <a:extLst>
              <a:ext uri="{FF2B5EF4-FFF2-40B4-BE49-F238E27FC236}">
                <a16:creationId xmlns:a16="http://schemas.microsoft.com/office/drawing/2014/main" id="{499D5CB8-5CB7-4E86-0795-4144A6C25AB5}"/>
              </a:ext>
            </a:extLst>
          </p:cNvPr>
          <p:cNvGrpSpPr/>
          <p:nvPr/>
        </p:nvGrpSpPr>
        <p:grpSpPr>
          <a:xfrm>
            <a:off x="195543" y="3169236"/>
            <a:ext cx="955964" cy="1109852"/>
            <a:chOff x="1835727" y="3443738"/>
            <a:chExt cx="955964" cy="1109852"/>
          </a:xfrm>
        </p:grpSpPr>
        <p:sp>
          <p:nvSpPr>
            <p:cNvPr id="11" name="Oval 10">
              <a:extLst>
                <a:ext uri="{FF2B5EF4-FFF2-40B4-BE49-F238E27FC236}">
                  <a16:creationId xmlns:a16="http://schemas.microsoft.com/office/drawing/2014/main" id="{E6384A29-4D64-3823-E6BB-396B7A8EEEBA}"/>
                </a:ext>
              </a:extLst>
            </p:cNvPr>
            <p:cNvSpPr/>
            <p:nvPr/>
          </p:nvSpPr>
          <p:spPr>
            <a:xfrm>
              <a:off x="1835727" y="3443738"/>
              <a:ext cx="955964" cy="95596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3" name="TextBox 12">
              <a:extLst>
                <a:ext uri="{FF2B5EF4-FFF2-40B4-BE49-F238E27FC236}">
                  <a16:creationId xmlns:a16="http://schemas.microsoft.com/office/drawing/2014/main" id="{9F61AACC-1308-EDBF-B8FB-4675241ACC57}"/>
                </a:ext>
              </a:extLst>
            </p:cNvPr>
            <p:cNvSpPr txBox="1"/>
            <p:nvPr/>
          </p:nvSpPr>
          <p:spPr>
            <a:xfrm>
              <a:off x="2071255" y="4215036"/>
              <a:ext cx="554182" cy="338554"/>
            </a:xfrm>
            <a:prstGeom prst="rect">
              <a:avLst/>
            </a:prstGeom>
            <a:solidFill>
              <a:schemeClr val="bg1"/>
            </a:solidFill>
            <a:ln w="12700">
              <a:solidFill>
                <a:srgbClr val="FF0000"/>
              </a:solidFill>
            </a:ln>
          </p:spPr>
          <p:txBody>
            <a:bodyPr wrap="square" rtlCol="0">
              <a:spAutoFit/>
            </a:bodyPr>
            <a:lstStyle/>
            <a:p>
              <a:r>
                <a:rPr lang="en-DK" sz="1600" dirty="0"/>
                <a:t>16S</a:t>
              </a:r>
            </a:p>
          </p:txBody>
        </p:sp>
      </p:grpSp>
      <p:grpSp>
        <p:nvGrpSpPr>
          <p:cNvPr id="17" name="Group 16">
            <a:extLst>
              <a:ext uri="{FF2B5EF4-FFF2-40B4-BE49-F238E27FC236}">
                <a16:creationId xmlns:a16="http://schemas.microsoft.com/office/drawing/2014/main" id="{2E41FC93-CB35-1B54-6A74-00B691BFD1FE}"/>
              </a:ext>
            </a:extLst>
          </p:cNvPr>
          <p:cNvGrpSpPr/>
          <p:nvPr/>
        </p:nvGrpSpPr>
        <p:grpSpPr>
          <a:xfrm>
            <a:off x="1567143" y="3169236"/>
            <a:ext cx="1004455" cy="1066800"/>
            <a:chOff x="3207327" y="3443738"/>
            <a:chExt cx="1004455" cy="1066800"/>
          </a:xfrm>
        </p:grpSpPr>
        <p:sp>
          <p:nvSpPr>
            <p:cNvPr id="12" name="Oval 11">
              <a:extLst>
                <a:ext uri="{FF2B5EF4-FFF2-40B4-BE49-F238E27FC236}">
                  <a16:creationId xmlns:a16="http://schemas.microsoft.com/office/drawing/2014/main" id="{3A9DAD6C-3E08-510E-52F7-9A08D523DA0D}"/>
                </a:ext>
              </a:extLst>
            </p:cNvPr>
            <p:cNvSpPr/>
            <p:nvPr/>
          </p:nvSpPr>
          <p:spPr>
            <a:xfrm>
              <a:off x="3207327" y="3554574"/>
              <a:ext cx="955964" cy="95596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TextBox 13">
              <a:extLst>
                <a:ext uri="{FF2B5EF4-FFF2-40B4-BE49-F238E27FC236}">
                  <a16:creationId xmlns:a16="http://schemas.microsoft.com/office/drawing/2014/main" id="{CEA2D48B-7AD4-B09F-E54C-7CA5B42C8A3E}"/>
                </a:ext>
              </a:extLst>
            </p:cNvPr>
            <p:cNvSpPr txBox="1"/>
            <p:nvPr/>
          </p:nvSpPr>
          <p:spPr>
            <a:xfrm>
              <a:off x="3657600" y="3443738"/>
              <a:ext cx="554182" cy="338554"/>
            </a:xfrm>
            <a:prstGeom prst="rect">
              <a:avLst/>
            </a:prstGeom>
            <a:solidFill>
              <a:schemeClr val="bg1"/>
            </a:solidFill>
            <a:ln w="12700">
              <a:solidFill>
                <a:srgbClr val="FF0000"/>
              </a:solidFill>
            </a:ln>
          </p:spPr>
          <p:txBody>
            <a:bodyPr wrap="square" rtlCol="0">
              <a:spAutoFit/>
            </a:bodyPr>
            <a:lstStyle/>
            <a:p>
              <a:r>
                <a:rPr lang="en-DK" sz="1600" dirty="0"/>
                <a:t>16S</a:t>
              </a:r>
            </a:p>
          </p:txBody>
        </p:sp>
      </p:grpSp>
      <p:grpSp>
        <p:nvGrpSpPr>
          <p:cNvPr id="19" name="Group 18">
            <a:extLst>
              <a:ext uri="{FF2B5EF4-FFF2-40B4-BE49-F238E27FC236}">
                <a16:creationId xmlns:a16="http://schemas.microsoft.com/office/drawing/2014/main" id="{616EE9DC-AAC6-22A0-EC05-63895024F69B}"/>
              </a:ext>
            </a:extLst>
          </p:cNvPr>
          <p:cNvGrpSpPr/>
          <p:nvPr/>
        </p:nvGrpSpPr>
        <p:grpSpPr>
          <a:xfrm>
            <a:off x="749725" y="4473934"/>
            <a:ext cx="1004455" cy="1066800"/>
            <a:chOff x="3207327" y="3443738"/>
            <a:chExt cx="1004455" cy="1066800"/>
          </a:xfrm>
        </p:grpSpPr>
        <p:sp>
          <p:nvSpPr>
            <p:cNvPr id="20" name="Oval 19">
              <a:extLst>
                <a:ext uri="{FF2B5EF4-FFF2-40B4-BE49-F238E27FC236}">
                  <a16:creationId xmlns:a16="http://schemas.microsoft.com/office/drawing/2014/main" id="{A6C80016-4F94-B5BC-7796-DD56CB62EDC2}"/>
                </a:ext>
              </a:extLst>
            </p:cNvPr>
            <p:cNvSpPr/>
            <p:nvPr/>
          </p:nvSpPr>
          <p:spPr>
            <a:xfrm>
              <a:off x="3207327" y="3554574"/>
              <a:ext cx="955964" cy="955964"/>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1" name="TextBox 20">
              <a:extLst>
                <a:ext uri="{FF2B5EF4-FFF2-40B4-BE49-F238E27FC236}">
                  <a16:creationId xmlns:a16="http://schemas.microsoft.com/office/drawing/2014/main" id="{7BD52084-5B5C-56F5-F216-B319C54D5DDA}"/>
                </a:ext>
              </a:extLst>
            </p:cNvPr>
            <p:cNvSpPr txBox="1"/>
            <p:nvPr/>
          </p:nvSpPr>
          <p:spPr>
            <a:xfrm>
              <a:off x="3657600" y="3443738"/>
              <a:ext cx="554182" cy="338554"/>
            </a:xfrm>
            <a:prstGeom prst="rect">
              <a:avLst/>
            </a:prstGeom>
            <a:solidFill>
              <a:schemeClr val="bg1"/>
            </a:solidFill>
            <a:ln w="12700">
              <a:solidFill>
                <a:schemeClr val="accent3"/>
              </a:solidFill>
            </a:ln>
          </p:spPr>
          <p:txBody>
            <a:bodyPr wrap="square" rtlCol="0">
              <a:spAutoFit/>
            </a:bodyPr>
            <a:lstStyle/>
            <a:p>
              <a:r>
                <a:rPr lang="en-DK" sz="1600" dirty="0"/>
                <a:t>16S</a:t>
              </a:r>
            </a:p>
          </p:txBody>
        </p:sp>
      </p:grpSp>
      <p:grpSp>
        <p:nvGrpSpPr>
          <p:cNvPr id="22" name="Group 21">
            <a:extLst>
              <a:ext uri="{FF2B5EF4-FFF2-40B4-BE49-F238E27FC236}">
                <a16:creationId xmlns:a16="http://schemas.microsoft.com/office/drawing/2014/main" id="{A7ED672B-2FD1-9BAE-BAC6-7CBCA58A10C8}"/>
              </a:ext>
            </a:extLst>
          </p:cNvPr>
          <p:cNvGrpSpPr/>
          <p:nvPr/>
        </p:nvGrpSpPr>
        <p:grpSpPr>
          <a:xfrm>
            <a:off x="2252944" y="4473934"/>
            <a:ext cx="1004455" cy="1066800"/>
            <a:chOff x="3207327" y="3443738"/>
            <a:chExt cx="1004455" cy="1066800"/>
          </a:xfrm>
        </p:grpSpPr>
        <p:sp>
          <p:nvSpPr>
            <p:cNvPr id="23" name="Oval 22">
              <a:extLst>
                <a:ext uri="{FF2B5EF4-FFF2-40B4-BE49-F238E27FC236}">
                  <a16:creationId xmlns:a16="http://schemas.microsoft.com/office/drawing/2014/main" id="{33D69EC1-C7AC-F20D-6136-A9F883B8BAA9}"/>
                </a:ext>
              </a:extLst>
            </p:cNvPr>
            <p:cNvSpPr/>
            <p:nvPr/>
          </p:nvSpPr>
          <p:spPr>
            <a:xfrm>
              <a:off x="3207327" y="3554574"/>
              <a:ext cx="955964" cy="955964"/>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4" name="TextBox 23">
              <a:extLst>
                <a:ext uri="{FF2B5EF4-FFF2-40B4-BE49-F238E27FC236}">
                  <a16:creationId xmlns:a16="http://schemas.microsoft.com/office/drawing/2014/main" id="{7B44B448-1C62-C95A-4202-D34886CC125E}"/>
                </a:ext>
              </a:extLst>
            </p:cNvPr>
            <p:cNvSpPr txBox="1"/>
            <p:nvPr/>
          </p:nvSpPr>
          <p:spPr>
            <a:xfrm>
              <a:off x="3657600" y="3443738"/>
              <a:ext cx="554182" cy="338554"/>
            </a:xfrm>
            <a:prstGeom prst="rect">
              <a:avLst/>
            </a:prstGeom>
            <a:solidFill>
              <a:schemeClr val="bg1"/>
            </a:solidFill>
            <a:ln w="12700">
              <a:solidFill>
                <a:schemeClr val="accent2">
                  <a:lumMod val="75000"/>
                </a:schemeClr>
              </a:solidFill>
            </a:ln>
          </p:spPr>
          <p:txBody>
            <a:bodyPr wrap="square" rtlCol="0">
              <a:spAutoFit/>
            </a:bodyPr>
            <a:lstStyle/>
            <a:p>
              <a:r>
                <a:rPr lang="en-DK" sz="1600" dirty="0"/>
                <a:t>16S</a:t>
              </a:r>
            </a:p>
          </p:txBody>
        </p:sp>
      </p:grpSp>
      <p:grpSp>
        <p:nvGrpSpPr>
          <p:cNvPr id="38" name="Group 37">
            <a:extLst>
              <a:ext uri="{FF2B5EF4-FFF2-40B4-BE49-F238E27FC236}">
                <a16:creationId xmlns:a16="http://schemas.microsoft.com/office/drawing/2014/main" id="{0A1C354B-2734-C09A-8596-5CCE70CF6CBF}"/>
              </a:ext>
            </a:extLst>
          </p:cNvPr>
          <p:cNvGrpSpPr/>
          <p:nvPr/>
        </p:nvGrpSpPr>
        <p:grpSpPr>
          <a:xfrm>
            <a:off x="3660015" y="2008909"/>
            <a:ext cx="2382982" cy="338554"/>
            <a:chOff x="4807527" y="2008909"/>
            <a:chExt cx="2382982" cy="338554"/>
          </a:xfrm>
        </p:grpSpPr>
        <p:cxnSp>
          <p:nvCxnSpPr>
            <p:cNvPr id="31" name="Straight Connector 30">
              <a:extLst>
                <a:ext uri="{FF2B5EF4-FFF2-40B4-BE49-F238E27FC236}">
                  <a16:creationId xmlns:a16="http://schemas.microsoft.com/office/drawing/2014/main" id="{5DEE42E6-EDA4-FEAE-40CC-DAEE855395FF}"/>
                </a:ext>
              </a:extLst>
            </p:cNvPr>
            <p:cNvCxnSpPr>
              <a:cxnSpLocks/>
            </p:cNvCxnSpPr>
            <p:nvPr/>
          </p:nvCxnSpPr>
          <p:spPr>
            <a:xfrm>
              <a:off x="4807527" y="2178186"/>
              <a:ext cx="2382982" cy="0"/>
            </a:xfrm>
            <a:prstGeom prst="line">
              <a:avLst/>
            </a:prstGeom>
            <a:ln>
              <a:solidFill>
                <a:schemeClr val="tx2">
                  <a:lumMod val="75000"/>
                  <a:lumOff val="2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22A2FBD-A458-FA50-691A-E6407F8B035A}"/>
                </a:ext>
              </a:extLst>
            </p:cNvPr>
            <p:cNvCxnSpPr>
              <a:cxnSpLocks/>
            </p:cNvCxnSpPr>
            <p:nvPr/>
          </p:nvCxnSpPr>
          <p:spPr>
            <a:xfrm>
              <a:off x="5209309" y="2178186"/>
              <a:ext cx="1496291"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33E8612-0993-9B96-DA56-11621D0D8DFE}"/>
                </a:ext>
              </a:extLst>
            </p:cNvPr>
            <p:cNvSpPr txBox="1"/>
            <p:nvPr/>
          </p:nvSpPr>
          <p:spPr>
            <a:xfrm>
              <a:off x="5680363" y="2008909"/>
              <a:ext cx="554182" cy="338554"/>
            </a:xfrm>
            <a:prstGeom prst="rect">
              <a:avLst/>
            </a:prstGeom>
            <a:solidFill>
              <a:schemeClr val="bg1"/>
            </a:solidFill>
            <a:ln w="12700">
              <a:solidFill>
                <a:schemeClr val="tx2">
                  <a:lumMod val="75000"/>
                  <a:lumOff val="25000"/>
                </a:schemeClr>
              </a:solidFill>
            </a:ln>
          </p:spPr>
          <p:txBody>
            <a:bodyPr wrap="square" rtlCol="0">
              <a:spAutoFit/>
            </a:bodyPr>
            <a:lstStyle/>
            <a:p>
              <a:r>
                <a:rPr lang="en-DK" sz="1600" dirty="0"/>
                <a:t>16S</a:t>
              </a:r>
            </a:p>
          </p:txBody>
        </p:sp>
      </p:grpSp>
      <p:grpSp>
        <p:nvGrpSpPr>
          <p:cNvPr id="39" name="Group 38">
            <a:extLst>
              <a:ext uri="{FF2B5EF4-FFF2-40B4-BE49-F238E27FC236}">
                <a16:creationId xmlns:a16="http://schemas.microsoft.com/office/drawing/2014/main" id="{98C1E5C6-D9A7-6A59-7033-FCA857E6D0DA}"/>
              </a:ext>
            </a:extLst>
          </p:cNvPr>
          <p:cNvGrpSpPr/>
          <p:nvPr/>
        </p:nvGrpSpPr>
        <p:grpSpPr>
          <a:xfrm>
            <a:off x="3660015" y="2388288"/>
            <a:ext cx="2382982" cy="338554"/>
            <a:chOff x="4807527" y="2008909"/>
            <a:chExt cx="2382982" cy="338554"/>
          </a:xfrm>
        </p:grpSpPr>
        <p:cxnSp>
          <p:nvCxnSpPr>
            <p:cNvPr id="40" name="Straight Connector 39">
              <a:extLst>
                <a:ext uri="{FF2B5EF4-FFF2-40B4-BE49-F238E27FC236}">
                  <a16:creationId xmlns:a16="http://schemas.microsoft.com/office/drawing/2014/main" id="{3CE3AD2B-AB8B-CB7E-59D5-EB0044FC1306}"/>
                </a:ext>
              </a:extLst>
            </p:cNvPr>
            <p:cNvCxnSpPr>
              <a:cxnSpLocks/>
            </p:cNvCxnSpPr>
            <p:nvPr/>
          </p:nvCxnSpPr>
          <p:spPr>
            <a:xfrm>
              <a:off x="4807527" y="2178186"/>
              <a:ext cx="2382982" cy="0"/>
            </a:xfrm>
            <a:prstGeom prst="line">
              <a:avLst/>
            </a:prstGeom>
            <a:ln>
              <a:solidFill>
                <a:schemeClr val="tx2">
                  <a:lumMod val="75000"/>
                  <a:lumOff val="2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8E5E6FF-01D0-CE0C-677C-8290857E0050}"/>
                </a:ext>
              </a:extLst>
            </p:cNvPr>
            <p:cNvCxnSpPr>
              <a:cxnSpLocks/>
            </p:cNvCxnSpPr>
            <p:nvPr/>
          </p:nvCxnSpPr>
          <p:spPr>
            <a:xfrm>
              <a:off x="5209309" y="2178186"/>
              <a:ext cx="1496291"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BF718E0-F5CF-2671-2C6D-8CB0907C3086}"/>
                </a:ext>
              </a:extLst>
            </p:cNvPr>
            <p:cNvSpPr txBox="1"/>
            <p:nvPr/>
          </p:nvSpPr>
          <p:spPr>
            <a:xfrm>
              <a:off x="5680363" y="2008909"/>
              <a:ext cx="554182" cy="338554"/>
            </a:xfrm>
            <a:prstGeom prst="rect">
              <a:avLst/>
            </a:prstGeom>
            <a:solidFill>
              <a:schemeClr val="bg1"/>
            </a:solidFill>
            <a:ln w="12700">
              <a:solidFill>
                <a:schemeClr val="tx2">
                  <a:lumMod val="75000"/>
                  <a:lumOff val="25000"/>
                </a:schemeClr>
              </a:solidFill>
            </a:ln>
          </p:spPr>
          <p:txBody>
            <a:bodyPr wrap="square" rtlCol="0">
              <a:spAutoFit/>
            </a:bodyPr>
            <a:lstStyle/>
            <a:p>
              <a:r>
                <a:rPr lang="en-DK" sz="1600" dirty="0"/>
                <a:t>16S</a:t>
              </a:r>
            </a:p>
          </p:txBody>
        </p:sp>
      </p:grpSp>
      <p:grpSp>
        <p:nvGrpSpPr>
          <p:cNvPr id="43" name="Group 42">
            <a:extLst>
              <a:ext uri="{FF2B5EF4-FFF2-40B4-BE49-F238E27FC236}">
                <a16:creationId xmlns:a16="http://schemas.microsoft.com/office/drawing/2014/main" id="{BA02B824-2D42-FE2C-BF46-2AA4328D867C}"/>
              </a:ext>
            </a:extLst>
          </p:cNvPr>
          <p:cNvGrpSpPr/>
          <p:nvPr/>
        </p:nvGrpSpPr>
        <p:grpSpPr>
          <a:xfrm>
            <a:off x="3660015" y="2773711"/>
            <a:ext cx="2382982" cy="338554"/>
            <a:chOff x="4807527" y="2008909"/>
            <a:chExt cx="2382982" cy="338554"/>
          </a:xfrm>
        </p:grpSpPr>
        <p:cxnSp>
          <p:nvCxnSpPr>
            <p:cNvPr id="44" name="Straight Connector 43">
              <a:extLst>
                <a:ext uri="{FF2B5EF4-FFF2-40B4-BE49-F238E27FC236}">
                  <a16:creationId xmlns:a16="http://schemas.microsoft.com/office/drawing/2014/main" id="{2A7CCD96-1DBD-A43A-97FA-99C8C37C9825}"/>
                </a:ext>
              </a:extLst>
            </p:cNvPr>
            <p:cNvCxnSpPr>
              <a:cxnSpLocks/>
            </p:cNvCxnSpPr>
            <p:nvPr/>
          </p:nvCxnSpPr>
          <p:spPr>
            <a:xfrm>
              <a:off x="4807527" y="2178186"/>
              <a:ext cx="2382982" cy="0"/>
            </a:xfrm>
            <a:prstGeom prst="line">
              <a:avLst/>
            </a:prstGeom>
            <a:ln>
              <a:solidFill>
                <a:schemeClr val="tx2">
                  <a:lumMod val="75000"/>
                  <a:lumOff val="2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B2D60709-CC52-AE9D-4FBD-86CD3DC6265C}"/>
                </a:ext>
              </a:extLst>
            </p:cNvPr>
            <p:cNvCxnSpPr>
              <a:cxnSpLocks/>
            </p:cNvCxnSpPr>
            <p:nvPr/>
          </p:nvCxnSpPr>
          <p:spPr>
            <a:xfrm>
              <a:off x="5209309" y="2178186"/>
              <a:ext cx="1496291"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A37A879D-A640-D650-1A90-8D5ECE8878F8}"/>
                </a:ext>
              </a:extLst>
            </p:cNvPr>
            <p:cNvSpPr txBox="1"/>
            <p:nvPr/>
          </p:nvSpPr>
          <p:spPr>
            <a:xfrm>
              <a:off x="5680363" y="2008909"/>
              <a:ext cx="554182" cy="338554"/>
            </a:xfrm>
            <a:prstGeom prst="rect">
              <a:avLst/>
            </a:prstGeom>
            <a:solidFill>
              <a:schemeClr val="bg1"/>
            </a:solidFill>
            <a:ln w="12700">
              <a:solidFill>
                <a:schemeClr val="tx2">
                  <a:lumMod val="75000"/>
                  <a:lumOff val="25000"/>
                </a:schemeClr>
              </a:solidFill>
            </a:ln>
          </p:spPr>
          <p:txBody>
            <a:bodyPr wrap="square" rtlCol="0">
              <a:spAutoFit/>
            </a:bodyPr>
            <a:lstStyle/>
            <a:p>
              <a:r>
                <a:rPr lang="en-DK" sz="1600" dirty="0"/>
                <a:t>16S</a:t>
              </a:r>
            </a:p>
          </p:txBody>
        </p:sp>
      </p:grpSp>
      <p:grpSp>
        <p:nvGrpSpPr>
          <p:cNvPr id="47" name="Group 46">
            <a:extLst>
              <a:ext uri="{FF2B5EF4-FFF2-40B4-BE49-F238E27FC236}">
                <a16:creationId xmlns:a16="http://schemas.microsoft.com/office/drawing/2014/main" id="{1B69EF51-9DA6-F50C-07B6-0AA9ECCF63FD}"/>
              </a:ext>
            </a:extLst>
          </p:cNvPr>
          <p:cNvGrpSpPr/>
          <p:nvPr/>
        </p:nvGrpSpPr>
        <p:grpSpPr>
          <a:xfrm>
            <a:off x="3660015" y="3147054"/>
            <a:ext cx="2382982" cy="338554"/>
            <a:chOff x="4807527" y="2008909"/>
            <a:chExt cx="2382982" cy="338554"/>
          </a:xfrm>
        </p:grpSpPr>
        <p:cxnSp>
          <p:nvCxnSpPr>
            <p:cNvPr id="48" name="Straight Connector 47">
              <a:extLst>
                <a:ext uri="{FF2B5EF4-FFF2-40B4-BE49-F238E27FC236}">
                  <a16:creationId xmlns:a16="http://schemas.microsoft.com/office/drawing/2014/main" id="{0F81302B-EBC7-3549-5BC0-F70B16C28EF0}"/>
                </a:ext>
              </a:extLst>
            </p:cNvPr>
            <p:cNvCxnSpPr>
              <a:cxnSpLocks/>
            </p:cNvCxnSpPr>
            <p:nvPr/>
          </p:nvCxnSpPr>
          <p:spPr>
            <a:xfrm>
              <a:off x="4807527" y="2178186"/>
              <a:ext cx="2382982"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6A0BD08-0B9E-568F-C232-D33B6F11658C}"/>
                </a:ext>
              </a:extLst>
            </p:cNvPr>
            <p:cNvCxnSpPr>
              <a:cxnSpLocks/>
            </p:cNvCxnSpPr>
            <p:nvPr/>
          </p:nvCxnSpPr>
          <p:spPr>
            <a:xfrm>
              <a:off x="5209309" y="2178186"/>
              <a:ext cx="149629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07F48687-CA0F-EB2F-6F26-AEF9700DFBD1}"/>
                </a:ext>
              </a:extLst>
            </p:cNvPr>
            <p:cNvSpPr txBox="1"/>
            <p:nvPr/>
          </p:nvSpPr>
          <p:spPr>
            <a:xfrm>
              <a:off x="5680363" y="2008909"/>
              <a:ext cx="554182" cy="338554"/>
            </a:xfrm>
            <a:prstGeom prst="rect">
              <a:avLst/>
            </a:prstGeom>
            <a:solidFill>
              <a:schemeClr val="bg1"/>
            </a:solidFill>
            <a:ln w="12700">
              <a:solidFill>
                <a:srgbClr val="FF0000"/>
              </a:solidFill>
            </a:ln>
          </p:spPr>
          <p:txBody>
            <a:bodyPr wrap="square" rtlCol="0">
              <a:spAutoFit/>
            </a:bodyPr>
            <a:lstStyle/>
            <a:p>
              <a:r>
                <a:rPr lang="en-DK" sz="1600" dirty="0"/>
                <a:t>16S</a:t>
              </a:r>
            </a:p>
          </p:txBody>
        </p:sp>
      </p:grpSp>
      <p:grpSp>
        <p:nvGrpSpPr>
          <p:cNvPr id="51" name="Group 50">
            <a:extLst>
              <a:ext uri="{FF2B5EF4-FFF2-40B4-BE49-F238E27FC236}">
                <a16:creationId xmlns:a16="http://schemas.microsoft.com/office/drawing/2014/main" id="{D1B14B44-CF27-72D7-4D3E-0F39C59214BB}"/>
              </a:ext>
            </a:extLst>
          </p:cNvPr>
          <p:cNvGrpSpPr/>
          <p:nvPr/>
        </p:nvGrpSpPr>
        <p:grpSpPr>
          <a:xfrm>
            <a:off x="3660015" y="3526433"/>
            <a:ext cx="2382982" cy="338554"/>
            <a:chOff x="4807527" y="2008909"/>
            <a:chExt cx="2382982" cy="338554"/>
          </a:xfrm>
        </p:grpSpPr>
        <p:cxnSp>
          <p:nvCxnSpPr>
            <p:cNvPr id="52" name="Straight Connector 51">
              <a:extLst>
                <a:ext uri="{FF2B5EF4-FFF2-40B4-BE49-F238E27FC236}">
                  <a16:creationId xmlns:a16="http://schemas.microsoft.com/office/drawing/2014/main" id="{5983B7FE-0D6E-5F83-B5C9-7484CFF64278}"/>
                </a:ext>
              </a:extLst>
            </p:cNvPr>
            <p:cNvCxnSpPr>
              <a:cxnSpLocks/>
            </p:cNvCxnSpPr>
            <p:nvPr/>
          </p:nvCxnSpPr>
          <p:spPr>
            <a:xfrm>
              <a:off x="4807527" y="2178186"/>
              <a:ext cx="2382982"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2ED8CD7E-B998-EF8B-0760-EFDD1E4F2F08}"/>
                </a:ext>
              </a:extLst>
            </p:cNvPr>
            <p:cNvCxnSpPr>
              <a:cxnSpLocks/>
            </p:cNvCxnSpPr>
            <p:nvPr/>
          </p:nvCxnSpPr>
          <p:spPr>
            <a:xfrm>
              <a:off x="5209309" y="2178186"/>
              <a:ext cx="149629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2CB1E868-02D1-45B1-D658-DCF930A52710}"/>
                </a:ext>
              </a:extLst>
            </p:cNvPr>
            <p:cNvSpPr txBox="1"/>
            <p:nvPr/>
          </p:nvSpPr>
          <p:spPr>
            <a:xfrm>
              <a:off x="5680363" y="2008909"/>
              <a:ext cx="554182" cy="338554"/>
            </a:xfrm>
            <a:prstGeom prst="rect">
              <a:avLst/>
            </a:prstGeom>
            <a:solidFill>
              <a:schemeClr val="bg1"/>
            </a:solidFill>
            <a:ln w="12700">
              <a:solidFill>
                <a:srgbClr val="FF0000"/>
              </a:solidFill>
            </a:ln>
          </p:spPr>
          <p:txBody>
            <a:bodyPr wrap="square" rtlCol="0">
              <a:spAutoFit/>
            </a:bodyPr>
            <a:lstStyle/>
            <a:p>
              <a:r>
                <a:rPr lang="en-DK" sz="1600" dirty="0"/>
                <a:t>16S</a:t>
              </a:r>
            </a:p>
          </p:txBody>
        </p:sp>
      </p:grpSp>
      <p:grpSp>
        <p:nvGrpSpPr>
          <p:cNvPr id="55" name="Group 54">
            <a:extLst>
              <a:ext uri="{FF2B5EF4-FFF2-40B4-BE49-F238E27FC236}">
                <a16:creationId xmlns:a16="http://schemas.microsoft.com/office/drawing/2014/main" id="{A876F5EB-6D56-0167-D485-93EEEDE607F4}"/>
              </a:ext>
            </a:extLst>
          </p:cNvPr>
          <p:cNvGrpSpPr/>
          <p:nvPr/>
        </p:nvGrpSpPr>
        <p:grpSpPr>
          <a:xfrm>
            <a:off x="3660015" y="3911856"/>
            <a:ext cx="2382982" cy="338554"/>
            <a:chOff x="4807527" y="2008909"/>
            <a:chExt cx="2382982" cy="338554"/>
          </a:xfrm>
        </p:grpSpPr>
        <p:cxnSp>
          <p:nvCxnSpPr>
            <p:cNvPr id="56" name="Straight Connector 55">
              <a:extLst>
                <a:ext uri="{FF2B5EF4-FFF2-40B4-BE49-F238E27FC236}">
                  <a16:creationId xmlns:a16="http://schemas.microsoft.com/office/drawing/2014/main" id="{D9CAB322-1F4E-B126-6EB2-F9B6C5D37A5A}"/>
                </a:ext>
              </a:extLst>
            </p:cNvPr>
            <p:cNvCxnSpPr>
              <a:cxnSpLocks/>
            </p:cNvCxnSpPr>
            <p:nvPr/>
          </p:nvCxnSpPr>
          <p:spPr>
            <a:xfrm>
              <a:off x="4807527" y="2178186"/>
              <a:ext cx="2382982" cy="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2EA9971-6C50-EE9D-258B-F90B38F3B1BC}"/>
                </a:ext>
              </a:extLst>
            </p:cNvPr>
            <p:cNvCxnSpPr>
              <a:cxnSpLocks/>
            </p:cNvCxnSpPr>
            <p:nvPr/>
          </p:nvCxnSpPr>
          <p:spPr>
            <a:xfrm>
              <a:off x="5209309" y="2178186"/>
              <a:ext cx="149629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29902496-FC1A-1D70-F428-ABA06D1DDE9C}"/>
                </a:ext>
              </a:extLst>
            </p:cNvPr>
            <p:cNvSpPr txBox="1"/>
            <p:nvPr/>
          </p:nvSpPr>
          <p:spPr>
            <a:xfrm>
              <a:off x="5680363" y="2008909"/>
              <a:ext cx="554182" cy="338554"/>
            </a:xfrm>
            <a:prstGeom prst="rect">
              <a:avLst/>
            </a:prstGeom>
            <a:solidFill>
              <a:schemeClr val="bg1"/>
            </a:solidFill>
            <a:ln w="12700">
              <a:solidFill>
                <a:srgbClr val="FF0000"/>
              </a:solidFill>
            </a:ln>
          </p:spPr>
          <p:txBody>
            <a:bodyPr wrap="square" rtlCol="0">
              <a:spAutoFit/>
            </a:bodyPr>
            <a:lstStyle/>
            <a:p>
              <a:r>
                <a:rPr lang="en-DK" sz="1600" dirty="0"/>
                <a:t>16S</a:t>
              </a:r>
            </a:p>
          </p:txBody>
        </p:sp>
      </p:grpSp>
      <p:grpSp>
        <p:nvGrpSpPr>
          <p:cNvPr id="59" name="Group 58">
            <a:extLst>
              <a:ext uri="{FF2B5EF4-FFF2-40B4-BE49-F238E27FC236}">
                <a16:creationId xmlns:a16="http://schemas.microsoft.com/office/drawing/2014/main" id="{0849E105-345A-BA2B-7DDA-962E7AA044CE}"/>
              </a:ext>
            </a:extLst>
          </p:cNvPr>
          <p:cNvGrpSpPr/>
          <p:nvPr/>
        </p:nvGrpSpPr>
        <p:grpSpPr>
          <a:xfrm>
            <a:off x="3660015" y="4304657"/>
            <a:ext cx="2382982" cy="338554"/>
            <a:chOff x="4807527" y="2008909"/>
            <a:chExt cx="2382982" cy="338554"/>
          </a:xfrm>
        </p:grpSpPr>
        <p:cxnSp>
          <p:nvCxnSpPr>
            <p:cNvPr id="60" name="Straight Connector 59">
              <a:extLst>
                <a:ext uri="{FF2B5EF4-FFF2-40B4-BE49-F238E27FC236}">
                  <a16:creationId xmlns:a16="http://schemas.microsoft.com/office/drawing/2014/main" id="{7BBB299B-4DE6-190A-299B-65DB7415CD0C}"/>
                </a:ext>
              </a:extLst>
            </p:cNvPr>
            <p:cNvCxnSpPr>
              <a:cxnSpLocks/>
            </p:cNvCxnSpPr>
            <p:nvPr/>
          </p:nvCxnSpPr>
          <p:spPr>
            <a:xfrm>
              <a:off x="4807527" y="2178186"/>
              <a:ext cx="2382982" cy="0"/>
            </a:xfrm>
            <a:prstGeom prst="line">
              <a:avLst/>
            </a:prstGeom>
            <a:ln>
              <a:solidFill>
                <a:schemeClr val="accent3"/>
              </a:solidFill>
              <a:prstDash val="sysDot"/>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9A7EEE6C-CDE0-2D80-4E43-53027CFE0DAB}"/>
                </a:ext>
              </a:extLst>
            </p:cNvPr>
            <p:cNvCxnSpPr>
              <a:cxnSpLocks/>
            </p:cNvCxnSpPr>
            <p:nvPr/>
          </p:nvCxnSpPr>
          <p:spPr>
            <a:xfrm>
              <a:off x="5209309" y="2178186"/>
              <a:ext cx="1496291"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28455E2F-36AE-F8A3-2C81-ABD32F026A6B}"/>
                </a:ext>
              </a:extLst>
            </p:cNvPr>
            <p:cNvSpPr txBox="1"/>
            <p:nvPr/>
          </p:nvSpPr>
          <p:spPr>
            <a:xfrm>
              <a:off x="5680363" y="2008909"/>
              <a:ext cx="554182" cy="338554"/>
            </a:xfrm>
            <a:prstGeom prst="rect">
              <a:avLst/>
            </a:prstGeom>
            <a:solidFill>
              <a:schemeClr val="bg1"/>
            </a:solidFill>
            <a:ln w="12700">
              <a:solidFill>
                <a:schemeClr val="accent3"/>
              </a:solidFill>
            </a:ln>
          </p:spPr>
          <p:txBody>
            <a:bodyPr wrap="square" rtlCol="0">
              <a:spAutoFit/>
            </a:bodyPr>
            <a:lstStyle/>
            <a:p>
              <a:r>
                <a:rPr lang="en-DK" sz="1600" dirty="0"/>
                <a:t>16S</a:t>
              </a:r>
            </a:p>
          </p:txBody>
        </p:sp>
      </p:grpSp>
      <p:grpSp>
        <p:nvGrpSpPr>
          <p:cNvPr id="63" name="Group 62">
            <a:extLst>
              <a:ext uri="{FF2B5EF4-FFF2-40B4-BE49-F238E27FC236}">
                <a16:creationId xmlns:a16="http://schemas.microsoft.com/office/drawing/2014/main" id="{E5D91BDC-BF45-2BD0-7E03-FC764B050312}"/>
              </a:ext>
            </a:extLst>
          </p:cNvPr>
          <p:cNvGrpSpPr/>
          <p:nvPr/>
        </p:nvGrpSpPr>
        <p:grpSpPr>
          <a:xfrm>
            <a:off x="3660015" y="4684036"/>
            <a:ext cx="2382982" cy="338554"/>
            <a:chOff x="4807527" y="2008909"/>
            <a:chExt cx="2382982" cy="338554"/>
          </a:xfrm>
        </p:grpSpPr>
        <p:cxnSp>
          <p:nvCxnSpPr>
            <p:cNvPr id="64" name="Straight Connector 63">
              <a:extLst>
                <a:ext uri="{FF2B5EF4-FFF2-40B4-BE49-F238E27FC236}">
                  <a16:creationId xmlns:a16="http://schemas.microsoft.com/office/drawing/2014/main" id="{C19FE2E9-FC4B-49D9-DA36-ADCC74013550}"/>
                </a:ext>
              </a:extLst>
            </p:cNvPr>
            <p:cNvCxnSpPr>
              <a:cxnSpLocks/>
            </p:cNvCxnSpPr>
            <p:nvPr/>
          </p:nvCxnSpPr>
          <p:spPr>
            <a:xfrm>
              <a:off x="4807527" y="2178186"/>
              <a:ext cx="2382982" cy="0"/>
            </a:xfrm>
            <a:prstGeom prst="line">
              <a:avLst/>
            </a:prstGeom>
            <a:ln>
              <a:solidFill>
                <a:schemeClr val="accent3"/>
              </a:solidFill>
              <a:prstDash val="sysDot"/>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3A7D423B-23D7-156F-E5EE-1D78DE269B15}"/>
                </a:ext>
              </a:extLst>
            </p:cNvPr>
            <p:cNvCxnSpPr>
              <a:cxnSpLocks/>
            </p:cNvCxnSpPr>
            <p:nvPr/>
          </p:nvCxnSpPr>
          <p:spPr>
            <a:xfrm>
              <a:off x="5209309" y="2178186"/>
              <a:ext cx="1496291"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8CFFA8C8-6C13-86FD-F39E-AF6AD89413B8}"/>
                </a:ext>
              </a:extLst>
            </p:cNvPr>
            <p:cNvSpPr txBox="1"/>
            <p:nvPr/>
          </p:nvSpPr>
          <p:spPr>
            <a:xfrm>
              <a:off x="5680363" y="2008909"/>
              <a:ext cx="554182" cy="338554"/>
            </a:xfrm>
            <a:prstGeom prst="rect">
              <a:avLst/>
            </a:prstGeom>
            <a:solidFill>
              <a:schemeClr val="bg1"/>
            </a:solidFill>
            <a:ln w="12700">
              <a:solidFill>
                <a:schemeClr val="accent3"/>
              </a:solidFill>
            </a:ln>
          </p:spPr>
          <p:txBody>
            <a:bodyPr wrap="square" rtlCol="0">
              <a:spAutoFit/>
            </a:bodyPr>
            <a:lstStyle/>
            <a:p>
              <a:r>
                <a:rPr lang="en-DK" sz="1600" dirty="0"/>
                <a:t>16S</a:t>
              </a:r>
            </a:p>
          </p:txBody>
        </p:sp>
      </p:grpSp>
      <p:grpSp>
        <p:nvGrpSpPr>
          <p:cNvPr id="67" name="Group 66">
            <a:extLst>
              <a:ext uri="{FF2B5EF4-FFF2-40B4-BE49-F238E27FC236}">
                <a16:creationId xmlns:a16="http://schemas.microsoft.com/office/drawing/2014/main" id="{B8FC8C14-DA47-25D5-4712-E1DA511EC3B7}"/>
              </a:ext>
            </a:extLst>
          </p:cNvPr>
          <p:cNvGrpSpPr/>
          <p:nvPr/>
        </p:nvGrpSpPr>
        <p:grpSpPr>
          <a:xfrm>
            <a:off x="3660015" y="5069459"/>
            <a:ext cx="2382982" cy="338554"/>
            <a:chOff x="4807527" y="2008909"/>
            <a:chExt cx="2382982" cy="338554"/>
          </a:xfrm>
        </p:grpSpPr>
        <p:cxnSp>
          <p:nvCxnSpPr>
            <p:cNvPr id="68" name="Straight Connector 67">
              <a:extLst>
                <a:ext uri="{FF2B5EF4-FFF2-40B4-BE49-F238E27FC236}">
                  <a16:creationId xmlns:a16="http://schemas.microsoft.com/office/drawing/2014/main" id="{12874FC2-C78A-A5A8-5234-5E3D345A258E}"/>
                </a:ext>
              </a:extLst>
            </p:cNvPr>
            <p:cNvCxnSpPr>
              <a:cxnSpLocks/>
            </p:cNvCxnSpPr>
            <p:nvPr/>
          </p:nvCxnSpPr>
          <p:spPr>
            <a:xfrm>
              <a:off x="4807527" y="2178186"/>
              <a:ext cx="2382982" cy="0"/>
            </a:xfrm>
            <a:prstGeom prst="line">
              <a:avLst/>
            </a:prstGeom>
            <a:ln>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0378CD8E-47D2-38F5-49A6-9AFD0CFD53C5}"/>
                </a:ext>
              </a:extLst>
            </p:cNvPr>
            <p:cNvCxnSpPr>
              <a:cxnSpLocks/>
            </p:cNvCxnSpPr>
            <p:nvPr/>
          </p:nvCxnSpPr>
          <p:spPr>
            <a:xfrm>
              <a:off x="5209309" y="2178186"/>
              <a:ext cx="1496291" cy="0"/>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3D28AD6A-1607-AD0C-4AFE-514AFE686416}"/>
                </a:ext>
              </a:extLst>
            </p:cNvPr>
            <p:cNvSpPr txBox="1"/>
            <p:nvPr/>
          </p:nvSpPr>
          <p:spPr>
            <a:xfrm>
              <a:off x="5680363" y="2008909"/>
              <a:ext cx="554182" cy="338554"/>
            </a:xfrm>
            <a:prstGeom prst="rect">
              <a:avLst/>
            </a:prstGeom>
            <a:solidFill>
              <a:schemeClr val="bg1"/>
            </a:solidFill>
            <a:ln w="12700">
              <a:solidFill>
                <a:schemeClr val="accent2">
                  <a:lumMod val="75000"/>
                </a:schemeClr>
              </a:solidFill>
            </a:ln>
          </p:spPr>
          <p:txBody>
            <a:bodyPr wrap="square" rtlCol="0">
              <a:spAutoFit/>
            </a:bodyPr>
            <a:lstStyle/>
            <a:p>
              <a:r>
                <a:rPr lang="en-DK" sz="1600" dirty="0"/>
                <a:t>16S</a:t>
              </a:r>
            </a:p>
          </p:txBody>
        </p:sp>
      </p:grpSp>
      <p:sp>
        <p:nvSpPr>
          <p:cNvPr id="71" name="TextBox 70">
            <a:extLst>
              <a:ext uri="{FF2B5EF4-FFF2-40B4-BE49-F238E27FC236}">
                <a16:creationId xmlns:a16="http://schemas.microsoft.com/office/drawing/2014/main" id="{3591195C-8CEA-459A-ABBF-2E64ED74CD1D}"/>
              </a:ext>
            </a:extLst>
          </p:cNvPr>
          <p:cNvSpPr txBox="1"/>
          <p:nvPr/>
        </p:nvSpPr>
        <p:spPr>
          <a:xfrm>
            <a:off x="330411" y="5778632"/>
            <a:ext cx="3061856" cy="923330"/>
          </a:xfrm>
          <a:prstGeom prst="rect">
            <a:avLst/>
          </a:prstGeom>
          <a:noFill/>
        </p:spPr>
        <p:txBody>
          <a:bodyPr wrap="square" rtlCol="0">
            <a:spAutoFit/>
          </a:bodyPr>
          <a:lstStyle/>
          <a:p>
            <a:r>
              <a:rPr lang="en-DK" dirty="0"/>
              <a:t>Microbial genomes in our sample carrying 16S rRNA gene</a:t>
            </a:r>
          </a:p>
        </p:txBody>
      </p:sp>
      <p:sp>
        <p:nvSpPr>
          <p:cNvPr id="72" name="TextBox 71">
            <a:extLst>
              <a:ext uri="{FF2B5EF4-FFF2-40B4-BE49-F238E27FC236}">
                <a16:creationId xmlns:a16="http://schemas.microsoft.com/office/drawing/2014/main" id="{9BE7501F-3DCF-1B3D-B302-D17CDFF294A2}"/>
              </a:ext>
            </a:extLst>
          </p:cNvPr>
          <p:cNvSpPr txBox="1"/>
          <p:nvPr/>
        </p:nvSpPr>
        <p:spPr>
          <a:xfrm>
            <a:off x="3511078" y="5540734"/>
            <a:ext cx="2680855" cy="1200329"/>
          </a:xfrm>
          <a:prstGeom prst="rect">
            <a:avLst/>
          </a:prstGeom>
          <a:noFill/>
        </p:spPr>
        <p:txBody>
          <a:bodyPr wrap="square" rtlCol="0">
            <a:spAutoFit/>
          </a:bodyPr>
          <a:lstStyle/>
          <a:p>
            <a:r>
              <a:rPr lang="en-DK" dirty="0"/>
              <a:t>PCR amplification of 16S rRNA gene to produce a pool of DNA containing only 16S genes</a:t>
            </a:r>
          </a:p>
        </p:txBody>
      </p:sp>
      <p:sp>
        <p:nvSpPr>
          <p:cNvPr id="73" name="TextBox 72">
            <a:extLst>
              <a:ext uri="{FF2B5EF4-FFF2-40B4-BE49-F238E27FC236}">
                <a16:creationId xmlns:a16="http://schemas.microsoft.com/office/drawing/2014/main" id="{2AC232C1-835D-CBC9-B66A-D2E952F6F5EA}"/>
              </a:ext>
            </a:extLst>
          </p:cNvPr>
          <p:cNvSpPr txBox="1"/>
          <p:nvPr/>
        </p:nvSpPr>
        <p:spPr>
          <a:xfrm>
            <a:off x="6250091" y="2031603"/>
            <a:ext cx="2978726" cy="307777"/>
          </a:xfrm>
          <a:prstGeom prst="rect">
            <a:avLst/>
          </a:prstGeom>
          <a:noFill/>
        </p:spPr>
        <p:txBody>
          <a:bodyPr wrap="square" rtlCol="0">
            <a:spAutoFit/>
          </a:bodyPr>
          <a:lstStyle/>
          <a:p>
            <a:r>
              <a:rPr lang="en-DK" sz="1400" spc="300" dirty="0"/>
              <a:t>TT</a:t>
            </a:r>
            <a:r>
              <a:rPr lang="en-DK" sz="1400" b="1" spc="300" dirty="0">
                <a:solidFill>
                  <a:schemeClr val="tx2">
                    <a:lumMod val="75000"/>
                    <a:lumOff val="25000"/>
                  </a:schemeClr>
                </a:solidFill>
              </a:rPr>
              <a:t>C</a:t>
            </a:r>
            <a:r>
              <a:rPr lang="en-DK" sz="1400" spc="300" dirty="0"/>
              <a:t>AACCGAGATATGC</a:t>
            </a:r>
          </a:p>
        </p:txBody>
      </p:sp>
      <p:sp>
        <p:nvSpPr>
          <p:cNvPr id="74" name="TextBox 73">
            <a:extLst>
              <a:ext uri="{FF2B5EF4-FFF2-40B4-BE49-F238E27FC236}">
                <a16:creationId xmlns:a16="http://schemas.microsoft.com/office/drawing/2014/main" id="{848451ED-B603-C13B-C022-6701C3DC66B2}"/>
              </a:ext>
            </a:extLst>
          </p:cNvPr>
          <p:cNvSpPr txBox="1"/>
          <p:nvPr/>
        </p:nvSpPr>
        <p:spPr>
          <a:xfrm>
            <a:off x="6263945" y="2413010"/>
            <a:ext cx="2978726" cy="307777"/>
          </a:xfrm>
          <a:prstGeom prst="rect">
            <a:avLst/>
          </a:prstGeom>
          <a:noFill/>
        </p:spPr>
        <p:txBody>
          <a:bodyPr wrap="square" rtlCol="0">
            <a:spAutoFit/>
          </a:bodyPr>
          <a:lstStyle/>
          <a:p>
            <a:r>
              <a:rPr lang="en-DK" sz="1400" spc="300" dirty="0"/>
              <a:t>TT</a:t>
            </a:r>
            <a:r>
              <a:rPr lang="en-DK" sz="1400" b="1" spc="300" dirty="0">
                <a:solidFill>
                  <a:schemeClr val="tx2">
                    <a:lumMod val="75000"/>
                    <a:lumOff val="25000"/>
                  </a:schemeClr>
                </a:solidFill>
              </a:rPr>
              <a:t>C</a:t>
            </a:r>
            <a:r>
              <a:rPr lang="en-DK" sz="1400" spc="300" dirty="0"/>
              <a:t>AACCGAGATATGC</a:t>
            </a:r>
          </a:p>
        </p:txBody>
      </p:sp>
      <p:sp>
        <p:nvSpPr>
          <p:cNvPr id="75" name="TextBox 74">
            <a:extLst>
              <a:ext uri="{FF2B5EF4-FFF2-40B4-BE49-F238E27FC236}">
                <a16:creationId xmlns:a16="http://schemas.microsoft.com/office/drawing/2014/main" id="{642A8992-B190-C614-7A70-1011FAD20105}"/>
              </a:ext>
            </a:extLst>
          </p:cNvPr>
          <p:cNvSpPr txBox="1"/>
          <p:nvPr/>
        </p:nvSpPr>
        <p:spPr>
          <a:xfrm>
            <a:off x="6263945" y="2794417"/>
            <a:ext cx="3068782" cy="307777"/>
          </a:xfrm>
          <a:prstGeom prst="rect">
            <a:avLst/>
          </a:prstGeom>
          <a:noFill/>
        </p:spPr>
        <p:txBody>
          <a:bodyPr wrap="square" rtlCol="0">
            <a:spAutoFit/>
          </a:bodyPr>
          <a:lstStyle/>
          <a:p>
            <a:r>
              <a:rPr lang="en-DK" sz="1400" spc="300" dirty="0"/>
              <a:t>TT</a:t>
            </a:r>
            <a:r>
              <a:rPr lang="en-DK" sz="1400" b="1" spc="300" dirty="0">
                <a:solidFill>
                  <a:schemeClr val="tx2">
                    <a:lumMod val="75000"/>
                    <a:lumOff val="25000"/>
                  </a:schemeClr>
                </a:solidFill>
              </a:rPr>
              <a:t>C</a:t>
            </a:r>
            <a:r>
              <a:rPr lang="en-DK" sz="1400" spc="300" dirty="0"/>
              <a:t>AACCGAGATATGC</a:t>
            </a:r>
          </a:p>
        </p:txBody>
      </p:sp>
      <p:sp>
        <p:nvSpPr>
          <p:cNvPr id="76" name="TextBox 75">
            <a:extLst>
              <a:ext uri="{FF2B5EF4-FFF2-40B4-BE49-F238E27FC236}">
                <a16:creationId xmlns:a16="http://schemas.microsoft.com/office/drawing/2014/main" id="{E5793936-AB7B-DA0F-4D47-C62B243CCFA5}"/>
              </a:ext>
            </a:extLst>
          </p:cNvPr>
          <p:cNvSpPr txBox="1"/>
          <p:nvPr/>
        </p:nvSpPr>
        <p:spPr>
          <a:xfrm>
            <a:off x="6263944" y="3175824"/>
            <a:ext cx="3241965" cy="369332"/>
          </a:xfrm>
          <a:prstGeom prst="rect">
            <a:avLst/>
          </a:prstGeom>
          <a:noFill/>
        </p:spPr>
        <p:txBody>
          <a:bodyPr wrap="square" rtlCol="0">
            <a:noAutofit/>
          </a:bodyPr>
          <a:lstStyle/>
          <a:p>
            <a:r>
              <a:rPr lang="en-DK" sz="1400" spc="370" dirty="0"/>
              <a:t>TTTAACCGA</a:t>
            </a:r>
            <a:r>
              <a:rPr lang="en-DK" sz="1400" b="1" spc="370" dirty="0">
                <a:solidFill>
                  <a:srgbClr val="FF0000"/>
                </a:solidFill>
              </a:rPr>
              <a:t>T</a:t>
            </a:r>
            <a:r>
              <a:rPr lang="en-DK" sz="1400" spc="370" dirty="0"/>
              <a:t>ATATGC</a:t>
            </a:r>
          </a:p>
        </p:txBody>
      </p:sp>
      <p:sp>
        <p:nvSpPr>
          <p:cNvPr id="77" name="TextBox 76">
            <a:extLst>
              <a:ext uri="{FF2B5EF4-FFF2-40B4-BE49-F238E27FC236}">
                <a16:creationId xmlns:a16="http://schemas.microsoft.com/office/drawing/2014/main" id="{3CC216BB-AE7B-FB8E-4F19-050EE5B56242}"/>
              </a:ext>
            </a:extLst>
          </p:cNvPr>
          <p:cNvSpPr txBox="1"/>
          <p:nvPr/>
        </p:nvSpPr>
        <p:spPr>
          <a:xfrm>
            <a:off x="6263945" y="3557231"/>
            <a:ext cx="3054928" cy="307777"/>
          </a:xfrm>
          <a:prstGeom prst="rect">
            <a:avLst/>
          </a:prstGeom>
          <a:noFill/>
        </p:spPr>
        <p:txBody>
          <a:bodyPr wrap="square" rtlCol="0">
            <a:spAutoFit/>
          </a:bodyPr>
          <a:lstStyle/>
          <a:p>
            <a:r>
              <a:rPr lang="en-DK" sz="1400" spc="370" dirty="0"/>
              <a:t>TTTAACCGA</a:t>
            </a:r>
            <a:r>
              <a:rPr lang="en-DK" sz="1400" b="1" spc="370" dirty="0">
                <a:solidFill>
                  <a:srgbClr val="FF0000"/>
                </a:solidFill>
              </a:rPr>
              <a:t>T</a:t>
            </a:r>
            <a:r>
              <a:rPr lang="en-DK" sz="1400" spc="370" dirty="0"/>
              <a:t>ATATGC</a:t>
            </a:r>
          </a:p>
        </p:txBody>
      </p:sp>
      <p:sp>
        <p:nvSpPr>
          <p:cNvPr id="78" name="TextBox 77">
            <a:extLst>
              <a:ext uri="{FF2B5EF4-FFF2-40B4-BE49-F238E27FC236}">
                <a16:creationId xmlns:a16="http://schemas.microsoft.com/office/drawing/2014/main" id="{0D361220-0906-AF44-EC8E-414F05E51D76}"/>
              </a:ext>
            </a:extLst>
          </p:cNvPr>
          <p:cNvSpPr txBox="1"/>
          <p:nvPr/>
        </p:nvSpPr>
        <p:spPr>
          <a:xfrm>
            <a:off x="6250091" y="3938638"/>
            <a:ext cx="3068782" cy="307777"/>
          </a:xfrm>
          <a:prstGeom prst="rect">
            <a:avLst/>
          </a:prstGeom>
          <a:noFill/>
        </p:spPr>
        <p:txBody>
          <a:bodyPr wrap="square" rtlCol="0">
            <a:spAutoFit/>
          </a:bodyPr>
          <a:lstStyle/>
          <a:p>
            <a:r>
              <a:rPr lang="en-DK" sz="1400" spc="370" dirty="0"/>
              <a:t>TTTAACCGA</a:t>
            </a:r>
            <a:r>
              <a:rPr lang="en-DK" sz="1400" b="1" spc="370" dirty="0">
                <a:solidFill>
                  <a:srgbClr val="FF0000"/>
                </a:solidFill>
              </a:rPr>
              <a:t>T</a:t>
            </a:r>
            <a:r>
              <a:rPr lang="en-DK" sz="1400" spc="370" dirty="0"/>
              <a:t>ATATGC</a:t>
            </a:r>
          </a:p>
        </p:txBody>
      </p:sp>
      <p:sp>
        <p:nvSpPr>
          <p:cNvPr id="80" name="TextBox 79">
            <a:extLst>
              <a:ext uri="{FF2B5EF4-FFF2-40B4-BE49-F238E27FC236}">
                <a16:creationId xmlns:a16="http://schemas.microsoft.com/office/drawing/2014/main" id="{9CBB9F6E-87C5-15C5-DE39-DEA58E2817CF}"/>
              </a:ext>
            </a:extLst>
          </p:cNvPr>
          <p:cNvSpPr txBox="1"/>
          <p:nvPr/>
        </p:nvSpPr>
        <p:spPr>
          <a:xfrm>
            <a:off x="6250090" y="4668201"/>
            <a:ext cx="3082637" cy="307777"/>
          </a:xfrm>
          <a:prstGeom prst="rect">
            <a:avLst/>
          </a:prstGeom>
          <a:noFill/>
        </p:spPr>
        <p:txBody>
          <a:bodyPr wrap="square" rtlCol="0">
            <a:spAutoFit/>
          </a:bodyPr>
          <a:lstStyle/>
          <a:p>
            <a:r>
              <a:rPr lang="en-DK" sz="1400" spc="370" dirty="0"/>
              <a:t>TTTAAC</a:t>
            </a:r>
            <a:r>
              <a:rPr lang="en-DK" sz="1400" b="1" spc="370" dirty="0">
                <a:solidFill>
                  <a:schemeClr val="accent3"/>
                </a:solidFill>
              </a:rPr>
              <a:t>A</a:t>
            </a:r>
            <a:r>
              <a:rPr lang="en-DK" sz="1400" spc="370" dirty="0"/>
              <a:t>GAGATATGC</a:t>
            </a:r>
          </a:p>
        </p:txBody>
      </p:sp>
      <p:sp>
        <p:nvSpPr>
          <p:cNvPr id="81" name="TextBox 80">
            <a:extLst>
              <a:ext uri="{FF2B5EF4-FFF2-40B4-BE49-F238E27FC236}">
                <a16:creationId xmlns:a16="http://schemas.microsoft.com/office/drawing/2014/main" id="{6006EFFD-2744-CEA8-30A0-AA3A0DF1BDA1}"/>
              </a:ext>
            </a:extLst>
          </p:cNvPr>
          <p:cNvSpPr txBox="1"/>
          <p:nvPr/>
        </p:nvSpPr>
        <p:spPr>
          <a:xfrm>
            <a:off x="6263944" y="5049606"/>
            <a:ext cx="3082637" cy="307777"/>
          </a:xfrm>
          <a:prstGeom prst="rect">
            <a:avLst/>
          </a:prstGeom>
          <a:noFill/>
        </p:spPr>
        <p:txBody>
          <a:bodyPr wrap="square" rtlCol="0">
            <a:spAutoFit/>
          </a:bodyPr>
          <a:lstStyle/>
          <a:p>
            <a:r>
              <a:rPr lang="en-DK" sz="1400" spc="370" dirty="0"/>
              <a:t>TTTAACCGAGATAT</a:t>
            </a:r>
            <a:r>
              <a:rPr lang="en-DK" sz="1400" b="1" spc="370" dirty="0">
                <a:solidFill>
                  <a:schemeClr val="accent2">
                    <a:lumMod val="75000"/>
                  </a:schemeClr>
                </a:solidFill>
              </a:rPr>
              <a:t>A</a:t>
            </a:r>
            <a:r>
              <a:rPr lang="en-DK" sz="1400" spc="370" dirty="0"/>
              <a:t>C</a:t>
            </a:r>
          </a:p>
        </p:txBody>
      </p:sp>
      <p:sp>
        <p:nvSpPr>
          <p:cNvPr id="82" name="TextBox 81">
            <a:extLst>
              <a:ext uri="{FF2B5EF4-FFF2-40B4-BE49-F238E27FC236}">
                <a16:creationId xmlns:a16="http://schemas.microsoft.com/office/drawing/2014/main" id="{5DFABBFC-A414-998F-C63B-456CB81E35DB}"/>
              </a:ext>
            </a:extLst>
          </p:cNvPr>
          <p:cNvSpPr txBox="1"/>
          <p:nvPr/>
        </p:nvSpPr>
        <p:spPr>
          <a:xfrm>
            <a:off x="6250091" y="4320045"/>
            <a:ext cx="3068782" cy="307777"/>
          </a:xfrm>
          <a:prstGeom prst="rect">
            <a:avLst/>
          </a:prstGeom>
          <a:noFill/>
        </p:spPr>
        <p:txBody>
          <a:bodyPr wrap="square" rtlCol="0">
            <a:spAutoFit/>
          </a:bodyPr>
          <a:lstStyle/>
          <a:p>
            <a:r>
              <a:rPr lang="en-DK" sz="1400" spc="370" dirty="0"/>
              <a:t>TTTAAC</a:t>
            </a:r>
            <a:r>
              <a:rPr lang="en-DK" sz="1400" b="1" spc="370" dirty="0">
                <a:solidFill>
                  <a:schemeClr val="accent3"/>
                </a:solidFill>
              </a:rPr>
              <a:t>A</a:t>
            </a:r>
            <a:r>
              <a:rPr lang="en-DK" sz="1400" spc="370" dirty="0"/>
              <a:t>GAGATATGC</a:t>
            </a:r>
          </a:p>
        </p:txBody>
      </p:sp>
      <p:sp>
        <p:nvSpPr>
          <p:cNvPr id="83" name="TextBox 82">
            <a:extLst>
              <a:ext uri="{FF2B5EF4-FFF2-40B4-BE49-F238E27FC236}">
                <a16:creationId xmlns:a16="http://schemas.microsoft.com/office/drawing/2014/main" id="{2DE9B554-E93E-925F-17BB-76040233A898}"/>
              </a:ext>
            </a:extLst>
          </p:cNvPr>
          <p:cNvSpPr txBox="1"/>
          <p:nvPr/>
        </p:nvSpPr>
        <p:spPr>
          <a:xfrm>
            <a:off x="6250090" y="5537896"/>
            <a:ext cx="2680855" cy="369332"/>
          </a:xfrm>
          <a:prstGeom prst="rect">
            <a:avLst/>
          </a:prstGeom>
          <a:noFill/>
        </p:spPr>
        <p:txBody>
          <a:bodyPr wrap="square" rtlCol="0">
            <a:spAutoFit/>
          </a:bodyPr>
          <a:lstStyle/>
          <a:p>
            <a:r>
              <a:rPr lang="en-DK" dirty="0"/>
              <a:t>Sequencing all fragments</a:t>
            </a:r>
          </a:p>
        </p:txBody>
      </p:sp>
      <p:graphicFrame>
        <p:nvGraphicFramePr>
          <p:cNvPr id="85" name="Table 84">
            <a:extLst>
              <a:ext uri="{FF2B5EF4-FFF2-40B4-BE49-F238E27FC236}">
                <a16:creationId xmlns:a16="http://schemas.microsoft.com/office/drawing/2014/main" id="{BE823231-A99C-7837-9D6A-E5A3E2CFE9FA}"/>
              </a:ext>
            </a:extLst>
          </p:cNvPr>
          <p:cNvGraphicFramePr>
            <a:graphicFrameLocks noGrp="1"/>
          </p:cNvGraphicFramePr>
          <p:nvPr>
            <p:extLst>
              <p:ext uri="{D42A27DB-BD31-4B8C-83A1-F6EECF244321}">
                <p14:modId xmlns:p14="http://schemas.microsoft.com/office/powerpoint/2010/main" val="2462091585"/>
              </p:ext>
            </p:extLst>
          </p:nvPr>
        </p:nvGraphicFramePr>
        <p:xfrm>
          <a:off x="10038583" y="3757913"/>
          <a:ext cx="1018332" cy="1166046"/>
        </p:xfrm>
        <a:graphic>
          <a:graphicData uri="http://schemas.openxmlformats.org/drawingml/2006/table">
            <a:tbl>
              <a:tblPr firstRow="1" bandRow="1">
                <a:tableStyleId>{D7AC3CCA-C797-4891-BE02-D94E43425B78}</a:tableStyleId>
              </a:tblPr>
              <a:tblGrid>
                <a:gridCol w="169722">
                  <a:extLst>
                    <a:ext uri="{9D8B030D-6E8A-4147-A177-3AD203B41FA5}">
                      <a16:colId xmlns:a16="http://schemas.microsoft.com/office/drawing/2014/main" val="591458638"/>
                    </a:ext>
                  </a:extLst>
                </a:gridCol>
                <a:gridCol w="169722">
                  <a:extLst>
                    <a:ext uri="{9D8B030D-6E8A-4147-A177-3AD203B41FA5}">
                      <a16:colId xmlns:a16="http://schemas.microsoft.com/office/drawing/2014/main" val="3689723892"/>
                    </a:ext>
                  </a:extLst>
                </a:gridCol>
                <a:gridCol w="169722">
                  <a:extLst>
                    <a:ext uri="{9D8B030D-6E8A-4147-A177-3AD203B41FA5}">
                      <a16:colId xmlns:a16="http://schemas.microsoft.com/office/drawing/2014/main" val="410620895"/>
                    </a:ext>
                  </a:extLst>
                </a:gridCol>
                <a:gridCol w="169722">
                  <a:extLst>
                    <a:ext uri="{9D8B030D-6E8A-4147-A177-3AD203B41FA5}">
                      <a16:colId xmlns:a16="http://schemas.microsoft.com/office/drawing/2014/main" val="1970471051"/>
                    </a:ext>
                  </a:extLst>
                </a:gridCol>
                <a:gridCol w="169722">
                  <a:extLst>
                    <a:ext uri="{9D8B030D-6E8A-4147-A177-3AD203B41FA5}">
                      <a16:colId xmlns:a16="http://schemas.microsoft.com/office/drawing/2014/main" val="18568149"/>
                    </a:ext>
                  </a:extLst>
                </a:gridCol>
                <a:gridCol w="169722">
                  <a:extLst>
                    <a:ext uri="{9D8B030D-6E8A-4147-A177-3AD203B41FA5}">
                      <a16:colId xmlns:a16="http://schemas.microsoft.com/office/drawing/2014/main" val="933254077"/>
                    </a:ext>
                  </a:extLst>
                </a:gridCol>
              </a:tblGrid>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730149994"/>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1279572824"/>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3667834363"/>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1547517046"/>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3674622576"/>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extLst>
                  <a:ext uri="{0D108BD9-81ED-4DB2-BD59-A6C34878D82A}">
                    <a16:rowId xmlns:a16="http://schemas.microsoft.com/office/drawing/2014/main" val="2613402699"/>
                  </a:ext>
                </a:extLst>
              </a:tr>
            </a:tbl>
          </a:graphicData>
        </a:graphic>
      </p:graphicFrame>
      <p:sp>
        <p:nvSpPr>
          <p:cNvPr id="86" name="TextBox 85">
            <a:extLst>
              <a:ext uri="{FF2B5EF4-FFF2-40B4-BE49-F238E27FC236}">
                <a16:creationId xmlns:a16="http://schemas.microsoft.com/office/drawing/2014/main" id="{6958133B-46B5-3769-0475-BEA840F046A7}"/>
              </a:ext>
            </a:extLst>
          </p:cNvPr>
          <p:cNvSpPr txBox="1"/>
          <p:nvPr/>
        </p:nvSpPr>
        <p:spPr>
          <a:xfrm>
            <a:off x="9151892" y="5039968"/>
            <a:ext cx="2974652" cy="1754326"/>
          </a:xfrm>
          <a:prstGeom prst="rect">
            <a:avLst/>
          </a:prstGeom>
          <a:noFill/>
        </p:spPr>
        <p:txBody>
          <a:bodyPr wrap="square" rtlCol="0">
            <a:spAutoFit/>
          </a:bodyPr>
          <a:lstStyle/>
          <a:p>
            <a:r>
              <a:rPr lang="en-DK" dirty="0"/>
              <a:t>Abundance table of operational taxonomic units (OTUs) or amplicon sequence variants (ASVs) – resolution up to Genus and no functional annotation</a:t>
            </a:r>
          </a:p>
        </p:txBody>
      </p:sp>
      <p:sp>
        <p:nvSpPr>
          <p:cNvPr id="87" name="TextBox 86">
            <a:extLst>
              <a:ext uri="{FF2B5EF4-FFF2-40B4-BE49-F238E27FC236}">
                <a16:creationId xmlns:a16="http://schemas.microsoft.com/office/drawing/2014/main" id="{7E540C71-F4C9-1AC9-D393-D2A3C4B760B5}"/>
              </a:ext>
            </a:extLst>
          </p:cNvPr>
          <p:cNvSpPr txBox="1"/>
          <p:nvPr/>
        </p:nvSpPr>
        <p:spPr>
          <a:xfrm>
            <a:off x="9993813" y="3433431"/>
            <a:ext cx="1094509" cy="369332"/>
          </a:xfrm>
          <a:prstGeom prst="rect">
            <a:avLst/>
          </a:prstGeom>
          <a:noFill/>
        </p:spPr>
        <p:txBody>
          <a:bodyPr wrap="square" rtlCol="0">
            <a:spAutoFit/>
          </a:bodyPr>
          <a:lstStyle/>
          <a:p>
            <a:r>
              <a:rPr lang="en-DK" dirty="0"/>
              <a:t>Samples</a:t>
            </a:r>
          </a:p>
        </p:txBody>
      </p:sp>
      <p:sp>
        <p:nvSpPr>
          <p:cNvPr id="88" name="TextBox 87">
            <a:extLst>
              <a:ext uri="{FF2B5EF4-FFF2-40B4-BE49-F238E27FC236}">
                <a16:creationId xmlns:a16="http://schemas.microsoft.com/office/drawing/2014/main" id="{ACFF833C-A7C5-E5CC-5DE7-7CEA70DA3995}"/>
              </a:ext>
            </a:extLst>
          </p:cNvPr>
          <p:cNvSpPr txBox="1"/>
          <p:nvPr/>
        </p:nvSpPr>
        <p:spPr>
          <a:xfrm rot="16200000">
            <a:off x="9025183" y="3963951"/>
            <a:ext cx="1617517" cy="369332"/>
          </a:xfrm>
          <a:prstGeom prst="rect">
            <a:avLst/>
          </a:prstGeom>
          <a:noFill/>
        </p:spPr>
        <p:txBody>
          <a:bodyPr wrap="square" rtlCol="0">
            <a:spAutoFit/>
          </a:bodyPr>
          <a:lstStyle/>
          <a:p>
            <a:r>
              <a:rPr lang="en-DK" dirty="0"/>
              <a:t>OTUs/ASVs</a:t>
            </a:r>
          </a:p>
        </p:txBody>
      </p:sp>
      <p:sp>
        <p:nvSpPr>
          <p:cNvPr id="89" name="TextBox 88">
            <a:extLst>
              <a:ext uri="{FF2B5EF4-FFF2-40B4-BE49-F238E27FC236}">
                <a16:creationId xmlns:a16="http://schemas.microsoft.com/office/drawing/2014/main" id="{197BE251-EEBF-4B25-CAE1-F7EEAD660BAB}"/>
              </a:ext>
            </a:extLst>
          </p:cNvPr>
          <p:cNvSpPr txBox="1"/>
          <p:nvPr/>
        </p:nvSpPr>
        <p:spPr>
          <a:xfrm>
            <a:off x="7368988" y="289242"/>
            <a:ext cx="3172079" cy="1477328"/>
          </a:xfrm>
          <a:prstGeom prst="rect">
            <a:avLst/>
          </a:prstGeom>
          <a:noFill/>
        </p:spPr>
        <p:txBody>
          <a:bodyPr wrap="square" rtlCol="0">
            <a:spAutoFit/>
          </a:bodyPr>
          <a:lstStyle/>
          <a:p>
            <a:r>
              <a:rPr lang="en-DK" dirty="0"/>
              <a:t>Traditionally cluster the sequences (97% similarity)  into operational taxonomic units (OTUs) and compare to known 16S databases</a:t>
            </a:r>
          </a:p>
        </p:txBody>
      </p:sp>
      <p:pic>
        <p:nvPicPr>
          <p:cNvPr id="90" name="Picture 4" descr="The SILVA Database Project: An ELIXIR core data resource for high-quality  ribosomal RNA sequences">
            <a:extLst>
              <a:ext uri="{FF2B5EF4-FFF2-40B4-BE49-F238E27FC236}">
                <a16:creationId xmlns:a16="http://schemas.microsoft.com/office/drawing/2014/main" id="{AB565F75-31EC-6A1C-D354-E30C64529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2831" y="106347"/>
            <a:ext cx="1624817" cy="646331"/>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6" descr="greengenes.lbl.gov - Aligned 16S rDNA data and tools">
            <a:extLst>
              <a:ext uri="{FF2B5EF4-FFF2-40B4-BE49-F238E27FC236}">
                <a16:creationId xmlns:a16="http://schemas.microsoft.com/office/drawing/2014/main" id="{1C326427-F15A-E06C-1608-75532D42F3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93815" y="1017019"/>
            <a:ext cx="1522847" cy="102543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D15CE59C-8215-782B-B9E1-1223DFF3A0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0622" y="2040095"/>
            <a:ext cx="1367047" cy="450698"/>
          </a:xfrm>
          <a:prstGeom prst="rect">
            <a:avLst/>
          </a:prstGeom>
          <a:noFill/>
          <a:extLst>
            <a:ext uri="{909E8E84-426E-40DD-AFC4-6F175D3DCCD1}">
              <a14:hiddenFill xmlns:a14="http://schemas.microsoft.com/office/drawing/2010/main">
                <a:solidFill>
                  <a:srgbClr val="FFFFFF"/>
                </a:solidFill>
              </a14:hiddenFill>
            </a:ext>
          </a:extLst>
        </p:spPr>
      </p:pic>
      <p:sp>
        <p:nvSpPr>
          <p:cNvPr id="93" name="TextBox 92">
            <a:extLst>
              <a:ext uri="{FF2B5EF4-FFF2-40B4-BE49-F238E27FC236}">
                <a16:creationId xmlns:a16="http://schemas.microsoft.com/office/drawing/2014/main" id="{7A12ECE4-5277-AFE1-86E2-6139A52112F5}"/>
              </a:ext>
            </a:extLst>
          </p:cNvPr>
          <p:cNvSpPr txBox="1"/>
          <p:nvPr/>
        </p:nvSpPr>
        <p:spPr>
          <a:xfrm>
            <a:off x="9016417" y="2514139"/>
            <a:ext cx="3186711" cy="954107"/>
          </a:xfrm>
          <a:prstGeom prst="rect">
            <a:avLst/>
          </a:prstGeom>
          <a:noFill/>
        </p:spPr>
        <p:txBody>
          <a:bodyPr wrap="square" rtlCol="0">
            <a:spAutoFit/>
          </a:bodyPr>
          <a:lstStyle/>
          <a:p>
            <a:r>
              <a:rPr lang="en-GB" sz="1400" dirty="0"/>
              <a:t>assign taxonomy directly to the denoised amplicon sequence variants therefore allowing more precise taxonomic placement than OTUs</a:t>
            </a:r>
            <a:endParaRPr lang="en-DK" sz="1400" dirty="0"/>
          </a:p>
        </p:txBody>
      </p:sp>
    </p:spTree>
    <p:extLst>
      <p:ext uri="{BB962C8B-B14F-4D97-AF65-F5344CB8AC3E}">
        <p14:creationId xmlns:p14="http://schemas.microsoft.com/office/powerpoint/2010/main" val="477317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9C57690A-64C2-A7B2-5E22-4C1163053BA7}"/>
              </a:ext>
            </a:extLst>
          </p:cNvPr>
          <p:cNvCxnSpPr>
            <a:cxnSpLocks/>
          </p:cNvCxnSpPr>
          <p:nvPr/>
        </p:nvCxnSpPr>
        <p:spPr>
          <a:xfrm flipV="1">
            <a:off x="7645512" y="1458014"/>
            <a:ext cx="4574932" cy="1929"/>
          </a:xfrm>
          <a:prstGeom prst="line">
            <a:avLst/>
          </a:prstGeom>
          <a:ln w="19050">
            <a:prstDash val="sysDash"/>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5623EED1-830F-8DD0-B885-891F0FB07BC3}"/>
              </a:ext>
            </a:extLst>
          </p:cNvPr>
          <p:cNvSpPr>
            <a:spLocks noGrp="1"/>
          </p:cNvSpPr>
          <p:nvPr>
            <p:ph type="title"/>
          </p:nvPr>
        </p:nvSpPr>
        <p:spPr/>
        <p:txBody>
          <a:bodyPr/>
          <a:lstStyle/>
          <a:p>
            <a:r>
              <a:rPr lang="en-DK" dirty="0"/>
              <a:t>Reference-based methods</a:t>
            </a:r>
          </a:p>
        </p:txBody>
      </p:sp>
      <p:sp>
        <p:nvSpPr>
          <p:cNvPr id="5" name="Oval 4">
            <a:extLst>
              <a:ext uri="{FF2B5EF4-FFF2-40B4-BE49-F238E27FC236}">
                <a16:creationId xmlns:a16="http://schemas.microsoft.com/office/drawing/2014/main" id="{F69BDDE5-342F-A50B-C679-B9812374EC11}"/>
              </a:ext>
            </a:extLst>
          </p:cNvPr>
          <p:cNvSpPr/>
          <p:nvPr/>
        </p:nvSpPr>
        <p:spPr>
          <a:xfrm>
            <a:off x="484902" y="1981200"/>
            <a:ext cx="955964" cy="955964"/>
          </a:xfrm>
          <a:prstGeom prst="ellipse">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 name="Oval 7">
            <a:extLst>
              <a:ext uri="{FF2B5EF4-FFF2-40B4-BE49-F238E27FC236}">
                <a16:creationId xmlns:a16="http://schemas.microsoft.com/office/drawing/2014/main" id="{E2DD292C-69C7-1B80-03F1-3FAF6F083719}"/>
              </a:ext>
            </a:extLst>
          </p:cNvPr>
          <p:cNvSpPr/>
          <p:nvPr/>
        </p:nvSpPr>
        <p:spPr>
          <a:xfrm>
            <a:off x="1558583" y="1626987"/>
            <a:ext cx="955964" cy="955964"/>
          </a:xfrm>
          <a:prstGeom prst="ellipse">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 name="Oval 10">
            <a:extLst>
              <a:ext uri="{FF2B5EF4-FFF2-40B4-BE49-F238E27FC236}">
                <a16:creationId xmlns:a16="http://schemas.microsoft.com/office/drawing/2014/main" id="{B5638A0B-1DEC-22B9-1745-D9CA88F4519F}"/>
              </a:ext>
            </a:extLst>
          </p:cNvPr>
          <p:cNvSpPr/>
          <p:nvPr/>
        </p:nvSpPr>
        <p:spPr>
          <a:xfrm>
            <a:off x="477976" y="3435289"/>
            <a:ext cx="955964" cy="95596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Oval 13">
            <a:extLst>
              <a:ext uri="{FF2B5EF4-FFF2-40B4-BE49-F238E27FC236}">
                <a16:creationId xmlns:a16="http://schemas.microsoft.com/office/drawing/2014/main" id="{8165C1B1-EFD6-E13B-DCF5-D9038C0DEC87}"/>
              </a:ext>
            </a:extLst>
          </p:cNvPr>
          <p:cNvSpPr/>
          <p:nvPr/>
        </p:nvSpPr>
        <p:spPr>
          <a:xfrm>
            <a:off x="1724810" y="2937048"/>
            <a:ext cx="955964" cy="95596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 name="Oval 16">
            <a:extLst>
              <a:ext uri="{FF2B5EF4-FFF2-40B4-BE49-F238E27FC236}">
                <a16:creationId xmlns:a16="http://schemas.microsoft.com/office/drawing/2014/main" id="{F10C8EA6-8BD4-05D9-CD56-EB5EAF324689}"/>
              </a:ext>
            </a:extLst>
          </p:cNvPr>
          <p:cNvSpPr/>
          <p:nvPr/>
        </p:nvSpPr>
        <p:spPr>
          <a:xfrm>
            <a:off x="477976" y="4778449"/>
            <a:ext cx="955964" cy="955964"/>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 name="Oval 19">
            <a:extLst>
              <a:ext uri="{FF2B5EF4-FFF2-40B4-BE49-F238E27FC236}">
                <a16:creationId xmlns:a16="http://schemas.microsoft.com/office/drawing/2014/main" id="{EACD391D-25A6-592B-BDAC-482C04DB258E}"/>
              </a:ext>
            </a:extLst>
          </p:cNvPr>
          <p:cNvSpPr/>
          <p:nvPr/>
        </p:nvSpPr>
        <p:spPr>
          <a:xfrm>
            <a:off x="1484099" y="4061515"/>
            <a:ext cx="955964" cy="955964"/>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23" name="Straight Connector 22">
            <a:extLst>
              <a:ext uri="{FF2B5EF4-FFF2-40B4-BE49-F238E27FC236}">
                <a16:creationId xmlns:a16="http://schemas.microsoft.com/office/drawing/2014/main" id="{7AB9AA45-F8E6-5FCC-29AF-A3359C94B103}"/>
              </a:ext>
            </a:extLst>
          </p:cNvPr>
          <p:cNvCxnSpPr/>
          <p:nvPr/>
        </p:nvCxnSpPr>
        <p:spPr>
          <a:xfrm>
            <a:off x="3283506" y="2604654"/>
            <a:ext cx="678873"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C661645-1F65-140F-5637-E9C06A9695FD}"/>
              </a:ext>
            </a:extLst>
          </p:cNvPr>
          <p:cNvCxnSpPr/>
          <p:nvPr/>
        </p:nvCxnSpPr>
        <p:spPr>
          <a:xfrm>
            <a:off x="4128633" y="4471553"/>
            <a:ext cx="678873"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3199406-BF6E-0E21-3CF4-1D0C5059E101}"/>
              </a:ext>
            </a:extLst>
          </p:cNvPr>
          <p:cNvCxnSpPr/>
          <p:nvPr/>
        </p:nvCxnSpPr>
        <p:spPr>
          <a:xfrm>
            <a:off x="3588306" y="2909454"/>
            <a:ext cx="678873"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D66E4FD-41E5-D61B-3D9C-8F788B0CF7A1}"/>
              </a:ext>
            </a:extLst>
          </p:cNvPr>
          <p:cNvCxnSpPr/>
          <p:nvPr/>
        </p:nvCxnSpPr>
        <p:spPr>
          <a:xfrm>
            <a:off x="3775342" y="4283424"/>
            <a:ext cx="678873"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4BC921-DFC1-90D6-7C10-47791077518B}"/>
              </a:ext>
            </a:extLst>
          </p:cNvPr>
          <p:cNvCxnSpPr/>
          <p:nvPr/>
        </p:nvCxnSpPr>
        <p:spPr>
          <a:xfrm>
            <a:off x="3172669" y="3216624"/>
            <a:ext cx="678873"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74E6D05-4656-34B6-6B9E-3B5EF74A6D58}"/>
              </a:ext>
            </a:extLst>
          </p:cNvPr>
          <p:cNvCxnSpPr/>
          <p:nvPr/>
        </p:nvCxnSpPr>
        <p:spPr>
          <a:xfrm>
            <a:off x="4045506" y="3366654"/>
            <a:ext cx="678873"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3687342-5EE9-596C-FB69-810EF4979C55}"/>
              </a:ext>
            </a:extLst>
          </p:cNvPr>
          <p:cNvCxnSpPr/>
          <p:nvPr/>
        </p:nvCxnSpPr>
        <p:spPr>
          <a:xfrm>
            <a:off x="3345851" y="3519054"/>
            <a:ext cx="6788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F621A5A-AF1E-31BB-0BDF-4EDC2EDA7E55}"/>
              </a:ext>
            </a:extLst>
          </p:cNvPr>
          <p:cNvCxnSpPr/>
          <p:nvPr/>
        </p:nvCxnSpPr>
        <p:spPr>
          <a:xfrm>
            <a:off x="3622942" y="4128654"/>
            <a:ext cx="6788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31828F9-ECF5-3673-89CB-792CD9AA3BC4}"/>
              </a:ext>
            </a:extLst>
          </p:cNvPr>
          <p:cNvCxnSpPr/>
          <p:nvPr/>
        </p:nvCxnSpPr>
        <p:spPr>
          <a:xfrm>
            <a:off x="3325077" y="3061854"/>
            <a:ext cx="6788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E141564-3B16-27C3-0ABE-7DB47530CC87}"/>
              </a:ext>
            </a:extLst>
          </p:cNvPr>
          <p:cNvCxnSpPr/>
          <p:nvPr/>
        </p:nvCxnSpPr>
        <p:spPr>
          <a:xfrm>
            <a:off x="4350306" y="3805442"/>
            <a:ext cx="6788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DCAC00DA-D712-79DE-C8AF-C280FEE9B701}"/>
              </a:ext>
            </a:extLst>
          </p:cNvPr>
          <p:cNvCxnSpPr/>
          <p:nvPr/>
        </p:nvCxnSpPr>
        <p:spPr>
          <a:xfrm>
            <a:off x="3712997" y="5320145"/>
            <a:ext cx="6788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77A6B74-820C-56D6-5022-F743A28E159C}"/>
              </a:ext>
            </a:extLst>
          </p:cNvPr>
          <p:cNvCxnSpPr/>
          <p:nvPr/>
        </p:nvCxnSpPr>
        <p:spPr>
          <a:xfrm>
            <a:off x="3117251" y="3694606"/>
            <a:ext cx="678873"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83B86AA-9A53-6847-6A99-CD49B8AA6F7D}"/>
              </a:ext>
            </a:extLst>
          </p:cNvPr>
          <p:cNvCxnSpPr/>
          <p:nvPr/>
        </p:nvCxnSpPr>
        <p:spPr>
          <a:xfrm>
            <a:off x="4689742" y="3976254"/>
            <a:ext cx="678873"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6602008E-F452-B7D2-4186-3241081E25DC}"/>
              </a:ext>
            </a:extLst>
          </p:cNvPr>
          <p:cNvCxnSpPr/>
          <p:nvPr/>
        </p:nvCxnSpPr>
        <p:spPr>
          <a:xfrm>
            <a:off x="4391869" y="3216624"/>
            <a:ext cx="678873"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8EF766B-6FE3-34D1-52AA-72CEB225B849}"/>
              </a:ext>
            </a:extLst>
          </p:cNvPr>
          <p:cNvCxnSpPr/>
          <p:nvPr/>
        </p:nvCxnSpPr>
        <p:spPr>
          <a:xfrm>
            <a:off x="4281033" y="4623953"/>
            <a:ext cx="678873"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742118-D8D2-3E55-3469-96D071D8880A}"/>
              </a:ext>
            </a:extLst>
          </p:cNvPr>
          <p:cNvCxnSpPr/>
          <p:nvPr/>
        </p:nvCxnSpPr>
        <p:spPr>
          <a:xfrm>
            <a:off x="4384942" y="3529444"/>
            <a:ext cx="678873"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ABD284D8-9A12-435A-CF81-2A822FC2F327}"/>
              </a:ext>
            </a:extLst>
          </p:cNvPr>
          <p:cNvCxnSpPr/>
          <p:nvPr/>
        </p:nvCxnSpPr>
        <p:spPr>
          <a:xfrm>
            <a:off x="3248875" y="3976254"/>
            <a:ext cx="678873"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C1842F0D-EDEF-DB14-28BA-3A68ADCC0D06}"/>
              </a:ext>
            </a:extLst>
          </p:cNvPr>
          <p:cNvCxnSpPr/>
          <p:nvPr/>
        </p:nvCxnSpPr>
        <p:spPr>
          <a:xfrm>
            <a:off x="4308742" y="2604654"/>
            <a:ext cx="678873"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45CC387E-E3D2-51A4-F2C7-0DCA600CEBD7}"/>
              </a:ext>
            </a:extLst>
          </p:cNvPr>
          <p:cNvCxnSpPr/>
          <p:nvPr/>
        </p:nvCxnSpPr>
        <p:spPr>
          <a:xfrm>
            <a:off x="3172668" y="4615933"/>
            <a:ext cx="678873"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09ACF3D-C6E8-EF65-46AE-AC652C20BBD7}"/>
              </a:ext>
            </a:extLst>
          </p:cNvPr>
          <p:cNvCxnSpPr/>
          <p:nvPr/>
        </p:nvCxnSpPr>
        <p:spPr>
          <a:xfrm>
            <a:off x="3345850" y="4918363"/>
            <a:ext cx="6788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C289294-D4C6-FD33-61C2-CBDF3BF104A6}"/>
              </a:ext>
            </a:extLst>
          </p:cNvPr>
          <p:cNvCxnSpPr/>
          <p:nvPr/>
        </p:nvCxnSpPr>
        <p:spPr>
          <a:xfrm>
            <a:off x="3325076" y="4461163"/>
            <a:ext cx="6788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B5C41EF-C781-BD77-523F-2AAF090F862F}"/>
              </a:ext>
            </a:extLst>
          </p:cNvPr>
          <p:cNvCxnSpPr/>
          <p:nvPr/>
        </p:nvCxnSpPr>
        <p:spPr>
          <a:xfrm>
            <a:off x="3117250" y="5093915"/>
            <a:ext cx="678873"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37F09688-D888-7A3D-C900-A8FD853CF878}"/>
              </a:ext>
            </a:extLst>
          </p:cNvPr>
          <p:cNvCxnSpPr/>
          <p:nvPr/>
        </p:nvCxnSpPr>
        <p:spPr>
          <a:xfrm>
            <a:off x="4059361" y="5080061"/>
            <a:ext cx="678873"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54DB2686-DEDF-FBC0-EB45-8A0EEEBE402D}"/>
              </a:ext>
            </a:extLst>
          </p:cNvPr>
          <p:cNvSpPr txBox="1"/>
          <p:nvPr/>
        </p:nvSpPr>
        <p:spPr>
          <a:xfrm>
            <a:off x="464649" y="5829298"/>
            <a:ext cx="2512875" cy="923330"/>
          </a:xfrm>
          <a:prstGeom prst="rect">
            <a:avLst/>
          </a:prstGeom>
          <a:noFill/>
        </p:spPr>
        <p:txBody>
          <a:bodyPr wrap="square" rtlCol="0">
            <a:spAutoFit/>
          </a:bodyPr>
          <a:lstStyle/>
          <a:p>
            <a:r>
              <a:rPr lang="en-DK" dirty="0"/>
              <a:t>Microbial genomes in your sample from different organisms</a:t>
            </a:r>
          </a:p>
        </p:txBody>
      </p:sp>
      <p:sp>
        <p:nvSpPr>
          <p:cNvPr id="47" name="TextBox 46">
            <a:extLst>
              <a:ext uri="{FF2B5EF4-FFF2-40B4-BE49-F238E27FC236}">
                <a16:creationId xmlns:a16="http://schemas.microsoft.com/office/drawing/2014/main" id="{D7136B39-DF79-F5AA-46F9-F742D45238F7}"/>
              </a:ext>
            </a:extLst>
          </p:cNvPr>
          <p:cNvSpPr txBox="1"/>
          <p:nvPr/>
        </p:nvSpPr>
        <p:spPr>
          <a:xfrm>
            <a:off x="2917822" y="5427973"/>
            <a:ext cx="2661575" cy="1477328"/>
          </a:xfrm>
          <a:prstGeom prst="rect">
            <a:avLst/>
          </a:prstGeom>
          <a:noFill/>
        </p:spPr>
        <p:txBody>
          <a:bodyPr wrap="square" rtlCol="0">
            <a:spAutoFit/>
          </a:bodyPr>
          <a:lstStyle/>
          <a:p>
            <a:r>
              <a:rPr lang="en-DK" dirty="0"/>
              <a:t>Randomly shattering them into fragments of relatively equal length (e.g 150 bps) - no PCR amplification</a:t>
            </a:r>
          </a:p>
        </p:txBody>
      </p:sp>
      <p:sp>
        <p:nvSpPr>
          <p:cNvPr id="48" name="TextBox 47">
            <a:extLst>
              <a:ext uri="{FF2B5EF4-FFF2-40B4-BE49-F238E27FC236}">
                <a16:creationId xmlns:a16="http://schemas.microsoft.com/office/drawing/2014/main" id="{9C7F876D-4180-E81A-9C11-2CD4215FC728}"/>
              </a:ext>
            </a:extLst>
          </p:cNvPr>
          <p:cNvSpPr txBox="1"/>
          <p:nvPr/>
        </p:nvSpPr>
        <p:spPr>
          <a:xfrm>
            <a:off x="5774394" y="5737800"/>
            <a:ext cx="2661575" cy="646331"/>
          </a:xfrm>
          <a:prstGeom prst="rect">
            <a:avLst/>
          </a:prstGeom>
          <a:noFill/>
        </p:spPr>
        <p:txBody>
          <a:bodyPr wrap="square" rtlCol="0">
            <a:spAutoFit/>
          </a:bodyPr>
          <a:lstStyle/>
          <a:p>
            <a:r>
              <a:rPr lang="en-DK" dirty="0"/>
              <a:t>Sequence all fragments (millions per sample)</a:t>
            </a:r>
          </a:p>
        </p:txBody>
      </p:sp>
      <p:sp>
        <p:nvSpPr>
          <p:cNvPr id="49" name="TextBox 48">
            <a:extLst>
              <a:ext uri="{FF2B5EF4-FFF2-40B4-BE49-F238E27FC236}">
                <a16:creationId xmlns:a16="http://schemas.microsoft.com/office/drawing/2014/main" id="{B79E9F4C-C4AE-A0C3-A1E5-C7D9661C950D}"/>
              </a:ext>
            </a:extLst>
          </p:cNvPr>
          <p:cNvSpPr txBox="1"/>
          <p:nvPr/>
        </p:nvSpPr>
        <p:spPr>
          <a:xfrm>
            <a:off x="6327453" y="3009019"/>
            <a:ext cx="1801091" cy="246221"/>
          </a:xfrm>
          <a:prstGeom prst="rect">
            <a:avLst/>
          </a:prstGeom>
          <a:noFill/>
        </p:spPr>
        <p:txBody>
          <a:bodyPr wrap="square" rtlCol="0">
            <a:spAutoFit/>
          </a:bodyPr>
          <a:lstStyle/>
          <a:p>
            <a:r>
              <a:rPr lang="en-DK" sz="1000" b="1" dirty="0">
                <a:solidFill>
                  <a:srgbClr val="FF0000"/>
                </a:solidFill>
              </a:rPr>
              <a:t>AACAACCGAGATATGC</a:t>
            </a:r>
          </a:p>
        </p:txBody>
      </p:sp>
      <p:sp>
        <p:nvSpPr>
          <p:cNvPr id="52" name="TextBox 51">
            <a:extLst>
              <a:ext uri="{FF2B5EF4-FFF2-40B4-BE49-F238E27FC236}">
                <a16:creationId xmlns:a16="http://schemas.microsoft.com/office/drawing/2014/main" id="{3EFB10D2-3C64-E839-8247-ED240BCD8148}"/>
              </a:ext>
            </a:extLst>
          </p:cNvPr>
          <p:cNvSpPr txBox="1"/>
          <p:nvPr/>
        </p:nvSpPr>
        <p:spPr>
          <a:xfrm>
            <a:off x="5701837" y="2367269"/>
            <a:ext cx="1801091" cy="246221"/>
          </a:xfrm>
          <a:prstGeom prst="rect">
            <a:avLst/>
          </a:prstGeom>
          <a:noFill/>
        </p:spPr>
        <p:txBody>
          <a:bodyPr wrap="square" rtlCol="0">
            <a:spAutoFit/>
          </a:bodyPr>
          <a:lstStyle/>
          <a:p>
            <a:r>
              <a:rPr lang="en-DK" sz="1000" b="1" dirty="0">
                <a:solidFill>
                  <a:srgbClr val="FF0000"/>
                </a:solidFill>
              </a:rPr>
              <a:t>TTCAACCGAGATATGC</a:t>
            </a:r>
          </a:p>
        </p:txBody>
      </p:sp>
      <p:sp>
        <p:nvSpPr>
          <p:cNvPr id="53" name="TextBox 52">
            <a:extLst>
              <a:ext uri="{FF2B5EF4-FFF2-40B4-BE49-F238E27FC236}">
                <a16:creationId xmlns:a16="http://schemas.microsoft.com/office/drawing/2014/main" id="{5EEFDF18-952D-79C4-D42A-A6CDE0A1DE98}"/>
              </a:ext>
            </a:extLst>
          </p:cNvPr>
          <p:cNvSpPr txBox="1"/>
          <p:nvPr/>
        </p:nvSpPr>
        <p:spPr>
          <a:xfrm>
            <a:off x="9919787" y="1520801"/>
            <a:ext cx="1801091" cy="246221"/>
          </a:xfrm>
          <a:prstGeom prst="rect">
            <a:avLst/>
          </a:prstGeom>
          <a:noFill/>
        </p:spPr>
        <p:txBody>
          <a:bodyPr wrap="square" rtlCol="0">
            <a:spAutoFit/>
          </a:bodyPr>
          <a:lstStyle/>
          <a:p>
            <a:r>
              <a:rPr lang="en-DK" sz="1000" b="1" dirty="0">
                <a:solidFill>
                  <a:schemeClr val="tx2">
                    <a:lumMod val="75000"/>
                    <a:lumOff val="25000"/>
                  </a:schemeClr>
                </a:solidFill>
              </a:rPr>
              <a:t>TTCAACGGAGATATGC</a:t>
            </a:r>
          </a:p>
        </p:txBody>
      </p:sp>
      <p:sp>
        <p:nvSpPr>
          <p:cNvPr id="54" name="TextBox 53">
            <a:extLst>
              <a:ext uri="{FF2B5EF4-FFF2-40B4-BE49-F238E27FC236}">
                <a16:creationId xmlns:a16="http://schemas.microsoft.com/office/drawing/2014/main" id="{EDBF282A-C2FA-5B21-05FA-512E4BF3624C}"/>
              </a:ext>
            </a:extLst>
          </p:cNvPr>
          <p:cNvSpPr txBox="1"/>
          <p:nvPr/>
        </p:nvSpPr>
        <p:spPr>
          <a:xfrm>
            <a:off x="5774394" y="4529629"/>
            <a:ext cx="1801091" cy="246221"/>
          </a:xfrm>
          <a:prstGeom prst="rect">
            <a:avLst/>
          </a:prstGeom>
          <a:noFill/>
        </p:spPr>
        <p:txBody>
          <a:bodyPr wrap="square" rtlCol="0">
            <a:spAutoFit/>
          </a:bodyPr>
          <a:lstStyle/>
          <a:p>
            <a:r>
              <a:rPr lang="en-DK" sz="1000" b="1" dirty="0">
                <a:solidFill>
                  <a:srgbClr val="FF0000"/>
                </a:solidFill>
              </a:rPr>
              <a:t>ATCAACACATATGC</a:t>
            </a:r>
          </a:p>
        </p:txBody>
      </p:sp>
      <p:sp>
        <p:nvSpPr>
          <p:cNvPr id="55" name="TextBox 54">
            <a:extLst>
              <a:ext uri="{FF2B5EF4-FFF2-40B4-BE49-F238E27FC236}">
                <a16:creationId xmlns:a16="http://schemas.microsoft.com/office/drawing/2014/main" id="{745F892E-713A-726E-4AB0-4C7F13A07255}"/>
              </a:ext>
            </a:extLst>
          </p:cNvPr>
          <p:cNvSpPr txBox="1"/>
          <p:nvPr/>
        </p:nvSpPr>
        <p:spPr>
          <a:xfrm>
            <a:off x="5903075" y="3143447"/>
            <a:ext cx="1801091" cy="246221"/>
          </a:xfrm>
          <a:prstGeom prst="rect">
            <a:avLst/>
          </a:prstGeom>
          <a:noFill/>
        </p:spPr>
        <p:txBody>
          <a:bodyPr wrap="square" rtlCol="0">
            <a:spAutoFit/>
          </a:bodyPr>
          <a:lstStyle/>
          <a:p>
            <a:r>
              <a:rPr lang="en-DK" sz="1000" b="1" dirty="0">
                <a:solidFill>
                  <a:schemeClr val="tx2">
                    <a:lumMod val="75000"/>
                    <a:lumOff val="25000"/>
                  </a:schemeClr>
                </a:solidFill>
              </a:rPr>
              <a:t>TTCAACCGAGATATGC</a:t>
            </a:r>
          </a:p>
        </p:txBody>
      </p:sp>
      <p:sp>
        <p:nvSpPr>
          <p:cNvPr id="56" name="TextBox 55">
            <a:extLst>
              <a:ext uri="{FF2B5EF4-FFF2-40B4-BE49-F238E27FC236}">
                <a16:creationId xmlns:a16="http://schemas.microsoft.com/office/drawing/2014/main" id="{C1072F55-CAED-E3D1-982A-F62AC1E65F52}"/>
              </a:ext>
            </a:extLst>
          </p:cNvPr>
          <p:cNvSpPr txBox="1"/>
          <p:nvPr/>
        </p:nvSpPr>
        <p:spPr>
          <a:xfrm>
            <a:off x="5867917" y="3671266"/>
            <a:ext cx="1801091" cy="246221"/>
          </a:xfrm>
          <a:prstGeom prst="rect">
            <a:avLst/>
          </a:prstGeom>
          <a:noFill/>
        </p:spPr>
        <p:txBody>
          <a:bodyPr wrap="square" rtlCol="0">
            <a:spAutoFit/>
          </a:bodyPr>
          <a:lstStyle/>
          <a:p>
            <a:r>
              <a:rPr lang="en-DK" sz="1000" b="1" dirty="0">
                <a:solidFill>
                  <a:srgbClr val="FF0000"/>
                </a:solidFill>
              </a:rPr>
              <a:t>TTCAACCGAGATATGC</a:t>
            </a:r>
          </a:p>
        </p:txBody>
      </p:sp>
      <p:sp>
        <p:nvSpPr>
          <p:cNvPr id="57" name="TextBox 56">
            <a:extLst>
              <a:ext uri="{FF2B5EF4-FFF2-40B4-BE49-F238E27FC236}">
                <a16:creationId xmlns:a16="http://schemas.microsoft.com/office/drawing/2014/main" id="{A5DC3E97-7D72-D547-9D3B-9A470C6F2C70}"/>
              </a:ext>
            </a:extLst>
          </p:cNvPr>
          <p:cNvSpPr txBox="1"/>
          <p:nvPr/>
        </p:nvSpPr>
        <p:spPr>
          <a:xfrm>
            <a:off x="8067525" y="1520801"/>
            <a:ext cx="1801091" cy="246221"/>
          </a:xfrm>
          <a:prstGeom prst="rect">
            <a:avLst/>
          </a:prstGeom>
          <a:noFill/>
        </p:spPr>
        <p:txBody>
          <a:bodyPr wrap="square" rtlCol="0">
            <a:spAutoFit/>
          </a:bodyPr>
          <a:lstStyle/>
          <a:p>
            <a:r>
              <a:rPr lang="en-DK" sz="1000" b="1" dirty="0">
                <a:solidFill>
                  <a:schemeClr val="tx2">
                    <a:lumMod val="75000"/>
                    <a:lumOff val="25000"/>
                  </a:schemeClr>
                </a:solidFill>
              </a:rPr>
              <a:t>AACAACCGAGATATCC</a:t>
            </a:r>
          </a:p>
        </p:txBody>
      </p:sp>
      <p:sp>
        <p:nvSpPr>
          <p:cNvPr id="58" name="TextBox 57">
            <a:extLst>
              <a:ext uri="{FF2B5EF4-FFF2-40B4-BE49-F238E27FC236}">
                <a16:creationId xmlns:a16="http://schemas.microsoft.com/office/drawing/2014/main" id="{1723361A-06A7-F99D-C98D-93508D459277}"/>
              </a:ext>
            </a:extLst>
          </p:cNvPr>
          <p:cNvSpPr txBox="1"/>
          <p:nvPr/>
        </p:nvSpPr>
        <p:spPr>
          <a:xfrm>
            <a:off x="6588348" y="4390952"/>
            <a:ext cx="1963881" cy="246221"/>
          </a:xfrm>
          <a:prstGeom prst="rect">
            <a:avLst/>
          </a:prstGeom>
          <a:noFill/>
        </p:spPr>
        <p:txBody>
          <a:bodyPr wrap="square" rtlCol="0">
            <a:spAutoFit/>
          </a:bodyPr>
          <a:lstStyle/>
          <a:p>
            <a:r>
              <a:rPr lang="en-DK" sz="1000" b="1" dirty="0">
                <a:solidFill>
                  <a:schemeClr val="tx2">
                    <a:lumMod val="75000"/>
                    <a:lumOff val="25000"/>
                  </a:schemeClr>
                </a:solidFill>
              </a:rPr>
              <a:t>ATCAACACCGAGATATGC</a:t>
            </a:r>
          </a:p>
        </p:txBody>
      </p:sp>
      <p:sp>
        <p:nvSpPr>
          <p:cNvPr id="59" name="TextBox 58">
            <a:extLst>
              <a:ext uri="{FF2B5EF4-FFF2-40B4-BE49-F238E27FC236}">
                <a16:creationId xmlns:a16="http://schemas.microsoft.com/office/drawing/2014/main" id="{26D528D3-43D7-DCEB-5174-43B8F792C80B}"/>
              </a:ext>
            </a:extLst>
          </p:cNvPr>
          <p:cNvSpPr txBox="1"/>
          <p:nvPr/>
        </p:nvSpPr>
        <p:spPr>
          <a:xfrm>
            <a:off x="5964903" y="5070353"/>
            <a:ext cx="1801091" cy="246221"/>
          </a:xfrm>
          <a:prstGeom prst="rect">
            <a:avLst/>
          </a:prstGeom>
          <a:noFill/>
        </p:spPr>
        <p:txBody>
          <a:bodyPr wrap="square" rtlCol="0">
            <a:spAutoFit/>
          </a:bodyPr>
          <a:lstStyle/>
          <a:p>
            <a:r>
              <a:rPr lang="en-DK" sz="1000" b="1" dirty="0">
                <a:solidFill>
                  <a:srgbClr val="FF0000"/>
                </a:solidFill>
              </a:rPr>
              <a:t>GAACGGAGATATGC</a:t>
            </a:r>
          </a:p>
        </p:txBody>
      </p:sp>
      <p:sp>
        <p:nvSpPr>
          <p:cNvPr id="60" name="TextBox 59">
            <a:extLst>
              <a:ext uri="{FF2B5EF4-FFF2-40B4-BE49-F238E27FC236}">
                <a16:creationId xmlns:a16="http://schemas.microsoft.com/office/drawing/2014/main" id="{459502E5-847F-DB80-E64C-708257261F37}"/>
              </a:ext>
            </a:extLst>
          </p:cNvPr>
          <p:cNvSpPr txBox="1"/>
          <p:nvPr/>
        </p:nvSpPr>
        <p:spPr>
          <a:xfrm>
            <a:off x="6030714" y="4169814"/>
            <a:ext cx="1801091" cy="246221"/>
          </a:xfrm>
          <a:prstGeom prst="rect">
            <a:avLst/>
          </a:prstGeom>
          <a:noFill/>
        </p:spPr>
        <p:txBody>
          <a:bodyPr wrap="square" rtlCol="0">
            <a:spAutoFit/>
          </a:bodyPr>
          <a:lstStyle/>
          <a:p>
            <a:r>
              <a:rPr lang="en-DK" sz="1000" b="1" dirty="0">
                <a:solidFill>
                  <a:schemeClr val="tx2">
                    <a:lumMod val="75000"/>
                    <a:lumOff val="25000"/>
                  </a:schemeClr>
                </a:solidFill>
              </a:rPr>
              <a:t>TACAACCGAGATGC</a:t>
            </a:r>
          </a:p>
        </p:txBody>
      </p:sp>
      <p:sp>
        <p:nvSpPr>
          <p:cNvPr id="61" name="TextBox 60">
            <a:extLst>
              <a:ext uri="{FF2B5EF4-FFF2-40B4-BE49-F238E27FC236}">
                <a16:creationId xmlns:a16="http://schemas.microsoft.com/office/drawing/2014/main" id="{B4ABAF7E-B55E-9B50-F438-004941ED0954}"/>
              </a:ext>
            </a:extLst>
          </p:cNvPr>
          <p:cNvSpPr txBox="1"/>
          <p:nvPr/>
        </p:nvSpPr>
        <p:spPr>
          <a:xfrm>
            <a:off x="5712059" y="3352785"/>
            <a:ext cx="1801091" cy="246221"/>
          </a:xfrm>
          <a:prstGeom prst="rect">
            <a:avLst/>
          </a:prstGeom>
          <a:noFill/>
        </p:spPr>
        <p:txBody>
          <a:bodyPr wrap="square" rtlCol="0">
            <a:spAutoFit/>
          </a:bodyPr>
          <a:lstStyle/>
          <a:p>
            <a:r>
              <a:rPr lang="en-DK" sz="1000" b="1" dirty="0">
                <a:solidFill>
                  <a:schemeClr val="accent2">
                    <a:lumMod val="75000"/>
                  </a:schemeClr>
                </a:solidFill>
              </a:rPr>
              <a:t>ATCAACGGAGATATGC</a:t>
            </a:r>
          </a:p>
        </p:txBody>
      </p:sp>
      <p:sp>
        <p:nvSpPr>
          <p:cNvPr id="62" name="TextBox 61">
            <a:extLst>
              <a:ext uri="{FF2B5EF4-FFF2-40B4-BE49-F238E27FC236}">
                <a16:creationId xmlns:a16="http://schemas.microsoft.com/office/drawing/2014/main" id="{EE4C2A7E-96A6-2B6C-9185-1CE1CD1B86F1}"/>
              </a:ext>
            </a:extLst>
          </p:cNvPr>
          <p:cNvSpPr txBox="1"/>
          <p:nvPr/>
        </p:nvSpPr>
        <p:spPr>
          <a:xfrm>
            <a:off x="6900059" y="4696410"/>
            <a:ext cx="1801091" cy="246221"/>
          </a:xfrm>
          <a:prstGeom prst="rect">
            <a:avLst/>
          </a:prstGeom>
          <a:noFill/>
        </p:spPr>
        <p:txBody>
          <a:bodyPr wrap="square" rtlCol="0">
            <a:spAutoFit/>
          </a:bodyPr>
          <a:lstStyle/>
          <a:p>
            <a:r>
              <a:rPr lang="en-DK" sz="1000" b="1" dirty="0">
                <a:solidFill>
                  <a:schemeClr val="accent2">
                    <a:lumMod val="75000"/>
                  </a:schemeClr>
                </a:solidFill>
              </a:rPr>
              <a:t>TTCTTCGGAGATTTGC</a:t>
            </a:r>
          </a:p>
        </p:txBody>
      </p:sp>
      <p:sp>
        <p:nvSpPr>
          <p:cNvPr id="63" name="TextBox 62">
            <a:extLst>
              <a:ext uri="{FF2B5EF4-FFF2-40B4-BE49-F238E27FC236}">
                <a16:creationId xmlns:a16="http://schemas.microsoft.com/office/drawing/2014/main" id="{6CC6918C-7BF5-ECB6-2F01-3567D0FDC728}"/>
              </a:ext>
            </a:extLst>
          </p:cNvPr>
          <p:cNvSpPr txBox="1"/>
          <p:nvPr/>
        </p:nvSpPr>
        <p:spPr>
          <a:xfrm>
            <a:off x="6612604" y="5458319"/>
            <a:ext cx="1801091" cy="246221"/>
          </a:xfrm>
          <a:prstGeom prst="rect">
            <a:avLst/>
          </a:prstGeom>
          <a:noFill/>
        </p:spPr>
        <p:txBody>
          <a:bodyPr wrap="square" rtlCol="0">
            <a:spAutoFit/>
          </a:bodyPr>
          <a:lstStyle/>
          <a:p>
            <a:r>
              <a:rPr lang="en-DK" sz="1000" b="1" dirty="0">
                <a:solidFill>
                  <a:schemeClr val="accent3"/>
                </a:solidFill>
              </a:rPr>
              <a:t>AGACGGAGATATGC</a:t>
            </a:r>
          </a:p>
        </p:txBody>
      </p:sp>
      <p:sp>
        <p:nvSpPr>
          <p:cNvPr id="64" name="TextBox 63">
            <a:extLst>
              <a:ext uri="{FF2B5EF4-FFF2-40B4-BE49-F238E27FC236}">
                <a16:creationId xmlns:a16="http://schemas.microsoft.com/office/drawing/2014/main" id="{8627703C-3A30-E3BC-ABBB-5AB7FA609BEF}"/>
              </a:ext>
            </a:extLst>
          </p:cNvPr>
          <p:cNvSpPr txBox="1"/>
          <p:nvPr/>
        </p:nvSpPr>
        <p:spPr>
          <a:xfrm>
            <a:off x="5812860" y="2856290"/>
            <a:ext cx="1801091" cy="246221"/>
          </a:xfrm>
          <a:prstGeom prst="rect">
            <a:avLst/>
          </a:prstGeom>
          <a:noFill/>
        </p:spPr>
        <p:txBody>
          <a:bodyPr wrap="square" rtlCol="0">
            <a:spAutoFit/>
          </a:bodyPr>
          <a:lstStyle/>
          <a:p>
            <a:r>
              <a:rPr lang="en-DK" sz="1000" b="1" dirty="0">
                <a:solidFill>
                  <a:schemeClr val="accent3"/>
                </a:solidFill>
              </a:rPr>
              <a:t>GAACGGAGAAATCC</a:t>
            </a:r>
          </a:p>
        </p:txBody>
      </p:sp>
      <p:sp>
        <p:nvSpPr>
          <p:cNvPr id="65" name="TextBox 64">
            <a:extLst>
              <a:ext uri="{FF2B5EF4-FFF2-40B4-BE49-F238E27FC236}">
                <a16:creationId xmlns:a16="http://schemas.microsoft.com/office/drawing/2014/main" id="{3580A75B-CED8-301E-037E-046E8CE7E246}"/>
              </a:ext>
            </a:extLst>
          </p:cNvPr>
          <p:cNvSpPr txBox="1"/>
          <p:nvPr/>
        </p:nvSpPr>
        <p:spPr>
          <a:xfrm>
            <a:off x="5836745" y="2521090"/>
            <a:ext cx="1801091" cy="246221"/>
          </a:xfrm>
          <a:prstGeom prst="rect">
            <a:avLst/>
          </a:prstGeom>
          <a:noFill/>
        </p:spPr>
        <p:txBody>
          <a:bodyPr wrap="square" rtlCol="0">
            <a:spAutoFit/>
          </a:bodyPr>
          <a:lstStyle/>
          <a:p>
            <a:r>
              <a:rPr lang="en-DK" sz="1000" b="1" dirty="0">
                <a:solidFill>
                  <a:schemeClr val="accent3"/>
                </a:solidFill>
              </a:rPr>
              <a:t>AGACGCAGATATGC</a:t>
            </a:r>
          </a:p>
        </p:txBody>
      </p:sp>
      <p:sp>
        <p:nvSpPr>
          <p:cNvPr id="66" name="TextBox 65">
            <a:extLst>
              <a:ext uri="{FF2B5EF4-FFF2-40B4-BE49-F238E27FC236}">
                <a16:creationId xmlns:a16="http://schemas.microsoft.com/office/drawing/2014/main" id="{8EFF9FB0-EA21-9EF0-DB14-208FDD0EF272}"/>
              </a:ext>
            </a:extLst>
          </p:cNvPr>
          <p:cNvSpPr txBox="1"/>
          <p:nvPr/>
        </p:nvSpPr>
        <p:spPr>
          <a:xfrm>
            <a:off x="6037647" y="4890194"/>
            <a:ext cx="1801091" cy="246221"/>
          </a:xfrm>
          <a:prstGeom prst="rect">
            <a:avLst/>
          </a:prstGeom>
          <a:noFill/>
        </p:spPr>
        <p:txBody>
          <a:bodyPr wrap="square" rtlCol="0">
            <a:spAutoFit/>
          </a:bodyPr>
          <a:lstStyle/>
          <a:p>
            <a:r>
              <a:rPr lang="en-DK" sz="1000" b="1" dirty="0">
                <a:solidFill>
                  <a:schemeClr val="accent3"/>
                </a:solidFill>
              </a:rPr>
              <a:t>GACTCGAGTTTTCC</a:t>
            </a:r>
          </a:p>
        </p:txBody>
      </p:sp>
      <p:graphicFrame>
        <p:nvGraphicFramePr>
          <p:cNvPr id="67" name="Table 66">
            <a:extLst>
              <a:ext uri="{FF2B5EF4-FFF2-40B4-BE49-F238E27FC236}">
                <a16:creationId xmlns:a16="http://schemas.microsoft.com/office/drawing/2014/main" id="{C502273C-8499-74BA-B3A3-A41EEB039DF9}"/>
              </a:ext>
            </a:extLst>
          </p:cNvPr>
          <p:cNvGraphicFramePr>
            <a:graphicFrameLocks noGrp="1"/>
          </p:cNvGraphicFramePr>
          <p:nvPr>
            <p:extLst>
              <p:ext uri="{D42A27DB-BD31-4B8C-83A1-F6EECF244321}">
                <p14:modId xmlns:p14="http://schemas.microsoft.com/office/powerpoint/2010/main" val="407372268"/>
              </p:ext>
            </p:extLst>
          </p:nvPr>
        </p:nvGraphicFramePr>
        <p:xfrm>
          <a:off x="9578842" y="4844095"/>
          <a:ext cx="1018332" cy="1166046"/>
        </p:xfrm>
        <a:graphic>
          <a:graphicData uri="http://schemas.openxmlformats.org/drawingml/2006/table">
            <a:tbl>
              <a:tblPr firstRow="1" bandRow="1">
                <a:tableStyleId>{D7AC3CCA-C797-4891-BE02-D94E43425B78}</a:tableStyleId>
              </a:tblPr>
              <a:tblGrid>
                <a:gridCol w="169722">
                  <a:extLst>
                    <a:ext uri="{9D8B030D-6E8A-4147-A177-3AD203B41FA5}">
                      <a16:colId xmlns:a16="http://schemas.microsoft.com/office/drawing/2014/main" val="591458638"/>
                    </a:ext>
                  </a:extLst>
                </a:gridCol>
                <a:gridCol w="169722">
                  <a:extLst>
                    <a:ext uri="{9D8B030D-6E8A-4147-A177-3AD203B41FA5}">
                      <a16:colId xmlns:a16="http://schemas.microsoft.com/office/drawing/2014/main" val="3689723892"/>
                    </a:ext>
                  </a:extLst>
                </a:gridCol>
                <a:gridCol w="169722">
                  <a:extLst>
                    <a:ext uri="{9D8B030D-6E8A-4147-A177-3AD203B41FA5}">
                      <a16:colId xmlns:a16="http://schemas.microsoft.com/office/drawing/2014/main" val="410620895"/>
                    </a:ext>
                  </a:extLst>
                </a:gridCol>
                <a:gridCol w="169722">
                  <a:extLst>
                    <a:ext uri="{9D8B030D-6E8A-4147-A177-3AD203B41FA5}">
                      <a16:colId xmlns:a16="http://schemas.microsoft.com/office/drawing/2014/main" val="1970471051"/>
                    </a:ext>
                  </a:extLst>
                </a:gridCol>
                <a:gridCol w="169722">
                  <a:extLst>
                    <a:ext uri="{9D8B030D-6E8A-4147-A177-3AD203B41FA5}">
                      <a16:colId xmlns:a16="http://schemas.microsoft.com/office/drawing/2014/main" val="18568149"/>
                    </a:ext>
                  </a:extLst>
                </a:gridCol>
                <a:gridCol w="169722">
                  <a:extLst>
                    <a:ext uri="{9D8B030D-6E8A-4147-A177-3AD203B41FA5}">
                      <a16:colId xmlns:a16="http://schemas.microsoft.com/office/drawing/2014/main" val="933254077"/>
                    </a:ext>
                  </a:extLst>
                </a:gridCol>
              </a:tblGrid>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730149994"/>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1279572824"/>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3667834363"/>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1547517046"/>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3674622576"/>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extLst>
                  <a:ext uri="{0D108BD9-81ED-4DB2-BD59-A6C34878D82A}">
                    <a16:rowId xmlns:a16="http://schemas.microsoft.com/office/drawing/2014/main" val="2613402699"/>
                  </a:ext>
                </a:extLst>
              </a:tr>
            </a:tbl>
          </a:graphicData>
        </a:graphic>
      </p:graphicFrame>
      <p:sp>
        <p:nvSpPr>
          <p:cNvPr id="68" name="TextBox 67">
            <a:extLst>
              <a:ext uri="{FF2B5EF4-FFF2-40B4-BE49-F238E27FC236}">
                <a16:creationId xmlns:a16="http://schemas.microsoft.com/office/drawing/2014/main" id="{4FBBBA1F-805D-4157-36C4-906C802D714A}"/>
              </a:ext>
            </a:extLst>
          </p:cNvPr>
          <p:cNvSpPr txBox="1"/>
          <p:nvPr/>
        </p:nvSpPr>
        <p:spPr>
          <a:xfrm>
            <a:off x="9224841" y="6149957"/>
            <a:ext cx="2403689" cy="369332"/>
          </a:xfrm>
          <a:prstGeom prst="rect">
            <a:avLst/>
          </a:prstGeom>
          <a:noFill/>
        </p:spPr>
        <p:txBody>
          <a:bodyPr wrap="square" rtlCol="0">
            <a:spAutoFit/>
          </a:bodyPr>
          <a:lstStyle/>
          <a:p>
            <a:r>
              <a:rPr lang="en-DK" dirty="0"/>
              <a:t>Abundance table </a:t>
            </a:r>
          </a:p>
        </p:txBody>
      </p:sp>
      <p:sp>
        <p:nvSpPr>
          <p:cNvPr id="69" name="TextBox 68">
            <a:extLst>
              <a:ext uri="{FF2B5EF4-FFF2-40B4-BE49-F238E27FC236}">
                <a16:creationId xmlns:a16="http://schemas.microsoft.com/office/drawing/2014/main" id="{AB7E6079-8417-CD34-CA03-E7643ACC3DE3}"/>
              </a:ext>
            </a:extLst>
          </p:cNvPr>
          <p:cNvSpPr txBox="1"/>
          <p:nvPr/>
        </p:nvSpPr>
        <p:spPr>
          <a:xfrm>
            <a:off x="7575485" y="267026"/>
            <a:ext cx="4574931" cy="646331"/>
          </a:xfrm>
          <a:prstGeom prst="rect">
            <a:avLst/>
          </a:prstGeom>
          <a:noFill/>
        </p:spPr>
        <p:txBody>
          <a:bodyPr wrap="square" rtlCol="0">
            <a:spAutoFit/>
          </a:bodyPr>
          <a:lstStyle/>
          <a:p>
            <a:r>
              <a:rPr lang="en-DK" dirty="0"/>
              <a:t>Read mapping to know  genomes, specific marker genes (BLAST, bowtie2, DIAMOND)</a:t>
            </a:r>
          </a:p>
        </p:txBody>
      </p:sp>
      <p:sp>
        <p:nvSpPr>
          <p:cNvPr id="70" name="TextBox 69">
            <a:extLst>
              <a:ext uri="{FF2B5EF4-FFF2-40B4-BE49-F238E27FC236}">
                <a16:creationId xmlns:a16="http://schemas.microsoft.com/office/drawing/2014/main" id="{66E316CC-DFF9-0D22-69C0-E2055AE564C5}"/>
              </a:ext>
            </a:extLst>
          </p:cNvPr>
          <p:cNvSpPr txBox="1"/>
          <p:nvPr/>
        </p:nvSpPr>
        <p:spPr>
          <a:xfrm>
            <a:off x="9534072" y="4519613"/>
            <a:ext cx="1094509" cy="369332"/>
          </a:xfrm>
          <a:prstGeom prst="rect">
            <a:avLst/>
          </a:prstGeom>
          <a:noFill/>
        </p:spPr>
        <p:txBody>
          <a:bodyPr wrap="square" rtlCol="0">
            <a:spAutoFit/>
          </a:bodyPr>
          <a:lstStyle/>
          <a:p>
            <a:r>
              <a:rPr lang="en-DK" dirty="0"/>
              <a:t>Samples</a:t>
            </a:r>
          </a:p>
        </p:txBody>
      </p:sp>
      <p:sp>
        <p:nvSpPr>
          <p:cNvPr id="71" name="TextBox 70">
            <a:extLst>
              <a:ext uri="{FF2B5EF4-FFF2-40B4-BE49-F238E27FC236}">
                <a16:creationId xmlns:a16="http://schemas.microsoft.com/office/drawing/2014/main" id="{51F7C80B-2E7E-044E-F05E-C8D239AD60E9}"/>
              </a:ext>
            </a:extLst>
          </p:cNvPr>
          <p:cNvSpPr txBox="1"/>
          <p:nvPr/>
        </p:nvSpPr>
        <p:spPr>
          <a:xfrm rot="16200000">
            <a:off x="8565442" y="5050133"/>
            <a:ext cx="1617517" cy="369332"/>
          </a:xfrm>
          <a:prstGeom prst="rect">
            <a:avLst/>
          </a:prstGeom>
          <a:noFill/>
        </p:spPr>
        <p:txBody>
          <a:bodyPr wrap="square" rtlCol="0">
            <a:spAutoFit/>
          </a:bodyPr>
          <a:lstStyle/>
          <a:p>
            <a:r>
              <a:rPr lang="en-DK" dirty="0"/>
              <a:t>Taxa</a:t>
            </a:r>
          </a:p>
        </p:txBody>
      </p:sp>
      <p:cxnSp>
        <p:nvCxnSpPr>
          <p:cNvPr id="73" name="Straight Connector 72">
            <a:extLst>
              <a:ext uri="{FF2B5EF4-FFF2-40B4-BE49-F238E27FC236}">
                <a16:creationId xmlns:a16="http://schemas.microsoft.com/office/drawing/2014/main" id="{FB798160-4581-93E3-24A1-D3E1C643CC24}"/>
              </a:ext>
            </a:extLst>
          </p:cNvPr>
          <p:cNvCxnSpPr>
            <a:cxnSpLocks/>
          </p:cNvCxnSpPr>
          <p:nvPr/>
        </p:nvCxnSpPr>
        <p:spPr>
          <a:xfrm>
            <a:off x="8012106" y="1458014"/>
            <a:ext cx="3838649" cy="0"/>
          </a:xfrm>
          <a:prstGeom prst="line">
            <a:avLst/>
          </a:prstGeom>
          <a:ln w="22225"/>
        </p:spPr>
        <p:style>
          <a:lnRef idx="2">
            <a:schemeClr val="accent1"/>
          </a:lnRef>
          <a:fillRef idx="0">
            <a:schemeClr val="accent1"/>
          </a:fillRef>
          <a:effectRef idx="1">
            <a:schemeClr val="accent1"/>
          </a:effectRef>
          <a:fontRef idx="minor">
            <a:schemeClr val="tx1"/>
          </a:fontRef>
        </p:style>
      </p:cxnSp>
      <p:sp>
        <p:nvSpPr>
          <p:cNvPr id="78" name="Right Arrow 77">
            <a:extLst>
              <a:ext uri="{FF2B5EF4-FFF2-40B4-BE49-F238E27FC236}">
                <a16:creationId xmlns:a16="http://schemas.microsoft.com/office/drawing/2014/main" id="{46B83CB0-2738-7BB3-C975-7F6D864B82BA}"/>
              </a:ext>
            </a:extLst>
          </p:cNvPr>
          <p:cNvSpPr/>
          <p:nvPr/>
        </p:nvSpPr>
        <p:spPr>
          <a:xfrm>
            <a:off x="7948825" y="2036752"/>
            <a:ext cx="1292866" cy="324875"/>
          </a:xfrm>
          <a:prstGeom prst="rightArrow">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tx2">
                  <a:lumMod val="75000"/>
                  <a:lumOff val="25000"/>
                </a:schemeClr>
              </a:solidFill>
            </a:endParaRPr>
          </a:p>
        </p:txBody>
      </p:sp>
      <p:sp>
        <p:nvSpPr>
          <p:cNvPr id="79" name="Right Arrow 78">
            <a:extLst>
              <a:ext uri="{FF2B5EF4-FFF2-40B4-BE49-F238E27FC236}">
                <a16:creationId xmlns:a16="http://schemas.microsoft.com/office/drawing/2014/main" id="{A2558CC0-6285-CE34-1EC0-48F8CBA70E39}"/>
              </a:ext>
            </a:extLst>
          </p:cNvPr>
          <p:cNvSpPr/>
          <p:nvPr/>
        </p:nvSpPr>
        <p:spPr>
          <a:xfrm>
            <a:off x="9390612" y="2040404"/>
            <a:ext cx="426143" cy="324875"/>
          </a:xfrm>
          <a:prstGeom prst="rightArrow">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tx2">
                  <a:lumMod val="75000"/>
                  <a:lumOff val="25000"/>
                </a:schemeClr>
              </a:solidFill>
            </a:endParaRPr>
          </a:p>
        </p:txBody>
      </p:sp>
      <p:sp>
        <p:nvSpPr>
          <p:cNvPr id="80" name="Right Arrow 79">
            <a:extLst>
              <a:ext uri="{FF2B5EF4-FFF2-40B4-BE49-F238E27FC236}">
                <a16:creationId xmlns:a16="http://schemas.microsoft.com/office/drawing/2014/main" id="{93753EEC-A9E8-A6A7-0F9A-B2129D22E405}"/>
              </a:ext>
            </a:extLst>
          </p:cNvPr>
          <p:cNvSpPr/>
          <p:nvPr/>
        </p:nvSpPr>
        <p:spPr>
          <a:xfrm>
            <a:off x="10006518" y="2040403"/>
            <a:ext cx="654643" cy="324875"/>
          </a:xfrm>
          <a:prstGeom prst="rightArrow">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tx2">
                  <a:lumMod val="75000"/>
                  <a:lumOff val="25000"/>
                </a:schemeClr>
              </a:solidFill>
            </a:endParaRPr>
          </a:p>
        </p:txBody>
      </p:sp>
      <p:sp>
        <p:nvSpPr>
          <p:cNvPr id="81" name="TextBox 80">
            <a:extLst>
              <a:ext uri="{FF2B5EF4-FFF2-40B4-BE49-F238E27FC236}">
                <a16:creationId xmlns:a16="http://schemas.microsoft.com/office/drawing/2014/main" id="{11F1F55C-FD7B-4A93-520F-57E89210A173}"/>
              </a:ext>
            </a:extLst>
          </p:cNvPr>
          <p:cNvSpPr txBox="1"/>
          <p:nvPr/>
        </p:nvSpPr>
        <p:spPr>
          <a:xfrm>
            <a:off x="7547012" y="986535"/>
            <a:ext cx="4205096" cy="369332"/>
          </a:xfrm>
          <a:prstGeom prst="rect">
            <a:avLst/>
          </a:prstGeom>
          <a:noFill/>
        </p:spPr>
        <p:txBody>
          <a:bodyPr wrap="square" rtlCol="0">
            <a:spAutoFit/>
          </a:bodyPr>
          <a:lstStyle/>
          <a:p>
            <a:r>
              <a:rPr lang="en-DK" dirty="0"/>
              <a:t>Genome (Kraken 2, Centrifuge,</a:t>
            </a:r>
            <a:r>
              <a:rPr lang="en-GB" b="1" dirty="0"/>
              <a:t> </a:t>
            </a:r>
            <a:r>
              <a:rPr lang="en-GB" dirty="0"/>
              <a:t>GTDB</a:t>
            </a:r>
            <a:r>
              <a:rPr lang="en-DK" dirty="0"/>
              <a:t>)</a:t>
            </a:r>
          </a:p>
        </p:txBody>
      </p:sp>
      <p:sp>
        <p:nvSpPr>
          <p:cNvPr id="82" name="TextBox 81">
            <a:extLst>
              <a:ext uri="{FF2B5EF4-FFF2-40B4-BE49-F238E27FC236}">
                <a16:creationId xmlns:a16="http://schemas.microsoft.com/office/drawing/2014/main" id="{9CFEB1C7-FBDC-89E5-0A77-B290BB795B2C}"/>
              </a:ext>
            </a:extLst>
          </p:cNvPr>
          <p:cNvSpPr txBox="1"/>
          <p:nvPr/>
        </p:nvSpPr>
        <p:spPr>
          <a:xfrm>
            <a:off x="7570288" y="1716293"/>
            <a:ext cx="4669337" cy="369332"/>
          </a:xfrm>
          <a:prstGeom prst="rect">
            <a:avLst/>
          </a:prstGeom>
          <a:noFill/>
        </p:spPr>
        <p:txBody>
          <a:bodyPr wrap="square" rtlCol="0">
            <a:spAutoFit/>
          </a:bodyPr>
          <a:lstStyle/>
          <a:p>
            <a:r>
              <a:rPr lang="en-DK" dirty="0"/>
              <a:t>Clade-specific Marker genes (Metahphlan v4)</a:t>
            </a:r>
          </a:p>
        </p:txBody>
      </p:sp>
      <p:sp>
        <p:nvSpPr>
          <p:cNvPr id="83" name="Right Arrow 82">
            <a:extLst>
              <a:ext uri="{FF2B5EF4-FFF2-40B4-BE49-F238E27FC236}">
                <a16:creationId xmlns:a16="http://schemas.microsoft.com/office/drawing/2014/main" id="{1651547E-D843-6BCE-62EB-66C679BEC121}"/>
              </a:ext>
            </a:extLst>
          </p:cNvPr>
          <p:cNvSpPr/>
          <p:nvPr/>
        </p:nvSpPr>
        <p:spPr>
          <a:xfrm>
            <a:off x="10966383" y="2035274"/>
            <a:ext cx="654643" cy="324875"/>
          </a:xfrm>
          <a:prstGeom prst="rightArrow">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tx2">
                  <a:lumMod val="75000"/>
                  <a:lumOff val="25000"/>
                </a:schemeClr>
              </a:solidFill>
            </a:endParaRPr>
          </a:p>
        </p:txBody>
      </p:sp>
      <p:sp>
        <p:nvSpPr>
          <p:cNvPr id="84" name="Right Arrow 83">
            <a:extLst>
              <a:ext uri="{FF2B5EF4-FFF2-40B4-BE49-F238E27FC236}">
                <a16:creationId xmlns:a16="http://schemas.microsoft.com/office/drawing/2014/main" id="{E122531B-AB32-77A6-73AE-99CD5726D84B}"/>
              </a:ext>
            </a:extLst>
          </p:cNvPr>
          <p:cNvSpPr/>
          <p:nvPr/>
        </p:nvSpPr>
        <p:spPr>
          <a:xfrm rot="5400000">
            <a:off x="8958854" y="3508829"/>
            <a:ext cx="1617516" cy="3248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5" name="TextBox 84">
            <a:extLst>
              <a:ext uri="{FF2B5EF4-FFF2-40B4-BE49-F238E27FC236}">
                <a16:creationId xmlns:a16="http://schemas.microsoft.com/office/drawing/2014/main" id="{D94E211C-D36C-FD87-7D04-5A6C43457F2B}"/>
              </a:ext>
            </a:extLst>
          </p:cNvPr>
          <p:cNvSpPr txBox="1"/>
          <p:nvPr/>
        </p:nvSpPr>
        <p:spPr>
          <a:xfrm>
            <a:off x="9919787" y="3004161"/>
            <a:ext cx="2242580" cy="1569660"/>
          </a:xfrm>
          <a:prstGeom prst="rect">
            <a:avLst/>
          </a:prstGeom>
          <a:noFill/>
        </p:spPr>
        <p:txBody>
          <a:bodyPr wrap="square" rtlCol="0">
            <a:spAutoFit/>
          </a:bodyPr>
          <a:lstStyle/>
          <a:p>
            <a:r>
              <a:rPr lang="en-DK" sz="1600" dirty="0"/>
              <a:t>Abundance estimation:</a:t>
            </a:r>
          </a:p>
          <a:p>
            <a:r>
              <a:rPr lang="en-DK" sz="1600" dirty="0"/>
              <a:t>- gene/genome counts</a:t>
            </a:r>
          </a:p>
          <a:p>
            <a:r>
              <a:rPr lang="en-DK" sz="1600" dirty="0"/>
              <a:t>- gene/genome length and sample depth normalization</a:t>
            </a:r>
          </a:p>
          <a:p>
            <a:endParaRPr lang="en-DK" sz="1600" dirty="0"/>
          </a:p>
        </p:txBody>
      </p:sp>
      <p:sp>
        <p:nvSpPr>
          <p:cNvPr id="87" name="TextBox 86">
            <a:extLst>
              <a:ext uri="{FF2B5EF4-FFF2-40B4-BE49-F238E27FC236}">
                <a16:creationId xmlns:a16="http://schemas.microsoft.com/office/drawing/2014/main" id="{E0FA194F-F64D-7FF7-3D02-D126B4EBF045}"/>
              </a:ext>
            </a:extLst>
          </p:cNvPr>
          <p:cNvSpPr txBox="1"/>
          <p:nvPr/>
        </p:nvSpPr>
        <p:spPr>
          <a:xfrm>
            <a:off x="7897806" y="2324463"/>
            <a:ext cx="1224101" cy="215444"/>
          </a:xfrm>
          <a:prstGeom prst="rect">
            <a:avLst/>
          </a:prstGeom>
          <a:noFill/>
        </p:spPr>
        <p:txBody>
          <a:bodyPr wrap="square" rtlCol="0">
            <a:spAutoFit/>
          </a:bodyPr>
          <a:lstStyle/>
          <a:p>
            <a:r>
              <a:rPr lang="en-DK" sz="800" b="1" dirty="0">
                <a:solidFill>
                  <a:schemeClr val="tx2">
                    <a:lumMod val="75000"/>
                    <a:lumOff val="25000"/>
                  </a:schemeClr>
                </a:solidFill>
              </a:rPr>
              <a:t>TTCAACCGAGATATGC</a:t>
            </a:r>
          </a:p>
        </p:txBody>
      </p:sp>
      <p:sp>
        <p:nvSpPr>
          <p:cNvPr id="88" name="TextBox 87">
            <a:extLst>
              <a:ext uri="{FF2B5EF4-FFF2-40B4-BE49-F238E27FC236}">
                <a16:creationId xmlns:a16="http://schemas.microsoft.com/office/drawing/2014/main" id="{1E7FE2C3-C584-8985-4F95-F65586F31A74}"/>
              </a:ext>
            </a:extLst>
          </p:cNvPr>
          <p:cNvSpPr txBox="1"/>
          <p:nvPr/>
        </p:nvSpPr>
        <p:spPr>
          <a:xfrm>
            <a:off x="9919787" y="1340601"/>
            <a:ext cx="1490165" cy="246221"/>
          </a:xfrm>
          <a:prstGeom prst="rect">
            <a:avLst/>
          </a:prstGeom>
          <a:solidFill>
            <a:schemeClr val="bg1"/>
          </a:solidFill>
        </p:spPr>
        <p:txBody>
          <a:bodyPr wrap="square" rtlCol="0">
            <a:spAutoFit/>
          </a:bodyPr>
          <a:lstStyle/>
          <a:p>
            <a:r>
              <a:rPr lang="en-DK" sz="1000" b="1" dirty="0">
                <a:solidFill>
                  <a:schemeClr val="tx2">
                    <a:lumMod val="75000"/>
                    <a:lumOff val="25000"/>
                  </a:schemeClr>
                </a:solidFill>
              </a:rPr>
              <a:t>TTCAACGGAGATATGC</a:t>
            </a:r>
          </a:p>
        </p:txBody>
      </p:sp>
      <p:sp>
        <p:nvSpPr>
          <p:cNvPr id="89" name="TextBox 88">
            <a:extLst>
              <a:ext uri="{FF2B5EF4-FFF2-40B4-BE49-F238E27FC236}">
                <a16:creationId xmlns:a16="http://schemas.microsoft.com/office/drawing/2014/main" id="{FA196F56-78AD-F3D4-68E1-16710B807A99}"/>
              </a:ext>
            </a:extLst>
          </p:cNvPr>
          <p:cNvSpPr txBox="1"/>
          <p:nvPr/>
        </p:nvSpPr>
        <p:spPr>
          <a:xfrm>
            <a:off x="8065400" y="1337367"/>
            <a:ext cx="1542883" cy="246221"/>
          </a:xfrm>
          <a:prstGeom prst="rect">
            <a:avLst/>
          </a:prstGeom>
          <a:solidFill>
            <a:schemeClr val="bg1"/>
          </a:solidFill>
        </p:spPr>
        <p:txBody>
          <a:bodyPr wrap="square" rtlCol="0">
            <a:spAutoFit/>
          </a:bodyPr>
          <a:lstStyle/>
          <a:p>
            <a:r>
              <a:rPr lang="en-DK" sz="1000" b="1" dirty="0">
                <a:solidFill>
                  <a:schemeClr val="tx2">
                    <a:lumMod val="75000"/>
                    <a:lumOff val="25000"/>
                  </a:schemeClr>
                </a:solidFill>
              </a:rPr>
              <a:t>AACAACCGAGATATCC</a:t>
            </a:r>
          </a:p>
        </p:txBody>
      </p:sp>
      <p:sp>
        <p:nvSpPr>
          <p:cNvPr id="90" name="TextBox 89">
            <a:extLst>
              <a:ext uri="{FF2B5EF4-FFF2-40B4-BE49-F238E27FC236}">
                <a16:creationId xmlns:a16="http://schemas.microsoft.com/office/drawing/2014/main" id="{58FF5699-A88A-65DA-18B2-A0500B8EF4BA}"/>
              </a:ext>
            </a:extLst>
          </p:cNvPr>
          <p:cNvSpPr txBox="1"/>
          <p:nvPr/>
        </p:nvSpPr>
        <p:spPr>
          <a:xfrm>
            <a:off x="9919786" y="2327463"/>
            <a:ext cx="1963881" cy="215444"/>
          </a:xfrm>
          <a:prstGeom prst="rect">
            <a:avLst/>
          </a:prstGeom>
          <a:noFill/>
        </p:spPr>
        <p:txBody>
          <a:bodyPr wrap="square" rtlCol="0">
            <a:spAutoFit/>
          </a:bodyPr>
          <a:lstStyle/>
          <a:p>
            <a:r>
              <a:rPr lang="en-DK" sz="800" b="1" dirty="0">
                <a:solidFill>
                  <a:schemeClr val="tx2">
                    <a:lumMod val="75000"/>
                    <a:lumOff val="25000"/>
                  </a:schemeClr>
                </a:solidFill>
              </a:rPr>
              <a:t>ATCAACA</a:t>
            </a:r>
          </a:p>
        </p:txBody>
      </p:sp>
      <p:sp>
        <p:nvSpPr>
          <p:cNvPr id="91" name="TextBox 90">
            <a:extLst>
              <a:ext uri="{FF2B5EF4-FFF2-40B4-BE49-F238E27FC236}">
                <a16:creationId xmlns:a16="http://schemas.microsoft.com/office/drawing/2014/main" id="{69972474-5440-B27B-089D-0BAC42BF256C}"/>
              </a:ext>
            </a:extLst>
          </p:cNvPr>
          <p:cNvSpPr txBox="1"/>
          <p:nvPr/>
        </p:nvSpPr>
        <p:spPr>
          <a:xfrm>
            <a:off x="10966383" y="2313227"/>
            <a:ext cx="1963881" cy="215444"/>
          </a:xfrm>
          <a:prstGeom prst="rect">
            <a:avLst/>
          </a:prstGeom>
          <a:noFill/>
        </p:spPr>
        <p:txBody>
          <a:bodyPr wrap="square" rtlCol="0">
            <a:spAutoFit/>
          </a:bodyPr>
          <a:lstStyle/>
          <a:p>
            <a:r>
              <a:rPr lang="en-DK" sz="800" b="1" dirty="0">
                <a:solidFill>
                  <a:schemeClr val="tx2">
                    <a:lumMod val="75000"/>
                    <a:lumOff val="25000"/>
                  </a:schemeClr>
                </a:solidFill>
              </a:rPr>
              <a:t>ATCTTCA</a:t>
            </a:r>
          </a:p>
        </p:txBody>
      </p:sp>
      <p:sp>
        <p:nvSpPr>
          <p:cNvPr id="92" name="TextBox 91">
            <a:extLst>
              <a:ext uri="{FF2B5EF4-FFF2-40B4-BE49-F238E27FC236}">
                <a16:creationId xmlns:a16="http://schemas.microsoft.com/office/drawing/2014/main" id="{0520FE48-4819-5C75-E8BD-0218520F7A6B}"/>
              </a:ext>
            </a:extLst>
          </p:cNvPr>
          <p:cNvSpPr txBox="1"/>
          <p:nvPr/>
        </p:nvSpPr>
        <p:spPr>
          <a:xfrm>
            <a:off x="7897806" y="2448815"/>
            <a:ext cx="1224101" cy="215444"/>
          </a:xfrm>
          <a:prstGeom prst="rect">
            <a:avLst/>
          </a:prstGeom>
          <a:noFill/>
        </p:spPr>
        <p:txBody>
          <a:bodyPr wrap="square" rtlCol="0">
            <a:spAutoFit/>
          </a:bodyPr>
          <a:lstStyle/>
          <a:p>
            <a:r>
              <a:rPr lang="en-DK" sz="800" b="1" dirty="0">
                <a:solidFill>
                  <a:schemeClr val="tx2">
                    <a:lumMod val="75000"/>
                    <a:lumOff val="25000"/>
                  </a:schemeClr>
                </a:solidFill>
              </a:rPr>
              <a:t>TTCAACCGAGATATGC</a:t>
            </a:r>
          </a:p>
        </p:txBody>
      </p:sp>
      <p:sp>
        <p:nvSpPr>
          <p:cNvPr id="93" name="TextBox 92">
            <a:extLst>
              <a:ext uri="{FF2B5EF4-FFF2-40B4-BE49-F238E27FC236}">
                <a16:creationId xmlns:a16="http://schemas.microsoft.com/office/drawing/2014/main" id="{7514F333-920D-8A70-6BCF-FA2DA809098C}"/>
              </a:ext>
            </a:extLst>
          </p:cNvPr>
          <p:cNvSpPr txBox="1"/>
          <p:nvPr/>
        </p:nvSpPr>
        <p:spPr>
          <a:xfrm>
            <a:off x="7898335" y="2573930"/>
            <a:ext cx="1224101" cy="215444"/>
          </a:xfrm>
          <a:prstGeom prst="rect">
            <a:avLst/>
          </a:prstGeom>
          <a:noFill/>
        </p:spPr>
        <p:txBody>
          <a:bodyPr wrap="square" rtlCol="0">
            <a:spAutoFit/>
          </a:bodyPr>
          <a:lstStyle/>
          <a:p>
            <a:r>
              <a:rPr lang="en-DK" sz="800" b="1" dirty="0">
                <a:solidFill>
                  <a:schemeClr val="tx2">
                    <a:lumMod val="75000"/>
                    <a:lumOff val="25000"/>
                  </a:schemeClr>
                </a:solidFill>
              </a:rPr>
              <a:t>TTCAACCGAGATATGC</a:t>
            </a:r>
          </a:p>
        </p:txBody>
      </p:sp>
      <p:sp>
        <p:nvSpPr>
          <p:cNvPr id="94" name="TextBox 93">
            <a:extLst>
              <a:ext uri="{FF2B5EF4-FFF2-40B4-BE49-F238E27FC236}">
                <a16:creationId xmlns:a16="http://schemas.microsoft.com/office/drawing/2014/main" id="{2ED368A1-1063-5156-EACE-4D8C47486BD5}"/>
              </a:ext>
            </a:extLst>
          </p:cNvPr>
          <p:cNvSpPr txBox="1"/>
          <p:nvPr/>
        </p:nvSpPr>
        <p:spPr>
          <a:xfrm>
            <a:off x="9919786" y="2452927"/>
            <a:ext cx="1963881" cy="215444"/>
          </a:xfrm>
          <a:prstGeom prst="rect">
            <a:avLst/>
          </a:prstGeom>
          <a:noFill/>
        </p:spPr>
        <p:txBody>
          <a:bodyPr wrap="square" rtlCol="0">
            <a:spAutoFit/>
          </a:bodyPr>
          <a:lstStyle/>
          <a:p>
            <a:r>
              <a:rPr lang="en-DK" sz="800" b="1" dirty="0">
                <a:solidFill>
                  <a:schemeClr val="tx2">
                    <a:lumMod val="75000"/>
                    <a:lumOff val="25000"/>
                  </a:schemeClr>
                </a:solidFill>
              </a:rPr>
              <a:t>ATCAACA</a:t>
            </a:r>
          </a:p>
        </p:txBody>
      </p:sp>
      <p:sp>
        <p:nvSpPr>
          <p:cNvPr id="95" name="TextBox 94">
            <a:extLst>
              <a:ext uri="{FF2B5EF4-FFF2-40B4-BE49-F238E27FC236}">
                <a16:creationId xmlns:a16="http://schemas.microsoft.com/office/drawing/2014/main" id="{5CF85F73-9979-ED4E-8E22-ADB350E3D213}"/>
              </a:ext>
            </a:extLst>
          </p:cNvPr>
          <p:cNvSpPr txBox="1"/>
          <p:nvPr/>
        </p:nvSpPr>
        <p:spPr>
          <a:xfrm>
            <a:off x="9919786" y="2576909"/>
            <a:ext cx="1963881" cy="215444"/>
          </a:xfrm>
          <a:prstGeom prst="rect">
            <a:avLst/>
          </a:prstGeom>
          <a:noFill/>
        </p:spPr>
        <p:txBody>
          <a:bodyPr wrap="square" rtlCol="0">
            <a:spAutoFit/>
          </a:bodyPr>
          <a:lstStyle/>
          <a:p>
            <a:r>
              <a:rPr lang="en-DK" sz="800" b="1" dirty="0">
                <a:solidFill>
                  <a:schemeClr val="tx2">
                    <a:lumMod val="75000"/>
                    <a:lumOff val="25000"/>
                  </a:schemeClr>
                </a:solidFill>
              </a:rPr>
              <a:t>…</a:t>
            </a:r>
          </a:p>
        </p:txBody>
      </p:sp>
      <p:sp>
        <p:nvSpPr>
          <p:cNvPr id="96" name="TextBox 95">
            <a:extLst>
              <a:ext uri="{FF2B5EF4-FFF2-40B4-BE49-F238E27FC236}">
                <a16:creationId xmlns:a16="http://schemas.microsoft.com/office/drawing/2014/main" id="{3CC0041E-2152-0B3B-F37B-59FFBAE86461}"/>
              </a:ext>
            </a:extLst>
          </p:cNvPr>
          <p:cNvSpPr txBox="1"/>
          <p:nvPr/>
        </p:nvSpPr>
        <p:spPr>
          <a:xfrm>
            <a:off x="7967549" y="2729638"/>
            <a:ext cx="1963881" cy="215444"/>
          </a:xfrm>
          <a:prstGeom prst="rect">
            <a:avLst/>
          </a:prstGeom>
          <a:noFill/>
        </p:spPr>
        <p:txBody>
          <a:bodyPr wrap="square" rtlCol="0">
            <a:spAutoFit/>
          </a:bodyPr>
          <a:lstStyle/>
          <a:p>
            <a:r>
              <a:rPr lang="en-DK" sz="800" b="1" dirty="0">
                <a:solidFill>
                  <a:schemeClr val="tx2">
                    <a:lumMod val="75000"/>
                    <a:lumOff val="25000"/>
                  </a:schemeClr>
                </a:solidFill>
              </a:rPr>
              <a:t>…</a:t>
            </a:r>
          </a:p>
        </p:txBody>
      </p:sp>
    </p:spTree>
    <p:extLst>
      <p:ext uri="{BB962C8B-B14F-4D97-AF65-F5344CB8AC3E}">
        <p14:creationId xmlns:p14="http://schemas.microsoft.com/office/powerpoint/2010/main" val="826752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CF25185-31BC-634C-95C1-A943C26F2604}"/>
              </a:ext>
            </a:extLst>
          </p:cNvPr>
          <p:cNvGraphicFramePr>
            <a:graphicFrameLocks noGrp="1"/>
          </p:cNvGraphicFramePr>
          <p:nvPr>
            <p:extLst>
              <p:ext uri="{D42A27DB-BD31-4B8C-83A1-F6EECF244321}">
                <p14:modId xmlns:p14="http://schemas.microsoft.com/office/powerpoint/2010/main" val="2340512521"/>
              </p:ext>
            </p:extLst>
          </p:nvPr>
        </p:nvGraphicFramePr>
        <p:xfrm>
          <a:off x="1383468" y="1220397"/>
          <a:ext cx="9921841" cy="3112942"/>
        </p:xfrm>
        <a:graphic>
          <a:graphicData uri="http://schemas.openxmlformats.org/drawingml/2006/table">
            <a:tbl>
              <a:tblPr firstRow="1" bandRow="1">
                <a:tableStyleId>{B301B821-A1FF-4177-AEE7-76D212191A09}</a:tableStyleId>
              </a:tblPr>
              <a:tblGrid>
                <a:gridCol w="1751778">
                  <a:extLst>
                    <a:ext uri="{9D8B030D-6E8A-4147-A177-3AD203B41FA5}">
                      <a16:colId xmlns:a16="http://schemas.microsoft.com/office/drawing/2014/main" val="2515698166"/>
                    </a:ext>
                  </a:extLst>
                </a:gridCol>
                <a:gridCol w="5659686">
                  <a:extLst>
                    <a:ext uri="{9D8B030D-6E8A-4147-A177-3AD203B41FA5}">
                      <a16:colId xmlns:a16="http://schemas.microsoft.com/office/drawing/2014/main" val="3073312144"/>
                    </a:ext>
                  </a:extLst>
                </a:gridCol>
                <a:gridCol w="2510377">
                  <a:extLst>
                    <a:ext uri="{9D8B030D-6E8A-4147-A177-3AD203B41FA5}">
                      <a16:colId xmlns:a16="http://schemas.microsoft.com/office/drawing/2014/main" val="374859687"/>
                    </a:ext>
                  </a:extLst>
                </a:gridCol>
              </a:tblGrid>
              <a:tr h="265323">
                <a:tc>
                  <a:txBody>
                    <a:bodyPr/>
                    <a:lstStyle/>
                    <a:p>
                      <a:pPr algn="ctr"/>
                      <a:r>
                        <a:rPr lang="en-DK" sz="1200" dirty="0"/>
                        <a:t>Method</a:t>
                      </a:r>
                    </a:p>
                  </a:txBody>
                  <a:tcPr anchor="ctr"/>
                </a:tc>
                <a:tc>
                  <a:txBody>
                    <a:bodyPr/>
                    <a:lstStyle/>
                    <a:p>
                      <a:pPr algn="ctr"/>
                      <a:r>
                        <a:rPr lang="en-DK" sz="1200" dirty="0"/>
                        <a:t>Tools</a:t>
                      </a:r>
                    </a:p>
                  </a:txBody>
                  <a:tcPr anchor="ctr"/>
                </a:tc>
                <a:tc>
                  <a:txBody>
                    <a:bodyPr/>
                    <a:lstStyle/>
                    <a:p>
                      <a:pPr algn="ctr"/>
                      <a:r>
                        <a:rPr lang="en-DK" sz="1200" dirty="0"/>
                        <a:t>Databases</a:t>
                      </a:r>
                    </a:p>
                  </a:txBody>
                  <a:tcPr anchor="ctr"/>
                </a:tc>
                <a:extLst>
                  <a:ext uri="{0D108BD9-81ED-4DB2-BD59-A6C34878D82A}">
                    <a16:rowId xmlns:a16="http://schemas.microsoft.com/office/drawing/2014/main" val="2920315549"/>
                  </a:ext>
                </a:extLst>
              </a:tr>
              <a:tr h="1284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t>16S Amplicon-based Profiling</a:t>
                      </a:r>
                      <a:endParaRPr lang="en-DK" sz="1200" dirty="0"/>
                    </a:p>
                    <a:p>
                      <a:pPr algn="ctr"/>
                      <a:endParaRPr lang="en-DK" sz="1200" dirty="0"/>
                    </a:p>
                  </a:txBody>
                  <a:tcPr anchor="ctr"/>
                </a:tc>
                <a:tc>
                  <a:txBody>
                    <a:bodyPr/>
                    <a:lstStyle/>
                    <a:p>
                      <a:r>
                        <a:rPr lang="en-GB" sz="1200" b="1" dirty="0"/>
                        <a:t>QIIME 2</a:t>
                      </a:r>
                      <a:r>
                        <a:rPr lang="en-GB" sz="1200" dirty="0"/>
                        <a:t>: A popular pipeline supporting DADA2, Deblur, and multiple classifiers (Naive Bayes, etc.).</a:t>
                      </a:r>
                    </a:p>
                    <a:p>
                      <a:r>
                        <a:rPr lang="en-GB" sz="1200" b="1" dirty="0">
                          <a:solidFill>
                            <a:srgbClr val="FF0000"/>
                          </a:solidFill>
                        </a:rPr>
                        <a:t>DADA2</a:t>
                      </a:r>
                      <a:r>
                        <a:rPr lang="en-GB" sz="1200" dirty="0">
                          <a:solidFill>
                            <a:srgbClr val="FF0000"/>
                          </a:solidFill>
                        </a:rPr>
                        <a:t>: High-resolution method that infers amplicon sequence variants (ASVs).</a:t>
                      </a:r>
                    </a:p>
                    <a:p>
                      <a:r>
                        <a:rPr lang="en-GB" sz="1200" b="1" dirty="0"/>
                        <a:t>USEARCH / VSEARCH</a:t>
                      </a:r>
                      <a:r>
                        <a:rPr lang="en-GB" sz="1200" dirty="0"/>
                        <a:t>: Clustering-based OTU picking methods.</a:t>
                      </a:r>
                    </a:p>
                    <a:p>
                      <a:r>
                        <a:rPr lang="en-GB" sz="1200" b="1" dirty="0" err="1"/>
                        <a:t>Mothur</a:t>
                      </a:r>
                      <a:r>
                        <a:rPr lang="en-GB" sz="1200" dirty="0"/>
                        <a:t>: OTU-based method using different clustering and alignment strategies.</a:t>
                      </a:r>
                    </a:p>
                    <a:p>
                      <a:r>
                        <a:rPr lang="en-GB" sz="1200" b="1" dirty="0"/>
                        <a:t>RDP Classifier</a:t>
                      </a:r>
                      <a:r>
                        <a:rPr lang="en-GB" sz="1200" dirty="0"/>
                        <a:t>: Naive Bayesian classifier for assigning taxonomy.</a:t>
                      </a:r>
                    </a:p>
                  </a:txBody>
                  <a:tcPr/>
                </a:tc>
                <a:tc>
                  <a:txBody>
                    <a:bodyPr/>
                    <a:lstStyle/>
                    <a:p>
                      <a:r>
                        <a:rPr lang="en-GB" sz="1200" b="1" dirty="0"/>
                        <a:t>SILVA</a:t>
                      </a:r>
                    </a:p>
                    <a:p>
                      <a:r>
                        <a:rPr lang="en-GB" sz="1200" b="1" dirty="0" err="1"/>
                        <a:t>Greengenes</a:t>
                      </a:r>
                      <a:r>
                        <a:rPr lang="en-GB" sz="1200" dirty="0"/>
                        <a:t> (deprecated but still used)</a:t>
                      </a:r>
                    </a:p>
                    <a:p>
                      <a:r>
                        <a:rPr lang="en-GB" sz="1200" b="1" dirty="0"/>
                        <a:t>RDP</a:t>
                      </a:r>
                    </a:p>
                    <a:p>
                      <a:r>
                        <a:rPr lang="en-GB" sz="1200" b="1" dirty="0"/>
                        <a:t>UNITE</a:t>
                      </a:r>
                      <a:r>
                        <a:rPr lang="en-GB" sz="1200" dirty="0"/>
                        <a:t> (for fungi)</a:t>
                      </a:r>
                    </a:p>
                    <a:p>
                      <a:endParaRPr lang="en-DK" sz="1200" dirty="0"/>
                    </a:p>
                  </a:txBody>
                  <a:tcPr/>
                </a:tc>
                <a:extLst>
                  <a:ext uri="{0D108BD9-81ED-4DB2-BD59-A6C34878D82A}">
                    <a16:rowId xmlns:a16="http://schemas.microsoft.com/office/drawing/2014/main" val="547700518"/>
                  </a:ext>
                </a:extLst>
              </a:tr>
              <a:tr h="13128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t>Shotgun Metagenomics-based</a:t>
                      </a:r>
                      <a:endParaRPr lang="en-DK" sz="1200" dirty="0"/>
                    </a:p>
                    <a:p>
                      <a:pPr algn="ctr"/>
                      <a:r>
                        <a:rPr lang="en-GB" sz="1200" dirty="0"/>
                        <a:t>Reference-based profiling</a:t>
                      </a:r>
                      <a:endParaRPr lang="en-DK" sz="1200" dirty="0"/>
                    </a:p>
                  </a:txBody>
                  <a:tcPr anchor="ctr"/>
                </a:tc>
                <a:tc>
                  <a:txBody>
                    <a:bodyPr/>
                    <a:lstStyle/>
                    <a:p>
                      <a:r>
                        <a:rPr lang="en-GB" sz="1200" b="1" dirty="0">
                          <a:solidFill>
                            <a:srgbClr val="FF0000"/>
                          </a:solidFill>
                        </a:rPr>
                        <a:t>MetaPhlAn4</a:t>
                      </a:r>
                      <a:r>
                        <a:rPr lang="en-GB" sz="1200" dirty="0">
                          <a:solidFill>
                            <a:srgbClr val="FF0000"/>
                          </a:solidFill>
                        </a:rPr>
                        <a:t>: Uses clade-specific marker genes for fast, accurate profiling.</a:t>
                      </a:r>
                    </a:p>
                    <a:p>
                      <a:r>
                        <a:rPr lang="en-GB" sz="1200" b="1" dirty="0"/>
                        <a:t>Kraken2 / </a:t>
                      </a:r>
                      <a:r>
                        <a:rPr lang="en-GB" sz="1200" b="1" dirty="0" err="1"/>
                        <a:t>KrakenUniq</a:t>
                      </a:r>
                      <a:r>
                        <a:rPr lang="en-GB" sz="1200" dirty="0"/>
                        <a:t>: K-</a:t>
                      </a:r>
                      <a:r>
                        <a:rPr lang="en-GB" sz="1200" dirty="0" err="1"/>
                        <a:t>mer</a:t>
                      </a:r>
                      <a:r>
                        <a:rPr lang="en-GB" sz="1200" dirty="0"/>
                        <a:t> based, ultra-fast classification against a database of genomes.</a:t>
                      </a:r>
                    </a:p>
                    <a:p>
                      <a:r>
                        <a:rPr lang="en-GB" sz="1200" b="1" dirty="0"/>
                        <a:t>Centrifuge</a:t>
                      </a:r>
                      <a:r>
                        <a:rPr lang="en-GB" sz="1200" dirty="0"/>
                        <a:t>: K-</a:t>
                      </a:r>
                      <a:r>
                        <a:rPr lang="en-GB" sz="1200" dirty="0" err="1"/>
                        <a:t>mer</a:t>
                      </a:r>
                      <a:r>
                        <a:rPr lang="en-GB" sz="1200" dirty="0"/>
                        <a:t> based, designed for large reference databases and low-memory use.</a:t>
                      </a:r>
                    </a:p>
                    <a:p>
                      <a:r>
                        <a:rPr lang="en-GB" sz="1200" b="1" dirty="0" err="1"/>
                        <a:t>HUMAnN</a:t>
                      </a:r>
                      <a:r>
                        <a:rPr lang="en-GB" sz="1200" b="1" dirty="0"/>
                        <a:t> / HUMAnN3</a:t>
                      </a:r>
                      <a:r>
                        <a:rPr lang="en-GB" sz="1200" dirty="0"/>
                        <a:t>: Often used alongside MetaPhlAn for functional and taxonomic profiling.</a:t>
                      </a:r>
                    </a:p>
                    <a:p>
                      <a:r>
                        <a:rPr lang="en-GB" sz="1200" b="1" dirty="0" err="1"/>
                        <a:t>StrainPhlAn</a:t>
                      </a:r>
                      <a:r>
                        <a:rPr lang="en-GB" sz="1200" dirty="0"/>
                        <a:t>: Extension of MetaPhlAn for strain-level profiling.</a:t>
                      </a:r>
                    </a:p>
                  </a:txBody>
                  <a:tcPr/>
                </a:tc>
                <a:tc>
                  <a:txBody>
                    <a:bodyPr/>
                    <a:lstStyle/>
                    <a:p>
                      <a:r>
                        <a:rPr lang="en-GB" sz="1200" b="1" dirty="0" err="1"/>
                        <a:t>ChocoPhlAn</a:t>
                      </a:r>
                      <a:r>
                        <a:rPr lang="en-GB" sz="1200" dirty="0"/>
                        <a:t> (used by MetaPhlAn)</a:t>
                      </a:r>
                    </a:p>
                    <a:p>
                      <a:r>
                        <a:rPr lang="en-GB" sz="1200" b="1" dirty="0" err="1"/>
                        <a:t>RefSeq</a:t>
                      </a:r>
                      <a:r>
                        <a:rPr lang="en-GB" sz="1200" b="1" dirty="0"/>
                        <a:t> / GenBank</a:t>
                      </a:r>
                      <a:r>
                        <a:rPr lang="en-GB" sz="1200" dirty="0"/>
                        <a:t> (used by Kraken/Centrifuge)</a:t>
                      </a:r>
                    </a:p>
                    <a:p>
                      <a:r>
                        <a:rPr lang="en-GB" sz="1200" b="1" dirty="0"/>
                        <a:t>GTDB</a:t>
                      </a:r>
                      <a:r>
                        <a:rPr lang="en-GB" sz="1200" dirty="0"/>
                        <a:t> (Genome-based taxonomic reference)</a:t>
                      </a:r>
                    </a:p>
                  </a:txBody>
                  <a:tcPr/>
                </a:tc>
                <a:extLst>
                  <a:ext uri="{0D108BD9-81ED-4DB2-BD59-A6C34878D82A}">
                    <a16:rowId xmlns:a16="http://schemas.microsoft.com/office/drawing/2014/main" val="2420066335"/>
                  </a:ext>
                </a:extLst>
              </a:tr>
            </a:tbl>
          </a:graphicData>
        </a:graphic>
      </p:graphicFrame>
      <p:sp>
        <p:nvSpPr>
          <p:cNvPr id="6" name="Title 5">
            <a:extLst>
              <a:ext uri="{FF2B5EF4-FFF2-40B4-BE49-F238E27FC236}">
                <a16:creationId xmlns:a16="http://schemas.microsoft.com/office/drawing/2014/main" id="{4A011325-2B94-F5FC-E9B4-F25C0E4FE089}"/>
              </a:ext>
            </a:extLst>
          </p:cNvPr>
          <p:cNvSpPr>
            <a:spLocks noGrp="1"/>
          </p:cNvSpPr>
          <p:nvPr>
            <p:ph type="title"/>
          </p:nvPr>
        </p:nvSpPr>
        <p:spPr>
          <a:xfrm>
            <a:off x="161189" y="59980"/>
            <a:ext cx="11869618" cy="1325563"/>
          </a:xfrm>
        </p:spPr>
        <p:txBody>
          <a:bodyPr>
            <a:normAutofit/>
          </a:bodyPr>
          <a:lstStyle/>
          <a:p>
            <a:r>
              <a:rPr lang="en-DK" sz="4000" dirty="0"/>
              <a:t>Amplicon and read-based shotgun metagenomics tools</a:t>
            </a:r>
          </a:p>
        </p:txBody>
      </p:sp>
      <p:sp>
        <p:nvSpPr>
          <p:cNvPr id="7" name="TextBox 6">
            <a:extLst>
              <a:ext uri="{FF2B5EF4-FFF2-40B4-BE49-F238E27FC236}">
                <a16:creationId xmlns:a16="http://schemas.microsoft.com/office/drawing/2014/main" id="{8BE06B95-E750-5833-A26A-7406DA1544D5}"/>
              </a:ext>
            </a:extLst>
          </p:cNvPr>
          <p:cNvSpPr txBox="1"/>
          <p:nvPr/>
        </p:nvSpPr>
        <p:spPr>
          <a:xfrm>
            <a:off x="1383468" y="4461164"/>
            <a:ext cx="9921841" cy="2308324"/>
          </a:xfrm>
          <a:prstGeom prst="rect">
            <a:avLst/>
          </a:prstGeom>
          <a:noFill/>
        </p:spPr>
        <p:txBody>
          <a:bodyPr wrap="square" rtlCol="0">
            <a:spAutoFit/>
          </a:bodyPr>
          <a:lstStyle/>
          <a:p>
            <a:r>
              <a:rPr lang="en-DK" dirty="0"/>
              <a:t>Choice depending on:</a:t>
            </a:r>
          </a:p>
          <a:p>
            <a:endParaRPr lang="en-DK" dirty="0"/>
          </a:p>
          <a:p>
            <a:pPr marL="285750" indent="-285750">
              <a:buFont typeface="Arial" panose="020B0604020202020204" pitchFamily="34" charset="0"/>
              <a:buChar char="•"/>
            </a:pPr>
            <a:r>
              <a:rPr lang="en-GB" b="1" dirty="0"/>
              <a:t>Speed vs. Accuracy</a:t>
            </a:r>
            <a:r>
              <a:rPr lang="en-GB" dirty="0"/>
              <a:t>: Kraken2 is fast; MetaPhlAn is more accurate for species-level identification.</a:t>
            </a:r>
          </a:p>
          <a:p>
            <a:pPr marL="285750" indent="-285750">
              <a:buFont typeface="Arial" panose="020B0604020202020204" pitchFamily="34" charset="0"/>
              <a:buChar char="•"/>
            </a:pPr>
            <a:r>
              <a:rPr lang="en-GB" b="1" dirty="0"/>
              <a:t>Resolution</a:t>
            </a:r>
            <a:r>
              <a:rPr lang="en-GB" dirty="0"/>
              <a:t>: DADA2 and MetaPhlAn can provide high-resolution profiling.</a:t>
            </a:r>
          </a:p>
          <a:p>
            <a:pPr marL="285750" indent="-285750">
              <a:buFont typeface="Arial" panose="020B0604020202020204" pitchFamily="34" charset="0"/>
              <a:buChar char="•"/>
            </a:pPr>
            <a:r>
              <a:rPr lang="en-GB" b="1" dirty="0"/>
              <a:t>Data Type</a:t>
            </a:r>
            <a:r>
              <a:rPr lang="en-GB" dirty="0"/>
              <a:t>: Amplicon (16S) vs. shotgun metagenomics.</a:t>
            </a:r>
          </a:p>
          <a:p>
            <a:pPr marL="285750" indent="-285750">
              <a:buFont typeface="Arial" panose="020B0604020202020204" pitchFamily="34" charset="0"/>
              <a:buChar char="•"/>
            </a:pPr>
            <a:r>
              <a:rPr lang="en-GB" b="1" dirty="0"/>
              <a:t>Resource Requirements</a:t>
            </a:r>
            <a:r>
              <a:rPr lang="en-GB" dirty="0"/>
              <a:t>: Kraken needs large memory for big databases; MetaPhlAn is lighter.</a:t>
            </a:r>
          </a:p>
          <a:p>
            <a:endParaRPr lang="en-DK" dirty="0"/>
          </a:p>
        </p:txBody>
      </p:sp>
    </p:spTree>
    <p:extLst>
      <p:ext uri="{BB962C8B-B14F-4D97-AF65-F5344CB8AC3E}">
        <p14:creationId xmlns:p14="http://schemas.microsoft.com/office/powerpoint/2010/main" val="2130811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A94DE-74AF-9F48-4FCC-6F85663574B0}"/>
              </a:ext>
            </a:extLst>
          </p:cNvPr>
          <p:cNvSpPr>
            <a:spLocks noGrp="1"/>
          </p:cNvSpPr>
          <p:nvPr>
            <p:ph type="title"/>
          </p:nvPr>
        </p:nvSpPr>
        <p:spPr>
          <a:xfrm>
            <a:off x="61628" y="-207378"/>
            <a:ext cx="12155336" cy="1325563"/>
          </a:xfrm>
        </p:spPr>
        <p:txBody>
          <a:bodyPr>
            <a:normAutofit/>
          </a:bodyPr>
          <a:lstStyle/>
          <a:p>
            <a:r>
              <a:rPr lang="en-GB" sz="3600" dirty="0"/>
              <a:t>Assembly-based methods: </a:t>
            </a:r>
            <a:r>
              <a:rPr lang="en-DK" sz="3200" dirty="0"/>
              <a:t>Metagenome-assembled genomes (MAG)</a:t>
            </a:r>
          </a:p>
        </p:txBody>
      </p:sp>
      <p:grpSp>
        <p:nvGrpSpPr>
          <p:cNvPr id="107" name="Group 106">
            <a:extLst>
              <a:ext uri="{FF2B5EF4-FFF2-40B4-BE49-F238E27FC236}">
                <a16:creationId xmlns:a16="http://schemas.microsoft.com/office/drawing/2014/main" id="{94FA764F-F235-018A-1932-2E14C01246CB}"/>
              </a:ext>
            </a:extLst>
          </p:cNvPr>
          <p:cNvGrpSpPr/>
          <p:nvPr/>
        </p:nvGrpSpPr>
        <p:grpSpPr>
          <a:xfrm>
            <a:off x="3020277" y="931457"/>
            <a:ext cx="1584615" cy="1697182"/>
            <a:chOff x="2867877" y="1810364"/>
            <a:chExt cx="1584615" cy="1697182"/>
          </a:xfrm>
        </p:grpSpPr>
        <p:cxnSp>
          <p:nvCxnSpPr>
            <p:cNvPr id="75" name="Straight Connector 74">
              <a:extLst>
                <a:ext uri="{FF2B5EF4-FFF2-40B4-BE49-F238E27FC236}">
                  <a16:creationId xmlns:a16="http://schemas.microsoft.com/office/drawing/2014/main" id="{CD2B55C1-1FE4-B0AA-FAF8-15CA5D3CA10C}"/>
                </a:ext>
              </a:extLst>
            </p:cNvPr>
            <p:cNvCxnSpPr>
              <a:cxnSpLocks/>
            </p:cNvCxnSpPr>
            <p:nvPr/>
          </p:nvCxnSpPr>
          <p:spPr>
            <a:xfrm>
              <a:off x="3149299" y="181036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437EFD28-67B6-A869-6D89-64917056740F}"/>
                </a:ext>
              </a:extLst>
            </p:cNvPr>
            <p:cNvCxnSpPr>
              <a:cxnSpLocks/>
            </p:cNvCxnSpPr>
            <p:nvPr/>
          </p:nvCxnSpPr>
          <p:spPr>
            <a:xfrm>
              <a:off x="3677503" y="2977176"/>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51FD599-1788-1CD5-4A1E-316C9B67F546}"/>
                </a:ext>
              </a:extLst>
            </p:cNvPr>
            <p:cNvCxnSpPr>
              <a:cxnSpLocks/>
            </p:cNvCxnSpPr>
            <p:nvPr/>
          </p:nvCxnSpPr>
          <p:spPr>
            <a:xfrm>
              <a:off x="3339799" y="200086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79B650EF-CED5-A1B7-E17A-ADF48C85727D}"/>
                </a:ext>
              </a:extLst>
            </p:cNvPr>
            <p:cNvCxnSpPr>
              <a:cxnSpLocks/>
            </p:cNvCxnSpPr>
            <p:nvPr/>
          </p:nvCxnSpPr>
          <p:spPr>
            <a:xfrm>
              <a:off x="3456696" y="285959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464F029C-5E2E-A0D8-2115-82AB33D9975C}"/>
                </a:ext>
              </a:extLst>
            </p:cNvPr>
            <p:cNvCxnSpPr>
              <a:cxnSpLocks/>
            </p:cNvCxnSpPr>
            <p:nvPr/>
          </p:nvCxnSpPr>
          <p:spPr>
            <a:xfrm>
              <a:off x="3080026" y="219284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31663D95-4D1A-38D4-79CD-645A80D8FAF2}"/>
                </a:ext>
              </a:extLst>
            </p:cNvPr>
            <p:cNvCxnSpPr>
              <a:cxnSpLocks/>
            </p:cNvCxnSpPr>
            <p:nvPr/>
          </p:nvCxnSpPr>
          <p:spPr>
            <a:xfrm>
              <a:off x="3625549" y="228661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30725C60-26A4-DE83-1C74-4A0AA35BAB13}"/>
                </a:ext>
              </a:extLst>
            </p:cNvPr>
            <p:cNvCxnSpPr>
              <a:cxnSpLocks/>
            </p:cNvCxnSpPr>
            <p:nvPr/>
          </p:nvCxnSpPr>
          <p:spPr>
            <a:xfrm>
              <a:off x="3188265" y="238186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DFB7238-20E6-E742-D813-E2BD252210F5}"/>
                </a:ext>
              </a:extLst>
            </p:cNvPr>
            <p:cNvCxnSpPr>
              <a:cxnSpLocks/>
            </p:cNvCxnSpPr>
            <p:nvPr/>
          </p:nvCxnSpPr>
          <p:spPr>
            <a:xfrm>
              <a:off x="3361446" y="276286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D1B8EA91-FB06-8362-F6FF-81CB8FC9F6FB}"/>
                </a:ext>
              </a:extLst>
            </p:cNvPr>
            <p:cNvCxnSpPr>
              <a:cxnSpLocks/>
            </p:cNvCxnSpPr>
            <p:nvPr/>
          </p:nvCxnSpPr>
          <p:spPr>
            <a:xfrm>
              <a:off x="2915503" y="209611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69C4F3E5-5CC5-7AA3-9467-5E6D920B986F}"/>
                </a:ext>
              </a:extLst>
            </p:cNvPr>
            <p:cNvCxnSpPr>
              <a:cxnSpLocks/>
            </p:cNvCxnSpPr>
            <p:nvPr/>
          </p:nvCxnSpPr>
          <p:spPr>
            <a:xfrm>
              <a:off x="3816049" y="2560857"/>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9A33564-0446-6F7D-9C55-A1EF766D293C}"/>
                </a:ext>
              </a:extLst>
            </p:cNvPr>
            <p:cNvCxnSpPr>
              <a:cxnSpLocks/>
            </p:cNvCxnSpPr>
            <p:nvPr/>
          </p:nvCxnSpPr>
          <p:spPr>
            <a:xfrm>
              <a:off x="3417731" y="3507546"/>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342DA60A-EB38-E57F-3896-7BA4174369FF}"/>
                </a:ext>
              </a:extLst>
            </p:cNvPr>
            <p:cNvCxnSpPr>
              <a:cxnSpLocks/>
            </p:cNvCxnSpPr>
            <p:nvPr/>
          </p:nvCxnSpPr>
          <p:spPr>
            <a:xfrm>
              <a:off x="3045390" y="249158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0F0BFFF3-EBDF-6BFF-8AFE-64D3C43E707F}"/>
                </a:ext>
              </a:extLst>
            </p:cNvPr>
            <p:cNvCxnSpPr>
              <a:cxnSpLocks/>
            </p:cNvCxnSpPr>
            <p:nvPr/>
          </p:nvCxnSpPr>
          <p:spPr>
            <a:xfrm>
              <a:off x="4028196" y="266761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91A78C35-24AC-992C-A54D-1F7236A9FFA7}"/>
                </a:ext>
              </a:extLst>
            </p:cNvPr>
            <p:cNvCxnSpPr>
              <a:cxnSpLocks/>
            </p:cNvCxnSpPr>
            <p:nvPr/>
          </p:nvCxnSpPr>
          <p:spPr>
            <a:xfrm>
              <a:off x="3842026" y="2192845"/>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6D460C39-691D-87B0-95F4-FB80FAFB0CBB}"/>
                </a:ext>
              </a:extLst>
            </p:cNvPr>
            <p:cNvCxnSpPr>
              <a:cxnSpLocks/>
            </p:cNvCxnSpPr>
            <p:nvPr/>
          </p:nvCxnSpPr>
          <p:spPr>
            <a:xfrm>
              <a:off x="3772753" y="3072426"/>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8D2D887E-F7C7-5F61-7A60-AFDB608095C8}"/>
                </a:ext>
              </a:extLst>
            </p:cNvPr>
            <p:cNvCxnSpPr>
              <a:cxnSpLocks/>
            </p:cNvCxnSpPr>
            <p:nvPr/>
          </p:nvCxnSpPr>
          <p:spPr>
            <a:xfrm>
              <a:off x="3837696" y="2388358"/>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4733F86B-5E1A-F3CB-6DA2-A6BC5AA26658}"/>
                </a:ext>
              </a:extLst>
            </p:cNvPr>
            <p:cNvCxnSpPr>
              <a:cxnSpLocks/>
            </p:cNvCxnSpPr>
            <p:nvPr/>
          </p:nvCxnSpPr>
          <p:spPr>
            <a:xfrm>
              <a:off x="2867877" y="2667614"/>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E66E60B7-C9CD-13A0-F10A-490AF970D97E}"/>
                </a:ext>
              </a:extLst>
            </p:cNvPr>
            <p:cNvCxnSpPr>
              <a:cxnSpLocks/>
            </p:cNvCxnSpPr>
            <p:nvPr/>
          </p:nvCxnSpPr>
          <p:spPr>
            <a:xfrm>
              <a:off x="3790071" y="1810364"/>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07EC37D6-9429-0AEC-1964-575905A38F9D}"/>
                </a:ext>
              </a:extLst>
            </p:cNvPr>
            <p:cNvCxnSpPr>
              <a:cxnSpLocks/>
            </p:cNvCxnSpPr>
            <p:nvPr/>
          </p:nvCxnSpPr>
          <p:spPr>
            <a:xfrm>
              <a:off x="3080025" y="306741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35D38774-167B-84D8-ADE7-131F8CC01450}"/>
                </a:ext>
              </a:extLst>
            </p:cNvPr>
            <p:cNvCxnSpPr>
              <a:cxnSpLocks/>
            </p:cNvCxnSpPr>
            <p:nvPr/>
          </p:nvCxnSpPr>
          <p:spPr>
            <a:xfrm>
              <a:off x="3188264" y="325643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07F0BB3D-EC5A-A65C-C2C1-FE4D6EC04D88}"/>
                </a:ext>
              </a:extLst>
            </p:cNvPr>
            <p:cNvCxnSpPr>
              <a:cxnSpLocks/>
            </p:cNvCxnSpPr>
            <p:nvPr/>
          </p:nvCxnSpPr>
          <p:spPr>
            <a:xfrm>
              <a:off x="2915503" y="297068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9C552E23-A005-4A54-381E-B2677BB65330}"/>
                </a:ext>
              </a:extLst>
            </p:cNvPr>
            <p:cNvCxnSpPr>
              <a:cxnSpLocks/>
            </p:cNvCxnSpPr>
            <p:nvPr/>
          </p:nvCxnSpPr>
          <p:spPr>
            <a:xfrm>
              <a:off x="3045389" y="3366152"/>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BC751767-A3EA-DE05-51BA-C702D1B97556}"/>
                </a:ext>
              </a:extLst>
            </p:cNvPr>
            <p:cNvCxnSpPr>
              <a:cxnSpLocks/>
            </p:cNvCxnSpPr>
            <p:nvPr/>
          </p:nvCxnSpPr>
          <p:spPr>
            <a:xfrm>
              <a:off x="3634208" y="3357493"/>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4A14D4D8-89E3-2A33-3F73-0B9DAF6C2A92}"/>
              </a:ext>
            </a:extLst>
          </p:cNvPr>
          <p:cNvGrpSpPr/>
          <p:nvPr/>
        </p:nvGrpSpPr>
        <p:grpSpPr>
          <a:xfrm>
            <a:off x="382717" y="990590"/>
            <a:ext cx="1961285" cy="1697182"/>
            <a:chOff x="382717" y="1794163"/>
            <a:chExt cx="1961285" cy="1697182"/>
          </a:xfrm>
        </p:grpSpPr>
        <p:cxnSp>
          <p:nvCxnSpPr>
            <p:cNvPr id="3" name="Straight Connector 2">
              <a:extLst>
                <a:ext uri="{FF2B5EF4-FFF2-40B4-BE49-F238E27FC236}">
                  <a16:creationId xmlns:a16="http://schemas.microsoft.com/office/drawing/2014/main" id="{0A6ABE82-CF61-A9CD-C1C5-9446BD4CAFDB}"/>
                </a:ext>
              </a:extLst>
            </p:cNvPr>
            <p:cNvCxnSpPr>
              <a:cxnSpLocks/>
            </p:cNvCxnSpPr>
            <p:nvPr/>
          </p:nvCxnSpPr>
          <p:spPr>
            <a:xfrm>
              <a:off x="828661" y="179416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358EB98D-D540-2359-C27B-F7613E76CC92}"/>
                </a:ext>
              </a:extLst>
            </p:cNvPr>
            <p:cNvCxnSpPr>
              <a:cxnSpLocks/>
            </p:cNvCxnSpPr>
            <p:nvPr/>
          </p:nvCxnSpPr>
          <p:spPr>
            <a:xfrm>
              <a:off x="1356865" y="296097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C451E22-497F-8760-9CB7-2775AAF14568}"/>
                </a:ext>
              </a:extLst>
            </p:cNvPr>
            <p:cNvCxnSpPr>
              <a:cxnSpLocks/>
            </p:cNvCxnSpPr>
            <p:nvPr/>
          </p:nvCxnSpPr>
          <p:spPr>
            <a:xfrm>
              <a:off x="1019161" y="198466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965929E-B30B-F2FC-DEA9-B31B70700639}"/>
                </a:ext>
              </a:extLst>
            </p:cNvPr>
            <p:cNvCxnSpPr>
              <a:cxnSpLocks/>
            </p:cNvCxnSpPr>
            <p:nvPr/>
          </p:nvCxnSpPr>
          <p:spPr>
            <a:xfrm>
              <a:off x="1136058" y="284339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D9D85B2-0F03-33AA-734C-4683797658E4}"/>
                </a:ext>
              </a:extLst>
            </p:cNvPr>
            <p:cNvCxnSpPr>
              <a:cxnSpLocks/>
            </p:cNvCxnSpPr>
            <p:nvPr/>
          </p:nvCxnSpPr>
          <p:spPr>
            <a:xfrm>
              <a:off x="759388" y="217664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7A4846E-50F2-7D5C-6002-58607C9C2263}"/>
                </a:ext>
              </a:extLst>
            </p:cNvPr>
            <p:cNvCxnSpPr>
              <a:cxnSpLocks/>
            </p:cNvCxnSpPr>
            <p:nvPr/>
          </p:nvCxnSpPr>
          <p:spPr>
            <a:xfrm>
              <a:off x="1304911" y="227041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765886F-5E33-F5AE-4508-4664C45D411A}"/>
                </a:ext>
              </a:extLst>
            </p:cNvPr>
            <p:cNvCxnSpPr>
              <a:cxnSpLocks/>
            </p:cNvCxnSpPr>
            <p:nvPr/>
          </p:nvCxnSpPr>
          <p:spPr>
            <a:xfrm>
              <a:off x="867627" y="2365663"/>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7D5A34F-6279-462C-FAE5-51CBACBE5395}"/>
                </a:ext>
              </a:extLst>
            </p:cNvPr>
            <p:cNvCxnSpPr>
              <a:cxnSpLocks/>
            </p:cNvCxnSpPr>
            <p:nvPr/>
          </p:nvCxnSpPr>
          <p:spPr>
            <a:xfrm>
              <a:off x="1040808" y="2746663"/>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6071020-F2AC-8B5B-F0B5-BB72EDC68E44}"/>
                </a:ext>
              </a:extLst>
            </p:cNvPr>
            <p:cNvCxnSpPr>
              <a:cxnSpLocks/>
            </p:cNvCxnSpPr>
            <p:nvPr/>
          </p:nvCxnSpPr>
          <p:spPr>
            <a:xfrm>
              <a:off x="594865" y="2079913"/>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F1697BD-E0FF-5CAB-FC36-64BBDECD50B7}"/>
                </a:ext>
              </a:extLst>
            </p:cNvPr>
            <p:cNvCxnSpPr>
              <a:cxnSpLocks/>
            </p:cNvCxnSpPr>
            <p:nvPr/>
          </p:nvCxnSpPr>
          <p:spPr>
            <a:xfrm>
              <a:off x="1495411" y="2544656"/>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51958EE-1244-C477-F63F-DFBA182355F1}"/>
                </a:ext>
              </a:extLst>
            </p:cNvPr>
            <p:cNvCxnSpPr>
              <a:cxnSpLocks/>
            </p:cNvCxnSpPr>
            <p:nvPr/>
          </p:nvCxnSpPr>
          <p:spPr>
            <a:xfrm>
              <a:off x="1097093" y="3491345"/>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06F7483-6DD6-5641-F5E0-8D6EEA57DF9F}"/>
                </a:ext>
              </a:extLst>
            </p:cNvPr>
            <p:cNvCxnSpPr>
              <a:cxnSpLocks/>
            </p:cNvCxnSpPr>
            <p:nvPr/>
          </p:nvCxnSpPr>
          <p:spPr>
            <a:xfrm>
              <a:off x="724752" y="2475383"/>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216735D-CC94-A41A-A6D0-6C06FA800A03}"/>
                </a:ext>
              </a:extLst>
            </p:cNvPr>
            <p:cNvCxnSpPr>
              <a:cxnSpLocks/>
            </p:cNvCxnSpPr>
            <p:nvPr/>
          </p:nvCxnSpPr>
          <p:spPr>
            <a:xfrm>
              <a:off x="1707558" y="2651413"/>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40E22D8-4D64-5EA6-A9A1-B4AC28EDBF7A}"/>
                </a:ext>
              </a:extLst>
            </p:cNvPr>
            <p:cNvCxnSpPr>
              <a:cxnSpLocks/>
            </p:cNvCxnSpPr>
            <p:nvPr/>
          </p:nvCxnSpPr>
          <p:spPr>
            <a:xfrm>
              <a:off x="1521388" y="217664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2701383-D300-EC84-DC91-E4C22448DE62}"/>
                </a:ext>
              </a:extLst>
            </p:cNvPr>
            <p:cNvCxnSpPr>
              <a:cxnSpLocks/>
            </p:cNvCxnSpPr>
            <p:nvPr/>
          </p:nvCxnSpPr>
          <p:spPr>
            <a:xfrm>
              <a:off x="1452115" y="3056225"/>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4B1876D-BCBC-A819-EF1D-0A33790FFF5E}"/>
                </a:ext>
              </a:extLst>
            </p:cNvPr>
            <p:cNvCxnSpPr>
              <a:cxnSpLocks/>
            </p:cNvCxnSpPr>
            <p:nvPr/>
          </p:nvCxnSpPr>
          <p:spPr>
            <a:xfrm>
              <a:off x="1517058" y="2372157"/>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87F451C-08F1-5EFD-0AA2-D203F4615FDA}"/>
                </a:ext>
              </a:extLst>
            </p:cNvPr>
            <p:cNvCxnSpPr>
              <a:cxnSpLocks/>
            </p:cNvCxnSpPr>
            <p:nvPr/>
          </p:nvCxnSpPr>
          <p:spPr>
            <a:xfrm>
              <a:off x="547239" y="2651413"/>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A2C31EE-3F53-A062-C8BD-25A56EC7D3A2}"/>
                </a:ext>
              </a:extLst>
            </p:cNvPr>
            <p:cNvCxnSpPr>
              <a:cxnSpLocks/>
            </p:cNvCxnSpPr>
            <p:nvPr/>
          </p:nvCxnSpPr>
          <p:spPr>
            <a:xfrm>
              <a:off x="1469433" y="1794163"/>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B547E9F-EB04-B379-4DB2-52D623029902}"/>
                </a:ext>
              </a:extLst>
            </p:cNvPr>
            <p:cNvCxnSpPr>
              <a:cxnSpLocks/>
            </p:cNvCxnSpPr>
            <p:nvPr/>
          </p:nvCxnSpPr>
          <p:spPr>
            <a:xfrm>
              <a:off x="759387" y="3051212"/>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F5D19121-C903-ECF0-C454-7A0C0B14DA54}"/>
                </a:ext>
              </a:extLst>
            </p:cNvPr>
            <p:cNvCxnSpPr>
              <a:cxnSpLocks/>
            </p:cNvCxnSpPr>
            <p:nvPr/>
          </p:nvCxnSpPr>
          <p:spPr>
            <a:xfrm>
              <a:off x="867626" y="3240231"/>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239118B-E6BB-A79C-2FA8-820DF163E2DA}"/>
                </a:ext>
              </a:extLst>
            </p:cNvPr>
            <p:cNvCxnSpPr>
              <a:cxnSpLocks/>
            </p:cNvCxnSpPr>
            <p:nvPr/>
          </p:nvCxnSpPr>
          <p:spPr>
            <a:xfrm>
              <a:off x="594865" y="2954481"/>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1978177-4376-B609-A6D0-BC497891D8A8}"/>
                </a:ext>
              </a:extLst>
            </p:cNvPr>
            <p:cNvCxnSpPr>
              <a:cxnSpLocks/>
            </p:cNvCxnSpPr>
            <p:nvPr/>
          </p:nvCxnSpPr>
          <p:spPr>
            <a:xfrm>
              <a:off x="724751" y="3349951"/>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75E5D5E-ED29-F265-F909-E84A0E8CC2C4}"/>
                </a:ext>
              </a:extLst>
            </p:cNvPr>
            <p:cNvCxnSpPr>
              <a:cxnSpLocks/>
            </p:cNvCxnSpPr>
            <p:nvPr/>
          </p:nvCxnSpPr>
          <p:spPr>
            <a:xfrm>
              <a:off x="1313570" y="3341292"/>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A0167814-05AA-9492-43A0-A98E80A6EAEB}"/>
                </a:ext>
              </a:extLst>
            </p:cNvPr>
            <p:cNvCxnSpPr>
              <a:cxnSpLocks/>
            </p:cNvCxnSpPr>
            <p:nvPr/>
          </p:nvCxnSpPr>
          <p:spPr>
            <a:xfrm>
              <a:off x="1608817" y="3150542"/>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D08EF2E1-9D89-21FB-EA61-A34375D107B4}"/>
                </a:ext>
              </a:extLst>
            </p:cNvPr>
            <p:cNvCxnSpPr>
              <a:cxnSpLocks/>
            </p:cNvCxnSpPr>
            <p:nvPr/>
          </p:nvCxnSpPr>
          <p:spPr>
            <a:xfrm>
              <a:off x="1729206" y="2831886"/>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41EA66F2-9FEF-CB35-D314-24ECAFD6E3FA}"/>
                </a:ext>
              </a:extLst>
            </p:cNvPr>
            <p:cNvCxnSpPr>
              <a:cxnSpLocks/>
            </p:cNvCxnSpPr>
            <p:nvPr/>
          </p:nvCxnSpPr>
          <p:spPr>
            <a:xfrm>
              <a:off x="1664263" y="1973155"/>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3C35CE88-BA3E-3B84-E81C-FD913D5AEAA1}"/>
                </a:ext>
              </a:extLst>
            </p:cNvPr>
            <p:cNvCxnSpPr>
              <a:cxnSpLocks/>
            </p:cNvCxnSpPr>
            <p:nvPr/>
          </p:nvCxnSpPr>
          <p:spPr>
            <a:xfrm>
              <a:off x="1144717" y="2639905"/>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B6A3B5ED-F2AC-D2F5-2C5B-45171DBC92EE}"/>
                </a:ext>
              </a:extLst>
            </p:cNvPr>
            <p:cNvCxnSpPr>
              <a:cxnSpLocks/>
            </p:cNvCxnSpPr>
            <p:nvPr/>
          </p:nvCxnSpPr>
          <p:spPr>
            <a:xfrm>
              <a:off x="574920" y="2843394"/>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AD40FF5A-BA73-086A-1344-C818959964EC}"/>
                </a:ext>
              </a:extLst>
            </p:cNvPr>
            <p:cNvCxnSpPr>
              <a:cxnSpLocks/>
            </p:cNvCxnSpPr>
            <p:nvPr/>
          </p:nvCxnSpPr>
          <p:spPr>
            <a:xfrm>
              <a:off x="1919706" y="3272633"/>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8ACD2252-D83D-EFE9-3B80-C0C8527C1411}"/>
                </a:ext>
              </a:extLst>
            </p:cNvPr>
            <p:cNvCxnSpPr>
              <a:cxnSpLocks/>
            </p:cNvCxnSpPr>
            <p:nvPr/>
          </p:nvCxnSpPr>
          <p:spPr>
            <a:xfrm>
              <a:off x="1495382" y="3429000"/>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8BEA67F1-3E44-0FD7-AC9D-FF68EFC1EF30}"/>
                </a:ext>
              </a:extLst>
            </p:cNvPr>
            <p:cNvCxnSpPr>
              <a:cxnSpLocks/>
            </p:cNvCxnSpPr>
            <p:nvPr/>
          </p:nvCxnSpPr>
          <p:spPr>
            <a:xfrm>
              <a:off x="382717" y="2302815"/>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108" name="Right Arrow 107">
            <a:extLst>
              <a:ext uri="{FF2B5EF4-FFF2-40B4-BE49-F238E27FC236}">
                <a16:creationId xmlns:a16="http://schemas.microsoft.com/office/drawing/2014/main" id="{C63988FC-0E16-8BE5-34BF-26DEDA0A762E}"/>
              </a:ext>
            </a:extLst>
          </p:cNvPr>
          <p:cNvSpPr/>
          <p:nvPr/>
        </p:nvSpPr>
        <p:spPr>
          <a:xfrm>
            <a:off x="2344002" y="1568584"/>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9" name="TextBox 108">
            <a:extLst>
              <a:ext uri="{FF2B5EF4-FFF2-40B4-BE49-F238E27FC236}">
                <a16:creationId xmlns:a16="http://schemas.microsoft.com/office/drawing/2014/main" id="{38D9A93A-2099-E177-C20E-05341BBCB9FB}"/>
              </a:ext>
            </a:extLst>
          </p:cNvPr>
          <p:cNvSpPr txBox="1"/>
          <p:nvPr/>
        </p:nvSpPr>
        <p:spPr>
          <a:xfrm>
            <a:off x="2326686" y="1199230"/>
            <a:ext cx="568036" cy="369332"/>
          </a:xfrm>
          <a:prstGeom prst="rect">
            <a:avLst/>
          </a:prstGeom>
          <a:noFill/>
        </p:spPr>
        <p:txBody>
          <a:bodyPr wrap="square" rtlCol="0">
            <a:spAutoFit/>
          </a:bodyPr>
          <a:lstStyle/>
          <a:p>
            <a:r>
              <a:rPr lang="en-DK" b="1" dirty="0"/>
              <a:t>QC</a:t>
            </a:r>
          </a:p>
        </p:txBody>
      </p:sp>
      <p:sp>
        <p:nvSpPr>
          <p:cNvPr id="110" name="TextBox 109">
            <a:extLst>
              <a:ext uri="{FF2B5EF4-FFF2-40B4-BE49-F238E27FC236}">
                <a16:creationId xmlns:a16="http://schemas.microsoft.com/office/drawing/2014/main" id="{4CACE333-1D42-184C-0809-1F3136AF89CC}"/>
              </a:ext>
            </a:extLst>
          </p:cNvPr>
          <p:cNvSpPr txBox="1"/>
          <p:nvPr/>
        </p:nvSpPr>
        <p:spPr>
          <a:xfrm>
            <a:off x="724751" y="2797058"/>
            <a:ext cx="1488486" cy="338554"/>
          </a:xfrm>
          <a:prstGeom prst="rect">
            <a:avLst/>
          </a:prstGeom>
          <a:noFill/>
        </p:spPr>
        <p:txBody>
          <a:bodyPr wrap="square" rtlCol="0">
            <a:spAutoFit/>
          </a:bodyPr>
          <a:lstStyle/>
          <a:p>
            <a:r>
              <a:rPr lang="en-DK" sz="1600" dirty="0"/>
              <a:t>FastQ files</a:t>
            </a:r>
          </a:p>
        </p:txBody>
      </p:sp>
      <p:sp>
        <p:nvSpPr>
          <p:cNvPr id="111" name="TextBox 110">
            <a:extLst>
              <a:ext uri="{FF2B5EF4-FFF2-40B4-BE49-F238E27FC236}">
                <a16:creationId xmlns:a16="http://schemas.microsoft.com/office/drawing/2014/main" id="{7D566C88-0C1F-1991-E56C-BD91E2B8329A}"/>
              </a:ext>
            </a:extLst>
          </p:cNvPr>
          <p:cNvSpPr txBox="1"/>
          <p:nvPr/>
        </p:nvSpPr>
        <p:spPr>
          <a:xfrm>
            <a:off x="2941037" y="2646630"/>
            <a:ext cx="1842668" cy="584775"/>
          </a:xfrm>
          <a:prstGeom prst="rect">
            <a:avLst/>
          </a:prstGeom>
          <a:noFill/>
        </p:spPr>
        <p:txBody>
          <a:bodyPr wrap="square" rtlCol="0">
            <a:spAutoFit/>
          </a:bodyPr>
          <a:lstStyle/>
          <a:p>
            <a:r>
              <a:rPr lang="en-DK" sz="1600" dirty="0"/>
              <a:t>High quality host removed reads</a:t>
            </a:r>
          </a:p>
        </p:txBody>
      </p:sp>
      <p:sp>
        <p:nvSpPr>
          <p:cNvPr id="112" name="Right Arrow 111">
            <a:extLst>
              <a:ext uri="{FF2B5EF4-FFF2-40B4-BE49-F238E27FC236}">
                <a16:creationId xmlns:a16="http://schemas.microsoft.com/office/drawing/2014/main" id="{776B0AAA-DAC2-6743-C6FE-6B0A9870B6AD}"/>
              </a:ext>
            </a:extLst>
          </p:cNvPr>
          <p:cNvSpPr/>
          <p:nvPr/>
        </p:nvSpPr>
        <p:spPr>
          <a:xfrm>
            <a:off x="4835226" y="1568584"/>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3" name="TextBox 112">
            <a:extLst>
              <a:ext uri="{FF2B5EF4-FFF2-40B4-BE49-F238E27FC236}">
                <a16:creationId xmlns:a16="http://schemas.microsoft.com/office/drawing/2014/main" id="{2C72DB19-EFEC-162B-ED82-C45B976481CD}"/>
              </a:ext>
            </a:extLst>
          </p:cNvPr>
          <p:cNvSpPr txBox="1"/>
          <p:nvPr/>
        </p:nvSpPr>
        <p:spPr>
          <a:xfrm>
            <a:off x="4557264" y="1199230"/>
            <a:ext cx="1222675" cy="369332"/>
          </a:xfrm>
          <a:prstGeom prst="rect">
            <a:avLst/>
          </a:prstGeom>
          <a:noFill/>
        </p:spPr>
        <p:txBody>
          <a:bodyPr wrap="square" rtlCol="0">
            <a:spAutoFit/>
          </a:bodyPr>
          <a:lstStyle/>
          <a:p>
            <a:r>
              <a:rPr lang="en-DK" b="1" dirty="0"/>
              <a:t>Assembly</a:t>
            </a:r>
          </a:p>
        </p:txBody>
      </p:sp>
      <p:cxnSp>
        <p:nvCxnSpPr>
          <p:cNvPr id="114" name="Straight Connector 113">
            <a:extLst>
              <a:ext uri="{FF2B5EF4-FFF2-40B4-BE49-F238E27FC236}">
                <a16:creationId xmlns:a16="http://schemas.microsoft.com/office/drawing/2014/main" id="{D09B55C9-13F0-5E7D-94E3-0AA68C204793}"/>
              </a:ext>
            </a:extLst>
          </p:cNvPr>
          <p:cNvCxnSpPr>
            <a:cxnSpLocks/>
          </p:cNvCxnSpPr>
          <p:nvPr/>
        </p:nvCxnSpPr>
        <p:spPr>
          <a:xfrm>
            <a:off x="300455" y="3289877"/>
            <a:ext cx="424296" cy="0"/>
          </a:xfrm>
          <a:prstGeom prst="line">
            <a:avLst/>
          </a:prstGeom>
          <a:ln w="381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F4461494-5FE1-FFF5-D8AD-EC4D521D588E}"/>
              </a:ext>
            </a:extLst>
          </p:cNvPr>
          <p:cNvSpPr txBox="1"/>
          <p:nvPr/>
        </p:nvSpPr>
        <p:spPr>
          <a:xfrm>
            <a:off x="705611" y="3028267"/>
            <a:ext cx="1264228" cy="523220"/>
          </a:xfrm>
          <a:prstGeom prst="rect">
            <a:avLst/>
          </a:prstGeom>
          <a:noFill/>
        </p:spPr>
        <p:txBody>
          <a:bodyPr wrap="square" rtlCol="0">
            <a:spAutoFit/>
          </a:bodyPr>
          <a:lstStyle/>
          <a:p>
            <a:r>
              <a:rPr lang="en-DK" sz="1400" dirty="0"/>
              <a:t>Low quality or host reads</a:t>
            </a:r>
          </a:p>
        </p:txBody>
      </p:sp>
      <p:cxnSp>
        <p:nvCxnSpPr>
          <p:cNvPr id="117" name="Straight Connector 116">
            <a:extLst>
              <a:ext uri="{FF2B5EF4-FFF2-40B4-BE49-F238E27FC236}">
                <a16:creationId xmlns:a16="http://schemas.microsoft.com/office/drawing/2014/main" id="{D21BDD49-F854-A97C-16D2-D891FCADDBE3}"/>
              </a:ext>
            </a:extLst>
          </p:cNvPr>
          <p:cNvCxnSpPr>
            <a:cxnSpLocks/>
          </p:cNvCxnSpPr>
          <p:nvPr/>
        </p:nvCxnSpPr>
        <p:spPr>
          <a:xfrm>
            <a:off x="5927148" y="1245346"/>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430AC16E-2227-02D2-B1C6-B1CF6DD4C581}"/>
              </a:ext>
            </a:extLst>
          </p:cNvPr>
          <p:cNvCxnSpPr>
            <a:cxnSpLocks/>
          </p:cNvCxnSpPr>
          <p:nvPr/>
        </p:nvCxnSpPr>
        <p:spPr>
          <a:xfrm>
            <a:off x="6212035" y="1804540"/>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C8155422-A661-CB67-D535-050F85917DD1}"/>
              </a:ext>
            </a:extLst>
          </p:cNvPr>
          <p:cNvCxnSpPr>
            <a:cxnSpLocks/>
          </p:cNvCxnSpPr>
          <p:nvPr/>
        </p:nvCxnSpPr>
        <p:spPr>
          <a:xfrm>
            <a:off x="6068290" y="1319172"/>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DC870DA7-29F8-87D5-5767-31E835FE8A39}"/>
              </a:ext>
            </a:extLst>
          </p:cNvPr>
          <p:cNvCxnSpPr>
            <a:cxnSpLocks/>
          </p:cNvCxnSpPr>
          <p:nvPr/>
        </p:nvCxnSpPr>
        <p:spPr>
          <a:xfrm>
            <a:off x="6407728" y="188394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20F8450A-F8E2-5173-3C0A-CA2022E6D5B8}"/>
              </a:ext>
            </a:extLst>
          </p:cNvPr>
          <p:cNvCxnSpPr>
            <a:cxnSpLocks/>
          </p:cNvCxnSpPr>
          <p:nvPr/>
        </p:nvCxnSpPr>
        <p:spPr>
          <a:xfrm>
            <a:off x="6212035" y="1388447"/>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F132203F-11B6-CDAB-73A1-A7B74F8B3D2D}"/>
              </a:ext>
            </a:extLst>
          </p:cNvPr>
          <p:cNvCxnSpPr>
            <a:cxnSpLocks/>
          </p:cNvCxnSpPr>
          <p:nvPr/>
        </p:nvCxnSpPr>
        <p:spPr>
          <a:xfrm>
            <a:off x="6086477" y="171768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B3BFECCE-5236-4B8E-D46B-2C7281F94EDA}"/>
              </a:ext>
            </a:extLst>
          </p:cNvPr>
          <p:cNvCxnSpPr/>
          <p:nvPr/>
        </p:nvCxnSpPr>
        <p:spPr>
          <a:xfrm>
            <a:off x="5915891" y="1175388"/>
            <a:ext cx="1205345"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E77C59A0-622F-66CA-6A16-45B4579D7353}"/>
              </a:ext>
            </a:extLst>
          </p:cNvPr>
          <p:cNvCxnSpPr/>
          <p:nvPr/>
        </p:nvCxnSpPr>
        <p:spPr>
          <a:xfrm>
            <a:off x="5960054" y="1642759"/>
            <a:ext cx="1205345"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AA76B106-CD47-4707-C341-76B295B79F6A}"/>
              </a:ext>
            </a:extLst>
          </p:cNvPr>
          <p:cNvSpPr txBox="1"/>
          <p:nvPr/>
        </p:nvSpPr>
        <p:spPr>
          <a:xfrm>
            <a:off x="5833633" y="893067"/>
            <a:ext cx="1496298" cy="307777"/>
          </a:xfrm>
          <a:prstGeom prst="rect">
            <a:avLst/>
          </a:prstGeom>
          <a:noFill/>
        </p:spPr>
        <p:txBody>
          <a:bodyPr wrap="square" rtlCol="0">
            <a:spAutoFit/>
          </a:bodyPr>
          <a:lstStyle/>
          <a:p>
            <a:r>
              <a:rPr lang="en-DK" sz="1400" dirty="0">
                <a:solidFill>
                  <a:schemeClr val="tx2">
                    <a:lumMod val="75000"/>
                    <a:lumOff val="25000"/>
                  </a:schemeClr>
                </a:solidFill>
              </a:rPr>
              <a:t>Contig 1</a:t>
            </a:r>
          </a:p>
        </p:txBody>
      </p:sp>
      <p:sp>
        <p:nvSpPr>
          <p:cNvPr id="145" name="TextBox 144">
            <a:extLst>
              <a:ext uri="{FF2B5EF4-FFF2-40B4-BE49-F238E27FC236}">
                <a16:creationId xmlns:a16="http://schemas.microsoft.com/office/drawing/2014/main" id="{4A21074D-773A-BA28-6A48-5A12A45F6665}"/>
              </a:ext>
            </a:extLst>
          </p:cNvPr>
          <p:cNvSpPr txBox="1"/>
          <p:nvPr/>
        </p:nvSpPr>
        <p:spPr>
          <a:xfrm>
            <a:off x="5862210" y="1363962"/>
            <a:ext cx="1496298" cy="307777"/>
          </a:xfrm>
          <a:prstGeom prst="rect">
            <a:avLst/>
          </a:prstGeom>
          <a:noFill/>
        </p:spPr>
        <p:txBody>
          <a:bodyPr wrap="square" rtlCol="0">
            <a:spAutoFit/>
          </a:bodyPr>
          <a:lstStyle/>
          <a:p>
            <a:r>
              <a:rPr lang="en-DK" sz="1400" dirty="0">
                <a:solidFill>
                  <a:schemeClr val="tx2">
                    <a:lumMod val="75000"/>
                    <a:lumOff val="25000"/>
                  </a:schemeClr>
                </a:solidFill>
              </a:rPr>
              <a:t>Contig 2</a:t>
            </a:r>
          </a:p>
        </p:txBody>
      </p:sp>
      <p:cxnSp>
        <p:nvCxnSpPr>
          <p:cNvPr id="146" name="Straight Connector 145">
            <a:extLst>
              <a:ext uri="{FF2B5EF4-FFF2-40B4-BE49-F238E27FC236}">
                <a16:creationId xmlns:a16="http://schemas.microsoft.com/office/drawing/2014/main" id="{1B25293F-F7E3-459E-2C8D-A5E10AE97DCA}"/>
              </a:ext>
            </a:extLst>
          </p:cNvPr>
          <p:cNvCxnSpPr>
            <a:cxnSpLocks/>
          </p:cNvCxnSpPr>
          <p:nvPr/>
        </p:nvCxnSpPr>
        <p:spPr>
          <a:xfrm>
            <a:off x="5521916" y="2374506"/>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76C07F64-56C7-4687-7E30-E8ED840859C3}"/>
              </a:ext>
            </a:extLst>
          </p:cNvPr>
          <p:cNvCxnSpPr>
            <a:cxnSpLocks/>
          </p:cNvCxnSpPr>
          <p:nvPr/>
        </p:nvCxnSpPr>
        <p:spPr>
          <a:xfrm>
            <a:off x="5806803" y="2947555"/>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EA566478-5B3B-50D7-1FA4-204E5DC2F752}"/>
              </a:ext>
            </a:extLst>
          </p:cNvPr>
          <p:cNvCxnSpPr>
            <a:cxnSpLocks/>
          </p:cNvCxnSpPr>
          <p:nvPr/>
        </p:nvCxnSpPr>
        <p:spPr>
          <a:xfrm>
            <a:off x="5663058" y="244833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366E8918-6AC6-A87C-DD26-9D557D699979}"/>
              </a:ext>
            </a:extLst>
          </p:cNvPr>
          <p:cNvCxnSpPr>
            <a:cxnSpLocks/>
          </p:cNvCxnSpPr>
          <p:nvPr/>
        </p:nvCxnSpPr>
        <p:spPr>
          <a:xfrm>
            <a:off x="6002496" y="3026959"/>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F6A8AF16-53B6-340C-0C6E-0C1134B9987B}"/>
              </a:ext>
            </a:extLst>
          </p:cNvPr>
          <p:cNvCxnSpPr>
            <a:cxnSpLocks/>
          </p:cNvCxnSpPr>
          <p:nvPr/>
        </p:nvCxnSpPr>
        <p:spPr>
          <a:xfrm>
            <a:off x="5806803" y="2517607"/>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99F46B45-0372-7C41-B6BB-67826024CF45}"/>
              </a:ext>
            </a:extLst>
          </p:cNvPr>
          <p:cNvCxnSpPr>
            <a:cxnSpLocks/>
          </p:cNvCxnSpPr>
          <p:nvPr/>
        </p:nvCxnSpPr>
        <p:spPr>
          <a:xfrm>
            <a:off x="5681245" y="2860698"/>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8CC07A43-CA57-824A-364E-8CEDFF1CD87D}"/>
              </a:ext>
            </a:extLst>
          </p:cNvPr>
          <p:cNvCxnSpPr/>
          <p:nvPr/>
        </p:nvCxnSpPr>
        <p:spPr>
          <a:xfrm>
            <a:off x="5510659" y="2304548"/>
            <a:ext cx="1205345"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316D96D5-16FD-095A-0124-D249A81D56F5}"/>
              </a:ext>
            </a:extLst>
          </p:cNvPr>
          <p:cNvCxnSpPr/>
          <p:nvPr/>
        </p:nvCxnSpPr>
        <p:spPr>
          <a:xfrm>
            <a:off x="5554822" y="2785774"/>
            <a:ext cx="1205345"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46EE9F05-5FB7-7B6C-49A1-9FB08CB7CFE1}"/>
              </a:ext>
            </a:extLst>
          </p:cNvPr>
          <p:cNvSpPr txBox="1"/>
          <p:nvPr/>
        </p:nvSpPr>
        <p:spPr>
          <a:xfrm>
            <a:off x="5428401" y="2036082"/>
            <a:ext cx="1496298" cy="307777"/>
          </a:xfrm>
          <a:prstGeom prst="rect">
            <a:avLst/>
          </a:prstGeom>
          <a:noFill/>
        </p:spPr>
        <p:txBody>
          <a:bodyPr wrap="square" rtlCol="0">
            <a:spAutoFit/>
          </a:bodyPr>
          <a:lstStyle/>
          <a:p>
            <a:r>
              <a:rPr lang="en-DK" sz="1400" dirty="0">
                <a:solidFill>
                  <a:srgbClr val="FF0000"/>
                </a:solidFill>
              </a:rPr>
              <a:t>Contig 12</a:t>
            </a:r>
          </a:p>
        </p:txBody>
      </p:sp>
      <p:sp>
        <p:nvSpPr>
          <p:cNvPr id="155" name="TextBox 154">
            <a:extLst>
              <a:ext uri="{FF2B5EF4-FFF2-40B4-BE49-F238E27FC236}">
                <a16:creationId xmlns:a16="http://schemas.microsoft.com/office/drawing/2014/main" id="{94B2834B-89BB-94F7-888E-4F9761AB2B9C}"/>
              </a:ext>
            </a:extLst>
          </p:cNvPr>
          <p:cNvSpPr txBox="1"/>
          <p:nvPr/>
        </p:nvSpPr>
        <p:spPr>
          <a:xfrm>
            <a:off x="5456978" y="2506977"/>
            <a:ext cx="1077173" cy="307777"/>
          </a:xfrm>
          <a:prstGeom prst="rect">
            <a:avLst/>
          </a:prstGeom>
          <a:noFill/>
        </p:spPr>
        <p:txBody>
          <a:bodyPr wrap="square" rtlCol="0">
            <a:spAutoFit/>
          </a:bodyPr>
          <a:lstStyle/>
          <a:p>
            <a:r>
              <a:rPr lang="en-DK" sz="1400" dirty="0">
                <a:solidFill>
                  <a:srgbClr val="FF0000"/>
                </a:solidFill>
              </a:rPr>
              <a:t>Contig 44</a:t>
            </a:r>
          </a:p>
        </p:txBody>
      </p:sp>
      <p:cxnSp>
        <p:nvCxnSpPr>
          <p:cNvPr id="156" name="Straight Connector 155">
            <a:extLst>
              <a:ext uri="{FF2B5EF4-FFF2-40B4-BE49-F238E27FC236}">
                <a16:creationId xmlns:a16="http://schemas.microsoft.com/office/drawing/2014/main" id="{6907AB32-4F52-BC4F-C68A-2BB7D5FB5C39}"/>
              </a:ext>
            </a:extLst>
          </p:cNvPr>
          <p:cNvCxnSpPr>
            <a:cxnSpLocks/>
          </p:cNvCxnSpPr>
          <p:nvPr/>
        </p:nvCxnSpPr>
        <p:spPr>
          <a:xfrm>
            <a:off x="6210316" y="3096229"/>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CCA64201-11A1-47CD-6874-27EE4AF756B2}"/>
              </a:ext>
            </a:extLst>
          </p:cNvPr>
          <p:cNvCxnSpPr>
            <a:cxnSpLocks/>
          </p:cNvCxnSpPr>
          <p:nvPr/>
        </p:nvCxnSpPr>
        <p:spPr>
          <a:xfrm>
            <a:off x="7031202" y="2124568"/>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5858EBD1-BA72-2057-F97D-EBA9BDFD996E}"/>
              </a:ext>
            </a:extLst>
          </p:cNvPr>
          <p:cNvCxnSpPr>
            <a:cxnSpLocks/>
          </p:cNvCxnSpPr>
          <p:nvPr/>
        </p:nvCxnSpPr>
        <p:spPr>
          <a:xfrm>
            <a:off x="7316089" y="2697617"/>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46C31AF9-CA11-2B7C-9F2A-4784589CDDA8}"/>
              </a:ext>
            </a:extLst>
          </p:cNvPr>
          <p:cNvCxnSpPr>
            <a:cxnSpLocks/>
          </p:cNvCxnSpPr>
          <p:nvPr/>
        </p:nvCxnSpPr>
        <p:spPr>
          <a:xfrm>
            <a:off x="7172344" y="219839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1E29449A-45A6-04D0-11B3-651EF9FD8F5E}"/>
              </a:ext>
            </a:extLst>
          </p:cNvPr>
          <p:cNvCxnSpPr>
            <a:cxnSpLocks/>
          </p:cNvCxnSpPr>
          <p:nvPr/>
        </p:nvCxnSpPr>
        <p:spPr>
          <a:xfrm>
            <a:off x="7511782" y="2777021"/>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D6F1A01A-0CD1-3E29-4605-7249DDEB8214}"/>
              </a:ext>
            </a:extLst>
          </p:cNvPr>
          <p:cNvCxnSpPr>
            <a:cxnSpLocks/>
          </p:cNvCxnSpPr>
          <p:nvPr/>
        </p:nvCxnSpPr>
        <p:spPr>
          <a:xfrm>
            <a:off x="7316089" y="2267669"/>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37E9825C-4821-5E2D-CECB-6E4C5F37F547}"/>
              </a:ext>
            </a:extLst>
          </p:cNvPr>
          <p:cNvCxnSpPr>
            <a:cxnSpLocks/>
          </p:cNvCxnSpPr>
          <p:nvPr/>
        </p:nvCxnSpPr>
        <p:spPr>
          <a:xfrm>
            <a:off x="7190531" y="2610760"/>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F0FF9637-84BD-A58A-B627-166AFDF6A96B}"/>
              </a:ext>
            </a:extLst>
          </p:cNvPr>
          <p:cNvCxnSpPr/>
          <p:nvPr/>
        </p:nvCxnSpPr>
        <p:spPr>
          <a:xfrm>
            <a:off x="7019945" y="2054610"/>
            <a:ext cx="1205345"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C5C1731D-DA91-DABE-9C49-370AC4CF3AF4}"/>
              </a:ext>
            </a:extLst>
          </p:cNvPr>
          <p:cNvCxnSpPr/>
          <p:nvPr/>
        </p:nvCxnSpPr>
        <p:spPr>
          <a:xfrm>
            <a:off x="7064108" y="2535836"/>
            <a:ext cx="1205345"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2CC53E2C-190A-F26A-9484-BD2DFEF27743}"/>
              </a:ext>
            </a:extLst>
          </p:cNvPr>
          <p:cNvSpPr txBox="1"/>
          <p:nvPr/>
        </p:nvSpPr>
        <p:spPr>
          <a:xfrm>
            <a:off x="6924699" y="2257039"/>
            <a:ext cx="1077173" cy="307777"/>
          </a:xfrm>
          <a:prstGeom prst="rect">
            <a:avLst/>
          </a:prstGeom>
          <a:noFill/>
        </p:spPr>
        <p:txBody>
          <a:bodyPr wrap="square" rtlCol="0">
            <a:spAutoFit/>
          </a:bodyPr>
          <a:lstStyle/>
          <a:p>
            <a:r>
              <a:rPr lang="en-DK" sz="1400" dirty="0">
                <a:solidFill>
                  <a:schemeClr val="accent3"/>
                </a:solidFill>
              </a:rPr>
              <a:t>Contig 77</a:t>
            </a:r>
          </a:p>
        </p:txBody>
      </p:sp>
      <p:cxnSp>
        <p:nvCxnSpPr>
          <p:cNvPr id="166" name="Straight Connector 165">
            <a:extLst>
              <a:ext uri="{FF2B5EF4-FFF2-40B4-BE49-F238E27FC236}">
                <a16:creationId xmlns:a16="http://schemas.microsoft.com/office/drawing/2014/main" id="{C7A5A834-3486-BDD4-BA7A-46908CB62166}"/>
              </a:ext>
            </a:extLst>
          </p:cNvPr>
          <p:cNvCxnSpPr>
            <a:cxnSpLocks/>
          </p:cNvCxnSpPr>
          <p:nvPr/>
        </p:nvCxnSpPr>
        <p:spPr>
          <a:xfrm>
            <a:off x="7719602" y="2846291"/>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167" name="TextBox 166">
            <a:extLst>
              <a:ext uri="{FF2B5EF4-FFF2-40B4-BE49-F238E27FC236}">
                <a16:creationId xmlns:a16="http://schemas.microsoft.com/office/drawing/2014/main" id="{D9856BA9-B7F0-510D-A380-AE6EE27B4AAF}"/>
              </a:ext>
            </a:extLst>
          </p:cNvPr>
          <p:cNvSpPr txBox="1"/>
          <p:nvPr/>
        </p:nvSpPr>
        <p:spPr>
          <a:xfrm>
            <a:off x="6938552" y="1785982"/>
            <a:ext cx="1077173" cy="307777"/>
          </a:xfrm>
          <a:prstGeom prst="rect">
            <a:avLst/>
          </a:prstGeom>
          <a:noFill/>
        </p:spPr>
        <p:txBody>
          <a:bodyPr wrap="square" rtlCol="0">
            <a:spAutoFit/>
          </a:bodyPr>
          <a:lstStyle/>
          <a:p>
            <a:r>
              <a:rPr lang="en-DK" sz="1400" dirty="0">
                <a:solidFill>
                  <a:schemeClr val="accent3"/>
                </a:solidFill>
              </a:rPr>
              <a:t>Contig 23</a:t>
            </a:r>
          </a:p>
        </p:txBody>
      </p:sp>
      <p:sp>
        <p:nvSpPr>
          <p:cNvPr id="168" name="TextBox 167">
            <a:extLst>
              <a:ext uri="{FF2B5EF4-FFF2-40B4-BE49-F238E27FC236}">
                <a16:creationId xmlns:a16="http://schemas.microsoft.com/office/drawing/2014/main" id="{643E5FF5-95D0-8BAE-D994-188566244676}"/>
              </a:ext>
            </a:extLst>
          </p:cNvPr>
          <p:cNvSpPr txBox="1"/>
          <p:nvPr/>
        </p:nvSpPr>
        <p:spPr>
          <a:xfrm>
            <a:off x="6426792" y="3140075"/>
            <a:ext cx="1588549" cy="584775"/>
          </a:xfrm>
          <a:prstGeom prst="rect">
            <a:avLst/>
          </a:prstGeom>
          <a:noFill/>
        </p:spPr>
        <p:txBody>
          <a:bodyPr wrap="square" rtlCol="0">
            <a:spAutoFit/>
          </a:bodyPr>
          <a:lstStyle/>
          <a:p>
            <a:r>
              <a:rPr lang="en-DK" sz="1600" dirty="0"/>
              <a:t>Assembled contigs</a:t>
            </a:r>
          </a:p>
        </p:txBody>
      </p:sp>
      <p:sp>
        <p:nvSpPr>
          <p:cNvPr id="169" name="Right Arrow 168">
            <a:extLst>
              <a:ext uri="{FF2B5EF4-FFF2-40B4-BE49-F238E27FC236}">
                <a16:creationId xmlns:a16="http://schemas.microsoft.com/office/drawing/2014/main" id="{7BFF15B3-A69D-E619-1BCE-871F20F24889}"/>
              </a:ext>
            </a:extLst>
          </p:cNvPr>
          <p:cNvSpPr/>
          <p:nvPr/>
        </p:nvSpPr>
        <p:spPr>
          <a:xfrm>
            <a:off x="8022658" y="1568584"/>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0" name="TextBox 169">
            <a:extLst>
              <a:ext uri="{FF2B5EF4-FFF2-40B4-BE49-F238E27FC236}">
                <a16:creationId xmlns:a16="http://schemas.microsoft.com/office/drawing/2014/main" id="{185AEC55-F88C-93E7-BF33-8D911D49EAE6}"/>
              </a:ext>
            </a:extLst>
          </p:cNvPr>
          <p:cNvSpPr txBox="1"/>
          <p:nvPr/>
        </p:nvSpPr>
        <p:spPr>
          <a:xfrm>
            <a:off x="7744696" y="1199230"/>
            <a:ext cx="1222675" cy="369332"/>
          </a:xfrm>
          <a:prstGeom prst="rect">
            <a:avLst/>
          </a:prstGeom>
          <a:noFill/>
        </p:spPr>
        <p:txBody>
          <a:bodyPr wrap="square" rtlCol="0">
            <a:spAutoFit/>
          </a:bodyPr>
          <a:lstStyle/>
          <a:p>
            <a:r>
              <a:rPr lang="en-DK" b="1" dirty="0"/>
              <a:t>Binning</a:t>
            </a:r>
          </a:p>
        </p:txBody>
      </p:sp>
      <p:sp>
        <p:nvSpPr>
          <p:cNvPr id="180" name="TextBox 179">
            <a:extLst>
              <a:ext uri="{FF2B5EF4-FFF2-40B4-BE49-F238E27FC236}">
                <a16:creationId xmlns:a16="http://schemas.microsoft.com/office/drawing/2014/main" id="{9F274DE8-ECCC-0B3F-B060-00911BAD2FEF}"/>
              </a:ext>
            </a:extLst>
          </p:cNvPr>
          <p:cNvSpPr txBox="1"/>
          <p:nvPr/>
        </p:nvSpPr>
        <p:spPr>
          <a:xfrm>
            <a:off x="8348308" y="3081539"/>
            <a:ext cx="3843692" cy="338554"/>
          </a:xfrm>
          <a:prstGeom prst="rect">
            <a:avLst/>
          </a:prstGeom>
          <a:noFill/>
        </p:spPr>
        <p:txBody>
          <a:bodyPr wrap="square" rtlCol="0">
            <a:spAutoFit/>
          </a:bodyPr>
          <a:lstStyle/>
          <a:p>
            <a:r>
              <a:rPr lang="en-DK" sz="1600" dirty="0"/>
              <a:t>Metagenome-assembled genomes (MAG)</a:t>
            </a:r>
          </a:p>
        </p:txBody>
      </p:sp>
      <p:sp>
        <p:nvSpPr>
          <p:cNvPr id="181" name="Right Arrow 180">
            <a:extLst>
              <a:ext uri="{FF2B5EF4-FFF2-40B4-BE49-F238E27FC236}">
                <a16:creationId xmlns:a16="http://schemas.microsoft.com/office/drawing/2014/main" id="{E31AEED8-8C06-E379-97E5-F9FB03682331}"/>
              </a:ext>
            </a:extLst>
          </p:cNvPr>
          <p:cNvSpPr/>
          <p:nvPr/>
        </p:nvSpPr>
        <p:spPr>
          <a:xfrm rot="5400000">
            <a:off x="9228385" y="3603430"/>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2" name="TextBox 181">
            <a:extLst>
              <a:ext uri="{FF2B5EF4-FFF2-40B4-BE49-F238E27FC236}">
                <a16:creationId xmlns:a16="http://schemas.microsoft.com/office/drawing/2014/main" id="{CC6524B8-72A5-1E7D-B6E3-7BFEB67FE0CD}"/>
              </a:ext>
            </a:extLst>
          </p:cNvPr>
          <p:cNvSpPr txBox="1"/>
          <p:nvPr/>
        </p:nvSpPr>
        <p:spPr>
          <a:xfrm>
            <a:off x="9867563" y="3475154"/>
            <a:ext cx="1774342" cy="369332"/>
          </a:xfrm>
          <a:prstGeom prst="rect">
            <a:avLst/>
          </a:prstGeom>
          <a:noFill/>
        </p:spPr>
        <p:txBody>
          <a:bodyPr wrap="square" rtlCol="0">
            <a:spAutoFit/>
          </a:bodyPr>
          <a:lstStyle/>
          <a:p>
            <a:r>
              <a:rPr lang="en-DK" b="1" dirty="0"/>
              <a:t>Bin refinement</a:t>
            </a:r>
          </a:p>
        </p:txBody>
      </p:sp>
      <p:sp>
        <p:nvSpPr>
          <p:cNvPr id="183" name="Right Arrow 182">
            <a:extLst>
              <a:ext uri="{FF2B5EF4-FFF2-40B4-BE49-F238E27FC236}">
                <a16:creationId xmlns:a16="http://schemas.microsoft.com/office/drawing/2014/main" id="{95C17C02-1D55-F5CC-D975-80A7E201336B}"/>
              </a:ext>
            </a:extLst>
          </p:cNvPr>
          <p:cNvSpPr/>
          <p:nvPr/>
        </p:nvSpPr>
        <p:spPr>
          <a:xfrm rot="5400000">
            <a:off x="9228385" y="4226495"/>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4" name="TextBox 183">
            <a:extLst>
              <a:ext uri="{FF2B5EF4-FFF2-40B4-BE49-F238E27FC236}">
                <a16:creationId xmlns:a16="http://schemas.microsoft.com/office/drawing/2014/main" id="{ED614207-ECEA-1FC4-D401-812AC99E5383}"/>
              </a:ext>
            </a:extLst>
          </p:cNvPr>
          <p:cNvSpPr txBox="1"/>
          <p:nvPr/>
        </p:nvSpPr>
        <p:spPr>
          <a:xfrm>
            <a:off x="9844185" y="3871111"/>
            <a:ext cx="2311151" cy="923330"/>
          </a:xfrm>
          <a:prstGeom prst="rect">
            <a:avLst/>
          </a:prstGeom>
          <a:noFill/>
        </p:spPr>
        <p:txBody>
          <a:bodyPr wrap="square" rtlCol="0">
            <a:spAutoFit/>
          </a:bodyPr>
          <a:lstStyle/>
          <a:p>
            <a:r>
              <a:rPr lang="en-DK" b="1" dirty="0"/>
              <a:t>Quality assessment (completeness and contamination)</a:t>
            </a:r>
          </a:p>
        </p:txBody>
      </p:sp>
      <p:sp>
        <p:nvSpPr>
          <p:cNvPr id="194" name="TextBox 193">
            <a:extLst>
              <a:ext uri="{FF2B5EF4-FFF2-40B4-BE49-F238E27FC236}">
                <a16:creationId xmlns:a16="http://schemas.microsoft.com/office/drawing/2014/main" id="{BF1C5543-E7D8-FA7E-899E-D9514EA6DE8F}"/>
              </a:ext>
            </a:extLst>
          </p:cNvPr>
          <p:cNvSpPr txBox="1"/>
          <p:nvPr/>
        </p:nvSpPr>
        <p:spPr>
          <a:xfrm>
            <a:off x="6760167" y="6119336"/>
            <a:ext cx="2119749" cy="954107"/>
          </a:xfrm>
          <a:prstGeom prst="rect">
            <a:avLst/>
          </a:prstGeom>
          <a:noFill/>
        </p:spPr>
        <p:txBody>
          <a:bodyPr wrap="square" rtlCol="0">
            <a:spAutoFit/>
          </a:bodyPr>
          <a:lstStyle/>
          <a:p>
            <a:r>
              <a:rPr lang="en-GB" sz="1400" b="1" dirty="0"/>
              <a:t>Medium-quality MAG</a:t>
            </a:r>
            <a:r>
              <a:rPr lang="en-GB" sz="1400" dirty="0"/>
              <a:t>: &gt;50% completeness, &lt;10% contamination</a:t>
            </a:r>
          </a:p>
          <a:p>
            <a:endParaRPr lang="en-DK" sz="1400" dirty="0"/>
          </a:p>
        </p:txBody>
      </p:sp>
      <p:sp>
        <p:nvSpPr>
          <p:cNvPr id="195" name="Right Arrow 194">
            <a:extLst>
              <a:ext uri="{FF2B5EF4-FFF2-40B4-BE49-F238E27FC236}">
                <a16:creationId xmlns:a16="http://schemas.microsoft.com/office/drawing/2014/main" id="{D6A89F6F-690D-97D9-5897-0E8EBDB73E00}"/>
              </a:ext>
            </a:extLst>
          </p:cNvPr>
          <p:cNvSpPr/>
          <p:nvPr/>
        </p:nvSpPr>
        <p:spPr>
          <a:xfrm rot="10800000">
            <a:off x="6180879" y="5496660"/>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6" name="TextBox 195">
            <a:extLst>
              <a:ext uri="{FF2B5EF4-FFF2-40B4-BE49-F238E27FC236}">
                <a16:creationId xmlns:a16="http://schemas.microsoft.com/office/drawing/2014/main" id="{E0F5E71E-8039-7AEA-CE34-5A72CF34212D}"/>
              </a:ext>
            </a:extLst>
          </p:cNvPr>
          <p:cNvSpPr txBox="1"/>
          <p:nvPr/>
        </p:nvSpPr>
        <p:spPr>
          <a:xfrm>
            <a:off x="5779939" y="4619949"/>
            <a:ext cx="1676451" cy="646331"/>
          </a:xfrm>
          <a:prstGeom prst="rect">
            <a:avLst/>
          </a:prstGeom>
          <a:noFill/>
        </p:spPr>
        <p:txBody>
          <a:bodyPr wrap="square" rtlCol="0">
            <a:spAutoFit/>
          </a:bodyPr>
          <a:lstStyle/>
          <a:p>
            <a:r>
              <a:rPr lang="en-DK" b="1" dirty="0"/>
              <a:t>Taxonomic classification</a:t>
            </a:r>
          </a:p>
        </p:txBody>
      </p:sp>
      <p:sp>
        <p:nvSpPr>
          <p:cNvPr id="198" name="TextBox 197">
            <a:extLst>
              <a:ext uri="{FF2B5EF4-FFF2-40B4-BE49-F238E27FC236}">
                <a16:creationId xmlns:a16="http://schemas.microsoft.com/office/drawing/2014/main" id="{CEDA21E2-4609-E1DE-4071-30FDE2DAC322}"/>
              </a:ext>
            </a:extLst>
          </p:cNvPr>
          <p:cNvSpPr txBox="1"/>
          <p:nvPr/>
        </p:nvSpPr>
        <p:spPr>
          <a:xfrm>
            <a:off x="9689051" y="6119336"/>
            <a:ext cx="1803354" cy="738664"/>
          </a:xfrm>
          <a:prstGeom prst="rect">
            <a:avLst/>
          </a:prstGeom>
          <a:noFill/>
        </p:spPr>
        <p:txBody>
          <a:bodyPr wrap="square" rtlCol="0">
            <a:spAutoFit/>
          </a:bodyPr>
          <a:lstStyle/>
          <a:p>
            <a:r>
              <a:rPr lang="en-GB" sz="1400" b="1" dirty="0"/>
              <a:t>High-quality MAG</a:t>
            </a:r>
            <a:r>
              <a:rPr lang="en-GB" sz="1400" dirty="0"/>
              <a:t>: &gt;90% completeness, &lt;5% contamination</a:t>
            </a:r>
          </a:p>
        </p:txBody>
      </p:sp>
      <p:cxnSp>
        <p:nvCxnSpPr>
          <p:cNvPr id="200" name="Straight Connector 199">
            <a:extLst>
              <a:ext uri="{FF2B5EF4-FFF2-40B4-BE49-F238E27FC236}">
                <a16:creationId xmlns:a16="http://schemas.microsoft.com/office/drawing/2014/main" id="{40A8C1F6-A702-F81F-8C1D-FDCE0E8CC293}"/>
              </a:ext>
            </a:extLst>
          </p:cNvPr>
          <p:cNvCxnSpPr/>
          <p:nvPr/>
        </p:nvCxnSpPr>
        <p:spPr>
          <a:xfrm>
            <a:off x="8833978" y="5072254"/>
            <a:ext cx="0" cy="1551563"/>
          </a:xfrm>
          <a:prstGeom prst="line">
            <a:avLst/>
          </a:prstGeom>
          <a:ln w="25400">
            <a:prstDash val="sysDash"/>
          </a:ln>
        </p:spPr>
        <p:style>
          <a:lnRef idx="2">
            <a:schemeClr val="accent1"/>
          </a:lnRef>
          <a:fillRef idx="0">
            <a:schemeClr val="accent1"/>
          </a:fillRef>
          <a:effectRef idx="1">
            <a:schemeClr val="accent1"/>
          </a:effectRef>
          <a:fontRef idx="minor">
            <a:schemeClr val="tx1"/>
          </a:fontRef>
        </p:style>
      </p:cxnSp>
      <p:grpSp>
        <p:nvGrpSpPr>
          <p:cNvPr id="204" name="Group 203">
            <a:extLst>
              <a:ext uri="{FF2B5EF4-FFF2-40B4-BE49-F238E27FC236}">
                <a16:creationId xmlns:a16="http://schemas.microsoft.com/office/drawing/2014/main" id="{C737D104-FC89-A737-C38A-138D2CD8212A}"/>
              </a:ext>
            </a:extLst>
          </p:cNvPr>
          <p:cNvGrpSpPr/>
          <p:nvPr/>
        </p:nvGrpSpPr>
        <p:grpSpPr>
          <a:xfrm>
            <a:off x="9447956" y="629622"/>
            <a:ext cx="1152483" cy="1140630"/>
            <a:chOff x="9447956" y="629622"/>
            <a:chExt cx="1152483" cy="1140630"/>
          </a:xfrm>
        </p:grpSpPr>
        <p:sp>
          <p:nvSpPr>
            <p:cNvPr id="171" name="Oval 170">
              <a:extLst>
                <a:ext uri="{FF2B5EF4-FFF2-40B4-BE49-F238E27FC236}">
                  <a16:creationId xmlns:a16="http://schemas.microsoft.com/office/drawing/2014/main" id="{F817B51C-E46D-45A9-562B-2E4852128FFC}"/>
                </a:ext>
              </a:extLst>
            </p:cNvPr>
            <p:cNvSpPr/>
            <p:nvPr/>
          </p:nvSpPr>
          <p:spPr>
            <a:xfrm>
              <a:off x="9447956" y="814288"/>
              <a:ext cx="955964" cy="955964"/>
            </a:xfrm>
            <a:prstGeom prst="ellipse">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4" name="TextBox 173">
              <a:extLst>
                <a:ext uri="{FF2B5EF4-FFF2-40B4-BE49-F238E27FC236}">
                  <a16:creationId xmlns:a16="http://schemas.microsoft.com/office/drawing/2014/main" id="{95F73257-EA51-49D3-6D6A-1D21CB5B62E6}"/>
                </a:ext>
              </a:extLst>
            </p:cNvPr>
            <p:cNvSpPr txBox="1"/>
            <p:nvPr/>
          </p:nvSpPr>
          <p:spPr>
            <a:xfrm>
              <a:off x="9789942" y="629622"/>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C1</a:t>
              </a:r>
            </a:p>
          </p:txBody>
        </p:sp>
        <p:sp>
          <p:nvSpPr>
            <p:cNvPr id="175" name="TextBox 174">
              <a:extLst>
                <a:ext uri="{FF2B5EF4-FFF2-40B4-BE49-F238E27FC236}">
                  <a16:creationId xmlns:a16="http://schemas.microsoft.com/office/drawing/2014/main" id="{B86CA8EC-CFAA-B1EF-3313-466AD6032650}"/>
                </a:ext>
              </a:extLst>
            </p:cNvPr>
            <p:cNvSpPr txBox="1"/>
            <p:nvPr/>
          </p:nvSpPr>
          <p:spPr>
            <a:xfrm>
              <a:off x="10122457" y="879003"/>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C2</a:t>
              </a:r>
            </a:p>
          </p:txBody>
        </p:sp>
        <p:sp>
          <p:nvSpPr>
            <p:cNvPr id="201" name="TextBox 200">
              <a:extLst>
                <a:ext uri="{FF2B5EF4-FFF2-40B4-BE49-F238E27FC236}">
                  <a16:creationId xmlns:a16="http://schemas.microsoft.com/office/drawing/2014/main" id="{6C61967B-4AC5-F3ED-DA95-6261C6F95423}"/>
                </a:ext>
              </a:extLst>
            </p:cNvPr>
            <p:cNvSpPr txBox="1"/>
            <p:nvPr/>
          </p:nvSpPr>
          <p:spPr>
            <a:xfrm>
              <a:off x="9587378" y="1126404"/>
              <a:ext cx="725651" cy="338554"/>
            </a:xfrm>
            <a:prstGeom prst="rect">
              <a:avLst/>
            </a:prstGeom>
            <a:noFill/>
          </p:spPr>
          <p:txBody>
            <a:bodyPr wrap="square" rtlCol="0">
              <a:spAutoFit/>
            </a:bodyPr>
            <a:lstStyle/>
            <a:p>
              <a:r>
                <a:rPr lang="en-DK" sz="1600" dirty="0">
                  <a:solidFill>
                    <a:schemeClr val="tx2">
                      <a:lumMod val="75000"/>
                      <a:lumOff val="25000"/>
                    </a:schemeClr>
                  </a:solidFill>
                </a:rPr>
                <a:t>MAG1</a:t>
              </a:r>
            </a:p>
          </p:txBody>
        </p:sp>
      </p:grpSp>
      <p:grpSp>
        <p:nvGrpSpPr>
          <p:cNvPr id="216" name="Group 215">
            <a:extLst>
              <a:ext uri="{FF2B5EF4-FFF2-40B4-BE49-F238E27FC236}">
                <a16:creationId xmlns:a16="http://schemas.microsoft.com/office/drawing/2014/main" id="{521F4357-045C-8570-AFA5-3B94B341F053}"/>
              </a:ext>
            </a:extLst>
          </p:cNvPr>
          <p:cNvGrpSpPr/>
          <p:nvPr/>
        </p:nvGrpSpPr>
        <p:grpSpPr>
          <a:xfrm>
            <a:off x="8833978" y="1723277"/>
            <a:ext cx="1172485" cy="1096911"/>
            <a:chOff x="8833978" y="1723277"/>
            <a:chExt cx="1172485" cy="1096911"/>
          </a:xfrm>
        </p:grpSpPr>
        <p:sp>
          <p:nvSpPr>
            <p:cNvPr id="173" name="Oval 172">
              <a:extLst>
                <a:ext uri="{FF2B5EF4-FFF2-40B4-BE49-F238E27FC236}">
                  <a16:creationId xmlns:a16="http://schemas.microsoft.com/office/drawing/2014/main" id="{528AF469-79A3-70A6-B65F-DCC8DB249A59}"/>
                </a:ext>
              </a:extLst>
            </p:cNvPr>
            <p:cNvSpPr/>
            <p:nvPr/>
          </p:nvSpPr>
          <p:spPr>
            <a:xfrm>
              <a:off x="8833978" y="1864224"/>
              <a:ext cx="955964" cy="955964"/>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8" name="TextBox 177">
              <a:extLst>
                <a:ext uri="{FF2B5EF4-FFF2-40B4-BE49-F238E27FC236}">
                  <a16:creationId xmlns:a16="http://schemas.microsoft.com/office/drawing/2014/main" id="{AC2C4D6C-442B-CF69-104E-731313CDFE9B}"/>
                </a:ext>
              </a:extLst>
            </p:cNvPr>
            <p:cNvSpPr txBox="1"/>
            <p:nvPr/>
          </p:nvSpPr>
          <p:spPr>
            <a:xfrm>
              <a:off x="9001126" y="1723277"/>
              <a:ext cx="664995" cy="307777"/>
            </a:xfrm>
            <a:prstGeom prst="rect">
              <a:avLst/>
            </a:prstGeom>
            <a:solidFill>
              <a:schemeClr val="bg1"/>
            </a:solidFill>
          </p:spPr>
          <p:txBody>
            <a:bodyPr wrap="square" rtlCol="0">
              <a:spAutoFit/>
            </a:bodyPr>
            <a:lstStyle/>
            <a:p>
              <a:r>
                <a:rPr lang="en-DK" sz="1400" dirty="0">
                  <a:solidFill>
                    <a:schemeClr val="accent3">
                      <a:lumMod val="75000"/>
                    </a:schemeClr>
                  </a:solidFill>
                </a:rPr>
                <a:t>C23</a:t>
              </a:r>
            </a:p>
          </p:txBody>
        </p:sp>
        <p:sp>
          <p:nvSpPr>
            <p:cNvPr id="179" name="TextBox 178">
              <a:extLst>
                <a:ext uri="{FF2B5EF4-FFF2-40B4-BE49-F238E27FC236}">
                  <a16:creationId xmlns:a16="http://schemas.microsoft.com/office/drawing/2014/main" id="{BC428F90-01E8-D57C-E9F2-D813394133CB}"/>
                </a:ext>
              </a:extLst>
            </p:cNvPr>
            <p:cNvSpPr txBox="1"/>
            <p:nvPr/>
          </p:nvSpPr>
          <p:spPr>
            <a:xfrm>
              <a:off x="9501619" y="2291166"/>
              <a:ext cx="504844" cy="307777"/>
            </a:xfrm>
            <a:prstGeom prst="rect">
              <a:avLst/>
            </a:prstGeom>
            <a:solidFill>
              <a:schemeClr val="bg1"/>
            </a:solidFill>
          </p:spPr>
          <p:txBody>
            <a:bodyPr wrap="square" rtlCol="0">
              <a:spAutoFit/>
            </a:bodyPr>
            <a:lstStyle/>
            <a:p>
              <a:r>
                <a:rPr lang="en-DK" sz="1400" dirty="0">
                  <a:solidFill>
                    <a:schemeClr val="accent3">
                      <a:lumMod val="75000"/>
                    </a:schemeClr>
                  </a:solidFill>
                </a:rPr>
                <a:t>C77</a:t>
              </a:r>
            </a:p>
          </p:txBody>
        </p:sp>
        <p:sp>
          <p:nvSpPr>
            <p:cNvPr id="202" name="TextBox 201">
              <a:extLst>
                <a:ext uri="{FF2B5EF4-FFF2-40B4-BE49-F238E27FC236}">
                  <a16:creationId xmlns:a16="http://schemas.microsoft.com/office/drawing/2014/main" id="{C4D20815-71AF-1F15-67B4-D84F31E54E1F}"/>
                </a:ext>
              </a:extLst>
            </p:cNvPr>
            <p:cNvSpPr txBox="1"/>
            <p:nvPr/>
          </p:nvSpPr>
          <p:spPr>
            <a:xfrm>
              <a:off x="8883320" y="2151647"/>
              <a:ext cx="861674" cy="338554"/>
            </a:xfrm>
            <a:prstGeom prst="rect">
              <a:avLst/>
            </a:prstGeom>
            <a:noFill/>
          </p:spPr>
          <p:txBody>
            <a:bodyPr wrap="square" rtlCol="0">
              <a:spAutoFit/>
            </a:bodyPr>
            <a:lstStyle/>
            <a:p>
              <a:r>
                <a:rPr lang="en-DK" sz="1600" dirty="0">
                  <a:solidFill>
                    <a:schemeClr val="accent3"/>
                  </a:solidFill>
                </a:rPr>
                <a:t>MAG30</a:t>
              </a:r>
            </a:p>
          </p:txBody>
        </p:sp>
      </p:grpSp>
      <p:grpSp>
        <p:nvGrpSpPr>
          <p:cNvPr id="210" name="Group 209">
            <a:extLst>
              <a:ext uri="{FF2B5EF4-FFF2-40B4-BE49-F238E27FC236}">
                <a16:creationId xmlns:a16="http://schemas.microsoft.com/office/drawing/2014/main" id="{94339295-8B86-C9AC-ABFD-AEE2FA58A491}"/>
              </a:ext>
            </a:extLst>
          </p:cNvPr>
          <p:cNvGrpSpPr/>
          <p:nvPr/>
        </p:nvGrpSpPr>
        <p:grpSpPr>
          <a:xfrm>
            <a:off x="10012542" y="2018113"/>
            <a:ext cx="1120482" cy="1039079"/>
            <a:chOff x="10012542" y="2018113"/>
            <a:chExt cx="1120482" cy="1039079"/>
          </a:xfrm>
        </p:grpSpPr>
        <p:sp>
          <p:nvSpPr>
            <p:cNvPr id="172" name="Oval 171">
              <a:extLst>
                <a:ext uri="{FF2B5EF4-FFF2-40B4-BE49-F238E27FC236}">
                  <a16:creationId xmlns:a16="http://schemas.microsoft.com/office/drawing/2014/main" id="{26161EFA-982F-1493-1EB8-A8FFEF08A2FF}"/>
                </a:ext>
              </a:extLst>
            </p:cNvPr>
            <p:cNvSpPr/>
            <p:nvPr/>
          </p:nvSpPr>
          <p:spPr>
            <a:xfrm>
              <a:off x="10177060" y="2018113"/>
              <a:ext cx="955964" cy="95596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6" name="TextBox 175">
              <a:extLst>
                <a:ext uri="{FF2B5EF4-FFF2-40B4-BE49-F238E27FC236}">
                  <a16:creationId xmlns:a16="http://schemas.microsoft.com/office/drawing/2014/main" id="{1151EFC2-ACB9-4B1A-329C-9A6242D829D7}"/>
                </a:ext>
              </a:extLst>
            </p:cNvPr>
            <p:cNvSpPr txBox="1"/>
            <p:nvPr/>
          </p:nvSpPr>
          <p:spPr>
            <a:xfrm>
              <a:off x="10012542" y="2181524"/>
              <a:ext cx="664995" cy="307777"/>
            </a:xfrm>
            <a:prstGeom prst="rect">
              <a:avLst/>
            </a:prstGeom>
            <a:solidFill>
              <a:schemeClr val="bg1"/>
            </a:solidFill>
          </p:spPr>
          <p:txBody>
            <a:bodyPr wrap="square" rtlCol="0">
              <a:spAutoFit/>
            </a:bodyPr>
            <a:lstStyle/>
            <a:p>
              <a:r>
                <a:rPr lang="en-DK" sz="1400" dirty="0">
                  <a:solidFill>
                    <a:srgbClr val="FF0000"/>
                  </a:solidFill>
                </a:rPr>
                <a:t>C12</a:t>
              </a:r>
            </a:p>
          </p:txBody>
        </p:sp>
        <p:sp>
          <p:nvSpPr>
            <p:cNvPr id="177" name="TextBox 176">
              <a:extLst>
                <a:ext uri="{FF2B5EF4-FFF2-40B4-BE49-F238E27FC236}">
                  <a16:creationId xmlns:a16="http://schemas.microsoft.com/office/drawing/2014/main" id="{D2395398-36EC-F323-68FA-1C45A7D3BF53}"/>
                </a:ext>
              </a:extLst>
            </p:cNvPr>
            <p:cNvSpPr txBox="1"/>
            <p:nvPr/>
          </p:nvSpPr>
          <p:spPr>
            <a:xfrm>
              <a:off x="10397844" y="2749415"/>
              <a:ext cx="568919" cy="307777"/>
            </a:xfrm>
            <a:prstGeom prst="rect">
              <a:avLst/>
            </a:prstGeom>
            <a:solidFill>
              <a:schemeClr val="bg1"/>
            </a:solidFill>
          </p:spPr>
          <p:txBody>
            <a:bodyPr wrap="square" rtlCol="0">
              <a:spAutoFit/>
            </a:bodyPr>
            <a:lstStyle/>
            <a:p>
              <a:r>
                <a:rPr lang="en-DK" sz="1400" dirty="0">
                  <a:solidFill>
                    <a:srgbClr val="FF0000"/>
                  </a:solidFill>
                </a:rPr>
                <a:t>C44</a:t>
              </a:r>
            </a:p>
          </p:txBody>
        </p:sp>
        <p:sp>
          <p:nvSpPr>
            <p:cNvPr id="203" name="TextBox 202">
              <a:extLst>
                <a:ext uri="{FF2B5EF4-FFF2-40B4-BE49-F238E27FC236}">
                  <a16:creationId xmlns:a16="http://schemas.microsoft.com/office/drawing/2014/main" id="{06CAFBC6-10EE-27C1-9990-6A13BD932572}"/>
                </a:ext>
              </a:extLst>
            </p:cNvPr>
            <p:cNvSpPr txBox="1"/>
            <p:nvPr/>
          </p:nvSpPr>
          <p:spPr>
            <a:xfrm>
              <a:off x="10254927" y="2345612"/>
              <a:ext cx="861674" cy="338554"/>
            </a:xfrm>
            <a:prstGeom prst="rect">
              <a:avLst/>
            </a:prstGeom>
            <a:noFill/>
          </p:spPr>
          <p:txBody>
            <a:bodyPr wrap="square" rtlCol="0">
              <a:spAutoFit/>
            </a:bodyPr>
            <a:lstStyle/>
            <a:p>
              <a:r>
                <a:rPr lang="en-DK" sz="1600" dirty="0">
                  <a:solidFill>
                    <a:srgbClr val="FF0000"/>
                  </a:solidFill>
                </a:rPr>
                <a:t>MAG49</a:t>
              </a:r>
            </a:p>
          </p:txBody>
        </p:sp>
      </p:grpSp>
      <p:grpSp>
        <p:nvGrpSpPr>
          <p:cNvPr id="205" name="Group 204">
            <a:extLst>
              <a:ext uri="{FF2B5EF4-FFF2-40B4-BE49-F238E27FC236}">
                <a16:creationId xmlns:a16="http://schemas.microsoft.com/office/drawing/2014/main" id="{3B5470F1-516C-CB8F-ED96-7F12F36D634F}"/>
              </a:ext>
            </a:extLst>
          </p:cNvPr>
          <p:cNvGrpSpPr/>
          <p:nvPr/>
        </p:nvGrpSpPr>
        <p:grpSpPr>
          <a:xfrm>
            <a:off x="10390521" y="4923019"/>
            <a:ext cx="1152483" cy="1140630"/>
            <a:chOff x="9447956" y="629622"/>
            <a:chExt cx="1152483" cy="1140630"/>
          </a:xfrm>
        </p:grpSpPr>
        <p:sp>
          <p:nvSpPr>
            <p:cNvPr id="206" name="Oval 205">
              <a:extLst>
                <a:ext uri="{FF2B5EF4-FFF2-40B4-BE49-F238E27FC236}">
                  <a16:creationId xmlns:a16="http://schemas.microsoft.com/office/drawing/2014/main" id="{791B8B62-6823-0972-EE2F-AAB6013F0413}"/>
                </a:ext>
              </a:extLst>
            </p:cNvPr>
            <p:cNvSpPr/>
            <p:nvPr/>
          </p:nvSpPr>
          <p:spPr>
            <a:xfrm>
              <a:off x="9447956" y="814288"/>
              <a:ext cx="955964" cy="955964"/>
            </a:xfrm>
            <a:prstGeom prst="ellipse">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7" name="TextBox 206">
              <a:extLst>
                <a:ext uri="{FF2B5EF4-FFF2-40B4-BE49-F238E27FC236}">
                  <a16:creationId xmlns:a16="http://schemas.microsoft.com/office/drawing/2014/main" id="{2F6DCB2A-2BB6-2F8B-2AE0-B514286E433B}"/>
                </a:ext>
              </a:extLst>
            </p:cNvPr>
            <p:cNvSpPr txBox="1"/>
            <p:nvPr/>
          </p:nvSpPr>
          <p:spPr>
            <a:xfrm>
              <a:off x="9789942" y="629622"/>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C1</a:t>
              </a:r>
            </a:p>
          </p:txBody>
        </p:sp>
        <p:sp>
          <p:nvSpPr>
            <p:cNvPr id="208" name="TextBox 207">
              <a:extLst>
                <a:ext uri="{FF2B5EF4-FFF2-40B4-BE49-F238E27FC236}">
                  <a16:creationId xmlns:a16="http://schemas.microsoft.com/office/drawing/2014/main" id="{A0441175-855A-9BBD-9062-07243F47F555}"/>
                </a:ext>
              </a:extLst>
            </p:cNvPr>
            <p:cNvSpPr txBox="1"/>
            <p:nvPr/>
          </p:nvSpPr>
          <p:spPr>
            <a:xfrm>
              <a:off x="10122457" y="879003"/>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C2</a:t>
              </a:r>
            </a:p>
          </p:txBody>
        </p:sp>
        <p:sp>
          <p:nvSpPr>
            <p:cNvPr id="209" name="TextBox 208">
              <a:extLst>
                <a:ext uri="{FF2B5EF4-FFF2-40B4-BE49-F238E27FC236}">
                  <a16:creationId xmlns:a16="http://schemas.microsoft.com/office/drawing/2014/main" id="{28BC6A9B-4A9C-D62C-A437-A3E0F0B30D69}"/>
                </a:ext>
              </a:extLst>
            </p:cNvPr>
            <p:cNvSpPr txBox="1"/>
            <p:nvPr/>
          </p:nvSpPr>
          <p:spPr>
            <a:xfrm>
              <a:off x="9587378" y="1126404"/>
              <a:ext cx="725651" cy="338554"/>
            </a:xfrm>
            <a:prstGeom prst="rect">
              <a:avLst/>
            </a:prstGeom>
            <a:noFill/>
          </p:spPr>
          <p:txBody>
            <a:bodyPr wrap="square" rtlCol="0">
              <a:spAutoFit/>
            </a:bodyPr>
            <a:lstStyle/>
            <a:p>
              <a:r>
                <a:rPr lang="en-DK" sz="1600" dirty="0">
                  <a:solidFill>
                    <a:schemeClr val="tx2">
                      <a:lumMod val="75000"/>
                      <a:lumOff val="25000"/>
                    </a:schemeClr>
                  </a:solidFill>
                </a:rPr>
                <a:t>MAG1</a:t>
              </a:r>
            </a:p>
          </p:txBody>
        </p:sp>
      </p:grpSp>
      <p:grpSp>
        <p:nvGrpSpPr>
          <p:cNvPr id="211" name="Group 210">
            <a:extLst>
              <a:ext uri="{FF2B5EF4-FFF2-40B4-BE49-F238E27FC236}">
                <a16:creationId xmlns:a16="http://schemas.microsoft.com/office/drawing/2014/main" id="{84DEEDF0-8100-DFE4-4E98-964CB97005D8}"/>
              </a:ext>
            </a:extLst>
          </p:cNvPr>
          <p:cNvGrpSpPr/>
          <p:nvPr/>
        </p:nvGrpSpPr>
        <p:grpSpPr>
          <a:xfrm>
            <a:off x="9047071" y="5112311"/>
            <a:ext cx="1120482" cy="1039079"/>
            <a:chOff x="10012542" y="2018113"/>
            <a:chExt cx="1120482" cy="1039079"/>
          </a:xfrm>
        </p:grpSpPr>
        <p:sp>
          <p:nvSpPr>
            <p:cNvPr id="212" name="Oval 211">
              <a:extLst>
                <a:ext uri="{FF2B5EF4-FFF2-40B4-BE49-F238E27FC236}">
                  <a16:creationId xmlns:a16="http://schemas.microsoft.com/office/drawing/2014/main" id="{B777BF4E-9036-C05E-3CFB-648A7F65BDF8}"/>
                </a:ext>
              </a:extLst>
            </p:cNvPr>
            <p:cNvSpPr/>
            <p:nvPr/>
          </p:nvSpPr>
          <p:spPr>
            <a:xfrm>
              <a:off x="10177060" y="2018113"/>
              <a:ext cx="955964" cy="95596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13" name="TextBox 212">
              <a:extLst>
                <a:ext uri="{FF2B5EF4-FFF2-40B4-BE49-F238E27FC236}">
                  <a16:creationId xmlns:a16="http://schemas.microsoft.com/office/drawing/2014/main" id="{D6A18B0E-ECB4-8FEB-2B89-47A2C257CD21}"/>
                </a:ext>
              </a:extLst>
            </p:cNvPr>
            <p:cNvSpPr txBox="1"/>
            <p:nvPr/>
          </p:nvSpPr>
          <p:spPr>
            <a:xfrm>
              <a:off x="10012542" y="2181524"/>
              <a:ext cx="664995" cy="307777"/>
            </a:xfrm>
            <a:prstGeom prst="rect">
              <a:avLst/>
            </a:prstGeom>
            <a:solidFill>
              <a:schemeClr val="bg1"/>
            </a:solidFill>
          </p:spPr>
          <p:txBody>
            <a:bodyPr wrap="square" rtlCol="0">
              <a:spAutoFit/>
            </a:bodyPr>
            <a:lstStyle/>
            <a:p>
              <a:r>
                <a:rPr lang="en-DK" sz="1400" dirty="0">
                  <a:solidFill>
                    <a:srgbClr val="FF0000"/>
                  </a:solidFill>
                </a:rPr>
                <a:t>C12</a:t>
              </a:r>
            </a:p>
          </p:txBody>
        </p:sp>
        <p:sp>
          <p:nvSpPr>
            <p:cNvPr id="214" name="TextBox 213">
              <a:extLst>
                <a:ext uri="{FF2B5EF4-FFF2-40B4-BE49-F238E27FC236}">
                  <a16:creationId xmlns:a16="http://schemas.microsoft.com/office/drawing/2014/main" id="{74D2C24E-9540-F4D2-F0F3-6A34D2C1101D}"/>
                </a:ext>
              </a:extLst>
            </p:cNvPr>
            <p:cNvSpPr txBox="1"/>
            <p:nvPr/>
          </p:nvSpPr>
          <p:spPr>
            <a:xfrm>
              <a:off x="10397844" y="2749415"/>
              <a:ext cx="568919" cy="307777"/>
            </a:xfrm>
            <a:prstGeom prst="rect">
              <a:avLst/>
            </a:prstGeom>
            <a:solidFill>
              <a:schemeClr val="bg1"/>
            </a:solidFill>
          </p:spPr>
          <p:txBody>
            <a:bodyPr wrap="square" rtlCol="0">
              <a:spAutoFit/>
            </a:bodyPr>
            <a:lstStyle/>
            <a:p>
              <a:r>
                <a:rPr lang="en-DK" sz="1400" dirty="0">
                  <a:solidFill>
                    <a:srgbClr val="FF0000"/>
                  </a:solidFill>
                </a:rPr>
                <a:t>C44</a:t>
              </a:r>
            </a:p>
          </p:txBody>
        </p:sp>
        <p:sp>
          <p:nvSpPr>
            <p:cNvPr id="215" name="TextBox 214">
              <a:extLst>
                <a:ext uri="{FF2B5EF4-FFF2-40B4-BE49-F238E27FC236}">
                  <a16:creationId xmlns:a16="http://schemas.microsoft.com/office/drawing/2014/main" id="{C021B613-3CEF-C714-81E0-9448DD39781A}"/>
                </a:ext>
              </a:extLst>
            </p:cNvPr>
            <p:cNvSpPr txBox="1"/>
            <p:nvPr/>
          </p:nvSpPr>
          <p:spPr>
            <a:xfrm>
              <a:off x="10254927" y="2345612"/>
              <a:ext cx="861674" cy="338554"/>
            </a:xfrm>
            <a:prstGeom prst="rect">
              <a:avLst/>
            </a:prstGeom>
            <a:noFill/>
          </p:spPr>
          <p:txBody>
            <a:bodyPr wrap="square" rtlCol="0">
              <a:spAutoFit/>
            </a:bodyPr>
            <a:lstStyle/>
            <a:p>
              <a:r>
                <a:rPr lang="en-DK" sz="1600" dirty="0">
                  <a:solidFill>
                    <a:srgbClr val="FF0000"/>
                  </a:solidFill>
                </a:rPr>
                <a:t>MAG49</a:t>
              </a:r>
            </a:p>
          </p:txBody>
        </p:sp>
      </p:grpSp>
      <p:grpSp>
        <p:nvGrpSpPr>
          <p:cNvPr id="217" name="Group 216">
            <a:extLst>
              <a:ext uri="{FF2B5EF4-FFF2-40B4-BE49-F238E27FC236}">
                <a16:creationId xmlns:a16="http://schemas.microsoft.com/office/drawing/2014/main" id="{72E316E0-F2B3-D637-803E-F77B360AC4BC}"/>
              </a:ext>
            </a:extLst>
          </p:cNvPr>
          <p:cNvGrpSpPr/>
          <p:nvPr/>
        </p:nvGrpSpPr>
        <p:grpSpPr>
          <a:xfrm>
            <a:off x="7233798" y="4973417"/>
            <a:ext cx="955964" cy="1096911"/>
            <a:chOff x="8833978" y="1723277"/>
            <a:chExt cx="955964" cy="1096911"/>
          </a:xfrm>
        </p:grpSpPr>
        <p:sp>
          <p:nvSpPr>
            <p:cNvPr id="218" name="Oval 217">
              <a:extLst>
                <a:ext uri="{FF2B5EF4-FFF2-40B4-BE49-F238E27FC236}">
                  <a16:creationId xmlns:a16="http://schemas.microsoft.com/office/drawing/2014/main" id="{A5560FE0-83FF-D21C-C5CA-E07C4B55AD6A}"/>
                </a:ext>
              </a:extLst>
            </p:cNvPr>
            <p:cNvSpPr/>
            <p:nvPr/>
          </p:nvSpPr>
          <p:spPr>
            <a:xfrm>
              <a:off x="8833978" y="1864224"/>
              <a:ext cx="955964" cy="955964"/>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19" name="TextBox 218">
              <a:extLst>
                <a:ext uri="{FF2B5EF4-FFF2-40B4-BE49-F238E27FC236}">
                  <a16:creationId xmlns:a16="http://schemas.microsoft.com/office/drawing/2014/main" id="{49CCA530-D1D9-561E-469D-52E918A048DD}"/>
                </a:ext>
              </a:extLst>
            </p:cNvPr>
            <p:cNvSpPr txBox="1"/>
            <p:nvPr/>
          </p:nvSpPr>
          <p:spPr>
            <a:xfrm>
              <a:off x="9001126" y="1723277"/>
              <a:ext cx="664995" cy="307777"/>
            </a:xfrm>
            <a:prstGeom prst="rect">
              <a:avLst/>
            </a:prstGeom>
            <a:solidFill>
              <a:schemeClr val="bg1"/>
            </a:solidFill>
          </p:spPr>
          <p:txBody>
            <a:bodyPr wrap="square" rtlCol="0">
              <a:spAutoFit/>
            </a:bodyPr>
            <a:lstStyle/>
            <a:p>
              <a:r>
                <a:rPr lang="en-DK" sz="1400" dirty="0">
                  <a:solidFill>
                    <a:schemeClr val="accent3">
                      <a:lumMod val="75000"/>
                    </a:schemeClr>
                  </a:solidFill>
                </a:rPr>
                <a:t>C23</a:t>
              </a:r>
            </a:p>
          </p:txBody>
        </p:sp>
        <p:sp>
          <p:nvSpPr>
            <p:cNvPr id="221" name="TextBox 220">
              <a:extLst>
                <a:ext uri="{FF2B5EF4-FFF2-40B4-BE49-F238E27FC236}">
                  <a16:creationId xmlns:a16="http://schemas.microsoft.com/office/drawing/2014/main" id="{310538EE-CD86-B4BC-EFEC-1ECD28A56C0D}"/>
                </a:ext>
              </a:extLst>
            </p:cNvPr>
            <p:cNvSpPr txBox="1"/>
            <p:nvPr/>
          </p:nvSpPr>
          <p:spPr>
            <a:xfrm>
              <a:off x="8883320" y="2151647"/>
              <a:ext cx="861674" cy="338554"/>
            </a:xfrm>
            <a:prstGeom prst="rect">
              <a:avLst/>
            </a:prstGeom>
            <a:noFill/>
          </p:spPr>
          <p:txBody>
            <a:bodyPr wrap="square" rtlCol="0">
              <a:spAutoFit/>
            </a:bodyPr>
            <a:lstStyle/>
            <a:p>
              <a:r>
                <a:rPr lang="en-DK" sz="1600" dirty="0">
                  <a:solidFill>
                    <a:schemeClr val="accent3"/>
                  </a:solidFill>
                </a:rPr>
                <a:t>MAG30</a:t>
              </a:r>
            </a:p>
          </p:txBody>
        </p:sp>
      </p:grpSp>
      <p:grpSp>
        <p:nvGrpSpPr>
          <p:cNvPr id="222" name="Group 221">
            <a:extLst>
              <a:ext uri="{FF2B5EF4-FFF2-40B4-BE49-F238E27FC236}">
                <a16:creationId xmlns:a16="http://schemas.microsoft.com/office/drawing/2014/main" id="{AA01DE55-6466-A095-3933-FE6A922C0A41}"/>
              </a:ext>
            </a:extLst>
          </p:cNvPr>
          <p:cNvGrpSpPr/>
          <p:nvPr/>
        </p:nvGrpSpPr>
        <p:grpSpPr>
          <a:xfrm>
            <a:off x="4820575" y="5081615"/>
            <a:ext cx="1152483" cy="1140630"/>
            <a:chOff x="9447956" y="629622"/>
            <a:chExt cx="1152483" cy="1140630"/>
          </a:xfrm>
        </p:grpSpPr>
        <p:sp>
          <p:nvSpPr>
            <p:cNvPr id="223" name="Oval 222">
              <a:extLst>
                <a:ext uri="{FF2B5EF4-FFF2-40B4-BE49-F238E27FC236}">
                  <a16:creationId xmlns:a16="http://schemas.microsoft.com/office/drawing/2014/main" id="{4C69CC65-5384-904F-0FFC-64C2D01C15EB}"/>
                </a:ext>
              </a:extLst>
            </p:cNvPr>
            <p:cNvSpPr/>
            <p:nvPr/>
          </p:nvSpPr>
          <p:spPr>
            <a:xfrm>
              <a:off x="9447956" y="814288"/>
              <a:ext cx="955964" cy="955964"/>
            </a:xfrm>
            <a:prstGeom prst="ellipse">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24" name="TextBox 223">
              <a:extLst>
                <a:ext uri="{FF2B5EF4-FFF2-40B4-BE49-F238E27FC236}">
                  <a16:creationId xmlns:a16="http://schemas.microsoft.com/office/drawing/2014/main" id="{6AAA6D9B-0801-90E6-D09D-7BAD3569B032}"/>
                </a:ext>
              </a:extLst>
            </p:cNvPr>
            <p:cNvSpPr txBox="1"/>
            <p:nvPr/>
          </p:nvSpPr>
          <p:spPr>
            <a:xfrm>
              <a:off x="9789942" y="629622"/>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C1</a:t>
              </a:r>
            </a:p>
          </p:txBody>
        </p:sp>
        <p:sp>
          <p:nvSpPr>
            <p:cNvPr id="225" name="TextBox 224">
              <a:extLst>
                <a:ext uri="{FF2B5EF4-FFF2-40B4-BE49-F238E27FC236}">
                  <a16:creationId xmlns:a16="http://schemas.microsoft.com/office/drawing/2014/main" id="{C0A9BE23-6DA3-5F08-E572-946619080C9A}"/>
                </a:ext>
              </a:extLst>
            </p:cNvPr>
            <p:cNvSpPr txBox="1"/>
            <p:nvPr/>
          </p:nvSpPr>
          <p:spPr>
            <a:xfrm>
              <a:off x="10122457" y="879003"/>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C2</a:t>
              </a:r>
            </a:p>
          </p:txBody>
        </p:sp>
        <p:sp>
          <p:nvSpPr>
            <p:cNvPr id="226" name="TextBox 225">
              <a:extLst>
                <a:ext uri="{FF2B5EF4-FFF2-40B4-BE49-F238E27FC236}">
                  <a16:creationId xmlns:a16="http://schemas.microsoft.com/office/drawing/2014/main" id="{ED297E2A-5AF2-7125-6EB2-B6A86ED40A1D}"/>
                </a:ext>
              </a:extLst>
            </p:cNvPr>
            <p:cNvSpPr txBox="1"/>
            <p:nvPr/>
          </p:nvSpPr>
          <p:spPr>
            <a:xfrm>
              <a:off x="9587378" y="1126404"/>
              <a:ext cx="725651" cy="338554"/>
            </a:xfrm>
            <a:prstGeom prst="rect">
              <a:avLst/>
            </a:prstGeom>
            <a:noFill/>
          </p:spPr>
          <p:txBody>
            <a:bodyPr wrap="square" rtlCol="0">
              <a:spAutoFit/>
            </a:bodyPr>
            <a:lstStyle/>
            <a:p>
              <a:r>
                <a:rPr lang="en-DK" sz="1600" dirty="0">
                  <a:solidFill>
                    <a:schemeClr val="tx2">
                      <a:lumMod val="75000"/>
                      <a:lumOff val="25000"/>
                    </a:schemeClr>
                  </a:solidFill>
                </a:rPr>
                <a:t>MAG1</a:t>
              </a:r>
            </a:p>
          </p:txBody>
        </p:sp>
      </p:grpSp>
      <p:grpSp>
        <p:nvGrpSpPr>
          <p:cNvPr id="227" name="Group 226">
            <a:extLst>
              <a:ext uri="{FF2B5EF4-FFF2-40B4-BE49-F238E27FC236}">
                <a16:creationId xmlns:a16="http://schemas.microsoft.com/office/drawing/2014/main" id="{4F54C23E-8270-8998-77F7-E5956CE1D40B}"/>
              </a:ext>
            </a:extLst>
          </p:cNvPr>
          <p:cNvGrpSpPr/>
          <p:nvPr/>
        </p:nvGrpSpPr>
        <p:grpSpPr>
          <a:xfrm>
            <a:off x="3519136" y="5298887"/>
            <a:ext cx="1120482" cy="1039079"/>
            <a:chOff x="10012542" y="2018113"/>
            <a:chExt cx="1120482" cy="1039079"/>
          </a:xfrm>
        </p:grpSpPr>
        <p:sp>
          <p:nvSpPr>
            <p:cNvPr id="228" name="Oval 227">
              <a:extLst>
                <a:ext uri="{FF2B5EF4-FFF2-40B4-BE49-F238E27FC236}">
                  <a16:creationId xmlns:a16="http://schemas.microsoft.com/office/drawing/2014/main" id="{0E4211AE-C277-5AB8-BAAC-8EB762DACE34}"/>
                </a:ext>
              </a:extLst>
            </p:cNvPr>
            <p:cNvSpPr/>
            <p:nvPr/>
          </p:nvSpPr>
          <p:spPr>
            <a:xfrm>
              <a:off x="10177060" y="2018113"/>
              <a:ext cx="955964" cy="95596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29" name="TextBox 228">
              <a:extLst>
                <a:ext uri="{FF2B5EF4-FFF2-40B4-BE49-F238E27FC236}">
                  <a16:creationId xmlns:a16="http://schemas.microsoft.com/office/drawing/2014/main" id="{0C996839-65EC-55D3-D04A-6C73B69CB468}"/>
                </a:ext>
              </a:extLst>
            </p:cNvPr>
            <p:cNvSpPr txBox="1"/>
            <p:nvPr/>
          </p:nvSpPr>
          <p:spPr>
            <a:xfrm>
              <a:off x="10012542" y="2181524"/>
              <a:ext cx="664995" cy="307777"/>
            </a:xfrm>
            <a:prstGeom prst="rect">
              <a:avLst/>
            </a:prstGeom>
            <a:solidFill>
              <a:schemeClr val="bg1"/>
            </a:solidFill>
          </p:spPr>
          <p:txBody>
            <a:bodyPr wrap="square" rtlCol="0">
              <a:spAutoFit/>
            </a:bodyPr>
            <a:lstStyle/>
            <a:p>
              <a:r>
                <a:rPr lang="en-DK" sz="1400" dirty="0">
                  <a:solidFill>
                    <a:srgbClr val="FF0000"/>
                  </a:solidFill>
                </a:rPr>
                <a:t>C12</a:t>
              </a:r>
            </a:p>
          </p:txBody>
        </p:sp>
        <p:sp>
          <p:nvSpPr>
            <p:cNvPr id="230" name="TextBox 229">
              <a:extLst>
                <a:ext uri="{FF2B5EF4-FFF2-40B4-BE49-F238E27FC236}">
                  <a16:creationId xmlns:a16="http://schemas.microsoft.com/office/drawing/2014/main" id="{AB31A55E-47CB-5D82-9064-725147C42ECA}"/>
                </a:ext>
              </a:extLst>
            </p:cNvPr>
            <p:cNvSpPr txBox="1"/>
            <p:nvPr/>
          </p:nvSpPr>
          <p:spPr>
            <a:xfrm>
              <a:off x="10397844" y="2749415"/>
              <a:ext cx="568919" cy="307777"/>
            </a:xfrm>
            <a:prstGeom prst="rect">
              <a:avLst/>
            </a:prstGeom>
            <a:solidFill>
              <a:schemeClr val="bg1"/>
            </a:solidFill>
          </p:spPr>
          <p:txBody>
            <a:bodyPr wrap="square" rtlCol="0">
              <a:spAutoFit/>
            </a:bodyPr>
            <a:lstStyle/>
            <a:p>
              <a:r>
                <a:rPr lang="en-DK" sz="1400" dirty="0">
                  <a:solidFill>
                    <a:srgbClr val="FF0000"/>
                  </a:solidFill>
                </a:rPr>
                <a:t>C44</a:t>
              </a:r>
            </a:p>
          </p:txBody>
        </p:sp>
        <p:sp>
          <p:nvSpPr>
            <p:cNvPr id="231" name="TextBox 230">
              <a:extLst>
                <a:ext uri="{FF2B5EF4-FFF2-40B4-BE49-F238E27FC236}">
                  <a16:creationId xmlns:a16="http://schemas.microsoft.com/office/drawing/2014/main" id="{E2901293-2316-F9F6-0EDF-79FBACFC212B}"/>
                </a:ext>
              </a:extLst>
            </p:cNvPr>
            <p:cNvSpPr txBox="1"/>
            <p:nvPr/>
          </p:nvSpPr>
          <p:spPr>
            <a:xfrm>
              <a:off x="10254927" y="2345612"/>
              <a:ext cx="861674" cy="338554"/>
            </a:xfrm>
            <a:prstGeom prst="rect">
              <a:avLst/>
            </a:prstGeom>
            <a:noFill/>
          </p:spPr>
          <p:txBody>
            <a:bodyPr wrap="square" rtlCol="0">
              <a:spAutoFit/>
            </a:bodyPr>
            <a:lstStyle/>
            <a:p>
              <a:r>
                <a:rPr lang="en-DK" sz="1600" dirty="0">
                  <a:solidFill>
                    <a:srgbClr val="FF0000"/>
                  </a:solidFill>
                </a:rPr>
                <a:t>MAG49</a:t>
              </a:r>
            </a:p>
          </p:txBody>
        </p:sp>
      </p:grpSp>
      <p:grpSp>
        <p:nvGrpSpPr>
          <p:cNvPr id="232" name="Group 231">
            <a:extLst>
              <a:ext uri="{FF2B5EF4-FFF2-40B4-BE49-F238E27FC236}">
                <a16:creationId xmlns:a16="http://schemas.microsoft.com/office/drawing/2014/main" id="{5D23FE72-F80F-B7CC-FB98-2F0C641C212C}"/>
              </a:ext>
            </a:extLst>
          </p:cNvPr>
          <p:cNvGrpSpPr/>
          <p:nvPr/>
        </p:nvGrpSpPr>
        <p:grpSpPr>
          <a:xfrm>
            <a:off x="2519769" y="5135457"/>
            <a:ext cx="955964" cy="1096911"/>
            <a:chOff x="8833978" y="1723277"/>
            <a:chExt cx="955964" cy="1096911"/>
          </a:xfrm>
        </p:grpSpPr>
        <p:sp>
          <p:nvSpPr>
            <p:cNvPr id="233" name="Oval 232">
              <a:extLst>
                <a:ext uri="{FF2B5EF4-FFF2-40B4-BE49-F238E27FC236}">
                  <a16:creationId xmlns:a16="http://schemas.microsoft.com/office/drawing/2014/main" id="{D3D233C4-9A5F-B72C-8F7F-3166245FD2CF}"/>
                </a:ext>
              </a:extLst>
            </p:cNvPr>
            <p:cNvSpPr/>
            <p:nvPr/>
          </p:nvSpPr>
          <p:spPr>
            <a:xfrm>
              <a:off x="8833978" y="1864224"/>
              <a:ext cx="955964" cy="955964"/>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34" name="TextBox 233">
              <a:extLst>
                <a:ext uri="{FF2B5EF4-FFF2-40B4-BE49-F238E27FC236}">
                  <a16:creationId xmlns:a16="http://schemas.microsoft.com/office/drawing/2014/main" id="{23033070-253B-C885-6972-28EBC9666C53}"/>
                </a:ext>
              </a:extLst>
            </p:cNvPr>
            <p:cNvSpPr txBox="1"/>
            <p:nvPr/>
          </p:nvSpPr>
          <p:spPr>
            <a:xfrm>
              <a:off x="9001126" y="1723277"/>
              <a:ext cx="664995" cy="307777"/>
            </a:xfrm>
            <a:prstGeom prst="rect">
              <a:avLst/>
            </a:prstGeom>
            <a:solidFill>
              <a:schemeClr val="bg1"/>
            </a:solidFill>
          </p:spPr>
          <p:txBody>
            <a:bodyPr wrap="square" rtlCol="0">
              <a:spAutoFit/>
            </a:bodyPr>
            <a:lstStyle/>
            <a:p>
              <a:r>
                <a:rPr lang="en-DK" sz="1400" dirty="0">
                  <a:solidFill>
                    <a:schemeClr val="accent3">
                      <a:lumMod val="75000"/>
                    </a:schemeClr>
                  </a:solidFill>
                </a:rPr>
                <a:t>C23</a:t>
              </a:r>
            </a:p>
          </p:txBody>
        </p:sp>
        <p:sp>
          <p:nvSpPr>
            <p:cNvPr id="235" name="TextBox 234">
              <a:extLst>
                <a:ext uri="{FF2B5EF4-FFF2-40B4-BE49-F238E27FC236}">
                  <a16:creationId xmlns:a16="http://schemas.microsoft.com/office/drawing/2014/main" id="{940CEEE3-7E7A-91E1-9A1F-A969706B6313}"/>
                </a:ext>
              </a:extLst>
            </p:cNvPr>
            <p:cNvSpPr txBox="1"/>
            <p:nvPr/>
          </p:nvSpPr>
          <p:spPr>
            <a:xfrm>
              <a:off x="8883320" y="2151647"/>
              <a:ext cx="861674" cy="338554"/>
            </a:xfrm>
            <a:prstGeom prst="rect">
              <a:avLst/>
            </a:prstGeom>
            <a:noFill/>
          </p:spPr>
          <p:txBody>
            <a:bodyPr wrap="square" rtlCol="0">
              <a:spAutoFit/>
            </a:bodyPr>
            <a:lstStyle/>
            <a:p>
              <a:r>
                <a:rPr lang="en-DK" sz="1600" dirty="0">
                  <a:solidFill>
                    <a:schemeClr val="accent3"/>
                  </a:solidFill>
                </a:rPr>
                <a:t>MAG30</a:t>
              </a:r>
            </a:p>
          </p:txBody>
        </p:sp>
      </p:grpSp>
      <p:sp>
        <p:nvSpPr>
          <p:cNvPr id="236" name="TextBox 235">
            <a:extLst>
              <a:ext uri="{FF2B5EF4-FFF2-40B4-BE49-F238E27FC236}">
                <a16:creationId xmlns:a16="http://schemas.microsoft.com/office/drawing/2014/main" id="{9BC2A0B9-510F-F3C7-9435-BCB9809372EA}"/>
              </a:ext>
            </a:extLst>
          </p:cNvPr>
          <p:cNvSpPr txBox="1"/>
          <p:nvPr/>
        </p:nvSpPr>
        <p:spPr>
          <a:xfrm>
            <a:off x="4869008" y="6244149"/>
            <a:ext cx="1270288" cy="523220"/>
          </a:xfrm>
          <a:prstGeom prst="rect">
            <a:avLst/>
          </a:prstGeom>
          <a:noFill/>
        </p:spPr>
        <p:txBody>
          <a:bodyPr wrap="square" rtlCol="0">
            <a:spAutoFit/>
          </a:bodyPr>
          <a:lstStyle/>
          <a:p>
            <a:r>
              <a:rPr lang="en-DK" sz="1400" dirty="0">
                <a:solidFill>
                  <a:schemeClr val="tx2">
                    <a:lumMod val="75000"/>
                    <a:lumOff val="25000"/>
                  </a:schemeClr>
                </a:solidFill>
              </a:rPr>
              <a:t>Escherichia coli K12</a:t>
            </a:r>
          </a:p>
        </p:txBody>
      </p:sp>
      <p:sp>
        <p:nvSpPr>
          <p:cNvPr id="237" name="TextBox 236">
            <a:extLst>
              <a:ext uri="{FF2B5EF4-FFF2-40B4-BE49-F238E27FC236}">
                <a16:creationId xmlns:a16="http://schemas.microsoft.com/office/drawing/2014/main" id="{FDF22E9E-38CD-8882-B6A0-EB831E406ECE}"/>
              </a:ext>
            </a:extLst>
          </p:cNvPr>
          <p:cNvSpPr txBox="1"/>
          <p:nvPr/>
        </p:nvSpPr>
        <p:spPr>
          <a:xfrm>
            <a:off x="3824572" y="6244149"/>
            <a:ext cx="1224783" cy="523220"/>
          </a:xfrm>
          <a:prstGeom prst="rect">
            <a:avLst/>
          </a:prstGeom>
          <a:noFill/>
        </p:spPr>
        <p:txBody>
          <a:bodyPr wrap="square" rtlCol="0">
            <a:spAutoFit/>
          </a:bodyPr>
          <a:lstStyle/>
          <a:p>
            <a:r>
              <a:rPr lang="en-DK" sz="1400" dirty="0">
                <a:solidFill>
                  <a:srgbClr val="FF0000"/>
                </a:solidFill>
              </a:rPr>
              <a:t>Bacillus subtilis</a:t>
            </a:r>
          </a:p>
        </p:txBody>
      </p:sp>
      <p:sp>
        <p:nvSpPr>
          <p:cNvPr id="238" name="TextBox 237">
            <a:extLst>
              <a:ext uri="{FF2B5EF4-FFF2-40B4-BE49-F238E27FC236}">
                <a16:creationId xmlns:a16="http://schemas.microsoft.com/office/drawing/2014/main" id="{69DEDCCA-CAC7-24E5-878D-E796D0DC2CC7}"/>
              </a:ext>
            </a:extLst>
          </p:cNvPr>
          <p:cNvSpPr txBox="1"/>
          <p:nvPr/>
        </p:nvSpPr>
        <p:spPr>
          <a:xfrm>
            <a:off x="2438399" y="6251653"/>
            <a:ext cx="1378475" cy="523220"/>
          </a:xfrm>
          <a:prstGeom prst="rect">
            <a:avLst/>
          </a:prstGeom>
          <a:noFill/>
        </p:spPr>
        <p:txBody>
          <a:bodyPr wrap="square" rtlCol="0">
            <a:spAutoFit/>
          </a:bodyPr>
          <a:lstStyle/>
          <a:p>
            <a:r>
              <a:rPr lang="en-DK" sz="1400" dirty="0">
                <a:solidFill>
                  <a:schemeClr val="accent3"/>
                </a:solidFill>
              </a:rPr>
              <a:t>Pseudomonas putida</a:t>
            </a:r>
          </a:p>
        </p:txBody>
      </p:sp>
      <p:pic>
        <p:nvPicPr>
          <p:cNvPr id="4098" name="Picture 2">
            <a:extLst>
              <a:ext uri="{FF2B5EF4-FFF2-40B4-BE49-F238E27FC236}">
                <a16:creationId xmlns:a16="http://schemas.microsoft.com/office/drawing/2014/main" id="{33B4F3ED-5A82-53A3-34D7-5601E0908C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4" t="47252" r="61146" b="3349"/>
          <a:stretch>
            <a:fillRect/>
          </a:stretch>
        </p:blipFill>
        <p:spPr bwMode="auto">
          <a:xfrm>
            <a:off x="161857" y="5026231"/>
            <a:ext cx="1373680" cy="1487032"/>
          </a:xfrm>
          <a:prstGeom prst="rect">
            <a:avLst/>
          </a:prstGeom>
          <a:noFill/>
          <a:extLst>
            <a:ext uri="{909E8E84-426E-40DD-AFC4-6F175D3DCCD1}">
              <a14:hiddenFill xmlns:a14="http://schemas.microsoft.com/office/drawing/2010/main">
                <a:solidFill>
                  <a:srgbClr val="FFFFFF"/>
                </a:solidFill>
              </a14:hiddenFill>
            </a:ext>
          </a:extLst>
        </p:spPr>
      </p:pic>
      <p:sp>
        <p:nvSpPr>
          <p:cNvPr id="239" name="Right Arrow 238">
            <a:extLst>
              <a:ext uri="{FF2B5EF4-FFF2-40B4-BE49-F238E27FC236}">
                <a16:creationId xmlns:a16="http://schemas.microsoft.com/office/drawing/2014/main" id="{BF7F3C35-6CD3-53AD-F050-8CF005F8C2F7}"/>
              </a:ext>
            </a:extLst>
          </p:cNvPr>
          <p:cNvSpPr/>
          <p:nvPr/>
        </p:nvSpPr>
        <p:spPr>
          <a:xfrm rot="10800000">
            <a:off x="1744471" y="5612470"/>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40" name="TextBox 239">
            <a:extLst>
              <a:ext uri="{FF2B5EF4-FFF2-40B4-BE49-F238E27FC236}">
                <a16:creationId xmlns:a16="http://schemas.microsoft.com/office/drawing/2014/main" id="{03C05E93-36EB-59E6-8864-C92EF16FCAD4}"/>
              </a:ext>
            </a:extLst>
          </p:cNvPr>
          <p:cNvSpPr txBox="1"/>
          <p:nvPr/>
        </p:nvSpPr>
        <p:spPr>
          <a:xfrm>
            <a:off x="1430102" y="4735599"/>
            <a:ext cx="1676451" cy="646331"/>
          </a:xfrm>
          <a:prstGeom prst="rect">
            <a:avLst/>
          </a:prstGeom>
          <a:noFill/>
        </p:spPr>
        <p:txBody>
          <a:bodyPr wrap="square" rtlCol="0">
            <a:spAutoFit/>
          </a:bodyPr>
          <a:lstStyle/>
          <a:p>
            <a:r>
              <a:rPr lang="en-DK" b="1" dirty="0"/>
              <a:t>Phylogenomic analysis</a:t>
            </a:r>
          </a:p>
        </p:txBody>
      </p:sp>
      <p:sp>
        <p:nvSpPr>
          <p:cNvPr id="241" name="Right Arrow 240">
            <a:extLst>
              <a:ext uri="{FF2B5EF4-FFF2-40B4-BE49-F238E27FC236}">
                <a16:creationId xmlns:a16="http://schemas.microsoft.com/office/drawing/2014/main" id="{2AF17A3C-A274-8D7E-4A0E-25818C628F92}"/>
              </a:ext>
            </a:extLst>
          </p:cNvPr>
          <p:cNvSpPr/>
          <p:nvPr/>
        </p:nvSpPr>
        <p:spPr>
          <a:xfrm rot="16200000">
            <a:off x="3823200" y="4735599"/>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42" name="TextBox 241">
            <a:extLst>
              <a:ext uri="{FF2B5EF4-FFF2-40B4-BE49-F238E27FC236}">
                <a16:creationId xmlns:a16="http://schemas.microsoft.com/office/drawing/2014/main" id="{BB2DC46C-5E00-BCF3-B0E2-0F21A3AF5370}"/>
              </a:ext>
            </a:extLst>
          </p:cNvPr>
          <p:cNvSpPr txBox="1"/>
          <p:nvPr/>
        </p:nvSpPr>
        <p:spPr>
          <a:xfrm>
            <a:off x="4319113" y="4447970"/>
            <a:ext cx="1676451" cy="646331"/>
          </a:xfrm>
          <a:prstGeom prst="rect">
            <a:avLst/>
          </a:prstGeom>
          <a:noFill/>
        </p:spPr>
        <p:txBody>
          <a:bodyPr wrap="square" rtlCol="0">
            <a:spAutoFit/>
          </a:bodyPr>
          <a:lstStyle/>
          <a:p>
            <a:r>
              <a:rPr lang="en-DK" b="1" dirty="0"/>
              <a:t>Functional annotation</a:t>
            </a:r>
          </a:p>
        </p:txBody>
      </p:sp>
      <p:cxnSp>
        <p:nvCxnSpPr>
          <p:cNvPr id="244" name="Straight Connector 243">
            <a:extLst>
              <a:ext uri="{FF2B5EF4-FFF2-40B4-BE49-F238E27FC236}">
                <a16:creationId xmlns:a16="http://schemas.microsoft.com/office/drawing/2014/main" id="{15CBEAC7-A0F8-0F28-65BC-6EF5D3BAFFE8}"/>
              </a:ext>
            </a:extLst>
          </p:cNvPr>
          <p:cNvCxnSpPr/>
          <p:nvPr/>
        </p:nvCxnSpPr>
        <p:spPr>
          <a:xfrm>
            <a:off x="2663201" y="3857787"/>
            <a:ext cx="1762455"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45" name="Right Arrow 244">
            <a:extLst>
              <a:ext uri="{FF2B5EF4-FFF2-40B4-BE49-F238E27FC236}">
                <a16:creationId xmlns:a16="http://schemas.microsoft.com/office/drawing/2014/main" id="{C641EB32-139C-E8D3-8A16-7EAFEC171BB8}"/>
              </a:ext>
            </a:extLst>
          </p:cNvPr>
          <p:cNvSpPr/>
          <p:nvPr/>
        </p:nvSpPr>
        <p:spPr>
          <a:xfrm>
            <a:off x="2840174" y="3721939"/>
            <a:ext cx="235527" cy="275799"/>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46" name="Right Arrow 245">
            <a:extLst>
              <a:ext uri="{FF2B5EF4-FFF2-40B4-BE49-F238E27FC236}">
                <a16:creationId xmlns:a16="http://schemas.microsoft.com/office/drawing/2014/main" id="{0937468C-3DB5-7E25-5BBC-8FC3F247CDC6}"/>
              </a:ext>
            </a:extLst>
          </p:cNvPr>
          <p:cNvSpPr/>
          <p:nvPr/>
        </p:nvSpPr>
        <p:spPr>
          <a:xfrm>
            <a:off x="3103412" y="3721934"/>
            <a:ext cx="235527" cy="275799"/>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47" name="Right Arrow 246">
            <a:extLst>
              <a:ext uri="{FF2B5EF4-FFF2-40B4-BE49-F238E27FC236}">
                <a16:creationId xmlns:a16="http://schemas.microsoft.com/office/drawing/2014/main" id="{4806E8D4-8C50-B4DF-A757-322A5C42467C}"/>
              </a:ext>
            </a:extLst>
          </p:cNvPr>
          <p:cNvSpPr/>
          <p:nvPr/>
        </p:nvSpPr>
        <p:spPr>
          <a:xfrm>
            <a:off x="3464531" y="3729559"/>
            <a:ext cx="235527" cy="275799"/>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48" name="Right Arrow 247">
            <a:extLst>
              <a:ext uri="{FF2B5EF4-FFF2-40B4-BE49-F238E27FC236}">
                <a16:creationId xmlns:a16="http://schemas.microsoft.com/office/drawing/2014/main" id="{6EDA1E41-F431-4DF1-0DD7-F8B2FAA971DA}"/>
              </a:ext>
            </a:extLst>
          </p:cNvPr>
          <p:cNvSpPr/>
          <p:nvPr/>
        </p:nvSpPr>
        <p:spPr>
          <a:xfrm>
            <a:off x="3798658" y="3721934"/>
            <a:ext cx="334269" cy="283424"/>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49" name="TextBox 248">
            <a:extLst>
              <a:ext uri="{FF2B5EF4-FFF2-40B4-BE49-F238E27FC236}">
                <a16:creationId xmlns:a16="http://schemas.microsoft.com/office/drawing/2014/main" id="{103A19FD-1E1B-41BD-F7A9-65EB18F575E4}"/>
              </a:ext>
            </a:extLst>
          </p:cNvPr>
          <p:cNvSpPr txBox="1"/>
          <p:nvPr/>
        </p:nvSpPr>
        <p:spPr>
          <a:xfrm>
            <a:off x="2362192" y="3545917"/>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C1</a:t>
            </a:r>
          </a:p>
        </p:txBody>
      </p:sp>
      <p:cxnSp>
        <p:nvCxnSpPr>
          <p:cNvPr id="250" name="Straight Connector 249">
            <a:extLst>
              <a:ext uri="{FF2B5EF4-FFF2-40B4-BE49-F238E27FC236}">
                <a16:creationId xmlns:a16="http://schemas.microsoft.com/office/drawing/2014/main" id="{FBFAD093-B022-B1CE-1BAB-F9FA8EA0B712}"/>
              </a:ext>
            </a:extLst>
          </p:cNvPr>
          <p:cNvCxnSpPr/>
          <p:nvPr/>
        </p:nvCxnSpPr>
        <p:spPr>
          <a:xfrm>
            <a:off x="2718394" y="4259876"/>
            <a:ext cx="1762455"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51" name="Right Arrow 250">
            <a:extLst>
              <a:ext uri="{FF2B5EF4-FFF2-40B4-BE49-F238E27FC236}">
                <a16:creationId xmlns:a16="http://schemas.microsoft.com/office/drawing/2014/main" id="{AA40430E-2207-7C3B-E22B-4861561335B5}"/>
              </a:ext>
            </a:extLst>
          </p:cNvPr>
          <p:cNvSpPr/>
          <p:nvPr/>
        </p:nvSpPr>
        <p:spPr>
          <a:xfrm>
            <a:off x="2820038" y="4122809"/>
            <a:ext cx="235527" cy="275799"/>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52" name="Right Arrow 251">
            <a:extLst>
              <a:ext uri="{FF2B5EF4-FFF2-40B4-BE49-F238E27FC236}">
                <a16:creationId xmlns:a16="http://schemas.microsoft.com/office/drawing/2014/main" id="{C4DAF9FB-8DEF-37F6-8D76-1E36F6ADA08B}"/>
              </a:ext>
            </a:extLst>
          </p:cNvPr>
          <p:cNvSpPr/>
          <p:nvPr/>
        </p:nvSpPr>
        <p:spPr>
          <a:xfrm>
            <a:off x="3164625" y="4136930"/>
            <a:ext cx="348627" cy="275804"/>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53" name="Right Arrow 252">
            <a:extLst>
              <a:ext uri="{FF2B5EF4-FFF2-40B4-BE49-F238E27FC236}">
                <a16:creationId xmlns:a16="http://schemas.microsoft.com/office/drawing/2014/main" id="{597C99C3-7F40-3046-33A0-CBAA9053B377}"/>
              </a:ext>
            </a:extLst>
          </p:cNvPr>
          <p:cNvSpPr/>
          <p:nvPr/>
        </p:nvSpPr>
        <p:spPr>
          <a:xfrm>
            <a:off x="3596798" y="4130429"/>
            <a:ext cx="235527" cy="275799"/>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54" name="Right Arrow 253">
            <a:extLst>
              <a:ext uri="{FF2B5EF4-FFF2-40B4-BE49-F238E27FC236}">
                <a16:creationId xmlns:a16="http://schemas.microsoft.com/office/drawing/2014/main" id="{4E75F5CA-8EB2-9620-F936-A172C54EC118}"/>
              </a:ext>
            </a:extLst>
          </p:cNvPr>
          <p:cNvSpPr/>
          <p:nvPr/>
        </p:nvSpPr>
        <p:spPr>
          <a:xfrm>
            <a:off x="3931864" y="4124022"/>
            <a:ext cx="334269" cy="283424"/>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55" name="TextBox 254">
            <a:extLst>
              <a:ext uri="{FF2B5EF4-FFF2-40B4-BE49-F238E27FC236}">
                <a16:creationId xmlns:a16="http://schemas.microsoft.com/office/drawing/2014/main" id="{E6ACE337-0C49-15BB-92FD-4A2FCD81BE63}"/>
              </a:ext>
            </a:extLst>
          </p:cNvPr>
          <p:cNvSpPr txBox="1"/>
          <p:nvPr/>
        </p:nvSpPr>
        <p:spPr>
          <a:xfrm>
            <a:off x="2342056" y="3946787"/>
            <a:ext cx="477982" cy="307777"/>
          </a:xfrm>
          <a:prstGeom prst="rect">
            <a:avLst/>
          </a:prstGeom>
          <a:solidFill>
            <a:schemeClr val="bg1"/>
          </a:solidFill>
        </p:spPr>
        <p:txBody>
          <a:bodyPr wrap="square" rtlCol="0">
            <a:spAutoFit/>
          </a:bodyPr>
          <a:lstStyle/>
          <a:p>
            <a:r>
              <a:rPr lang="en-DK" sz="1400" dirty="0">
                <a:solidFill>
                  <a:schemeClr val="tx2">
                    <a:lumMod val="75000"/>
                    <a:lumOff val="25000"/>
                  </a:schemeClr>
                </a:solidFill>
              </a:rPr>
              <a:t>C2</a:t>
            </a:r>
          </a:p>
        </p:txBody>
      </p:sp>
      <p:sp>
        <p:nvSpPr>
          <p:cNvPr id="4096" name="TextBox 4095">
            <a:extLst>
              <a:ext uri="{FF2B5EF4-FFF2-40B4-BE49-F238E27FC236}">
                <a16:creationId xmlns:a16="http://schemas.microsoft.com/office/drawing/2014/main" id="{C769E437-C3DD-88C6-49B4-8F7AB0896F11}"/>
              </a:ext>
            </a:extLst>
          </p:cNvPr>
          <p:cNvSpPr txBox="1"/>
          <p:nvPr/>
        </p:nvSpPr>
        <p:spPr>
          <a:xfrm>
            <a:off x="3806162" y="3479682"/>
            <a:ext cx="373896" cy="276999"/>
          </a:xfrm>
          <a:prstGeom prst="rect">
            <a:avLst/>
          </a:prstGeom>
          <a:noFill/>
        </p:spPr>
        <p:txBody>
          <a:bodyPr wrap="square" rtlCol="0">
            <a:spAutoFit/>
          </a:bodyPr>
          <a:lstStyle/>
          <a:p>
            <a:r>
              <a:rPr lang="en-DK" sz="1200" dirty="0"/>
              <a:t>g4</a:t>
            </a:r>
          </a:p>
        </p:txBody>
      </p:sp>
      <p:sp>
        <p:nvSpPr>
          <p:cNvPr id="4097" name="TextBox 4096">
            <a:extLst>
              <a:ext uri="{FF2B5EF4-FFF2-40B4-BE49-F238E27FC236}">
                <a16:creationId xmlns:a16="http://schemas.microsoft.com/office/drawing/2014/main" id="{C20274B2-D959-8C74-B22B-8CBCEB3EFCDB}"/>
              </a:ext>
            </a:extLst>
          </p:cNvPr>
          <p:cNvSpPr txBox="1"/>
          <p:nvPr/>
        </p:nvSpPr>
        <p:spPr>
          <a:xfrm>
            <a:off x="3400746" y="3479682"/>
            <a:ext cx="350781" cy="276999"/>
          </a:xfrm>
          <a:prstGeom prst="rect">
            <a:avLst/>
          </a:prstGeom>
          <a:noFill/>
        </p:spPr>
        <p:txBody>
          <a:bodyPr wrap="square" rtlCol="0">
            <a:spAutoFit/>
          </a:bodyPr>
          <a:lstStyle/>
          <a:p>
            <a:r>
              <a:rPr lang="en-DK" sz="1200" dirty="0"/>
              <a:t>g3</a:t>
            </a:r>
          </a:p>
        </p:txBody>
      </p:sp>
      <p:sp>
        <p:nvSpPr>
          <p:cNvPr id="4099" name="TextBox 4098">
            <a:extLst>
              <a:ext uri="{FF2B5EF4-FFF2-40B4-BE49-F238E27FC236}">
                <a16:creationId xmlns:a16="http://schemas.microsoft.com/office/drawing/2014/main" id="{B8662137-9452-98E7-E1D5-7661FBA09666}"/>
              </a:ext>
            </a:extLst>
          </p:cNvPr>
          <p:cNvSpPr txBox="1"/>
          <p:nvPr/>
        </p:nvSpPr>
        <p:spPr>
          <a:xfrm>
            <a:off x="2778215" y="3479682"/>
            <a:ext cx="681080" cy="276999"/>
          </a:xfrm>
          <a:prstGeom prst="rect">
            <a:avLst/>
          </a:prstGeom>
          <a:noFill/>
        </p:spPr>
        <p:txBody>
          <a:bodyPr wrap="square" rtlCol="0">
            <a:spAutoFit/>
          </a:bodyPr>
          <a:lstStyle/>
          <a:p>
            <a:r>
              <a:rPr lang="en-DK" sz="1200" dirty="0"/>
              <a:t>g1</a:t>
            </a:r>
          </a:p>
        </p:txBody>
      </p:sp>
      <p:sp>
        <p:nvSpPr>
          <p:cNvPr id="4100" name="TextBox 4099">
            <a:extLst>
              <a:ext uri="{FF2B5EF4-FFF2-40B4-BE49-F238E27FC236}">
                <a16:creationId xmlns:a16="http://schemas.microsoft.com/office/drawing/2014/main" id="{F9CFCF01-4DD7-F84D-9307-017D23CE3D41}"/>
              </a:ext>
            </a:extLst>
          </p:cNvPr>
          <p:cNvSpPr txBox="1"/>
          <p:nvPr/>
        </p:nvSpPr>
        <p:spPr>
          <a:xfrm>
            <a:off x="3044146" y="3479682"/>
            <a:ext cx="373897" cy="276999"/>
          </a:xfrm>
          <a:prstGeom prst="rect">
            <a:avLst/>
          </a:prstGeom>
          <a:noFill/>
        </p:spPr>
        <p:txBody>
          <a:bodyPr wrap="square" rtlCol="0">
            <a:spAutoFit/>
          </a:bodyPr>
          <a:lstStyle/>
          <a:p>
            <a:r>
              <a:rPr lang="en-DK" sz="1200" dirty="0"/>
              <a:t>g2</a:t>
            </a:r>
          </a:p>
        </p:txBody>
      </p:sp>
      <p:sp>
        <p:nvSpPr>
          <p:cNvPr id="4101" name="TextBox 4100">
            <a:extLst>
              <a:ext uri="{FF2B5EF4-FFF2-40B4-BE49-F238E27FC236}">
                <a16:creationId xmlns:a16="http://schemas.microsoft.com/office/drawing/2014/main" id="{50769DEE-5970-E174-1C53-6F56A9D764DC}"/>
              </a:ext>
            </a:extLst>
          </p:cNvPr>
          <p:cNvSpPr txBox="1"/>
          <p:nvPr/>
        </p:nvSpPr>
        <p:spPr>
          <a:xfrm>
            <a:off x="3903141" y="3909177"/>
            <a:ext cx="373896" cy="276999"/>
          </a:xfrm>
          <a:prstGeom prst="rect">
            <a:avLst/>
          </a:prstGeom>
          <a:noFill/>
        </p:spPr>
        <p:txBody>
          <a:bodyPr wrap="square" rtlCol="0">
            <a:spAutoFit/>
          </a:bodyPr>
          <a:lstStyle/>
          <a:p>
            <a:r>
              <a:rPr lang="en-DK" sz="1200" dirty="0"/>
              <a:t>g4</a:t>
            </a:r>
          </a:p>
        </p:txBody>
      </p:sp>
      <p:sp>
        <p:nvSpPr>
          <p:cNvPr id="4102" name="TextBox 4101">
            <a:extLst>
              <a:ext uri="{FF2B5EF4-FFF2-40B4-BE49-F238E27FC236}">
                <a16:creationId xmlns:a16="http://schemas.microsoft.com/office/drawing/2014/main" id="{F759BF0B-1A6B-ED4F-48E8-1F1831938485}"/>
              </a:ext>
            </a:extLst>
          </p:cNvPr>
          <p:cNvSpPr txBox="1"/>
          <p:nvPr/>
        </p:nvSpPr>
        <p:spPr>
          <a:xfrm>
            <a:off x="3497727" y="3909177"/>
            <a:ext cx="350781" cy="276999"/>
          </a:xfrm>
          <a:prstGeom prst="rect">
            <a:avLst/>
          </a:prstGeom>
          <a:noFill/>
        </p:spPr>
        <p:txBody>
          <a:bodyPr wrap="square" rtlCol="0">
            <a:spAutoFit/>
          </a:bodyPr>
          <a:lstStyle/>
          <a:p>
            <a:r>
              <a:rPr lang="en-DK" sz="1200" dirty="0"/>
              <a:t>g3</a:t>
            </a:r>
          </a:p>
        </p:txBody>
      </p:sp>
      <p:sp>
        <p:nvSpPr>
          <p:cNvPr id="4103" name="TextBox 4102">
            <a:extLst>
              <a:ext uri="{FF2B5EF4-FFF2-40B4-BE49-F238E27FC236}">
                <a16:creationId xmlns:a16="http://schemas.microsoft.com/office/drawing/2014/main" id="{645E68EB-465F-83E8-C548-1192A42FDA0D}"/>
              </a:ext>
            </a:extLst>
          </p:cNvPr>
          <p:cNvSpPr txBox="1"/>
          <p:nvPr/>
        </p:nvSpPr>
        <p:spPr>
          <a:xfrm>
            <a:off x="2778211" y="3909177"/>
            <a:ext cx="681080" cy="276999"/>
          </a:xfrm>
          <a:prstGeom prst="rect">
            <a:avLst/>
          </a:prstGeom>
          <a:noFill/>
        </p:spPr>
        <p:txBody>
          <a:bodyPr wrap="square" rtlCol="0">
            <a:spAutoFit/>
          </a:bodyPr>
          <a:lstStyle/>
          <a:p>
            <a:r>
              <a:rPr lang="en-DK" sz="1200" dirty="0"/>
              <a:t>g1</a:t>
            </a:r>
          </a:p>
        </p:txBody>
      </p:sp>
      <p:sp>
        <p:nvSpPr>
          <p:cNvPr id="4104" name="TextBox 4103">
            <a:extLst>
              <a:ext uri="{FF2B5EF4-FFF2-40B4-BE49-F238E27FC236}">
                <a16:creationId xmlns:a16="http://schemas.microsoft.com/office/drawing/2014/main" id="{19E226F1-1D3A-78C6-039F-2FFB0B1BBE37}"/>
              </a:ext>
            </a:extLst>
          </p:cNvPr>
          <p:cNvSpPr txBox="1"/>
          <p:nvPr/>
        </p:nvSpPr>
        <p:spPr>
          <a:xfrm>
            <a:off x="3154981" y="3909177"/>
            <a:ext cx="373897" cy="276999"/>
          </a:xfrm>
          <a:prstGeom prst="rect">
            <a:avLst/>
          </a:prstGeom>
          <a:noFill/>
        </p:spPr>
        <p:txBody>
          <a:bodyPr wrap="square" rtlCol="0">
            <a:spAutoFit/>
          </a:bodyPr>
          <a:lstStyle/>
          <a:p>
            <a:r>
              <a:rPr lang="en-DK" sz="1200" dirty="0"/>
              <a:t>g2</a:t>
            </a:r>
          </a:p>
        </p:txBody>
      </p:sp>
      <p:pic>
        <p:nvPicPr>
          <p:cNvPr id="4108" name="Picture 6">
            <a:extLst>
              <a:ext uri="{FF2B5EF4-FFF2-40B4-BE49-F238E27FC236}">
                <a16:creationId xmlns:a16="http://schemas.microsoft.com/office/drawing/2014/main" id="{0C556055-D8F9-AC70-743B-527F358AA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3330" y="3224214"/>
            <a:ext cx="1917111" cy="1223756"/>
          </a:xfrm>
          <a:prstGeom prst="rect">
            <a:avLst/>
          </a:prstGeom>
          <a:noFill/>
          <a:extLst>
            <a:ext uri="{909E8E84-426E-40DD-AFC4-6F175D3DCCD1}">
              <a14:hiddenFill xmlns:a14="http://schemas.microsoft.com/office/drawing/2010/main">
                <a:solidFill>
                  <a:srgbClr val="FFFFFF"/>
                </a:solidFill>
              </a14:hiddenFill>
            </a:ext>
          </a:extLst>
        </p:spPr>
      </p:pic>
      <p:sp>
        <p:nvSpPr>
          <p:cNvPr id="4109" name="TextBox 4108">
            <a:extLst>
              <a:ext uri="{FF2B5EF4-FFF2-40B4-BE49-F238E27FC236}">
                <a16:creationId xmlns:a16="http://schemas.microsoft.com/office/drawing/2014/main" id="{766FA89E-D7BA-F4BD-DA17-5B64F4A2CDFD}"/>
              </a:ext>
            </a:extLst>
          </p:cNvPr>
          <p:cNvSpPr txBox="1"/>
          <p:nvPr/>
        </p:nvSpPr>
        <p:spPr>
          <a:xfrm>
            <a:off x="10571071" y="876064"/>
            <a:ext cx="1842668" cy="1015663"/>
          </a:xfrm>
          <a:prstGeom prst="rect">
            <a:avLst/>
          </a:prstGeom>
          <a:noFill/>
        </p:spPr>
        <p:txBody>
          <a:bodyPr wrap="square" rtlCol="0">
            <a:spAutoFit/>
          </a:bodyPr>
          <a:lstStyle/>
          <a:p>
            <a:pPr marL="285750" indent="-285750">
              <a:buFont typeface="Arial" panose="020B0604020202020204" pitchFamily="34" charset="0"/>
              <a:buChar char="•"/>
            </a:pPr>
            <a:r>
              <a:rPr lang="en-DK" sz="1200" dirty="0"/>
              <a:t>GC content</a:t>
            </a:r>
          </a:p>
          <a:p>
            <a:pPr marL="285750" indent="-285750">
              <a:buFont typeface="Arial" panose="020B0604020202020204" pitchFamily="34" charset="0"/>
              <a:buChar char="•"/>
            </a:pPr>
            <a:r>
              <a:rPr lang="en-DK" sz="1200" dirty="0"/>
              <a:t>tetranuclotide frequencies</a:t>
            </a:r>
          </a:p>
          <a:p>
            <a:pPr marL="285750" indent="-285750">
              <a:buFont typeface="Arial" panose="020B0604020202020204" pitchFamily="34" charset="0"/>
              <a:buChar char="•"/>
            </a:pPr>
            <a:r>
              <a:rPr lang="en-DK" sz="1200" dirty="0"/>
              <a:t>coverage depth across samples</a:t>
            </a:r>
          </a:p>
        </p:txBody>
      </p:sp>
    </p:spTree>
    <p:extLst>
      <p:ext uri="{BB962C8B-B14F-4D97-AF65-F5344CB8AC3E}">
        <p14:creationId xmlns:p14="http://schemas.microsoft.com/office/powerpoint/2010/main" val="2829048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CEDBA-CD56-CC12-C23B-8C0A548D3AAF}"/>
              </a:ext>
            </a:extLst>
          </p:cNvPr>
          <p:cNvSpPr>
            <a:spLocks noGrp="1"/>
          </p:cNvSpPr>
          <p:nvPr>
            <p:ph type="title"/>
          </p:nvPr>
        </p:nvSpPr>
        <p:spPr>
          <a:xfrm>
            <a:off x="671946" y="-166255"/>
            <a:ext cx="10515600" cy="1325563"/>
          </a:xfrm>
        </p:spPr>
        <p:txBody>
          <a:bodyPr/>
          <a:lstStyle/>
          <a:p>
            <a:r>
              <a:rPr lang="en-DK" dirty="0"/>
              <a:t>MAG construction tools</a:t>
            </a:r>
          </a:p>
        </p:txBody>
      </p:sp>
      <p:graphicFrame>
        <p:nvGraphicFramePr>
          <p:cNvPr id="4" name="Table 3">
            <a:extLst>
              <a:ext uri="{FF2B5EF4-FFF2-40B4-BE49-F238E27FC236}">
                <a16:creationId xmlns:a16="http://schemas.microsoft.com/office/drawing/2014/main" id="{31620131-6D97-79B1-935D-7FB347B8E7CB}"/>
              </a:ext>
            </a:extLst>
          </p:cNvPr>
          <p:cNvGraphicFramePr>
            <a:graphicFrameLocks noGrp="1"/>
          </p:cNvGraphicFramePr>
          <p:nvPr>
            <p:extLst>
              <p:ext uri="{D42A27DB-BD31-4B8C-83A1-F6EECF244321}">
                <p14:modId xmlns:p14="http://schemas.microsoft.com/office/powerpoint/2010/main" val="1781302241"/>
              </p:ext>
            </p:extLst>
          </p:nvPr>
        </p:nvGraphicFramePr>
        <p:xfrm>
          <a:off x="671946" y="835070"/>
          <a:ext cx="11132127" cy="5842821"/>
        </p:xfrm>
        <a:graphic>
          <a:graphicData uri="http://schemas.openxmlformats.org/drawingml/2006/table">
            <a:tbl>
              <a:tblPr firstRow="1" bandRow="1">
                <a:tableStyleId>{5C22544A-7EE6-4342-B048-85BDC9FD1C3A}</a:tableStyleId>
              </a:tblPr>
              <a:tblGrid>
                <a:gridCol w="1503218">
                  <a:extLst>
                    <a:ext uri="{9D8B030D-6E8A-4147-A177-3AD203B41FA5}">
                      <a16:colId xmlns:a16="http://schemas.microsoft.com/office/drawing/2014/main" val="1574643294"/>
                    </a:ext>
                  </a:extLst>
                </a:gridCol>
                <a:gridCol w="4031672">
                  <a:extLst>
                    <a:ext uri="{9D8B030D-6E8A-4147-A177-3AD203B41FA5}">
                      <a16:colId xmlns:a16="http://schemas.microsoft.com/office/drawing/2014/main" val="2050142923"/>
                    </a:ext>
                  </a:extLst>
                </a:gridCol>
                <a:gridCol w="2286000">
                  <a:extLst>
                    <a:ext uri="{9D8B030D-6E8A-4147-A177-3AD203B41FA5}">
                      <a16:colId xmlns:a16="http://schemas.microsoft.com/office/drawing/2014/main" val="268567525"/>
                    </a:ext>
                  </a:extLst>
                </a:gridCol>
                <a:gridCol w="3311237">
                  <a:extLst>
                    <a:ext uri="{9D8B030D-6E8A-4147-A177-3AD203B41FA5}">
                      <a16:colId xmlns:a16="http://schemas.microsoft.com/office/drawing/2014/main" val="2418838585"/>
                    </a:ext>
                  </a:extLst>
                </a:gridCol>
              </a:tblGrid>
              <a:tr h="392413">
                <a:tc>
                  <a:txBody>
                    <a:bodyPr/>
                    <a:lstStyle/>
                    <a:p>
                      <a:pPr algn="ctr"/>
                      <a:r>
                        <a:rPr lang="en-DK" sz="1400" dirty="0"/>
                        <a:t>Step</a:t>
                      </a:r>
                    </a:p>
                  </a:txBody>
                  <a:tcPr/>
                </a:tc>
                <a:tc>
                  <a:txBody>
                    <a:bodyPr/>
                    <a:lstStyle/>
                    <a:p>
                      <a:pPr algn="ctr"/>
                      <a:r>
                        <a:rPr lang="en-DK" sz="1400" dirty="0"/>
                        <a:t>Goal</a:t>
                      </a:r>
                    </a:p>
                  </a:txBody>
                  <a:tcPr/>
                </a:tc>
                <a:tc>
                  <a:txBody>
                    <a:bodyPr/>
                    <a:lstStyle/>
                    <a:p>
                      <a:pPr algn="ctr"/>
                      <a:r>
                        <a:rPr lang="en-DK" sz="1400" dirty="0"/>
                        <a:t>Tools</a:t>
                      </a:r>
                    </a:p>
                  </a:txBody>
                  <a:tcPr/>
                </a:tc>
                <a:tc>
                  <a:txBody>
                    <a:bodyPr/>
                    <a:lstStyle/>
                    <a:p>
                      <a:pPr algn="ctr"/>
                      <a:r>
                        <a:rPr lang="en-DK" sz="1400" dirty="0"/>
                        <a:t>Notes</a:t>
                      </a:r>
                    </a:p>
                  </a:txBody>
                  <a:tcPr/>
                </a:tc>
                <a:extLst>
                  <a:ext uri="{0D108BD9-81ED-4DB2-BD59-A6C34878D82A}">
                    <a16:rowId xmlns:a16="http://schemas.microsoft.com/office/drawing/2014/main" val="2032401922"/>
                  </a:ext>
                </a:extLst>
              </a:tr>
              <a:tr h="548303">
                <a:tc>
                  <a:txBody>
                    <a:bodyPr/>
                    <a:lstStyle/>
                    <a:p>
                      <a:pPr algn="ctr"/>
                      <a:r>
                        <a:rPr lang="en-DK" sz="1400" dirty="0"/>
                        <a:t>Quality Control</a:t>
                      </a:r>
                    </a:p>
                  </a:txBody>
                  <a:tcPr anchor="ctr"/>
                </a:tc>
                <a:tc>
                  <a:txBody>
                    <a:bodyPr/>
                    <a:lstStyle/>
                    <a:p>
                      <a:pPr algn="ctr"/>
                      <a:r>
                        <a:rPr lang="en-GB" sz="1400" dirty="0"/>
                        <a:t>Remove low-quality reads, adapters, and contaminants (e.g. host reads)</a:t>
                      </a:r>
                      <a:endParaRPr lang="en-DK" sz="1400" dirty="0"/>
                    </a:p>
                  </a:txBody>
                  <a:tcPr anchor="ctr"/>
                </a:tc>
                <a:tc>
                  <a:txBody>
                    <a:bodyPr/>
                    <a:lstStyle/>
                    <a:p>
                      <a:pPr algn="ctr"/>
                      <a:r>
                        <a:rPr lang="en-GB" sz="1400" dirty="0" err="1"/>
                        <a:t>fastp</a:t>
                      </a:r>
                      <a:r>
                        <a:rPr lang="en-GB" sz="1400" dirty="0"/>
                        <a:t>, </a:t>
                      </a:r>
                      <a:r>
                        <a:rPr lang="en-GB" sz="1400" dirty="0" err="1"/>
                        <a:t>adapterremoval</a:t>
                      </a:r>
                      <a:r>
                        <a:rPr lang="en-GB" sz="1400" dirty="0"/>
                        <a:t>, </a:t>
                      </a:r>
                      <a:r>
                        <a:rPr lang="en-GB" sz="1400" dirty="0" err="1"/>
                        <a:t>Trimmomatic</a:t>
                      </a:r>
                      <a:r>
                        <a:rPr lang="en-GB" sz="1400" dirty="0"/>
                        <a:t>, </a:t>
                      </a:r>
                      <a:r>
                        <a:rPr lang="en-GB" sz="1400" dirty="0" err="1"/>
                        <a:t>BBduk</a:t>
                      </a:r>
                      <a:endParaRPr lang="en-DK" sz="1400" dirty="0"/>
                    </a:p>
                  </a:txBody>
                  <a:tcPr anchor="ctr"/>
                </a:tc>
                <a:tc>
                  <a:txBody>
                    <a:bodyPr/>
                    <a:lstStyle/>
                    <a:p>
                      <a:pPr algn="ctr"/>
                      <a:r>
                        <a:rPr lang="en-DK" sz="1400" dirty="0"/>
                        <a:t>Output: Clean reads</a:t>
                      </a:r>
                    </a:p>
                  </a:txBody>
                  <a:tcPr anchor="ctr"/>
                </a:tc>
                <a:extLst>
                  <a:ext uri="{0D108BD9-81ED-4DB2-BD59-A6C34878D82A}">
                    <a16:rowId xmlns:a16="http://schemas.microsoft.com/office/drawing/2014/main" val="2806798407"/>
                  </a:ext>
                </a:extLst>
              </a:tr>
              <a:tr h="392413">
                <a:tc>
                  <a:txBody>
                    <a:bodyPr/>
                    <a:lstStyle/>
                    <a:p>
                      <a:pPr algn="ctr"/>
                      <a:r>
                        <a:rPr lang="en-DK" sz="1400" dirty="0"/>
                        <a:t>Assembly</a:t>
                      </a:r>
                    </a:p>
                  </a:txBody>
                  <a:tcPr anchor="ctr"/>
                </a:tc>
                <a:tc>
                  <a:txBody>
                    <a:bodyPr/>
                    <a:lstStyle/>
                    <a:p>
                      <a:pPr algn="ctr"/>
                      <a:r>
                        <a:rPr lang="en-GB" sz="1400" dirty="0"/>
                        <a:t>Assemble short reads into longer contigs.</a:t>
                      </a:r>
                      <a:endParaRPr lang="en-DK" sz="1400" dirty="0"/>
                    </a:p>
                  </a:txBody>
                  <a:tcPr anchor="ctr"/>
                </a:tc>
                <a:tc>
                  <a:txBody>
                    <a:bodyPr/>
                    <a:lstStyle/>
                    <a:p>
                      <a:pPr algn="ctr"/>
                      <a:r>
                        <a:rPr lang="en-GB" sz="1400" dirty="0"/>
                        <a:t>MEGAHIT, </a:t>
                      </a:r>
                      <a:r>
                        <a:rPr lang="en-GB" sz="1400" dirty="0" err="1"/>
                        <a:t>metaSPAdes</a:t>
                      </a:r>
                      <a:endParaRPr lang="en-DK" sz="1400" dirty="0"/>
                    </a:p>
                  </a:txBody>
                  <a:tcPr anchor="ctr"/>
                </a:tc>
                <a:tc>
                  <a:txBody>
                    <a:bodyPr/>
                    <a:lstStyle/>
                    <a:p>
                      <a:pPr algn="ctr"/>
                      <a:r>
                        <a:rPr lang="en-DK" sz="1400" dirty="0"/>
                        <a:t>Output: Assembled contigs</a:t>
                      </a:r>
                    </a:p>
                  </a:txBody>
                  <a:tcPr anchor="ctr"/>
                </a:tc>
                <a:extLst>
                  <a:ext uri="{0D108BD9-81ED-4DB2-BD59-A6C34878D82A}">
                    <a16:rowId xmlns:a16="http://schemas.microsoft.com/office/drawing/2014/main" val="3051339999"/>
                  </a:ext>
                </a:extLst>
              </a:tr>
              <a:tr h="774074">
                <a:tc>
                  <a:txBody>
                    <a:bodyPr/>
                    <a:lstStyle/>
                    <a:p>
                      <a:pPr algn="ctr"/>
                      <a:r>
                        <a:rPr lang="en-DK" sz="1400" dirty="0"/>
                        <a:t>Binning</a:t>
                      </a:r>
                    </a:p>
                  </a:txBody>
                  <a:tcPr anchor="ctr"/>
                </a:tc>
                <a:tc>
                  <a:txBody>
                    <a:bodyPr/>
                    <a:lstStyle/>
                    <a:p>
                      <a:pPr algn="ctr"/>
                      <a:r>
                        <a:rPr lang="en-GB" sz="1400" dirty="0"/>
                        <a:t>Group contigs that belong to the same genome</a:t>
                      </a:r>
                      <a:endParaRPr lang="en-DK" sz="1400" dirty="0"/>
                    </a:p>
                  </a:txBody>
                  <a:tcPr anchor="ctr"/>
                </a:tc>
                <a:tc>
                  <a:txBody>
                    <a:bodyPr/>
                    <a:lstStyle/>
                    <a:p>
                      <a:pPr algn="ctr"/>
                      <a:r>
                        <a:rPr lang="en-GB" sz="1400" dirty="0"/>
                        <a:t>MetaBAT2, MaxBin2, CONCOCT, VAMB</a:t>
                      </a:r>
                      <a:endParaRPr lang="en-DK" sz="1400" dirty="0"/>
                    </a:p>
                  </a:txBody>
                  <a:tcPr anchor="ctr"/>
                </a:tc>
                <a:tc>
                  <a:txBody>
                    <a:bodyPr/>
                    <a:lstStyle/>
                    <a:p>
                      <a:pPr algn="ctr"/>
                      <a:r>
                        <a:rPr lang="en-GB" sz="1400" dirty="0"/>
                        <a:t>Output: bins of contigs belonging to the same genome</a:t>
                      </a:r>
                    </a:p>
                    <a:p>
                      <a:pPr algn="ctr"/>
                      <a:r>
                        <a:rPr lang="en-GB" sz="1400" dirty="0"/>
                        <a:t>Using coverage profiles and sequence composition (GC content, tetranucleotide frequency).</a:t>
                      </a:r>
                      <a:endParaRPr lang="en-DK" sz="1400" dirty="0"/>
                    </a:p>
                  </a:txBody>
                  <a:tcPr anchor="ctr"/>
                </a:tc>
                <a:extLst>
                  <a:ext uri="{0D108BD9-81ED-4DB2-BD59-A6C34878D82A}">
                    <a16:rowId xmlns:a16="http://schemas.microsoft.com/office/drawing/2014/main" val="1577135601"/>
                  </a:ext>
                </a:extLst>
              </a:tr>
              <a:tr h="548303">
                <a:tc>
                  <a:txBody>
                    <a:bodyPr/>
                    <a:lstStyle/>
                    <a:p>
                      <a:pPr algn="ctr"/>
                      <a:r>
                        <a:rPr lang="en-DK" sz="1400" dirty="0"/>
                        <a:t>Bin refinment</a:t>
                      </a:r>
                    </a:p>
                  </a:txBody>
                  <a:tcPr anchor="ctr"/>
                </a:tc>
                <a:tc>
                  <a:txBody>
                    <a:bodyPr/>
                    <a:lstStyle/>
                    <a:p>
                      <a:pPr algn="ctr"/>
                      <a:r>
                        <a:rPr lang="en-GB" sz="1400" dirty="0"/>
                        <a:t>Improve bin quality and merge results from different binning tools</a:t>
                      </a:r>
                      <a:endParaRPr lang="en-DK" sz="1400" dirty="0"/>
                    </a:p>
                  </a:txBody>
                  <a:tcPr anchor="ctr"/>
                </a:tc>
                <a:tc>
                  <a:txBody>
                    <a:bodyPr/>
                    <a:lstStyle/>
                    <a:p>
                      <a:pPr algn="ctr"/>
                      <a:r>
                        <a:rPr lang="en-GB" sz="1400" dirty="0" err="1"/>
                        <a:t>DASTool</a:t>
                      </a:r>
                      <a:r>
                        <a:rPr lang="en-GB" sz="1400" dirty="0"/>
                        <a:t>, </a:t>
                      </a:r>
                      <a:r>
                        <a:rPr lang="en-GB" sz="1400" dirty="0" err="1"/>
                        <a:t>metaWRAP</a:t>
                      </a:r>
                      <a:endParaRPr lang="en-DK"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K" sz="1400" dirty="0"/>
                        <a:t>Output: Refined bins</a:t>
                      </a:r>
                    </a:p>
                    <a:p>
                      <a:pPr algn="ctr"/>
                      <a:endParaRPr lang="en-DK" sz="1400" dirty="0"/>
                    </a:p>
                  </a:txBody>
                  <a:tcPr anchor="ctr"/>
                </a:tc>
                <a:extLst>
                  <a:ext uri="{0D108BD9-81ED-4DB2-BD59-A6C34878D82A}">
                    <a16:rowId xmlns:a16="http://schemas.microsoft.com/office/drawing/2014/main" val="1600299923"/>
                  </a:ext>
                </a:extLst>
              </a:tr>
              <a:tr h="999846">
                <a:tc>
                  <a:txBody>
                    <a:bodyPr/>
                    <a:lstStyle/>
                    <a:p>
                      <a:pPr algn="ctr"/>
                      <a:r>
                        <a:rPr lang="en-DK" sz="1400" dirty="0"/>
                        <a:t>Quality Assessment</a:t>
                      </a:r>
                    </a:p>
                  </a:txBody>
                  <a:tcPr anchor="ctr"/>
                </a:tc>
                <a:tc>
                  <a:txBody>
                    <a:bodyPr/>
                    <a:lstStyle/>
                    <a:p>
                      <a:pPr algn="ctr"/>
                      <a:r>
                        <a:rPr lang="en-GB" sz="1400" dirty="0"/>
                        <a:t>Assess completeness and contamination of bins (MAGs)</a:t>
                      </a:r>
                      <a:endParaRPr lang="en-DK" sz="1400" dirty="0"/>
                    </a:p>
                  </a:txBody>
                  <a:tcPr anchor="ctr"/>
                </a:tc>
                <a:tc>
                  <a:txBody>
                    <a:bodyPr/>
                    <a:lstStyle/>
                    <a:p>
                      <a:pPr algn="ctr"/>
                      <a:r>
                        <a:rPr lang="en-GB" sz="1400" dirty="0" err="1"/>
                        <a:t>CheckM</a:t>
                      </a:r>
                      <a:r>
                        <a:rPr lang="en-GB" sz="1400" dirty="0"/>
                        <a:t>, BUSCO</a:t>
                      </a:r>
                      <a:endParaRPr lang="en-DK" sz="1400" dirty="0"/>
                    </a:p>
                  </a:txBody>
                  <a:tcPr anchor="ctr"/>
                </a:tc>
                <a:tc>
                  <a:txBody>
                    <a:bodyPr/>
                    <a:lstStyle/>
                    <a:p>
                      <a:pPr algn="ctr"/>
                      <a:r>
                        <a:rPr lang="en-GB" sz="1400" b="0" dirty="0"/>
                        <a:t>Metrics usually used:</a:t>
                      </a:r>
                      <a:br>
                        <a:rPr lang="en-GB" sz="1400" b="0" dirty="0"/>
                      </a:br>
                      <a:r>
                        <a:rPr lang="en-GB" sz="1400" b="0" dirty="0"/>
                        <a:t>High-quality MAG: &gt;90% completeness, &lt;5% contamination.</a:t>
                      </a:r>
                    </a:p>
                    <a:p>
                      <a:pPr algn="ctr"/>
                      <a:r>
                        <a:rPr lang="en-GB" sz="1400" b="0" dirty="0"/>
                        <a:t>Medium-quality MAG: &gt;50% completeness, &lt;10% contamination</a:t>
                      </a:r>
                      <a:r>
                        <a:rPr lang="en-GB" sz="1400" dirty="0"/>
                        <a:t>.</a:t>
                      </a:r>
                    </a:p>
                  </a:txBody>
                  <a:tcPr anchor="ctr"/>
                </a:tc>
                <a:extLst>
                  <a:ext uri="{0D108BD9-81ED-4DB2-BD59-A6C34878D82A}">
                    <a16:rowId xmlns:a16="http://schemas.microsoft.com/office/drawing/2014/main" val="2378091126"/>
                  </a:ext>
                </a:extLst>
              </a:tr>
              <a:tr h="548303">
                <a:tc>
                  <a:txBody>
                    <a:bodyPr/>
                    <a:lstStyle/>
                    <a:p>
                      <a:pPr algn="ctr"/>
                      <a:r>
                        <a:rPr lang="en-DK" sz="1400" dirty="0"/>
                        <a:t>Taxonomic classification</a:t>
                      </a:r>
                    </a:p>
                  </a:txBody>
                  <a:tcPr anchor="ctr"/>
                </a:tc>
                <a:tc>
                  <a:txBody>
                    <a:bodyPr/>
                    <a:lstStyle/>
                    <a:p>
                      <a:pPr algn="ctr"/>
                      <a:r>
                        <a:rPr lang="en-DK" sz="1400" dirty="0"/>
                        <a:t>Assign taxonomy to MAGs</a:t>
                      </a:r>
                    </a:p>
                  </a:txBody>
                  <a:tcPr anchor="ctr"/>
                </a:tc>
                <a:tc>
                  <a:txBody>
                    <a:bodyPr/>
                    <a:lstStyle/>
                    <a:p>
                      <a:pPr algn="ctr"/>
                      <a:r>
                        <a:rPr lang="en-GB" sz="1400" dirty="0"/>
                        <a:t>GTDB-Tk, Kraken2, CAT/BAT</a:t>
                      </a:r>
                      <a:endParaRPr lang="en-DK" sz="1400" dirty="0"/>
                    </a:p>
                  </a:txBody>
                  <a:tcPr anchor="ctr"/>
                </a:tc>
                <a:tc>
                  <a:txBody>
                    <a:bodyPr/>
                    <a:lstStyle/>
                    <a:p>
                      <a:pPr algn="ctr"/>
                      <a:r>
                        <a:rPr lang="en-DK" sz="1400" dirty="0"/>
                        <a:t>Output: taxonomically annotated MAGs</a:t>
                      </a:r>
                    </a:p>
                  </a:txBody>
                  <a:tcPr anchor="ctr"/>
                </a:tc>
                <a:extLst>
                  <a:ext uri="{0D108BD9-81ED-4DB2-BD59-A6C34878D82A}">
                    <a16:rowId xmlns:a16="http://schemas.microsoft.com/office/drawing/2014/main" val="3657986237"/>
                  </a:ext>
                </a:extLst>
              </a:tr>
              <a:tr h="548303">
                <a:tc>
                  <a:txBody>
                    <a:bodyPr/>
                    <a:lstStyle/>
                    <a:p>
                      <a:pPr algn="ctr"/>
                      <a:r>
                        <a:rPr lang="en-DK" sz="1400" dirty="0"/>
                        <a:t>Functional annotation</a:t>
                      </a:r>
                    </a:p>
                  </a:txBody>
                  <a:tcPr anchor="ctr"/>
                </a:tc>
                <a:tc>
                  <a:txBody>
                    <a:bodyPr/>
                    <a:lstStyle/>
                    <a:p>
                      <a:pPr algn="ctr"/>
                      <a:r>
                        <a:rPr lang="en-GB" sz="1400" dirty="0"/>
                        <a:t>Predict genes and metabolic functions</a:t>
                      </a:r>
                      <a:endParaRPr lang="en-DK" sz="1400" dirty="0"/>
                    </a:p>
                  </a:txBody>
                  <a:tcPr anchor="ctr"/>
                </a:tc>
                <a:tc>
                  <a:txBody>
                    <a:bodyPr/>
                    <a:lstStyle/>
                    <a:p>
                      <a:pPr algn="ctr"/>
                      <a:r>
                        <a:rPr lang="en-GB" sz="1400" dirty="0" err="1"/>
                        <a:t>Prokka</a:t>
                      </a:r>
                      <a:r>
                        <a:rPr lang="en-GB" sz="1400" dirty="0"/>
                        <a:t>, </a:t>
                      </a:r>
                      <a:r>
                        <a:rPr lang="en-GB" sz="1400" dirty="0" err="1"/>
                        <a:t>EggNOG</a:t>
                      </a:r>
                      <a:r>
                        <a:rPr lang="en-GB" sz="1400" dirty="0"/>
                        <a:t>-mapper</a:t>
                      </a:r>
                      <a:endParaRPr lang="en-DK"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K" sz="1400" dirty="0"/>
                        <a:t>Out put: functionally annotated MAGs</a:t>
                      </a:r>
                    </a:p>
                  </a:txBody>
                  <a:tcPr anchor="ctr"/>
                </a:tc>
                <a:extLst>
                  <a:ext uri="{0D108BD9-81ED-4DB2-BD59-A6C34878D82A}">
                    <a16:rowId xmlns:a16="http://schemas.microsoft.com/office/drawing/2014/main" val="2223900695"/>
                  </a:ext>
                </a:extLst>
              </a:tr>
              <a:tr h="548303">
                <a:tc>
                  <a:txBody>
                    <a:bodyPr/>
                    <a:lstStyle/>
                    <a:p>
                      <a:pPr algn="ctr"/>
                      <a:r>
                        <a:rPr lang="en-DK" sz="1400" dirty="0"/>
                        <a:t>Phylogenomic analysis</a:t>
                      </a:r>
                    </a:p>
                  </a:txBody>
                  <a:tcPr anchor="ctr"/>
                </a:tc>
                <a:tc>
                  <a:txBody>
                    <a:bodyPr/>
                    <a:lstStyle/>
                    <a:p>
                      <a:pPr algn="ctr"/>
                      <a:r>
                        <a:rPr lang="en-DK" sz="1400" dirty="0"/>
                        <a:t>Compare MAGs evolutionarily</a:t>
                      </a:r>
                    </a:p>
                  </a:txBody>
                  <a:tcPr anchor="ctr"/>
                </a:tc>
                <a:tc>
                  <a:txBody>
                    <a:bodyPr/>
                    <a:lstStyle/>
                    <a:p>
                      <a:pPr algn="ctr"/>
                      <a:r>
                        <a:rPr lang="en-GB" sz="1400" dirty="0" err="1"/>
                        <a:t>PhyloPhlAn</a:t>
                      </a:r>
                      <a:r>
                        <a:rPr lang="en-GB" sz="1400" dirty="0"/>
                        <a:t>, </a:t>
                      </a:r>
                      <a:r>
                        <a:rPr lang="en-GB" sz="1400" dirty="0" err="1"/>
                        <a:t>Anvi’o</a:t>
                      </a:r>
                      <a:r>
                        <a:rPr lang="en-GB" sz="1400" dirty="0"/>
                        <a:t>, IQ-TREE</a:t>
                      </a:r>
                      <a:endParaRPr lang="en-DK" sz="1400" dirty="0"/>
                    </a:p>
                  </a:txBody>
                  <a:tcPr anchor="ctr"/>
                </a:tc>
                <a:tc>
                  <a:txBody>
                    <a:bodyPr/>
                    <a:lstStyle/>
                    <a:p>
                      <a:pPr algn="ctr"/>
                      <a:r>
                        <a:rPr lang="en-DK" sz="1400" dirty="0"/>
                        <a:t>Output: Phylogenetic trees based on MAGs</a:t>
                      </a:r>
                    </a:p>
                  </a:txBody>
                  <a:tcPr anchor="ctr"/>
                </a:tc>
                <a:extLst>
                  <a:ext uri="{0D108BD9-81ED-4DB2-BD59-A6C34878D82A}">
                    <a16:rowId xmlns:a16="http://schemas.microsoft.com/office/drawing/2014/main" val="4202433300"/>
                  </a:ext>
                </a:extLst>
              </a:tr>
            </a:tbl>
          </a:graphicData>
        </a:graphic>
      </p:graphicFrame>
      <p:sp>
        <p:nvSpPr>
          <p:cNvPr id="5" name="TextBox 4">
            <a:extLst>
              <a:ext uri="{FF2B5EF4-FFF2-40B4-BE49-F238E27FC236}">
                <a16:creationId xmlns:a16="http://schemas.microsoft.com/office/drawing/2014/main" id="{7826ADEE-FA08-78C3-C003-9CA45E18E5C3}"/>
              </a:ext>
            </a:extLst>
          </p:cNvPr>
          <p:cNvSpPr txBox="1"/>
          <p:nvPr/>
        </p:nvSpPr>
        <p:spPr>
          <a:xfrm>
            <a:off x="7932420" y="342637"/>
            <a:ext cx="3783330" cy="307777"/>
          </a:xfrm>
          <a:prstGeom prst="rect">
            <a:avLst/>
          </a:prstGeom>
          <a:noFill/>
        </p:spPr>
        <p:txBody>
          <a:bodyPr wrap="square" rtlCol="0">
            <a:spAutoFit/>
          </a:bodyPr>
          <a:lstStyle/>
          <a:p>
            <a:r>
              <a:rPr lang="en-GB" sz="1400" dirty="0">
                <a:hlinkClick r:id="rId3"/>
              </a:rPr>
              <a:t>https://pubmed.ncbi.nlm.nih.gov/28898207/</a:t>
            </a:r>
            <a:endParaRPr lang="en-GB" sz="1400" dirty="0"/>
          </a:p>
        </p:txBody>
      </p:sp>
    </p:spTree>
    <p:extLst>
      <p:ext uri="{BB962C8B-B14F-4D97-AF65-F5344CB8AC3E}">
        <p14:creationId xmlns:p14="http://schemas.microsoft.com/office/powerpoint/2010/main" val="1718749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71451-74FA-A847-B9DA-D6212365625A}"/>
              </a:ext>
            </a:extLst>
          </p:cNvPr>
          <p:cNvSpPr>
            <a:spLocks noGrp="1"/>
          </p:cNvSpPr>
          <p:nvPr>
            <p:ph type="title"/>
          </p:nvPr>
        </p:nvSpPr>
        <p:spPr>
          <a:xfrm>
            <a:off x="838200" y="0"/>
            <a:ext cx="10515600" cy="1325563"/>
          </a:xfrm>
        </p:spPr>
        <p:txBody>
          <a:bodyPr/>
          <a:lstStyle/>
          <a:p>
            <a:r>
              <a:rPr lang="en-DK" dirty="0"/>
              <a:t>Comparing the three methods</a:t>
            </a:r>
          </a:p>
        </p:txBody>
      </p:sp>
      <p:graphicFrame>
        <p:nvGraphicFramePr>
          <p:cNvPr id="4" name="Table 3">
            <a:extLst>
              <a:ext uri="{FF2B5EF4-FFF2-40B4-BE49-F238E27FC236}">
                <a16:creationId xmlns:a16="http://schemas.microsoft.com/office/drawing/2014/main" id="{3F103274-35A9-FA6D-5BDA-55F70862CBA8}"/>
              </a:ext>
            </a:extLst>
          </p:cNvPr>
          <p:cNvGraphicFramePr>
            <a:graphicFrameLocks noGrp="1"/>
          </p:cNvGraphicFramePr>
          <p:nvPr>
            <p:extLst>
              <p:ext uri="{D42A27DB-BD31-4B8C-83A1-F6EECF244321}">
                <p14:modId xmlns:p14="http://schemas.microsoft.com/office/powerpoint/2010/main" val="3133893287"/>
              </p:ext>
            </p:extLst>
          </p:nvPr>
        </p:nvGraphicFramePr>
        <p:xfrm>
          <a:off x="754911" y="1233488"/>
          <a:ext cx="10515600" cy="50698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989972497"/>
                    </a:ext>
                  </a:extLst>
                </a:gridCol>
                <a:gridCol w="2628900">
                  <a:extLst>
                    <a:ext uri="{9D8B030D-6E8A-4147-A177-3AD203B41FA5}">
                      <a16:colId xmlns:a16="http://schemas.microsoft.com/office/drawing/2014/main" val="369574122"/>
                    </a:ext>
                  </a:extLst>
                </a:gridCol>
                <a:gridCol w="2628900">
                  <a:extLst>
                    <a:ext uri="{9D8B030D-6E8A-4147-A177-3AD203B41FA5}">
                      <a16:colId xmlns:a16="http://schemas.microsoft.com/office/drawing/2014/main" val="2266295834"/>
                    </a:ext>
                  </a:extLst>
                </a:gridCol>
                <a:gridCol w="2628900">
                  <a:extLst>
                    <a:ext uri="{9D8B030D-6E8A-4147-A177-3AD203B41FA5}">
                      <a16:colId xmlns:a16="http://schemas.microsoft.com/office/drawing/2014/main" val="608773954"/>
                    </a:ext>
                  </a:extLst>
                </a:gridCol>
              </a:tblGrid>
              <a:tr h="370840">
                <a:tc>
                  <a:txBody>
                    <a:bodyPr/>
                    <a:lstStyle/>
                    <a:p>
                      <a:endParaRPr lang="en-DK"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K" sz="1600" dirty="0"/>
                        <a:t>Amplicon/16S sequencing</a:t>
                      </a:r>
                    </a:p>
                  </a:txBody>
                  <a:tcPr anchor="ctr"/>
                </a:tc>
                <a:tc gridSpan="2">
                  <a:txBody>
                    <a:bodyPr/>
                    <a:lstStyle/>
                    <a:p>
                      <a:pPr algn="ctr"/>
                      <a:r>
                        <a:rPr lang="en-DK" sz="1600" dirty="0"/>
                        <a:t>Shotgun metagenomics</a:t>
                      </a:r>
                    </a:p>
                  </a:txBody>
                  <a:tcPr anchor="ctr"/>
                </a:tc>
                <a:tc hMerge="1">
                  <a:txBody>
                    <a:bodyPr/>
                    <a:lstStyle/>
                    <a:p>
                      <a:endParaRPr lang="en-DK" dirty="0"/>
                    </a:p>
                  </a:txBody>
                  <a:tcPr/>
                </a:tc>
                <a:extLst>
                  <a:ext uri="{0D108BD9-81ED-4DB2-BD59-A6C34878D82A}">
                    <a16:rowId xmlns:a16="http://schemas.microsoft.com/office/drawing/2014/main" val="2776263415"/>
                  </a:ext>
                </a:extLst>
              </a:tr>
              <a:tr h="370840">
                <a:tc gridSpan="2">
                  <a:txBody>
                    <a:bodyPr/>
                    <a:lstStyle/>
                    <a:p>
                      <a:endParaRPr lang="en-DK" sz="1600" dirty="0"/>
                    </a:p>
                  </a:txBody>
                  <a:tcPr/>
                </a:tc>
                <a:tc hMerge="1">
                  <a:txBody>
                    <a:bodyPr/>
                    <a:lstStyle/>
                    <a:p>
                      <a:endParaRPr lang="en-DK" dirty="0"/>
                    </a:p>
                  </a:txBody>
                  <a:tcPr/>
                </a:tc>
                <a:tc>
                  <a:txBody>
                    <a:bodyPr/>
                    <a:lstStyle/>
                    <a:p>
                      <a:pPr algn="ctr"/>
                      <a:r>
                        <a:rPr lang="en-DK" sz="1600" dirty="0"/>
                        <a:t>Reference - based</a:t>
                      </a:r>
                    </a:p>
                  </a:txBody>
                  <a:tcPr anchor="ctr"/>
                </a:tc>
                <a:tc>
                  <a:txBody>
                    <a:bodyPr/>
                    <a:lstStyle/>
                    <a:p>
                      <a:pPr algn="ctr"/>
                      <a:r>
                        <a:rPr lang="en-DK" sz="1600" dirty="0"/>
                        <a:t>Assembly - based</a:t>
                      </a:r>
                    </a:p>
                  </a:txBody>
                  <a:tcPr anchor="ctr"/>
                </a:tc>
                <a:extLst>
                  <a:ext uri="{0D108BD9-81ED-4DB2-BD59-A6C34878D82A}">
                    <a16:rowId xmlns:a16="http://schemas.microsoft.com/office/drawing/2014/main" val="3280208918"/>
                  </a:ext>
                </a:extLst>
              </a:tr>
              <a:tr h="370840">
                <a:tc>
                  <a:txBody>
                    <a:bodyPr/>
                    <a:lstStyle/>
                    <a:p>
                      <a:pPr algn="ctr"/>
                      <a:r>
                        <a:rPr lang="en-DK" sz="1600" dirty="0"/>
                        <a:t>Pros </a:t>
                      </a:r>
                    </a:p>
                  </a:txBody>
                  <a:tcPr anchor="ctr"/>
                </a:tc>
                <a:tc>
                  <a:txBody>
                    <a:bodyPr/>
                    <a:lstStyle/>
                    <a:p>
                      <a:pPr marL="285750" indent="-285750">
                        <a:buFont typeface="Arial" panose="020B0604020202020204" pitchFamily="34" charset="0"/>
                        <a:buChar char="•"/>
                      </a:pPr>
                      <a:r>
                        <a:rPr lang="en-DK" sz="1600" dirty="0"/>
                        <a:t>Can handle low biomass / non-bacterial contamination</a:t>
                      </a:r>
                    </a:p>
                    <a:p>
                      <a:pPr marL="285750" indent="-285750">
                        <a:buFont typeface="Arial" panose="020B0604020202020204" pitchFamily="34" charset="0"/>
                        <a:buChar char="•"/>
                      </a:pPr>
                      <a:r>
                        <a:rPr lang="en-DK" sz="1600" dirty="0"/>
                        <a:t>Rough taxonomy of novel species</a:t>
                      </a:r>
                    </a:p>
                    <a:p>
                      <a:pPr marL="285750" indent="-285750">
                        <a:buFont typeface="Arial" panose="020B0604020202020204" pitchFamily="34" charset="0"/>
                        <a:buChar char="•"/>
                      </a:pPr>
                      <a:r>
                        <a:rPr lang="en-DK" sz="1600" dirty="0"/>
                        <a:t>Less expensive</a:t>
                      </a:r>
                    </a:p>
                  </a:txBody>
                  <a:tcPr/>
                </a:tc>
                <a:tc>
                  <a:txBody>
                    <a:bodyPr/>
                    <a:lstStyle/>
                    <a:p>
                      <a:pPr marL="285750" indent="-285750">
                        <a:buFont typeface="Arial" panose="020B0604020202020204" pitchFamily="34" charset="0"/>
                        <a:buChar char="•"/>
                      </a:pPr>
                      <a:r>
                        <a:rPr lang="en-DK" sz="1600" dirty="0"/>
                        <a:t>High resolution (subspecies, genes SNVs)</a:t>
                      </a:r>
                    </a:p>
                    <a:p>
                      <a:pPr marL="285750" indent="-285750">
                        <a:buFont typeface="Arial" panose="020B0604020202020204" pitchFamily="34" charset="0"/>
                        <a:buChar char="•"/>
                      </a:pPr>
                      <a:r>
                        <a:rPr lang="en-DK" sz="1600" dirty="0"/>
                        <a:t>Can detect all DNA in the sample (also virus, fungus, protozoa,…)</a:t>
                      </a:r>
                    </a:p>
                    <a:p>
                      <a:pPr marL="285750" indent="-285750">
                        <a:buFont typeface="Arial" panose="020B0604020202020204" pitchFamily="34" charset="0"/>
                        <a:buChar char="•"/>
                      </a:pPr>
                      <a:r>
                        <a:rPr lang="en-DK" sz="1600" dirty="0"/>
                        <a:t>Fast and scales well</a:t>
                      </a:r>
                    </a:p>
                    <a:p>
                      <a:pPr marL="285750" indent="-285750">
                        <a:buFont typeface="Arial" panose="020B0604020202020204" pitchFamily="34" charset="0"/>
                        <a:buChar char="•"/>
                      </a:pPr>
                      <a:r>
                        <a:rPr lang="en-DK" sz="1600" dirty="0"/>
                        <a:t>Finds rare entities</a:t>
                      </a:r>
                    </a:p>
                  </a:txBody>
                  <a:tcPr/>
                </a:tc>
                <a:tc>
                  <a:txBody>
                    <a:bodyPr/>
                    <a:lstStyle/>
                    <a:p>
                      <a:pPr marL="285750" indent="-285750">
                        <a:buFont typeface="Arial" panose="020B0604020202020204" pitchFamily="34" charset="0"/>
                        <a:buChar char="•"/>
                      </a:pPr>
                      <a:r>
                        <a:rPr lang="en-DK" sz="1600" dirty="0"/>
                        <a:t>High resolution (subspecies, genes SNVs)</a:t>
                      </a:r>
                    </a:p>
                    <a:p>
                      <a:pPr marL="285750" indent="-285750">
                        <a:buFont typeface="Arial" panose="020B0604020202020204" pitchFamily="34" charset="0"/>
                        <a:buChar char="•"/>
                      </a:pPr>
                      <a:r>
                        <a:rPr lang="en-DK" sz="1600" dirty="0"/>
                        <a:t>Can detect all DNA in the sample (also virus, fungus, protozoa,…)</a:t>
                      </a:r>
                    </a:p>
                    <a:p>
                      <a:pPr marL="285750" indent="-285750">
                        <a:buFont typeface="Arial" panose="020B0604020202020204" pitchFamily="34" charset="0"/>
                        <a:buChar char="•"/>
                      </a:pPr>
                      <a:r>
                        <a:rPr lang="en-DK" sz="1600" dirty="0"/>
                        <a:t>Can identify novel genomes, genes and synteny patterns</a:t>
                      </a:r>
                    </a:p>
                  </a:txBody>
                  <a:tcPr/>
                </a:tc>
                <a:extLst>
                  <a:ext uri="{0D108BD9-81ED-4DB2-BD59-A6C34878D82A}">
                    <a16:rowId xmlns:a16="http://schemas.microsoft.com/office/drawing/2014/main" val="3744426576"/>
                  </a:ext>
                </a:extLst>
              </a:tr>
              <a:tr h="370840">
                <a:tc>
                  <a:txBody>
                    <a:bodyPr/>
                    <a:lstStyle/>
                    <a:p>
                      <a:pPr algn="ctr"/>
                      <a:r>
                        <a:rPr lang="en-DK" sz="1600" dirty="0"/>
                        <a:t>Cons</a:t>
                      </a:r>
                    </a:p>
                  </a:txBody>
                  <a:tcPr anchor="ctr"/>
                </a:tc>
                <a:tc>
                  <a:txBody>
                    <a:bodyPr/>
                    <a:lstStyle/>
                    <a:p>
                      <a:pPr marL="285750" indent="-285750">
                        <a:buFont typeface="Arial" panose="020B0604020202020204" pitchFamily="34" charset="0"/>
                        <a:buChar char="•"/>
                      </a:pPr>
                      <a:r>
                        <a:rPr lang="en-DK" sz="1600" dirty="0"/>
                        <a:t>Low resolution</a:t>
                      </a:r>
                    </a:p>
                    <a:p>
                      <a:pPr marL="285750" indent="-285750">
                        <a:buFont typeface="Arial" panose="020B0604020202020204" pitchFamily="34" charset="0"/>
                        <a:buChar char="•"/>
                      </a:pPr>
                      <a:r>
                        <a:rPr lang="en-DK" sz="1600" dirty="0"/>
                        <a:t>Limited to bacteria or archaea</a:t>
                      </a:r>
                    </a:p>
                    <a:p>
                      <a:pPr marL="285750" indent="-285750">
                        <a:buFont typeface="Arial" panose="020B0604020202020204" pitchFamily="34" charset="0"/>
                        <a:buChar char="•"/>
                      </a:pPr>
                      <a:r>
                        <a:rPr lang="en-DK" sz="1600" dirty="0"/>
                        <a:t>No subspecies or strains resolution</a:t>
                      </a:r>
                    </a:p>
                    <a:p>
                      <a:pPr marL="285750" indent="-285750">
                        <a:buFont typeface="Arial" panose="020B0604020202020204" pitchFamily="34" charset="0"/>
                        <a:buChar char="•"/>
                      </a:pPr>
                      <a:r>
                        <a:rPr lang="en-DK" sz="1600" dirty="0"/>
                        <a:t>Biases due to PCR amplification / amplicon copy number variation</a:t>
                      </a:r>
                    </a:p>
                  </a:txBody>
                  <a:tcPr/>
                </a:tc>
                <a:tc>
                  <a:txBody>
                    <a:bodyPr/>
                    <a:lstStyle/>
                    <a:p>
                      <a:pPr marL="285750" indent="-285750">
                        <a:buFont typeface="Arial" panose="020B0604020202020204" pitchFamily="34" charset="0"/>
                        <a:buChar char="•"/>
                      </a:pPr>
                      <a:r>
                        <a:rPr lang="en-DK" sz="1600" dirty="0"/>
                        <a:t>Does not work well for low biomass</a:t>
                      </a:r>
                    </a:p>
                    <a:p>
                      <a:pPr marL="285750" indent="-285750">
                        <a:buFont typeface="Arial" panose="020B0604020202020204" pitchFamily="34" charset="0"/>
                        <a:buChar char="•"/>
                      </a:pPr>
                      <a:r>
                        <a:rPr lang="en-DK" sz="1600" dirty="0"/>
                        <a:t>More expensive than 16S</a:t>
                      </a:r>
                    </a:p>
                    <a:p>
                      <a:pPr marL="285750" indent="-285750">
                        <a:buFont typeface="Arial" panose="020B0604020202020204" pitchFamily="34" charset="0"/>
                        <a:buChar char="•"/>
                      </a:pPr>
                      <a:r>
                        <a:rPr lang="en-DK" sz="1600" dirty="0"/>
                        <a:t>Limited to what is known in the databases</a:t>
                      </a:r>
                    </a:p>
                  </a:txBody>
                  <a:tcPr/>
                </a:tc>
                <a:tc>
                  <a:txBody>
                    <a:bodyPr/>
                    <a:lstStyle/>
                    <a:p>
                      <a:pPr marL="285750" indent="-285750">
                        <a:buFont typeface="Arial" panose="020B0604020202020204" pitchFamily="34" charset="0"/>
                        <a:buChar char="•"/>
                      </a:pPr>
                      <a:r>
                        <a:rPr lang="en-DK" sz="1600" dirty="0"/>
                        <a:t>Does not work well for low biomass</a:t>
                      </a:r>
                    </a:p>
                    <a:p>
                      <a:pPr marL="285750" indent="-285750">
                        <a:buFont typeface="Arial" panose="020B0604020202020204" pitchFamily="34" charset="0"/>
                        <a:buChar char="•"/>
                      </a:pPr>
                      <a:r>
                        <a:rPr lang="en-DK" sz="1600" dirty="0"/>
                        <a:t>More expensive than 16S</a:t>
                      </a:r>
                    </a:p>
                    <a:p>
                      <a:pPr marL="285750" indent="-285750">
                        <a:buFont typeface="Arial" panose="020B0604020202020204" pitchFamily="34" charset="0"/>
                        <a:buChar char="•"/>
                      </a:pPr>
                      <a:r>
                        <a:rPr lang="en-DK" sz="1600" dirty="0"/>
                        <a:t>Misses rare entities</a:t>
                      </a:r>
                    </a:p>
                    <a:p>
                      <a:pPr marL="285750" indent="-285750">
                        <a:buFont typeface="Arial" panose="020B0604020202020204" pitchFamily="34" charset="0"/>
                        <a:buChar char="•"/>
                      </a:pPr>
                      <a:r>
                        <a:rPr lang="en-DK" sz="1600" dirty="0"/>
                        <a:t>Computationally very intensive</a:t>
                      </a:r>
                    </a:p>
                  </a:txBody>
                  <a:tcPr/>
                </a:tc>
                <a:extLst>
                  <a:ext uri="{0D108BD9-81ED-4DB2-BD59-A6C34878D82A}">
                    <a16:rowId xmlns:a16="http://schemas.microsoft.com/office/drawing/2014/main" val="3187554478"/>
                  </a:ext>
                </a:extLst>
              </a:tr>
            </a:tbl>
          </a:graphicData>
        </a:graphic>
      </p:graphicFrame>
    </p:spTree>
    <p:extLst>
      <p:ext uri="{BB962C8B-B14F-4D97-AF65-F5344CB8AC3E}">
        <p14:creationId xmlns:p14="http://schemas.microsoft.com/office/powerpoint/2010/main" val="2403424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2371F9-4009-C5A7-259B-4E74DECE4DB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Rectangle 10">
            <a:extLst>
              <a:ext uri="{FF2B5EF4-FFF2-40B4-BE49-F238E27FC236}">
                <a16:creationId xmlns:a16="http://schemas.microsoft.com/office/drawing/2014/main" id="{0BD8B065-EE51-4AE2-A94C-86249998F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83991F-4406-E4C9-EC2A-59629FA5654A}"/>
              </a:ext>
            </a:extLst>
          </p:cNvPr>
          <p:cNvSpPr>
            <a:spLocks noGrp="1"/>
          </p:cNvSpPr>
          <p:nvPr>
            <p:ph type="title"/>
          </p:nvPr>
        </p:nvSpPr>
        <p:spPr>
          <a:xfrm>
            <a:off x="3371787" y="1741337"/>
            <a:ext cx="5448730" cy="2387918"/>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Functional profiling</a:t>
            </a:r>
          </a:p>
        </p:txBody>
      </p:sp>
      <p:grpSp>
        <p:nvGrpSpPr>
          <p:cNvPr id="13" name="Group 12">
            <a:extLst>
              <a:ext uri="{FF2B5EF4-FFF2-40B4-BE49-F238E27FC236}">
                <a16:creationId xmlns:a16="http://schemas.microsoft.com/office/drawing/2014/main" id="{18999293-B054-4B57-A26F-D04C2BB11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14" name="Freeform: Shape 13">
              <a:extLst>
                <a:ext uri="{FF2B5EF4-FFF2-40B4-BE49-F238E27FC236}">
                  <a16:creationId xmlns:a16="http://schemas.microsoft.com/office/drawing/2014/main" id="{5E505D8A-F41A-450D-A648-E77DF6B8D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2BD6DCE-6A81-4F34-9958-67B578EA1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C462BE8-CD72-48CF-8A7B-C716D2B99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C2CDB70-40F1-4D00-8F17-A532E732E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61945C4-D997-42F3-B59A-984CF006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0" name="Freeform: Shape 19">
              <a:extLst>
                <a:ext uri="{FF2B5EF4-FFF2-40B4-BE49-F238E27FC236}">
                  <a16:creationId xmlns:a16="http://schemas.microsoft.com/office/drawing/2014/main" id="{4651FE4A-9487-43BE-A388-13453574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44B0EF3-9992-4B95-8A43-6206B3FC3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41B1C1F-C2FE-4C47-9D74-ADB9B53F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1048177B-A49E-4E24-9007-07A0EDD6A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4036812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615" y="450921"/>
            <a:ext cx="12045787" cy="457996"/>
          </a:xfrm>
        </p:spPr>
        <p:txBody>
          <a:bodyPr>
            <a:normAutofit fontScale="90000"/>
          </a:bodyPr>
          <a:lstStyle/>
          <a:p>
            <a:r>
              <a:rPr lang="en-US" dirty="0">
                <a:latin typeface="Calibri" charset="0"/>
                <a:ea typeface="Calibri" charset="0"/>
                <a:cs typeface="Calibri" charset="0"/>
              </a:rPr>
              <a:t>Building a microbial gene catalog</a:t>
            </a:r>
          </a:p>
        </p:txBody>
      </p:sp>
      <p:sp>
        <p:nvSpPr>
          <p:cNvPr id="5" name="Slide Number Placeholder 4"/>
          <p:cNvSpPr>
            <a:spLocks noGrp="1"/>
          </p:cNvSpPr>
          <p:nvPr>
            <p:ph type="sldNum" sz="quarter" idx="13"/>
          </p:nvPr>
        </p:nvSpPr>
        <p:spPr/>
        <p:txBody>
          <a:bodyPr/>
          <a:lstStyle/>
          <a:p>
            <a:fld id="{0D08B38D-4F16-45CA-9042-40A25BC4B1DD}" type="slidenum">
              <a:rPr lang="en-GB" smtClean="0">
                <a:latin typeface="Calibri" charset="0"/>
                <a:ea typeface="Calibri" charset="0"/>
                <a:cs typeface="Calibri" charset="0"/>
              </a:rPr>
              <a:pPr/>
              <a:t>35</a:t>
            </a:fld>
            <a:endParaRPr lang="en-GB">
              <a:latin typeface="Calibri" charset="0"/>
              <a:ea typeface="Calibri" charset="0"/>
              <a:cs typeface="Calibri" charset="0"/>
            </a:endParaRPr>
          </a:p>
        </p:txBody>
      </p:sp>
      <p:grpSp>
        <p:nvGrpSpPr>
          <p:cNvPr id="11" name="Group 10">
            <a:extLst>
              <a:ext uri="{FF2B5EF4-FFF2-40B4-BE49-F238E27FC236}">
                <a16:creationId xmlns:a16="http://schemas.microsoft.com/office/drawing/2014/main" id="{AD4D0D30-3FD4-A86A-FAAD-B0274D8B3BF9}"/>
              </a:ext>
            </a:extLst>
          </p:cNvPr>
          <p:cNvGrpSpPr/>
          <p:nvPr/>
        </p:nvGrpSpPr>
        <p:grpSpPr>
          <a:xfrm>
            <a:off x="182115" y="2684823"/>
            <a:ext cx="1584615" cy="1697182"/>
            <a:chOff x="2867877" y="1810364"/>
            <a:chExt cx="1584615" cy="1697182"/>
          </a:xfrm>
        </p:grpSpPr>
        <p:cxnSp>
          <p:nvCxnSpPr>
            <p:cNvPr id="12" name="Straight Connector 11">
              <a:extLst>
                <a:ext uri="{FF2B5EF4-FFF2-40B4-BE49-F238E27FC236}">
                  <a16:creationId xmlns:a16="http://schemas.microsoft.com/office/drawing/2014/main" id="{AF368BB0-68F4-C8AE-1FA8-4D21293C1632}"/>
                </a:ext>
              </a:extLst>
            </p:cNvPr>
            <p:cNvCxnSpPr>
              <a:cxnSpLocks/>
            </p:cNvCxnSpPr>
            <p:nvPr/>
          </p:nvCxnSpPr>
          <p:spPr>
            <a:xfrm>
              <a:off x="3149299" y="181036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408748B-AAF0-72DF-0041-AF692BB2D81A}"/>
                </a:ext>
              </a:extLst>
            </p:cNvPr>
            <p:cNvCxnSpPr>
              <a:cxnSpLocks/>
            </p:cNvCxnSpPr>
            <p:nvPr/>
          </p:nvCxnSpPr>
          <p:spPr>
            <a:xfrm>
              <a:off x="3677503" y="2977176"/>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4D784B0-1C34-7F33-9E79-95D9BA36BAC5}"/>
                </a:ext>
              </a:extLst>
            </p:cNvPr>
            <p:cNvCxnSpPr>
              <a:cxnSpLocks/>
            </p:cNvCxnSpPr>
            <p:nvPr/>
          </p:nvCxnSpPr>
          <p:spPr>
            <a:xfrm>
              <a:off x="3339799" y="200086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040D05F-15FA-CC4E-0DC9-0215656F3C96}"/>
                </a:ext>
              </a:extLst>
            </p:cNvPr>
            <p:cNvCxnSpPr>
              <a:cxnSpLocks/>
            </p:cNvCxnSpPr>
            <p:nvPr/>
          </p:nvCxnSpPr>
          <p:spPr>
            <a:xfrm>
              <a:off x="3456696" y="285959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6028670-4E21-03E9-B0BF-7E75B71A08F0}"/>
                </a:ext>
              </a:extLst>
            </p:cNvPr>
            <p:cNvCxnSpPr>
              <a:cxnSpLocks/>
            </p:cNvCxnSpPr>
            <p:nvPr/>
          </p:nvCxnSpPr>
          <p:spPr>
            <a:xfrm>
              <a:off x="3080026" y="219284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8C91B5F-777A-7431-1B99-79FF49A13CFD}"/>
                </a:ext>
              </a:extLst>
            </p:cNvPr>
            <p:cNvCxnSpPr>
              <a:cxnSpLocks/>
            </p:cNvCxnSpPr>
            <p:nvPr/>
          </p:nvCxnSpPr>
          <p:spPr>
            <a:xfrm>
              <a:off x="3625549" y="228661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F161A03-5ACF-C0C9-65F2-2F15D0BB1330}"/>
                </a:ext>
              </a:extLst>
            </p:cNvPr>
            <p:cNvCxnSpPr>
              <a:cxnSpLocks/>
            </p:cNvCxnSpPr>
            <p:nvPr/>
          </p:nvCxnSpPr>
          <p:spPr>
            <a:xfrm>
              <a:off x="3188265" y="238186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427A8DD-A372-4099-5001-D95F8B48CA58}"/>
                </a:ext>
              </a:extLst>
            </p:cNvPr>
            <p:cNvCxnSpPr>
              <a:cxnSpLocks/>
            </p:cNvCxnSpPr>
            <p:nvPr/>
          </p:nvCxnSpPr>
          <p:spPr>
            <a:xfrm>
              <a:off x="3361446" y="276286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1A80E76-7968-9055-E0B9-13356D1EB88F}"/>
                </a:ext>
              </a:extLst>
            </p:cNvPr>
            <p:cNvCxnSpPr>
              <a:cxnSpLocks/>
            </p:cNvCxnSpPr>
            <p:nvPr/>
          </p:nvCxnSpPr>
          <p:spPr>
            <a:xfrm>
              <a:off x="2915503" y="209611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5EAF46B-4A18-3642-800B-B6E7FAA8D927}"/>
                </a:ext>
              </a:extLst>
            </p:cNvPr>
            <p:cNvCxnSpPr>
              <a:cxnSpLocks/>
            </p:cNvCxnSpPr>
            <p:nvPr/>
          </p:nvCxnSpPr>
          <p:spPr>
            <a:xfrm>
              <a:off x="3816049" y="2560857"/>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03AADFC-F118-D18B-25A2-B6936C1CF40E}"/>
                </a:ext>
              </a:extLst>
            </p:cNvPr>
            <p:cNvCxnSpPr>
              <a:cxnSpLocks/>
            </p:cNvCxnSpPr>
            <p:nvPr/>
          </p:nvCxnSpPr>
          <p:spPr>
            <a:xfrm>
              <a:off x="3417731" y="3507546"/>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05846B0-8AE7-E8CE-48AB-D2FDD1CAD27F}"/>
                </a:ext>
              </a:extLst>
            </p:cNvPr>
            <p:cNvCxnSpPr>
              <a:cxnSpLocks/>
            </p:cNvCxnSpPr>
            <p:nvPr/>
          </p:nvCxnSpPr>
          <p:spPr>
            <a:xfrm>
              <a:off x="3045390" y="249158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A8177792-3ADE-BEAC-AC98-72E511E464C4}"/>
                </a:ext>
              </a:extLst>
            </p:cNvPr>
            <p:cNvCxnSpPr>
              <a:cxnSpLocks/>
            </p:cNvCxnSpPr>
            <p:nvPr/>
          </p:nvCxnSpPr>
          <p:spPr>
            <a:xfrm>
              <a:off x="4028196" y="266761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DB063E0-F75A-01FC-F3A2-CF288A0765D7}"/>
                </a:ext>
              </a:extLst>
            </p:cNvPr>
            <p:cNvCxnSpPr>
              <a:cxnSpLocks/>
            </p:cNvCxnSpPr>
            <p:nvPr/>
          </p:nvCxnSpPr>
          <p:spPr>
            <a:xfrm>
              <a:off x="3842026" y="2192845"/>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337CB20A-EBCB-A314-98FA-2C599B7DA541}"/>
                </a:ext>
              </a:extLst>
            </p:cNvPr>
            <p:cNvCxnSpPr>
              <a:cxnSpLocks/>
            </p:cNvCxnSpPr>
            <p:nvPr/>
          </p:nvCxnSpPr>
          <p:spPr>
            <a:xfrm>
              <a:off x="3772753" y="3072426"/>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420CE8B-3651-833D-9FC1-BBC63FDF7522}"/>
                </a:ext>
              </a:extLst>
            </p:cNvPr>
            <p:cNvCxnSpPr>
              <a:cxnSpLocks/>
            </p:cNvCxnSpPr>
            <p:nvPr/>
          </p:nvCxnSpPr>
          <p:spPr>
            <a:xfrm>
              <a:off x="3837696" y="2388358"/>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A247162-5779-F627-5A16-6F156E762A9C}"/>
                </a:ext>
              </a:extLst>
            </p:cNvPr>
            <p:cNvCxnSpPr>
              <a:cxnSpLocks/>
            </p:cNvCxnSpPr>
            <p:nvPr/>
          </p:nvCxnSpPr>
          <p:spPr>
            <a:xfrm>
              <a:off x="2867877" y="2667614"/>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21646F05-CA0F-6544-4795-C32D5C9D3BFF}"/>
                </a:ext>
              </a:extLst>
            </p:cNvPr>
            <p:cNvCxnSpPr>
              <a:cxnSpLocks/>
            </p:cNvCxnSpPr>
            <p:nvPr/>
          </p:nvCxnSpPr>
          <p:spPr>
            <a:xfrm>
              <a:off x="3790071" y="1810364"/>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AFF6981-5275-D3B0-79D7-4DED1A1358FC}"/>
                </a:ext>
              </a:extLst>
            </p:cNvPr>
            <p:cNvCxnSpPr>
              <a:cxnSpLocks/>
            </p:cNvCxnSpPr>
            <p:nvPr/>
          </p:nvCxnSpPr>
          <p:spPr>
            <a:xfrm>
              <a:off x="3080025" y="306741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136EA01-29DE-54DC-8AEA-41C07B5DA04D}"/>
                </a:ext>
              </a:extLst>
            </p:cNvPr>
            <p:cNvCxnSpPr>
              <a:cxnSpLocks/>
            </p:cNvCxnSpPr>
            <p:nvPr/>
          </p:nvCxnSpPr>
          <p:spPr>
            <a:xfrm>
              <a:off x="3188264" y="325643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2D546E31-6B7A-2849-AECE-5F68828E3925}"/>
                </a:ext>
              </a:extLst>
            </p:cNvPr>
            <p:cNvCxnSpPr>
              <a:cxnSpLocks/>
            </p:cNvCxnSpPr>
            <p:nvPr/>
          </p:nvCxnSpPr>
          <p:spPr>
            <a:xfrm>
              <a:off x="2915503" y="297068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FDD86D54-D5C8-D760-8940-5141EDE83856}"/>
                </a:ext>
              </a:extLst>
            </p:cNvPr>
            <p:cNvCxnSpPr>
              <a:cxnSpLocks/>
            </p:cNvCxnSpPr>
            <p:nvPr/>
          </p:nvCxnSpPr>
          <p:spPr>
            <a:xfrm>
              <a:off x="3045389" y="3366152"/>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54F25A5-F541-5C1B-F261-26F53FEBC84F}"/>
                </a:ext>
              </a:extLst>
            </p:cNvPr>
            <p:cNvCxnSpPr>
              <a:cxnSpLocks/>
            </p:cNvCxnSpPr>
            <p:nvPr/>
          </p:nvCxnSpPr>
          <p:spPr>
            <a:xfrm>
              <a:off x="3634208" y="3357493"/>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grpSp>
      <p:sp>
        <p:nvSpPr>
          <p:cNvPr id="50" name="TextBox 49">
            <a:extLst>
              <a:ext uri="{FF2B5EF4-FFF2-40B4-BE49-F238E27FC236}">
                <a16:creationId xmlns:a16="http://schemas.microsoft.com/office/drawing/2014/main" id="{E78ECB4E-1790-6F34-6B55-9838E4F07F2E}"/>
              </a:ext>
            </a:extLst>
          </p:cNvPr>
          <p:cNvSpPr txBox="1"/>
          <p:nvPr/>
        </p:nvSpPr>
        <p:spPr>
          <a:xfrm>
            <a:off x="102875" y="4399996"/>
            <a:ext cx="1842668" cy="584775"/>
          </a:xfrm>
          <a:prstGeom prst="rect">
            <a:avLst/>
          </a:prstGeom>
          <a:noFill/>
        </p:spPr>
        <p:txBody>
          <a:bodyPr wrap="square" rtlCol="0">
            <a:spAutoFit/>
          </a:bodyPr>
          <a:lstStyle/>
          <a:p>
            <a:r>
              <a:rPr lang="en-DK" sz="1600" dirty="0"/>
              <a:t>High quality host removed reads</a:t>
            </a:r>
          </a:p>
        </p:txBody>
      </p:sp>
      <p:sp>
        <p:nvSpPr>
          <p:cNvPr id="51" name="Right Arrow 50">
            <a:extLst>
              <a:ext uri="{FF2B5EF4-FFF2-40B4-BE49-F238E27FC236}">
                <a16:creationId xmlns:a16="http://schemas.microsoft.com/office/drawing/2014/main" id="{6ADB97BE-9B47-CA6E-960D-97FB4156521B}"/>
              </a:ext>
            </a:extLst>
          </p:cNvPr>
          <p:cNvSpPr/>
          <p:nvPr/>
        </p:nvSpPr>
        <p:spPr>
          <a:xfrm>
            <a:off x="1997064" y="3321950"/>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2" name="TextBox 51">
            <a:extLst>
              <a:ext uri="{FF2B5EF4-FFF2-40B4-BE49-F238E27FC236}">
                <a16:creationId xmlns:a16="http://schemas.microsoft.com/office/drawing/2014/main" id="{56B24CB3-8D7B-4371-B11B-B2DEA577A36E}"/>
              </a:ext>
            </a:extLst>
          </p:cNvPr>
          <p:cNvSpPr txBox="1"/>
          <p:nvPr/>
        </p:nvSpPr>
        <p:spPr>
          <a:xfrm>
            <a:off x="1719102" y="2952596"/>
            <a:ext cx="1222675" cy="369332"/>
          </a:xfrm>
          <a:prstGeom prst="rect">
            <a:avLst/>
          </a:prstGeom>
          <a:noFill/>
        </p:spPr>
        <p:txBody>
          <a:bodyPr wrap="square" rtlCol="0">
            <a:spAutoFit/>
          </a:bodyPr>
          <a:lstStyle/>
          <a:p>
            <a:r>
              <a:rPr lang="en-DK" b="1" dirty="0"/>
              <a:t>Assembly</a:t>
            </a:r>
          </a:p>
        </p:txBody>
      </p:sp>
      <p:cxnSp>
        <p:nvCxnSpPr>
          <p:cNvPr id="53" name="Straight Connector 52">
            <a:extLst>
              <a:ext uri="{FF2B5EF4-FFF2-40B4-BE49-F238E27FC236}">
                <a16:creationId xmlns:a16="http://schemas.microsoft.com/office/drawing/2014/main" id="{DE40726E-A365-594A-F655-5D7A5B0BD8DE}"/>
              </a:ext>
            </a:extLst>
          </p:cNvPr>
          <p:cNvCxnSpPr>
            <a:cxnSpLocks/>
          </p:cNvCxnSpPr>
          <p:nvPr/>
        </p:nvCxnSpPr>
        <p:spPr>
          <a:xfrm>
            <a:off x="3199825" y="2583071"/>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B5180A1-6C36-1EC6-C82C-8E4801B73CA0}"/>
              </a:ext>
            </a:extLst>
          </p:cNvPr>
          <p:cNvCxnSpPr>
            <a:cxnSpLocks/>
          </p:cNvCxnSpPr>
          <p:nvPr/>
        </p:nvCxnSpPr>
        <p:spPr>
          <a:xfrm>
            <a:off x="3484712" y="314226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80630450-C31A-AD7F-CD4B-986CE837983F}"/>
              </a:ext>
            </a:extLst>
          </p:cNvPr>
          <p:cNvCxnSpPr>
            <a:cxnSpLocks/>
          </p:cNvCxnSpPr>
          <p:nvPr/>
        </p:nvCxnSpPr>
        <p:spPr>
          <a:xfrm>
            <a:off x="3340967" y="2656897"/>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D354B7F-FCFF-BEAA-72EF-FE1297B35FD9}"/>
              </a:ext>
            </a:extLst>
          </p:cNvPr>
          <p:cNvCxnSpPr>
            <a:cxnSpLocks/>
          </p:cNvCxnSpPr>
          <p:nvPr/>
        </p:nvCxnSpPr>
        <p:spPr>
          <a:xfrm>
            <a:off x="3680405" y="3221669"/>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2656FD52-D49E-2DC8-C0AE-C8E17CB5FDC9}"/>
              </a:ext>
            </a:extLst>
          </p:cNvPr>
          <p:cNvCxnSpPr>
            <a:cxnSpLocks/>
          </p:cNvCxnSpPr>
          <p:nvPr/>
        </p:nvCxnSpPr>
        <p:spPr>
          <a:xfrm>
            <a:off x="3484712" y="2726172"/>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0C036F1D-E1C8-55A0-3761-1EA8BA76E9C2}"/>
              </a:ext>
            </a:extLst>
          </p:cNvPr>
          <p:cNvCxnSpPr>
            <a:cxnSpLocks/>
          </p:cNvCxnSpPr>
          <p:nvPr/>
        </p:nvCxnSpPr>
        <p:spPr>
          <a:xfrm>
            <a:off x="3359154" y="3055408"/>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A50F929A-6B0F-CE78-BAF2-AB3A7BA33860}"/>
              </a:ext>
            </a:extLst>
          </p:cNvPr>
          <p:cNvCxnSpPr/>
          <p:nvPr/>
        </p:nvCxnSpPr>
        <p:spPr>
          <a:xfrm>
            <a:off x="3188568" y="2513113"/>
            <a:ext cx="1205345"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32A0C47E-FAFD-9D4F-5E43-48E2279A8E3B}"/>
              </a:ext>
            </a:extLst>
          </p:cNvPr>
          <p:cNvCxnSpPr/>
          <p:nvPr/>
        </p:nvCxnSpPr>
        <p:spPr>
          <a:xfrm>
            <a:off x="3232731" y="2980484"/>
            <a:ext cx="1205345"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DC75D612-8DE1-D90C-C2A3-3FCBEAB6BF63}"/>
              </a:ext>
            </a:extLst>
          </p:cNvPr>
          <p:cNvSpPr txBox="1"/>
          <p:nvPr/>
        </p:nvSpPr>
        <p:spPr>
          <a:xfrm>
            <a:off x="3106310" y="2230792"/>
            <a:ext cx="1496298" cy="307777"/>
          </a:xfrm>
          <a:prstGeom prst="rect">
            <a:avLst/>
          </a:prstGeom>
          <a:noFill/>
        </p:spPr>
        <p:txBody>
          <a:bodyPr wrap="square" rtlCol="0">
            <a:spAutoFit/>
          </a:bodyPr>
          <a:lstStyle/>
          <a:p>
            <a:r>
              <a:rPr lang="en-DK" sz="1400" dirty="0">
                <a:solidFill>
                  <a:schemeClr val="tx2">
                    <a:lumMod val="75000"/>
                    <a:lumOff val="25000"/>
                  </a:schemeClr>
                </a:solidFill>
              </a:rPr>
              <a:t>Contig 1</a:t>
            </a:r>
          </a:p>
        </p:txBody>
      </p:sp>
      <p:sp>
        <p:nvSpPr>
          <p:cNvPr id="62" name="TextBox 61">
            <a:extLst>
              <a:ext uri="{FF2B5EF4-FFF2-40B4-BE49-F238E27FC236}">
                <a16:creationId xmlns:a16="http://schemas.microsoft.com/office/drawing/2014/main" id="{1C9FD56D-6C16-DEBB-DC31-14E6D00D0190}"/>
              </a:ext>
            </a:extLst>
          </p:cNvPr>
          <p:cNvSpPr txBox="1"/>
          <p:nvPr/>
        </p:nvSpPr>
        <p:spPr>
          <a:xfrm>
            <a:off x="3134887" y="2701686"/>
            <a:ext cx="1496298" cy="307777"/>
          </a:xfrm>
          <a:prstGeom prst="rect">
            <a:avLst/>
          </a:prstGeom>
          <a:noFill/>
        </p:spPr>
        <p:txBody>
          <a:bodyPr wrap="square" rtlCol="0">
            <a:spAutoFit/>
          </a:bodyPr>
          <a:lstStyle/>
          <a:p>
            <a:r>
              <a:rPr lang="en-DK" sz="1400" dirty="0">
                <a:solidFill>
                  <a:schemeClr val="tx2">
                    <a:lumMod val="75000"/>
                    <a:lumOff val="25000"/>
                  </a:schemeClr>
                </a:solidFill>
              </a:rPr>
              <a:t>Contig 2</a:t>
            </a:r>
          </a:p>
        </p:txBody>
      </p:sp>
      <p:cxnSp>
        <p:nvCxnSpPr>
          <p:cNvPr id="63" name="Straight Connector 62">
            <a:extLst>
              <a:ext uri="{FF2B5EF4-FFF2-40B4-BE49-F238E27FC236}">
                <a16:creationId xmlns:a16="http://schemas.microsoft.com/office/drawing/2014/main" id="{611A89E4-91E4-0D4A-4859-02B9B3F055D5}"/>
              </a:ext>
            </a:extLst>
          </p:cNvPr>
          <p:cNvCxnSpPr>
            <a:cxnSpLocks/>
          </p:cNvCxnSpPr>
          <p:nvPr/>
        </p:nvCxnSpPr>
        <p:spPr>
          <a:xfrm>
            <a:off x="2794593" y="3712231"/>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8D5BA8B-6E81-F08A-EE83-4096792FE9E7}"/>
              </a:ext>
            </a:extLst>
          </p:cNvPr>
          <p:cNvCxnSpPr>
            <a:cxnSpLocks/>
          </p:cNvCxnSpPr>
          <p:nvPr/>
        </p:nvCxnSpPr>
        <p:spPr>
          <a:xfrm>
            <a:off x="3079480" y="4285280"/>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FE6D2AF4-E521-4783-AF2D-D8EA74D67B9E}"/>
              </a:ext>
            </a:extLst>
          </p:cNvPr>
          <p:cNvCxnSpPr>
            <a:cxnSpLocks/>
          </p:cNvCxnSpPr>
          <p:nvPr/>
        </p:nvCxnSpPr>
        <p:spPr>
          <a:xfrm>
            <a:off x="2935735" y="3786057"/>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529C9A5-D2CC-F457-034E-9FADAD43451F}"/>
              </a:ext>
            </a:extLst>
          </p:cNvPr>
          <p:cNvCxnSpPr>
            <a:cxnSpLocks/>
          </p:cNvCxnSpPr>
          <p:nvPr/>
        </p:nvCxnSpPr>
        <p:spPr>
          <a:xfrm>
            <a:off x="3275173" y="436468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C14B6F4B-7E26-C003-A8D9-FCC943A18B97}"/>
              </a:ext>
            </a:extLst>
          </p:cNvPr>
          <p:cNvCxnSpPr>
            <a:cxnSpLocks/>
          </p:cNvCxnSpPr>
          <p:nvPr/>
        </p:nvCxnSpPr>
        <p:spPr>
          <a:xfrm>
            <a:off x="3079480" y="385533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29303C20-BE04-A114-F586-D2D936DA6D03}"/>
              </a:ext>
            </a:extLst>
          </p:cNvPr>
          <p:cNvCxnSpPr>
            <a:cxnSpLocks/>
          </p:cNvCxnSpPr>
          <p:nvPr/>
        </p:nvCxnSpPr>
        <p:spPr>
          <a:xfrm>
            <a:off x="2953922" y="4198423"/>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F4FC9E09-F0B3-E41C-633C-64F187A72F97}"/>
              </a:ext>
            </a:extLst>
          </p:cNvPr>
          <p:cNvCxnSpPr/>
          <p:nvPr/>
        </p:nvCxnSpPr>
        <p:spPr>
          <a:xfrm>
            <a:off x="2783336" y="3642273"/>
            <a:ext cx="1205345"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11E9C97A-7C0A-DC85-5DCE-9C4BFDB1710A}"/>
              </a:ext>
            </a:extLst>
          </p:cNvPr>
          <p:cNvCxnSpPr/>
          <p:nvPr/>
        </p:nvCxnSpPr>
        <p:spPr>
          <a:xfrm>
            <a:off x="2827499" y="4123499"/>
            <a:ext cx="1205345"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8EB7F682-1EA6-E1E9-DEC1-3DAC4FD598D0}"/>
              </a:ext>
            </a:extLst>
          </p:cNvPr>
          <p:cNvSpPr txBox="1"/>
          <p:nvPr/>
        </p:nvSpPr>
        <p:spPr>
          <a:xfrm>
            <a:off x="2701078" y="3373807"/>
            <a:ext cx="1496298" cy="307777"/>
          </a:xfrm>
          <a:prstGeom prst="rect">
            <a:avLst/>
          </a:prstGeom>
          <a:noFill/>
        </p:spPr>
        <p:txBody>
          <a:bodyPr wrap="square" rtlCol="0">
            <a:spAutoFit/>
          </a:bodyPr>
          <a:lstStyle/>
          <a:p>
            <a:r>
              <a:rPr lang="en-DK" sz="1400" dirty="0">
                <a:solidFill>
                  <a:srgbClr val="FF0000"/>
                </a:solidFill>
              </a:rPr>
              <a:t>Contig 12</a:t>
            </a:r>
          </a:p>
        </p:txBody>
      </p:sp>
      <p:sp>
        <p:nvSpPr>
          <p:cNvPr id="72" name="TextBox 71">
            <a:extLst>
              <a:ext uri="{FF2B5EF4-FFF2-40B4-BE49-F238E27FC236}">
                <a16:creationId xmlns:a16="http://schemas.microsoft.com/office/drawing/2014/main" id="{94ED3E29-3C70-6C18-B4F3-03F9F6447328}"/>
              </a:ext>
            </a:extLst>
          </p:cNvPr>
          <p:cNvSpPr txBox="1"/>
          <p:nvPr/>
        </p:nvSpPr>
        <p:spPr>
          <a:xfrm>
            <a:off x="2729655" y="3844702"/>
            <a:ext cx="1077173" cy="307777"/>
          </a:xfrm>
          <a:prstGeom prst="rect">
            <a:avLst/>
          </a:prstGeom>
          <a:noFill/>
        </p:spPr>
        <p:txBody>
          <a:bodyPr wrap="square" rtlCol="0">
            <a:spAutoFit/>
          </a:bodyPr>
          <a:lstStyle/>
          <a:p>
            <a:r>
              <a:rPr lang="en-DK" sz="1400" dirty="0">
                <a:solidFill>
                  <a:srgbClr val="FF0000"/>
                </a:solidFill>
              </a:rPr>
              <a:t>Contig 44</a:t>
            </a:r>
          </a:p>
        </p:txBody>
      </p:sp>
      <p:cxnSp>
        <p:nvCxnSpPr>
          <p:cNvPr id="73" name="Straight Connector 72">
            <a:extLst>
              <a:ext uri="{FF2B5EF4-FFF2-40B4-BE49-F238E27FC236}">
                <a16:creationId xmlns:a16="http://schemas.microsoft.com/office/drawing/2014/main" id="{999B9112-1496-0751-F0F6-BA00EB1260B6}"/>
              </a:ext>
            </a:extLst>
          </p:cNvPr>
          <p:cNvCxnSpPr>
            <a:cxnSpLocks/>
          </p:cNvCxnSpPr>
          <p:nvPr/>
        </p:nvCxnSpPr>
        <p:spPr>
          <a:xfrm>
            <a:off x="3482993" y="443395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6C32CAB1-0B28-2F1E-6B3C-05E808B7422F}"/>
              </a:ext>
            </a:extLst>
          </p:cNvPr>
          <p:cNvCxnSpPr>
            <a:cxnSpLocks/>
          </p:cNvCxnSpPr>
          <p:nvPr/>
        </p:nvCxnSpPr>
        <p:spPr>
          <a:xfrm>
            <a:off x="3120178" y="4952823"/>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B3A49FF7-2A76-D4DA-1A56-F606AF209D66}"/>
              </a:ext>
            </a:extLst>
          </p:cNvPr>
          <p:cNvCxnSpPr>
            <a:cxnSpLocks/>
          </p:cNvCxnSpPr>
          <p:nvPr/>
        </p:nvCxnSpPr>
        <p:spPr>
          <a:xfrm>
            <a:off x="3405065" y="5525872"/>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AE7648D1-2BC7-AF00-E66E-0B246985E2CF}"/>
              </a:ext>
            </a:extLst>
          </p:cNvPr>
          <p:cNvCxnSpPr>
            <a:cxnSpLocks/>
          </p:cNvCxnSpPr>
          <p:nvPr/>
        </p:nvCxnSpPr>
        <p:spPr>
          <a:xfrm>
            <a:off x="3261320" y="5026649"/>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5F203E06-FB0D-9890-F47F-CFB6F50B6AE5}"/>
              </a:ext>
            </a:extLst>
          </p:cNvPr>
          <p:cNvCxnSpPr>
            <a:cxnSpLocks/>
          </p:cNvCxnSpPr>
          <p:nvPr/>
        </p:nvCxnSpPr>
        <p:spPr>
          <a:xfrm>
            <a:off x="3600758" y="5605276"/>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46DDF094-35F5-88BD-9A2E-6C1F285120A0}"/>
              </a:ext>
            </a:extLst>
          </p:cNvPr>
          <p:cNvCxnSpPr>
            <a:cxnSpLocks/>
          </p:cNvCxnSpPr>
          <p:nvPr/>
        </p:nvCxnSpPr>
        <p:spPr>
          <a:xfrm>
            <a:off x="3405065" y="509592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665801B7-7205-48FB-95DF-B610908D0DFB}"/>
              </a:ext>
            </a:extLst>
          </p:cNvPr>
          <p:cNvCxnSpPr>
            <a:cxnSpLocks/>
          </p:cNvCxnSpPr>
          <p:nvPr/>
        </p:nvCxnSpPr>
        <p:spPr>
          <a:xfrm>
            <a:off x="3279507" y="5439015"/>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F9BDABDD-5334-02C2-9214-D2CC259440E9}"/>
              </a:ext>
            </a:extLst>
          </p:cNvPr>
          <p:cNvCxnSpPr/>
          <p:nvPr/>
        </p:nvCxnSpPr>
        <p:spPr>
          <a:xfrm>
            <a:off x="3108921" y="4882865"/>
            <a:ext cx="1205345"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11594100-F3F2-1C0E-3ABF-0646F82360D6}"/>
              </a:ext>
            </a:extLst>
          </p:cNvPr>
          <p:cNvCxnSpPr/>
          <p:nvPr/>
        </p:nvCxnSpPr>
        <p:spPr>
          <a:xfrm>
            <a:off x="3153084" y="5364091"/>
            <a:ext cx="1205345"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FD99730F-B35C-0EB9-1F15-67669E7BA68C}"/>
              </a:ext>
            </a:extLst>
          </p:cNvPr>
          <p:cNvSpPr txBox="1"/>
          <p:nvPr/>
        </p:nvSpPr>
        <p:spPr>
          <a:xfrm>
            <a:off x="3013675" y="5085294"/>
            <a:ext cx="1077173" cy="307777"/>
          </a:xfrm>
          <a:prstGeom prst="rect">
            <a:avLst/>
          </a:prstGeom>
          <a:noFill/>
        </p:spPr>
        <p:txBody>
          <a:bodyPr wrap="square" rtlCol="0">
            <a:spAutoFit/>
          </a:bodyPr>
          <a:lstStyle/>
          <a:p>
            <a:r>
              <a:rPr lang="en-DK" sz="1400" dirty="0">
                <a:solidFill>
                  <a:schemeClr val="accent3"/>
                </a:solidFill>
              </a:rPr>
              <a:t>Contig 77</a:t>
            </a:r>
          </a:p>
        </p:txBody>
      </p:sp>
      <p:sp>
        <p:nvSpPr>
          <p:cNvPr id="84" name="TextBox 83">
            <a:extLst>
              <a:ext uri="{FF2B5EF4-FFF2-40B4-BE49-F238E27FC236}">
                <a16:creationId xmlns:a16="http://schemas.microsoft.com/office/drawing/2014/main" id="{925BE0B6-CDDA-F11D-71BE-00B1EE6BA471}"/>
              </a:ext>
            </a:extLst>
          </p:cNvPr>
          <p:cNvSpPr txBox="1"/>
          <p:nvPr/>
        </p:nvSpPr>
        <p:spPr>
          <a:xfrm>
            <a:off x="3027528" y="4614237"/>
            <a:ext cx="1077173" cy="307777"/>
          </a:xfrm>
          <a:prstGeom prst="rect">
            <a:avLst/>
          </a:prstGeom>
          <a:noFill/>
        </p:spPr>
        <p:txBody>
          <a:bodyPr wrap="square" rtlCol="0">
            <a:spAutoFit/>
          </a:bodyPr>
          <a:lstStyle/>
          <a:p>
            <a:r>
              <a:rPr lang="en-DK" sz="1400" dirty="0">
                <a:solidFill>
                  <a:schemeClr val="accent3"/>
                </a:solidFill>
              </a:rPr>
              <a:t>Contig 23</a:t>
            </a:r>
          </a:p>
        </p:txBody>
      </p:sp>
      <p:sp>
        <p:nvSpPr>
          <p:cNvPr id="85" name="Right Arrow 84">
            <a:extLst>
              <a:ext uri="{FF2B5EF4-FFF2-40B4-BE49-F238E27FC236}">
                <a16:creationId xmlns:a16="http://schemas.microsoft.com/office/drawing/2014/main" id="{1686C850-E2E6-2B1E-81C6-43B5EA18E771}"/>
              </a:ext>
            </a:extLst>
          </p:cNvPr>
          <p:cNvSpPr/>
          <p:nvPr/>
        </p:nvSpPr>
        <p:spPr>
          <a:xfrm>
            <a:off x="4644627" y="3488912"/>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6" name="TextBox 85">
            <a:extLst>
              <a:ext uri="{FF2B5EF4-FFF2-40B4-BE49-F238E27FC236}">
                <a16:creationId xmlns:a16="http://schemas.microsoft.com/office/drawing/2014/main" id="{7FD246D7-7161-DB8A-B4D8-A935E9E08E2F}"/>
              </a:ext>
            </a:extLst>
          </p:cNvPr>
          <p:cNvSpPr txBox="1"/>
          <p:nvPr/>
        </p:nvSpPr>
        <p:spPr>
          <a:xfrm>
            <a:off x="4475335" y="2815049"/>
            <a:ext cx="1222675" cy="646331"/>
          </a:xfrm>
          <a:prstGeom prst="rect">
            <a:avLst/>
          </a:prstGeom>
          <a:noFill/>
        </p:spPr>
        <p:txBody>
          <a:bodyPr wrap="square" rtlCol="0">
            <a:spAutoFit/>
          </a:bodyPr>
          <a:lstStyle/>
          <a:p>
            <a:r>
              <a:rPr lang="en-DK" b="1" dirty="0"/>
              <a:t>Gene calling</a:t>
            </a:r>
          </a:p>
        </p:txBody>
      </p:sp>
      <p:cxnSp>
        <p:nvCxnSpPr>
          <p:cNvPr id="87" name="Straight Connector 86">
            <a:extLst>
              <a:ext uri="{FF2B5EF4-FFF2-40B4-BE49-F238E27FC236}">
                <a16:creationId xmlns:a16="http://schemas.microsoft.com/office/drawing/2014/main" id="{F38317C8-BF26-814A-7E18-17BE2CADD719}"/>
              </a:ext>
            </a:extLst>
          </p:cNvPr>
          <p:cNvCxnSpPr>
            <a:cxnSpLocks/>
          </p:cNvCxnSpPr>
          <p:nvPr/>
        </p:nvCxnSpPr>
        <p:spPr>
          <a:xfrm>
            <a:off x="5544732" y="2458371"/>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9AD8BCEB-4B14-1887-F419-0C964E976A98}"/>
              </a:ext>
            </a:extLst>
          </p:cNvPr>
          <p:cNvCxnSpPr>
            <a:cxnSpLocks/>
          </p:cNvCxnSpPr>
          <p:nvPr/>
        </p:nvCxnSpPr>
        <p:spPr>
          <a:xfrm>
            <a:off x="5544732" y="2536613"/>
            <a:ext cx="82277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DC9F15DC-BF19-60A8-5F90-46FB03840262}"/>
              </a:ext>
            </a:extLst>
          </p:cNvPr>
          <p:cNvCxnSpPr>
            <a:cxnSpLocks/>
          </p:cNvCxnSpPr>
          <p:nvPr/>
        </p:nvCxnSpPr>
        <p:spPr>
          <a:xfrm>
            <a:off x="5544732" y="2614855"/>
            <a:ext cx="58503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4B2B0BBF-0A31-5E72-7B67-C8DB87E40D3B}"/>
              </a:ext>
            </a:extLst>
          </p:cNvPr>
          <p:cNvCxnSpPr>
            <a:cxnSpLocks/>
          </p:cNvCxnSpPr>
          <p:nvPr/>
        </p:nvCxnSpPr>
        <p:spPr>
          <a:xfrm>
            <a:off x="5544732" y="3006065"/>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2C3B2BEA-8F8B-7F81-36B9-07C62CFD62A9}"/>
              </a:ext>
            </a:extLst>
          </p:cNvPr>
          <p:cNvCxnSpPr>
            <a:cxnSpLocks/>
          </p:cNvCxnSpPr>
          <p:nvPr/>
        </p:nvCxnSpPr>
        <p:spPr>
          <a:xfrm>
            <a:off x="5544732" y="3084307"/>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CC7A7FB3-8B68-A77C-E676-0F50D03D023C}"/>
              </a:ext>
            </a:extLst>
          </p:cNvPr>
          <p:cNvCxnSpPr>
            <a:cxnSpLocks/>
          </p:cNvCxnSpPr>
          <p:nvPr/>
        </p:nvCxnSpPr>
        <p:spPr>
          <a:xfrm>
            <a:off x="5544732" y="2927823"/>
            <a:ext cx="551268"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A0506600-15B0-F122-095C-56156B57F18F}"/>
              </a:ext>
            </a:extLst>
          </p:cNvPr>
          <p:cNvCxnSpPr>
            <a:cxnSpLocks/>
          </p:cNvCxnSpPr>
          <p:nvPr/>
        </p:nvCxnSpPr>
        <p:spPr>
          <a:xfrm>
            <a:off x="7687852" y="2691202"/>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F416ACA5-5649-ED2A-0730-4AFD4AF76946}"/>
              </a:ext>
            </a:extLst>
          </p:cNvPr>
          <p:cNvCxnSpPr>
            <a:cxnSpLocks/>
          </p:cNvCxnSpPr>
          <p:nvPr/>
        </p:nvCxnSpPr>
        <p:spPr>
          <a:xfrm>
            <a:off x="5544732" y="3320779"/>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933D2FC4-D3A4-932E-8CBA-15AA6748A059}"/>
              </a:ext>
            </a:extLst>
          </p:cNvPr>
          <p:cNvCxnSpPr>
            <a:cxnSpLocks/>
          </p:cNvCxnSpPr>
          <p:nvPr/>
        </p:nvCxnSpPr>
        <p:spPr>
          <a:xfrm>
            <a:off x="5544732" y="3399021"/>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65CB0554-7888-1099-34D7-94CC08D862A8}"/>
              </a:ext>
            </a:extLst>
          </p:cNvPr>
          <p:cNvCxnSpPr>
            <a:cxnSpLocks/>
          </p:cNvCxnSpPr>
          <p:nvPr/>
        </p:nvCxnSpPr>
        <p:spPr>
          <a:xfrm>
            <a:off x="5544732" y="3242537"/>
            <a:ext cx="551268"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49BFEFBF-3BDB-E80E-6A61-9E6A53B54B01}"/>
              </a:ext>
            </a:extLst>
          </p:cNvPr>
          <p:cNvCxnSpPr>
            <a:cxnSpLocks/>
          </p:cNvCxnSpPr>
          <p:nvPr/>
        </p:nvCxnSpPr>
        <p:spPr>
          <a:xfrm>
            <a:off x="5544732" y="3477263"/>
            <a:ext cx="742637" cy="10134"/>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277BE4C4-D346-FFE8-4D06-D66292E2B3C4}"/>
              </a:ext>
            </a:extLst>
          </p:cNvPr>
          <p:cNvCxnSpPr>
            <a:cxnSpLocks/>
          </p:cNvCxnSpPr>
          <p:nvPr/>
        </p:nvCxnSpPr>
        <p:spPr>
          <a:xfrm>
            <a:off x="5544732" y="2693097"/>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5546B85C-5B65-29A7-8AE1-1BEA53A2ABDD}"/>
              </a:ext>
            </a:extLst>
          </p:cNvPr>
          <p:cNvCxnSpPr>
            <a:cxnSpLocks/>
          </p:cNvCxnSpPr>
          <p:nvPr/>
        </p:nvCxnSpPr>
        <p:spPr>
          <a:xfrm>
            <a:off x="5544732" y="2771339"/>
            <a:ext cx="62174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34F9EF35-9ABE-CD91-71C5-2E4FD5629FD0}"/>
              </a:ext>
            </a:extLst>
          </p:cNvPr>
          <p:cNvCxnSpPr>
            <a:cxnSpLocks/>
          </p:cNvCxnSpPr>
          <p:nvPr/>
        </p:nvCxnSpPr>
        <p:spPr>
          <a:xfrm>
            <a:off x="5544732" y="2849581"/>
            <a:ext cx="630402"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F818B8F5-9815-8772-9DD8-507437D8B7D6}"/>
              </a:ext>
            </a:extLst>
          </p:cNvPr>
          <p:cNvCxnSpPr>
            <a:cxnSpLocks/>
          </p:cNvCxnSpPr>
          <p:nvPr/>
        </p:nvCxnSpPr>
        <p:spPr>
          <a:xfrm>
            <a:off x="5544732" y="3565639"/>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A9E2CAFD-B16F-942C-66A3-2BEEF970FD56}"/>
              </a:ext>
            </a:extLst>
          </p:cNvPr>
          <p:cNvCxnSpPr>
            <a:cxnSpLocks/>
          </p:cNvCxnSpPr>
          <p:nvPr/>
        </p:nvCxnSpPr>
        <p:spPr>
          <a:xfrm>
            <a:off x="5544732" y="3643881"/>
            <a:ext cx="64841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EE218703-64F7-AF9C-7BBF-9FD4B0A1E237}"/>
              </a:ext>
            </a:extLst>
          </p:cNvPr>
          <p:cNvCxnSpPr>
            <a:cxnSpLocks/>
          </p:cNvCxnSpPr>
          <p:nvPr/>
        </p:nvCxnSpPr>
        <p:spPr>
          <a:xfrm>
            <a:off x="5544732" y="3722123"/>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AB12B593-CC0C-E3D3-48FD-07315B7E8396}"/>
              </a:ext>
            </a:extLst>
          </p:cNvPr>
          <p:cNvCxnSpPr>
            <a:cxnSpLocks/>
          </p:cNvCxnSpPr>
          <p:nvPr/>
        </p:nvCxnSpPr>
        <p:spPr>
          <a:xfrm>
            <a:off x="5544732" y="3800365"/>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C5D27B1-B1C9-1D10-3B91-E8D32A16398F}"/>
              </a:ext>
            </a:extLst>
          </p:cNvPr>
          <p:cNvCxnSpPr>
            <a:cxnSpLocks/>
          </p:cNvCxnSpPr>
          <p:nvPr/>
        </p:nvCxnSpPr>
        <p:spPr>
          <a:xfrm>
            <a:off x="5544732" y="3878607"/>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ECC209D8-D29E-6D5E-957E-3F9F638F9062}"/>
              </a:ext>
            </a:extLst>
          </p:cNvPr>
          <p:cNvCxnSpPr>
            <a:cxnSpLocks/>
          </p:cNvCxnSpPr>
          <p:nvPr/>
        </p:nvCxnSpPr>
        <p:spPr>
          <a:xfrm>
            <a:off x="5544732" y="3956849"/>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8C8985A8-4509-63AA-5DBE-728BAE6A4D80}"/>
              </a:ext>
            </a:extLst>
          </p:cNvPr>
          <p:cNvCxnSpPr>
            <a:cxnSpLocks/>
          </p:cNvCxnSpPr>
          <p:nvPr/>
        </p:nvCxnSpPr>
        <p:spPr>
          <a:xfrm>
            <a:off x="5544732" y="4035091"/>
            <a:ext cx="55126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452B200A-E0AA-74FA-A94C-78F6D7AFF631}"/>
              </a:ext>
            </a:extLst>
          </p:cNvPr>
          <p:cNvCxnSpPr>
            <a:cxnSpLocks/>
          </p:cNvCxnSpPr>
          <p:nvPr/>
        </p:nvCxnSpPr>
        <p:spPr>
          <a:xfrm>
            <a:off x="5544732" y="4426301"/>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F082FF8E-B0A1-91F0-7990-3153114F359C}"/>
              </a:ext>
            </a:extLst>
          </p:cNvPr>
          <p:cNvCxnSpPr>
            <a:cxnSpLocks/>
          </p:cNvCxnSpPr>
          <p:nvPr/>
        </p:nvCxnSpPr>
        <p:spPr>
          <a:xfrm>
            <a:off x="5544732" y="4504543"/>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CB3103AB-8F91-6ADD-E75A-44E35AA26750}"/>
              </a:ext>
            </a:extLst>
          </p:cNvPr>
          <p:cNvCxnSpPr>
            <a:cxnSpLocks/>
          </p:cNvCxnSpPr>
          <p:nvPr/>
        </p:nvCxnSpPr>
        <p:spPr>
          <a:xfrm>
            <a:off x="5544732" y="4348059"/>
            <a:ext cx="74263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87272990-AE3E-2D58-6D08-D7F3CEE98CB8}"/>
              </a:ext>
            </a:extLst>
          </p:cNvPr>
          <p:cNvCxnSpPr>
            <a:cxnSpLocks/>
          </p:cNvCxnSpPr>
          <p:nvPr/>
        </p:nvCxnSpPr>
        <p:spPr>
          <a:xfrm>
            <a:off x="5544732" y="4582785"/>
            <a:ext cx="742637" cy="1746"/>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8370AD72-7E9B-A61A-2CFE-FE2D445CF168}"/>
              </a:ext>
            </a:extLst>
          </p:cNvPr>
          <p:cNvCxnSpPr>
            <a:cxnSpLocks/>
          </p:cNvCxnSpPr>
          <p:nvPr/>
        </p:nvCxnSpPr>
        <p:spPr>
          <a:xfrm>
            <a:off x="5544732" y="4741015"/>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3A248F47-0C8A-3940-14D0-6AE2032C8E39}"/>
              </a:ext>
            </a:extLst>
          </p:cNvPr>
          <p:cNvCxnSpPr>
            <a:cxnSpLocks/>
          </p:cNvCxnSpPr>
          <p:nvPr/>
        </p:nvCxnSpPr>
        <p:spPr>
          <a:xfrm>
            <a:off x="5544732" y="4819257"/>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628464CA-960C-BD3C-79A6-AFFF40A8AD05}"/>
              </a:ext>
            </a:extLst>
          </p:cNvPr>
          <p:cNvCxnSpPr>
            <a:cxnSpLocks/>
          </p:cNvCxnSpPr>
          <p:nvPr/>
        </p:nvCxnSpPr>
        <p:spPr>
          <a:xfrm>
            <a:off x="5544732" y="4662773"/>
            <a:ext cx="82277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997FDF7C-DCA8-38C8-03F7-80683DA9B488}"/>
              </a:ext>
            </a:extLst>
          </p:cNvPr>
          <p:cNvCxnSpPr>
            <a:cxnSpLocks/>
          </p:cNvCxnSpPr>
          <p:nvPr/>
        </p:nvCxnSpPr>
        <p:spPr>
          <a:xfrm>
            <a:off x="5544732" y="4897499"/>
            <a:ext cx="742637" cy="10134"/>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CC6AE77D-7EA5-52DA-DE49-41291B9C25B6}"/>
              </a:ext>
            </a:extLst>
          </p:cNvPr>
          <p:cNvCxnSpPr>
            <a:cxnSpLocks/>
          </p:cNvCxnSpPr>
          <p:nvPr/>
        </p:nvCxnSpPr>
        <p:spPr>
          <a:xfrm>
            <a:off x="5544732" y="411333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F1C8619E-6AF8-D617-A282-878D1E5A5C1D}"/>
              </a:ext>
            </a:extLst>
          </p:cNvPr>
          <p:cNvCxnSpPr>
            <a:cxnSpLocks/>
          </p:cNvCxnSpPr>
          <p:nvPr/>
        </p:nvCxnSpPr>
        <p:spPr>
          <a:xfrm>
            <a:off x="5544732" y="4191575"/>
            <a:ext cx="62174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C0A2FD5F-1A9A-2F94-3D85-997CC48FC63B}"/>
              </a:ext>
            </a:extLst>
          </p:cNvPr>
          <p:cNvCxnSpPr>
            <a:cxnSpLocks/>
          </p:cNvCxnSpPr>
          <p:nvPr/>
        </p:nvCxnSpPr>
        <p:spPr>
          <a:xfrm>
            <a:off x="5544732" y="4269817"/>
            <a:ext cx="630402"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A8742597-5ACE-6064-D7AA-C60292FF6636}"/>
              </a:ext>
            </a:extLst>
          </p:cNvPr>
          <p:cNvCxnSpPr>
            <a:cxnSpLocks/>
          </p:cNvCxnSpPr>
          <p:nvPr/>
        </p:nvCxnSpPr>
        <p:spPr>
          <a:xfrm>
            <a:off x="5544732" y="4985875"/>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A23A5D20-2B9C-EE80-1F6F-6D16C95F0A79}"/>
              </a:ext>
            </a:extLst>
          </p:cNvPr>
          <p:cNvCxnSpPr>
            <a:cxnSpLocks/>
          </p:cNvCxnSpPr>
          <p:nvPr/>
        </p:nvCxnSpPr>
        <p:spPr>
          <a:xfrm>
            <a:off x="5544732" y="5064117"/>
            <a:ext cx="64841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02982870-99F2-5CAC-0087-FC631169E797}"/>
              </a:ext>
            </a:extLst>
          </p:cNvPr>
          <p:cNvCxnSpPr>
            <a:cxnSpLocks/>
          </p:cNvCxnSpPr>
          <p:nvPr/>
        </p:nvCxnSpPr>
        <p:spPr>
          <a:xfrm>
            <a:off x="5544732" y="5142359"/>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1562F390-7B0C-FDFF-0A6E-680CA291A12C}"/>
              </a:ext>
            </a:extLst>
          </p:cNvPr>
          <p:cNvCxnSpPr>
            <a:cxnSpLocks/>
          </p:cNvCxnSpPr>
          <p:nvPr/>
        </p:nvCxnSpPr>
        <p:spPr>
          <a:xfrm>
            <a:off x="5544732" y="5220606"/>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143" name="Right Arrow 142">
            <a:extLst>
              <a:ext uri="{FF2B5EF4-FFF2-40B4-BE49-F238E27FC236}">
                <a16:creationId xmlns:a16="http://schemas.microsoft.com/office/drawing/2014/main" id="{53F28E3D-F9FF-200A-17D4-A20C4D6EB0EF}"/>
              </a:ext>
            </a:extLst>
          </p:cNvPr>
          <p:cNvSpPr/>
          <p:nvPr/>
        </p:nvSpPr>
        <p:spPr>
          <a:xfrm>
            <a:off x="6541655" y="3520663"/>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4" name="TextBox 143">
            <a:extLst>
              <a:ext uri="{FF2B5EF4-FFF2-40B4-BE49-F238E27FC236}">
                <a16:creationId xmlns:a16="http://schemas.microsoft.com/office/drawing/2014/main" id="{E342D879-FC3B-FA22-B2FB-94E7F068C340}"/>
              </a:ext>
            </a:extLst>
          </p:cNvPr>
          <p:cNvSpPr txBox="1"/>
          <p:nvPr/>
        </p:nvSpPr>
        <p:spPr>
          <a:xfrm>
            <a:off x="6372363" y="2846800"/>
            <a:ext cx="1496298" cy="646331"/>
          </a:xfrm>
          <a:prstGeom prst="rect">
            <a:avLst/>
          </a:prstGeom>
          <a:noFill/>
        </p:spPr>
        <p:txBody>
          <a:bodyPr wrap="square" rtlCol="0">
            <a:spAutoFit/>
          </a:bodyPr>
          <a:lstStyle/>
          <a:p>
            <a:r>
              <a:rPr lang="en-DK" b="1" dirty="0"/>
              <a:t>Gene clustering</a:t>
            </a:r>
          </a:p>
        </p:txBody>
      </p:sp>
      <p:cxnSp>
        <p:nvCxnSpPr>
          <p:cNvPr id="145" name="Straight Connector 144">
            <a:extLst>
              <a:ext uri="{FF2B5EF4-FFF2-40B4-BE49-F238E27FC236}">
                <a16:creationId xmlns:a16="http://schemas.microsoft.com/office/drawing/2014/main" id="{CD03EE48-E37C-1DE5-96A6-74854A48D3F2}"/>
              </a:ext>
            </a:extLst>
          </p:cNvPr>
          <p:cNvCxnSpPr>
            <a:cxnSpLocks/>
          </p:cNvCxnSpPr>
          <p:nvPr/>
        </p:nvCxnSpPr>
        <p:spPr>
          <a:xfrm>
            <a:off x="7687852" y="2583071"/>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A8B6E0BE-5F37-5BAA-57C4-204011DD19C1}"/>
              </a:ext>
            </a:extLst>
          </p:cNvPr>
          <p:cNvCxnSpPr>
            <a:cxnSpLocks/>
          </p:cNvCxnSpPr>
          <p:nvPr/>
        </p:nvCxnSpPr>
        <p:spPr>
          <a:xfrm>
            <a:off x="7687852" y="2795501"/>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A5DF22FA-1DA0-1E5D-4D84-D74E2CD6BC54}"/>
              </a:ext>
            </a:extLst>
          </p:cNvPr>
          <p:cNvCxnSpPr>
            <a:cxnSpLocks/>
          </p:cNvCxnSpPr>
          <p:nvPr/>
        </p:nvCxnSpPr>
        <p:spPr>
          <a:xfrm>
            <a:off x="7687852" y="2890042"/>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B801855C-7B7E-8073-FC47-FC489F31E48E}"/>
              </a:ext>
            </a:extLst>
          </p:cNvPr>
          <p:cNvCxnSpPr>
            <a:cxnSpLocks/>
          </p:cNvCxnSpPr>
          <p:nvPr/>
        </p:nvCxnSpPr>
        <p:spPr>
          <a:xfrm>
            <a:off x="7687852" y="3217681"/>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F63EB593-0229-CAAC-975B-502E23C9948D}"/>
              </a:ext>
            </a:extLst>
          </p:cNvPr>
          <p:cNvCxnSpPr>
            <a:cxnSpLocks/>
          </p:cNvCxnSpPr>
          <p:nvPr/>
        </p:nvCxnSpPr>
        <p:spPr>
          <a:xfrm>
            <a:off x="7687852" y="3109550"/>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FDF33E78-62D5-7C32-CC67-1D41D67D22D8}"/>
              </a:ext>
            </a:extLst>
          </p:cNvPr>
          <p:cNvCxnSpPr>
            <a:cxnSpLocks/>
          </p:cNvCxnSpPr>
          <p:nvPr/>
        </p:nvCxnSpPr>
        <p:spPr>
          <a:xfrm>
            <a:off x="7687852" y="3321980"/>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5D9FE9C3-E62B-EE93-85CE-F437C4191744}"/>
              </a:ext>
            </a:extLst>
          </p:cNvPr>
          <p:cNvCxnSpPr>
            <a:cxnSpLocks/>
          </p:cNvCxnSpPr>
          <p:nvPr/>
        </p:nvCxnSpPr>
        <p:spPr>
          <a:xfrm>
            <a:off x="7687852" y="3416521"/>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2A745798-00B8-F845-6CCE-8AEACE2E2023}"/>
              </a:ext>
            </a:extLst>
          </p:cNvPr>
          <p:cNvCxnSpPr>
            <a:cxnSpLocks/>
          </p:cNvCxnSpPr>
          <p:nvPr/>
        </p:nvCxnSpPr>
        <p:spPr>
          <a:xfrm>
            <a:off x="7687852" y="298048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C8A0E10F-4A69-D6A8-224A-945466B33391}"/>
              </a:ext>
            </a:extLst>
          </p:cNvPr>
          <p:cNvCxnSpPr>
            <a:cxnSpLocks/>
          </p:cNvCxnSpPr>
          <p:nvPr/>
        </p:nvCxnSpPr>
        <p:spPr>
          <a:xfrm>
            <a:off x="7687852" y="350696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91B290A5-6689-B817-D999-D00B92E5112A}"/>
              </a:ext>
            </a:extLst>
          </p:cNvPr>
          <p:cNvCxnSpPr>
            <a:cxnSpLocks/>
          </p:cNvCxnSpPr>
          <p:nvPr/>
        </p:nvCxnSpPr>
        <p:spPr>
          <a:xfrm>
            <a:off x="7687852" y="3730295"/>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766D89DF-72F9-2147-0E68-90AE4DFCB88F}"/>
              </a:ext>
            </a:extLst>
          </p:cNvPr>
          <p:cNvCxnSpPr>
            <a:cxnSpLocks/>
          </p:cNvCxnSpPr>
          <p:nvPr/>
        </p:nvCxnSpPr>
        <p:spPr>
          <a:xfrm>
            <a:off x="7687852" y="3622164"/>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4EF760EF-12B1-7E90-3862-9C1E7DBF52B6}"/>
              </a:ext>
            </a:extLst>
          </p:cNvPr>
          <p:cNvCxnSpPr>
            <a:cxnSpLocks/>
          </p:cNvCxnSpPr>
          <p:nvPr/>
        </p:nvCxnSpPr>
        <p:spPr>
          <a:xfrm>
            <a:off x="7687852" y="3834594"/>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1693ECE1-7FC4-C43F-6E0A-5DEA764D363E}"/>
              </a:ext>
            </a:extLst>
          </p:cNvPr>
          <p:cNvCxnSpPr>
            <a:cxnSpLocks/>
          </p:cNvCxnSpPr>
          <p:nvPr/>
        </p:nvCxnSpPr>
        <p:spPr>
          <a:xfrm>
            <a:off x="7687852" y="392913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0262081D-97C6-8890-9A69-10F1BC777A25}"/>
              </a:ext>
            </a:extLst>
          </p:cNvPr>
          <p:cNvCxnSpPr>
            <a:cxnSpLocks/>
          </p:cNvCxnSpPr>
          <p:nvPr/>
        </p:nvCxnSpPr>
        <p:spPr>
          <a:xfrm>
            <a:off x="7687852" y="4256774"/>
            <a:ext cx="6872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7E1B5478-4E7E-7A97-F5B2-94DD7D9BD4A4}"/>
              </a:ext>
            </a:extLst>
          </p:cNvPr>
          <p:cNvCxnSpPr>
            <a:cxnSpLocks/>
          </p:cNvCxnSpPr>
          <p:nvPr/>
        </p:nvCxnSpPr>
        <p:spPr>
          <a:xfrm>
            <a:off x="7687852" y="4148643"/>
            <a:ext cx="873562"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2A701B7C-49DF-9DA9-4639-03DA5DA40FE1}"/>
              </a:ext>
            </a:extLst>
          </p:cNvPr>
          <p:cNvCxnSpPr>
            <a:cxnSpLocks/>
          </p:cNvCxnSpPr>
          <p:nvPr/>
        </p:nvCxnSpPr>
        <p:spPr>
          <a:xfrm>
            <a:off x="7687852" y="4361073"/>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3290713E-A83B-696C-D3AB-4AA0A038B16D}"/>
              </a:ext>
            </a:extLst>
          </p:cNvPr>
          <p:cNvCxnSpPr>
            <a:cxnSpLocks/>
          </p:cNvCxnSpPr>
          <p:nvPr/>
        </p:nvCxnSpPr>
        <p:spPr>
          <a:xfrm>
            <a:off x="7687852" y="445561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4B31ED9C-8DEC-6465-DAAD-6DF523B88A46}"/>
              </a:ext>
            </a:extLst>
          </p:cNvPr>
          <p:cNvCxnSpPr>
            <a:cxnSpLocks/>
          </p:cNvCxnSpPr>
          <p:nvPr/>
        </p:nvCxnSpPr>
        <p:spPr>
          <a:xfrm>
            <a:off x="7687852" y="4019577"/>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A3D6E942-A69C-F78E-7CCE-DE9C8DA83967}"/>
              </a:ext>
            </a:extLst>
          </p:cNvPr>
          <p:cNvCxnSpPr>
            <a:cxnSpLocks/>
          </p:cNvCxnSpPr>
          <p:nvPr/>
        </p:nvCxnSpPr>
        <p:spPr>
          <a:xfrm>
            <a:off x="7687852" y="4546056"/>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168" name="TextBox 167">
            <a:extLst>
              <a:ext uri="{FF2B5EF4-FFF2-40B4-BE49-F238E27FC236}">
                <a16:creationId xmlns:a16="http://schemas.microsoft.com/office/drawing/2014/main" id="{BB74A795-3F41-E0C3-9179-33F7FEBA923E}"/>
              </a:ext>
            </a:extLst>
          </p:cNvPr>
          <p:cNvSpPr txBox="1"/>
          <p:nvPr/>
        </p:nvSpPr>
        <p:spPr>
          <a:xfrm>
            <a:off x="8984361" y="2611152"/>
            <a:ext cx="1222674" cy="369332"/>
          </a:xfrm>
          <a:prstGeom prst="rect">
            <a:avLst/>
          </a:prstGeom>
          <a:noFill/>
        </p:spPr>
        <p:txBody>
          <a:bodyPr wrap="square" rtlCol="0">
            <a:spAutoFit/>
          </a:bodyPr>
          <a:lstStyle/>
          <a:p>
            <a:r>
              <a:rPr lang="en-DK" dirty="0"/>
              <a:t>C1</a:t>
            </a:r>
          </a:p>
        </p:txBody>
      </p:sp>
      <p:cxnSp>
        <p:nvCxnSpPr>
          <p:cNvPr id="169" name="Straight Connector 168">
            <a:extLst>
              <a:ext uri="{FF2B5EF4-FFF2-40B4-BE49-F238E27FC236}">
                <a16:creationId xmlns:a16="http://schemas.microsoft.com/office/drawing/2014/main" id="{FD12C232-4468-CF57-96E4-42E5AD4E329E}"/>
              </a:ext>
            </a:extLst>
          </p:cNvPr>
          <p:cNvCxnSpPr>
            <a:cxnSpLocks/>
          </p:cNvCxnSpPr>
          <p:nvPr/>
        </p:nvCxnSpPr>
        <p:spPr>
          <a:xfrm>
            <a:off x="7687852" y="4643036"/>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C4F4187D-3BC9-93A8-70A7-3CA0170B577E}"/>
              </a:ext>
            </a:extLst>
          </p:cNvPr>
          <p:cNvCxnSpPr>
            <a:cxnSpLocks/>
          </p:cNvCxnSpPr>
          <p:nvPr/>
        </p:nvCxnSpPr>
        <p:spPr>
          <a:xfrm>
            <a:off x="7687852" y="4740021"/>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174" name="Right Brace 173">
            <a:extLst>
              <a:ext uri="{FF2B5EF4-FFF2-40B4-BE49-F238E27FC236}">
                <a16:creationId xmlns:a16="http://schemas.microsoft.com/office/drawing/2014/main" id="{559125DB-78BC-53AB-093D-62762288B700}"/>
              </a:ext>
            </a:extLst>
          </p:cNvPr>
          <p:cNvSpPr/>
          <p:nvPr/>
        </p:nvSpPr>
        <p:spPr>
          <a:xfrm>
            <a:off x="8853048" y="2536613"/>
            <a:ext cx="193963" cy="46945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K"/>
          </a:p>
        </p:txBody>
      </p:sp>
      <p:sp>
        <p:nvSpPr>
          <p:cNvPr id="180" name="TextBox 179">
            <a:extLst>
              <a:ext uri="{FF2B5EF4-FFF2-40B4-BE49-F238E27FC236}">
                <a16:creationId xmlns:a16="http://schemas.microsoft.com/office/drawing/2014/main" id="{65654C6A-BA31-9486-8265-0ED3EBB55577}"/>
              </a:ext>
            </a:extLst>
          </p:cNvPr>
          <p:cNvSpPr txBox="1"/>
          <p:nvPr/>
        </p:nvSpPr>
        <p:spPr>
          <a:xfrm>
            <a:off x="8984361" y="3179188"/>
            <a:ext cx="1222674" cy="369332"/>
          </a:xfrm>
          <a:prstGeom prst="rect">
            <a:avLst/>
          </a:prstGeom>
          <a:noFill/>
        </p:spPr>
        <p:txBody>
          <a:bodyPr wrap="square" rtlCol="0">
            <a:spAutoFit/>
          </a:bodyPr>
          <a:lstStyle/>
          <a:p>
            <a:r>
              <a:rPr lang="en-DK" dirty="0"/>
              <a:t>C2</a:t>
            </a:r>
          </a:p>
        </p:txBody>
      </p:sp>
      <p:sp>
        <p:nvSpPr>
          <p:cNvPr id="181" name="Right Brace 180">
            <a:extLst>
              <a:ext uri="{FF2B5EF4-FFF2-40B4-BE49-F238E27FC236}">
                <a16:creationId xmlns:a16="http://schemas.microsoft.com/office/drawing/2014/main" id="{F54AE6D0-6983-527A-F2DE-656535A2E187}"/>
              </a:ext>
            </a:extLst>
          </p:cNvPr>
          <p:cNvSpPr/>
          <p:nvPr/>
        </p:nvSpPr>
        <p:spPr>
          <a:xfrm>
            <a:off x="8853048" y="3104649"/>
            <a:ext cx="193963" cy="46945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K"/>
          </a:p>
        </p:txBody>
      </p:sp>
      <p:sp>
        <p:nvSpPr>
          <p:cNvPr id="182" name="TextBox 181">
            <a:extLst>
              <a:ext uri="{FF2B5EF4-FFF2-40B4-BE49-F238E27FC236}">
                <a16:creationId xmlns:a16="http://schemas.microsoft.com/office/drawing/2014/main" id="{00919A5B-B15A-F4E3-BF53-491F6C1739AB}"/>
              </a:ext>
            </a:extLst>
          </p:cNvPr>
          <p:cNvSpPr txBox="1"/>
          <p:nvPr/>
        </p:nvSpPr>
        <p:spPr>
          <a:xfrm>
            <a:off x="8984361" y="3719518"/>
            <a:ext cx="1222674" cy="369332"/>
          </a:xfrm>
          <a:prstGeom prst="rect">
            <a:avLst/>
          </a:prstGeom>
          <a:noFill/>
        </p:spPr>
        <p:txBody>
          <a:bodyPr wrap="square" rtlCol="0">
            <a:spAutoFit/>
          </a:bodyPr>
          <a:lstStyle/>
          <a:p>
            <a:r>
              <a:rPr lang="en-DK" dirty="0"/>
              <a:t>C3</a:t>
            </a:r>
          </a:p>
        </p:txBody>
      </p:sp>
      <p:sp>
        <p:nvSpPr>
          <p:cNvPr id="183" name="Right Brace 182">
            <a:extLst>
              <a:ext uri="{FF2B5EF4-FFF2-40B4-BE49-F238E27FC236}">
                <a16:creationId xmlns:a16="http://schemas.microsoft.com/office/drawing/2014/main" id="{28A1FFA4-B3F6-68E9-C8D0-95A8D3A356C7}"/>
              </a:ext>
            </a:extLst>
          </p:cNvPr>
          <p:cNvSpPr/>
          <p:nvPr/>
        </p:nvSpPr>
        <p:spPr>
          <a:xfrm>
            <a:off x="8853048" y="3644979"/>
            <a:ext cx="193963" cy="46945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K"/>
          </a:p>
        </p:txBody>
      </p:sp>
      <p:sp>
        <p:nvSpPr>
          <p:cNvPr id="184" name="TextBox 183">
            <a:extLst>
              <a:ext uri="{FF2B5EF4-FFF2-40B4-BE49-F238E27FC236}">
                <a16:creationId xmlns:a16="http://schemas.microsoft.com/office/drawing/2014/main" id="{397F31B3-5F6D-11C9-AAFB-86B9AF1C81A4}"/>
              </a:ext>
            </a:extLst>
          </p:cNvPr>
          <p:cNvSpPr txBox="1"/>
          <p:nvPr/>
        </p:nvSpPr>
        <p:spPr>
          <a:xfrm>
            <a:off x="8984361" y="4315958"/>
            <a:ext cx="1222674" cy="369332"/>
          </a:xfrm>
          <a:prstGeom prst="rect">
            <a:avLst/>
          </a:prstGeom>
          <a:noFill/>
        </p:spPr>
        <p:txBody>
          <a:bodyPr wrap="square" rtlCol="0">
            <a:spAutoFit/>
          </a:bodyPr>
          <a:lstStyle/>
          <a:p>
            <a:r>
              <a:rPr lang="en-DK" dirty="0"/>
              <a:t>C4</a:t>
            </a:r>
          </a:p>
        </p:txBody>
      </p:sp>
      <p:sp>
        <p:nvSpPr>
          <p:cNvPr id="185" name="Right Brace 184">
            <a:extLst>
              <a:ext uri="{FF2B5EF4-FFF2-40B4-BE49-F238E27FC236}">
                <a16:creationId xmlns:a16="http://schemas.microsoft.com/office/drawing/2014/main" id="{CA311EBF-63BE-5545-CC58-53BFDAEC98F7}"/>
              </a:ext>
            </a:extLst>
          </p:cNvPr>
          <p:cNvSpPr/>
          <p:nvPr/>
        </p:nvSpPr>
        <p:spPr>
          <a:xfrm>
            <a:off x="8853048" y="4157592"/>
            <a:ext cx="186733" cy="65642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K"/>
          </a:p>
        </p:txBody>
      </p:sp>
      <p:sp>
        <p:nvSpPr>
          <p:cNvPr id="186" name="Right Arrow 185">
            <a:extLst>
              <a:ext uri="{FF2B5EF4-FFF2-40B4-BE49-F238E27FC236}">
                <a16:creationId xmlns:a16="http://schemas.microsoft.com/office/drawing/2014/main" id="{EFDDDDBC-54AD-09D9-94E7-2BF0A37F6CC1}"/>
              </a:ext>
            </a:extLst>
          </p:cNvPr>
          <p:cNvSpPr/>
          <p:nvPr/>
        </p:nvSpPr>
        <p:spPr>
          <a:xfrm>
            <a:off x="9492050" y="3422479"/>
            <a:ext cx="551598" cy="374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7" name="TextBox 186">
            <a:extLst>
              <a:ext uri="{FF2B5EF4-FFF2-40B4-BE49-F238E27FC236}">
                <a16:creationId xmlns:a16="http://schemas.microsoft.com/office/drawing/2014/main" id="{7924E4DA-7213-776D-5289-C7CCFC2130C0}"/>
              </a:ext>
            </a:extLst>
          </p:cNvPr>
          <p:cNvSpPr txBox="1"/>
          <p:nvPr/>
        </p:nvSpPr>
        <p:spPr>
          <a:xfrm>
            <a:off x="9982199" y="4962329"/>
            <a:ext cx="1842667" cy="646331"/>
          </a:xfrm>
          <a:prstGeom prst="rect">
            <a:avLst/>
          </a:prstGeom>
          <a:noFill/>
        </p:spPr>
        <p:txBody>
          <a:bodyPr wrap="square" rtlCol="0">
            <a:spAutoFit/>
          </a:bodyPr>
          <a:lstStyle/>
          <a:p>
            <a:r>
              <a:rPr lang="en-DK" b="1" dirty="0"/>
              <a:t>Non-redundant gene catalog</a:t>
            </a:r>
          </a:p>
        </p:txBody>
      </p:sp>
      <p:sp>
        <p:nvSpPr>
          <p:cNvPr id="188" name="TextBox 187">
            <a:extLst>
              <a:ext uri="{FF2B5EF4-FFF2-40B4-BE49-F238E27FC236}">
                <a16:creationId xmlns:a16="http://schemas.microsoft.com/office/drawing/2014/main" id="{F6F62EBC-FB02-566F-BA24-D1A37D4C0CBC}"/>
              </a:ext>
            </a:extLst>
          </p:cNvPr>
          <p:cNvSpPr txBox="1"/>
          <p:nvPr/>
        </p:nvSpPr>
        <p:spPr>
          <a:xfrm>
            <a:off x="7647421" y="2140487"/>
            <a:ext cx="1222674" cy="369332"/>
          </a:xfrm>
          <a:prstGeom prst="rect">
            <a:avLst/>
          </a:prstGeom>
          <a:noFill/>
        </p:spPr>
        <p:txBody>
          <a:bodyPr wrap="square" rtlCol="0">
            <a:spAutoFit/>
          </a:bodyPr>
          <a:lstStyle/>
          <a:p>
            <a:r>
              <a:rPr lang="en-DK" dirty="0"/>
              <a:t>Clusters</a:t>
            </a:r>
          </a:p>
        </p:txBody>
      </p:sp>
      <p:sp>
        <p:nvSpPr>
          <p:cNvPr id="189" name="TextBox 188">
            <a:extLst>
              <a:ext uri="{FF2B5EF4-FFF2-40B4-BE49-F238E27FC236}">
                <a16:creationId xmlns:a16="http://schemas.microsoft.com/office/drawing/2014/main" id="{1FEFDE7A-BC77-8BC4-38EE-51605117892D}"/>
              </a:ext>
            </a:extLst>
          </p:cNvPr>
          <p:cNvSpPr txBox="1"/>
          <p:nvPr/>
        </p:nvSpPr>
        <p:spPr>
          <a:xfrm>
            <a:off x="5544732" y="5364091"/>
            <a:ext cx="772803" cy="369332"/>
          </a:xfrm>
          <a:prstGeom prst="rect">
            <a:avLst/>
          </a:prstGeom>
          <a:noFill/>
        </p:spPr>
        <p:txBody>
          <a:bodyPr wrap="square" rtlCol="0">
            <a:spAutoFit/>
          </a:bodyPr>
          <a:lstStyle/>
          <a:p>
            <a:r>
              <a:rPr lang="en-DK" dirty="0"/>
              <a:t>…</a:t>
            </a:r>
          </a:p>
        </p:txBody>
      </p:sp>
      <p:sp>
        <p:nvSpPr>
          <p:cNvPr id="190" name="TextBox 189">
            <a:extLst>
              <a:ext uri="{FF2B5EF4-FFF2-40B4-BE49-F238E27FC236}">
                <a16:creationId xmlns:a16="http://schemas.microsoft.com/office/drawing/2014/main" id="{4443CC7F-F001-AE6C-4714-903E0C8C268C}"/>
              </a:ext>
            </a:extLst>
          </p:cNvPr>
          <p:cNvSpPr txBox="1"/>
          <p:nvPr/>
        </p:nvSpPr>
        <p:spPr>
          <a:xfrm>
            <a:off x="3120178" y="5656549"/>
            <a:ext cx="772803" cy="369332"/>
          </a:xfrm>
          <a:prstGeom prst="rect">
            <a:avLst/>
          </a:prstGeom>
          <a:noFill/>
        </p:spPr>
        <p:txBody>
          <a:bodyPr wrap="square" rtlCol="0">
            <a:spAutoFit/>
          </a:bodyPr>
          <a:lstStyle/>
          <a:p>
            <a:r>
              <a:rPr lang="en-DK" dirty="0"/>
              <a:t>…</a:t>
            </a:r>
          </a:p>
        </p:txBody>
      </p:sp>
      <p:sp>
        <p:nvSpPr>
          <p:cNvPr id="191" name="TextBox 190">
            <a:extLst>
              <a:ext uri="{FF2B5EF4-FFF2-40B4-BE49-F238E27FC236}">
                <a16:creationId xmlns:a16="http://schemas.microsoft.com/office/drawing/2014/main" id="{ECCE607D-C2DE-70AD-765A-C61405A0342D}"/>
              </a:ext>
            </a:extLst>
          </p:cNvPr>
          <p:cNvSpPr txBox="1"/>
          <p:nvPr/>
        </p:nvSpPr>
        <p:spPr>
          <a:xfrm>
            <a:off x="7687852" y="4692383"/>
            <a:ext cx="772803" cy="369332"/>
          </a:xfrm>
          <a:prstGeom prst="rect">
            <a:avLst/>
          </a:prstGeom>
          <a:noFill/>
        </p:spPr>
        <p:txBody>
          <a:bodyPr wrap="square" rtlCol="0">
            <a:spAutoFit/>
          </a:bodyPr>
          <a:lstStyle/>
          <a:p>
            <a:r>
              <a:rPr lang="en-DK" dirty="0"/>
              <a:t>…</a:t>
            </a:r>
          </a:p>
        </p:txBody>
      </p:sp>
      <p:cxnSp>
        <p:nvCxnSpPr>
          <p:cNvPr id="192" name="Straight Connector 191">
            <a:extLst>
              <a:ext uri="{FF2B5EF4-FFF2-40B4-BE49-F238E27FC236}">
                <a16:creationId xmlns:a16="http://schemas.microsoft.com/office/drawing/2014/main" id="{CD1E618B-83C1-42E9-6526-FF1E4036DA91}"/>
              </a:ext>
            </a:extLst>
          </p:cNvPr>
          <p:cNvCxnSpPr>
            <a:cxnSpLocks/>
          </p:cNvCxnSpPr>
          <p:nvPr/>
        </p:nvCxnSpPr>
        <p:spPr>
          <a:xfrm>
            <a:off x="10278657" y="2583071"/>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0B372F7C-7E1E-0C01-DB8B-9CEF549CD586}"/>
              </a:ext>
            </a:extLst>
          </p:cNvPr>
          <p:cNvCxnSpPr>
            <a:cxnSpLocks/>
          </p:cNvCxnSpPr>
          <p:nvPr/>
        </p:nvCxnSpPr>
        <p:spPr>
          <a:xfrm>
            <a:off x="10278657" y="2630039"/>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56EF337C-0C0B-0BEA-FD48-48C1E19A2A67}"/>
              </a:ext>
            </a:extLst>
          </p:cNvPr>
          <p:cNvCxnSpPr>
            <a:cxnSpLocks/>
          </p:cNvCxnSpPr>
          <p:nvPr/>
        </p:nvCxnSpPr>
        <p:spPr>
          <a:xfrm>
            <a:off x="10278657" y="2723975"/>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01E69B5E-1E0D-4004-A954-0E9C93ABEE67}"/>
              </a:ext>
            </a:extLst>
          </p:cNvPr>
          <p:cNvCxnSpPr>
            <a:cxnSpLocks/>
          </p:cNvCxnSpPr>
          <p:nvPr/>
        </p:nvCxnSpPr>
        <p:spPr>
          <a:xfrm>
            <a:off x="10278657" y="2864879"/>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92A971A0-53A7-538F-6305-493710CF6EDA}"/>
              </a:ext>
            </a:extLst>
          </p:cNvPr>
          <p:cNvCxnSpPr>
            <a:cxnSpLocks/>
          </p:cNvCxnSpPr>
          <p:nvPr/>
        </p:nvCxnSpPr>
        <p:spPr>
          <a:xfrm>
            <a:off x="10278657" y="3005783"/>
            <a:ext cx="1061289"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16B1B08A-636F-E3C4-95F2-061FCBB64D73}"/>
              </a:ext>
            </a:extLst>
          </p:cNvPr>
          <p:cNvCxnSpPr>
            <a:cxnSpLocks/>
          </p:cNvCxnSpPr>
          <p:nvPr/>
        </p:nvCxnSpPr>
        <p:spPr>
          <a:xfrm>
            <a:off x="10278657" y="3710303"/>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390F152C-76B1-6D30-9065-AD4D66335CDB}"/>
              </a:ext>
            </a:extLst>
          </p:cNvPr>
          <p:cNvCxnSpPr>
            <a:cxnSpLocks/>
          </p:cNvCxnSpPr>
          <p:nvPr/>
        </p:nvCxnSpPr>
        <p:spPr>
          <a:xfrm>
            <a:off x="10278657" y="4320887"/>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0" name="Straight Connector 199">
            <a:extLst>
              <a:ext uri="{FF2B5EF4-FFF2-40B4-BE49-F238E27FC236}">
                <a16:creationId xmlns:a16="http://schemas.microsoft.com/office/drawing/2014/main" id="{E9B2521B-46B5-29FE-E71B-B057DDD71823}"/>
              </a:ext>
            </a:extLst>
          </p:cNvPr>
          <p:cNvCxnSpPr>
            <a:cxnSpLocks/>
          </p:cNvCxnSpPr>
          <p:nvPr/>
        </p:nvCxnSpPr>
        <p:spPr>
          <a:xfrm>
            <a:off x="10278657" y="3240623"/>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1" name="Straight Connector 200">
            <a:extLst>
              <a:ext uri="{FF2B5EF4-FFF2-40B4-BE49-F238E27FC236}">
                <a16:creationId xmlns:a16="http://schemas.microsoft.com/office/drawing/2014/main" id="{8319F113-9E0D-676D-FE6E-4E2883266301}"/>
              </a:ext>
            </a:extLst>
          </p:cNvPr>
          <p:cNvCxnSpPr>
            <a:cxnSpLocks/>
          </p:cNvCxnSpPr>
          <p:nvPr/>
        </p:nvCxnSpPr>
        <p:spPr>
          <a:xfrm>
            <a:off x="10278657" y="3146687"/>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2" name="Straight Connector 201">
            <a:extLst>
              <a:ext uri="{FF2B5EF4-FFF2-40B4-BE49-F238E27FC236}">
                <a16:creationId xmlns:a16="http://schemas.microsoft.com/office/drawing/2014/main" id="{8C2D06E8-A23B-C417-5919-AA24886D9CE7}"/>
              </a:ext>
            </a:extLst>
          </p:cNvPr>
          <p:cNvCxnSpPr>
            <a:cxnSpLocks/>
          </p:cNvCxnSpPr>
          <p:nvPr/>
        </p:nvCxnSpPr>
        <p:spPr>
          <a:xfrm>
            <a:off x="10278657" y="3945143"/>
            <a:ext cx="6872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3" name="Straight Connector 202">
            <a:extLst>
              <a:ext uri="{FF2B5EF4-FFF2-40B4-BE49-F238E27FC236}">
                <a16:creationId xmlns:a16="http://schemas.microsoft.com/office/drawing/2014/main" id="{28359E9D-4470-9471-D662-606C0A1FD5EB}"/>
              </a:ext>
            </a:extLst>
          </p:cNvPr>
          <p:cNvCxnSpPr>
            <a:cxnSpLocks/>
          </p:cNvCxnSpPr>
          <p:nvPr/>
        </p:nvCxnSpPr>
        <p:spPr>
          <a:xfrm>
            <a:off x="10278657" y="3428495"/>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4" name="Straight Connector 203">
            <a:extLst>
              <a:ext uri="{FF2B5EF4-FFF2-40B4-BE49-F238E27FC236}">
                <a16:creationId xmlns:a16="http://schemas.microsoft.com/office/drawing/2014/main" id="{68109CA5-C8EB-8E62-52BF-50FC0D00D12C}"/>
              </a:ext>
            </a:extLst>
          </p:cNvPr>
          <p:cNvCxnSpPr>
            <a:cxnSpLocks/>
          </p:cNvCxnSpPr>
          <p:nvPr/>
        </p:nvCxnSpPr>
        <p:spPr>
          <a:xfrm>
            <a:off x="10278657" y="3569399"/>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5" name="Straight Connector 204">
            <a:extLst>
              <a:ext uri="{FF2B5EF4-FFF2-40B4-BE49-F238E27FC236}">
                <a16:creationId xmlns:a16="http://schemas.microsoft.com/office/drawing/2014/main" id="{F70FD851-7A26-3E0C-95D3-0FA60ED4B26F}"/>
              </a:ext>
            </a:extLst>
          </p:cNvPr>
          <p:cNvCxnSpPr>
            <a:cxnSpLocks/>
          </p:cNvCxnSpPr>
          <p:nvPr/>
        </p:nvCxnSpPr>
        <p:spPr>
          <a:xfrm>
            <a:off x="10278657" y="3757271"/>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6" name="Straight Connector 205">
            <a:extLst>
              <a:ext uri="{FF2B5EF4-FFF2-40B4-BE49-F238E27FC236}">
                <a16:creationId xmlns:a16="http://schemas.microsoft.com/office/drawing/2014/main" id="{9EB59F33-E8F7-00BD-8E44-90DA7589A733}"/>
              </a:ext>
            </a:extLst>
          </p:cNvPr>
          <p:cNvCxnSpPr>
            <a:cxnSpLocks/>
          </p:cNvCxnSpPr>
          <p:nvPr/>
        </p:nvCxnSpPr>
        <p:spPr>
          <a:xfrm>
            <a:off x="10278657" y="3992111"/>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7" name="Straight Connector 206">
            <a:extLst>
              <a:ext uri="{FF2B5EF4-FFF2-40B4-BE49-F238E27FC236}">
                <a16:creationId xmlns:a16="http://schemas.microsoft.com/office/drawing/2014/main" id="{869637B2-7F62-ECCB-679F-3CADD40434D5}"/>
              </a:ext>
            </a:extLst>
          </p:cNvPr>
          <p:cNvCxnSpPr>
            <a:cxnSpLocks/>
          </p:cNvCxnSpPr>
          <p:nvPr/>
        </p:nvCxnSpPr>
        <p:spPr>
          <a:xfrm>
            <a:off x="10278657" y="4649663"/>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08" name="Straight Connector 207">
            <a:extLst>
              <a:ext uri="{FF2B5EF4-FFF2-40B4-BE49-F238E27FC236}">
                <a16:creationId xmlns:a16="http://schemas.microsoft.com/office/drawing/2014/main" id="{97611282-6764-5458-3904-8C96334266F1}"/>
              </a:ext>
            </a:extLst>
          </p:cNvPr>
          <p:cNvCxnSpPr>
            <a:cxnSpLocks/>
          </p:cNvCxnSpPr>
          <p:nvPr/>
        </p:nvCxnSpPr>
        <p:spPr>
          <a:xfrm>
            <a:off x="10278657" y="4461791"/>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09" name="Straight Connector 208">
            <a:extLst>
              <a:ext uri="{FF2B5EF4-FFF2-40B4-BE49-F238E27FC236}">
                <a16:creationId xmlns:a16="http://schemas.microsoft.com/office/drawing/2014/main" id="{D4F2AF91-37B8-7625-8517-7725B4759D3F}"/>
              </a:ext>
            </a:extLst>
          </p:cNvPr>
          <p:cNvCxnSpPr>
            <a:cxnSpLocks/>
          </p:cNvCxnSpPr>
          <p:nvPr/>
        </p:nvCxnSpPr>
        <p:spPr>
          <a:xfrm>
            <a:off x="10278657" y="2677007"/>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0" name="Straight Connector 209">
            <a:extLst>
              <a:ext uri="{FF2B5EF4-FFF2-40B4-BE49-F238E27FC236}">
                <a16:creationId xmlns:a16="http://schemas.microsoft.com/office/drawing/2014/main" id="{F52EA0D3-BE95-6168-0612-A46730FFBB56}"/>
              </a:ext>
            </a:extLst>
          </p:cNvPr>
          <p:cNvCxnSpPr>
            <a:cxnSpLocks/>
          </p:cNvCxnSpPr>
          <p:nvPr/>
        </p:nvCxnSpPr>
        <p:spPr>
          <a:xfrm>
            <a:off x="10278657" y="2770943"/>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1" name="Straight Connector 210">
            <a:extLst>
              <a:ext uri="{FF2B5EF4-FFF2-40B4-BE49-F238E27FC236}">
                <a16:creationId xmlns:a16="http://schemas.microsoft.com/office/drawing/2014/main" id="{79DDFFCE-EDC0-822D-9D4C-EF0CFC9B0B96}"/>
              </a:ext>
            </a:extLst>
          </p:cNvPr>
          <p:cNvCxnSpPr>
            <a:cxnSpLocks/>
          </p:cNvCxnSpPr>
          <p:nvPr/>
        </p:nvCxnSpPr>
        <p:spPr>
          <a:xfrm>
            <a:off x="10278657" y="2911847"/>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2" name="Straight Connector 211">
            <a:extLst>
              <a:ext uri="{FF2B5EF4-FFF2-40B4-BE49-F238E27FC236}">
                <a16:creationId xmlns:a16="http://schemas.microsoft.com/office/drawing/2014/main" id="{1E5A1180-DDC1-8BD7-0864-ACCB82C645CF}"/>
              </a:ext>
            </a:extLst>
          </p:cNvPr>
          <p:cNvCxnSpPr>
            <a:cxnSpLocks/>
          </p:cNvCxnSpPr>
          <p:nvPr/>
        </p:nvCxnSpPr>
        <p:spPr>
          <a:xfrm>
            <a:off x="10278657" y="3052751"/>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3" name="Straight Connector 212">
            <a:extLst>
              <a:ext uri="{FF2B5EF4-FFF2-40B4-BE49-F238E27FC236}">
                <a16:creationId xmlns:a16="http://schemas.microsoft.com/office/drawing/2014/main" id="{9994B0FA-CA63-B458-47F8-867B28C61B5C}"/>
              </a:ext>
            </a:extLst>
          </p:cNvPr>
          <p:cNvCxnSpPr>
            <a:cxnSpLocks/>
          </p:cNvCxnSpPr>
          <p:nvPr/>
        </p:nvCxnSpPr>
        <p:spPr>
          <a:xfrm>
            <a:off x="10278657" y="3193655"/>
            <a:ext cx="1061289"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09F6A672-448A-6194-4591-B42CC201B189}"/>
              </a:ext>
            </a:extLst>
          </p:cNvPr>
          <p:cNvCxnSpPr>
            <a:cxnSpLocks/>
          </p:cNvCxnSpPr>
          <p:nvPr/>
        </p:nvCxnSpPr>
        <p:spPr>
          <a:xfrm>
            <a:off x="10278657" y="3898175"/>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5359F28C-081E-B857-6CF1-E9E451E2D604}"/>
              </a:ext>
            </a:extLst>
          </p:cNvPr>
          <p:cNvCxnSpPr>
            <a:cxnSpLocks/>
          </p:cNvCxnSpPr>
          <p:nvPr/>
        </p:nvCxnSpPr>
        <p:spPr>
          <a:xfrm>
            <a:off x="10278657" y="4508759"/>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CCE3AFCE-3732-2F51-F738-3B4AB9C9D727}"/>
              </a:ext>
            </a:extLst>
          </p:cNvPr>
          <p:cNvCxnSpPr>
            <a:cxnSpLocks/>
          </p:cNvCxnSpPr>
          <p:nvPr/>
        </p:nvCxnSpPr>
        <p:spPr>
          <a:xfrm>
            <a:off x="10278657" y="3475463"/>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17" name="Straight Connector 216">
            <a:extLst>
              <a:ext uri="{FF2B5EF4-FFF2-40B4-BE49-F238E27FC236}">
                <a16:creationId xmlns:a16="http://schemas.microsoft.com/office/drawing/2014/main" id="{57D728EA-B5C1-6485-9B86-59E4BB07D247}"/>
              </a:ext>
            </a:extLst>
          </p:cNvPr>
          <p:cNvCxnSpPr>
            <a:cxnSpLocks/>
          </p:cNvCxnSpPr>
          <p:nvPr/>
        </p:nvCxnSpPr>
        <p:spPr>
          <a:xfrm>
            <a:off x="10278657" y="3334559"/>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F8E68517-A795-1A09-B370-D025A2DFE4B1}"/>
              </a:ext>
            </a:extLst>
          </p:cNvPr>
          <p:cNvCxnSpPr>
            <a:cxnSpLocks/>
          </p:cNvCxnSpPr>
          <p:nvPr/>
        </p:nvCxnSpPr>
        <p:spPr>
          <a:xfrm>
            <a:off x="10278657" y="4179983"/>
            <a:ext cx="6872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19" name="Straight Connector 218">
            <a:extLst>
              <a:ext uri="{FF2B5EF4-FFF2-40B4-BE49-F238E27FC236}">
                <a16:creationId xmlns:a16="http://schemas.microsoft.com/office/drawing/2014/main" id="{53A40B8C-B627-774E-6A5D-503471BF9983}"/>
              </a:ext>
            </a:extLst>
          </p:cNvPr>
          <p:cNvCxnSpPr>
            <a:cxnSpLocks/>
          </p:cNvCxnSpPr>
          <p:nvPr/>
        </p:nvCxnSpPr>
        <p:spPr>
          <a:xfrm>
            <a:off x="10278657" y="3616367"/>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0" name="Straight Connector 219">
            <a:extLst>
              <a:ext uri="{FF2B5EF4-FFF2-40B4-BE49-F238E27FC236}">
                <a16:creationId xmlns:a16="http://schemas.microsoft.com/office/drawing/2014/main" id="{FDAE714A-6A4A-E8AA-1310-88AF6774D1EF}"/>
              </a:ext>
            </a:extLst>
          </p:cNvPr>
          <p:cNvCxnSpPr>
            <a:cxnSpLocks/>
          </p:cNvCxnSpPr>
          <p:nvPr/>
        </p:nvCxnSpPr>
        <p:spPr>
          <a:xfrm>
            <a:off x="10278657" y="3804239"/>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1" name="Straight Connector 220">
            <a:extLst>
              <a:ext uri="{FF2B5EF4-FFF2-40B4-BE49-F238E27FC236}">
                <a16:creationId xmlns:a16="http://schemas.microsoft.com/office/drawing/2014/main" id="{E5FB358A-9A37-FEC5-B632-F60F17094936}"/>
              </a:ext>
            </a:extLst>
          </p:cNvPr>
          <p:cNvCxnSpPr>
            <a:cxnSpLocks/>
          </p:cNvCxnSpPr>
          <p:nvPr/>
        </p:nvCxnSpPr>
        <p:spPr>
          <a:xfrm>
            <a:off x="10278657" y="4039079"/>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B4790533-55BF-E1D2-FDD8-AAEF67C35498}"/>
              </a:ext>
            </a:extLst>
          </p:cNvPr>
          <p:cNvCxnSpPr>
            <a:cxnSpLocks/>
          </p:cNvCxnSpPr>
          <p:nvPr/>
        </p:nvCxnSpPr>
        <p:spPr>
          <a:xfrm>
            <a:off x="10278657" y="4226951"/>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3" name="Straight Connector 222">
            <a:extLst>
              <a:ext uri="{FF2B5EF4-FFF2-40B4-BE49-F238E27FC236}">
                <a16:creationId xmlns:a16="http://schemas.microsoft.com/office/drawing/2014/main" id="{B56AEE61-B706-2F3C-EB5D-EFCCD626FCB1}"/>
              </a:ext>
            </a:extLst>
          </p:cNvPr>
          <p:cNvCxnSpPr>
            <a:cxnSpLocks/>
          </p:cNvCxnSpPr>
          <p:nvPr/>
        </p:nvCxnSpPr>
        <p:spPr>
          <a:xfrm>
            <a:off x="10278657" y="4743599"/>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24" name="Straight Connector 223">
            <a:extLst>
              <a:ext uri="{FF2B5EF4-FFF2-40B4-BE49-F238E27FC236}">
                <a16:creationId xmlns:a16="http://schemas.microsoft.com/office/drawing/2014/main" id="{0E8C3A20-8690-92B1-8FE8-3E9EFF24CEB9}"/>
              </a:ext>
            </a:extLst>
          </p:cNvPr>
          <p:cNvCxnSpPr>
            <a:cxnSpLocks/>
          </p:cNvCxnSpPr>
          <p:nvPr/>
        </p:nvCxnSpPr>
        <p:spPr>
          <a:xfrm>
            <a:off x="10278657" y="4555727"/>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25" name="Straight Connector 224">
            <a:extLst>
              <a:ext uri="{FF2B5EF4-FFF2-40B4-BE49-F238E27FC236}">
                <a16:creationId xmlns:a16="http://schemas.microsoft.com/office/drawing/2014/main" id="{B61C4E9E-DADD-4BCD-07C6-08A14BAB2C1D}"/>
              </a:ext>
            </a:extLst>
          </p:cNvPr>
          <p:cNvCxnSpPr>
            <a:cxnSpLocks/>
          </p:cNvCxnSpPr>
          <p:nvPr/>
        </p:nvCxnSpPr>
        <p:spPr>
          <a:xfrm>
            <a:off x="10278657" y="2817911"/>
            <a:ext cx="1179052"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26" name="Straight Connector 225">
            <a:extLst>
              <a:ext uri="{FF2B5EF4-FFF2-40B4-BE49-F238E27FC236}">
                <a16:creationId xmlns:a16="http://schemas.microsoft.com/office/drawing/2014/main" id="{6763011E-04E5-B3D3-CED1-53842045A543}"/>
              </a:ext>
            </a:extLst>
          </p:cNvPr>
          <p:cNvCxnSpPr>
            <a:cxnSpLocks/>
          </p:cNvCxnSpPr>
          <p:nvPr/>
        </p:nvCxnSpPr>
        <p:spPr>
          <a:xfrm>
            <a:off x="10278657" y="2958815"/>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27" name="Straight Connector 226">
            <a:extLst>
              <a:ext uri="{FF2B5EF4-FFF2-40B4-BE49-F238E27FC236}">
                <a16:creationId xmlns:a16="http://schemas.microsoft.com/office/drawing/2014/main" id="{4BD4E543-79C1-6178-A484-9DD587C2FD03}"/>
              </a:ext>
            </a:extLst>
          </p:cNvPr>
          <p:cNvCxnSpPr>
            <a:cxnSpLocks/>
          </p:cNvCxnSpPr>
          <p:nvPr/>
        </p:nvCxnSpPr>
        <p:spPr>
          <a:xfrm>
            <a:off x="10278657" y="3099719"/>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28" name="Straight Connector 227">
            <a:extLst>
              <a:ext uri="{FF2B5EF4-FFF2-40B4-BE49-F238E27FC236}">
                <a16:creationId xmlns:a16="http://schemas.microsoft.com/office/drawing/2014/main" id="{FBFA8F54-95E0-2E12-7834-49A2EA1732D4}"/>
              </a:ext>
            </a:extLst>
          </p:cNvPr>
          <p:cNvCxnSpPr>
            <a:cxnSpLocks/>
          </p:cNvCxnSpPr>
          <p:nvPr/>
        </p:nvCxnSpPr>
        <p:spPr>
          <a:xfrm>
            <a:off x="10278657" y="3287591"/>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29" name="Straight Connector 228">
            <a:extLst>
              <a:ext uri="{FF2B5EF4-FFF2-40B4-BE49-F238E27FC236}">
                <a16:creationId xmlns:a16="http://schemas.microsoft.com/office/drawing/2014/main" id="{1015F758-6380-490A-70C8-0F45FCF21A23}"/>
              </a:ext>
            </a:extLst>
          </p:cNvPr>
          <p:cNvCxnSpPr>
            <a:cxnSpLocks/>
          </p:cNvCxnSpPr>
          <p:nvPr/>
        </p:nvCxnSpPr>
        <p:spPr>
          <a:xfrm>
            <a:off x="10278657" y="3381527"/>
            <a:ext cx="1061289"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30" name="Straight Connector 229">
            <a:extLst>
              <a:ext uri="{FF2B5EF4-FFF2-40B4-BE49-F238E27FC236}">
                <a16:creationId xmlns:a16="http://schemas.microsoft.com/office/drawing/2014/main" id="{94997056-745B-70BF-0419-D1C61BCACF93}"/>
              </a:ext>
            </a:extLst>
          </p:cNvPr>
          <p:cNvCxnSpPr>
            <a:cxnSpLocks/>
          </p:cNvCxnSpPr>
          <p:nvPr/>
        </p:nvCxnSpPr>
        <p:spPr>
          <a:xfrm>
            <a:off x="10278657" y="4133015"/>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31" name="Straight Connector 230">
            <a:extLst>
              <a:ext uri="{FF2B5EF4-FFF2-40B4-BE49-F238E27FC236}">
                <a16:creationId xmlns:a16="http://schemas.microsoft.com/office/drawing/2014/main" id="{7191BA0F-EB6A-3FF7-0DC4-1A75AC34A14D}"/>
              </a:ext>
            </a:extLst>
          </p:cNvPr>
          <p:cNvCxnSpPr>
            <a:cxnSpLocks/>
          </p:cNvCxnSpPr>
          <p:nvPr/>
        </p:nvCxnSpPr>
        <p:spPr>
          <a:xfrm>
            <a:off x="10278657" y="4602695"/>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2" name="Straight Connector 231">
            <a:extLst>
              <a:ext uri="{FF2B5EF4-FFF2-40B4-BE49-F238E27FC236}">
                <a16:creationId xmlns:a16="http://schemas.microsoft.com/office/drawing/2014/main" id="{F0A5EA59-989D-82A6-795E-1EA413972368}"/>
              </a:ext>
            </a:extLst>
          </p:cNvPr>
          <p:cNvCxnSpPr>
            <a:cxnSpLocks/>
          </p:cNvCxnSpPr>
          <p:nvPr/>
        </p:nvCxnSpPr>
        <p:spPr>
          <a:xfrm>
            <a:off x="10278657" y="3663335"/>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3" name="Straight Connector 232">
            <a:extLst>
              <a:ext uri="{FF2B5EF4-FFF2-40B4-BE49-F238E27FC236}">
                <a16:creationId xmlns:a16="http://schemas.microsoft.com/office/drawing/2014/main" id="{8C7CF663-18F6-B51C-6D32-84D9880DB3D2}"/>
              </a:ext>
            </a:extLst>
          </p:cNvPr>
          <p:cNvCxnSpPr>
            <a:cxnSpLocks/>
          </p:cNvCxnSpPr>
          <p:nvPr/>
        </p:nvCxnSpPr>
        <p:spPr>
          <a:xfrm>
            <a:off x="10278657" y="3522431"/>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3BB0F129-AFC4-D7A8-8090-793B63CABF66}"/>
              </a:ext>
            </a:extLst>
          </p:cNvPr>
          <p:cNvCxnSpPr>
            <a:cxnSpLocks/>
          </p:cNvCxnSpPr>
          <p:nvPr/>
        </p:nvCxnSpPr>
        <p:spPr>
          <a:xfrm>
            <a:off x="10278657" y="4367855"/>
            <a:ext cx="6872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5" name="Straight Connector 234">
            <a:extLst>
              <a:ext uri="{FF2B5EF4-FFF2-40B4-BE49-F238E27FC236}">
                <a16:creationId xmlns:a16="http://schemas.microsoft.com/office/drawing/2014/main" id="{6B7B25EE-4A9D-1B80-9E4B-1D6099FB9291}"/>
              </a:ext>
            </a:extLst>
          </p:cNvPr>
          <p:cNvCxnSpPr>
            <a:cxnSpLocks/>
          </p:cNvCxnSpPr>
          <p:nvPr/>
        </p:nvCxnSpPr>
        <p:spPr>
          <a:xfrm>
            <a:off x="10278657" y="3851207"/>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6" name="Straight Connector 235">
            <a:extLst>
              <a:ext uri="{FF2B5EF4-FFF2-40B4-BE49-F238E27FC236}">
                <a16:creationId xmlns:a16="http://schemas.microsoft.com/office/drawing/2014/main" id="{AEE054E3-3FDD-E379-8524-16F091F1AC1D}"/>
              </a:ext>
            </a:extLst>
          </p:cNvPr>
          <p:cNvCxnSpPr>
            <a:cxnSpLocks/>
          </p:cNvCxnSpPr>
          <p:nvPr/>
        </p:nvCxnSpPr>
        <p:spPr>
          <a:xfrm>
            <a:off x="10278657" y="4086047"/>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7" name="Straight Connector 236">
            <a:extLst>
              <a:ext uri="{FF2B5EF4-FFF2-40B4-BE49-F238E27FC236}">
                <a16:creationId xmlns:a16="http://schemas.microsoft.com/office/drawing/2014/main" id="{F44F087B-363D-139C-B916-5F10BA2ED1E8}"/>
              </a:ext>
            </a:extLst>
          </p:cNvPr>
          <p:cNvCxnSpPr>
            <a:cxnSpLocks/>
          </p:cNvCxnSpPr>
          <p:nvPr/>
        </p:nvCxnSpPr>
        <p:spPr>
          <a:xfrm>
            <a:off x="10278657" y="4273919"/>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A74F38D2-9333-3A02-0473-251BA06844D4}"/>
              </a:ext>
            </a:extLst>
          </p:cNvPr>
          <p:cNvCxnSpPr>
            <a:cxnSpLocks/>
          </p:cNvCxnSpPr>
          <p:nvPr/>
        </p:nvCxnSpPr>
        <p:spPr>
          <a:xfrm>
            <a:off x="10278657" y="4414823"/>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39" name="Straight Connector 238">
            <a:extLst>
              <a:ext uri="{FF2B5EF4-FFF2-40B4-BE49-F238E27FC236}">
                <a16:creationId xmlns:a16="http://schemas.microsoft.com/office/drawing/2014/main" id="{46306E98-D88A-65C4-D0DC-ADD24E29BAD7}"/>
              </a:ext>
            </a:extLst>
          </p:cNvPr>
          <p:cNvCxnSpPr>
            <a:cxnSpLocks/>
          </p:cNvCxnSpPr>
          <p:nvPr/>
        </p:nvCxnSpPr>
        <p:spPr>
          <a:xfrm>
            <a:off x="10278657" y="4790563"/>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240" name="Straight Connector 239">
            <a:extLst>
              <a:ext uri="{FF2B5EF4-FFF2-40B4-BE49-F238E27FC236}">
                <a16:creationId xmlns:a16="http://schemas.microsoft.com/office/drawing/2014/main" id="{A2539DF3-C5EE-F624-4102-8C9C8A0E2C65}"/>
              </a:ext>
            </a:extLst>
          </p:cNvPr>
          <p:cNvCxnSpPr>
            <a:cxnSpLocks/>
          </p:cNvCxnSpPr>
          <p:nvPr/>
        </p:nvCxnSpPr>
        <p:spPr>
          <a:xfrm>
            <a:off x="10278657" y="4696631"/>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3D55E0C9-0145-30CA-3A1C-10B18FA49CCC}"/>
              </a:ext>
            </a:extLst>
          </p:cNvPr>
          <p:cNvSpPr txBox="1"/>
          <p:nvPr/>
        </p:nvSpPr>
        <p:spPr>
          <a:xfrm>
            <a:off x="10209379" y="4682809"/>
            <a:ext cx="772803" cy="369332"/>
          </a:xfrm>
          <a:prstGeom prst="rect">
            <a:avLst/>
          </a:prstGeom>
          <a:noFill/>
        </p:spPr>
        <p:txBody>
          <a:bodyPr wrap="square" rtlCol="0">
            <a:spAutoFit/>
          </a:bodyPr>
          <a:lstStyle/>
          <a:p>
            <a:r>
              <a:rPr lang="en-DK" dirty="0"/>
              <a:t>…</a:t>
            </a:r>
          </a:p>
        </p:txBody>
      </p:sp>
      <p:sp>
        <p:nvSpPr>
          <p:cNvPr id="243" name="TextBox 242">
            <a:extLst>
              <a:ext uri="{FF2B5EF4-FFF2-40B4-BE49-F238E27FC236}">
                <a16:creationId xmlns:a16="http://schemas.microsoft.com/office/drawing/2014/main" id="{ABACE67E-F024-5D27-9D13-069812A13EF0}"/>
              </a:ext>
            </a:extLst>
          </p:cNvPr>
          <p:cNvSpPr txBox="1"/>
          <p:nvPr/>
        </p:nvSpPr>
        <p:spPr>
          <a:xfrm>
            <a:off x="411457" y="1043582"/>
            <a:ext cx="11009185" cy="923330"/>
          </a:xfrm>
          <a:prstGeom prst="rect">
            <a:avLst/>
          </a:prstGeom>
          <a:noFill/>
        </p:spPr>
        <p:txBody>
          <a:bodyPr wrap="square" rtlCol="0">
            <a:spAutoFit/>
          </a:bodyPr>
          <a:lstStyle/>
          <a:p>
            <a:r>
              <a:rPr lang="en-DK" dirty="0"/>
              <a:t>To do functional annotation you can always map reads to genes (read/reference-based annotation)</a:t>
            </a:r>
          </a:p>
          <a:p>
            <a:r>
              <a:rPr lang="en-DK" dirty="0"/>
              <a:t>A common resource used in functional annotation is building a gene catalog</a:t>
            </a:r>
            <a:br>
              <a:rPr lang="en-DK" dirty="0"/>
            </a:br>
            <a:r>
              <a:rPr lang="en-DK" dirty="0"/>
              <a:t>The beginning of the process is the same as the assembly method</a:t>
            </a:r>
          </a:p>
        </p:txBody>
      </p:sp>
      <p:sp>
        <p:nvSpPr>
          <p:cNvPr id="244" name="TextBox 243">
            <a:extLst>
              <a:ext uri="{FF2B5EF4-FFF2-40B4-BE49-F238E27FC236}">
                <a16:creationId xmlns:a16="http://schemas.microsoft.com/office/drawing/2014/main" id="{A7B67870-7F43-1ACE-534E-0F12DD9F3027}"/>
              </a:ext>
            </a:extLst>
          </p:cNvPr>
          <p:cNvSpPr txBox="1"/>
          <p:nvPr/>
        </p:nvSpPr>
        <p:spPr>
          <a:xfrm>
            <a:off x="6490798" y="4977350"/>
            <a:ext cx="1610356" cy="923330"/>
          </a:xfrm>
          <a:prstGeom prst="rect">
            <a:avLst/>
          </a:prstGeom>
          <a:noFill/>
        </p:spPr>
        <p:txBody>
          <a:bodyPr wrap="square" rtlCol="0">
            <a:spAutoFit/>
          </a:bodyPr>
          <a:lstStyle/>
          <a:p>
            <a:r>
              <a:rPr lang="en-DK" dirty="0"/>
              <a:t>CD-HIT</a:t>
            </a:r>
          </a:p>
          <a:p>
            <a:r>
              <a:rPr lang="en-DK" dirty="0"/>
              <a:t>95% identity</a:t>
            </a:r>
          </a:p>
          <a:p>
            <a:r>
              <a:rPr lang="en-DK" dirty="0"/>
              <a:t>90% coverage</a:t>
            </a:r>
          </a:p>
        </p:txBody>
      </p:sp>
    </p:spTree>
    <p:extLst>
      <p:ext uri="{BB962C8B-B14F-4D97-AF65-F5344CB8AC3E}">
        <p14:creationId xmlns:p14="http://schemas.microsoft.com/office/powerpoint/2010/main" val="1971412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2BFE-C15D-90C7-D43D-83FAEFCEA0AD}"/>
              </a:ext>
            </a:extLst>
          </p:cNvPr>
          <p:cNvSpPr>
            <a:spLocks noGrp="1"/>
          </p:cNvSpPr>
          <p:nvPr>
            <p:ph type="title"/>
          </p:nvPr>
        </p:nvSpPr>
        <p:spPr>
          <a:xfrm>
            <a:off x="344615" y="-93735"/>
            <a:ext cx="11847385" cy="1325563"/>
          </a:xfrm>
        </p:spPr>
        <p:txBody>
          <a:bodyPr>
            <a:normAutofit/>
          </a:bodyPr>
          <a:lstStyle/>
          <a:p>
            <a:r>
              <a:rPr lang="en-US" sz="3600" dirty="0">
                <a:latin typeface="Calibri" charset="0"/>
                <a:ea typeface="Calibri" charset="0"/>
                <a:cs typeface="Calibri" charset="0"/>
              </a:rPr>
              <a:t>Annotating the gene catalog and getting functional abundance</a:t>
            </a:r>
            <a:endParaRPr lang="en-DK" sz="3600" dirty="0"/>
          </a:p>
        </p:txBody>
      </p:sp>
      <p:sp>
        <p:nvSpPr>
          <p:cNvPr id="5" name="Right Arrow 4">
            <a:extLst>
              <a:ext uri="{FF2B5EF4-FFF2-40B4-BE49-F238E27FC236}">
                <a16:creationId xmlns:a16="http://schemas.microsoft.com/office/drawing/2014/main" id="{5330876F-F096-887A-C8A3-AB7D6FA06999}"/>
              </a:ext>
            </a:extLst>
          </p:cNvPr>
          <p:cNvSpPr/>
          <p:nvPr/>
        </p:nvSpPr>
        <p:spPr>
          <a:xfrm>
            <a:off x="3897541" y="2779680"/>
            <a:ext cx="1126213" cy="480448"/>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800" dirty="0" err="1">
              <a:latin typeface="Calibri" charset="0"/>
              <a:ea typeface="Calibri" charset="0"/>
              <a:cs typeface="Calibri" charset="0"/>
            </a:endParaRPr>
          </a:p>
        </p:txBody>
      </p:sp>
      <p:sp>
        <p:nvSpPr>
          <p:cNvPr id="6" name="TextBox 5">
            <a:extLst>
              <a:ext uri="{FF2B5EF4-FFF2-40B4-BE49-F238E27FC236}">
                <a16:creationId xmlns:a16="http://schemas.microsoft.com/office/drawing/2014/main" id="{59235612-2C29-2DE0-864E-94C86FA03A2A}"/>
              </a:ext>
            </a:extLst>
          </p:cNvPr>
          <p:cNvSpPr txBox="1"/>
          <p:nvPr/>
        </p:nvSpPr>
        <p:spPr>
          <a:xfrm>
            <a:off x="5225455" y="2754321"/>
            <a:ext cx="2659426" cy="1646605"/>
          </a:xfrm>
          <a:prstGeom prst="rect">
            <a:avLst/>
          </a:prstGeom>
          <a:noFill/>
        </p:spPr>
        <p:txBody>
          <a:bodyPr wrap="square" rtlCol="0">
            <a:spAutoFit/>
          </a:bodyPr>
          <a:lstStyle/>
          <a:p>
            <a:pPr algn="ctr">
              <a:spcBef>
                <a:spcPts val="600"/>
              </a:spcBef>
            </a:pPr>
            <a:r>
              <a:rPr lang="en-US" sz="1600" b="1" dirty="0" err="1">
                <a:latin typeface="Calibri" charset="0"/>
                <a:ea typeface="Calibri" charset="0"/>
                <a:cs typeface="Calibri" charset="0"/>
              </a:rPr>
              <a:t>eggNOG</a:t>
            </a:r>
            <a:r>
              <a:rPr lang="en-US" sz="1600" b="1" dirty="0">
                <a:latin typeface="Calibri" charset="0"/>
                <a:ea typeface="Calibri" charset="0"/>
                <a:cs typeface="Calibri" charset="0"/>
              </a:rPr>
              <a:t> orthologous</a:t>
            </a:r>
          </a:p>
          <a:p>
            <a:pPr algn="ctr">
              <a:spcBef>
                <a:spcPts val="600"/>
              </a:spcBef>
            </a:pPr>
            <a:r>
              <a:rPr lang="en-GB" sz="1600" dirty="0"/>
              <a:t>Descend from a single gene in the last common ancestor and typically perform the same function across species</a:t>
            </a:r>
            <a:endParaRPr lang="en-US" sz="1600" dirty="0">
              <a:latin typeface="Calibri" charset="0"/>
              <a:ea typeface="Calibri" charset="0"/>
              <a:cs typeface="Calibri" charset="0"/>
            </a:endParaRPr>
          </a:p>
        </p:txBody>
      </p:sp>
      <p:sp>
        <p:nvSpPr>
          <p:cNvPr id="9" name="TextBox 8">
            <a:extLst>
              <a:ext uri="{FF2B5EF4-FFF2-40B4-BE49-F238E27FC236}">
                <a16:creationId xmlns:a16="http://schemas.microsoft.com/office/drawing/2014/main" id="{F37BF3E0-64CD-3FCD-C53A-1E4F4CD96D20}"/>
              </a:ext>
            </a:extLst>
          </p:cNvPr>
          <p:cNvSpPr txBox="1"/>
          <p:nvPr/>
        </p:nvSpPr>
        <p:spPr>
          <a:xfrm>
            <a:off x="3368174" y="2225318"/>
            <a:ext cx="2031597" cy="2046714"/>
          </a:xfrm>
          <a:prstGeom prst="rect">
            <a:avLst/>
          </a:prstGeom>
          <a:noFill/>
        </p:spPr>
        <p:txBody>
          <a:bodyPr wrap="square" rtlCol="0">
            <a:spAutoFit/>
          </a:bodyPr>
          <a:lstStyle/>
          <a:p>
            <a:pPr algn="ctr">
              <a:spcBef>
                <a:spcPts val="600"/>
              </a:spcBef>
            </a:pPr>
            <a:r>
              <a:rPr lang="en-US" sz="1600" b="1" dirty="0" err="1">
                <a:latin typeface="Calibri" charset="0"/>
                <a:ea typeface="Calibri" charset="0"/>
                <a:cs typeface="Calibri" charset="0"/>
              </a:rPr>
              <a:t>eggNOG</a:t>
            </a:r>
            <a:endParaRPr lang="en-US" sz="1600" b="1" dirty="0">
              <a:latin typeface="Calibri" charset="0"/>
              <a:ea typeface="Calibri" charset="0"/>
              <a:cs typeface="Calibri" charset="0"/>
            </a:endParaRPr>
          </a:p>
          <a:p>
            <a:pPr algn="ctr">
              <a:spcBef>
                <a:spcPts val="600"/>
              </a:spcBef>
            </a:pPr>
            <a:r>
              <a:rPr lang="en-US" sz="1600" b="1" dirty="0">
                <a:latin typeface="Calibri" charset="0"/>
                <a:ea typeface="Calibri" charset="0"/>
                <a:cs typeface="Calibri" charset="0"/>
              </a:rPr>
              <a:t>mapper</a:t>
            </a:r>
          </a:p>
          <a:p>
            <a:pPr algn="ctr">
              <a:spcBef>
                <a:spcPts val="600"/>
              </a:spcBef>
            </a:pPr>
            <a:endParaRPr lang="en-US" sz="1600" dirty="0">
              <a:latin typeface="Calibri" charset="0"/>
              <a:ea typeface="Calibri" charset="0"/>
              <a:cs typeface="Calibri" charset="0"/>
            </a:endParaRPr>
          </a:p>
          <a:p>
            <a:pPr algn="ctr">
              <a:spcBef>
                <a:spcPts val="600"/>
              </a:spcBef>
            </a:pPr>
            <a:r>
              <a:rPr lang="en-GB" sz="1600" dirty="0"/>
              <a:t>Functional annotation tool using </a:t>
            </a:r>
            <a:r>
              <a:rPr lang="en-GB" sz="1600" dirty="0" err="1"/>
              <a:t>orthology</a:t>
            </a:r>
            <a:r>
              <a:rPr lang="en-GB" sz="1600" dirty="0"/>
              <a:t>-based inference</a:t>
            </a:r>
            <a:endParaRPr lang="en-US" sz="1600" dirty="0">
              <a:latin typeface="Calibri" charset="0"/>
              <a:ea typeface="Calibri" charset="0"/>
              <a:cs typeface="Calibri" charset="0"/>
            </a:endParaRPr>
          </a:p>
        </p:txBody>
      </p:sp>
      <p:sp>
        <p:nvSpPr>
          <p:cNvPr id="18" name="TextBox 17">
            <a:extLst>
              <a:ext uri="{FF2B5EF4-FFF2-40B4-BE49-F238E27FC236}">
                <a16:creationId xmlns:a16="http://schemas.microsoft.com/office/drawing/2014/main" id="{DB429759-03E4-0EF1-7A0A-5132ECCFC9AB}"/>
              </a:ext>
            </a:extLst>
          </p:cNvPr>
          <p:cNvSpPr txBox="1"/>
          <p:nvPr/>
        </p:nvSpPr>
        <p:spPr>
          <a:xfrm>
            <a:off x="641073" y="940534"/>
            <a:ext cx="11120867" cy="1200329"/>
          </a:xfrm>
          <a:prstGeom prst="rect">
            <a:avLst/>
          </a:prstGeom>
          <a:noFill/>
        </p:spPr>
        <p:txBody>
          <a:bodyPr wrap="square" rtlCol="0">
            <a:spAutoFit/>
          </a:bodyPr>
          <a:lstStyle/>
          <a:p>
            <a:r>
              <a:rPr lang="en-DK" dirty="0"/>
              <a:t>Reads can be mapped to the catalog genes to infer gene abudance and those genes can be mapped to several functional information databases (e.g KEGG database, PATRIC Database, CARD or Resfams antibiotic resistance gene databases,…)</a:t>
            </a:r>
          </a:p>
          <a:p>
            <a:endParaRPr lang="en-DK" dirty="0"/>
          </a:p>
        </p:txBody>
      </p:sp>
      <p:sp>
        <p:nvSpPr>
          <p:cNvPr id="19" name="TextBox 18">
            <a:extLst>
              <a:ext uri="{FF2B5EF4-FFF2-40B4-BE49-F238E27FC236}">
                <a16:creationId xmlns:a16="http://schemas.microsoft.com/office/drawing/2014/main" id="{6C3AA894-367B-C133-064E-4EFF8C4AC756}"/>
              </a:ext>
            </a:extLst>
          </p:cNvPr>
          <p:cNvSpPr txBox="1"/>
          <p:nvPr/>
        </p:nvSpPr>
        <p:spPr>
          <a:xfrm>
            <a:off x="1805423" y="4443798"/>
            <a:ext cx="1842667" cy="646331"/>
          </a:xfrm>
          <a:prstGeom prst="rect">
            <a:avLst/>
          </a:prstGeom>
          <a:noFill/>
        </p:spPr>
        <p:txBody>
          <a:bodyPr wrap="square" rtlCol="0">
            <a:spAutoFit/>
          </a:bodyPr>
          <a:lstStyle/>
          <a:p>
            <a:r>
              <a:rPr lang="en-DK" b="1" dirty="0"/>
              <a:t>Non-redundant gene catalog</a:t>
            </a:r>
          </a:p>
        </p:txBody>
      </p:sp>
      <p:cxnSp>
        <p:nvCxnSpPr>
          <p:cNvPr id="20" name="Straight Connector 19">
            <a:extLst>
              <a:ext uri="{FF2B5EF4-FFF2-40B4-BE49-F238E27FC236}">
                <a16:creationId xmlns:a16="http://schemas.microsoft.com/office/drawing/2014/main" id="{982A8536-139A-CA79-F157-F2C0A95B04A9}"/>
              </a:ext>
            </a:extLst>
          </p:cNvPr>
          <p:cNvCxnSpPr>
            <a:cxnSpLocks/>
          </p:cNvCxnSpPr>
          <p:nvPr/>
        </p:nvCxnSpPr>
        <p:spPr>
          <a:xfrm>
            <a:off x="2101881" y="2064540"/>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9A9C5BF-4F80-B204-9EA7-4768E8C80DE8}"/>
              </a:ext>
            </a:extLst>
          </p:cNvPr>
          <p:cNvCxnSpPr>
            <a:cxnSpLocks/>
          </p:cNvCxnSpPr>
          <p:nvPr/>
        </p:nvCxnSpPr>
        <p:spPr>
          <a:xfrm>
            <a:off x="2101881" y="2111508"/>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E2E777A-9031-A38B-A8FD-583C17441314}"/>
              </a:ext>
            </a:extLst>
          </p:cNvPr>
          <p:cNvCxnSpPr>
            <a:cxnSpLocks/>
          </p:cNvCxnSpPr>
          <p:nvPr/>
        </p:nvCxnSpPr>
        <p:spPr>
          <a:xfrm>
            <a:off x="2101881" y="2205444"/>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6DA3373-3D91-A2E5-4E5D-81DF6E2945DC}"/>
              </a:ext>
            </a:extLst>
          </p:cNvPr>
          <p:cNvCxnSpPr>
            <a:cxnSpLocks/>
          </p:cNvCxnSpPr>
          <p:nvPr/>
        </p:nvCxnSpPr>
        <p:spPr>
          <a:xfrm>
            <a:off x="2101881" y="2346348"/>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3EFAA52-83F6-72A0-7B4A-9D67C7121124}"/>
              </a:ext>
            </a:extLst>
          </p:cNvPr>
          <p:cNvCxnSpPr>
            <a:cxnSpLocks/>
          </p:cNvCxnSpPr>
          <p:nvPr/>
        </p:nvCxnSpPr>
        <p:spPr>
          <a:xfrm>
            <a:off x="2101881" y="2487252"/>
            <a:ext cx="1061289"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C73C2F0-8037-6B14-160C-7A04DE509497}"/>
              </a:ext>
            </a:extLst>
          </p:cNvPr>
          <p:cNvCxnSpPr>
            <a:cxnSpLocks/>
          </p:cNvCxnSpPr>
          <p:nvPr/>
        </p:nvCxnSpPr>
        <p:spPr>
          <a:xfrm>
            <a:off x="2101881" y="3191772"/>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2B47DFA-3E43-5625-A744-219E9D5C3838}"/>
              </a:ext>
            </a:extLst>
          </p:cNvPr>
          <p:cNvCxnSpPr>
            <a:cxnSpLocks/>
          </p:cNvCxnSpPr>
          <p:nvPr/>
        </p:nvCxnSpPr>
        <p:spPr>
          <a:xfrm>
            <a:off x="2101881" y="3802356"/>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406CB78-F47E-B9AD-28C6-16E083EC90E0}"/>
              </a:ext>
            </a:extLst>
          </p:cNvPr>
          <p:cNvCxnSpPr>
            <a:cxnSpLocks/>
          </p:cNvCxnSpPr>
          <p:nvPr/>
        </p:nvCxnSpPr>
        <p:spPr>
          <a:xfrm>
            <a:off x="2101881" y="2722092"/>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0C27100-96E2-D516-334C-0861473C3B66}"/>
              </a:ext>
            </a:extLst>
          </p:cNvPr>
          <p:cNvCxnSpPr>
            <a:cxnSpLocks/>
          </p:cNvCxnSpPr>
          <p:nvPr/>
        </p:nvCxnSpPr>
        <p:spPr>
          <a:xfrm>
            <a:off x="2101881" y="2628156"/>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45FB8A0-D7B9-FD5A-27A6-A649FF884D9B}"/>
              </a:ext>
            </a:extLst>
          </p:cNvPr>
          <p:cNvCxnSpPr>
            <a:cxnSpLocks/>
          </p:cNvCxnSpPr>
          <p:nvPr/>
        </p:nvCxnSpPr>
        <p:spPr>
          <a:xfrm>
            <a:off x="2101881" y="3426612"/>
            <a:ext cx="6872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F972CBB-A1C5-B318-AF95-0906D04BF9FD}"/>
              </a:ext>
            </a:extLst>
          </p:cNvPr>
          <p:cNvCxnSpPr>
            <a:cxnSpLocks/>
          </p:cNvCxnSpPr>
          <p:nvPr/>
        </p:nvCxnSpPr>
        <p:spPr>
          <a:xfrm>
            <a:off x="2101881" y="2909964"/>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B02D0F0-CA20-759F-6942-033F16BD5316}"/>
              </a:ext>
            </a:extLst>
          </p:cNvPr>
          <p:cNvCxnSpPr>
            <a:cxnSpLocks/>
          </p:cNvCxnSpPr>
          <p:nvPr/>
        </p:nvCxnSpPr>
        <p:spPr>
          <a:xfrm>
            <a:off x="2101881" y="3050868"/>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1863985-378E-8229-26EF-46F99018CE2D}"/>
              </a:ext>
            </a:extLst>
          </p:cNvPr>
          <p:cNvCxnSpPr>
            <a:cxnSpLocks/>
          </p:cNvCxnSpPr>
          <p:nvPr/>
        </p:nvCxnSpPr>
        <p:spPr>
          <a:xfrm>
            <a:off x="2101881" y="3238740"/>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1C9547F-5908-FA4A-E3D5-44B9D329D327}"/>
              </a:ext>
            </a:extLst>
          </p:cNvPr>
          <p:cNvCxnSpPr>
            <a:cxnSpLocks/>
          </p:cNvCxnSpPr>
          <p:nvPr/>
        </p:nvCxnSpPr>
        <p:spPr>
          <a:xfrm>
            <a:off x="2101881" y="3473580"/>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AA6F96DD-FC7D-C121-D927-196511F1AD4B}"/>
              </a:ext>
            </a:extLst>
          </p:cNvPr>
          <p:cNvCxnSpPr>
            <a:cxnSpLocks/>
          </p:cNvCxnSpPr>
          <p:nvPr/>
        </p:nvCxnSpPr>
        <p:spPr>
          <a:xfrm>
            <a:off x="2101881" y="4131132"/>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192F8E6F-934C-20DE-76F7-B39CA3C9821F}"/>
              </a:ext>
            </a:extLst>
          </p:cNvPr>
          <p:cNvCxnSpPr>
            <a:cxnSpLocks/>
          </p:cNvCxnSpPr>
          <p:nvPr/>
        </p:nvCxnSpPr>
        <p:spPr>
          <a:xfrm>
            <a:off x="2101881" y="3943260"/>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1F95BBD1-1040-D6CD-7783-B9F7669FE1F8}"/>
              </a:ext>
            </a:extLst>
          </p:cNvPr>
          <p:cNvCxnSpPr>
            <a:cxnSpLocks/>
          </p:cNvCxnSpPr>
          <p:nvPr/>
        </p:nvCxnSpPr>
        <p:spPr>
          <a:xfrm>
            <a:off x="2101881" y="2158476"/>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A6A758B4-DF95-B145-8437-CEB6E406B0F0}"/>
              </a:ext>
            </a:extLst>
          </p:cNvPr>
          <p:cNvCxnSpPr>
            <a:cxnSpLocks/>
          </p:cNvCxnSpPr>
          <p:nvPr/>
        </p:nvCxnSpPr>
        <p:spPr>
          <a:xfrm>
            <a:off x="2101881" y="2252412"/>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406FE4F-42A1-D4CA-1EAD-51A4B7731A5A}"/>
              </a:ext>
            </a:extLst>
          </p:cNvPr>
          <p:cNvCxnSpPr>
            <a:cxnSpLocks/>
          </p:cNvCxnSpPr>
          <p:nvPr/>
        </p:nvCxnSpPr>
        <p:spPr>
          <a:xfrm>
            <a:off x="2101881" y="2393316"/>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4A001F7-6406-4F72-E059-0A2BC193B53D}"/>
              </a:ext>
            </a:extLst>
          </p:cNvPr>
          <p:cNvCxnSpPr>
            <a:cxnSpLocks/>
          </p:cNvCxnSpPr>
          <p:nvPr/>
        </p:nvCxnSpPr>
        <p:spPr>
          <a:xfrm>
            <a:off x="2101881" y="2534220"/>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1A31BAA7-E01D-BEEB-68C9-47E9A7C7F47B}"/>
              </a:ext>
            </a:extLst>
          </p:cNvPr>
          <p:cNvCxnSpPr>
            <a:cxnSpLocks/>
          </p:cNvCxnSpPr>
          <p:nvPr/>
        </p:nvCxnSpPr>
        <p:spPr>
          <a:xfrm>
            <a:off x="2101881" y="2675124"/>
            <a:ext cx="1061289"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41B11AA1-17AF-9A00-27D8-C8DBF9335971}"/>
              </a:ext>
            </a:extLst>
          </p:cNvPr>
          <p:cNvCxnSpPr>
            <a:cxnSpLocks/>
          </p:cNvCxnSpPr>
          <p:nvPr/>
        </p:nvCxnSpPr>
        <p:spPr>
          <a:xfrm>
            <a:off x="2101881" y="3379644"/>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14CDDAE-20F6-C87E-52A0-8EB125513BBD}"/>
              </a:ext>
            </a:extLst>
          </p:cNvPr>
          <p:cNvCxnSpPr>
            <a:cxnSpLocks/>
          </p:cNvCxnSpPr>
          <p:nvPr/>
        </p:nvCxnSpPr>
        <p:spPr>
          <a:xfrm>
            <a:off x="2101881" y="3990228"/>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5D4E394C-C6DD-FA8D-4F11-DB1F43D2186B}"/>
              </a:ext>
            </a:extLst>
          </p:cNvPr>
          <p:cNvCxnSpPr>
            <a:cxnSpLocks/>
          </p:cNvCxnSpPr>
          <p:nvPr/>
        </p:nvCxnSpPr>
        <p:spPr>
          <a:xfrm>
            <a:off x="2101881" y="2956932"/>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71974834-F13B-7C3A-6C57-3897767E9895}"/>
              </a:ext>
            </a:extLst>
          </p:cNvPr>
          <p:cNvCxnSpPr>
            <a:cxnSpLocks/>
          </p:cNvCxnSpPr>
          <p:nvPr/>
        </p:nvCxnSpPr>
        <p:spPr>
          <a:xfrm>
            <a:off x="2101881" y="2816028"/>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8B09662-24FA-E41E-4A4F-0ADEBD47018A}"/>
              </a:ext>
            </a:extLst>
          </p:cNvPr>
          <p:cNvCxnSpPr>
            <a:cxnSpLocks/>
          </p:cNvCxnSpPr>
          <p:nvPr/>
        </p:nvCxnSpPr>
        <p:spPr>
          <a:xfrm>
            <a:off x="2101881" y="3661452"/>
            <a:ext cx="6872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FDA8BCB-E565-626B-1769-B7D1EA4AD3B6}"/>
              </a:ext>
            </a:extLst>
          </p:cNvPr>
          <p:cNvCxnSpPr>
            <a:cxnSpLocks/>
          </p:cNvCxnSpPr>
          <p:nvPr/>
        </p:nvCxnSpPr>
        <p:spPr>
          <a:xfrm>
            <a:off x="2101881" y="3097836"/>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D24DC81-CBA6-A775-06A7-99E4F8D4D9A7}"/>
              </a:ext>
            </a:extLst>
          </p:cNvPr>
          <p:cNvCxnSpPr>
            <a:cxnSpLocks/>
          </p:cNvCxnSpPr>
          <p:nvPr/>
        </p:nvCxnSpPr>
        <p:spPr>
          <a:xfrm>
            <a:off x="2101881" y="3285708"/>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B96BF064-EEF0-9401-8FE4-158D1707E55A}"/>
              </a:ext>
            </a:extLst>
          </p:cNvPr>
          <p:cNvCxnSpPr>
            <a:cxnSpLocks/>
          </p:cNvCxnSpPr>
          <p:nvPr/>
        </p:nvCxnSpPr>
        <p:spPr>
          <a:xfrm>
            <a:off x="2101881" y="3520548"/>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1F1D334-F4C5-207B-01A0-88EFD6F0DEAB}"/>
              </a:ext>
            </a:extLst>
          </p:cNvPr>
          <p:cNvCxnSpPr>
            <a:cxnSpLocks/>
          </p:cNvCxnSpPr>
          <p:nvPr/>
        </p:nvCxnSpPr>
        <p:spPr>
          <a:xfrm>
            <a:off x="2101881" y="3708420"/>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C12EACFA-3EB5-1DCB-F0EC-A0FFA6688F5A}"/>
              </a:ext>
            </a:extLst>
          </p:cNvPr>
          <p:cNvCxnSpPr>
            <a:cxnSpLocks/>
          </p:cNvCxnSpPr>
          <p:nvPr/>
        </p:nvCxnSpPr>
        <p:spPr>
          <a:xfrm>
            <a:off x="2101881" y="4225068"/>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5F81E68D-D4BF-C200-7329-37B9CFCCB180}"/>
              </a:ext>
            </a:extLst>
          </p:cNvPr>
          <p:cNvCxnSpPr>
            <a:cxnSpLocks/>
          </p:cNvCxnSpPr>
          <p:nvPr/>
        </p:nvCxnSpPr>
        <p:spPr>
          <a:xfrm>
            <a:off x="2101881" y="4037196"/>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5DED64FB-5447-49DE-F96F-CB191AE781F5}"/>
              </a:ext>
            </a:extLst>
          </p:cNvPr>
          <p:cNvCxnSpPr>
            <a:cxnSpLocks/>
          </p:cNvCxnSpPr>
          <p:nvPr/>
        </p:nvCxnSpPr>
        <p:spPr>
          <a:xfrm>
            <a:off x="2101881" y="2299380"/>
            <a:ext cx="1179052"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7839C23D-1A51-EDE3-71D9-C53E69D4DA6E}"/>
              </a:ext>
            </a:extLst>
          </p:cNvPr>
          <p:cNvCxnSpPr>
            <a:cxnSpLocks/>
          </p:cNvCxnSpPr>
          <p:nvPr/>
        </p:nvCxnSpPr>
        <p:spPr>
          <a:xfrm>
            <a:off x="2101881" y="2440284"/>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A3F1663-ABAA-94D0-E1D1-5485B2E000DF}"/>
              </a:ext>
            </a:extLst>
          </p:cNvPr>
          <p:cNvCxnSpPr>
            <a:cxnSpLocks/>
          </p:cNvCxnSpPr>
          <p:nvPr/>
        </p:nvCxnSpPr>
        <p:spPr>
          <a:xfrm>
            <a:off x="2101881" y="2581188"/>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B606CEB-7B13-B9FE-6C33-1043A220CFF8}"/>
              </a:ext>
            </a:extLst>
          </p:cNvPr>
          <p:cNvCxnSpPr>
            <a:cxnSpLocks/>
          </p:cNvCxnSpPr>
          <p:nvPr/>
        </p:nvCxnSpPr>
        <p:spPr>
          <a:xfrm>
            <a:off x="2101881" y="2769060"/>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011319F7-3F22-A47D-522A-26CFC19A5350}"/>
              </a:ext>
            </a:extLst>
          </p:cNvPr>
          <p:cNvCxnSpPr>
            <a:cxnSpLocks/>
          </p:cNvCxnSpPr>
          <p:nvPr/>
        </p:nvCxnSpPr>
        <p:spPr>
          <a:xfrm>
            <a:off x="2101881" y="2862996"/>
            <a:ext cx="1061289"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9BB387DB-2251-07E1-0AE3-AA53B04F74CA}"/>
              </a:ext>
            </a:extLst>
          </p:cNvPr>
          <p:cNvCxnSpPr>
            <a:cxnSpLocks/>
          </p:cNvCxnSpPr>
          <p:nvPr/>
        </p:nvCxnSpPr>
        <p:spPr>
          <a:xfrm>
            <a:off x="2101881" y="3614484"/>
            <a:ext cx="10675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1D554705-8914-171F-C28A-3ECA48DEF915}"/>
              </a:ext>
            </a:extLst>
          </p:cNvPr>
          <p:cNvCxnSpPr>
            <a:cxnSpLocks/>
          </p:cNvCxnSpPr>
          <p:nvPr/>
        </p:nvCxnSpPr>
        <p:spPr>
          <a:xfrm>
            <a:off x="2101881" y="4084164"/>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0C30F9CF-06C4-F572-F3F8-62C5BE52F0E5}"/>
              </a:ext>
            </a:extLst>
          </p:cNvPr>
          <p:cNvCxnSpPr>
            <a:cxnSpLocks/>
          </p:cNvCxnSpPr>
          <p:nvPr/>
        </p:nvCxnSpPr>
        <p:spPr>
          <a:xfrm>
            <a:off x="2101881" y="3144804"/>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F6BE6F15-81C9-1D66-88A5-250EAFA48112}"/>
              </a:ext>
            </a:extLst>
          </p:cNvPr>
          <p:cNvCxnSpPr>
            <a:cxnSpLocks/>
          </p:cNvCxnSpPr>
          <p:nvPr/>
        </p:nvCxnSpPr>
        <p:spPr>
          <a:xfrm>
            <a:off x="2101881" y="3003900"/>
            <a:ext cx="887415" cy="0"/>
          </a:xfrm>
          <a:prstGeom prst="line">
            <a:avLst/>
          </a:prstGeom>
          <a:ln w="38100">
            <a:solidFill>
              <a:schemeClr val="accent3">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58EA8623-3BCD-A821-55D7-13AC0EF4D9B5}"/>
              </a:ext>
            </a:extLst>
          </p:cNvPr>
          <p:cNvCxnSpPr>
            <a:cxnSpLocks/>
          </p:cNvCxnSpPr>
          <p:nvPr/>
        </p:nvCxnSpPr>
        <p:spPr>
          <a:xfrm>
            <a:off x="2101881" y="3849324"/>
            <a:ext cx="68722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4D215FE8-1FFC-CE2E-7427-A29642B09992}"/>
              </a:ext>
            </a:extLst>
          </p:cNvPr>
          <p:cNvCxnSpPr>
            <a:cxnSpLocks/>
          </p:cNvCxnSpPr>
          <p:nvPr/>
        </p:nvCxnSpPr>
        <p:spPr>
          <a:xfrm>
            <a:off x="2101881" y="3332676"/>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6CF3A3A3-CFA3-62FF-EDCE-464A5D876D61}"/>
              </a:ext>
            </a:extLst>
          </p:cNvPr>
          <p:cNvCxnSpPr>
            <a:cxnSpLocks/>
          </p:cNvCxnSpPr>
          <p:nvPr/>
        </p:nvCxnSpPr>
        <p:spPr>
          <a:xfrm>
            <a:off x="2101881" y="3567516"/>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0B97316E-68FC-14A1-5B1D-325625CFC326}"/>
              </a:ext>
            </a:extLst>
          </p:cNvPr>
          <p:cNvCxnSpPr>
            <a:cxnSpLocks/>
          </p:cNvCxnSpPr>
          <p:nvPr/>
        </p:nvCxnSpPr>
        <p:spPr>
          <a:xfrm>
            <a:off x="2101881" y="3755388"/>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E918309D-640C-A030-1693-3EA9FF199FBA}"/>
              </a:ext>
            </a:extLst>
          </p:cNvPr>
          <p:cNvCxnSpPr>
            <a:cxnSpLocks/>
          </p:cNvCxnSpPr>
          <p:nvPr/>
        </p:nvCxnSpPr>
        <p:spPr>
          <a:xfrm>
            <a:off x="2101881" y="3896292"/>
            <a:ext cx="929673"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F60274C3-8C83-A2DE-38E5-A2DAAF48D9B8}"/>
              </a:ext>
            </a:extLst>
          </p:cNvPr>
          <p:cNvCxnSpPr>
            <a:cxnSpLocks/>
          </p:cNvCxnSpPr>
          <p:nvPr/>
        </p:nvCxnSpPr>
        <p:spPr>
          <a:xfrm>
            <a:off x="2101881" y="4272032"/>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53E3DCDC-A651-C19A-2030-9D63E1A32508}"/>
              </a:ext>
            </a:extLst>
          </p:cNvPr>
          <p:cNvCxnSpPr>
            <a:cxnSpLocks/>
          </p:cNvCxnSpPr>
          <p:nvPr/>
        </p:nvCxnSpPr>
        <p:spPr>
          <a:xfrm>
            <a:off x="2101881" y="4178100"/>
            <a:ext cx="604414"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0698EC9D-F203-4385-C3E3-E1DD1D6667E7}"/>
              </a:ext>
            </a:extLst>
          </p:cNvPr>
          <p:cNvSpPr txBox="1"/>
          <p:nvPr/>
        </p:nvSpPr>
        <p:spPr>
          <a:xfrm>
            <a:off x="2032603" y="4164278"/>
            <a:ext cx="772803" cy="369332"/>
          </a:xfrm>
          <a:prstGeom prst="rect">
            <a:avLst/>
          </a:prstGeom>
          <a:noFill/>
        </p:spPr>
        <p:txBody>
          <a:bodyPr wrap="square" rtlCol="0">
            <a:spAutoFit/>
          </a:bodyPr>
          <a:lstStyle/>
          <a:p>
            <a:r>
              <a:rPr lang="en-DK" dirty="0"/>
              <a:t>…</a:t>
            </a:r>
          </a:p>
        </p:txBody>
      </p:sp>
      <p:graphicFrame>
        <p:nvGraphicFramePr>
          <p:cNvPr id="70" name="Table 69">
            <a:extLst>
              <a:ext uri="{FF2B5EF4-FFF2-40B4-BE49-F238E27FC236}">
                <a16:creationId xmlns:a16="http://schemas.microsoft.com/office/drawing/2014/main" id="{184A7589-5FE3-7EAF-8A3A-9810BD02B782}"/>
              </a:ext>
            </a:extLst>
          </p:cNvPr>
          <p:cNvGraphicFramePr>
            <a:graphicFrameLocks noGrp="1"/>
          </p:cNvGraphicFramePr>
          <p:nvPr>
            <p:extLst>
              <p:ext uri="{D42A27DB-BD31-4B8C-83A1-F6EECF244321}">
                <p14:modId xmlns:p14="http://schemas.microsoft.com/office/powerpoint/2010/main" val="51334324"/>
              </p:ext>
            </p:extLst>
          </p:nvPr>
        </p:nvGraphicFramePr>
        <p:xfrm>
          <a:off x="5425058" y="4821158"/>
          <a:ext cx="1018332" cy="1166046"/>
        </p:xfrm>
        <a:graphic>
          <a:graphicData uri="http://schemas.openxmlformats.org/drawingml/2006/table">
            <a:tbl>
              <a:tblPr firstRow="1" bandRow="1">
                <a:tableStyleId>{D7AC3CCA-C797-4891-BE02-D94E43425B78}</a:tableStyleId>
              </a:tblPr>
              <a:tblGrid>
                <a:gridCol w="169722">
                  <a:extLst>
                    <a:ext uri="{9D8B030D-6E8A-4147-A177-3AD203B41FA5}">
                      <a16:colId xmlns:a16="http://schemas.microsoft.com/office/drawing/2014/main" val="591458638"/>
                    </a:ext>
                  </a:extLst>
                </a:gridCol>
                <a:gridCol w="169722">
                  <a:extLst>
                    <a:ext uri="{9D8B030D-6E8A-4147-A177-3AD203B41FA5}">
                      <a16:colId xmlns:a16="http://schemas.microsoft.com/office/drawing/2014/main" val="3689723892"/>
                    </a:ext>
                  </a:extLst>
                </a:gridCol>
                <a:gridCol w="169722">
                  <a:extLst>
                    <a:ext uri="{9D8B030D-6E8A-4147-A177-3AD203B41FA5}">
                      <a16:colId xmlns:a16="http://schemas.microsoft.com/office/drawing/2014/main" val="410620895"/>
                    </a:ext>
                  </a:extLst>
                </a:gridCol>
                <a:gridCol w="169722">
                  <a:extLst>
                    <a:ext uri="{9D8B030D-6E8A-4147-A177-3AD203B41FA5}">
                      <a16:colId xmlns:a16="http://schemas.microsoft.com/office/drawing/2014/main" val="1970471051"/>
                    </a:ext>
                  </a:extLst>
                </a:gridCol>
                <a:gridCol w="169722">
                  <a:extLst>
                    <a:ext uri="{9D8B030D-6E8A-4147-A177-3AD203B41FA5}">
                      <a16:colId xmlns:a16="http://schemas.microsoft.com/office/drawing/2014/main" val="18568149"/>
                    </a:ext>
                  </a:extLst>
                </a:gridCol>
                <a:gridCol w="169722">
                  <a:extLst>
                    <a:ext uri="{9D8B030D-6E8A-4147-A177-3AD203B41FA5}">
                      <a16:colId xmlns:a16="http://schemas.microsoft.com/office/drawing/2014/main" val="933254077"/>
                    </a:ext>
                  </a:extLst>
                </a:gridCol>
              </a:tblGrid>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730149994"/>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1279572824"/>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3667834363"/>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1547517046"/>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extLst>
                  <a:ext uri="{0D108BD9-81ED-4DB2-BD59-A6C34878D82A}">
                    <a16:rowId xmlns:a16="http://schemas.microsoft.com/office/drawing/2014/main" val="3674622576"/>
                  </a:ext>
                </a:extLst>
              </a:tr>
              <a:tr h="194341">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tc>
                  <a:txBody>
                    <a:bodyPr/>
                    <a:lstStyle/>
                    <a:p>
                      <a:endParaRPr lang="en-DK" sz="900"/>
                    </a:p>
                  </a:txBody>
                  <a:tcPr marL="48586" marR="48586" marT="24293" marB="24293"/>
                </a:tc>
                <a:tc>
                  <a:txBody>
                    <a:bodyPr/>
                    <a:lstStyle/>
                    <a:p>
                      <a:endParaRPr lang="en-DK" sz="900"/>
                    </a:p>
                  </a:txBody>
                  <a:tcPr marL="48586" marR="48586" marT="24293" marB="24293"/>
                </a:tc>
                <a:tc>
                  <a:txBody>
                    <a:bodyPr/>
                    <a:lstStyle/>
                    <a:p>
                      <a:endParaRPr lang="en-DK" sz="900" dirty="0"/>
                    </a:p>
                  </a:txBody>
                  <a:tcPr marL="48586" marR="48586" marT="24293" marB="24293"/>
                </a:tc>
                <a:extLst>
                  <a:ext uri="{0D108BD9-81ED-4DB2-BD59-A6C34878D82A}">
                    <a16:rowId xmlns:a16="http://schemas.microsoft.com/office/drawing/2014/main" val="2613402699"/>
                  </a:ext>
                </a:extLst>
              </a:tr>
            </a:tbl>
          </a:graphicData>
        </a:graphic>
      </p:graphicFrame>
      <p:sp>
        <p:nvSpPr>
          <p:cNvPr id="71" name="TextBox 70">
            <a:extLst>
              <a:ext uri="{FF2B5EF4-FFF2-40B4-BE49-F238E27FC236}">
                <a16:creationId xmlns:a16="http://schemas.microsoft.com/office/drawing/2014/main" id="{D02B1ECB-D830-B672-242C-DF365B8C98AF}"/>
              </a:ext>
            </a:extLst>
          </p:cNvPr>
          <p:cNvSpPr txBox="1"/>
          <p:nvPr/>
        </p:nvSpPr>
        <p:spPr>
          <a:xfrm>
            <a:off x="5292312" y="5987204"/>
            <a:ext cx="1838570" cy="923330"/>
          </a:xfrm>
          <a:prstGeom prst="rect">
            <a:avLst/>
          </a:prstGeom>
          <a:noFill/>
        </p:spPr>
        <p:txBody>
          <a:bodyPr wrap="square" rtlCol="0">
            <a:spAutoFit/>
          </a:bodyPr>
          <a:lstStyle/>
          <a:p>
            <a:r>
              <a:rPr lang="en-DK" dirty="0"/>
              <a:t>Functional abundance table </a:t>
            </a:r>
          </a:p>
        </p:txBody>
      </p:sp>
      <p:sp>
        <p:nvSpPr>
          <p:cNvPr id="72" name="TextBox 71">
            <a:extLst>
              <a:ext uri="{FF2B5EF4-FFF2-40B4-BE49-F238E27FC236}">
                <a16:creationId xmlns:a16="http://schemas.microsoft.com/office/drawing/2014/main" id="{CF3737A6-F1AF-14E0-1724-536F9975F89E}"/>
              </a:ext>
            </a:extLst>
          </p:cNvPr>
          <p:cNvSpPr txBox="1"/>
          <p:nvPr/>
        </p:nvSpPr>
        <p:spPr>
          <a:xfrm>
            <a:off x="5380288" y="4496676"/>
            <a:ext cx="1094509" cy="369332"/>
          </a:xfrm>
          <a:prstGeom prst="rect">
            <a:avLst/>
          </a:prstGeom>
          <a:noFill/>
        </p:spPr>
        <p:txBody>
          <a:bodyPr wrap="square" rtlCol="0">
            <a:spAutoFit/>
          </a:bodyPr>
          <a:lstStyle/>
          <a:p>
            <a:r>
              <a:rPr lang="en-DK" dirty="0"/>
              <a:t>Samples</a:t>
            </a:r>
          </a:p>
        </p:txBody>
      </p:sp>
      <p:sp>
        <p:nvSpPr>
          <p:cNvPr id="73" name="TextBox 72">
            <a:extLst>
              <a:ext uri="{FF2B5EF4-FFF2-40B4-BE49-F238E27FC236}">
                <a16:creationId xmlns:a16="http://schemas.microsoft.com/office/drawing/2014/main" id="{D601FD09-9ACB-0A28-0570-9ABA4DF91F7E}"/>
              </a:ext>
            </a:extLst>
          </p:cNvPr>
          <p:cNvSpPr txBox="1"/>
          <p:nvPr/>
        </p:nvSpPr>
        <p:spPr>
          <a:xfrm rot="16200000">
            <a:off x="4411658" y="5027196"/>
            <a:ext cx="1617517" cy="369332"/>
          </a:xfrm>
          <a:prstGeom prst="rect">
            <a:avLst/>
          </a:prstGeom>
          <a:noFill/>
        </p:spPr>
        <p:txBody>
          <a:bodyPr wrap="square" rtlCol="0">
            <a:spAutoFit/>
          </a:bodyPr>
          <a:lstStyle/>
          <a:p>
            <a:r>
              <a:rPr lang="en-DK" dirty="0"/>
              <a:t>Genes</a:t>
            </a:r>
          </a:p>
        </p:txBody>
      </p:sp>
      <p:grpSp>
        <p:nvGrpSpPr>
          <p:cNvPr id="74" name="Group 73">
            <a:extLst>
              <a:ext uri="{FF2B5EF4-FFF2-40B4-BE49-F238E27FC236}">
                <a16:creationId xmlns:a16="http://schemas.microsoft.com/office/drawing/2014/main" id="{883948C8-E77F-D797-F58C-387FFBBBD662}"/>
              </a:ext>
            </a:extLst>
          </p:cNvPr>
          <p:cNvGrpSpPr/>
          <p:nvPr/>
        </p:nvGrpSpPr>
        <p:grpSpPr>
          <a:xfrm>
            <a:off x="1936798" y="5646763"/>
            <a:ext cx="1052498" cy="949890"/>
            <a:chOff x="2867877" y="1810364"/>
            <a:chExt cx="1584615" cy="1697182"/>
          </a:xfrm>
        </p:grpSpPr>
        <p:cxnSp>
          <p:nvCxnSpPr>
            <p:cNvPr id="75" name="Straight Connector 74">
              <a:extLst>
                <a:ext uri="{FF2B5EF4-FFF2-40B4-BE49-F238E27FC236}">
                  <a16:creationId xmlns:a16="http://schemas.microsoft.com/office/drawing/2014/main" id="{FCAFE1B5-8131-2C7B-8DE2-A08821082CBC}"/>
                </a:ext>
              </a:extLst>
            </p:cNvPr>
            <p:cNvCxnSpPr>
              <a:cxnSpLocks/>
            </p:cNvCxnSpPr>
            <p:nvPr/>
          </p:nvCxnSpPr>
          <p:spPr>
            <a:xfrm>
              <a:off x="3149299" y="181036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561DCA2A-D722-4072-847C-AF9795598BF8}"/>
                </a:ext>
              </a:extLst>
            </p:cNvPr>
            <p:cNvCxnSpPr>
              <a:cxnSpLocks/>
            </p:cNvCxnSpPr>
            <p:nvPr/>
          </p:nvCxnSpPr>
          <p:spPr>
            <a:xfrm>
              <a:off x="3677503" y="2977176"/>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776D1259-5249-27FE-E5A9-9AA334BD57A1}"/>
                </a:ext>
              </a:extLst>
            </p:cNvPr>
            <p:cNvCxnSpPr>
              <a:cxnSpLocks/>
            </p:cNvCxnSpPr>
            <p:nvPr/>
          </p:nvCxnSpPr>
          <p:spPr>
            <a:xfrm>
              <a:off x="3339799" y="200086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2E03014A-34E4-BF4E-9C33-D3277F224BBE}"/>
                </a:ext>
              </a:extLst>
            </p:cNvPr>
            <p:cNvCxnSpPr>
              <a:cxnSpLocks/>
            </p:cNvCxnSpPr>
            <p:nvPr/>
          </p:nvCxnSpPr>
          <p:spPr>
            <a:xfrm>
              <a:off x="3456696" y="285959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CDC8E764-6659-F6BE-1FE2-B814F97AC4D4}"/>
                </a:ext>
              </a:extLst>
            </p:cNvPr>
            <p:cNvCxnSpPr>
              <a:cxnSpLocks/>
            </p:cNvCxnSpPr>
            <p:nvPr/>
          </p:nvCxnSpPr>
          <p:spPr>
            <a:xfrm>
              <a:off x="3080026" y="2192845"/>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00F12446-636D-530E-4045-7879466B6F67}"/>
                </a:ext>
              </a:extLst>
            </p:cNvPr>
            <p:cNvCxnSpPr>
              <a:cxnSpLocks/>
            </p:cNvCxnSpPr>
            <p:nvPr/>
          </p:nvCxnSpPr>
          <p:spPr>
            <a:xfrm>
              <a:off x="3625549" y="2286614"/>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2BE234C9-F322-FB2F-5C99-B826F4A07AAF}"/>
                </a:ext>
              </a:extLst>
            </p:cNvPr>
            <p:cNvCxnSpPr>
              <a:cxnSpLocks/>
            </p:cNvCxnSpPr>
            <p:nvPr/>
          </p:nvCxnSpPr>
          <p:spPr>
            <a:xfrm>
              <a:off x="3188265" y="238186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D8C587A4-A580-3C3B-5DDE-5AF31B6D625F}"/>
                </a:ext>
              </a:extLst>
            </p:cNvPr>
            <p:cNvCxnSpPr>
              <a:cxnSpLocks/>
            </p:cNvCxnSpPr>
            <p:nvPr/>
          </p:nvCxnSpPr>
          <p:spPr>
            <a:xfrm>
              <a:off x="3361446" y="276286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C216308F-AF6C-FCC8-3147-838E2F0BDBD0}"/>
                </a:ext>
              </a:extLst>
            </p:cNvPr>
            <p:cNvCxnSpPr>
              <a:cxnSpLocks/>
            </p:cNvCxnSpPr>
            <p:nvPr/>
          </p:nvCxnSpPr>
          <p:spPr>
            <a:xfrm>
              <a:off x="2915503" y="2096114"/>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E74FDF6D-F359-3521-92B8-0DC306181172}"/>
                </a:ext>
              </a:extLst>
            </p:cNvPr>
            <p:cNvCxnSpPr>
              <a:cxnSpLocks/>
            </p:cNvCxnSpPr>
            <p:nvPr/>
          </p:nvCxnSpPr>
          <p:spPr>
            <a:xfrm>
              <a:off x="3816049" y="2560857"/>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2B3D028E-AAE2-5B60-C800-67E56DEAC805}"/>
                </a:ext>
              </a:extLst>
            </p:cNvPr>
            <p:cNvCxnSpPr>
              <a:cxnSpLocks/>
            </p:cNvCxnSpPr>
            <p:nvPr/>
          </p:nvCxnSpPr>
          <p:spPr>
            <a:xfrm>
              <a:off x="3417731" y="3507546"/>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5BF4760A-A270-C073-05AA-C563EB0894A2}"/>
                </a:ext>
              </a:extLst>
            </p:cNvPr>
            <p:cNvCxnSpPr>
              <a:cxnSpLocks/>
            </p:cNvCxnSpPr>
            <p:nvPr/>
          </p:nvCxnSpPr>
          <p:spPr>
            <a:xfrm>
              <a:off x="3045390" y="249158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CCA939F5-B0D6-7B23-4D4D-9102C22ABCFA}"/>
                </a:ext>
              </a:extLst>
            </p:cNvPr>
            <p:cNvCxnSpPr>
              <a:cxnSpLocks/>
            </p:cNvCxnSpPr>
            <p:nvPr/>
          </p:nvCxnSpPr>
          <p:spPr>
            <a:xfrm>
              <a:off x="4028196" y="2667614"/>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464B9A3B-B1BA-4891-3E83-AEDE9F923838}"/>
                </a:ext>
              </a:extLst>
            </p:cNvPr>
            <p:cNvCxnSpPr>
              <a:cxnSpLocks/>
            </p:cNvCxnSpPr>
            <p:nvPr/>
          </p:nvCxnSpPr>
          <p:spPr>
            <a:xfrm>
              <a:off x="3842026" y="2192845"/>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FE123D71-F213-9DEF-98E7-DE6AEEC937AD}"/>
                </a:ext>
              </a:extLst>
            </p:cNvPr>
            <p:cNvCxnSpPr>
              <a:cxnSpLocks/>
            </p:cNvCxnSpPr>
            <p:nvPr/>
          </p:nvCxnSpPr>
          <p:spPr>
            <a:xfrm>
              <a:off x="3772753" y="3072426"/>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538CDB9-B705-1093-7676-23E0C52B80BD}"/>
                </a:ext>
              </a:extLst>
            </p:cNvPr>
            <p:cNvCxnSpPr>
              <a:cxnSpLocks/>
            </p:cNvCxnSpPr>
            <p:nvPr/>
          </p:nvCxnSpPr>
          <p:spPr>
            <a:xfrm>
              <a:off x="3837696" y="2388358"/>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F396978C-53F0-E6BC-4990-18EAE1369A3A}"/>
                </a:ext>
              </a:extLst>
            </p:cNvPr>
            <p:cNvCxnSpPr>
              <a:cxnSpLocks/>
            </p:cNvCxnSpPr>
            <p:nvPr/>
          </p:nvCxnSpPr>
          <p:spPr>
            <a:xfrm>
              <a:off x="2867877" y="2667614"/>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9F8A73DE-C016-2ADD-390E-3D2891C3578B}"/>
                </a:ext>
              </a:extLst>
            </p:cNvPr>
            <p:cNvCxnSpPr>
              <a:cxnSpLocks/>
            </p:cNvCxnSpPr>
            <p:nvPr/>
          </p:nvCxnSpPr>
          <p:spPr>
            <a:xfrm>
              <a:off x="3790071" y="1810364"/>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4F083110-60B6-2936-5E44-B96B1ED71B16}"/>
                </a:ext>
              </a:extLst>
            </p:cNvPr>
            <p:cNvCxnSpPr>
              <a:cxnSpLocks/>
            </p:cNvCxnSpPr>
            <p:nvPr/>
          </p:nvCxnSpPr>
          <p:spPr>
            <a:xfrm>
              <a:off x="3080025" y="3067413"/>
              <a:ext cx="424296"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4846C876-4BD9-CEA8-5E65-EE5875239381}"/>
                </a:ext>
              </a:extLst>
            </p:cNvPr>
            <p:cNvCxnSpPr>
              <a:cxnSpLocks/>
            </p:cNvCxnSpPr>
            <p:nvPr/>
          </p:nvCxnSpPr>
          <p:spPr>
            <a:xfrm>
              <a:off x="3188264" y="325643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2A86CB98-BAA4-8901-66FA-3CD3B295BB3F}"/>
                </a:ext>
              </a:extLst>
            </p:cNvPr>
            <p:cNvCxnSpPr>
              <a:cxnSpLocks/>
            </p:cNvCxnSpPr>
            <p:nvPr/>
          </p:nvCxnSpPr>
          <p:spPr>
            <a:xfrm>
              <a:off x="2915503" y="2970682"/>
              <a:ext cx="42429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6310F062-C3F6-F368-FB5F-63FF1FCC9CDC}"/>
                </a:ext>
              </a:extLst>
            </p:cNvPr>
            <p:cNvCxnSpPr>
              <a:cxnSpLocks/>
            </p:cNvCxnSpPr>
            <p:nvPr/>
          </p:nvCxnSpPr>
          <p:spPr>
            <a:xfrm>
              <a:off x="3045389" y="3366152"/>
              <a:ext cx="424296"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9C37010D-E9ED-5D41-F8DB-03B7DF9CEE88}"/>
                </a:ext>
              </a:extLst>
            </p:cNvPr>
            <p:cNvCxnSpPr>
              <a:cxnSpLocks/>
            </p:cNvCxnSpPr>
            <p:nvPr/>
          </p:nvCxnSpPr>
          <p:spPr>
            <a:xfrm>
              <a:off x="3634208" y="3357493"/>
              <a:ext cx="424296"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grpSp>
      <p:sp>
        <p:nvSpPr>
          <p:cNvPr id="99" name="Up Arrow 98">
            <a:extLst>
              <a:ext uri="{FF2B5EF4-FFF2-40B4-BE49-F238E27FC236}">
                <a16:creationId xmlns:a16="http://schemas.microsoft.com/office/drawing/2014/main" id="{88F0A46B-A983-B636-3A42-07F1B0A6465E}"/>
              </a:ext>
            </a:extLst>
          </p:cNvPr>
          <p:cNvSpPr/>
          <p:nvPr/>
        </p:nvSpPr>
        <p:spPr>
          <a:xfrm>
            <a:off x="2339875" y="5090129"/>
            <a:ext cx="310905" cy="36006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0" name="TextBox 99">
            <a:extLst>
              <a:ext uri="{FF2B5EF4-FFF2-40B4-BE49-F238E27FC236}">
                <a16:creationId xmlns:a16="http://schemas.microsoft.com/office/drawing/2014/main" id="{213836FA-9657-1E4D-1A82-4326C0846C2C}"/>
              </a:ext>
            </a:extLst>
          </p:cNvPr>
          <p:cNvSpPr txBox="1"/>
          <p:nvPr/>
        </p:nvSpPr>
        <p:spPr>
          <a:xfrm>
            <a:off x="3085722" y="5769539"/>
            <a:ext cx="2206590" cy="923330"/>
          </a:xfrm>
          <a:prstGeom prst="rect">
            <a:avLst/>
          </a:prstGeom>
          <a:noFill/>
        </p:spPr>
        <p:txBody>
          <a:bodyPr wrap="square" rtlCol="0">
            <a:spAutoFit/>
          </a:bodyPr>
          <a:lstStyle/>
          <a:p>
            <a:pPr marL="285750" indent="-285750">
              <a:buFont typeface="Arial" panose="020B0604020202020204" pitchFamily="34" charset="0"/>
              <a:buChar char="•"/>
            </a:pPr>
            <a:r>
              <a:rPr lang="en-DK" dirty="0"/>
              <a:t>gene length</a:t>
            </a:r>
          </a:p>
          <a:p>
            <a:pPr marL="285750" indent="-285750">
              <a:buFont typeface="Arial" panose="020B0604020202020204" pitchFamily="34" charset="0"/>
              <a:buChar char="•"/>
            </a:pPr>
            <a:r>
              <a:rPr lang="en-DK" dirty="0"/>
              <a:t>sample depth normalization</a:t>
            </a:r>
          </a:p>
        </p:txBody>
      </p:sp>
      <p:sp>
        <p:nvSpPr>
          <p:cNvPr id="101" name="Right Arrow 100">
            <a:extLst>
              <a:ext uri="{FF2B5EF4-FFF2-40B4-BE49-F238E27FC236}">
                <a16:creationId xmlns:a16="http://schemas.microsoft.com/office/drawing/2014/main" id="{D2380795-7BF6-5FD4-BB10-D2AAC6A024A1}"/>
              </a:ext>
            </a:extLst>
          </p:cNvPr>
          <p:cNvSpPr/>
          <p:nvPr/>
        </p:nvSpPr>
        <p:spPr>
          <a:xfrm>
            <a:off x="3613972" y="5092805"/>
            <a:ext cx="1065546" cy="432105"/>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800" dirty="0" err="1">
              <a:latin typeface="Calibri" charset="0"/>
              <a:ea typeface="Calibri" charset="0"/>
              <a:cs typeface="Calibri" charset="0"/>
            </a:endParaRPr>
          </a:p>
        </p:txBody>
      </p:sp>
      <p:sp>
        <p:nvSpPr>
          <p:cNvPr id="103" name="Left Brace 102">
            <a:extLst>
              <a:ext uri="{FF2B5EF4-FFF2-40B4-BE49-F238E27FC236}">
                <a16:creationId xmlns:a16="http://schemas.microsoft.com/office/drawing/2014/main" id="{641C8417-2190-9748-8EE4-5C875ACBB37E}"/>
              </a:ext>
            </a:extLst>
          </p:cNvPr>
          <p:cNvSpPr/>
          <p:nvPr/>
        </p:nvSpPr>
        <p:spPr>
          <a:xfrm>
            <a:off x="7933027" y="2266096"/>
            <a:ext cx="296392" cy="26961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K"/>
          </a:p>
        </p:txBody>
      </p:sp>
      <p:sp>
        <p:nvSpPr>
          <p:cNvPr id="104" name="TextBox 103">
            <a:extLst>
              <a:ext uri="{FF2B5EF4-FFF2-40B4-BE49-F238E27FC236}">
                <a16:creationId xmlns:a16="http://schemas.microsoft.com/office/drawing/2014/main" id="{1894D34F-58D2-7159-C3BC-6F0FD1B16D8F}"/>
              </a:ext>
            </a:extLst>
          </p:cNvPr>
          <p:cNvSpPr txBox="1"/>
          <p:nvPr/>
        </p:nvSpPr>
        <p:spPr>
          <a:xfrm>
            <a:off x="8192385" y="2439040"/>
            <a:ext cx="3611728" cy="2308324"/>
          </a:xfrm>
          <a:prstGeom prst="rect">
            <a:avLst/>
          </a:prstGeom>
          <a:noFill/>
        </p:spPr>
        <p:txBody>
          <a:bodyPr wrap="square" rtlCol="0">
            <a:spAutoFit/>
          </a:bodyPr>
          <a:lstStyle/>
          <a:p>
            <a:r>
              <a:rPr lang="en-GB" sz="1600" b="1" dirty="0"/>
              <a:t>Functional information databases</a:t>
            </a:r>
          </a:p>
          <a:p>
            <a:pPr marL="285750" indent="-285750">
              <a:buFont typeface="Arial" panose="020B0604020202020204" pitchFamily="34" charset="0"/>
              <a:buChar char="•"/>
            </a:pPr>
            <a:r>
              <a:rPr lang="en-GB" sz="1600" dirty="0"/>
              <a:t>Gene Ontology (GO) terms</a:t>
            </a:r>
          </a:p>
          <a:p>
            <a:pPr marL="285750" indent="-285750">
              <a:buFont typeface="Arial" panose="020B0604020202020204" pitchFamily="34" charset="0"/>
              <a:buChar char="•"/>
            </a:pPr>
            <a:r>
              <a:rPr lang="en-GB" sz="1600" dirty="0"/>
              <a:t>KEGG pathways</a:t>
            </a:r>
          </a:p>
          <a:p>
            <a:pPr marL="285750" indent="-285750">
              <a:buFont typeface="Arial" panose="020B0604020202020204" pitchFamily="34" charset="0"/>
              <a:buChar char="•"/>
            </a:pPr>
            <a:r>
              <a:rPr lang="en-GB" sz="1600" dirty="0"/>
              <a:t>COG categories</a:t>
            </a:r>
          </a:p>
          <a:p>
            <a:pPr marL="285750" indent="-285750">
              <a:buFont typeface="Arial" panose="020B0604020202020204" pitchFamily="34" charset="0"/>
              <a:buChar char="•"/>
            </a:pPr>
            <a:r>
              <a:rPr lang="en-GB" sz="1600" dirty="0"/>
              <a:t>CAZY categories</a:t>
            </a:r>
          </a:p>
          <a:p>
            <a:pPr marL="285750" indent="-285750">
              <a:buFont typeface="Arial" panose="020B0604020202020204" pitchFamily="34" charset="0"/>
              <a:buChar char="•"/>
            </a:pPr>
            <a:r>
              <a:rPr lang="en-GB" sz="1600" dirty="0" err="1"/>
              <a:t>Pfam</a:t>
            </a:r>
            <a:r>
              <a:rPr lang="en-GB" sz="1600" dirty="0"/>
              <a:t> domains</a:t>
            </a:r>
          </a:p>
          <a:p>
            <a:pPr marL="285750" indent="-285750">
              <a:buFont typeface="Arial" panose="020B0604020202020204" pitchFamily="34" charset="0"/>
              <a:buChar char="•"/>
            </a:pPr>
            <a:r>
              <a:rPr lang="en-GB" sz="1600" dirty="0"/>
              <a:t>Enzyme Commission (EC) numbers</a:t>
            </a:r>
          </a:p>
          <a:p>
            <a:pPr marL="285750" indent="-285750">
              <a:buFont typeface="Arial" panose="020B0604020202020204" pitchFamily="34" charset="0"/>
              <a:buChar char="•"/>
            </a:pPr>
            <a:r>
              <a:rPr lang="en-GB" sz="1600" dirty="0"/>
              <a:t>Protein names and descriptions</a:t>
            </a:r>
          </a:p>
          <a:p>
            <a:pPr marL="285750" indent="-285750">
              <a:buFont typeface="Arial" panose="020B0604020202020204" pitchFamily="34" charset="0"/>
              <a:buChar char="•"/>
            </a:pPr>
            <a:r>
              <a:rPr lang="en-DK" sz="1600" dirty="0"/>
              <a:t>…</a:t>
            </a:r>
          </a:p>
        </p:txBody>
      </p:sp>
    </p:spTree>
    <p:extLst>
      <p:ext uri="{BB962C8B-B14F-4D97-AF65-F5344CB8AC3E}">
        <p14:creationId xmlns:p14="http://schemas.microsoft.com/office/powerpoint/2010/main" val="2862537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B0DAA3E-CDC1-74B6-FFFA-1C098EF29CDD}"/>
              </a:ext>
            </a:extLst>
          </p:cNvPr>
          <p:cNvSpPr txBox="1"/>
          <p:nvPr/>
        </p:nvSpPr>
        <p:spPr>
          <a:xfrm>
            <a:off x="1774088" y="1418972"/>
            <a:ext cx="8643824" cy="4801314"/>
          </a:xfrm>
          <a:prstGeom prst="rect">
            <a:avLst/>
          </a:prstGeom>
          <a:solidFill>
            <a:schemeClr val="accent6">
              <a:lumMod val="20000"/>
              <a:lumOff val="80000"/>
            </a:schemeClr>
          </a:solidFill>
        </p:spPr>
        <p:txBody>
          <a:bodyPr wrap="square" rtlCol="0">
            <a:spAutoFit/>
          </a:bodyPr>
          <a:lstStyle/>
          <a:p>
            <a:pPr marL="285750" indent="-285750">
              <a:buFont typeface="Arial" panose="020B0604020202020204" pitchFamily="34" charset="0"/>
              <a:buChar char="•"/>
            </a:pPr>
            <a:r>
              <a:rPr lang="en-DK" dirty="0"/>
              <a:t>Annotation of genes across all metagenome (not only the known ones – novel or uncharacterized functions - </a:t>
            </a:r>
            <a:r>
              <a:rPr lang="en-GB" dirty="0"/>
              <a:t>new biochemical functions, pathways, or resistance mechanisms</a:t>
            </a:r>
            <a:r>
              <a:rPr lang="en-DK" dirty="0"/>
              <a:t>)</a:t>
            </a:r>
          </a:p>
          <a:p>
            <a:pPr marL="285750" indent="-285750">
              <a:buFont typeface="Arial" panose="020B0604020202020204" pitchFamily="34" charset="0"/>
              <a:buChar char="•"/>
            </a:pPr>
            <a:endParaRPr lang="en-DK" dirty="0"/>
          </a:p>
          <a:p>
            <a:pPr marL="285750" indent="-285750">
              <a:buFont typeface="Arial" panose="020B0604020202020204" pitchFamily="34" charset="0"/>
              <a:buChar char="•"/>
            </a:pPr>
            <a:r>
              <a:rPr lang="en-GB" dirty="0"/>
              <a:t>Cross-sample comparability - All samples are quantified against the same gene set, then cleaner statistics and fewer biases.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Computational efficiency (downstream) - Annotation and indexing are done once instead of per sample.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Better detection of shared vs unique genes </a:t>
            </a:r>
            <a:r>
              <a:rPr lang="en-GB" b="1" dirty="0"/>
              <a:t>- </a:t>
            </a:r>
            <a:r>
              <a:rPr lang="en-GB" dirty="0"/>
              <a:t>You can easily identify core vs accessory genes across samples.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Reduce redundancy - Many microbes share similar genes. Clustering genes removes duplicates and simplifies downstream analysis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Reusable resource - valuable resource for upcoming large-scale projects</a:t>
            </a:r>
          </a:p>
        </p:txBody>
      </p:sp>
      <p:sp>
        <p:nvSpPr>
          <p:cNvPr id="7" name="Title 1">
            <a:extLst>
              <a:ext uri="{FF2B5EF4-FFF2-40B4-BE49-F238E27FC236}">
                <a16:creationId xmlns:a16="http://schemas.microsoft.com/office/drawing/2014/main" id="{C12EEC5F-0377-F7EB-1FD8-23B7F129CA4C}"/>
              </a:ext>
            </a:extLst>
          </p:cNvPr>
          <p:cNvSpPr>
            <a:spLocks noGrp="1"/>
          </p:cNvSpPr>
          <p:nvPr>
            <p:ph type="title"/>
          </p:nvPr>
        </p:nvSpPr>
        <p:spPr>
          <a:xfrm>
            <a:off x="344615" y="0"/>
            <a:ext cx="11847385" cy="1325563"/>
          </a:xfrm>
        </p:spPr>
        <p:txBody>
          <a:bodyPr>
            <a:normAutofit/>
          </a:bodyPr>
          <a:lstStyle/>
          <a:p>
            <a:r>
              <a:rPr lang="en-DK" dirty="0"/>
              <a:t>Why building a gene catalog?</a:t>
            </a:r>
          </a:p>
        </p:txBody>
      </p:sp>
    </p:spTree>
    <p:extLst>
      <p:ext uri="{BB962C8B-B14F-4D97-AF65-F5344CB8AC3E}">
        <p14:creationId xmlns:p14="http://schemas.microsoft.com/office/powerpoint/2010/main" val="19943492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B8E9FB-E8E6-8FB5-B6F6-52E8E891E89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95CE867-5C68-472A-C0FF-7215A9A2E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581B83E-2D83-9880-B2A2-E777438FD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3" name="Freeform: Shape 10">
            <a:extLst>
              <a:ext uri="{FF2B5EF4-FFF2-40B4-BE49-F238E27FC236}">
                <a16:creationId xmlns:a16="http://schemas.microsoft.com/office/drawing/2014/main" id="{D5001D36-906A-DFDE-9558-53B8F8CE9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50B233B0-CD75-4B40-6EC2-646D777A69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35" name="Freeform: Shape 13">
              <a:extLst>
                <a:ext uri="{FF2B5EF4-FFF2-40B4-BE49-F238E27FC236}">
                  <a16:creationId xmlns:a16="http://schemas.microsoft.com/office/drawing/2014/main" id="{BB61C819-568D-C340-5909-E6F7F057C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14">
              <a:extLst>
                <a:ext uri="{FF2B5EF4-FFF2-40B4-BE49-F238E27FC236}">
                  <a16:creationId xmlns:a16="http://schemas.microsoft.com/office/drawing/2014/main" id="{11E0B722-013A-3520-7B70-B3D3889A8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15">
              <a:extLst>
                <a:ext uri="{FF2B5EF4-FFF2-40B4-BE49-F238E27FC236}">
                  <a16:creationId xmlns:a16="http://schemas.microsoft.com/office/drawing/2014/main" id="{17E68808-DE27-55BA-175B-C82C88B7E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16">
              <a:extLst>
                <a:ext uri="{FF2B5EF4-FFF2-40B4-BE49-F238E27FC236}">
                  <a16:creationId xmlns:a16="http://schemas.microsoft.com/office/drawing/2014/main" id="{18AEF7B8-8BD6-C04D-BBA6-70087718E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Freeform: Shape 17">
              <a:extLst>
                <a:ext uri="{FF2B5EF4-FFF2-40B4-BE49-F238E27FC236}">
                  <a16:creationId xmlns:a16="http://schemas.microsoft.com/office/drawing/2014/main" id="{1CC847C8-0FDD-0A41-ED92-D580E343C3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C05864E7-BA7D-AB9B-8753-AE64CBB0FB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69D457-4CFB-AC9B-277E-97E58090B1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CDF612E9-84C9-2D1A-5F1B-19A89B43853F}"/>
              </a:ext>
            </a:extLst>
          </p:cNvPr>
          <p:cNvSpPr>
            <a:spLocks noGrp="1"/>
          </p:cNvSpPr>
          <p:nvPr>
            <p:ph type="title"/>
          </p:nvPr>
        </p:nvSpPr>
        <p:spPr>
          <a:xfrm>
            <a:off x="3371787" y="1741337"/>
            <a:ext cx="5448730" cy="2387918"/>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Microbiome data</a:t>
            </a:r>
          </a:p>
        </p:txBody>
      </p:sp>
      <p:grpSp>
        <p:nvGrpSpPr>
          <p:cNvPr id="22" name="Group 21">
            <a:extLst>
              <a:ext uri="{FF2B5EF4-FFF2-40B4-BE49-F238E27FC236}">
                <a16:creationId xmlns:a16="http://schemas.microsoft.com/office/drawing/2014/main" id="{BDAC4BA2-E88D-E427-24F3-B8F3A3C30A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142" y="2854"/>
            <a:ext cx="2783421" cy="2406445"/>
            <a:chOff x="-305" y="-4155"/>
            <a:chExt cx="2514948" cy="2174333"/>
          </a:xfrm>
        </p:grpSpPr>
        <p:sp>
          <p:nvSpPr>
            <p:cNvPr id="23" name="Freeform: Shape 22">
              <a:extLst>
                <a:ext uri="{FF2B5EF4-FFF2-40B4-BE49-F238E27FC236}">
                  <a16:creationId xmlns:a16="http://schemas.microsoft.com/office/drawing/2014/main" id="{619BD1A1-65B6-4618-D7A3-6F5F968E38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2F259CFE-93E7-ADFC-6DC4-6BC5AD2E81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CA58F4B-7FD9-37C9-5226-0FF057D04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7D4B97FF-A861-1CDC-47FA-E6208D349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052074F3-D889-5B0D-ACA3-BDC0B382B5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417253" y="4456669"/>
            <a:ext cx="2783421" cy="2406445"/>
            <a:chOff x="-305" y="-4155"/>
            <a:chExt cx="2514948" cy="2174333"/>
          </a:xfrm>
        </p:grpSpPr>
        <p:sp>
          <p:nvSpPr>
            <p:cNvPr id="29" name="Freeform: Shape 28">
              <a:extLst>
                <a:ext uri="{FF2B5EF4-FFF2-40B4-BE49-F238E27FC236}">
                  <a16:creationId xmlns:a16="http://schemas.microsoft.com/office/drawing/2014/main" id="{F31148EF-0E78-9879-AE90-071E5EF8D8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7454B015-E0C0-81ED-C7E1-1294EDD7D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DFCF7AFB-90A8-6330-DE42-A13FEB44FE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E5D3ACE2-A9D6-A6EF-4942-940A1CC1E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91560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720C8-ABA1-35DB-5593-DAE69D688CA2}"/>
              </a:ext>
            </a:extLst>
          </p:cNvPr>
          <p:cNvSpPr>
            <a:spLocks noGrp="1"/>
          </p:cNvSpPr>
          <p:nvPr>
            <p:ph type="title"/>
          </p:nvPr>
        </p:nvSpPr>
        <p:spPr/>
        <p:txBody>
          <a:bodyPr/>
          <a:lstStyle/>
          <a:p>
            <a:r>
              <a:rPr lang="en-DK" dirty="0"/>
              <a:t>Microbiome data</a:t>
            </a:r>
          </a:p>
        </p:txBody>
      </p:sp>
      <p:sp>
        <p:nvSpPr>
          <p:cNvPr id="3" name="Content Placeholder 2">
            <a:extLst>
              <a:ext uri="{FF2B5EF4-FFF2-40B4-BE49-F238E27FC236}">
                <a16:creationId xmlns:a16="http://schemas.microsoft.com/office/drawing/2014/main" id="{F3039B2E-6A88-E4A3-7C7E-6379278F32AB}"/>
              </a:ext>
            </a:extLst>
          </p:cNvPr>
          <p:cNvSpPr>
            <a:spLocks noGrp="1"/>
          </p:cNvSpPr>
          <p:nvPr>
            <p:ph idx="1"/>
          </p:nvPr>
        </p:nvSpPr>
        <p:spPr>
          <a:xfrm>
            <a:off x="838200" y="2477236"/>
            <a:ext cx="2618946" cy="1903527"/>
          </a:xfrm>
        </p:spPr>
        <p:txBody>
          <a:bodyPr>
            <a:normAutofit lnSpcReduction="10000"/>
          </a:bodyPr>
          <a:lstStyle/>
          <a:p>
            <a:r>
              <a:rPr lang="en-DK" sz="1800" b="1" dirty="0"/>
              <a:t>Sparsity</a:t>
            </a:r>
          </a:p>
          <a:p>
            <a:r>
              <a:rPr lang="en-DK" sz="1800" b="1" dirty="0"/>
              <a:t>Dinamic range</a:t>
            </a:r>
          </a:p>
          <a:p>
            <a:r>
              <a:rPr lang="en-DK" sz="1800" dirty="0"/>
              <a:t>Usually expressed as Relative, not Absolute abundance</a:t>
            </a:r>
          </a:p>
          <a:p>
            <a:r>
              <a:rPr lang="en-DK" sz="1800" dirty="0"/>
              <a:t>Compositional data</a:t>
            </a:r>
          </a:p>
        </p:txBody>
      </p:sp>
      <p:graphicFrame>
        <p:nvGraphicFramePr>
          <p:cNvPr id="4" name="Table 3">
            <a:extLst>
              <a:ext uri="{FF2B5EF4-FFF2-40B4-BE49-F238E27FC236}">
                <a16:creationId xmlns:a16="http://schemas.microsoft.com/office/drawing/2014/main" id="{954EBB14-E739-E73E-B8D3-6CB23616F2E0}"/>
              </a:ext>
            </a:extLst>
          </p:cNvPr>
          <p:cNvGraphicFramePr>
            <a:graphicFrameLocks noGrp="1"/>
          </p:cNvGraphicFramePr>
          <p:nvPr>
            <p:extLst>
              <p:ext uri="{D42A27DB-BD31-4B8C-83A1-F6EECF244321}">
                <p14:modId xmlns:p14="http://schemas.microsoft.com/office/powerpoint/2010/main" val="788426687"/>
              </p:ext>
            </p:extLst>
          </p:nvPr>
        </p:nvGraphicFramePr>
        <p:xfrm>
          <a:off x="5444836" y="1945640"/>
          <a:ext cx="5676804" cy="3337560"/>
        </p:xfrm>
        <a:graphic>
          <a:graphicData uri="http://schemas.openxmlformats.org/drawingml/2006/table">
            <a:tbl>
              <a:tblPr firstRow="1" bandRow="1">
                <a:tableStyleId>{5940675A-B579-460E-94D1-54222C63F5DA}</a:tableStyleId>
              </a:tblPr>
              <a:tblGrid>
                <a:gridCol w="630756">
                  <a:extLst>
                    <a:ext uri="{9D8B030D-6E8A-4147-A177-3AD203B41FA5}">
                      <a16:colId xmlns:a16="http://schemas.microsoft.com/office/drawing/2014/main" val="1596159346"/>
                    </a:ext>
                  </a:extLst>
                </a:gridCol>
                <a:gridCol w="630756">
                  <a:extLst>
                    <a:ext uri="{9D8B030D-6E8A-4147-A177-3AD203B41FA5}">
                      <a16:colId xmlns:a16="http://schemas.microsoft.com/office/drawing/2014/main" val="4174716008"/>
                    </a:ext>
                  </a:extLst>
                </a:gridCol>
                <a:gridCol w="630756">
                  <a:extLst>
                    <a:ext uri="{9D8B030D-6E8A-4147-A177-3AD203B41FA5}">
                      <a16:colId xmlns:a16="http://schemas.microsoft.com/office/drawing/2014/main" val="2103857479"/>
                    </a:ext>
                  </a:extLst>
                </a:gridCol>
                <a:gridCol w="630756">
                  <a:extLst>
                    <a:ext uri="{9D8B030D-6E8A-4147-A177-3AD203B41FA5}">
                      <a16:colId xmlns:a16="http://schemas.microsoft.com/office/drawing/2014/main" val="1959333594"/>
                    </a:ext>
                  </a:extLst>
                </a:gridCol>
                <a:gridCol w="630756">
                  <a:extLst>
                    <a:ext uri="{9D8B030D-6E8A-4147-A177-3AD203B41FA5}">
                      <a16:colId xmlns:a16="http://schemas.microsoft.com/office/drawing/2014/main" val="3677141101"/>
                    </a:ext>
                  </a:extLst>
                </a:gridCol>
                <a:gridCol w="630756">
                  <a:extLst>
                    <a:ext uri="{9D8B030D-6E8A-4147-A177-3AD203B41FA5}">
                      <a16:colId xmlns:a16="http://schemas.microsoft.com/office/drawing/2014/main" val="591815414"/>
                    </a:ext>
                  </a:extLst>
                </a:gridCol>
                <a:gridCol w="630756">
                  <a:extLst>
                    <a:ext uri="{9D8B030D-6E8A-4147-A177-3AD203B41FA5}">
                      <a16:colId xmlns:a16="http://schemas.microsoft.com/office/drawing/2014/main" val="1544382731"/>
                    </a:ext>
                  </a:extLst>
                </a:gridCol>
                <a:gridCol w="630756">
                  <a:extLst>
                    <a:ext uri="{9D8B030D-6E8A-4147-A177-3AD203B41FA5}">
                      <a16:colId xmlns:a16="http://schemas.microsoft.com/office/drawing/2014/main" val="223596215"/>
                    </a:ext>
                  </a:extLst>
                </a:gridCol>
                <a:gridCol w="630756">
                  <a:extLst>
                    <a:ext uri="{9D8B030D-6E8A-4147-A177-3AD203B41FA5}">
                      <a16:colId xmlns:a16="http://schemas.microsoft.com/office/drawing/2014/main" val="567921591"/>
                    </a:ext>
                  </a:extLst>
                </a:gridCol>
              </a:tblGrid>
              <a:tr h="370840">
                <a:tc>
                  <a:txBody>
                    <a:bodyPr/>
                    <a:lstStyle/>
                    <a:p>
                      <a:r>
                        <a:rPr lang="en-DK" dirty="0"/>
                        <a:t>1</a:t>
                      </a:r>
                    </a:p>
                  </a:txBody>
                  <a:tcPr>
                    <a:solidFill>
                      <a:srgbClr val="FF0000"/>
                    </a:solidFill>
                  </a:tcPr>
                </a:tc>
                <a:tc>
                  <a:txBody>
                    <a:bodyPr/>
                    <a:lstStyle/>
                    <a:p>
                      <a:r>
                        <a:rPr lang="en-DK" dirty="0"/>
                        <a:t>2</a:t>
                      </a:r>
                    </a:p>
                  </a:txBody>
                  <a:tcPr>
                    <a:solidFill>
                      <a:schemeClr val="tx2">
                        <a:lumMod val="75000"/>
                        <a:lumOff val="25000"/>
                      </a:schemeClr>
                    </a:solidFill>
                  </a:tcPr>
                </a:tc>
                <a:tc>
                  <a:txBody>
                    <a:bodyPr/>
                    <a:lstStyle/>
                    <a:p>
                      <a:r>
                        <a:rPr lang="en-DK" dirty="0"/>
                        <a:t>3</a:t>
                      </a:r>
                    </a:p>
                  </a:txBody>
                  <a:tcPr>
                    <a:solidFill>
                      <a:schemeClr val="accent3"/>
                    </a:solidFill>
                  </a:tcPr>
                </a:tc>
                <a:tc>
                  <a:txBody>
                    <a:bodyPr/>
                    <a:lstStyle/>
                    <a:p>
                      <a:r>
                        <a:rPr lang="en-DK" dirty="0"/>
                        <a:t>1</a:t>
                      </a:r>
                    </a:p>
                  </a:txBody>
                  <a:tcPr>
                    <a:solidFill>
                      <a:srgbClr val="FF0000"/>
                    </a:solidFill>
                  </a:tcPr>
                </a:tc>
                <a:tc>
                  <a:txBody>
                    <a:bodyPr/>
                    <a:lstStyle/>
                    <a:p>
                      <a:r>
                        <a:rPr lang="en-DK" dirty="0"/>
                        <a:t>2</a:t>
                      </a:r>
                    </a:p>
                  </a:txBody>
                  <a:tcPr>
                    <a:solidFill>
                      <a:schemeClr val="tx2">
                        <a:lumMod val="75000"/>
                        <a:lumOff val="25000"/>
                      </a:schemeClr>
                    </a:solidFill>
                  </a:tcPr>
                </a:tc>
                <a:tc>
                  <a:txBody>
                    <a:bodyPr/>
                    <a:lstStyle/>
                    <a:p>
                      <a:r>
                        <a:rPr lang="en-DK" dirty="0"/>
                        <a:t>3</a:t>
                      </a:r>
                    </a:p>
                  </a:txBody>
                  <a:tcPr>
                    <a:solidFill>
                      <a:schemeClr val="accent3"/>
                    </a:solidFill>
                  </a:tcPr>
                </a:tc>
                <a:tc>
                  <a:txBody>
                    <a:bodyPr/>
                    <a:lstStyle/>
                    <a:p>
                      <a:r>
                        <a:rPr lang="en-DK" dirty="0"/>
                        <a:t>1</a:t>
                      </a:r>
                    </a:p>
                  </a:txBody>
                  <a:tcPr>
                    <a:solidFill>
                      <a:srgbClr val="FF0000"/>
                    </a:solidFill>
                  </a:tcPr>
                </a:tc>
                <a:tc>
                  <a:txBody>
                    <a:bodyPr/>
                    <a:lstStyle/>
                    <a:p>
                      <a:r>
                        <a:rPr lang="en-DK" dirty="0"/>
                        <a:t>2</a:t>
                      </a:r>
                    </a:p>
                  </a:txBody>
                  <a:tcPr>
                    <a:solidFill>
                      <a:schemeClr val="tx2">
                        <a:lumMod val="75000"/>
                        <a:lumOff val="25000"/>
                      </a:schemeClr>
                    </a:solidFill>
                  </a:tcPr>
                </a:tc>
                <a:tc>
                  <a:txBody>
                    <a:bodyPr/>
                    <a:lstStyle/>
                    <a:p>
                      <a:r>
                        <a:rPr lang="en-DK" dirty="0"/>
                        <a:t>3</a:t>
                      </a:r>
                    </a:p>
                  </a:txBody>
                  <a:tcPr>
                    <a:solidFill>
                      <a:schemeClr val="accent3"/>
                    </a:solidFill>
                  </a:tcPr>
                </a:tc>
                <a:extLst>
                  <a:ext uri="{0D108BD9-81ED-4DB2-BD59-A6C34878D82A}">
                    <a16:rowId xmlns:a16="http://schemas.microsoft.com/office/drawing/2014/main" val="3576899500"/>
                  </a:ext>
                </a:extLst>
              </a:tr>
              <a:tr h="370840">
                <a:tc>
                  <a:txBody>
                    <a:bodyPr/>
                    <a:lstStyle/>
                    <a:p>
                      <a:r>
                        <a:rPr lang="en-DK" dirty="0"/>
                        <a:t>X</a:t>
                      </a: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X</a:t>
                      </a: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X</a:t>
                      </a:r>
                    </a:p>
                  </a:txBody>
                  <a:tcPr>
                    <a:solidFill>
                      <a:srgbClr val="FFC000"/>
                    </a:solidFill>
                  </a:tcPr>
                </a:tc>
                <a:tc>
                  <a:txBody>
                    <a:bodyPr/>
                    <a:lstStyle/>
                    <a:p>
                      <a:r>
                        <a:rPr lang="en-DK" dirty="0"/>
                        <a:t>Y</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Y</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Y</a:t>
                      </a:r>
                    </a:p>
                  </a:txBody>
                  <a:tcPr>
                    <a:solidFill>
                      <a:schemeClr val="accent2"/>
                    </a:solidFill>
                  </a:tcPr>
                </a:tc>
                <a:tc>
                  <a:txBody>
                    <a:bodyPr/>
                    <a:lstStyle/>
                    <a:p>
                      <a:r>
                        <a:rPr lang="en-DK" dirty="0"/>
                        <a:t>Z</a:t>
                      </a:r>
                    </a:p>
                  </a:txBody>
                  <a:tcPr>
                    <a:solidFill>
                      <a:schemeClr val="accent2">
                        <a:lumMod val="75000"/>
                      </a:schemeClr>
                    </a:solidFill>
                  </a:tcPr>
                </a:tc>
                <a:tc>
                  <a:txBody>
                    <a:bodyPr/>
                    <a:lstStyle/>
                    <a:p>
                      <a:r>
                        <a:rPr lang="en-DK" dirty="0"/>
                        <a:t>Z</a:t>
                      </a:r>
                    </a:p>
                  </a:txBody>
                  <a:tcPr>
                    <a:solidFill>
                      <a:schemeClr val="accent2">
                        <a:lumMod val="75000"/>
                      </a:schemeClr>
                    </a:solidFill>
                  </a:tcPr>
                </a:tc>
                <a:tc>
                  <a:txBody>
                    <a:bodyPr/>
                    <a:lstStyle/>
                    <a:p>
                      <a:r>
                        <a:rPr lang="en-DK" dirty="0"/>
                        <a:t>Z</a:t>
                      </a:r>
                    </a:p>
                  </a:txBody>
                  <a:tcPr>
                    <a:solidFill>
                      <a:schemeClr val="accent2">
                        <a:lumMod val="75000"/>
                      </a:schemeClr>
                    </a:solidFill>
                  </a:tcPr>
                </a:tc>
                <a:extLst>
                  <a:ext uri="{0D108BD9-81ED-4DB2-BD59-A6C34878D82A}">
                    <a16:rowId xmlns:a16="http://schemas.microsoft.com/office/drawing/2014/main" val="4183628834"/>
                  </a:ext>
                </a:extLst>
              </a:tr>
              <a:tr h="370840">
                <a:tc>
                  <a:txBody>
                    <a:bodyPr/>
                    <a:lstStyle/>
                    <a:p>
                      <a:r>
                        <a:rPr lang="en-DK" dirty="0"/>
                        <a:t>10</a:t>
                      </a:r>
                    </a:p>
                  </a:txBody>
                  <a:tcPr/>
                </a:tc>
                <a:tc>
                  <a:txBody>
                    <a:bodyPr/>
                    <a:lstStyle/>
                    <a:p>
                      <a:r>
                        <a:rPr lang="en-DK" dirty="0"/>
                        <a:t>11</a:t>
                      </a:r>
                    </a:p>
                  </a:txBody>
                  <a:tcPr/>
                </a:tc>
                <a:tc>
                  <a:txBody>
                    <a:bodyPr/>
                    <a:lstStyle/>
                    <a:p>
                      <a:r>
                        <a:rPr lang="en-DK" dirty="0"/>
                        <a:t>20</a:t>
                      </a:r>
                    </a:p>
                  </a:txBody>
                  <a:tcPr/>
                </a:tc>
                <a:tc>
                  <a:txBody>
                    <a:bodyPr/>
                    <a:lstStyle/>
                    <a:p>
                      <a:r>
                        <a:rPr lang="en-DK" dirty="0"/>
                        <a:t>12</a:t>
                      </a:r>
                    </a:p>
                  </a:txBody>
                  <a:tcPr/>
                </a:tc>
                <a:tc>
                  <a:txBody>
                    <a:bodyPr/>
                    <a:lstStyle/>
                    <a:p>
                      <a:r>
                        <a:rPr lang="en-DK" dirty="0"/>
                        <a:t>14</a:t>
                      </a:r>
                    </a:p>
                  </a:txBody>
                  <a:tcPr/>
                </a:tc>
                <a:tc>
                  <a:txBody>
                    <a:bodyPr/>
                    <a:lstStyle/>
                    <a:p>
                      <a:r>
                        <a:rPr lang="en-DK" dirty="0"/>
                        <a:t>16</a:t>
                      </a:r>
                    </a:p>
                  </a:txBody>
                  <a:tcPr/>
                </a:tc>
                <a:tc>
                  <a:txBody>
                    <a:bodyPr/>
                    <a:lstStyle/>
                    <a:p>
                      <a:r>
                        <a:rPr lang="en-DK" dirty="0"/>
                        <a:t>25</a:t>
                      </a:r>
                    </a:p>
                  </a:txBody>
                  <a:tcPr/>
                </a:tc>
                <a:tc>
                  <a:txBody>
                    <a:bodyPr/>
                    <a:lstStyle/>
                    <a:p>
                      <a:r>
                        <a:rPr lang="en-DK" dirty="0"/>
                        <a:t>34</a:t>
                      </a:r>
                    </a:p>
                  </a:txBody>
                  <a:tcPr/>
                </a:tc>
                <a:tc>
                  <a:txBody>
                    <a:bodyPr/>
                    <a:lstStyle/>
                    <a:p>
                      <a:r>
                        <a:rPr lang="en-DK" dirty="0"/>
                        <a:t>22</a:t>
                      </a:r>
                    </a:p>
                  </a:txBody>
                  <a:tcPr/>
                </a:tc>
                <a:extLst>
                  <a:ext uri="{0D108BD9-81ED-4DB2-BD59-A6C34878D82A}">
                    <a16:rowId xmlns:a16="http://schemas.microsoft.com/office/drawing/2014/main" val="250882849"/>
                  </a:ext>
                </a:extLst>
              </a:tr>
              <a:tr h="370840">
                <a:tc>
                  <a:txBody>
                    <a:bodyPr/>
                    <a:lstStyle/>
                    <a:p>
                      <a:r>
                        <a:rPr lang="en-DK" dirty="0"/>
                        <a:t>70</a:t>
                      </a:r>
                    </a:p>
                  </a:txBody>
                  <a:tcPr/>
                </a:tc>
                <a:tc>
                  <a:txBody>
                    <a:bodyPr/>
                    <a:lstStyle/>
                    <a:p>
                      <a:r>
                        <a:rPr lang="en-DK" dirty="0"/>
                        <a:t>49</a:t>
                      </a:r>
                    </a:p>
                  </a:txBody>
                  <a:tcPr/>
                </a:tc>
                <a:tc>
                  <a:txBody>
                    <a:bodyPr/>
                    <a:lstStyle/>
                    <a:p>
                      <a:r>
                        <a:rPr lang="en-DK" dirty="0"/>
                        <a:t>56</a:t>
                      </a:r>
                    </a:p>
                  </a:txBody>
                  <a:tcPr/>
                </a:tc>
                <a:tc>
                  <a:txBody>
                    <a:bodyPr/>
                    <a:lstStyle/>
                    <a:p>
                      <a:r>
                        <a:rPr lang="en-DK" dirty="0"/>
                        <a:t>0.9</a:t>
                      </a:r>
                    </a:p>
                  </a:txBody>
                  <a:tcPr/>
                </a:tc>
                <a:tc>
                  <a:txBody>
                    <a:bodyPr/>
                    <a:lstStyle/>
                    <a:p>
                      <a:r>
                        <a:rPr lang="en-DK" dirty="0"/>
                        <a:t>0.5</a:t>
                      </a:r>
                    </a:p>
                  </a:txBody>
                  <a:tcPr/>
                </a:tc>
                <a:tc>
                  <a:txBody>
                    <a:bodyPr/>
                    <a:lstStyle/>
                    <a:p>
                      <a:r>
                        <a:rPr lang="en-DK" dirty="0"/>
                        <a:t>0</a:t>
                      </a:r>
                    </a:p>
                  </a:txBody>
                  <a:tcPr/>
                </a:tc>
                <a:tc>
                  <a:txBody>
                    <a:bodyPr/>
                    <a:lstStyle/>
                    <a:p>
                      <a:r>
                        <a:rPr lang="en-DK" dirty="0"/>
                        <a:t>0</a:t>
                      </a:r>
                    </a:p>
                  </a:txBody>
                  <a:tcPr/>
                </a:tc>
                <a:tc>
                  <a:txBody>
                    <a:bodyPr/>
                    <a:lstStyle/>
                    <a:p>
                      <a:r>
                        <a:rPr lang="en-DK" dirty="0"/>
                        <a:t>0.1</a:t>
                      </a:r>
                    </a:p>
                  </a:txBody>
                  <a:tcPr/>
                </a:tc>
                <a:tc>
                  <a:txBody>
                    <a:bodyPr/>
                    <a:lstStyle/>
                    <a:p>
                      <a:r>
                        <a:rPr lang="en-DK" dirty="0"/>
                        <a:t>0</a:t>
                      </a:r>
                    </a:p>
                  </a:txBody>
                  <a:tcPr/>
                </a:tc>
                <a:extLst>
                  <a:ext uri="{0D108BD9-81ED-4DB2-BD59-A6C34878D82A}">
                    <a16:rowId xmlns:a16="http://schemas.microsoft.com/office/drawing/2014/main" val="920454737"/>
                  </a:ext>
                </a:extLst>
              </a:tr>
              <a:tr h="370840">
                <a:tc>
                  <a:txBody>
                    <a:bodyPr/>
                    <a:lstStyle/>
                    <a:p>
                      <a:r>
                        <a:rPr lang="en-DK" dirty="0"/>
                        <a:t>0</a:t>
                      </a:r>
                    </a:p>
                  </a:txBody>
                  <a:tcPr/>
                </a:tc>
                <a:tc>
                  <a:txBody>
                    <a:bodyPr/>
                    <a:lstStyle/>
                    <a:p>
                      <a:r>
                        <a:rPr lang="en-DK" dirty="0"/>
                        <a:t>0</a:t>
                      </a:r>
                    </a:p>
                  </a:txBody>
                  <a:tcPr/>
                </a:tc>
                <a:tc>
                  <a:txBody>
                    <a:bodyPr/>
                    <a:lstStyle/>
                    <a:p>
                      <a:r>
                        <a:rPr lang="en-DK" dirty="0"/>
                        <a:t>0</a:t>
                      </a:r>
                    </a:p>
                  </a:txBody>
                  <a:tcPr/>
                </a:tc>
                <a:tc>
                  <a:txBody>
                    <a:bodyPr/>
                    <a:lstStyle/>
                    <a:p>
                      <a:r>
                        <a:rPr lang="en-DK" dirty="0"/>
                        <a:t>0.4</a:t>
                      </a:r>
                    </a:p>
                  </a:txBody>
                  <a:tcPr/>
                </a:tc>
                <a:tc>
                  <a:txBody>
                    <a:bodyPr/>
                    <a:lstStyle/>
                    <a:p>
                      <a:r>
                        <a:rPr lang="en-DK" dirty="0"/>
                        <a:t>0.1</a:t>
                      </a:r>
                    </a:p>
                  </a:txBody>
                  <a:tcPr/>
                </a:tc>
                <a:tc>
                  <a:txBody>
                    <a:bodyPr/>
                    <a:lstStyle/>
                    <a:p>
                      <a:r>
                        <a:rPr lang="en-DK" dirty="0"/>
                        <a:t>0</a:t>
                      </a:r>
                    </a:p>
                  </a:txBody>
                  <a:tcPr/>
                </a:tc>
                <a:tc>
                  <a:txBody>
                    <a:bodyPr/>
                    <a:lstStyle/>
                    <a:p>
                      <a:r>
                        <a:rPr lang="en-DK" dirty="0"/>
                        <a:t>0</a:t>
                      </a:r>
                    </a:p>
                  </a:txBody>
                  <a:tcPr/>
                </a:tc>
                <a:tc>
                  <a:txBody>
                    <a:bodyPr/>
                    <a:lstStyle/>
                    <a:p>
                      <a:r>
                        <a:rPr lang="en-DK" dirty="0"/>
                        <a:t>0</a:t>
                      </a:r>
                    </a:p>
                  </a:txBody>
                  <a:tcPr/>
                </a:tc>
                <a:tc>
                  <a:txBody>
                    <a:bodyPr/>
                    <a:lstStyle/>
                    <a:p>
                      <a:r>
                        <a:rPr lang="en-DK" dirty="0"/>
                        <a:t>0</a:t>
                      </a:r>
                    </a:p>
                  </a:txBody>
                  <a:tcPr/>
                </a:tc>
                <a:extLst>
                  <a:ext uri="{0D108BD9-81ED-4DB2-BD59-A6C34878D82A}">
                    <a16:rowId xmlns:a16="http://schemas.microsoft.com/office/drawing/2014/main" val="2105741713"/>
                  </a:ext>
                </a:extLst>
              </a:tr>
              <a:tr h="370840">
                <a:tc>
                  <a:txBody>
                    <a:bodyPr/>
                    <a:lstStyle/>
                    <a:p>
                      <a:r>
                        <a:rPr lang="en-DK" dirty="0"/>
                        <a:t>0.3</a:t>
                      </a:r>
                    </a:p>
                  </a:txBody>
                  <a:tcPr/>
                </a:tc>
                <a:tc>
                  <a:txBody>
                    <a:bodyPr/>
                    <a:lstStyle/>
                    <a:p>
                      <a:r>
                        <a:rPr lang="en-DK" dirty="0"/>
                        <a:t>0.4</a:t>
                      </a:r>
                    </a:p>
                  </a:txBody>
                  <a:tcPr/>
                </a:tc>
                <a:tc>
                  <a:txBody>
                    <a:bodyPr/>
                    <a:lstStyle/>
                    <a:p>
                      <a:r>
                        <a:rPr lang="en-DK" dirty="0"/>
                        <a:t>0.45</a:t>
                      </a:r>
                    </a:p>
                  </a:txBody>
                  <a:tcPr/>
                </a:tc>
                <a:tc>
                  <a:txBody>
                    <a:bodyPr/>
                    <a:lstStyle/>
                    <a:p>
                      <a:r>
                        <a:rPr lang="en-DK" dirty="0"/>
                        <a:t>0</a:t>
                      </a:r>
                    </a:p>
                  </a:txBody>
                  <a:tcPr/>
                </a:tc>
                <a:tc>
                  <a:txBody>
                    <a:bodyPr/>
                    <a:lstStyle/>
                    <a:p>
                      <a:r>
                        <a:rPr lang="en-DK" dirty="0"/>
                        <a:t>0.1</a:t>
                      </a:r>
                    </a:p>
                  </a:txBody>
                  <a:tcPr/>
                </a:tc>
                <a:tc>
                  <a:txBody>
                    <a:bodyPr/>
                    <a:lstStyle/>
                    <a:p>
                      <a:r>
                        <a:rPr lang="en-DK" dirty="0"/>
                        <a:t>1</a:t>
                      </a:r>
                    </a:p>
                  </a:txBody>
                  <a:tcPr/>
                </a:tc>
                <a:tc>
                  <a:txBody>
                    <a:bodyPr/>
                    <a:lstStyle/>
                    <a:p>
                      <a:r>
                        <a:rPr lang="en-DK" dirty="0"/>
                        <a:t>2</a:t>
                      </a:r>
                    </a:p>
                  </a:txBody>
                  <a:tcPr/>
                </a:tc>
                <a:tc>
                  <a:txBody>
                    <a:bodyPr/>
                    <a:lstStyle/>
                    <a:p>
                      <a:r>
                        <a:rPr lang="en-DK" dirty="0"/>
                        <a:t>3</a:t>
                      </a:r>
                    </a:p>
                  </a:txBody>
                  <a:tcPr/>
                </a:tc>
                <a:tc>
                  <a:txBody>
                    <a:bodyPr/>
                    <a:lstStyle/>
                    <a:p>
                      <a:r>
                        <a:rPr lang="en-DK" dirty="0"/>
                        <a:t>4</a:t>
                      </a:r>
                    </a:p>
                  </a:txBody>
                  <a:tcPr/>
                </a:tc>
                <a:extLst>
                  <a:ext uri="{0D108BD9-81ED-4DB2-BD59-A6C34878D82A}">
                    <a16:rowId xmlns:a16="http://schemas.microsoft.com/office/drawing/2014/main" val="3378309817"/>
                  </a:ext>
                </a:extLst>
              </a:tr>
              <a:tr h="370840">
                <a:tc>
                  <a:txBody>
                    <a:bodyPr/>
                    <a:lstStyle/>
                    <a:p>
                      <a:r>
                        <a:rPr lang="en-DK" dirty="0"/>
                        <a:t>2</a:t>
                      </a:r>
                    </a:p>
                  </a:txBody>
                  <a:tcPr/>
                </a:tc>
                <a:tc>
                  <a:txBody>
                    <a:bodyPr/>
                    <a:lstStyle/>
                    <a:p>
                      <a:r>
                        <a:rPr lang="en-DK" dirty="0"/>
                        <a:t>2</a:t>
                      </a:r>
                    </a:p>
                  </a:txBody>
                  <a:tcPr/>
                </a:tc>
                <a:tc>
                  <a:txBody>
                    <a:bodyPr/>
                    <a:lstStyle/>
                    <a:p>
                      <a:r>
                        <a:rPr lang="en-DK" dirty="0"/>
                        <a:t>3</a:t>
                      </a:r>
                    </a:p>
                  </a:txBody>
                  <a:tcPr/>
                </a:tc>
                <a:tc>
                  <a:txBody>
                    <a:bodyPr/>
                    <a:lstStyle/>
                    <a:p>
                      <a:r>
                        <a:rPr lang="en-DK" dirty="0"/>
                        <a:t>0</a:t>
                      </a:r>
                    </a:p>
                  </a:txBody>
                  <a:tcPr/>
                </a:tc>
                <a:tc>
                  <a:txBody>
                    <a:bodyPr/>
                    <a:lstStyle/>
                    <a:p>
                      <a:r>
                        <a:rPr lang="en-DK" dirty="0"/>
                        <a:t>0</a:t>
                      </a:r>
                    </a:p>
                  </a:txBody>
                  <a:tcPr/>
                </a:tc>
                <a:tc>
                  <a:txBody>
                    <a:bodyPr/>
                    <a:lstStyle/>
                    <a:p>
                      <a:r>
                        <a:rPr lang="en-DK" dirty="0"/>
                        <a:t>0.01</a:t>
                      </a:r>
                    </a:p>
                  </a:txBody>
                  <a:tcPr/>
                </a:tc>
                <a:tc>
                  <a:txBody>
                    <a:bodyPr/>
                    <a:lstStyle/>
                    <a:p>
                      <a:r>
                        <a:rPr lang="en-DK" dirty="0"/>
                        <a:t>1</a:t>
                      </a:r>
                    </a:p>
                  </a:txBody>
                  <a:tcPr/>
                </a:tc>
                <a:tc>
                  <a:txBody>
                    <a:bodyPr/>
                    <a:lstStyle/>
                    <a:p>
                      <a:r>
                        <a:rPr lang="en-DK" dirty="0"/>
                        <a:t>1</a:t>
                      </a:r>
                    </a:p>
                  </a:txBody>
                  <a:tcPr/>
                </a:tc>
                <a:tc>
                  <a:txBody>
                    <a:bodyPr/>
                    <a:lstStyle/>
                    <a:p>
                      <a:r>
                        <a:rPr lang="en-DK" dirty="0"/>
                        <a:t>2</a:t>
                      </a:r>
                    </a:p>
                  </a:txBody>
                  <a:tcPr/>
                </a:tc>
                <a:extLst>
                  <a:ext uri="{0D108BD9-81ED-4DB2-BD59-A6C34878D82A}">
                    <a16:rowId xmlns:a16="http://schemas.microsoft.com/office/drawing/2014/main" val="4055290594"/>
                  </a:ext>
                </a:extLst>
              </a:tr>
              <a:tr h="370840">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extLst>
                  <a:ext uri="{0D108BD9-81ED-4DB2-BD59-A6C34878D82A}">
                    <a16:rowId xmlns:a16="http://schemas.microsoft.com/office/drawing/2014/main" val="3993467441"/>
                  </a:ext>
                </a:extLst>
              </a:tr>
              <a:tr h="370840">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tc>
                  <a:txBody>
                    <a:bodyPr/>
                    <a:lstStyle/>
                    <a:p>
                      <a:endParaRPr lang="en-DK" dirty="0"/>
                    </a:p>
                  </a:txBody>
                  <a:tcPr/>
                </a:tc>
                <a:extLst>
                  <a:ext uri="{0D108BD9-81ED-4DB2-BD59-A6C34878D82A}">
                    <a16:rowId xmlns:a16="http://schemas.microsoft.com/office/drawing/2014/main" val="864364478"/>
                  </a:ext>
                </a:extLst>
              </a:tr>
            </a:tbl>
          </a:graphicData>
        </a:graphic>
      </p:graphicFrame>
      <p:sp>
        <p:nvSpPr>
          <p:cNvPr id="5" name="TextBox 4">
            <a:extLst>
              <a:ext uri="{FF2B5EF4-FFF2-40B4-BE49-F238E27FC236}">
                <a16:creationId xmlns:a16="http://schemas.microsoft.com/office/drawing/2014/main" id="{4E18B442-B50E-53CA-9B4E-584FDE7AD83F}"/>
              </a:ext>
            </a:extLst>
          </p:cNvPr>
          <p:cNvSpPr txBox="1"/>
          <p:nvPr/>
        </p:nvSpPr>
        <p:spPr>
          <a:xfrm>
            <a:off x="4592783" y="1945640"/>
            <a:ext cx="803564" cy="369332"/>
          </a:xfrm>
          <a:prstGeom prst="rect">
            <a:avLst/>
          </a:prstGeom>
          <a:noFill/>
        </p:spPr>
        <p:txBody>
          <a:bodyPr wrap="square" rtlCol="0">
            <a:spAutoFit/>
          </a:bodyPr>
          <a:lstStyle/>
          <a:p>
            <a:r>
              <a:rPr lang="en-DK" dirty="0"/>
              <a:t>Area</a:t>
            </a:r>
          </a:p>
        </p:txBody>
      </p:sp>
      <p:sp>
        <p:nvSpPr>
          <p:cNvPr id="6" name="TextBox 5">
            <a:extLst>
              <a:ext uri="{FF2B5EF4-FFF2-40B4-BE49-F238E27FC236}">
                <a16:creationId xmlns:a16="http://schemas.microsoft.com/office/drawing/2014/main" id="{8E268A1C-E245-3146-1A68-235F1801791A}"/>
              </a:ext>
            </a:extLst>
          </p:cNvPr>
          <p:cNvSpPr txBox="1"/>
          <p:nvPr/>
        </p:nvSpPr>
        <p:spPr>
          <a:xfrm>
            <a:off x="4128655" y="2314972"/>
            <a:ext cx="1163782" cy="369332"/>
          </a:xfrm>
          <a:prstGeom prst="rect">
            <a:avLst/>
          </a:prstGeom>
          <a:noFill/>
        </p:spPr>
        <p:txBody>
          <a:bodyPr wrap="square" rtlCol="0">
            <a:spAutoFit/>
          </a:bodyPr>
          <a:lstStyle/>
          <a:p>
            <a:r>
              <a:rPr lang="en-DK" dirty="0"/>
              <a:t>Condition</a:t>
            </a:r>
          </a:p>
        </p:txBody>
      </p:sp>
      <p:sp>
        <p:nvSpPr>
          <p:cNvPr id="7" name="TextBox 6">
            <a:extLst>
              <a:ext uri="{FF2B5EF4-FFF2-40B4-BE49-F238E27FC236}">
                <a16:creationId xmlns:a16="http://schemas.microsoft.com/office/drawing/2014/main" id="{A8DACCEC-0376-D02D-57D7-BF101289143E}"/>
              </a:ext>
            </a:extLst>
          </p:cNvPr>
          <p:cNvSpPr txBox="1"/>
          <p:nvPr/>
        </p:nvSpPr>
        <p:spPr>
          <a:xfrm>
            <a:off x="7722129" y="5412558"/>
            <a:ext cx="1122218" cy="369332"/>
          </a:xfrm>
          <a:prstGeom prst="rect">
            <a:avLst/>
          </a:prstGeom>
          <a:noFill/>
        </p:spPr>
        <p:txBody>
          <a:bodyPr wrap="square" rtlCol="0">
            <a:spAutoFit/>
          </a:bodyPr>
          <a:lstStyle/>
          <a:p>
            <a:r>
              <a:rPr lang="en-DK" dirty="0"/>
              <a:t>Samples</a:t>
            </a:r>
          </a:p>
        </p:txBody>
      </p:sp>
      <p:sp>
        <p:nvSpPr>
          <p:cNvPr id="8" name="TextBox 7">
            <a:extLst>
              <a:ext uri="{FF2B5EF4-FFF2-40B4-BE49-F238E27FC236}">
                <a16:creationId xmlns:a16="http://schemas.microsoft.com/office/drawing/2014/main" id="{B04889E3-A486-F9EF-D476-05F1DE223A52}"/>
              </a:ext>
            </a:extLst>
          </p:cNvPr>
          <p:cNvSpPr txBox="1"/>
          <p:nvPr/>
        </p:nvSpPr>
        <p:spPr>
          <a:xfrm rot="16200000">
            <a:off x="3594177" y="3733949"/>
            <a:ext cx="2743165" cy="646331"/>
          </a:xfrm>
          <a:prstGeom prst="rect">
            <a:avLst/>
          </a:prstGeom>
          <a:noFill/>
        </p:spPr>
        <p:txBody>
          <a:bodyPr wrap="square" rtlCol="0">
            <a:spAutoFit/>
          </a:bodyPr>
          <a:lstStyle/>
          <a:p>
            <a:r>
              <a:rPr lang="en-DK" dirty="0"/>
              <a:t>Relative abundance</a:t>
            </a:r>
          </a:p>
          <a:p>
            <a:r>
              <a:rPr lang="en-DK" dirty="0"/>
              <a:t>Taxa or functional feature</a:t>
            </a:r>
          </a:p>
        </p:txBody>
      </p:sp>
      <p:sp>
        <p:nvSpPr>
          <p:cNvPr id="9" name="TextBox 8">
            <a:extLst>
              <a:ext uri="{FF2B5EF4-FFF2-40B4-BE49-F238E27FC236}">
                <a16:creationId xmlns:a16="http://schemas.microsoft.com/office/drawing/2014/main" id="{39B49270-5D7A-9FF3-C470-1469D9E1D635}"/>
              </a:ext>
            </a:extLst>
          </p:cNvPr>
          <p:cNvSpPr txBox="1"/>
          <p:nvPr/>
        </p:nvSpPr>
        <p:spPr>
          <a:xfrm>
            <a:off x="7162800" y="1318754"/>
            <a:ext cx="2507673" cy="369332"/>
          </a:xfrm>
          <a:prstGeom prst="rect">
            <a:avLst/>
          </a:prstGeom>
          <a:noFill/>
        </p:spPr>
        <p:txBody>
          <a:bodyPr wrap="square" rtlCol="0">
            <a:spAutoFit/>
          </a:bodyPr>
          <a:lstStyle/>
          <a:p>
            <a:r>
              <a:rPr lang="en-DK" dirty="0"/>
              <a:t>Relative abundace (%)</a:t>
            </a:r>
          </a:p>
        </p:txBody>
      </p:sp>
    </p:spTree>
    <p:extLst>
      <p:ext uri="{BB962C8B-B14F-4D97-AF65-F5344CB8AC3E}">
        <p14:creationId xmlns:p14="http://schemas.microsoft.com/office/powerpoint/2010/main" val="1632921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08E8A-B4BF-BEE4-D88C-461A883100BA}"/>
              </a:ext>
            </a:extLst>
          </p:cNvPr>
          <p:cNvSpPr>
            <a:spLocks noGrp="1"/>
          </p:cNvSpPr>
          <p:nvPr>
            <p:ph type="title"/>
          </p:nvPr>
        </p:nvSpPr>
        <p:spPr/>
        <p:txBody>
          <a:bodyPr/>
          <a:lstStyle/>
          <a:p>
            <a:r>
              <a:rPr lang="en-DK" dirty="0"/>
              <a:t>Microbiome data</a:t>
            </a:r>
          </a:p>
        </p:txBody>
      </p:sp>
      <p:sp>
        <p:nvSpPr>
          <p:cNvPr id="4" name="Content Placeholder 2">
            <a:extLst>
              <a:ext uri="{FF2B5EF4-FFF2-40B4-BE49-F238E27FC236}">
                <a16:creationId xmlns:a16="http://schemas.microsoft.com/office/drawing/2014/main" id="{4F7BEA05-D693-8BF3-4B58-3A3684DBE82E}"/>
              </a:ext>
            </a:extLst>
          </p:cNvPr>
          <p:cNvSpPr>
            <a:spLocks noGrp="1"/>
          </p:cNvSpPr>
          <p:nvPr>
            <p:ph idx="1"/>
          </p:nvPr>
        </p:nvSpPr>
        <p:spPr>
          <a:xfrm>
            <a:off x="838200" y="2477236"/>
            <a:ext cx="2618946" cy="1903527"/>
          </a:xfrm>
        </p:spPr>
        <p:txBody>
          <a:bodyPr>
            <a:normAutofit lnSpcReduction="10000"/>
          </a:bodyPr>
          <a:lstStyle/>
          <a:p>
            <a:r>
              <a:rPr lang="en-DK" sz="1800" dirty="0"/>
              <a:t>Sparsity</a:t>
            </a:r>
          </a:p>
          <a:p>
            <a:r>
              <a:rPr lang="en-DK" sz="1800" dirty="0"/>
              <a:t>Dinamic range</a:t>
            </a:r>
          </a:p>
          <a:p>
            <a:r>
              <a:rPr lang="en-DK" sz="1800" b="1" dirty="0"/>
              <a:t>Usually expressed as Relative, not Absolute abundance</a:t>
            </a:r>
          </a:p>
          <a:p>
            <a:r>
              <a:rPr lang="en-DK" sz="1800" b="1" dirty="0"/>
              <a:t>Compositional data</a:t>
            </a:r>
          </a:p>
        </p:txBody>
      </p:sp>
      <p:sp>
        <p:nvSpPr>
          <p:cNvPr id="5" name="TextBox 4">
            <a:extLst>
              <a:ext uri="{FF2B5EF4-FFF2-40B4-BE49-F238E27FC236}">
                <a16:creationId xmlns:a16="http://schemas.microsoft.com/office/drawing/2014/main" id="{A80BDCF2-DCEB-8B54-BFF1-64AAF59ADC82}"/>
              </a:ext>
            </a:extLst>
          </p:cNvPr>
          <p:cNvSpPr txBox="1"/>
          <p:nvPr/>
        </p:nvSpPr>
        <p:spPr>
          <a:xfrm>
            <a:off x="4523507" y="1801525"/>
            <a:ext cx="6830293" cy="5355312"/>
          </a:xfrm>
          <a:prstGeom prst="rect">
            <a:avLst/>
          </a:prstGeom>
          <a:noFill/>
        </p:spPr>
        <p:txBody>
          <a:bodyPr wrap="square" rtlCol="0">
            <a:spAutoFit/>
          </a:bodyPr>
          <a:lstStyle/>
          <a:p>
            <a:r>
              <a:rPr lang="en-DK" dirty="0"/>
              <a:t>Microbiome data is compositional:</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Sampling of a fraction of the total genomic DNA</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Different sequencing depth between samples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Both sampling depth and sequencing depth can vary several orders of magnitude between samples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Absolute abundances are normally not known – abundances are relative and constraint to sum to 1 (or 100%)</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Proportions or percentages of total reads per sample — not true cell counts.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Relative abundances are susceptible to compositional effects</a:t>
            </a:r>
          </a:p>
          <a:p>
            <a:endParaRPr lang="en-DK" dirty="0"/>
          </a:p>
          <a:p>
            <a:endParaRPr lang="en-DK" dirty="0"/>
          </a:p>
          <a:p>
            <a:pPr marL="285750" indent="-285750">
              <a:buFont typeface="Arial" panose="020B0604020202020204" pitchFamily="34" charset="0"/>
              <a:buChar char="•"/>
            </a:pPr>
            <a:endParaRPr lang="en-DK" dirty="0"/>
          </a:p>
        </p:txBody>
      </p:sp>
      <p:sp>
        <p:nvSpPr>
          <p:cNvPr id="6" name="TextBox 5">
            <a:extLst>
              <a:ext uri="{FF2B5EF4-FFF2-40B4-BE49-F238E27FC236}">
                <a16:creationId xmlns:a16="http://schemas.microsoft.com/office/drawing/2014/main" id="{CCBF63FC-D338-375C-63D6-6D5F0AAA4278}"/>
              </a:ext>
            </a:extLst>
          </p:cNvPr>
          <p:cNvSpPr txBox="1"/>
          <p:nvPr/>
        </p:nvSpPr>
        <p:spPr>
          <a:xfrm>
            <a:off x="526093" y="6388274"/>
            <a:ext cx="4835048" cy="646331"/>
          </a:xfrm>
          <a:prstGeom prst="rect">
            <a:avLst/>
          </a:prstGeom>
          <a:noFill/>
        </p:spPr>
        <p:txBody>
          <a:bodyPr wrap="square" rtlCol="0">
            <a:spAutoFit/>
          </a:bodyPr>
          <a:lstStyle/>
          <a:p>
            <a:r>
              <a:rPr lang="en-GB" dirty="0">
                <a:hlinkClick r:id="rId3"/>
              </a:rPr>
              <a:t>https://pubmed.ncbi.nlm.nih.gov/27306058/</a:t>
            </a:r>
            <a:endParaRPr lang="en-GB" dirty="0"/>
          </a:p>
          <a:p>
            <a:endParaRPr lang="en-DK" dirty="0"/>
          </a:p>
        </p:txBody>
      </p:sp>
    </p:spTree>
    <p:extLst>
      <p:ext uri="{BB962C8B-B14F-4D97-AF65-F5344CB8AC3E}">
        <p14:creationId xmlns:p14="http://schemas.microsoft.com/office/powerpoint/2010/main" val="1107176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47F40-DFB8-B236-BDB6-2ACE78B5035C}"/>
              </a:ext>
            </a:extLst>
          </p:cNvPr>
          <p:cNvSpPr>
            <a:spLocks noGrp="1"/>
          </p:cNvSpPr>
          <p:nvPr>
            <p:ph type="title"/>
          </p:nvPr>
        </p:nvSpPr>
        <p:spPr>
          <a:xfrm>
            <a:off x="838200" y="0"/>
            <a:ext cx="10515600" cy="1325563"/>
          </a:xfrm>
        </p:spPr>
        <p:txBody>
          <a:bodyPr/>
          <a:lstStyle/>
          <a:p>
            <a:r>
              <a:rPr lang="en-DK" dirty="0"/>
              <a:t>Compositional data</a:t>
            </a:r>
          </a:p>
        </p:txBody>
      </p:sp>
      <p:graphicFrame>
        <p:nvGraphicFramePr>
          <p:cNvPr id="4" name="Table 3">
            <a:extLst>
              <a:ext uri="{FF2B5EF4-FFF2-40B4-BE49-F238E27FC236}">
                <a16:creationId xmlns:a16="http://schemas.microsoft.com/office/drawing/2014/main" id="{91BC007C-5F85-A71D-6CB1-F6A0D238FD24}"/>
              </a:ext>
            </a:extLst>
          </p:cNvPr>
          <p:cNvGraphicFramePr>
            <a:graphicFrameLocks noGrp="1"/>
          </p:cNvGraphicFramePr>
          <p:nvPr>
            <p:extLst>
              <p:ext uri="{D42A27DB-BD31-4B8C-83A1-F6EECF244321}">
                <p14:modId xmlns:p14="http://schemas.microsoft.com/office/powerpoint/2010/main" val="2028616950"/>
              </p:ext>
            </p:extLst>
          </p:nvPr>
        </p:nvGraphicFramePr>
        <p:xfrm>
          <a:off x="2032000" y="2201064"/>
          <a:ext cx="8128000" cy="22250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731085935"/>
                    </a:ext>
                  </a:extLst>
                </a:gridCol>
                <a:gridCol w="1625600">
                  <a:extLst>
                    <a:ext uri="{9D8B030D-6E8A-4147-A177-3AD203B41FA5}">
                      <a16:colId xmlns:a16="http://schemas.microsoft.com/office/drawing/2014/main" val="1087479908"/>
                    </a:ext>
                  </a:extLst>
                </a:gridCol>
                <a:gridCol w="1625600">
                  <a:extLst>
                    <a:ext uri="{9D8B030D-6E8A-4147-A177-3AD203B41FA5}">
                      <a16:colId xmlns:a16="http://schemas.microsoft.com/office/drawing/2014/main" val="4086368804"/>
                    </a:ext>
                  </a:extLst>
                </a:gridCol>
                <a:gridCol w="1625600">
                  <a:extLst>
                    <a:ext uri="{9D8B030D-6E8A-4147-A177-3AD203B41FA5}">
                      <a16:colId xmlns:a16="http://schemas.microsoft.com/office/drawing/2014/main" val="97060660"/>
                    </a:ext>
                  </a:extLst>
                </a:gridCol>
                <a:gridCol w="1625600">
                  <a:extLst>
                    <a:ext uri="{9D8B030D-6E8A-4147-A177-3AD203B41FA5}">
                      <a16:colId xmlns:a16="http://schemas.microsoft.com/office/drawing/2014/main" val="3585417345"/>
                    </a:ext>
                  </a:extLst>
                </a:gridCol>
              </a:tblGrid>
              <a:tr h="370840">
                <a:tc>
                  <a:txBody>
                    <a:bodyPr/>
                    <a:lstStyle/>
                    <a:p>
                      <a:endParaRPr lang="en-DK"/>
                    </a:p>
                  </a:txBody>
                  <a:tcPr/>
                </a:tc>
                <a:tc>
                  <a:txBody>
                    <a:bodyPr/>
                    <a:lstStyle/>
                    <a:p>
                      <a:r>
                        <a:rPr lang="en-DK" dirty="0"/>
                        <a:t>S1 cells</a:t>
                      </a:r>
                    </a:p>
                  </a:txBody>
                  <a:tcPr/>
                </a:tc>
                <a:tc>
                  <a:txBody>
                    <a:bodyPr/>
                    <a:lstStyle/>
                    <a:p>
                      <a:r>
                        <a:rPr lang="en-DK" dirty="0"/>
                        <a:t>S1 Rel ab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S2 cells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S2 Rel ab %</a:t>
                      </a:r>
                    </a:p>
                  </a:txBody>
                  <a:tcPr/>
                </a:tc>
                <a:extLst>
                  <a:ext uri="{0D108BD9-81ED-4DB2-BD59-A6C34878D82A}">
                    <a16:rowId xmlns:a16="http://schemas.microsoft.com/office/drawing/2014/main" val="675318643"/>
                  </a:ext>
                </a:extLst>
              </a:tr>
              <a:tr h="370840">
                <a:tc>
                  <a:txBody>
                    <a:bodyPr/>
                    <a:lstStyle/>
                    <a:p>
                      <a:r>
                        <a:rPr lang="en-DK" dirty="0"/>
                        <a:t>Taxa 1</a:t>
                      </a:r>
                    </a:p>
                  </a:txBody>
                  <a:tcPr/>
                </a:tc>
                <a:tc>
                  <a:txBody>
                    <a:bodyPr/>
                    <a:lstStyle/>
                    <a:p>
                      <a:r>
                        <a:rPr lang="en-DK" dirty="0"/>
                        <a:t>250</a:t>
                      </a:r>
                    </a:p>
                  </a:txBody>
                  <a:tcPr/>
                </a:tc>
                <a:tc>
                  <a:txBody>
                    <a:bodyPr/>
                    <a:lstStyle/>
                    <a:p>
                      <a:r>
                        <a:rPr lang="en-DK" dirty="0"/>
                        <a:t>25</a:t>
                      </a:r>
                    </a:p>
                  </a:txBody>
                  <a:tcPr/>
                </a:tc>
                <a:tc>
                  <a:txBody>
                    <a:bodyPr/>
                    <a:lstStyle/>
                    <a:p>
                      <a:r>
                        <a:rPr lang="en-DK" dirty="0"/>
                        <a:t>250</a:t>
                      </a:r>
                    </a:p>
                  </a:txBody>
                  <a:tcPr/>
                </a:tc>
                <a:tc>
                  <a:txBody>
                    <a:bodyPr/>
                    <a:lstStyle/>
                    <a:p>
                      <a:r>
                        <a:rPr lang="en-DK" dirty="0"/>
                        <a:t>33.33</a:t>
                      </a:r>
                    </a:p>
                  </a:txBody>
                  <a:tcPr/>
                </a:tc>
                <a:extLst>
                  <a:ext uri="{0D108BD9-81ED-4DB2-BD59-A6C34878D82A}">
                    <a16:rowId xmlns:a16="http://schemas.microsoft.com/office/drawing/2014/main" val="1169449457"/>
                  </a:ext>
                </a:extLst>
              </a:tr>
              <a:tr h="370840">
                <a:tc>
                  <a:txBody>
                    <a:bodyPr/>
                    <a:lstStyle/>
                    <a:p>
                      <a:r>
                        <a:rPr lang="en-DK" dirty="0"/>
                        <a:t>Taxa 2</a:t>
                      </a:r>
                    </a:p>
                  </a:txBody>
                  <a:tcPr/>
                </a:tc>
                <a:tc>
                  <a:txBody>
                    <a:bodyPr/>
                    <a:lstStyle/>
                    <a:p>
                      <a:r>
                        <a:rPr lang="en-DK" dirty="0"/>
                        <a:t>250</a:t>
                      </a:r>
                    </a:p>
                  </a:txBody>
                  <a:tcPr/>
                </a:tc>
                <a:tc>
                  <a:txBody>
                    <a:bodyPr/>
                    <a:lstStyle/>
                    <a:p>
                      <a:r>
                        <a:rPr lang="en-DK" dirty="0"/>
                        <a:t>25</a:t>
                      </a:r>
                    </a:p>
                  </a:txBody>
                  <a:tcPr/>
                </a:tc>
                <a:tc>
                  <a:txBody>
                    <a:bodyPr/>
                    <a:lstStyle/>
                    <a:p>
                      <a:r>
                        <a:rPr lang="en-DK" dirty="0"/>
                        <a:t>250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33.33</a:t>
                      </a:r>
                    </a:p>
                  </a:txBody>
                  <a:tcPr/>
                </a:tc>
                <a:extLst>
                  <a:ext uri="{0D108BD9-81ED-4DB2-BD59-A6C34878D82A}">
                    <a16:rowId xmlns:a16="http://schemas.microsoft.com/office/drawing/2014/main" val="802690523"/>
                  </a:ext>
                </a:extLst>
              </a:tr>
              <a:tr h="370840">
                <a:tc>
                  <a:txBody>
                    <a:bodyPr/>
                    <a:lstStyle/>
                    <a:p>
                      <a:r>
                        <a:rPr lang="en-DK" dirty="0"/>
                        <a:t>Taxa 3</a:t>
                      </a:r>
                    </a:p>
                  </a:txBody>
                  <a:tcPr/>
                </a:tc>
                <a:tc>
                  <a:txBody>
                    <a:bodyPr/>
                    <a:lstStyle/>
                    <a:p>
                      <a:r>
                        <a:rPr lang="en-DK" dirty="0"/>
                        <a:t>300</a:t>
                      </a:r>
                    </a:p>
                  </a:txBody>
                  <a:tcPr/>
                </a:tc>
                <a:tc>
                  <a:txBody>
                    <a:bodyPr/>
                    <a:lstStyle/>
                    <a:p>
                      <a:r>
                        <a:rPr lang="en-DK" dirty="0"/>
                        <a:t>30</a:t>
                      </a:r>
                    </a:p>
                  </a:txBody>
                  <a:tcPr/>
                </a:tc>
                <a:tc>
                  <a:txBody>
                    <a:bodyPr/>
                    <a:lstStyle/>
                    <a:p>
                      <a:r>
                        <a:rPr lang="en-DK" dirty="0"/>
                        <a:t>50</a:t>
                      </a:r>
                    </a:p>
                  </a:txBody>
                  <a:tcPr/>
                </a:tc>
                <a:tc>
                  <a:txBody>
                    <a:bodyPr/>
                    <a:lstStyle/>
                    <a:p>
                      <a:r>
                        <a:rPr lang="en-DK" dirty="0"/>
                        <a:t>6.67</a:t>
                      </a:r>
                    </a:p>
                  </a:txBody>
                  <a:tcPr/>
                </a:tc>
                <a:extLst>
                  <a:ext uri="{0D108BD9-81ED-4DB2-BD59-A6C34878D82A}">
                    <a16:rowId xmlns:a16="http://schemas.microsoft.com/office/drawing/2014/main" val="2547255210"/>
                  </a:ext>
                </a:extLst>
              </a:tr>
              <a:tr h="370840">
                <a:tc>
                  <a:txBody>
                    <a:bodyPr/>
                    <a:lstStyle/>
                    <a:p>
                      <a:r>
                        <a:rPr lang="en-DK" dirty="0"/>
                        <a:t>Taxa 4</a:t>
                      </a:r>
                    </a:p>
                  </a:txBody>
                  <a:tcPr/>
                </a:tc>
                <a:tc>
                  <a:txBody>
                    <a:bodyPr/>
                    <a:lstStyle/>
                    <a:p>
                      <a:r>
                        <a:rPr lang="en-DK" dirty="0"/>
                        <a:t>200</a:t>
                      </a:r>
                    </a:p>
                  </a:txBody>
                  <a:tcPr/>
                </a:tc>
                <a:tc>
                  <a:txBody>
                    <a:bodyPr/>
                    <a:lstStyle/>
                    <a:p>
                      <a:r>
                        <a:rPr lang="en-DK" dirty="0"/>
                        <a:t>20</a:t>
                      </a:r>
                    </a:p>
                  </a:txBody>
                  <a:tcPr/>
                </a:tc>
                <a:tc>
                  <a:txBody>
                    <a:bodyPr/>
                    <a:lstStyle/>
                    <a:p>
                      <a:r>
                        <a:rPr lang="en-DK" dirty="0"/>
                        <a:t>200</a:t>
                      </a:r>
                    </a:p>
                  </a:txBody>
                  <a:tcPr/>
                </a:tc>
                <a:tc>
                  <a:txBody>
                    <a:bodyPr/>
                    <a:lstStyle/>
                    <a:p>
                      <a:r>
                        <a:rPr lang="en-DK" dirty="0"/>
                        <a:t>26.67</a:t>
                      </a:r>
                    </a:p>
                  </a:txBody>
                  <a:tcPr/>
                </a:tc>
                <a:extLst>
                  <a:ext uri="{0D108BD9-81ED-4DB2-BD59-A6C34878D82A}">
                    <a16:rowId xmlns:a16="http://schemas.microsoft.com/office/drawing/2014/main" val="1052934961"/>
                  </a:ext>
                </a:extLst>
              </a:tr>
              <a:tr h="370840">
                <a:tc>
                  <a:txBody>
                    <a:bodyPr/>
                    <a:lstStyle/>
                    <a:p>
                      <a:r>
                        <a:rPr lang="en-DK" dirty="0"/>
                        <a:t>Total </a:t>
                      </a:r>
                    </a:p>
                  </a:txBody>
                  <a:tcPr/>
                </a:tc>
                <a:tc>
                  <a:txBody>
                    <a:bodyPr/>
                    <a:lstStyle/>
                    <a:p>
                      <a:r>
                        <a:rPr lang="en-DK" dirty="0"/>
                        <a:t>1000</a:t>
                      </a:r>
                    </a:p>
                  </a:txBody>
                  <a:tcPr/>
                </a:tc>
                <a:tc>
                  <a:txBody>
                    <a:bodyPr/>
                    <a:lstStyle/>
                    <a:p>
                      <a:r>
                        <a:rPr lang="en-DK" dirty="0"/>
                        <a:t>100</a:t>
                      </a:r>
                    </a:p>
                  </a:txBody>
                  <a:tcPr/>
                </a:tc>
                <a:tc>
                  <a:txBody>
                    <a:bodyPr/>
                    <a:lstStyle/>
                    <a:p>
                      <a:r>
                        <a:rPr lang="en-DK" dirty="0"/>
                        <a:t>750</a:t>
                      </a:r>
                    </a:p>
                  </a:txBody>
                  <a:tcPr/>
                </a:tc>
                <a:tc>
                  <a:txBody>
                    <a:bodyPr/>
                    <a:lstStyle/>
                    <a:p>
                      <a:r>
                        <a:rPr lang="en-DK" dirty="0"/>
                        <a:t>100</a:t>
                      </a:r>
                    </a:p>
                  </a:txBody>
                  <a:tcPr/>
                </a:tc>
                <a:extLst>
                  <a:ext uri="{0D108BD9-81ED-4DB2-BD59-A6C34878D82A}">
                    <a16:rowId xmlns:a16="http://schemas.microsoft.com/office/drawing/2014/main" val="283180886"/>
                  </a:ext>
                </a:extLst>
              </a:tr>
            </a:tbl>
          </a:graphicData>
        </a:graphic>
      </p:graphicFrame>
      <p:sp>
        <p:nvSpPr>
          <p:cNvPr id="5" name="TextBox 4">
            <a:extLst>
              <a:ext uri="{FF2B5EF4-FFF2-40B4-BE49-F238E27FC236}">
                <a16:creationId xmlns:a16="http://schemas.microsoft.com/office/drawing/2014/main" id="{11BBB3E0-535D-4FC8-4500-B23EB8165D4A}"/>
              </a:ext>
            </a:extLst>
          </p:cNvPr>
          <p:cNvSpPr txBox="1"/>
          <p:nvPr/>
        </p:nvSpPr>
        <p:spPr>
          <a:xfrm>
            <a:off x="1454727" y="4750092"/>
            <a:ext cx="9282546" cy="1815882"/>
          </a:xfrm>
          <a:prstGeom prst="rect">
            <a:avLst/>
          </a:prstGeom>
          <a:noFill/>
        </p:spPr>
        <p:txBody>
          <a:bodyPr wrap="square" rtlCol="0">
            <a:spAutoFit/>
          </a:bodyPr>
          <a:lstStyle/>
          <a:p>
            <a:pPr marL="285750" indent="-285750">
              <a:buFont typeface="Arial" panose="020B0604020202020204" pitchFamily="34" charset="0"/>
              <a:buChar char="•"/>
            </a:pPr>
            <a:r>
              <a:rPr lang="en-DK" sz="1600" dirty="0"/>
              <a:t>Only Taxon 3 reduced its abundance after antibiotic treament, but 1,2, and 4 seem that they increase</a:t>
            </a:r>
          </a:p>
          <a:p>
            <a:pPr marL="285750" indent="-285750">
              <a:buFont typeface="Arial" panose="020B0604020202020204" pitchFamily="34" charset="0"/>
              <a:buChar char="•"/>
            </a:pPr>
            <a:r>
              <a:rPr lang="en-DK" sz="1600" dirty="0"/>
              <a:t>Affects downstream analysis and interpretations</a:t>
            </a:r>
          </a:p>
          <a:p>
            <a:pPr marL="742950" lvl="1" indent="-285750">
              <a:buFont typeface="Arial" panose="020B0604020202020204" pitchFamily="34" charset="0"/>
              <a:buChar char="•"/>
            </a:pPr>
            <a:r>
              <a:rPr lang="en-DK" sz="1600" dirty="0"/>
              <a:t>e.g. correlations or regression assume independent variables</a:t>
            </a:r>
          </a:p>
          <a:p>
            <a:pPr marL="742950" lvl="1" indent="-285750">
              <a:buFont typeface="Arial" panose="020B0604020202020204" pitchFamily="34" charset="0"/>
              <a:buChar char="•"/>
            </a:pPr>
            <a:r>
              <a:rPr lang="en-DK" sz="1600" dirty="0"/>
              <a:t>analysis alternatives and data transformations have been proposed: center-log-ration transformation (clr), ALDEx2, ANCOM</a:t>
            </a:r>
          </a:p>
          <a:p>
            <a:pPr marL="742950" lvl="1" indent="-285750">
              <a:buFont typeface="Arial" panose="020B0604020202020204" pitchFamily="34" charset="0"/>
              <a:buChar char="•"/>
            </a:pPr>
            <a:r>
              <a:rPr lang="en-DK" sz="1600" dirty="0"/>
              <a:t>however, they introduce </a:t>
            </a:r>
            <a:r>
              <a:rPr lang="en-GB" sz="1600" dirty="0"/>
              <a:t>practical limitations — especially with zero handling, computational cost, and difficult interpretation</a:t>
            </a:r>
            <a:endParaRPr lang="en-DK" sz="1600" dirty="0"/>
          </a:p>
        </p:txBody>
      </p:sp>
      <p:sp>
        <p:nvSpPr>
          <p:cNvPr id="6" name="TextBox 5">
            <a:extLst>
              <a:ext uri="{FF2B5EF4-FFF2-40B4-BE49-F238E27FC236}">
                <a16:creationId xmlns:a16="http://schemas.microsoft.com/office/drawing/2014/main" id="{1E306F24-01F6-6587-BD82-BB4FD6190EB2}"/>
              </a:ext>
            </a:extLst>
          </p:cNvPr>
          <p:cNvSpPr txBox="1"/>
          <p:nvPr/>
        </p:nvSpPr>
        <p:spPr>
          <a:xfrm>
            <a:off x="891944" y="1090643"/>
            <a:ext cx="10515600" cy="830997"/>
          </a:xfrm>
          <a:prstGeom prst="rect">
            <a:avLst/>
          </a:prstGeom>
          <a:noFill/>
        </p:spPr>
        <p:txBody>
          <a:bodyPr wrap="square" rtlCol="0">
            <a:spAutoFit/>
          </a:bodyPr>
          <a:lstStyle/>
          <a:p>
            <a:r>
              <a:rPr lang="en-DK" sz="1600" dirty="0"/>
              <a:t>Consider read counts as a proxy for cell abundance (not perfect as 16S gene can have multiple gene copies in some genomes, and in shotgun metagenomics we have different genome sizes – larger genomes contributing with more reads per cell, extraction efficiency, lib</a:t>
            </a:r>
            <a:r>
              <a:rPr lang="en-GB" sz="1600" dirty="0"/>
              <a:t>r</a:t>
            </a:r>
            <a:r>
              <a:rPr lang="en-DK" sz="1600" dirty="0"/>
              <a:t>ary prep bias, etc ...)</a:t>
            </a:r>
          </a:p>
        </p:txBody>
      </p:sp>
    </p:spTree>
    <p:extLst>
      <p:ext uri="{BB962C8B-B14F-4D97-AF65-F5344CB8AC3E}">
        <p14:creationId xmlns:p14="http://schemas.microsoft.com/office/powerpoint/2010/main" val="39324414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62714-F276-4CF3-F82E-9FDCE5F77D78}"/>
              </a:ext>
            </a:extLst>
          </p:cNvPr>
          <p:cNvSpPr>
            <a:spLocks noGrp="1"/>
          </p:cNvSpPr>
          <p:nvPr>
            <p:ph type="title"/>
          </p:nvPr>
        </p:nvSpPr>
        <p:spPr/>
        <p:txBody>
          <a:bodyPr/>
          <a:lstStyle/>
          <a:p>
            <a:r>
              <a:rPr lang="en-DK" dirty="0"/>
              <a:t>Ideal scenario: absolute abundances</a:t>
            </a:r>
          </a:p>
        </p:txBody>
      </p:sp>
      <p:sp>
        <p:nvSpPr>
          <p:cNvPr id="4" name="TextBox 3">
            <a:extLst>
              <a:ext uri="{FF2B5EF4-FFF2-40B4-BE49-F238E27FC236}">
                <a16:creationId xmlns:a16="http://schemas.microsoft.com/office/drawing/2014/main" id="{A57867A6-808A-252C-742A-DF82F00AB161}"/>
              </a:ext>
            </a:extLst>
          </p:cNvPr>
          <p:cNvSpPr txBox="1"/>
          <p:nvPr/>
        </p:nvSpPr>
        <p:spPr>
          <a:xfrm>
            <a:off x="1274618" y="1981200"/>
            <a:ext cx="9601200" cy="2031325"/>
          </a:xfrm>
          <a:prstGeom prst="rect">
            <a:avLst/>
          </a:prstGeom>
          <a:solidFill>
            <a:schemeClr val="accent6">
              <a:lumMod val="20000"/>
              <a:lumOff val="80000"/>
            </a:schemeClr>
          </a:solidFill>
        </p:spPr>
        <p:txBody>
          <a:bodyPr wrap="square" rtlCol="0">
            <a:spAutoFit/>
          </a:bodyPr>
          <a:lstStyle/>
          <a:p>
            <a:r>
              <a:rPr lang="en-GB" dirty="0"/>
              <a:t>If we want to know </a:t>
            </a:r>
            <a:r>
              <a:rPr lang="en-GB" b="1" dirty="0"/>
              <a:t>true cell counts</a:t>
            </a:r>
            <a:r>
              <a:rPr lang="en-GB" dirty="0"/>
              <a:t>, we need to:</a:t>
            </a:r>
          </a:p>
          <a:p>
            <a:endParaRPr lang="en-GB" dirty="0"/>
          </a:p>
          <a:p>
            <a:pPr marL="285750" indent="-285750">
              <a:buFont typeface="Arial" panose="020B0604020202020204" pitchFamily="34" charset="0"/>
              <a:buChar char="•"/>
            </a:pPr>
            <a:r>
              <a:rPr lang="en-GB" dirty="0"/>
              <a:t>Add </a:t>
            </a:r>
            <a:r>
              <a:rPr lang="en-GB" b="1" dirty="0"/>
              <a:t>internal spike-in controls</a:t>
            </a:r>
            <a:r>
              <a:rPr lang="en-GB" dirty="0"/>
              <a:t> (known amounts of reference DNA).</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Use </a:t>
            </a:r>
            <a:r>
              <a:rPr lang="en-GB" b="1" dirty="0"/>
              <a:t>qPCR or flow cytometry</a:t>
            </a:r>
            <a:r>
              <a:rPr lang="en-GB" dirty="0"/>
              <a:t> to estimate </a:t>
            </a:r>
            <a:r>
              <a:rPr lang="en-GB" b="1" dirty="0"/>
              <a:t>total bacterial load</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This allows you to correct read counts to reflect </a:t>
            </a:r>
            <a:r>
              <a:rPr lang="en-GB" b="1" dirty="0"/>
              <a:t>absolute abundance</a:t>
            </a:r>
            <a:r>
              <a:rPr lang="en-GB" dirty="0"/>
              <a:t>, not just proportions.</a:t>
            </a:r>
          </a:p>
        </p:txBody>
      </p:sp>
    </p:spTree>
    <p:extLst>
      <p:ext uri="{BB962C8B-B14F-4D97-AF65-F5344CB8AC3E}">
        <p14:creationId xmlns:p14="http://schemas.microsoft.com/office/powerpoint/2010/main" val="148792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FC0832-A44F-0D84-B6FD-1544DCD731A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45A364-536A-D721-C1AD-EFDA16490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97073CB-7F03-1FD3-1029-72B13237A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Rectangle 10">
            <a:extLst>
              <a:ext uri="{FF2B5EF4-FFF2-40B4-BE49-F238E27FC236}">
                <a16:creationId xmlns:a16="http://schemas.microsoft.com/office/drawing/2014/main" id="{5F8430D5-BD88-5D05-103E-906C7B8C8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84065C-9D49-AF22-A29E-0F08BC21D525}"/>
              </a:ext>
            </a:extLst>
          </p:cNvPr>
          <p:cNvSpPr>
            <a:spLocks noGrp="1"/>
          </p:cNvSpPr>
          <p:nvPr>
            <p:ph type="title"/>
          </p:nvPr>
        </p:nvSpPr>
        <p:spPr>
          <a:xfrm>
            <a:off x="3371787" y="1741337"/>
            <a:ext cx="5448730" cy="2387918"/>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Diversity measures</a:t>
            </a:r>
          </a:p>
        </p:txBody>
      </p:sp>
      <p:grpSp>
        <p:nvGrpSpPr>
          <p:cNvPr id="13" name="Group 12">
            <a:extLst>
              <a:ext uri="{FF2B5EF4-FFF2-40B4-BE49-F238E27FC236}">
                <a16:creationId xmlns:a16="http://schemas.microsoft.com/office/drawing/2014/main" id="{E1C756D9-DE83-837C-2404-15787EA8B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14" name="Freeform: Shape 13">
              <a:extLst>
                <a:ext uri="{FF2B5EF4-FFF2-40B4-BE49-F238E27FC236}">
                  <a16:creationId xmlns:a16="http://schemas.microsoft.com/office/drawing/2014/main" id="{622EBF24-38B5-1960-EEA4-69112B644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7737116-0ED8-FBAE-DEFD-A8FBA92D16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7346260-92E3-0680-7D7F-D528BE36C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83F5C54-D84A-5BA7-FDA2-C5C68765C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4F130C4B-1B33-E3FD-5663-7AB7AB0280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0" name="Freeform: Shape 19">
              <a:extLst>
                <a:ext uri="{FF2B5EF4-FFF2-40B4-BE49-F238E27FC236}">
                  <a16:creationId xmlns:a16="http://schemas.microsoft.com/office/drawing/2014/main" id="{C7B1A534-3E64-B85F-AC58-564191C90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99ABAC8-95DE-F01D-87D4-6DCDC0B6D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28E83A-16C5-85F5-434F-143E2A4740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397A128E-77B4-F9E8-AA56-B4BF35E12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44231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8420FA-E99E-A871-07BB-5BFFC106C0D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8073478F-D770-E127-57AB-FDEBEBE4D443}"/>
              </a:ext>
            </a:extLst>
          </p:cNvPr>
          <p:cNvSpPr>
            <a:spLocks noGrp="1"/>
          </p:cNvSpPr>
          <p:nvPr>
            <p:ph type="title"/>
          </p:nvPr>
        </p:nvSpPr>
        <p:spPr>
          <a:xfrm>
            <a:off x="520099" y="448056"/>
            <a:ext cx="4245864" cy="1719072"/>
          </a:xfrm>
        </p:spPr>
        <p:txBody>
          <a:bodyPr vert="horz" lIns="91440" tIns="45720" rIns="91440" bIns="45720" rtlCol="0" anchor="b">
            <a:normAutofit/>
          </a:bodyPr>
          <a:lstStyle/>
          <a:p>
            <a:r>
              <a:rPr lang="en-US" sz="3800" kern="1200" dirty="0">
                <a:solidFill>
                  <a:schemeClr val="tx1"/>
                </a:solidFill>
                <a:latin typeface="+mj-lt"/>
                <a:ea typeface="+mj-ea"/>
                <a:cs typeface="+mj-cs"/>
              </a:rPr>
              <a:t>Diversity measures: Alpha diversity</a:t>
            </a:r>
          </a:p>
        </p:txBody>
      </p:sp>
      <p:sp>
        <p:nvSpPr>
          <p:cNvPr id="2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B257359-7FDB-A58F-1857-E7536BD00AC5}"/>
              </a:ext>
            </a:extLst>
          </p:cNvPr>
          <p:cNvSpPr txBox="1"/>
          <p:nvPr/>
        </p:nvSpPr>
        <p:spPr>
          <a:xfrm>
            <a:off x="514299" y="2677080"/>
            <a:ext cx="4708865" cy="3410712"/>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dirty="0"/>
              <a:t>Diversity within a sample</a:t>
            </a:r>
          </a:p>
          <a:p>
            <a:pPr lvl="1" indent="-228600">
              <a:lnSpc>
                <a:spcPct val="90000"/>
              </a:lnSpc>
              <a:spcAft>
                <a:spcPts val="600"/>
              </a:spcAft>
              <a:buFont typeface="Arial" panose="020B0604020202020204" pitchFamily="34" charset="0"/>
              <a:buChar char="•"/>
            </a:pPr>
            <a:r>
              <a:rPr lang="en-US" b="1" dirty="0"/>
              <a:t>Richness</a:t>
            </a:r>
            <a:r>
              <a:rPr lang="en-US" dirty="0"/>
              <a:t>: number of unique taxa found in a sample (species, OTUs, ASVs,…)</a:t>
            </a:r>
          </a:p>
          <a:p>
            <a:pPr lvl="1" indent="-228600">
              <a:lnSpc>
                <a:spcPct val="90000"/>
              </a:lnSpc>
              <a:spcAft>
                <a:spcPts val="600"/>
              </a:spcAft>
              <a:buFont typeface="Arial" panose="020B0604020202020204" pitchFamily="34" charset="0"/>
              <a:buChar char="•"/>
            </a:pPr>
            <a:r>
              <a:rPr lang="en-US" b="1" dirty="0"/>
              <a:t>Shannon Index</a:t>
            </a:r>
            <a:r>
              <a:rPr lang="en-US" dirty="0"/>
              <a:t>: Accounts for both richness and evenness (how balanced the community is)</a:t>
            </a:r>
          </a:p>
          <a:p>
            <a:pPr lvl="2" indent="-228600">
              <a:lnSpc>
                <a:spcPct val="90000"/>
              </a:lnSpc>
              <a:spcAft>
                <a:spcPts val="600"/>
              </a:spcAft>
              <a:buFont typeface="Arial" panose="020B0604020202020204" pitchFamily="34" charset="0"/>
              <a:buChar char="•"/>
            </a:pPr>
            <a:r>
              <a:rPr lang="en-US" b="1" dirty="0"/>
              <a:t>Higher values</a:t>
            </a:r>
            <a:r>
              <a:rPr lang="en-US" dirty="0"/>
              <a:t> = More diverse and evenly distributed community</a:t>
            </a:r>
          </a:p>
          <a:p>
            <a:pPr lvl="1" indent="-228600">
              <a:lnSpc>
                <a:spcPct val="90000"/>
              </a:lnSpc>
              <a:spcAft>
                <a:spcPts val="600"/>
              </a:spcAft>
              <a:buFont typeface="Arial" panose="020B0604020202020204" pitchFamily="34" charset="0"/>
              <a:buChar char="•"/>
            </a:pPr>
            <a:r>
              <a:rPr lang="en-US" dirty="0"/>
              <a:t>Other indices: Simpson, Chao1, Faith’s PD (for phylogenetic diversity)</a:t>
            </a:r>
          </a:p>
          <a:p>
            <a:pPr lvl="1" indent="-228600">
              <a:lnSpc>
                <a:spcPct val="90000"/>
              </a:lnSpc>
              <a:spcAft>
                <a:spcPts val="600"/>
              </a:spcAft>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D189D350-6BCE-DDF4-E6BF-693E95AFD9BD}"/>
              </a:ext>
            </a:extLst>
          </p:cNvPr>
          <p:cNvPicPr>
            <a:picLocks noChangeAspect="1"/>
          </p:cNvPicPr>
          <p:nvPr/>
        </p:nvPicPr>
        <p:blipFill>
          <a:blip r:embed="rId3"/>
          <a:stretch>
            <a:fillRect/>
          </a:stretch>
        </p:blipFill>
        <p:spPr>
          <a:xfrm>
            <a:off x="5108460" y="2573756"/>
            <a:ext cx="6903720" cy="3617360"/>
          </a:xfrm>
          <a:prstGeom prst="rect">
            <a:avLst/>
          </a:prstGeom>
        </p:spPr>
      </p:pic>
      <p:pic>
        <p:nvPicPr>
          <p:cNvPr id="7" name="Picture 6" descr="A black background with white text&#10;&#10;AI-generated content may be incorrect.">
            <a:extLst>
              <a:ext uri="{FF2B5EF4-FFF2-40B4-BE49-F238E27FC236}">
                <a16:creationId xmlns:a16="http://schemas.microsoft.com/office/drawing/2014/main" id="{5EBF6C7B-D2EE-A52D-D08B-C9081378EC83}"/>
              </a:ext>
            </a:extLst>
          </p:cNvPr>
          <p:cNvPicPr>
            <a:picLocks noChangeAspect="1"/>
          </p:cNvPicPr>
          <p:nvPr/>
        </p:nvPicPr>
        <p:blipFill>
          <a:blip r:embed="rId4"/>
          <a:stretch>
            <a:fillRect/>
          </a:stretch>
        </p:blipFill>
        <p:spPr>
          <a:xfrm>
            <a:off x="8719492" y="666884"/>
            <a:ext cx="1915114" cy="762137"/>
          </a:xfrm>
          <a:prstGeom prst="rect">
            <a:avLst/>
          </a:prstGeom>
        </p:spPr>
      </p:pic>
      <p:sp>
        <p:nvSpPr>
          <p:cNvPr id="9" name="TextBox 8">
            <a:extLst>
              <a:ext uri="{FF2B5EF4-FFF2-40B4-BE49-F238E27FC236}">
                <a16:creationId xmlns:a16="http://schemas.microsoft.com/office/drawing/2014/main" id="{6CB17419-C877-1B1C-4D2B-D566C1E0EB26}"/>
              </a:ext>
            </a:extLst>
          </p:cNvPr>
          <p:cNvSpPr txBox="1"/>
          <p:nvPr/>
        </p:nvSpPr>
        <p:spPr>
          <a:xfrm>
            <a:off x="5976050" y="1014320"/>
            <a:ext cx="4047781" cy="1785104"/>
          </a:xfrm>
          <a:prstGeom prst="rect">
            <a:avLst/>
          </a:prstGeom>
          <a:noFill/>
        </p:spPr>
        <p:txBody>
          <a:bodyPr wrap="square" rtlCol="0">
            <a:spAutoFit/>
          </a:bodyPr>
          <a:lstStyle/>
          <a:p>
            <a:pPr lvl="2" indent="-228600">
              <a:lnSpc>
                <a:spcPct val="90000"/>
              </a:lnSpc>
              <a:spcAft>
                <a:spcPts val="600"/>
              </a:spcAft>
              <a:buFont typeface="Arial" panose="020B0604020202020204" pitchFamily="34" charset="0"/>
              <a:buChar char="•"/>
            </a:pPr>
            <a:r>
              <a:rPr lang="en-US" sz="1600" dirty="0"/>
              <a:t>Shannon index:</a:t>
            </a:r>
          </a:p>
          <a:p>
            <a:pPr marL="971550" lvl="2">
              <a:lnSpc>
                <a:spcPct val="90000"/>
              </a:lnSpc>
              <a:spcAft>
                <a:spcPts val="600"/>
              </a:spcAft>
            </a:pPr>
            <a:endParaRPr lang="en-US" sz="1600" dirty="0"/>
          </a:p>
          <a:p>
            <a:pPr marL="1200150" lvl="2" indent="-228600">
              <a:lnSpc>
                <a:spcPct val="90000"/>
              </a:lnSpc>
              <a:spcAft>
                <a:spcPts val="600"/>
              </a:spcAft>
              <a:buFont typeface="Arial" panose="020B0604020202020204" pitchFamily="34" charset="0"/>
              <a:buChar char="•"/>
            </a:pPr>
            <a:r>
              <a:rPr lang="en-US" sz="1600" dirty="0"/>
              <a:t>S = total number of species</a:t>
            </a:r>
          </a:p>
          <a:p>
            <a:pPr marL="1200150" lvl="2" indent="-228600">
              <a:lnSpc>
                <a:spcPct val="90000"/>
              </a:lnSpc>
              <a:spcAft>
                <a:spcPts val="600"/>
              </a:spcAft>
              <a:buFont typeface="Arial" panose="020B0604020202020204" pitchFamily="34" charset="0"/>
              <a:buChar char="•"/>
            </a:pPr>
            <a:r>
              <a:rPr lang="en-US" sz="1600" dirty="0"/>
              <a:t>pi = proportion of species </a:t>
            </a:r>
            <a:r>
              <a:rPr lang="en-US" sz="1600" i="1" dirty="0" err="1"/>
              <a:t>i</a:t>
            </a:r>
            <a:r>
              <a:rPr lang="en-US" sz="1600" dirty="0"/>
              <a:t> in the sample</a:t>
            </a:r>
          </a:p>
          <a:p>
            <a:endParaRPr lang="en-DK" dirty="0"/>
          </a:p>
        </p:txBody>
      </p:sp>
      <p:sp>
        <p:nvSpPr>
          <p:cNvPr id="2" name="TextBox 1">
            <a:extLst>
              <a:ext uri="{FF2B5EF4-FFF2-40B4-BE49-F238E27FC236}">
                <a16:creationId xmlns:a16="http://schemas.microsoft.com/office/drawing/2014/main" id="{B564F97E-C9A8-DC1C-9DCD-C2CF18F93D70}"/>
              </a:ext>
            </a:extLst>
          </p:cNvPr>
          <p:cNvSpPr txBox="1"/>
          <p:nvPr/>
        </p:nvSpPr>
        <p:spPr>
          <a:xfrm>
            <a:off x="6919577" y="6370669"/>
            <a:ext cx="3794760" cy="307777"/>
          </a:xfrm>
          <a:prstGeom prst="rect">
            <a:avLst/>
          </a:prstGeom>
          <a:noFill/>
        </p:spPr>
        <p:txBody>
          <a:bodyPr wrap="square" rtlCol="0">
            <a:spAutoFit/>
          </a:bodyPr>
          <a:lstStyle/>
          <a:p>
            <a:r>
              <a:rPr lang="en-GB" sz="1400" dirty="0">
                <a:hlinkClick r:id="rId5"/>
              </a:rPr>
              <a:t>https://pubmed.ncbi.nlm.nih.gov/30349083/</a:t>
            </a:r>
            <a:endParaRPr lang="en-GB" sz="1400" dirty="0"/>
          </a:p>
        </p:txBody>
      </p:sp>
    </p:spTree>
    <p:extLst>
      <p:ext uri="{BB962C8B-B14F-4D97-AF65-F5344CB8AC3E}">
        <p14:creationId xmlns:p14="http://schemas.microsoft.com/office/powerpoint/2010/main" val="2134072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784E65C-6FD5-298E-77E4-6C95331AE1A4}"/>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4600" kern="1200">
                <a:solidFill>
                  <a:schemeClr val="tx1"/>
                </a:solidFill>
                <a:latin typeface="+mj-lt"/>
                <a:ea typeface="+mj-ea"/>
                <a:cs typeface="+mj-cs"/>
              </a:rPr>
              <a:t>Diversity measures: Beta diversity</a:t>
            </a:r>
          </a:p>
        </p:txBody>
      </p:sp>
      <p:sp>
        <p:nvSpPr>
          <p:cNvPr id="1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33F8027-9228-36CB-6407-83B4F82E5B5E}"/>
              </a:ext>
            </a:extLst>
          </p:cNvPr>
          <p:cNvSpPr txBox="1"/>
          <p:nvPr/>
        </p:nvSpPr>
        <p:spPr>
          <a:xfrm>
            <a:off x="523355" y="2489454"/>
            <a:ext cx="5572645" cy="3547872"/>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dirty="0"/>
              <a:t>Diversity between samples (community composition dissimilarity)</a:t>
            </a:r>
          </a:p>
          <a:p>
            <a:pPr indent="-228600">
              <a:lnSpc>
                <a:spcPct val="90000"/>
              </a:lnSpc>
              <a:spcAft>
                <a:spcPts val="600"/>
              </a:spcAft>
              <a:buFont typeface="Arial" panose="020B0604020202020204" pitchFamily="34" charset="0"/>
              <a:buChar char="•"/>
            </a:pPr>
            <a:r>
              <a:rPr lang="en-US" dirty="0"/>
              <a:t>For example:</a:t>
            </a:r>
          </a:p>
          <a:p>
            <a:pPr marL="742950" lvl="1" indent="-228600">
              <a:lnSpc>
                <a:spcPct val="90000"/>
              </a:lnSpc>
              <a:spcAft>
                <a:spcPts val="600"/>
              </a:spcAft>
              <a:buFont typeface="Arial" panose="020B0604020202020204" pitchFamily="34" charset="0"/>
              <a:buChar char="•"/>
            </a:pPr>
            <a:r>
              <a:rPr lang="en-US" b="1" dirty="0"/>
              <a:t>Bray-Curtis dissimilarity</a:t>
            </a:r>
            <a:r>
              <a:rPr lang="en-US" dirty="0"/>
              <a:t> (presence/absence + abundance-weighted)</a:t>
            </a:r>
          </a:p>
          <a:p>
            <a:pPr marL="742950" lvl="1" indent="-228600">
              <a:lnSpc>
                <a:spcPct val="90000"/>
              </a:lnSpc>
              <a:spcAft>
                <a:spcPts val="600"/>
              </a:spcAft>
              <a:buFont typeface="Arial" panose="020B0604020202020204" pitchFamily="34" charset="0"/>
              <a:buChar char="•"/>
            </a:pPr>
            <a:r>
              <a:rPr lang="en-US" b="1" dirty="0"/>
              <a:t>Jaccard distance</a:t>
            </a:r>
            <a:r>
              <a:rPr lang="en-US" dirty="0"/>
              <a:t> (presence/absence)</a:t>
            </a:r>
          </a:p>
          <a:p>
            <a:pPr marL="742950" lvl="1" indent="-228600">
              <a:lnSpc>
                <a:spcPct val="90000"/>
              </a:lnSpc>
              <a:spcAft>
                <a:spcPts val="600"/>
              </a:spcAft>
              <a:buFont typeface="Arial" panose="020B0604020202020204" pitchFamily="34" charset="0"/>
              <a:buChar char="•"/>
            </a:pPr>
            <a:r>
              <a:rPr lang="en-US" b="1" dirty="0" err="1"/>
              <a:t>UniFrac</a:t>
            </a:r>
            <a:r>
              <a:rPr lang="en-US" dirty="0"/>
              <a:t> (phylogenetic distances: weighted/unweighted)</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These distances between samples are calculated based on the abundance and projected on the two first dimensions of a </a:t>
            </a:r>
            <a:r>
              <a:rPr lang="en-US" dirty="0" err="1"/>
              <a:t>PCoA</a:t>
            </a:r>
            <a:r>
              <a:rPr lang="en-US" dirty="0"/>
              <a:t>.</a:t>
            </a:r>
          </a:p>
          <a:p>
            <a:pPr indent="-228600">
              <a:lnSpc>
                <a:spcPct val="90000"/>
              </a:lnSpc>
              <a:spcAft>
                <a:spcPts val="600"/>
              </a:spcAft>
              <a:buFont typeface="Arial" panose="020B0604020202020204" pitchFamily="34" charset="0"/>
              <a:buChar char="•"/>
            </a:pPr>
            <a:r>
              <a:rPr lang="en-US" dirty="0"/>
              <a:t>other ordination methods are also used: NMDS, </a:t>
            </a:r>
            <a:r>
              <a:rPr lang="en-US" dirty="0" err="1"/>
              <a:t>tSNE</a:t>
            </a:r>
            <a:r>
              <a:rPr lang="en-US" dirty="0"/>
              <a:t> or simply PCA,…)</a:t>
            </a:r>
          </a:p>
        </p:txBody>
      </p:sp>
      <p:pic>
        <p:nvPicPr>
          <p:cNvPr id="6" name="Picture 5" descr="A diagram of a diagram&#10;&#10;AI-generated content may be incorrect.">
            <a:extLst>
              <a:ext uri="{FF2B5EF4-FFF2-40B4-BE49-F238E27FC236}">
                <a16:creationId xmlns:a16="http://schemas.microsoft.com/office/drawing/2014/main" id="{1DF1628D-80C7-55E7-6739-7AF2DC3CFF47}"/>
              </a:ext>
            </a:extLst>
          </p:cNvPr>
          <p:cNvPicPr>
            <a:picLocks noChangeAspect="1"/>
          </p:cNvPicPr>
          <p:nvPr/>
        </p:nvPicPr>
        <p:blipFill>
          <a:blip r:embed="rId3"/>
          <a:stretch>
            <a:fillRect/>
          </a:stretch>
        </p:blipFill>
        <p:spPr>
          <a:xfrm>
            <a:off x="6033810" y="820265"/>
            <a:ext cx="5505918" cy="5519717"/>
          </a:xfrm>
          <a:prstGeom prst="rect">
            <a:avLst/>
          </a:prstGeom>
        </p:spPr>
      </p:pic>
      <p:sp>
        <p:nvSpPr>
          <p:cNvPr id="2" name="TextBox 1">
            <a:extLst>
              <a:ext uri="{FF2B5EF4-FFF2-40B4-BE49-F238E27FC236}">
                <a16:creationId xmlns:a16="http://schemas.microsoft.com/office/drawing/2014/main" id="{27230892-937C-975D-3652-06DD00BEC297}"/>
              </a:ext>
            </a:extLst>
          </p:cNvPr>
          <p:cNvSpPr txBox="1"/>
          <p:nvPr/>
        </p:nvSpPr>
        <p:spPr>
          <a:xfrm>
            <a:off x="7285337" y="6445102"/>
            <a:ext cx="3794760" cy="307777"/>
          </a:xfrm>
          <a:prstGeom prst="rect">
            <a:avLst/>
          </a:prstGeom>
          <a:noFill/>
        </p:spPr>
        <p:txBody>
          <a:bodyPr wrap="square" rtlCol="0">
            <a:spAutoFit/>
          </a:bodyPr>
          <a:lstStyle/>
          <a:p>
            <a:r>
              <a:rPr lang="en-GB" sz="1400" dirty="0">
                <a:hlinkClick r:id="rId4"/>
              </a:rPr>
              <a:t>https://pubmed.ncbi.nlm.nih.gov/30349083/</a:t>
            </a:r>
            <a:endParaRPr lang="en-GB" sz="1400" dirty="0"/>
          </a:p>
        </p:txBody>
      </p:sp>
    </p:spTree>
    <p:extLst>
      <p:ext uri="{BB962C8B-B14F-4D97-AF65-F5344CB8AC3E}">
        <p14:creationId xmlns:p14="http://schemas.microsoft.com/office/powerpoint/2010/main" val="15381345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B8558B-750A-4AAC-C05B-AF0A79F5A05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1F606C5-7F12-A8C3-F428-E102D5E7F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0EC7C36-2384-1B41-EC06-489D1AD55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Rectangle 10">
            <a:extLst>
              <a:ext uri="{FF2B5EF4-FFF2-40B4-BE49-F238E27FC236}">
                <a16:creationId xmlns:a16="http://schemas.microsoft.com/office/drawing/2014/main" id="{EA910710-ECEC-345E-F268-29A89076D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F93001-8BB3-2210-FE6F-2C48716E21E0}"/>
              </a:ext>
            </a:extLst>
          </p:cNvPr>
          <p:cNvSpPr>
            <a:spLocks noGrp="1"/>
          </p:cNvSpPr>
          <p:nvPr>
            <p:ph type="title"/>
          </p:nvPr>
        </p:nvSpPr>
        <p:spPr>
          <a:xfrm>
            <a:off x="3371787" y="1741337"/>
            <a:ext cx="5448730" cy="2387918"/>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Challenges and limitations</a:t>
            </a:r>
          </a:p>
        </p:txBody>
      </p:sp>
      <p:grpSp>
        <p:nvGrpSpPr>
          <p:cNvPr id="13" name="Group 12">
            <a:extLst>
              <a:ext uri="{FF2B5EF4-FFF2-40B4-BE49-F238E27FC236}">
                <a16:creationId xmlns:a16="http://schemas.microsoft.com/office/drawing/2014/main" id="{92FB19B2-EA79-F852-266E-EEC3FB98B6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14" name="Freeform: Shape 13">
              <a:extLst>
                <a:ext uri="{FF2B5EF4-FFF2-40B4-BE49-F238E27FC236}">
                  <a16:creationId xmlns:a16="http://schemas.microsoft.com/office/drawing/2014/main" id="{90B7868B-D64C-D75E-C6E4-F3246EA77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37C398D-2D27-7686-D33C-CFBE195A07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58D860A-5BAF-471E-91B0-C85D4A8F8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6715B49-D30E-78AF-03A9-5DDE62021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CF0E4B41-C6EA-83E2-809F-3D2A53235C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0" name="Freeform: Shape 19">
              <a:extLst>
                <a:ext uri="{FF2B5EF4-FFF2-40B4-BE49-F238E27FC236}">
                  <a16:creationId xmlns:a16="http://schemas.microsoft.com/office/drawing/2014/main" id="{B8372E16-2705-6996-C71B-7A0192058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71D6082-7CB1-D9EF-18CB-EB6F05CE0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5399AB2-EB4F-E8F1-4F66-387B85C81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48D4B483-2925-DE8C-1825-F8246C59B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8971050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48541-0746-0372-E58D-B7CD6DAB2728}"/>
              </a:ext>
            </a:extLst>
          </p:cNvPr>
          <p:cNvSpPr>
            <a:spLocks noGrp="1"/>
          </p:cNvSpPr>
          <p:nvPr>
            <p:ph type="title"/>
          </p:nvPr>
        </p:nvSpPr>
        <p:spPr>
          <a:xfrm>
            <a:off x="915884" y="0"/>
            <a:ext cx="10360231" cy="1325563"/>
          </a:xfrm>
        </p:spPr>
        <p:txBody>
          <a:bodyPr>
            <a:normAutofit/>
          </a:bodyPr>
          <a:lstStyle/>
          <a:p>
            <a:r>
              <a:rPr lang="en-DK" sz="3600" dirty="0"/>
              <a:t>Challenges and limitations of metagenomics studies</a:t>
            </a:r>
          </a:p>
        </p:txBody>
      </p:sp>
      <p:sp>
        <p:nvSpPr>
          <p:cNvPr id="3" name="Content Placeholder 2">
            <a:extLst>
              <a:ext uri="{FF2B5EF4-FFF2-40B4-BE49-F238E27FC236}">
                <a16:creationId xmlns:a16="http://schemas.microsoft.com/office/drawing/2014/main" id="{8DD7DDA3-91B9-AADF-4FCB-0F94B3FDCF3B}"/>
              </a:ext>
            </a:extLst>
          </p:cNvPr>
          <p:cNvSpPr>
            <a:spLocks noGrp="1"/>
          </p:cNvSpPr>
          <p:nvPr>
            <p:ph idx="1"/>
          </p:nvPr>
        </p:nvSpPr>
        <p:spPr>
          <a:xfrm>
            <a:off x="1024510" y="1135400"/>
            <a:ext cx="10142977" cy="4899640"/>
          </a:xfrm>
          <a:solidFill>
            <a:schemeClr val="accent6">
              <a:lumMod val="20000"/>
              <a:lumOff val="80000"/>
            </a:schemeClr>
          </a:solidFill>
        </p:spPr>
        <p:txBody>
          <a:bodyPr>
            <a:noAutofit/>
          </a:bodyPr>
          <a:lstStyle/>
          <a:p>
            <a:r>
              <a:rPr lang="en-GB" sz="1800" dirty="0"/>
              <a:t>Shotgun metagenomics have higher cost than 16S amplicon, but you get higher taxonomical resolution and functional information</a:t>
            </a:r>
          </a:p>
          <a:p>
            <a:endParaRPr lang="en-GB" sz="1800" dirty="0"/>
          </a:p>
          <a:p>
            <a:r>
              <a:rPr lang="en-GB" sz="1800" dirty="0"/>
              <a:t>Sampling biases can occur when collecting environmental samples which can also lead to misrepresentation of the microbial community</a:t>
            </a:r>
          </a:p>
          <a:p>
            <a:endParaRPr lang="en-GB" sz="1800" dirty="0"/>
          </a:p>
          <a:p>
            <a:r>
              <a:rPr lang="en-GB" sz="1800" dirty="0"/>
              <a:t>It is also challenging to extract microbes DNA from low biomass samples - highly dependant on the sampling method and its accuracy</a:t>
            </a:r>
          </a:p>
          <a:p>
            <a:endParaRPr lang="en-GB" sz="1800" dirty="0"/>
          </a:p>
          <a:p>
            <a:r>
              <a:rPr lang="en-GB" sz="1800" dirty="0"/>
              <a:t>Microbial genomes available and deposited in reference databases are biased towards model organisms, pathogens, species with industrial potential and cultivable bacteria</a:t>
            </a:r>
          </a:p>
          <a:p>
            <a:endParaRPr lang="en-GB" sz="1800" dirty="0"/>
          </a:p>
          <a:p>
            <a:r>
              <a:rPr lang="en-GB" sz="1800" dirty="0"/>
              <a:t>Metagenomic sequencing can detect the presence of microorganisms but cannot easily determine if they are pathogenic (Do they carry their toxins? Are they active?) </a:t>
            </a:r>
          </a:p>
          <a:p>
            <a:endParaRPr lang="en-GB" sz="1800" dirty="0"/>
          </a:p>
          <a:p>
            <a:endParaRPr lang="en-DK" sz="1800" dirty="0"/>
          </a:p>
        </p:txBody>
      </p:sp>
      <p:sp>
        <p:nvSpPr>
          <p:cNvPr id="4" name="TextBox 3">
            <a:extLst>
              <a:ext uri="{FF2B5EF4-FFF2-40B4-BE49-F238E27FC236}">
                <a16:creationId xmlns:a16="http://schemas.microsoft.com/office/drawing/2014/main" id="{DD3E425A-45AA-13DD-91E7-CD41221A4513}"/>
              </a:ext>
            </a:extLst>
          </p:cNvPr>
          <p:cNvSpPr txBox="1"/>
          <p:nvPr/>
        </p:nvSpPr>
        <p:spPr>
          <a:xfrm>
            <a:off x="8069580" y="6175185"/>
            <a:ext cx="4800600" cy="307777"/>
          </a:xfrm>
          <a:prstGeom prst="rect">
            <a:avLst/>
          </a:prstGeom>
          <a:noFill/>
        </p:spPr>
        <p:txBody>
          <a:bodyPr wrap="square" rtlCol="0">
            <a:spAutoFit/>
          </a:bodyPr>
          <a:lstStyle/>
          <a:p>
            <a:r>
              <a:rPr lang="en-GB" sz="1400" dirty="0">
                <a:hlinkClick r:id="rId3"/>
              </a:rPr>
              <a:t>https://pubmed.ncbi.nlm.nih.gov/28898207/</a:t>
            </a:r>
            <a:endParaRPr lang="en-GB" sz="1400" dirty="0"/>
          </a:p>
        </p:txBody>
      </p:sp>
    </p:spTree>
    <p:extLst>
      <p:ext uri="{BB962C8B-B14F-4D97-AF65-F5344CB8AC3E}">
        <p14:creationId xmlns:p14="http://schemas.microsoft.com/office/powerpoint/2010/main" val="677193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02473D-3A8B-E7F7-4D6C-AEBB20C2B331}"/>
              </a:ext>
            </a:extLst>
          </p:cNvPr>
          <p:cNvSpPr txBox="1"/>
          <p:nvPr/>
        </p:nvSpPr>
        <p:spPr>
          <a:xfrm>
            <a:off x="915884" y="938302"/>
            <a:ext cx="10182001" cy="5614422"/>
          </a:xfrm>
          <a:prstGeom prst="rect">
            <a:avLst/>
          </a:prstGeom>
          <a:solidFill>
            <a:schemeClr val="accent6">
              <a:lumMod val="20000"/>
              <a:lumOff val="80000"/>
            </a:schemeClr>
          </a:solid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ptos" panose="02110004020202020204"/>
                <a:ea typeface="+mn-ea"/>
                <a:cs typeface="+mn-cs"/>
              </a:rPr>
              <a:t>Functional profiling is hindered by the lack of annotation for many genes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ptos" panose="02110004020202020204"/>
                <a:ea typeface="+mn-ea"/>
                <a:cs typeface="+mn-cs"/>
              </a:rPr>
              <a:t>“Microbial dark matter” – microbes not yet characterized can be recovered by assemble-based methods, but still many reads are not used in the assembly – sequencing noise, DNA contamination, and bacteria and plasmids that remain obscure even after some parts of their genomes are assembled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DK" b="0" i="0" u="none" strike="noStrike" kern="1200" cap="none" spc="0" normalizeH="0" baseline="0" noProof="0" dirty="0">
                <a:ln>
                  <a:noFill/>
                </a:ln>
                <a:solidFill>
                  <a:prstClr val="black"/>
                </a:solidFill>
                <a:effectLst/>
                <a:uLnTx/>
                <a:uFillTx/>
                <a:latin typeface="Aptos" panose="02110004020202020204"/>
                <a:ea typeface="+mn-ea"/>
                <a:cs typeface="+mn-cs"/>
              </a:rPr>
              <a:t>“Live or dead” dilemma – DNA persists in the environment after the death of the host cell, sequencing results may not be representative of the active microbial population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DK"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DK" b="0" i="0" u="none" strike="noStrike" kern="1200" cap="none" spc="0" normalizeH="0" baseline="0" noProof="0" dirty="0">
                <a:ln>
                  <a:noFill/>
                </a:ln>
                <a:solidFill>
                  <a:prstClr val="black"/>
                </a:solidFill>
                <a:effectLst/>
                <a:uLnTx/>
                <a:uFillTx/>
                <a:latin typeface="Aptos" panose="02110004020202020204"/>
                <a:ea typeface="+mn-ea"/>
                <a:cs typeface="+mn-cs"/>
              </a:rPr>
              <a:t>Snapshot of the microbiome - many metagenomics studies are cross-sectional and can not assess intra- vs inter-subject variation – more longitudinal studies are needed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DK"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DK" b="0" i="0" u="none" strike="noStrike" kern="1200" cap="none" spc="0" normalizeH="0" baseline="0" noProof="0" dirty="0">
                <a:ln>
                  <a:noFill/>
                </a:ln>
                <a:solidFill>
                  <a:prstClr val="black"/>
                </a:solidFill>
                <a:effectLst/>
                <a:uLnTx/>
                <a:uFillTx/>
                <a:latin typeface="Aptos" panose="02110004020202020204"/>
                <a:ea typeface="+mn-ea"/>
                <a:cs typeface="+mn-cs"/>
              </a:rPr>
              <a:t>Disentangling the cause from the effect – follow ups, longitudinal and prospective studies needed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DK"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DK" b="0" i="0" u="none" strike="noStrike" kern="1200" cap="none" spc="0" normalizeH="0" baseline="0" noProof="0" dirty="0">
                <a:ln>
                  <a:noFill/>
                </a:ln>
                <a:solidFill>
                  <a:prstClr val="black"/>
                </a:solidFill>
                <a:effectLst/>
                <a:uLnTx/>
                <a:uFillTx/>
                <a:latin typeface="Aptos" panose="02110004020202020204"/>
                <a:ea typeface="+mn-ea"/>
                <a:cs typeface="+mn-cs"/>
              </a:rPr>
              <a:t>Metagenomics have not yet reached the level of standardization of other high-throughput techniques</a:t>
            </a:r>
            <a:endParaRPr lang="en-DK" dirty="0"/>
          </a:p>
        </p:txBody>
      </p:sp>
      <p:sp>
        <p:nvSpPr>
          <p:cNvPr id="6" name="Title 1">
            <a:extLst>
              <a:ext uri="{FF2B5EF4-FFF2-40B4-BE49-F238E27FC236}">
                <a16:creationId xmlns:a16="http://schemas.microsoft.com/office/drawing/2014/main" id="{62ED1DF3-684F-74BF-BE1E-C2C04A1EE3BC}"/>
              </a:ext>
            </a:extLst>
          </p:cNvPr>
          <p:cNvSpPr>
            <a:spLocks noGrp="1"/>
          </p:cNvSpPr>
          <p:nvPr>
            <p:ph type="title"/>
          </p:nvPr>
        </p:nvSpPr>
        <p:spPr>
          <a:xfrm>
            <a:off x="826770" y="0"/>
            <a:ext cx="10360231" cy="1325563"/>
          </a:xfrm>
        </p:spPr>
        <p:txBody>
          <a:bodyPr>
            <a:normAutofit/>
          </a:bodyPr>
          <a:lstStyle/>
          <a:p>
            <a:r>
              <a:rPr lang="en-DK" sz="3600" dirty="0"/>
              <a:t>Challenges and limitations of metagenomics studies</a:t>
            </a:r>
          </a:p>
        </p:txBody>
      </p:sp>
      <p:sp>
        <p:nvSpPr>
          <p:cNvPr id="7" name="TextBox 6">
            <a:extLst>
              <a:ext uri="{FF2B5EF4-FFF2-40B4-BE49-F238E27FC236}">
                <a16:creationId xmlns:a16="http://schemas.microsoft.com/office/drawing/2014/main" id="{0449A44B-AD73-6EB1-2673-AB93BEF0E7A2}"/>
              </a:ext>
            </a:extLst>
          </p:cNvPr>
          <p:cNvSpPr txBox="1"/>
          <p:nvPr/>
        </p:nvSpPr>
        <p:spPr>
          <a:xfrm>
            <a:off x="8166398" y="6310810"/>
            <a:ext cx="3829050" cy="307777"/>
          </a:xfrm>
          <a:prstGeom prst="rect">
            <a:avLst/>
          </a:prstGeom>
          <a:noFill/>
        </p:spPr>
        <p:txBody>
          <a:bodyPr wrap="square" rtlCol="0">
            <a:spAutoFit/>
          </a:bodyPr>
          <a:lstStyle/>
          <a:p>
            <a:r>
              <a:rPr lang="en-GB" sz="1400" dirty="0">
                <a:hlinkClick r:id="rId3"/>
              </a:rPr>
              <a:t>https://pubmed.ncbi.nlm.nih.gov/28898207/</a:t>
            </a:r>
            <a:endParaRPr lang="en-GB" sz="1400" dirty="0"/>
          </a:p>
        </p:txBody>
      </p:sp>
    </p:spTree>
    <p:extLst>
      <p:ext uri="{BB962C8B-B14F-4D97-AF65-F5344CB8AC3E}">
        <p14:creationId xmlns:p14="http://schemas.microsoft.com/office/powerpoint/2010/main" val="3123402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79069</TotalTime>
  <Words>7359</Words>
  <Application>Microsoft Macintosh PowerPoint</Application>
  <PresentationFormat>Widescreen</PresentationFormat>
  <Paragraphs>960</Paragraphs>
  <Slides>48</Slides>
  <Notes>43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-apple-system</vt:lpstr>
      <vt:lpstr>Aptos</vt:lpstr>
      <vt:lpstr>Aptos Display</vt:lpstr>
      <vt:lpstr>Arial</vt:lpstr>
      <vt:lpstr>Calibri</vt:lpstr>
      <vt:lpstr>Neue Haas Grotesk Text Pro</vt:lpstr>
      <vt:lpstr>Source Sans Pro</vt:lpstr>
      <vt:lpstr>system-ui</vt:lpstr>
      <vt:lpstr>Wingdings</vt:lpstr>
      <vt:lpstr>Office Theme</vt:lpstr>
      <vt:lpstr>Introduction to Metagenomics</vt:lpstr>
      <vt:lpstr>Impact of microbiome studies in medical and planetary health</vt:lpstr>
      <vt:lpstr>Microbiome has been associated with a variety of diseases </vt:lpstr>
      <vt:lpstr>Obesity associated gut microbiome – a transmissible trait</vt:lpstr>
      <vt:lpstr>The Human Microbiome Project (HMP) </vt:lpstr>
      <vt:lpstr>Richness of human gut microbiome correlates with metabolic markers (lessons of MetaHIT study) </vt:lpstr>
      <vt:lpstr>Fecal material transplantation (FMT) as experimental cure for Clostridioides difficile</vt:lpstr>
      <vt:lpstr>PowerPoint Presentation</vt:lpstr>
      <vt:lpstr>Resident gut bacteria can affect patient responses to cancer immunotherapy</vt:lpstr>
      <vt:lpstr>A genomic catalog of Earth’s microbiome</vt:lpstr>
      <vt:lpstr>Antimicrobial resistance is a major threat to global health! </vt:lpstr>
      <vt:lpstr>Microbial community at the Deepwater Horizon oil spill site</vt:lpstr>
      <vt:lpstr>Global ocean microbiome (Tara oceans)</vt:lpstr>
      <vt:lpstr>What is metagenomics?</vt:lpstr>
      <vt:lpstr>Microbiome definition</vt:lpstr>
      <vt:lpstr>Microbiome definition</vt:lpstr>
      <vt:lpstr>What a microbiome study usually answer?</vt:lpstr>
      <vt:lpstr>What a microbiome study usually answer</vt:lpstr>
      <vt:lpstr>What is Metagenomics?</vt:lpstr>
      <vt:lpstr>Experimental design</vt:lpstr>
      <vt:lpstr>Sample collection</vt:lpstr>
      <vt:lpstr>DNA Extraction</vt:lpstr>
      <vt:lpstr>Sequencing</vt:lpstr>
      <vt:lpstr>Platforms</vt:lpstr>
      <vt:lpstr>Taxonomical profiling</vt:lpstr>
      <vt:lpstr>Taxonomical profiling</vt:lpstr>
      <vt:lpstr>16S amplicon sequencing</vt:lpstr>
      <vt:lpstr>16S amplicon sequencing</vt:lpstr>
      <vt:lpstr>Reference-based methods</vt:lpstr>
      <vt:lpstr>Amplicon and read-based shotgun metagenomics tools</vt:lpstr>
      <vt:lpstr>Assembly-based methods: Metagenome-assembled genomes (MAG)</vt:lpstr>
      <vt:lpstr>MAG construction tools</vt:lpstr>
      <vt:lpstr>Comparing the three methods</vt:lpstr>
      <vt:lpstr>Functional profiling</vt:lpstr>
      <vt:lpstr>Building a microbial gene catalog</vt:lpstr>
      <vt:lpstr>Annotating the gene catalog and getting functional abundance</vt:lpstr>
      <vt:lpstr>Why building a gene catalog?</vt:lpstr>
      <vt:lpstr>Microbiome data</vt:lpstr>
      <vt:lpstr>Microbiome data</vt:lpstr>
      <vt:lpstr>Microbiome data</vt:lpstr>
      <vt:lpstr>Compositional data</vt:lpstr>
      <vt:lpstr>Ideal scenario: absolute abundances</vt:lpstr>
      <vt:lpstr>Diversity measures</vt:lpstr>
      <vt:lpstr>Diversity measures: Alpha diversity</vt:lpstr>
      <vt:lpstr>Diversity measures: Beta diversity</vt:lpstr>
      <vt:lpstr>Challenges and limitations</vt:lpstr>
      <vt:lpstr>Challenges and limitations of metagenomics studies</vt:lpstr>
      <vt:lpstr>Challenges and limitations of metagenomics studies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Alberto Pallejà Caro</dc:creator>
  <cp:lastModifiedBy>Alberto Pallejà Caro</cp:lastModifiedBy>
  <cp:revision>87</cp:revision>
  <cp:lastPrinted>2025-06-10T22:04:30Z</cp:lastPrinted>
  <dcterms:created xsi:type="dcterms:W3CDTF">2025-04-12T18:46:44Z</dcterms:created>
  <dcterms:modified xsi:type="dcterms:W3CDTF">2026-05-02T16:14:20Z</dcterms:modified>
</cp:coreProperties>
</file>