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91" r:id="rId29"/>
    <p:sldId id="264" r:id="rId30"/>
    <p:sldId id="292" r:id="rId31"/>
    <p:sldId id="265" r:id="rId32"/>
    <p:sldId id="293" r:id="rId33"/>
    <p:sldId id="278" r:id="rId34"/>
    <p:sldId id="309" r:id="rId35"/>
    <p:sldId id="288" r:id="rId36"/>
    <p:sldId id="296" r:id="rId37"/>
    <p:sldId id="315" r:id="rId38"/>
    <p:sldId id="312" r:id="rId39"/>
    <p:sldId id="285" r:id="rId40"/>
    <p:sldId id="262" r:id="rId41"/>
    <p:sldId id="294" r:id="rId42"/>
    <p:sldId id="295" r:id="rId43"/>
    <p:sldId id="311" r:id="rId44"/>
    <p:sldId id="284" r:id="rId45"/>
    <p:sldId id="283" r:id="rId46"/>
    <p:sldId id="313" r:id="rId47"/>
    <p:sldId id="261" r:id="rId48"/>
    <p:sldId id="314" r:id="rId49"/>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21"/>
    <p:restoredTop sz="79742"/>
  </p:normalViewPr>
  <p:slideViewPr>
    <p:cSldViewPr snapToGrid="0">
      <p:cViewPr varScale="1">
        <p:scale>
          <a:sx n="107" d="100"/>
          <a:sy n="107" d="100"/>
        </p:scale>
        <p:origin x="904" y="1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dirty="0"/>
            <a:t>How diverse is the microbial community (diversity indices)</a:t>
          </a:r>
          <a:endParaRPr lang="en-US" sz="1600" dirty="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diverse is the microbial community (diversity indices)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09/04/2026</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a:t>
            </a:fld>
            <a:endParaRPr lang="en-DK"/>
          </a:p>
        </p:txBody>
      </p:sp>
    </p:spTree>
    <p:extLst>
      <p:ext uri="{BB962C8B-B14F-4D97-AF65-F5344CB8AC3E}">
        <p14:creationId xmlns:p14="http://schemas.microsoft.com/office/powerpoint/2010/main" val="1210362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a:t>
            </a:r>
            <a:br>
              <a:rPr lang="en-DK" dirty="0"/>
            </a:br>
            <a:br>
              <a:rPr lang="en-DK" dirty="0"/>
            </a:br>
            <a:r>
              <a:rPr lang="en-DK" dirty="0"/>
              <a:t>Microbiome from obese mice had higher capacity to harvest energy from the diet, and less energy left in their feces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consortium published their data based on thousands of samples showing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environmental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The </a:t>
            </a:r>
            <a:r>
              <a:rPr lang="en-GB" sz="1200" dirty="0" err="1"/>
              <a:t>catalog</a:t>
            </a:r>
            <a:r>
              <a:rPr lang="en-GB" sz="1200" dirty="0"/>
              <a:t> allows metabolic modelling, understanding secondary-metabolite biosynthetic potential and resolving thousands of new host linkages to uncultivated viruses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DK" dirty="0"/>
              <a:t>Now we are going to define what is metagenomics</a:t>
            </a:r>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r>
              <a:rPr lang="en-DK" dirty="0"/>
              <a:t>What do you expecto to find in a microbiome?</a:t>
            </a:r>
            <a:br>
              <a:rPr lang="en-DK" dirty="0"/>
            </a:br>
            <a:br>
              <a:rPr lang="en-DK" dirty="0"/>
            </a:br>
            <a:r>
              <a:rPr lang="en-DK" dirty="0"/>
              <a:t>Where do you expect to find microbe communities?</a:t>
            </a:r>
          </a:p>
          <a:p>
            <a:endParaRPr lang="en-DK" dirty="0"/>
          </a:p>
          <a:p>
            <a:r>
              <a:rPr lang="en-DK" dirty="0"/>
              <a:t>What other products you can find in a microbiome sample?</a:t>
            </a:r>
            <a:br>
              <a:rPr lang="en-DK" dirty="0"/>
            </a:br>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sz="1200" dirty="0"/>
              <a:t>Study of the genetic material sampled directly from the environment (fecal, skin, soil, marine,… samples)</a:t>
            </a:r>
          </a:p>
          <a:p>
            <a:endParaRPr lang="en-DK" sz="1200" dirty="0"/>
          </a:p>
          <a:p>
            <a:r>
              <a:rPr lang="en-DK" sz="1200" dirty="0"/>
              <a:t>No need of culturing organisms – many of the organisms that we characterize can not even be cultured – </a:t>
            </a:r>
          </a:p>
          <a:p>
            <a:endParaRPr lang="en-DK" sz="1200" dirty="0"/>
          </a:p>
          <a:p>
            <a:r>
              <a:rPr lang="en-DK" sz="1200" dirty="0"/>
              <a:t>we can study all the organisms in the microbial community</a:t>
            </a:r>
          </a:p>
          <a:p>
            <a:endParaRPr lang="en-DK" sz="1200" dirty="0"/>
          </a:p>
          <a:p>
            <a:r>
              <a:rPr lang="en-DK" sz="1200" dirty="0"/>
              <a:t>Uses </a:t>
            </a:r>
            <a:r>
              <a:rPr lang="en-GB" sz="1200" dirty="0"/>
              <a:t>high-throughput DNA sequencing technology to </a:t>
            </a:r>
            <a:r>
              <a:rPr lang="en-GB" sz="1200" dirty="0" err="1"/>
              <a:t>analyze</a:t>
            </a:r>
            <a:r>
              <a:rPr lang="en-GB" sz="1200" dirty="0"/>
              <a:t> microbial diversity, taxonomical and functional profiles, and microbial interactions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19</a:t>
            </a:fld>
            <a:endParaRPr lang="en-DK"/>
          </a:p>
        </p:txBody>
      </p:sp>
    </p:spTree>
    <p:extLst>
      <p:ext uri="{BB962C8B-B14F-4D97-AF65-F5344CB8AC3E}">
        <p14:creationId xmlns:p14="http://schemas.microsoft.com/office/powerpoint/2010/main" val="2186133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procedure in metagenomics is the one presented in this slide:</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Then prior to DNA sequencing in the library preparation the </a:t>
            </a:r>
            <a:r>
              <a:rPr lang="en-GB" dirty="0" err="1"/>
              <a:t>Dna</a:t>
            </a:r>
            <a:r>
              <a:rPr lang="en-GB" dirty="0"/>
              <a:t> is fragmented into small reads of the same length, end are repaired and adapters are ligated. Then sequencing starts!</a:t>
            </a:r>
          </a:p>
          <a:p>
            <a:endParaRPr lang="en-GB" dirty="0"/>
          </a:p>
          <a:p>
            <a:r>
              <a:rPr lang="en-GB" dirty="0"/>
              <a:t>Once is finished the sequencer provider or our colleagues will pass us the </a:t>
            </a:r>
            <a:r>
              <a:rPr lang="en-GB" dirty="0" err="1"/>
              <a:t>fastq</a:t>
            </a:r>
            <a:r>
              <a:rPr lang="en-GB" dirty="0"/>
              <a:t> files containing the reads and we can do the taxonomical and functional characterization to get an abundance table</a:t>
            </a:r>
          </a:p>
          <a:p>
            <a:endParaRPr lang="en-GB" dirty="0"/>
          </a:p>
          <a:p>
            <a:r>
              <a:rPr lang="en-GB" dirty="0"/>
              <a:t>Here taxa will be in the rows and samples in the columns</a:t>
            </a:r>
          </a:p>
          <a:p>
            <a:endParaRPr lang="en-GB" dirty="0"/>
          </a:p>
          <a:p>
            <a:r>
              <a:rPr lang="en-GB" dirty="0"/>
              <a:t>And this is the starting point of our downstream analysis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35404436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- 16S rRNA gene is an ancient gene that </a:t>
            </a:r>
            <a:r>
              <a:rPr lang="en-GB" dirty="0"/>
              <a:t>encodes the RNA component of the small (30S) subunit of the prokaryotic ribosome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285750" indent="-285750">
              <a:buFont typeface="Arial" panose="020B0604020202020204" pitchFamily="34" charset="0"/>
              <a:buChar char="•"/>
            </a:pPr>
            <a:r>
              <a:rPr lang="en-DK" dirty="0"/>
              <a:t>As it is conserved in many organisms, traditionally  used to infer phylogenetic trees to figure out species evolution</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16s gene has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conserved region: spread around all organisms and easy to amplify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variable unique regions: to tag specifically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27</a:t>
            </a:fld>
            <a:endParaRPr lang="en-DK"/>
          </a:p>
        </p:txBody>
      </p:sp>
    </p:spTree>
    <p:extLst>
      <p:ext uri="{BB962C8B-B14F-4D97-AF65-F5344CB8AC3E}">
        <p14:creationId xmlns:p14="http://schemas.microsoft.com/office/powerpoint/2010/main" val="35010697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SO in our samples we have microbial genomes carrying the 16S rRNA gene, </a:t>
            </a:r>
          </a:p>
          <a:p>
            <a:endParaRPr lang="en-DK" dirty="0"/>
          </a:p>
          <a:p>
            <a:r>
              <a:rPr lang="en-DK" dirty="0"/>
              <a:t>we amplify out this gene with PCR amplification and we sequence all these 16S genes </a:t>
            </a:r>
          </a:p>
          <a:p>
            <a:endParaRPr lang="en-DK" dirty="0"/>
          </a:p>
          <a:p>
            <a:r>
              <a:rPr lang="en-DK" dirty="0"/>
              <a:t>and we can align them to each other and find out the differences -  in this example different single nucleotide variants, that can uniquely identify to which species this gene belongs</a:t>
            </a:r>
          </a:p>
          <a:p>
            <a:endParaRPr lang="en-DK" dirty="0"/>
          </a:p>
          <a:p>
            <a:r>
              <a:rPr lang="en-DK" dirty="0"/>
              <a:t>Computationally we would cluster all similar sequences into operational taxonomic units that are compared to 16S gene databases like silva or green genes to assign them taxonomy</a:t>
            </a:r>
          </a:p>
          <a:p>
            <a:endParaRPr lang="en-DK" dirty="0"/>
          </a:p>
          <a:p>
            <a:r>
              <a:rPr lang="en-DK" dirty="0"/>
              <a:t>Or we can use DADA2, my favorite one, </a:t>
            </a:r>
            <a:r>
              <a:rPr lang="en-GB" dirty="0"/>
              <a:t>which assign taxonomy directly to the amplicon sequence variants therefore allowing more precise taxonomic placement than OTUs</a:t>
            </a:r>
          </a:p>
          <a:p>
            <a:endParaRPr lang="en-GB" dirty="0"/>
          </a:p>
          <a:p>
            <a:r>
              <a:rPr lang="en-GB" dirty="0"/>
              <a:t>In the end we are going to get an OTUs or ASVs abundance table but we get only to genus resolution </a:t>
            </a:r>
          </a:p>
          <a:p>
            <a:endParaRPr lang="en-GB" dirty="0"/>
          </a:p>
          <a:p>
            <a:r>
              <a:rPr lang="en-GB" dirty="0"/>
              <a:t>and we do not have functional annotation unless we predict it from taxonomical compositional (PICRUST). </a:t>
            </a:r>
          </a:p>
          <a:p>
            <a:endParaRPr lang="en-GB" dirty="0"/>
          </a:p>
          <a:p>
            <a:r>
              <a:rPr lang="en-GB" dirty="0"/>
              <a:t>Many assumptions, for example Close phylogenetic </a:t>
            </a:r>
            <a:r>
              <a:rPr lang="en-GB" dirty="0" err="1"/>
              <a:t>neighbors</a:t>
            </a:r>
            <a:r>
              <a:rPr lang="en-GB" dirty="0"/>
              <a:t> have similar gene content and functional potential, does not capture HGT or strain level functionality,…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28</a:t>
            </a:fld>
            <a:endParaRPr lang="en-DK"/>
          </a:p>
        </p:txBody>
      </p:sp>
    </p:spTree>
    <p:extLst>
      <p:ext uri="{BB962C8B-B14F-4D97-AF65-F5344CB8AC3E}">
        <p14:creationId xmlns:p14="http://schemas.microsoft.com/office/powerpoint/2010/main" val="20904141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Microbial genomes in your sample from different organisms (here represented with different colors)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Randomly shattering them into fragments of relatively equal length (150-300 bps) - no PCR amplification</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Sequence all these small fragments of DNA  (in the order of millions per sample)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and we map them with different tools to genomes or to clade-specfic marker genes</a:t>
            </a:r>
          </a:p>
          <a:p>
            <a:endParaRPr lang="en-DK" dirty="0"/>
          </a:p>
          <a:p>
            <a:r>
              <a:rPr lang="en-DK" dirty="0"/>
              <a:t>When we know all the gene/genome counts (reads mapping) we can divide those by gene or genome length and by sample depth (number of reads detected in a sample) to estimate the final abundance of our taxa.</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29</a:t>
            </a:fld>
            <a:endParaRPr lang="en-DK"/>
          </a:p>
        </p:txBody>
      </p:sp>
    </p:spTree>
    <p:extLst>
      <p:ext uri="{BB962C8B-B14F-4D97-AF65-F5344CB8AC3E}">
        <p14:creationId xmlns:p14="http://schemas.microsoft.com/office/powerpoint/2010/main" val="25488245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just added table describing tools and databases used the 16S amplicon sequencing and in the Reference-based profiling for your revision.</a:t>
            </a:r>
            <a:br>
              <a:rPr lang="en-DK" dirty="0"/>
            </a:br>
            <a:endParaRPr lang="en-DK" dirty="0"/>
          </a:p>
          <a:p>
            <a:r>
              <a:rPr lang="en-DK" dirty="0"/>
              <a:t>I highlighted in red my preferred methods, both in my opinion with higher resolution.</a:t>
            </a:r>
          </a:p>
          <a:p>
            <a:endParaRPr lang="en-DK" dirty="0"/>
          </a:p>
          <a:p>
            <a:r>
              <a:rPr lang="en-DK" dirty="0"/>
              <a:t>Choice depending on your needs: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Reference-based methods rely on what is known in the databases (human commensals, pathogens or enzyms and species used in the industry better characterized in the databases)</a:t>
            </a:r>
            <a:br>
              <a:rPr lang="en-DK" dirty="0"/>
            </a:br>
            <a:br>
              <a:rPr lang="en-DK" dirty="0"/>
            </a:br>
            <a:r>
              <a:rPr lang="en-DK" dirty="0"/>
              <a:t>The next method </a:t>
            </a:r>
            <a:r>
              <a:rPr lang="en-GB" dirty="0"/>
              <a:t>I am </a:t>
            </a:r>
            <a:r>
              <a:rPr lang="en-GB" dirty="0" err="1"/>
              <a:t>gonna</a:t>
            </a:r>
            <a:r>
              <a:rPr lang="en-GB" dirty="0"/>
              <a:t> present is an assemble based method called metagenome assembled genomes.</a:t>
            </a:r>
          </a:p>
          <a:p>
            <a:endParaRPr lang="en-GB" dirty="0"/>
          </a:p>
          <a:p>
            <a:r>
              <a:rPr lang="en-GB" dirty="0"/>
              <a:t>Let’s go step by step: </a:t>
            </a:r>
          </a:p>
          <a:p>
            <a:pPr marL="171450" indent="-171450">
              <a:buFontTx/>
              <a:buChar char="-"/>
            </a:pPr>
            <a:r>
              <a:rPr lang="en-GB" dirty="0"/>
              <a:t>We have </a:t>
            </a:r>
            <a:r>
              <a:rPr lang="en-GB" dirty="0" err="1"/>
              <a:t>fastQ</a:t>
            </a:r>
            <a:r>
              <a:rPr lang="en-GB" dirty="0"/>
              <a:t> files with our reads and we perform QC to remove low quality, low complexity and host reads (if there are)</a:t>
            </a:r>
          </a:p>
          <a:p>
            <a:pPr marL="171450" indent="-171450">
              <a:buFontTx/>
              <a:buChar char="-"/>
            </a:pPr>
            <a:r>
              <a:rPr lang="en-GB" dirty="0"/>
              <a:t>we stitch together sequenced reads to reproduce the original genome from where they came. If we had easy </a:t>
            </a:r>
            <a:r>
              <a:rPr lang="en-GB" dirty="0" err="1"/>
              <a:t>communitires</a:t>
            </a:r>
            <a:r>
              <a:rPr lang="en-GB" dirty="0"/>
              <a:t> and lots of reds we could reproduce the whole genome, otherwise we get these large DNA chunks called contigs. </a:t>
            </a:r>
          </a:p>
          <a:p>
            <a:pPr marL="171450" indent="-171450">
              <a:buFontTx/>
              <a:buChar char="-"/>
            </a:pPr>
            <a:r>
              <a:rPr lang="en-GB" dirty="0"/>
              <a:t>These contigs can be clustered into different bins according to their composition (GC content, tetranucleotide frequencies) or coverage depth across samples (require to remap all the reads to the contigs – more samples higher accuracy).</a:t>
            </a:r>
          </a:p>
          <a:p>
            <a:pPr marL="171450" indent="-171450">
              <a:buFontTx/>
              <a:buChar char="-"/>
            </a:pPr>
            <a:r>
              <a:rPr lang="en-GB" dirty="0"/>
              <a:t>The bins go through </a:t>
            </a:r>
            <a:r>
              <a:rPr lang="en-GB" dirty="0" err="1"/>
              <a:t>refinment</a:t>
            </a:r>
            <a:r>
              <a:rPr lang="en-GB" dirty="0"/>
              <a:t> and quality assessment. In many MAG collections they divide the MAGs on High quality and medium quality based on the completeness and contamination levels (how many marker genes of this species can be found in the bin, how many marker genes from other species)</a:t>
            </a:r>
          </a:p>
          <a:p>
            <a:pPr marL="171450" indent="-171450">
              <a:buFontTx/>
              <a:buChar char="-"/>
            </a:pPr>
            <a:r>
              <a:rPr lang="en-GB" dirty="0"/>
              <a:t>We assign taxonomy therefore to the bins and we can then with the clean bins do phylogenomic analysis or do functional annotation (call genes in the contigs assigned to the bins and map them to pathways, etc.. and estimate their abundances by mapping reads to the functional features)</a:t>
            </a:r>
          </a:p>
          <a:p>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31</a:t>
            </a:fld>
            <a:endParaRPr lang="en-DK"/>
          </a:p>
        </p:txBody>
      </p:sp>
    </p:spTree>
    <p:extLst>
      <p:ext uri="{BB962C8B-B14F-4D97-AF65-F5344CB8AC3E}">
        <p14:creationId xmlns:p14="http://schemas.microsoft.com/office/powerpoint/2010/main" val="2043543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left you a table with all the tools related to the different steps on building MAGs. As you can see it is a very complex process  and it requires of many softwares that need to be run in a chained way.</a:t>
            </a:r>
            <a:br>
              <a:rPr lang="en-DK" dirty="0"/>
            </a:br>
            <a:endParaRPr lang="en-DK" dirty="0"/>
          </a:p>
          <a:p>
            <a:r>
              <a:rPr lang="en-DK" dirty="0"/>
              <a:t>Maybe in another course we can cover only that methodology.</a:t>
            </a:r>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1725099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a:t>
            </a:r>
            <a:r>
              <a:rPr lang="en-GB" dirty="0"/>
              <a:t>n</a:t>
            </a:r>
            <a:r>
              <a:rPr lang="en-DK" dirty="0"/>
              <a:t>d finally I wanted to compare the three different methods that we have described.</a:t>
            </a:r>
          </a:p>
          <a:p>
            <a:endParaRPr lang="en-DK" dirty="0"/>
          </a:p>
          <a:p>
            <a:r>
              <a:rPr lang="en-DK" dirty="0"/>
              <a:t>TABLE</a:t>
            </a:r>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12703613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To do functional annotation you can always map reads to genes (read/reference-based annotation)</a:t>
            </a:r>
          </a:p>
          <a:p>
            <a:endParaRPr lang="en-DK" dirty="0"/>
          </a:p>
          <a:p>
            <a:r>
              <a:rPr lang="en-DK" dirty="0"/>
              <a:t>A common resource used in functional annotation is building a microbial gene catalog</a:t>
            </a:r>
          </a:p>
          <a:p>
            <a:endParaRPr lang="en-DK" dirty="0"/>
          </a:p>
          <a:p>
            <a:r>
              <a:rPr lang="en-DK" dirty="0"/>
              <a:t>We have high quality reads that were stitched into contigs, and the genes are called up on in these contigs. </a:t>
            </a:r>
          </a:p>
          <a:p>
            <a:endParaRPr lang="en-DK" dirty="0"/>
          </a:p>
          <a:p>
            <a:r>
              <a:rPr lang="en-DK" dirty="0"/>
              <a:t>W</a:t>
            </a:r>
            <a:r>
              <a:rPr lang="en-GB" dirty="0" err="1"/>
              <a:t>i</a:t>
            </a:r>
            <a:r>
              <a:rPr lang="en-DK" dirty="0"/>
              <a:t>th softwares like CD-HIT, a quite used one, we can cluster these genes based on sequence similarity and asking for a % identity and a % of coverage. </a:t>
            </a:r>
          </a:p>
          <a:p>
            <a:endParaRPr lang="en-DK" dirty="0"/>
          </a:p>
          <a:p>
            <a:r>
              <a:rPr lang="en-DK" dirty="0"/>
              <a:t>The longest sequences of these clusters are then taken as representatives of each gene cluster and a non-redundant gene catalog is then ready.</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35</a:t>
            </a:fld>
            <a:endParaRPr lang="en-DK"/>
          </a:p>
        </p:txBody>
      </p:sp>
    </p:spTree>
    <p:extLst>
      <p:ext uri="{BB962C8B-B14F-4D97-AF65-F5344CB8AC3E}">
        <p14:creationId xmlns:p14="http://schemas.microsoft.com/office/powerpoint/2010/main" val="22096524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When we have this gene catalog we can maps reads to the genes to figure out the gene abundance (normalized by gene length and sample depth)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Parallelly, catalog genes can be mapped to several functional information databases (e.g KEGG database)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This is usually done by eggNOG mapper which is a tool that map the genes to orthologous groups. An ortholog group is a collection of genes that </a:t>
            </a:r>
            <a:r>
              <a:rPr lang="en-GB" sz="1200" dirty="0"/>
              <a:t>Descend from a single gene in the last common ancestor and typically perform the same function across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Once we have this mapping we can transfer all the information know to these orthologous to the genes and then we have them mapped to KEGG pathways, CAZY, …</a:t>
            </a:r>
            <a:br>
              <a:rPr lang="en-GB" sz="1200" dirty="0">
                <a:latin typeface="Calibri" charset="0"/>
                <a:ea typeface="Calibri" charset="0"/>
                <a:cs typeface="Calibri" charset="0"/>
              </a:rPr>
            </a:br>
            <a:br>
              <a:rPr lang="en-GB" sz="1200" dirty="0">
                <a:latin typeface="Calibri" charset="0"/>
                <a:ea typeface="Calibri" charset="0"/>
                <a:cs typeface="Calibri" charset="0"/>
              </a:rPr>
            </a:br>
            <a:r>
              <a:rPr lang="en-GB" sz="1200" dirty="0">
                <a:latin typeface="Calibri" charset="0"/>
                <a:ea typeface="Calibri" charset="0"/>
                <a:cs typeface="Calibri" charset="0"/>
              </a:rPr>
              <a:t>Then in the end we can collapse the gene </a:t>
            </a:r>
            <a:r>
              <a:rPr lang="en-GB" sz="1200" dirty="0" err="1">
                <a:latin typeface="Calibri" charset="0"/>
                <a:ea typeface="Calibri" charset="0"/>
                <a:cs typeface="Calibri" charset="0"/>
              </a:rPr>
              <a:t>abundaces</a:t>
            </a:r>
            <a:r>
              <a:rPr lang="en-GB" sz="1200" dirty="0">
                <a:latin typeface="Calibri" charset="0"/>
                <a:ea typeface="Calibri" charset="0"/>
                <a:cs typeface="Calibri" charset="0"/>
              </a:rPr>
              <a:t> into the different feature that these genes map to and get different features abundance.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But why to build a gene </a:t>
            </a:r>
            <a:r>
              <a:rPr lang="en-GB" sz="1200" dirty="0" err="1">
                <a:latin typeface="Calibri" charset="0"/>
                <a:ea typeface="Calibri" charset="0"/>
                <a:cs typeface="Calibri" charset="0"/>
              </a:rPr>
              <a:t>catalog</a:t>
            </a:r>
            <a:r>
              <a:rPr lang="en-GB" sz="1200" dirty="0">
                <a:latin typeface="Calibri" charset="0"/>
                <a:ea typeface="Calibri" charset="0"/>
                <a:cs typeface="Calibri"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36</a:t>
            </a:fld>
            <a:endParaRPr lang="en-DK"/>
          </a:p>
        </p:txBody>
      </p:sp>
    </p:spTree>
    <p:extLst>
      <p:ext uri="{BB962C8B-B14F-4D97-AF65-F5344CB8AC3E}">
        <p14:creationId xmlns:p14="http://schemas.microsoft.com/office/powerpoint/2010/main" val="26714957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How does it look the microbiome data?</a:t>
            </a:r>
          </a:p>
          <a:p>
            <a:endParaRPr lang="en-DK" dirty="0"/>
          </a:p>
          <a:p>
            <a:r>
              <a:rPr lang="en-DK" dirty="0"/>
              <a:t>Microbiome data shows sparsity and a dinamic range</a:t>
            </a:r>
          </a:p>
          <a:p>
            <a:endParaRPr lang="en-DK" dirty="0"/>
          </a:p>
          <a:p>
            <a:r>
              <a:rPr lang="en-DK" dirty="0"/>
              <a:t>Here we have a relative abundace table fo taxa or functional features in rows and samples in columns. I added the metadata which is area and condition measured</a:t>
            </a:r>
          </a:p>
          <a:p>
            <a:endParaRPr lang="en-DK" dirty="0"/>
          </a:p>
          <a:p>
            <a:r>
              <a:rPr lang="en-DK" dirty="0"/>
              <a:t>As you can see the abundance </a:t>
            </a:r>
          </a:p>
          <a:p>
            <a:pPr marL="171450" indent="-171450">
              <a:buFontTx/>
              <a:buChar char="-"/>
            </a:pPr>
            <a:r>
              <a:rPr lang="en-DK" dirty="0"/>
              <a:t>First row evenly distributed</a:t>
            </a:r>
          </a:p>
          <a:p>
            <a:pPr marL="171450" indent="-171450">
              <a:buFontTx/>
              <a:buChar char="-"/>
            </a:pPr>
            <a:r>
              <a:rPr lang="en-DK" dirty="0"/>
              <a:t>Highly dinamic range</a:t>
            </a:r>
          </a:p>
          <a:p>
            <a:r>
              <a:rPr lang="en-DK" dirty="0"/>
              <a:t>- Some fetures drop 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DK" dirty="0"/>
              <a:t>Microbiome data is usually expressed as relatives abundance, which makes this data compostional</a:t>
            </a:r>
          </a:p>
          <a:p>
            <a:pPr marL="0" indent="0">
              <a:buFont typeface="Arial" panose="020B0604020202020204" pitchFamily="34" charset="0"/>
              <a:buNone/>
            </a:pPr>
            <a:endParaRPr lang="en-DK" dirty="0"/>
          </a:p>
          <a:p>
            <a:pPr marL="0" indent="0">
              <a:buFont typeface="Arial" panose="020B0604020202020204" pitchFamily="34" charset="0"/>
              <a:buNone/>
            </a:pPr>
            <a:r>
              <a:rPr lang="en-DK" dirty="0"/>
              <a:t>What compositional data means:</a:t>
            </a:r>
          </a:p>
          <a:p>
            <a:pPr marL="0" indent="0">
              <a:buFont typeface="Arial" panose="020B0604020202020204" pitchFamily="34" charset="0"/>
              <a:buNone/>
            </a:pPr>
            <a:endParaRPr lang="en-DK"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Proportions or percentages</a:t>
            </a:r>
            <a:r>
              <a:rPr lang="en-GB" dirty="0"/>
              <a:t> of total reads per sample — not true cell counts.</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Relative abundances are susceptible to compositional effects. </a:t>
            </a:r>
          </a:p>
          <a:p>
            <a:pPr marL="0" indent="0">
              <a:buFont typeface="Arial" panose="020B0604020202020204" pitchFamily="34" charset="0"/>
              <a:buNone/>
            </a:pPr>
            <a:endParaRPr lang="en-DK" dirty="0"/>
          </a:p>
          <a:p>
            <a:r>
              <a:rPr lang="en-GB" dirty="0"/>
              <a:t>----</a:t>
            </a:r>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40</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prepared an example to illustrate the compositionality issue.</a:t>
            </a:r>
          </a:p>
          <a:p>
            <a:endParaRPr lang="en-DK" dirty="0"/>
          </a:p>
          <a:p>
            <a:r>
              <a:rPr lang="en-DK" dirty="0"/>
              <a:t>Consider read counts as a proxy for cell abundance (not perfect as in 16S gene we have multiple gene copies in some genomes, and in shotgun metagenomics we have different genome sizes – larger genomes contributing with more reads per cell, extraction efficiency, lib</a:t>
            </a:r>
            <a:r>
              <a:rPr lang="en-GB" dirty="0"/>
              <a:t>r</a:t>
            </a:r>
            <a:r>
              <a:rPr lang="en-DK" dirty="0"/>
              <a:t>ary prep bias, etc ...)</a:t>
            </a:r>
          </a:p>
          <a:p>
            <a:endParaRPr lang="en-DK" dirty="0"/>
          </a:p>
          <a:p>
            <a:r>
              <a:rPr lang="en-DK" dirty="0"/>
              <a:t>Then we have in the tablæe cell counts and relative abundace for S1 before an antibiotic treatment and fro sample 2 after the antibiotic treatment. </a:t>
            </a:r>
          </a:p>
          <a:p>
            <a:endParaRPr lang="en-DK" dirty="0"/>
          </a:p>
          <a:p>
            <a:r>
              <a:rPr lang="en-DK" dirty="0"/>
              <a:t>TABLE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Only Taxon 3 reduced its abundance after antibiotic treament, but 1,2, and 4 seem that they increase. Their number of cells have not changed but due to the decrease of one taxon the orther 3 seem to have increased abundances.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a:t>
            </a:r>
            <a:r>
              <a:rPr lang="en-GB" dirty="0"/>
              <a:t>h</a:t>
            </a:r>
            <a:r>
              <a:rPr lang="en-DK" dirty="0"/>
              <a:t>is affects downstream analysis and specially interpretations. </a:t>
            </a:r>
          </a:p>
          <a:p>
            <a:endParaRPr lang="en-DK" dirty="0"/>
          </a:p>
          <a:p>
            <a:r>
              <a:rPr lang="en-DK" sz="1200" dirty="0"/>
              <a:t>e.g correlations or regression assume independent variables</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analysis alternatives and data transformations have been proposed: center-log-ration transformation (clr), ALDEx2, ANCOM</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however, they introduce </a:t>
            </a:r>
            <a:r>
              <a:rPr lang="en-GB" sz="1200" dirty="0"/>
              <a:t>practical limitations — especially with zero handling, computational cost, and difficult interpretation</a:t>
            </a:r>
            <a:endParaRPr lang="en-DK" sz="1200" dirty="0"/>
          </a:p>
          <a:p>
            <a:endParaRPr lang="en-DK" sz="1200" dirty="0"/>
          </a:p>
          <a:p>
            <a:r>
              <a:rPr lang="en-DK" sz="1200" dirty="0"/>
              <a:t>Best thing you can do after your analysis is plotting your data, perhaps also as an exploratory step plotting your data is advisable!</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41</a:t>
            </a:fld>
            <a:endParaRPr lang="en-DK"/>
          </a:p>
        </p:txBody>
      </p:sp>
    </p:spTree>
    <p:extLst>
      <p:ext uri="{BB962C8B-B14F-4D97-AF65-F5344CB8AC3E}">
        <p14:creationId xmlns:p14="http://schemas.microsoft.com/office/powerpoint/2010/main" val="18934767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ideal scenario it would be measure absolute abundances, something that different groups and companies are starting to do.</a:t>
            </a:r>
          </a:p>
          <a:p>
            <a:endParaRPr lang="en-DK" dirty="0"/>
          </a:p>
          <a:p>
            <a:r>
              <a:rPr lang="en-DK" dirty="0"/>
              <a:t>This way we have true cell counts</a:t>
            </a:r>
          </a:p>
          <a:p>
            <a:br>
              <a:rPr lang="en-DK" dirty="0"/>
            </a:br>
            <a:r>
              <a:rPr lang="en-DK" dirty="0"/>
              <a:t>to obtain absolute abundances, you can</a:t>
            </a:r>
          </a:p>
          <a:p>
            <a:endParaRPr lang="en-DK"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 Then. you can calculate the other taxa abundance on respect to that reference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 Then normalize your data accordingly</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allows you to correct read counts to reflect </a:t>
            </a:r>
            <a:r>
              <a:rPr lang="en-GB" b="1" dirty="0"/>
              <a:t>absolute abundance</a:t>
            </a:r>
            <a:r>
              <a:rPr lang="en-GB" dirty="0"/>
              <a:t>, not just proportions.</a:t>
            </a:r>
          </a:p>
          <a:p>
            <a:pPr marL="285750" indent="-285750">
              <a:buFont typeface="Arial" panose="020B0604020202020204" pitchFamily="34" charset="0"/>
              <a:buChar char="•"/>
            </a:pPr>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42</a:t>
            </a:fld>
            <a:endParaRPr lang="en-DK"/>
          </a:p>
        </p:txBody>
      </p:sp>
    </p:spTree>
    <p:extLst>
      <p:ext uri="{BB962C8B-B14F-4D97-AF65-F5344CB8AC3E}">
        <p14:creationId xmlns:p14="http://schemas.microsoft.com/office/powerpoint/2010/main" val="17102163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endParaRPr lang="en-DK" dirty="0"/>
          </a:p>
          <a:p>
            <a:r>
              <a:rPr lang="en-DK" dirty="0"/>
              <a:t>For example Microbiome alpha div which is the diversity within a sample</a:t>
            </a:r>
          </a:p>
          <a:p>
            <a:endParaRPr lang="en-DK" dirty="0"/>
          </a:p>
          <a:p>
            <a:r>
              <a:rPr lang="en-DK" dirty="0"/>
              <a:t>Two common measures of diversity are </a:t>
            </a:r>
          </a:p>
          <a:p>
            <a:endParaRPr lang="en-DK" dirty="0"/>
          </a:p>
          <a:p>
            <a:pPr lvl="1" indent="-228600">
              <a:lnSpc>
                <a:spcPct val="90000"/>
              </a:lnSpc>
              <a:spcAft>
                <a:spcPts val="600"/>
              </a:spcAft>
              <a:buFont typeface="Arial" panose="020B0604020202020204" pitchFamily="34" charset="0"/>
              <a:buChar char="•"/>
            </a:pPr>
            <a:r>
              <a:rPr lang="en-DK" dirty="0"/>
              <a:t>- </a:t>
            </a: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indicate More diverse and evenly distributed community</a:t>
            </a:r>
          </a:p>
          <a:p>
            <a:pPr lvl="2" indent="-228600">
              <a:lnSpc>
                <a:spcPct val="90000"/>
              </a:lnSpc>
              <a:spcAft>
                <a:spcPts val="600"/>
              </a:spcAft>
              <a:buFont typeface="Arial" panose="020B0604020202020204" pitchFamily="34" charset="0"/>
              <a:buChar char="•"/>
            </a:pPr>
            <a:r>
              <a:rPr lang="en-US" dirty="0"/>
              <a:t>There are other indices used but here we will focus on these two, up there you have the Shannon formula </a:t>
            </a:r>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r>
              <a:rPr lang="en-US" dirty="0"/>
              <a:t>PLOT – here we studied the diversity after an antibiotic treatment in young humans and you can see that after an initial decrease of both richness and Shannon index both recovered diversity within half a year.</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44</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Another diversity measure is beta diversity which is diversity between samples</a:t>
            </a:r>
          </a:p>
          <a:p>
            <a:endParaRPr lang="en-DK" dirty="0"/>
          </a:p>
          <a:p>
            <a:r>
              <a:rPr lang="en-DK" dirty="0"/>
              <a:t>This one is measured by ecological distances or dissimilarities. Few of the most known and used are:</a:t>
            </a:r>
          </a:p>
          <a:p>
            <a:endParaRPr lang="en-DK"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endParaRPr lang="en-DK"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a:p>
            <a:endParaRPr lang="en-DK" dirty="0"/>
          </a:p>
          <a:p>
            <a:r>
              <a:rPr lang="en-DK" dirty="0"/>
              <a:t>In this example is about the dataset that I talked in the previous slide and as you can see the microbial composition changes dramatically after an antibiotic treatment and looks more and more similar to the baseline composition when the time passes and the gut microbiotat recovers. </a:t>
            </a:r>
          </a:p>
          <a:p>
            <a:endParaRPr lang="en-DK" dirty="0"/>
          </a:p>
          <a:p>
            <a:r>
              <a:rPr lang="en-DK" dirty="0"/>
              <a:t>Same you could have in environmental studies, you change a condition in a microbial community and it changes drastically and perhaps with the time it comes back to the original composition once the new resource is consumed or dervies into a totally different composition, then samples will be placed further away in the PCoA.</a:t>
            </a:r>
            <a:br>
              <a:rPr lang="en-DK" dirty="0"/>
            </a:b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45</a:t>
            </a:fld>
            <a:endParaRPr lang="en-DK"/>
          </a:p>
        </p:txBody>
      </p:sp>
    </p:spTree>
    <p:extLst>
      <p:ext uri="{BB962C8B-B14F-4D97-AF65-F5344CB8AC3E}">
        <p14:creationId xmlns:p14="http://schemas.microsoft.com/office/powerpoint/2010/main" val="16509633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46</a:t>
            </a:fld>
            <a:endParaRPr lang="en-DK"/>
          </a:p>
        </p:txBody>
      </p:sp>
    </p:spTree>
    <p:extLst>
      <p:ext uri="{BB962C8B-B14F-4D97-AF65-F5344CB8AC3E}">
        <p14:creationId xmlns:p14="http://schemas.microsoft.com/office/powerpoint/2010/main" val="264367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09/04/2026</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HMyCqWhwB8E"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hyperlink" Target="https://doi.org/10.1172/JCI154944" TargetMode="External"/><Relationship Id="rId5" Type="http://schemas.openxmlformats.org/officeDocument/2006/relationships/hyperlink" Target="http://www.jci.org/132/7" TargetMode="Externa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4.jpeg"/></Relationships>
</file>

<file path=ppt/slides/_rels/slide32.xml.rels><?xml version="1.0" encoding="UTF-8" standalone="yes"?>
<Relationships xmlns="http://schemas.openxmlformats.org/package/2006/relationships"><Relationship Id="rId3" Type="http://schemas.openxmlformats.org/officeDocument/2006/relationships/hyperlink" Target="https://pubmed.ncbi.nlm.nih.gov/28898207/"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ubmed.ncbi.nlm.nih.gov/27306058/"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pubmed.ncbi.nlm.nih.gov/30349083/" TargetMode="External"/><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hyperlink" Target="https://pubmed.ncbi.nlm.nih.gov/30349083/"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pubmed.ncbi.nlm.nih.gov/28898207/"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pubmed.ncbi.nlm.nih.gov/2889820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BRIGHT</a:t>
            </a:r>
          </a:p>
          <a:p>
            <a:pPr algn="l"/>
            <a:r>
              <a:rPr lang="en-US" sz="2000" dirty="0">
                <a:solidFill>
                  <a:schemeClr val="bg1"/>
                </a:solidFill>
              </a:rPr>
              <a:t>Spring Data-type Courses </a:t>
            </a:r>
          </a:p>
          <a:p>
            <a:pPr algn="l"/>
            <a:r>
              <a:rPr lang="en-US" sz="2000" dirty="0">
                <a:solidFill>
                  <a:schemeClr val="bg1"/>
                </a:solidFill>
              </a:rPr>
              <a:t>6</a:t>
            </a:r>
            <a:r>
              <a:rPr lang="en-US" sz="2000" baseline="30000" dirty="0">
                <a:solidFill>
                  <a:schemeClr val="bg1"/>
                </a:solidFill>
              </a:rPr>
              <a:t>th</a:t>
            </a:r>
            <a:r>
              <a:rPr lang="en-US" sz="2000" dirty="0">
                <a:solidFill>
                  <a:schemeClr val="bg1"/>
                </a:solidFill>
              </a:rPr>
              <a:t> May 2026</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a:bodyPr>
          <a:lstStyle/>
          <a:p>
            <a:pPr marL="285750" indent="-228600">
              <a:lnSpc>
                <a:spcPct val="110000"/>
              </a:lnSpc>
              <a:spcAft>
                <a:spcPts val="600"/>
              </a:spcAft>
              <a:buFont typeface="Arial" panose="020B0604020202020204" pitchFamily="34" charset="0"/>
              <a:buChar char="•"/>
            </a:pPr>
            <a:r>
              <a:rPr lang="en-US" sz="1700" dirty="0"/>
              <a:t>Microbiota: cause or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541422" y="3047999"/>
            <a:ext cx="4520436"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 (based on thousands of samples)</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 bacterial richness are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08324"/>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The </a:t>
            </a:r>
            <a:r>
              <a:rPr lang="en-GB" sz="1600" dirty="0" err="1"/>
              <a:t>catalog</a:t>
            </a:r>
            <a:r>
              <a:rPr lang="en-GB" sz="1600" dirty="0"/>
              <a:t> allows metabolic modelling, understanding secondary-metabolite biosynthetic potential and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characterizing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3139321"/>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metagenomes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therefore the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Usually done by cyanobacteria, but non-cyanobacterial diazotrophs inhabiting surface waters of the open ocean, which correspond to lineages within the Proteobacteria and Planctomycetes, can also do it</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12942"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microbial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12941"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009900" y="1443452"/>
            <a:ext cx="5168900" cy="5122448"/>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3088324169"/>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3"/>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 – we can study all the organisms in the microbial community</a:t>
            </a:r>
          </a:p>
          <a:p>
            <a:r>
              <a:rPr lang="en-DK" sz="1800" dirty="0"/>
              <a:t>Uses </a:t>
            </a:r>
            <a:r>
              <a:rPr lang="en-GB" sz="1800" dirty="0"/>
              <a:t>high-throughput DNA sequencing technology to </a:t>
            </a:r>
            <a:r>
              <a:rPr lang="en-GB" sz="1800" dirty="0" err="1"/>
              <a:t>analyze</a:t>
            </a:r>
            <a:r>
              <a:rPr lang="en-GB" sz="1800" dirty="0"/>
              <a:t> microbial diversity, taxonomic and functional profiles,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1200329"/>
          </a:xfrm>
          <a:prstGeom prst="rect">
            <a:avLst/>
          </a:prstGeom>
          <a:noFill/>
        </p:spPr>
        <p:txBody>
          <a:bodyPr wrap="square" rtlCol="0">
            <a:spAutoFit/>
          </a:bodyPr>
          <a:lstStyle/>
          <a:p>
            <a:r>
              <a:rPr lang="en-DK" b="1" dirty="0"/>
              <a:t>DNA Extraction</a:t>
            </a:r>
          </a:p>
          <a:p>
            <a:r>
              <a:rPr lang="en-DK" dirty="0"/>
              <a:t>Kits to lyse the cells and release the DNA</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GB" dirty="0"/>
              <a:t>library prep: fragmentation, end repair, adapter ligation</a:t>
            </a:r>
            <a:endParaRPr lang="en-DK" dirty="0"/>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D9F994D-2362-1A0A-DE28-B081FAEAE8C3}"/>
              </a:ext>
            </a:extLst>
          </p:cNvPr>
          <p:cNvSpPr txBox="1"/>
          <p:nvPr/>
        </p:nvSpPr>
        <p:spPr>
          <a:xfrm>
            <a:off x="10560983" y="5269316"/>
            <a:ext cx="1309248" cy="646331"/>
          </a:xfrm>
          <a:prstGeom prst="rect">
            <a:avLst/>
          </a:prstGeom>
          <a:noFill/>
        </p:spPr>
        <p:txBody>
          <a:bodyPr wrap="square" rtlCol="0">
            <a:spAutoFit/>
          </a:bodyPr>
          <a:lstStyle/>
          <a:p>
            <a:r>
              <a:rPr lang="en-DK" b="1" dirty="0"/>
              <a:t>Data Analysis</a:t>
            </a:r>
          </a:p>
        </p:txBody>
      </p: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a:t>
            </a:r>
            <a:r>
              <a:rPr lang="en-GB" sz="1800" b="1" dirty="0"/>
              <a:t>representative and uncontaminated snapshot of a microbial community</a:t>
            </a:r>
            <a:r>
              <a:rPr lang="en-GB" sz="1800" dirty="0"/>
              <a:t> in a specific environment (e.g., gut, soil, water, skin,…)</a:t>
            </a:r>
          </a:p>
          <a:p>
            <a:r>
              <a:rPr lang="en-GB" sz="1800" b="1" dirty="0"/>
              <a:t>Sterile tools </a:t>
            </a:r>
            <a:r>
              <a:rPr lang="en-GB" sz="1800" dirty="0"/>
              <a:t>and containers need to be used</a:t>
            </a:r>
          </a:p>
          <a:p>
            <a:r>
              <a:rPr lang="en-GB" sz="1800" dirty="0"/>
              <a:t>Microbial DNA can degrade rapidly. A good preservation ensures the microbial community structure remains as close to in situ as possible.</a:t>
            </a:r>
          </a:p>
          <a:p>
            <a:pPr lvl="1"/>
            <a:r>
              <a:rPr lang="en-DK" sz="1800" b="1" dirty="0"/>
              <a:t>Freezing</a:t>
            </a:r>
            <a:r>
              <a:rPr lang="en-DK" sz="1800" dirty="0"/>
              <a:t> (-20 to -80C) for long-term storage</a:t>
            </a:r>
          </a:p>
          <a:p>
            <a:pPr lvl="1"/>
            <a:r>
              <a:rPr lang="en-DK" sz="1800" dirty="0"/>
              <a:t>Preservation buffers if freezing is delayed</a:t>
            </a:r>
          </a:p>
          <a:p>
            <a:r>
              <a:rPr lang="en-GB" sz="1800" dirty="0"/>
              <a:t>For sample transportation use </a:t>
            </a:r>
            <a:r>
              <a:rPr lang="en-GB" sz="1800" b="1" dirty="0"/>
              <a:t>cold chain logistics </a:t>
            </a:r>
            <a:r>
              <a:rPr lang="en-GB" sz="1800" dirty="0"/>
              <a:t>(ice packs, dry ice, liquid nitrogen)</a:t>
            </a:r>
          </a:p>
          <a:p>
            <a:r>
              <a:rPr lang="en-GB" sz="1800" b="1" dirty="0"/>
              <a:t>Label</a:t>
            </a:r>
            <a:r>
              <a:rPr lang="en-GB" sz="1800" dirty="0"/>
              <a:t>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t>Paired-end sequencing from Illumina (Sequencing by Synthesis):</a:t>
            </a:r>
            <a:endParaRPr lang="en-GB" sz="1800" dirty="0">
              <a:hlinkClick r:id="rId3"/>
            </a:endParaRPr>
          </a:p>
          <a:p>
            <a:pPr lvl="1"/>
            <a:r>
              <a:rPr lang="en-GB" sz="1400" dirty="0">
                <a:hlinkClick r:id="rId3"/>
              </a:rPr>
              <a:t>https://www.youtube.com/watch?v=HMyCqWhwB8E</a:t>
            </a:r>
            <a:endParaRPr lang="en-GB" sz="14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4"/>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fontScale="92500"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Whole-genome shotgun (WGS) metagenomics involves random sequencing of all genetic material in a sample:</a:t>
            </a:r>
          </a:p>
          <a:p>
            <a:pPr lvl="2"/>
            <a:r>
              <a:rPr lang="en-GB" dirty="0"/>
              <a:t>Reference-based methods: direct mapping of reads to genes, proteins or genomes</a:t>
            </a:r>
          </a:p>
          <a:p>
            <a:pPr lvl="2"/>
            <a:r>
              <a:rPr lang="en-GB" dirty="0"/>
              <a:t>Assembly-based methods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3"/>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687838"/>
            <a:ext cx="4294909" cy="3293209"/>
          </a:xfrm>
          <a:prstGeom prst="rect">
            <a:avLst/>
          </a:prstGeom>
          <a:noFill/>
        </p:spPr>
        <p:txBody>
          <a:bodyPr wrap="square" rtlCol="0">
            <a:spAutoFit/>
          </a:bodyPr>
          <a:lstStyle/>
          <a:p>
            <a:pPr marL="285750" indent="-285750">
              <a:buFont typeface="Arial" panose="020B0604020202020204" pitchFamily="34" charset="0"/>
              <a:buChar char="•"/>
            </a:pPr>
            <a:r>
              <a:rPr lang="en-DK" sz="1600" dirty="0"/>
              <a:t>16S rRNA gene is an ancient gene that </a:t>
            </a:r>
            <a:r>
              <a:rPr lang="en-GB" sz="1600" dirty="0"/>
              <a:t>encodes the RNA component of the small (30S) subunit of the prokaryotic ribosome</a:t>
            </a:r>
          </a:p>
          <a:p>
            <a:pPr marL="285750" indent="-285750">
              <a:buFont typeface="Arial" panose="020B0604020202020204" pitchFamily="34" charset="0"/>
              <a:buChar char="•"/>
            </a:pPr>
            <a:r>
              <a:rPr lang="en-DK" sz="1600" dirty="0"/>
              <a:t>As it is conserved in many organisms, traditionally  used to infer phylogenetic trees to figure out species evolution</a:t>
            </a:r>
            <a:r>
              <a:rPr lang="en-GB" sz="1600" dirty="0"/>
              <a:t> (Present also in mitochondria and chloroplasts of eukaryotes)</a:t>
            </a:r>
            <a:endParaRPr lang="en-DK" sz="1600" dirty="0"/>
          </a:p>
          <a:p>
            <a:pPr marL="285750" indent="-285750">
              <a:buFont typeface="Arial" panose="020B0604020202020204" pitchFamily="34" charset="0"/>
              <a:buChar char="•"/>
            </a:pPr>
            <a:r>
              <a:rPr lang="en-GB" sz="1600" dirty="0"/>
              <a:t>16s gene has</a:t>
            </a:r>
          </a:p>
          <a:p>
            <a:pPr marL="742950" lvl="1" indent="-285750">
              <a:buFont typeface="Arial" panose="020B0604020202020204" pitchFamily="34" charset="0"/>
              <a:buChar char="•"/>
            </a:pPr>
            <a:r>
              <a:rPr lang="en-GB" sz="1600" dirty="0"/>
              <a:t>conserved regions: spread around all organisms and easy to amplify</a:t>
            </a:r>
          </a:p>
          <a:p>
            <a:pPr marL="742950" lvl="1" indent="-285750">
              <a:buFont typeface="Arial" panose="020B0604020202020204" pitchFamily="34" charset="0"/>
              <a:buChar char="•"/>
            </a:pPr>
            <a:r>
              <a:rPr lang="en-GB" sz="1600" dirty="0"/>
              <a:t>variable unique regions: to tag specifically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5"/>
              </a:rPr>
              <a:t>132(7)</a:t>
            </a:r>
            <a:r>
              <a:rPr lang="en-GB" sz="1400" dirty="0"/>
              <a:t>:e154944.</a:t>
            </a:r>
          </a:p>
          <a:p>
            <a:r>
              <a:rPr lang="en-GB" sz="1400" dirty="0"/>
              <a:t> </a:t>
            </a:r>
            <a:r>
              <a:rPr lang="en-GB" sz="1400" dirty="0">
                <a:hlinkClick r:id="rId6"/>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680864" y="4907362"/>
            <a:ext cx="2511136" cy="1754326"/>
          </a:xfrm>
          <a:prstGeom prst="rect">
            <a:avLst/>
          </a:prstGeom>
          <a:noFill/>
        </p:spPr>
        <p:txBody>
          <a:bodyPr wrap="square" rtlCol="0">
            <a:spAutoFit/>
          </a:bodyPr>
          <a:lstStyle/>
          <a:p>
            <a:r>
              <a:rPr lang="en-DK" dirty="0"/>
              <a:t>Abundance table of operational taxonomic units (OTUs) or amplicon sequence variants (ASVs) – resolution up to Genus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OTUs/ASVs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695638" y="2105976"/>
            <a:ext cx="230925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3303" y="303789"/>
            <a:ext cx="1367047" cy="450698"/>
          </a:xfrm>
          <a:prstGeom prst="rect">
            <a:avLst/>
          </a:prstGeom>
          <a:noFill/>
          <a:extLst>
            <a:ext uri="{909E8E84-426E-40DD-AFC4-6F175D3DCCD1}">
              <a14:hiddenFill xmlns:a14="http://schemas.microsoft.com/office/drawing/2010/main">
                <a:solidFill>
                  <a:srgbClr val="FFFFFF"/>
                </a:solidFill>
              </a14:hiddenFill>
            </a:ext>
          </a:extLst>
        </p:spPr>
      </p:pic>
      <p:sp>
        <p:nvSpPr>
          <p:cNvPr id="93" name="TextBox 92">
            <a:extLst>
              <a:ext uri="{FF2B5EF4-FFF2-40B4-BE49-F238E27FC236}">
                <a16:creationId xmlns:a16="http://schemas.microsoft.com/office/drawing/2014/main" id="{7A12ECE4-5277-AFE1-86E2-6139A52112F5}"/>
              </a:ext>
            </a:extLst>
          </p:cNvPr>
          <p:cNvSpPr txBox="1"/>
          <p:nvPr/>
        </p:nvSpPr>
        <p:spPr>
          <a:xfrm>
            <a:off x="7564675" y="755171"/>
            <a:ext cx="2270817" cy="1169551"/>
          </a:xfrm>
          <a:prstGeom prst="rect">
            <a:avLst/>
          </a:prstGeom>
          <a:noFill/>
        </p:spPr>
        <p:txBody>
          <a:bodyPr wrap="square" rtlCol="0">
            <a:spAutoFit/>
          </a:bodyPr>
          <a:lstStyle/>
          <a:p>
            <a:r>
              <a:rPr lang="en-GB" sz="1400" dirty="0"/>
              <a:t>assign taxonomy directly to the amplicon sequence variants therefore allowing more precise taxonomic placement than OTUs</a:t>
            </a:r>
            <a:endParaRPr lang="en-DK" sz="1400" dirty="0"/>
          </a:p>
        </p:txBody>
      </p:sp>
    </p:spTree>
    <p:extLst>
      <p:ext uri="{BB962C8B-B14F-4D97-AF65-F5344CB8AC3E}">
        <p14:creationId xmlns:p14="http://schemas.microsoft.com/office/powerpoint/2010/main" val="477317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558583" y="1626987"/>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724810" y="293704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484099" y="4061515"/>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283506"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128633"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3588306"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3775342"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172669"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045506"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345851"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3622942"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350306"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3712997"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117251"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4689742"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391869"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281033"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384942"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308742"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172668"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345850"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117250"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059361"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464649" y="5829298"/>
            <a:ext cx="2512875" cy="923330"/>
          </a:xfrm>
          <a:prstGeom prst="rect">
            <a:avLst/>
          </a:prstGeom>
          <a:noFill/>
        </p:spPr>
        <p:txBody>
          <a:bodyPr wrap="square" rtlCol="0">
            <a:spAutoFit/>
          </a:bodyPr>
          <a:lstStyle/>
          <a:p>
            <a:r>
              <a:rPr lang="en-DK" dirty="0"/>
              <a:t>Microbial genomes in your sample from different organisms</a:t>
            </a:r>
          </a:p>
        </p:txBody>
      </p:sp>
      <p:sp>
        <p:nvSpPr>
          <p:cNvPr id="47" name="TextBox 46">
            <a:extLst>
              <a:ext uri="{FF2B5EF4-FFF2-40B4-BE49-F238E27FC236}">
                <a16:creationId xmlns:a16="http://schemas.microsoft.com/office/drawing/2014/main" id="{D7136B39-DF79-F5AA-46F9-F742D45238F7}"/>
              </a:ext>
            </a:extLst>
          </p:cNvPr>
          <p:cNvSpPr txBox="1"/>
          <p:nvPr/>
        </p:nvSpPr>
        <p:spPr>
          <a:xfrm>
            <a:off x="2917822" y="5427973"/>
            <a:ext cx="2661575" cy="1477328"/>
          </a:xfrm>
          <a:prstGeom prst="rect">
            <a:avLst/>
          </a:prstGeom>
          <a:noFill/>
        </p:spPr>
        <p:txBody>
          <a:bodyPr wrap="square" rtlCol="0">
            <a:spAutoFit/>
          </a:bodyPr>
          <a:lstStyle/>
          <a:p>
            <a:r>
              <a:rPr lang="en-DK" dirty="0"/>
              <a:t>Randomly shattering them into fragments of relatively equal length (150-300 bps) -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5774394" y="5737800"/>
            <a:ext cx="2661575" cy="646331"/>
          </a:xfrm>
          <a:prstGeom prst="rect">
            <a:avLst/>
          </a:prstGeom>
          <a:noFill/>
        </p:spPr>
        <p:txBody>
          <a:bodyPr wrap="square" rtlCol="0">
            <a:spAutoFit/>
          </a:bodyPr>
          <a:lstStyle/>
          <a:p>
            <a:r>
              <a:rPr lang="en-DK" dirty="0"/>
              <a:t>Sequence all fragments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6327453" y="300901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5903075" y="3143447"/>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5867917" y="367126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6588348" y="4390952"/>
            <a:ext cx="1963881" cy="246221"/>
          </a:xfrm>
          <a:prstGeom prst="rect">
            <a:avLst/>
          </a:prstGeom>
          <a:noFill/>
        </p:spPr>
        <p:txBody>
          <a:bodyPr wrap="square" rtlCol="0">
            <a:spAutoFit/>
          </a:bodyPr>
          <a:lstStyle/>
          <a:p>
            <a:r>
              <a:rPr lang="en-DK" sz="1000" b="1" dirty="0">
                <a:solidFill>
                  <a:schemeClr val="tx2">
                    <a:lumMod val="75000"/>
                    <a:lumOff val="25000"/>
                  </a:schemeClr>
                </a:solidFill>
              </a:rPr>
              <a:t>ATCAACACCGAGATATGC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5964903"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TACAACCGAGATGC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6900059" y="469641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5836745"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7" y="489019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407372268"/>
              </p:ext>
            </p:extLst>
          </p:nvPr>
        </p:nvGraphicFramePr>
        <p:xfrm>
          <a:off x="9578842" y="4844095"/>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224841" y="6149957"/>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7575485" y="267026"/>
            <a:ext cx="4574931" cy="646331"/>
          </a:xfrm>
          <a:prstGeom prst="rect">
            <a:avLst/>
          </a:prstGeom>
          <a:noFill/>
        </p:spPr>
        <p:txBody>
          <a:bodyPr wrap="square" rtlCol="0">
            <a:spAutoFit/>
          </a:bodyPr>
          <a:lstStyle/>
          <a:p>
            <a:r>
              <a:rPr lang="en-DK" dirty="0"/>
              <a:t>Read mapping to know  genomes, specific marker genes (BLAST, bowtie2, DIAMOND)</a:t>
            </a:r>
          </a:p>
        </p:txBody>
      </p:sp>
      <p:sp>
        <p:nvSpPr>
          <p:cNvPr id="70" name="TextBox 69">
            <a:extLst>
              <a:ext uri="{FF2B5EF4-FFF2-40B4-BE49-F238E27FC236}">
                <a16:creationId xmlns:a16="http://schemas.microsoft.com/office/drawing/2014/main" id="{66E316CC-DFF9-0D22-69C0-E2055AE564C5}"/>
              </a:ext>
            </a:extLst>
          </p:cNvPr>
          <p:cNvSpPr txBox="1"/>
          <p:nvPr/>
        </p:nvSpPr>
        <p:spPr>
          <a:xfrm>
            <a:off x="9534072" y="4519613"/>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8565442" y="5050133"/>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547012" y="986535"/>
            <a:ext cx="4205096" cy="369332"/>
          </a:xfrm>
          <a:prstGeom prst="rect">
            <a:avLst/>
          </a:prstGeom>
          <a:noFill/>
        </p:spPr>
        <p:txBody>
          <a:bodyPr wrap="square" rtlCol="0">
            <a:spAutoFit/>
          </a:bodyPr>
          <a:lstStyle/>
          <a:p>
            <a:r>
              <a:rPr lang="en-DK" dirty="0"/>
              <a:t>Genome (Kraken 2, Centrifuge,</a:t>
            </a:r>
            <a:r>
              <a:rPr lang="en-GB" b="1" dirty="0"/>
              <a:t> </a:t>
            </a:r>
            <a:r>
              <a:rPr lang="en-GB" dirty="0"/>
              <a:t>GTDB</a:t>
            </a:r>
            <a:r>
              <a:rPr lang="en-DK" dirty="0"/>
              <a:t>)</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570288" y="1716293"/>
            <a:ext cx="4669337" cy="369332"/>
          </a:xfrm>
          <a:prstGeom prst="rect">
            <a:avLst/>
          </a:prstGeom>
          <a:noFill/>
        </p:spPr>
        <p:txBody>
          <a:bodyPr wrap="square" rtlCol="0">
            <a:spAutoFit/>
          </a:bodyPr>
          <a:lstStyle/>
          <a:p>
            <a:r>
              <a:rPr lang="en-DK" dirty="0"/>
              <a:t>Clade-specific Marker genes (Metahphlan v4)</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8958854" y="3508829"/>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9919787" y="3004161"/>
            <a:ext cx="2242580" cy="1569660"/>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sample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
        <p:nvSpPr>
          <p:cNvPr id="90" name="TextBox 89">
            <a:extLst>
              <a:ext uri="{FF2B5EF4-FFF2-40B4-BE49-F238E27FC236}">
                <a16:creationId xmlns:a16="http://schemas.microsoft.com/office/drawing/2014/main" id="{58FF5699-A88A-65DA-18B2-A0500B8EF4BA}"/>
              </a:ext>
            </a:extLst>
          </p:cNvPr>
          <p:cNvSpPr txBox="1"/>
          <p:nvPr/>
        </p:nvSpPr>
        <p:spPr>
          <a:xfrm>
            <a:off x="9919786" y="2327463"/>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1" name="TextBox 90">
            <a:extLst>
              <a:ext uri="{FF2B5EF4-FFF2-40B4-BE49-F238E27FC236}">
                <a16:creationId xmlns:a16="http://schemas.microsoft.com/office/drawing/2014/main" id="{69972474-5440-B27B-089D-0BAC42BF256C}"/>
              </a:ext>
            </a:extLst>
          </p:cNvPr>
          <p:cNvSpPr txBox="1"/>
          <p:nvPr/>
        </p:nvSpPr>
        <p:spPr>
          <a:xfrm>
            <a:off x="10966383" y="2313227"/>
            <a:ext cx="1963881" cy="215444"/>
          </a:xfrm>
          <a:prstGeom prst="rect">
            <a:avLst/>
          </a:prstGeom>
          <a:noFill/>
        </p:spPr>
        <p:txBody>
          <a:bodyPr wrap="square" rtlCol="0">
            <a:spAutoFit/>
          </a:bodyPr>
          <a:lstStyle/>
          <a:p>
            <a:r>
              <a:rPr lang="en-DK" sz="800" b="1" dirty="0">
                <a:solidFill>
                  <a:schemeClr val="tx2">
                    <a:lumMod val="75000"/>
                    <a:lumOff val="25000"/>
                  </a:schemeClr>
                </a:solidFill>
              </a:rPr>
              <a:t>ATCTTCA</a:t>
            </a:r>
          </a:p>
        </p:txBody>
      </p:sp>
      <p:sp>
        <p:nvSpPr>
          <p:cNvPr id="92" name="TextBox 91">
            <a:extLst>
              <a:ext uri="{FF2B5EF4-FFF2-40B4-BE49-F238E27FC236}">
                <a16:creationId xmlns:a16="http://schemas.microsoft.com/office/drawing/2014/main" id="{0520FE48-4819-5C75-E8BD-0218520F7A6B}"/>
              </a:ext>
            </a:extLst>
          </p:cNvPr>
          <p:cNvSpPr txBox="1"/>
          <p:nvPr/>
        </p:nvSpPr>
        <p:spPr>
          <a:xfrm>
            <a:off x="7897806" y="2448815"/>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3" name="TextBox 92">
            <a:extLst>
              <a:ext uri="{FF2B5EF4-FFF2-40B4-BE49-F238E27FC236}">
                <a16:creationId xmlns:a16="http://schemas.microsoft.com/office/drawing/2014/main" id="{7514F333-920D-8A70-6BCF-FA2DA809098C}"/>
              </a:ext>
            </a:extLst>
          </p:cNvPr>
          <p:cNvSpPr txBox="1"/>
          <p:nvPr/>
        </p:nvSpPr>
        <p:spPr>
          <a:xfrm>
            <a:off x="7898335" y="2573930"/>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4" name="TextBox 93">
            <a:extLst>
              <a:ext uri="{FF2B5EF4-FFF2-40B4-BE49-F238E27FC236}">
                <a16:creationId xmlns:a16="http://schemas.microsoft.com/office/drawing/2014/main" id="{2ED368A1-1063-5156-EACE-4D8C47486BD5}"/>
              </a:ext>
            </a:extLst>
          </p:cNvPr>
          <p:cNvSpPr txBox="1"/>
          <p:nvPr/>
        </p:nvSpPr>
        <p:spPr>
          <a:xfrm>
            <a:off x="9919786" y="2452927"/>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5" name="TextBox 94">
            <a:extLst>
              <a:ext uri="{FF2B5EF4-FFF2-40B4-BE49-F238E27FC236}">
                <a16:creationId xmlns:a16="http://schemas.microsoft.com/office/drawing/2014/main" id="{5CF85F73-9979-ED4E-8E22-ADB350E3D213}"/>
              </a:ext>
            </a:extLst>
          </p:cNvPr>
          <p:cNvSpPr txBox="1"/>
          <p:nvPr/>
        </p:nvSpPr>
        <p:spPr>
          <a:xfrm>
            <a:off x="9919786" y="2576909"/>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
        <p:nvSpPr>
          <p:cNvPr id="96" name="TextBox 95">
            <a:extLst>
              <a:ext uri="{FF2B5EF4-FFF2-40B4-BE49-F238E27FC236}">
                <a16:creationId xmlns:a16="http://schemas.microsoft.com/office/drawing/2014/main" id="{3CC0041E-2152-0B3B-F37B-59FFBAE86461}"/>
              </a:ext>
            </a:extLst>
          </p:cNvPr>
          <p:cNvSpPr txBox="1"/>
          <p:nvPr/>
        </p:nvSpPr>
        <p:spPr>
          <a:xfrm>
            <a:off x="7967549" y="2729638"/>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Tree>
    <p:extLst>
      <p:ext uri="{BB962C8B-B14F-4D97-AF65-F5344CB8AC3E}">
        <p14:creationId xmlns:p14="http://schemas.microsoft.com/office/powerpoint/2010/main" val="826752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2340512521"/>
              </p:ext>
            </p:extLst>
          </p:nvPr>
        </p:nvGraphicFramePr>
        <p:xfrm>
          <a:off x="1383468" y="1220397"/>
          <a:ext cx="9921841" cy="3112942"/>
        </p:xfrm>
        <a:graphic>
          <a:graphicData uri="http://schemas.openxmlformats.org/drawingml/2006/table">
            <a:tbl>
              <a:tblPr firstRow="1" bandRow="1">
                <a:tableStyleId>{B301B821-A1FF-4177-AEE7-76D212191A09}</a:tableStyleId>
              </a:tblPr>
              <a:tblGrid>
                <a:gridCol w="1751778">
                  <a:extLst>
                    <a:ext uri="{9D8B030D-6E8A-4147-A177-3AD203B41FA5}">
                      <a16:colId xmlns:a16="http://schemas.microsoft.com/office/drawing/2014/main" val="2515698166"/>
                    </a:ext>
                  </a:extLst>
                </a:gridCol>
                <a:gridCol w="5659686">
                  <a:extLst>
                    <a:ext uri="{9D8B030D-6E8A-4147-A177-3AD203B41FA5}">
                      <a16:colId xmlns:a16="http://schemas.microsoft.com/office/drawing/2014/main" val="3073312144"/>
                    </a:ext>
                  </a:extLst>
                </a:gridCol>
                <a:gridCol w="2510377">
                  <a:extLst>
                    <a:ext uri="{9D8B030D-6E8A-4147-A177-3AD203B41FA5}">
                      <a16:colId xmlns:a16="http://schemas.microsoft.com/office/drawing/2014/main" val="374859687"/>
                    </a:ext>
                  </a:extLst>
                </a:gridCol>
              </a:tblGrid>
              <a:tr h="265323">
                <a:tc>
                  <a:txBody>
                    <a:bodyPr/>
                    <a:lstStyle/>
                    <a:p>
                      <a:pPr algn="ctr"/>
                      <a:r>
                        <a:rPr lang="en-DK" sz="1200" dirty="0"/>
                        <a:t>Method</a:t>
                      </a:r>
                    </a:p>
                  </a:txBody>
                  <a:tcPr anchor="ctr"/>
                </a:tc>
                <a:tc>
                  <a:txBody>
                    <a:bodyPr/>
                    <a:lstStyle/>
                    <a:p>
                      <a:pPr algn="ctr"/>
                      <a:r>
                        <a:rPr lang="en-DK" sz="1200" dirty="0"/>
                        <a:t>Tools</a:t>
                      </a:r>
                    </a:p>
                  </a:txBody>
                  <a:tcPr anchor="ctr"/>
                </a:tc>
                <a:tc>
                  <a:txBody>
                    <a:bodyPr/>
                    <a:lstStyle/>
                    <a:p>
                      <a:pPr algn="ctr"/>
                      <a:r>
                        <a:rPr lang="en-DK" sz="1200" dirty="0"/>
                        <a:t>Databases</a:t>
                      </a:r>
                    </a:p>
                  </a:txBody>
                  <a:tcPr anchor="ctr"/>
                </a:tc>
                <a:extLst>
                  <a:ext uri="{0D108BD9-81ED-4DB2-BD59-A6C34878D82A}">
                    <a16:rowId xmlns:a16="http://schemas.microsoft.com/office/drawing/2014/main" val="2920315549"/>
                  </a:ext>
                </a:extLst>
              </a:tr>
              <a:tr h="12841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16S Amplicon-based Profiling</a:t>
                      </a:r>
                      <a:endParaRPr lang="en-DK" sz="1200" dirty="0"/>
                    </a:p>
                    <a:p>
                      <a:pPr algn="ctr"/>
                      <a:endParaRPr lang="en-DK" sz="1200" dirty="0"/>
                    </a:p>
                  </a:txBody>
                  <a:tcPr anchor="ctr"/>
                </a:tc>
                <a:tc>
                  <a:txBody>
                    <a:bodyPr/>
                    <a:lstStyle/>
                    <a:p>
                      <a:r>
                        <a:rPr lang="en-GB" sz="1200" b="1" dirty="0"/>
                        <a:t>QIIME 2</a:t>
                      </a:r>
                      <a:r>
                        <a:rPr lang="en-GB" sz="1200" dirty="0"/>
                        <a:t>: A popular pipeline supporting DADA2, Deblur, and multiple classifiers (Naive Bayes, etc.).</a:t>
                      </a:r>
                    </a:p>
                    <a:p>
                      <a:r>
                        <a:rPr lang="en-GB" sz="1200" b="1" dirty="0">
                          <a:solidFill>
                            <a:srgbClr val="FF0000"/>
                          </a:solidFill>
                        </a:rPr>
                        <a:t>DADA2</a:t>
                      </a:r>
                      <a:r>
                        <a:rPr lang="en-GB" sz="1200" dirty="0">
                          <a:solidFill>
                            <a:srgbClr val="FF0000"/>
                          </a:solidFill>
                        </a:rPr>
                        <a:t>: High-resolution method that infers amplicon sequence variants (ASVs).</a:t>
                      </a:r>
                    </a:p>
                    <a:p>
                      <a:r>
                        <a:rPr lang="en-GB" sz="1200" b="1" dirty="0"/>
                        <a:t>USEARCH / VSEARCH</a:t>
                      </a:r>
                      <a:r>
                        <a:rPr lang="en-GB" sz="1200" dirty="0"/>
                        <a:t>: Clustering-based OTU picking methods.</a:t>
                      </a:r>
                    </a:p>
                    <a:p>
                      <a:r>
                        <a:rPr lang="en-GB" sz="1200" b="1" dirty="0" err="1"/>
                        <a:t>Mothur</a:t>
                      </a:r>
                      <a:r>
                        <a:rPr lang="en-GB" sz="1200" dirty="0"/>
                        <a:t>: OTU-based method using different clustering and alignment strategies.</a:t>
                      </a:r>
                    </a:p>
                    <a:p>
                      <a:r>
                        <a:rPr lang="en-GB" sz="1200" b="1" dirty="0"/>
                        <a:t>RDP Classifier</a:t>
                      </a:r>
                      <a:r>
                        <a:rPr lang="en-GB" sz="1200" dirty="0"/>
                        <a:t>: Naive Bayesian classifier for assigning taxonomy.</a:t>
                      </a:r>
                    </a:p>
                  </a:txBody>
                  <a:tcPr/>
                </a:tc>
                <a:tc>
                  <a:txBody>
                    <a:bodyPr/>
                    <a:lstStyle/>
                    <a:p>
                      <a:r>
                        <a:rPr lang="en-GB" sz="1200" b="1" dirty="0"/>
                        <a:t>SILVA</a:t>
                      </a:r>
                    </a:p>
                    <a:p>
                      <a:r>
                        <a:rPr lang="en-GB" sz="1200" b="1" dirty="0" err="1"/>
                        <a:t>Greengenes</a:t>
                      </a:r>
                      <a:r>
                        <a:rPr lang="en-GB" sz="1200" dirty="0"/>
                        <a:t> (deprecated but still used)</a:t>
                      </a:r>
                    </a:p>
                    <a:p>
                      <a:r>
                        <a:rPr lang="en-GB" sz="1200" b="1" dirty="0"/>
                        <a:t>RDP</a:t>
                      </a:r>
                    </a:p>
                    <a:p>
                      <a:r>
                        <a:rPr lang="en-GB" sz="1200" b="1" dirty="0"/>
                        <a:t>UNITE</a:t>
                      </a:r>
                      <a:r>
                        <a:rPr lang="en-GB" sz="1200" dirty="0"/>
                        <a:t> (for fungi)</a:t>
                      </a:r>
                    </a:p>
                    <a:p>
                      <a:endParaRPr lang="en-DK" sz="1200" dirty="0"/>
                    </a:p>
                  </a:txBody>
                  <a:tcPr/>
                </a:tc>
                <a:extLst>
                  <a:ext uri="{0D108BD9-81ED-4DB2-BD59-A6C34878D82A}">
                    <a16:rowId xmlns:a16="http://schemas.microsoft.com/office/drawing/2014/main" val="547700518"/>
                  </a:ext>
                </a:extLst>
              </a:tr>
              <a:tr h="13128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Shotgun Metagenomics-based</a:t>
                      </a:r>
                      <a:endParaRPr lang="en-DK" sz="1200" dirty="0"/>
                    </a:p>
                    <a:p>
                      <a:pPr algn="ctr"/>
                      <a:r>
                        <a:rPr lang="en-GB" sz="1200" dirty="0"/>
                        <a:t>Reference-based profiling</a:t>
                      </a:r>
                      <a:endParaRPr lang="en-DK" sz="1200" dirty="0"/>
                    </a:p>
                  </a:txBody>
                  <a:tcPr anchor="ctr"/>
                </a:tc>
                <a:tc>
                  <a:txBody>
                    <a:bodyPr/>
                    <a:lstStyle/>
                    <a:p>
                      <a:r>
                        <a:rPr lang="en-GB" sz="1200" b="1" dirty="0">
                          <a:solidFill>
                            <a:srgbClr val="FF0000"/>
                          </a:solidFill>
                        </a:rPr>
                        <a:t>MetaPhlAn4</a:t>
                      </a:r>
                      <a:r>
                        <a:rPr lang="en-GB" sz="1200" dirty="0">
                          <a:solidFill>
                            <a:srgbClr val="FF0000"/>
                          </a:solidFill>
                        </a:rPr>
                        <a:t>: Uses clade-specific marker genes for fast, accurate profiling.</a:t>
                      </a:r>
                    </a:p>
                    <a:p>
                      <a:r>
                        <a:rPr lang="en-GB" sz="1200" b="1" dirty="0"/>
                        <a:t>Kraken2 / </a:t>
                      </a:r>
                      <a:r>
                        <a:rPr lang="en-GB" sz="1200" b="1" dirty="0" err="1"/>
                        <a:t>KrakenUniq</a:t>
                      </a:r>
                      <a:r>
                        <a:rPr lang="en-GB" sz="1200" dirty="0"/>
                        <a:t>: K-</a:t>
                      </a:r>
                      <a:r>
                        <a:rPr lang="en-GB" sz="1200" dirty="0" err="1"/>
                        <a:t>mer</a:t>
                      </a:r>
                      <a:r>
                        <a:rPr lang="en-GB" sz="1200" dirty="0"/>
                        <a:t> based, ultra-fast classification against a database of genomes.</a:t>
                      </a:r>
                    </a:p>
                    <a:p>
                      <a:r>
                        <a:rPr lang="en-GB" sz="1200" b="1" dirty="0"/>
                        <a:t>Centrifuge</a:t>
                      </a:r>
                      <a:r>
                        <a:rPr lang="en-GB" sz="1200" dirty="0"/>
                        <a:t>: K-</a:t>
                      </a:r>
                      <a:r>
                        <a:rPr lang="en-GB" sz="1200" dirty="0" err="1"/>
                        <a:t>mer</a:t>
                      </a:r>
                      <a:r>
                        <a:rPr lang="en-GB" sz="1200" dirty="0"/>
                        <a:t> based, designed for large reference databases and low-memory use.</a:t>
                      </a:r>
                    </a:p>
                    <a:p>
                      <a:r>
                        <a:rPr lang="en-GB" sz="1200" b="1" dirty="0" err="1"/>
                        <a:t>HUMAnN</a:t>
                      </a:r>
                      <a:r>
                        <a:rPr lang="en-GB" sz="1200" b="1" dirty="0"/>
                        <a:t> / HUMAnN3</a:t>
                      </a:r>
                      <a:r>
                        <a:rPr lang="en-GB" sz="1200" dirty="0"/>
                        <a:t>: Often used alongside MetaPhlAn for functional and taxonomic profiling.</a:t>
                      </a:r>
                    </a:p>
                    <a:p>
                      <a:r>
                        <a:rPr lang="en-GB" sz="1200" b="1" dirty="0" err="1"/>
                        <a:t>StrainPhlAn</a:t>
                      </a:r>
                      <a:r>
                        <a:rPr lang="en-GB" sz="1200" dirty="0"/>
                        <a:t>: Extension of MetaPhlAn for strain-level profiling.</a:t>
                      </a:r>
                    </a:p>
                  </a:txBody>
                  <a:tcPr/>
                </a:tc>
                <a:tc>
                  <a:txBody>
                    <a:bodyPr/>
                    <a:lstStyle/>
                    <a:p>
                      <a:r>
                        <a:rPr lang="en-GB" sz="1200" b="1" dirty="0" err="1"/>
                        <a:t>ChocoPhlAn</a:t>
                      </a:r>
                      <a:r>
                        <a:rPr lang="en-GB" sz="1200" dirty="0"/>
                        <a:t> (used by MetaPhlAn)</a:t>
                      </a:r>
                    </a:p>
                    <a:p>
                      <a:r>
                        <a:rPr lang="en-GB" sz="1200" b="1" dirty="0" err="1"/>
                        <a:t>RefSeq</a:t>
                      </a:r>
                      <a:r>
                        <a:rPr lang="en-GB" sz="1200" b="1" dirty="0"/>
                        <a:t> / GenBank</a:t>
                      </a:r>
                      <a:r>
                        <a:rPr lang="en-GB" sz="1200" dirty="0"/>
                        <a:t> (used by Kraken/Centrifuge)</a:t>
                      </a:r>
                    </a:p>
                    <a:p>
                      <a:r>
                        <a:rPr lang="en-GB" sz="1200" b="1" dirty="0"/>
                        <a:t>GTDB</a:t>
                      </a:r>
                      <a:r>
                        <a:rPr lang="en-GB" sz="12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
        <p:nvSpPr>
          <p:cNvPr id="7" name="TextBox 6">
            <a:extLst>
              <a:ext uri="{FF2B5EF4-FFF2-40B4-BE49-F238E27FC236}">
                <a16:creationId xmlns:a16="http://schemas.microsoft.com/office/drawing/2014/main" id="{8BE06B95-E750-5833-A26A-7406DA1544D5}"/>
              </a:ext>
            </a:extLst>
          </p:cNvPr>
          <p:cNvSpPr txBox="1"/>
          <p:nvPr/>
        </p:nvSpPr>
        <p:spPr>
          <a:xfrm>
            <a:off x="1383468" y="4461164"/>
            <a:ext cx="9921841" cy="2308324"/>
          </a:xfrm>
          <a:prstGeom prst="rect">
            <a:avLst/>
          </a:prstGeom>
          <a:noFill/>
        </p:spPr>
        <p:txBody>
          <a:bodyPr wrap="square" rtlCol="0">
            <a:spAutoFit/>
          </a:bodyPr>
          <a:lstStyle/>
          <a:p>
            <a:r>
              <a:rPr lang="en-DK" dirty="0"/>
              <a:t>Choice depending on:</a:t>
            </a:r>
          </a:p>
          <a:p>
            <a:endParaRPr lang="en-DK" dirty="0"/>
          </a:p>
          <a:p>
            <a:pPr marL="285750" indent="-285750">
              <a:buFont typeface="Arial" panose="020B0604020202020204" pitchFamily="34" charset="0"/>
              <a:buChar char="•"/>
            </a:pPr>
            <a:r>
              <a:rPr lang="en-GB" b="1" dirty="0"/>
              <a:t>Speed vs. Accuracy</a:t>
            </a:r>
            <a:r>
              <a:rPr lang="en-GB" dirty="0"/>
              <a:t>: Kraken2 is fast; MetaPhlAn is more accurate for species-level identification.</a:t>
            </a:r>
          </a:p>
          <a:p>
            <a:pPr marL="285750" indent="-285750">
              <a:buFont typeface="Arial" panose="020B0604020202020204" pitchFamily="34" charset="0"/>
              <a:buChar char="•"/>
            </a:pPr>
            <a:r>
              <a:rPr lang="en-GB" b="1" dirty="0"/>
              <a:t>Resolution</a:t>
            </a:r>
            <a:r>
              <a:rPr lang="en-GB" dirty="0"/>
              <a:t>: DADA2 and MetaPhlAn can provide high-resolution profiling.</a:t>
            </a:r>
          </a:p>
          <a:p>
            <a:pPr marL="285750" indent="-285750">
              <a:buFont typeface="Arial" panose="020B0604020202020204" pitchFamily="34" charset="0"/>
              <a:buChar char="•"/>
            </a:pPr>
            <a:r>
              <a:rPr lang="en-GB" b="1" dirty="0"/>
              <a:t>Data Type</a:t>
            </a:r>
            <a:r>
              <a:rPr lang="en-GB" dirty="0"/>
              <a:t>: Amplicon (16S) vs. shotgun metagenomics.</a:t>
            </a:r>
          </a:p>
          <a:p>
            <a:pPr marL="285750" indent="-285750">
              <a:buFont typeface="Arial" panose="020B0604020202020204" pitchFamily="34" charset="0"/>
              <a:buChar char="•"/>
            </a:pPr>
            <a:r>
              <a:rPr lang="en-GB" b="1" dirty="0"/>
              <a:t>Resource Requirements</a:t>
            </a:r>
            <a:r>
              <a:rPr lang="en-GB" dirty="0"/>
              <a:t>: Kraken needs large memory for big databases; MetaPhlAn is lighter.</a:t>
            </a:r>
          </a:p>
          <a:p>
            <a:endParaRPr lang="en-DK" dirty="0"/>
          </a:p>
        </p:txBody>
      </p:sp>
    </p:spTree>
    <p:extLst>
      <p:ext uri="{BB962C8B-B14F-4D97-AF65-F5344CB8AC3E}">
        <p14:creationId xmlns:p14="http://schemas.microsoft.com/office/powerpoint/2010/main" val="213081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61628" y="-207378"/>
            <a:ext cx="12155336" cy="1325563"/>
          </a:xfrm>
        </p:spPr>
        <p:txBody>
          <a:bodyPr>
            <a:normAutofit/>
          </a:bodyPr>
          <a:lstStyle/>
          <a:p>
            <a:r>
              <a:rPr lang="en-GB" sz="3600" dirty="0"/>
              <a:t>Assembly-based methods: </a:t>
            </a:r>
            <a:r>
              <a:rPr lang="en-DK" sz="3200"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
        <p:nvSpPr>
          <p:cNvPr id="4109" name="TextBox 4108">
            <a:extLst>
              <a:ext uri="{FF2B5EF4-FFF2-40B4-BE49-F238E27FC236}">
                <a16:creationId xmlns:a16="http://schemas.microsoft.com/office/drawing/2014/main" id="{766FA89E-D7BA-F4BD-DA17-5B64F4A2CDFD}"/>
              </a:ext>
            </a:extLst>
          </p:cNvPr>
          <p:cNvSpPr txBox="1"/>
          <p:nvPr/>
        </p:nvSpPr>
        <p:spPr>
          <a:xfrm>
            <a:off x="10571071" y="876064"/>
            <a:ext cx="1842668" cy="1015663"/>
          </a:xfrm>
          <a:prstGeom prst="rect">
            <a:avLst/>
          </a:prstGeom>
          <a:noFill/>
        </p:spPr>
        <p:txBody>
          <a:bodyPr wrap="square" rtlCol="0">
            <a:spAutoFit/>
          </a:bodyPr>
          <a:lstStyle/>
          <a:p>
            <a:pPr marL="285750" indent="-285750">
              <a:buFont typeface="Arial" panose="020B0604020202020204" pitchFamily="34" charset="0"/>
              <a:buChar char="•"/>
            </a:pPr>
            <a:r>
              <a:rPr lang="en-DK" sz="1200" dirty="0"/>
              <a:t>GC content</a:t>
            </a:r>
          </a:p>
          <a:p>
            <a:pPr marL="285750" indent="-285750">
              <a:buFont typeface="Arial" panose="020B0604020202020204" pitchFamily="34" charset="0"/>
              <a:buChar char="•"/>
            </a:pPr>
            <a:r>
              <a:rPr lang="en-DK" sz="1200" dirty="0"/>
              <a:t>tetranuclotide frequencies</a:t>
            </a:r>
          </a:p>
          <a:p>
            <a:pPr marL="285750" indent="-285750">
              <a:buFont typeface="Arial" panose="020B0604020202020204" pitchFamily="34" charset="0"/>
              <a:buChar char="•"/>
            </a:pPr>
            <a:r>
              <a:rPr lang="en-DK" sz="1200" dirty="0"/>
              <a:t>coverage depth across samples</a:t>
            </a:r>
          </a:p>
        </p:txBody>
      </p:sp>
    </p:spTree>
    <p:extLst>
      <p:ext uri="{BB962C8B-B14F-4D97-AF65-F5344CB8AC3E}">
        <p14:creationId xmlns:p14="http://schemas.microsoft.com/office/powerpoint/2010/main" val="2829048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
        <p:nvSpPr>
          <p:cNvPr id="5" name="TextBox 4">
            <a:extLst>
              <a:ext uri="{FF2B5EF4-FFF2-40B4-BE49-F238E27FC236}">
                <a16:creationId xmlns:a16="http://schemas.microsoft.com/office/drawing/2014/main" id="{7826ADEE-FA08-78C3-C003-9CA45E18E5C3}"/>
              </a:ext>
            </a:extLst>
          </p:cNvPr>
          <p:cNvSpPr txBox="1"/>
          <p:nvPr/>
        </p:nvSpPr>
        <p:spPr>
          <a:xfrm>
            <a:off x="7932420" y="342637"/>
            <a:ext cx="3783330" cy="307777"/>
          </a:xfrm>
          <a:prstGeom prst="rect">
            <a:avLst/>
          </a:prstGeom>
          <a:noFill/>
        </p:spPr>
        <p:txBody>
          <a:bodyPr wrap="square" rtlCol="0">
            <a:spAutoFit/>
          </a:bodyPr>
          <a:lstStyle/>
          <a:p>
            <a:r>
              <a:rPr lang="en-GB" sz="1400" dirty="0">
                <a:hlinkClick r:id="rId3"/>
              </a:rPr>
              <a:t>https://pubmed.ncbi.nlm.nih.gov/28898207/</a:t>
            </a:r>
            <a:endParaRPr lang="en-GB" sz="1400" dirty="0"/>
          </a:p>
        </p:txBody>
      </p:sp>
    </p:spTree>
    <p:extLst>
      <p:ext uri="{BB962C8B-B14F-4D97-AF65-F5344CB8AC3E}">
        <p14:creationId xmlns:p14="http://schemas.microsoft.com/office/powerpoint/2010/main" val="1718749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Comparing the three methods</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3133893287"/>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Reference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Building a microbial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35</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684823"/>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399996"/>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332195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952596"/>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583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314226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6568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322166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726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305540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513113"/>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980484"/>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2230792"/>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701686"/>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712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42852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7860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436468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855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419842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642273"/>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4123499"/>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373807"/>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844702"/>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43395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9528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52587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502664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605276"/>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509592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43901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882865"/>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5364091"/>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5085294"/>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614237"/>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488912"/>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815049"/>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4583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536613"/>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614855"/>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300606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30843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927823"/>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69120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332077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39902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3242537"/>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477263"/>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6930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771339"/>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849581"/>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5656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643881"/>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7221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80036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87860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95684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4035091"/>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42630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50454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4348059"/>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582785"/>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74101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8192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662773"/>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897499"/>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411333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4191575"/>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4269817"/>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98587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5064117"/>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514235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52206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520663"/>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846800"/>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79550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89004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321768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310955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33219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4165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9804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5069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7302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622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83459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92913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425677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4148643"/>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436107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455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401957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54605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611152"/>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643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7400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536613"/>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3179188"/>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310464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719518"/>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64497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4315958"/>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4157592"/>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42247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962329"/>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2140487"/>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5364091"/>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656549"/>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692383"/>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63003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7239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86487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300578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71030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43208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32406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31466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94514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4284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56939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75727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99211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6496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46179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67700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77094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91184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305275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3193655"/>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8981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5087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47546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33345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417998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61636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80423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403907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422695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74359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55572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817911"/>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9588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309971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328759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381527"/>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41330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60269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66333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52243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4367855"/>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85120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408604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427391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4148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7905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69663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682809"/>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923330"/>
          </a:xfrm>
          <a:prstGeom prst="rect">
            <a:avLst/>
          </a:prstGeom>
          <a:noFill/>
        </p:spPr>
        <p:txBody>
          <a:bodyPr wrap="square" rtlCol="0">
            <a:spAutoFit/>
          </a:bodyPr>
          <a:lstStyle/>
          <a:p>
            <a:r>
              <a:rPr lang="en-DK" dirty="0"/>
              <a:t>To do functional annotation you can always map reads to genes (read/reference-based annotation)</a:t>
            </a:r>
          </a:p>
          <a:p>
            <a:r>
              <a:rPr lang="en-DK" dirty="0"/>
              <a:t>A common resource used in functional annotation is building a gene catalog</a:t>
            </a:r>
            <a:br>
              <a:rPr lang="en-DK" dirty="0"/>
            </a:br>
            <a:r>
              <a:rPr lang="en-DK" dirty="0"/>
              <a:t>The beginning of the process is the same as the assembly method</a:t>
            </a:r>
          </a:p>
        </p:txBody>
      </p:sp>
      <p:sp>
        <p:nvSpPr>
          <p:cNvPr id="244" name="TextBox 243">
            <a:extLst>
              <a:ext uri="{FF2B5EF4-FFF2-40B4-BE49-F238E27FC236}">
                <a16:creationId xmlns:a16="http://schemas.microsoft.com/office/drawing/2014/main" id="{A7B67870-7F43-1ACE-534E-0F12DD9F3027}"/>
              </a:ext>
            </a:extLst>
          </p:cNvPr>
          <p:cNvSpPr txBox="1"/>
          <p:nvPr/>
        </p:nvSpPr>
        <p:spPr>
          <a:xfrm>
            <a:off x="6490798" y="4977350"/>
            <a:ext cx="1610356" cy="923330"/>
          </a:xfrm>
          <a:prstGeom prst="rect">
            <a:avLst/>
          </a:prstGeom>
          <a:noFill/>
        </p:spPr>
        <p:txBody>
          <a:bodyPr wrap="square" rtlCol="0">
            <a:spAutoFit/>
          </a:bodyPr>
          <a:lstStyle/>
          <a:p>
            <a:r>
              <a:rPr lang="en-DK" dirty="0"/>
              <a:t>CD-HIT</a:t>
            </a:r>
          </a:p>
          <a:p>
            <a:r>
              <a:rPr lang="en-DK" dirty="0"/>
              <a:t>95% identity</a:t>
            </a:r>
          </a:p>
          <a:p>
            <a:r>
              <a:rPr lang="en-DK" dirty="0"/>
              <a:t>90% coverage</a:t>
            </a:r>
          </a:p>
        </p:txBody>
      </p:sp>
    </p:spTree>
    <p:extLst>
      <p:ext uri="{BB962C8B-B14F-4D97-AF65-F5344CB8AC3E}">
        <p14:creationId xmlns:p14="http://schemas.microsoft.com/office/powerpoint/2010/main" val="19714123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344615" y="-93735"/>
            <a:ext cx="11847385" cy="1325563"/>
          </a:xfrm>
        </p:spPr>
        <p:txBody>
          <a:bodyPr>
            <a:normAutofit/>
          </a:bodyPr>
          <a:lstStyle/>
          <a:p>
            <a:r>
              <a:rPr lang="en-US" sz="3600" dirty="0">
                <a:latin typeface="Calibri" charset="0"/>
                <a:ea typeface="Calibri" charset="0"/>
                <a:cs typeface="Calibri" charset="0"/>
              </a:rPr>
              <a:t>Annotating the gene catalog and getting functional abundance</a:t>
            </a:r>
            <a:endParaRPr lang="en-DK" sz="3600" dirty="0"/>
          </a:p>
        </p:txBody>
      </p:sp>
      <p:sp>
        <p:nvSpPr>
          <p:cNvPr id="5" name="Right Arrow 4">
            <a:extLst>
              <a:ext uri="{FF2B5EF4-FFF2-40B4-BE49-F238E27FC236}">
                <a16:creationId xmlns:a16="http://schemas.microsoft.com/office/drawing/2014/main" id="{5330876F-F096-887A-C8A3-AB7D6FA06999}"/>
              </a:ext>
            </a:extLst>
          </p:cNvPr>
          <p:cNvSpPr/>
          <p:nvPr/>
        </p:nvSpPr>
        <p:spPr>
          <a:xfrm>
            <a:off x="3897541" y="2779680"/>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5225455" y="2754321"/>
            <a:ext cx="2659426" cy="1646605"/>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r>
              <a:rPr lang="en-US" sz="1600" b="1" dirty="0">
                <a:latin typeface="Calibri" charset="0"/>
                <a:ea typeface="Calibri" charset="0"/>
                <a:cs typeface="Calibri" charset="0"/>
              </a:rPr>
              <a:t> orthologous</a:t>
            </a:r>
          </a:p>
          <a:p>
            <a:pPr algn="ctr">
              <a:spcBef>
                <a:spcPts val="600"/>
              </a:spcBef>
            </a:pPr>
            <a:r>
              <a:rPr lang="en-GB" sz="1600" dirty="0"/>
              <a:t>Descend from a single gene in the last common ancestor and typically perform the same function across species</a:t>
            </a:r>
            <a:endParaRPr lang="en-US" sz="1600" dirty="0">
              <a:latin typeface="Calibri" charset="0"/>
              <a:ea typeface="Calibri" charset="0"/>
              <a:cs typeface="Calibri" charset="0"/>
            </a:endParaRPr>
          </a:p>
        </p:txBody>
      </p:sp>
      <p:sp>
        <p:nvSpPr>
          <p:cNvPr id="9" name="TextBox 8">
            <a:extLst>
              <a:ext uri="{FF2B5EF4-FFF2-40B4-BE49-F238E27FC236}">
                <a16:creationId xmlns:a16="http://schemas.microsoft.com/office/drawing/2014/main" id="{F37BF3E0-64CD-3FCD-C53A-1E4F4CD96D20}"/>
              </a:ext>
            </a:extLst>
          </p:cNvPr>
          <p:cNvSpPr txBox="1"/>
          <p:nvPr/>
        </p:nvSpPr>
        <p:spPr>
          <a:xfrm>
            <a:off x="3368174" y="2225318"/>
            <a:ext cx="2031597" cy="2046714"/>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endParaRPr lang="en-US" sz="1600" b="1" dirty="0">
              <a:latin typeface="Calibri" charset="0"/>
              <a:ea typeface="Calibri" charset="0"/>
              <a:cs typeface="Calibri" charset="0"/>
            </a:endParaRPr>
          </a:p>
          <a:p>
            <a:pPr algn="ctr">
              <a:spcBef>
                <a:spcPts val="600"/>
              </a:spcBef>
            </a:pPr>
            <a:r>
              <a:rPr lang="en-US" sz="1600" b="1" dirty="0">
                <a:latin typeface="Calibri" charset="0"/>
                <a:ea typeface="Calibri" charset="0"/>
                <a:cs typeface="Calibri" charset="0"/>
              </a:rPr>
              <a:t>mapper</a:t>
            </a:r>
          </a:p>
          <a:p>
            <a:pPr algn="ctr">
              <a:spcBef>
                <a:spcPts val="600"/>
              </a:spcBef>
            </a:pPr>
            <a:endParaRPr lang="en-US" sz="1600" dirty="0">
              <a:latin typeface="Calibri" charset="0"/>
              <a:ea typeface="Calibri" charset="0"/>
              <a:cs typeface="Calibri" charset="0"/>
            </a:endParaRPr>
          </a:p>
          <a:p>
            <a:pPr algn="ctr">
              <a:spcBef>
                <a:spcPts val="600"/>
              </a:spcBef>
            </a:pPr>
            <a:r>
              <a:rPr lang="en-GB" sz="1600" dirty="0"/>
              <a:t>Functional annotation tool using </a:t>
            </a:r>
            <a:r>
              <a:rPr lang="en-GB" sz="1600" dirty="0" err="1"/>
              <a:t>orthology</a:t>
            </a:r>
            <a:r>
              <a:rPr lang="en-GB" sz="1600" dirty="0"/>
              <a:t>-based inference</a:t>
            </a:r>
            <a:endParaRPr lang="en-US" sz="1600" dirty="0">
              <a:latin typeface="Calibri" charset="0"/>
              <a:ea typeface="Calibri" charset="0"/>
              <a:cs typeface="Calibri" charset="0"/>
            </a:endParaRPr>
          </a:p>
        </p:txBody>
      </p:sp>
      <p:sp>
        <p:nvSpPr>
          <p:cNvPr id="18" name="TextBox 17">
            <a:extLst>
              <a:ext uri="{FF2B5EF4-FFF2-40B4-BE49-F238E27FC236}">
                <a16:creationId xmlns:a16="http://schemas.microsoft.com/office/drawing/2014/main" id="{DB429759-03E4-0EF1-7A0A-5132ECCFC9AB}"/>
              </a:ext>
            </a:extLst>
          </p:cNvPr>
          <p:cNvSpPr txBox="1"/>
          <p:nvPr/>
        </p:nvSpPr>
        <p:spPr>
          <a:xfrm>
            <a:off x="641073" y="940534"/>
            <a:ext cx="11120867"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1805423" y="4443798"/>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2101881" y="206454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2101881" y="211150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2101881" y="22054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2101881" y="234634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2101881" y="248725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2101881" y="319177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2101881" y="38023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2101881" y="27220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2101881" y="26281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2101881" y="342661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2101881" y="290996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2101881" y="305086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2101881" y="323874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2101881" y="347358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2101881" y="41311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2101881" y="394326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2101881" y="215847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2101881" y="225241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2101881" y="239331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2101881" y="253422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2101881" y="2675124"/>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2101881" y="33796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2101881" y="39902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2101881" y="295693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2101881" y="28160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2101881" y="366145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2101881" y="309783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2101881" y="328570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2101881" y="352054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2101881" y="370842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2101881" y="422506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2101881" y="403719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2101881" y="2299380"/>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2101881" y="24402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2101881" y="258118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2101881" y="276906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2101881" y="2862996"/>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2101881" y="36144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2101881" y="4084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2101881" y="314480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2101881" y="300390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2101881" y="384932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2101881" y="333267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2101881" y="356751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2101881" y="375538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2101881" y="38962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2101881" y="42720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2101881" y="417810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2032603" y="4164278"/>
            <a:ext cx="772803" cy="369332"/>
          </a:xfrm>
          <a:prstGeom prst="rect">
            <a:avLst/>
          </a:prstGeom>
          <a:noFill/>
        </p:spPr>
        <p:txBody>
          <a:bodyPr wrap="square" rtlCol="0">
            <a:spAutoFit/>
          </a:bodyPr>
          <a:lstStyle/>
          <a:p>
            <a:r>
              <a:rPr lang="en-DK" dirty="0"/>
              <a:t>…</a:t>
            </a:r>
          </a:p>
        </p:txBody>
      </p:sp>
      <p:graphicFrame>
        <p:nvGraphicFramePr>
          <p:cNvPr id="70" name="Table 69">
            <a:extLst>
              <a:ext uri="{FF2B5EF4-FFF2-40B4-BE49-F238E27FC236}">
                <a16:creationId xmlns:a16="http://schemas.microsoft.com/office/drawing/2014/main" id="{184A7589-5FE3-7EAF-8A3A-9810BD02B782}"/>
              </a:ext>
            </a:extLst>
          </p:cNvPr>
          <p:cNvGraphicFramePr>
            <a:graphicFrameLocks noGrp="1"/>
          </p:cNvGraphicFramePr>
          <p:nvPr>
            <p:extLst>
              <p:ext uri="{D42A27DB-BD31-4B8C-83A1-F6EECF244321}">
                <p14:modId xmlns:p14="http://schemas.microsoft.com/office/powerpoint/2010/main" val="51334324"/>
              </p:ext>
            </p:extLst>
          </p:nvPr>
        </p:nvGraphicFramePr>
        <p:xfrm>
          <a:off x="5425058" y="4821158"/>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71" name="TextBox 70">
            <a:extLst>
              <a:ext uri="{FF2B5EF4-FFF2-40B4-BE49-F238E27FC236}">
                <a16:creationId xmlns:a16="http://schemas.microsoft.com/office/drawing/2014/main" id="{D02B1ECB-D830-B672-242C-DF365B8C98AF}"/>
              </a:ext>
            </a:extLst>
          </p:cNvPr>
          <p:cNvSpPr txBox="1"/>
          <p:nvPr/>
        </p:nvSpPr>
        <p:spPr>
          <a:xfrm>
            <a:off x="5292312" y="5987204"/>
            <a:ext cx="1838570" cy="923330"/>
          </a:xfrm>
          <a:prstGeom prst="rect">
            <a:avLst/>
          </a:prstGeom>
          <a:noFill/>
        </p:spPr>
        <p:txBody>
          <a:bodyPr wrap="square" rtlCol="0">
            <a:spAutoFit/>
          </a:bodyPr>
          <a:lstStyle/>
          <a:p>
            <a:r>
              <a:rPr lang="en-DK" dirty="0"/>
              <a:t>Functional abundance table </a:t>
            </a:r>
          </a:p>
        </p:txBody>
      </p:sp>
      <p:sp>
        <p:nvSpPr>
          <p:cNvPr id="72" name="TextBox 71">
            <a:extLst>
              <a:ext uri="{FF2B5EF4-FFF2-40B4-BE49-F238E27FC236}">
                <a16:creationId xmlns:a16="http://schemas.microsoft.com/office/drawing/2014/main" id="{CF3737A6-F1AF-14E0-1724-536F9975F89E}"/>
              </a:ext>
            </a:extLst>
          </p:cNvPr>
          <p:cNvSpPr txBox="1"/>
          <p:nvPr/>
        </p:nvSpPr>
        <p:spPr>
          <a:xfrm>
            <a:off x="5380288" y="4496676"/>
            <a:ext cx="1094509" cy="369332"/>
          </a:xfrm>
          <a:prstGeom prst="rect">
            <a:avLst/>
          </a:prstGeom>
          <a:noFill/>
        </p:spPr>
        <p:txBody>
          <a:bodyPr wrap="square" rtlCol="0">
            <a:spAutoFit/>
          </a:bodyPr>
          <a:lstStyle/>
          <a:p>
            <a:r>
              <a:rPr lang="en-DK" dirty="0"/>
              <a:t>Samples</a:t>
            </a:r>
          </a:p>
        </p:txBody>
      </p:sp>
      <p:sp>
        <p:nvSpPr>
          <p:cNvPr id="73" name="TextBox 72">
            <a:extLst>
              <a:ext uri="{FF2B5EF4-FFF2-40B4-BE49-F238E27FC236}">
                <a16:creationId xmlns:a16="http://schemas.microsoft.com/office/drawing/2014/main" id="{D601FD09-9ACB-0A28-0570-9ABA4DF91F7E}"/>
              </a:ext>
            </a:extLst>
          </p:cNvPr>
          <p:cNvSpPr txBox="1"/>
          <p:nvPr/>
        </p:nvSpPr>
        <p:spPr>
          <a:xfrm rot="16200000">
            <a:off x="4411658" y="5027196"/>
            <a:ext cx="1617517" cy="369332"/>
          </a:xfrm>
          <a:prstGeom prst="rect">
            <a:avLst/>
          </a:prstGeom>
          <a:noFill/>
        </p:spPr>
        <p:txBody>
          <a:bodyPr wrap="square" rtlCol="0">
            <a:spAutoFit/>
          </a:bodyPr>
          <a:lstStyle/>
          <a:p>
            <a:r>
              <a:rPr lang="en-DK" dirty="0"/>
              <a:t>Genes</a:t>
            </a:r>
          </a:p>
        </p:txBody>
      </p:sp>
      <p:grpSp>
        <p:nvGrpSpPr>
          <p:cNvPr id="74" name="Group 73">
            <a:extLst>
              <a:ext uri="{FF2B5EF4-FFF2-40B4-BE49-F238E27FC236}">
                <a16:creationId xmlns:a16="http://schemas.microsoft.com/office/drawing/2014/main" id="{883948C8-E77F-D797-F58C-387FFBBBD662}"/>
              </a:ext>
            </a:extLst>
          </p:cNvPr>
          <p:cNvGrpSpPr/>
          <p:nvPr/>
        </p:nvGrpSpPr>
        <p:grpSpPr>
          <a:xfrm>
            <a:off x="1936798" y="5646763"/>
            <a:ext cx="1052498" cy="949890"/>
            <a:chOff x="2867877" y="1810364"/>
            <a:chExt cx="1584615" cy="1697182"/>
          </a:xfrm>
        </p:grpSpPr>
        <p:cxnSp>
          <p:nvCxnSpPr>
            <p:cNvPr id="75" name="Straight Connector 74">
              <a:extLst>
                <a:ext uri="{FF2B5EF4-FFF2-40B4-BE49-F238E27FC236}">
                  <a16:creationId xmlns:a16="http://schemas.microsoft.com/office/drawing/2014/main" id="{FCAFE1B5-8131-2C7B-8DE2-A08821082CB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561DCA2A-D722-4072-847C-AF9795598BF8}"/>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776D1259-5249-27FE-E5A9-9AA334BD57A1}"/>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2E03014A-34E4-BF4E-9C33-D3277F224BBE}"/>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CDC8E764-6659-F6BE-1FE2-B814F97AC4D4}"/>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00F12446-636D-530E-4045-7879466B6F67}"/>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BE234C9-F322-FB2F-5C99-B826F4A07AAF}"/>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D8C587A4-A580-3C3B-5DDE-5AF31B6D625F}"/>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C216308F-AF6C-FCC8-3147-838E2F0BDBD0}"/>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E74FDF6D-F359-3521-92B8-0DC306181172}"/>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2B3D028E-AAE2-5B60-C800-67E56DEAC805}"/>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5BF4760A-A270-C073-05AA-C563EB0894A2}"/>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CCA939F5-B0D6-7B23-4D4D-9102C22ABCFA}"/>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464B9A3B-B1BA-4891-3E83-AEDE9F923838}"/>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FE123D71-F213-9DEF-98E7-DE6AEEC937AD}"/>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1538CDB9-B705-1093-7676-23E0C52B80BD}"/>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F396978C-53F0-E6BC-4990-18EAE1369A3A}"/>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9F8A73DE-C016-2ADD-390E-3D2891C3578B}"/>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4F083110-60B6-2936-5E44-B96B1ED71B16}"/>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846C876-4BD9-CEA8-5E65-EE5875239381}"/>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2A86CB98-BAA4-8901-66FA-3CD3B295BB3F}"/>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310F062-C3F6-F368-FB5F-63FF1FCC9CDC}"/>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9C37010D-E9ED-5D41-F8DB-03B7DF9CEE88}"/>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99" name="Up Arrow 98">
            <a:extLst>
              <a:ext uri="{FF2B5EF4-FFF2-40B4-BE49-F238E27FC236}">
                <a16:creationId xmlns:a16="http://schemas.microsoft.com/office/drawing/2014/main" id="{88F0A46B-A983-B636-3A42-07F1B0A6465E}"/>
              </a:ext>
            </a:extLst>
          </p:cNvPr>
          <p:cNvSpPr/>
          <p:nvPr/>
        </p:nvSpPr>
        <p:spPr>
          <a:xfrm>
            <a:off x="2339875" y="5090129"/>
            <a:ext cx="310905" cy="360068"/>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0" name="TextBox 99">
            <a:extLst>
              <a:ext uri="{FF2B5EF4-FFF2-40B4-BE49-F238E27FC236}">
                <a16:creationId xmlns:a16="http://schemas.microsoft.com/office/drawing/2014/main" id="{213836FA-9657-1E4D-1A82-4326C0846C2C}"/>
              </a:ext>
            </a:extLst>
          </p:cNvPr>
          <p:cNvSpPr txBox="1"/>
          <p:nvPr/>
        </p:nvSpPr>
        <p:spPr>
          <a:xfrm>
            <a:off x="3085722" y="5769539"/>
            <a:ext cx="2206590" cy="923330"/>
          </a:xfrm>
          <a:prstGeom prst="rect">
            <a:avLst/>
          </a:prstGeom>
          <a:noFill/>
        </p:spPr>
        <p:txBody>
          <a:bodyPr wrap="square" rtlCol="0">
            <a:spAutoFit/>
          </a:bodyPr>
          <a:lstStyle/>
          <a:p>
            <a:pPr marL="285750" indent="-285750">
              <a:buFont typeface="Arial" panose="020B0604020202020204" pitchFamily="34" charset="0"/>
              <a:buChar char="•"/>
            </a:pPr>
            <a:r>
              <a:rPr lang="en-DK" dirty="0"/>
              <a:t>gene length</a:t>
            </a:r>
          </a:p>
          <a:p>
            <a:pPr marL="285750" indent="-285750">
              <a:buFont typeface="Arial" panose="020B0604020202020204" pitchFamily="34" charset="0"/>
              <a:buChar char="•"/>
            </a:pPr>
            <a:r>
              <a:rPr lang="en-DK" dirty="0"/>
              <a:t>sample depth normalization</a:t>
            </a:r>
          </a:p>
        </p:txBody>
      </p:sp>
      <p:sp>
        <p:nvSpPr>
          <p:cNvPr id="101" name="Right Arrow 100">
            <a:extLst>
              <a:ext uri="{FF2B5EF4-FFF2-40B4-BE49-F238E27FC236}">
                <a16:creationId xmlns:a16="http://schemas.microsoft.com/office/drawing/2014/main" id="{D2380795-7BF6-5FD4-BB10-D2AAC6A024A1}"/>
              </a:ext>
            </a:extLst>
          </p:cNvPr>
          <p:cNvSpPr/>
          <p:nvPr/>
        </p:nvSpPr>
        <p:spPr>
          <a:xfrm>
            <a:off x="3613972" y="5092805"/>
            <a:ext cx="1065546" cy="432105"/>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03" name="Left Brace 102">
            <a:extLst>
              <a:ext uri="{FF2B5EF4-FFF2-40B4-BE49-F238E27FC236}">
                <a16:creationId xmlns:a16="http://schemas.microsoft.com/office/drawing/2014/main" id="{641C8417-2190-9748-8EE4-5C875ACBB37E}"/>
              </a:ext>
            </a:extLst>
          </p:cNvPr>
          <p:cNvSpPr/>
          <p:nvPr/>
        </p:nvSpPr>
        <p:spPr>
          <a:xfrm>
            <a:off x="7933027" y="2266096"/>
            <a:ext cx="296392" cy="269619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04" name="TextBox 103">
            <a:extLst>
              <a:ext uri="{FF2B5EF4-FFF2-40B4-BE49-F238E27FC236}">
                <a16:creationId xmlns:a16="http://schemas.microsoft.com/office/drawing/2014/main" id="{1894D34F-58D2-7159-C3BC-6F0FD1B16D8F}"/>
              </a:ext>
            </a:extLst>
          </p:cNvPr>
          <p:cNvSpPr txBox="1"/>
          <p:nvPr/>
        </p:nvSpPr>
        <p:spPr>
          <a:xfrm>
            <a:off x="8192385" y="2439040"/>
            <a:ext cx="3611728" cy="2308324"/>
          </a:xfrm>
          <a:prstGeom prst="rect">
            <a:avLst/>
          </a:prstGeom>
          <a:noFill/>
        </p:spPr>
        <p:txBody>
          <a:bodyPr wrap="square" rtlCol="0">
            <a:spAutoFit/>
          </a:bodyPr>
          <a:lstStyle/>
          <a:p>
            <a:r>
              <a:rPr lang="en-GB" sz="1600" b="1" dirty="0"/>
              <a:t>Functional information databases</a:t>
            </a:r>
          </a:p>
          <a:p>
            <a:pPr marL="285750" indent="-285750">
              <a:buFont typeface="Arial" panose="020B0604020202020204" pitchFamily="34" charset="0"/>
              <a:buChar char="•"/>
            </a:pPr>
            <a:r>
              <a:rPr lang="en-GB" sz="1600" dirty="0"/>
              <a:t>Gene Ontology (GO) terms</a:t>
            </a:r>
          </a:p>
          <a:p>
            <a:pPr marL="285750" indent="-285750">
              <a:buFont typeface="Arial" panose="020B0604020202020204" pitchFamily="34" charset="0"/>
              <a:buChar char="•"/>
            </a:pPr>
            <a:r>
              <a:rPr lang="en-GB" sz="1600" dirty="0"/>
              <a:t>KEGG pathways</a:t>
            </a:r>
          </a:p>
          <a:p>
            <a:pPr marL="285750" indent="-285750">
              <a:buFont typeface="Arial" panose="020B0604020202020204" pitchFamily="34" charset="0"/>
              <a:buChar char="•"/>
            </a:pPr>
            <a:r>
              <a:rPr lang="en-GB" sz="1600" dirty="0"/>
              <a:t>COG categories</a:t>
            </a:r>
          </a:p>
          <a:p>
            <a:pPr marL="285750" indent="-285750">
              <a:buFont typeface="Arial" panose="020B0604020202020204" pitchFamily="34" charset="0"/>
              <a:buChar char="•"/>
            </a:pPr>
            <a:r>
              <a:rPr lang="en-GB" sz="1600" dirty="0"/>
              <a:t>CAZY categories</a:t>
            </a:r>
          </a:p>
          <a:p>
            <a:pPr marL="285750" indent="-285750">
              <a:buFont typeface="Arial" panose="020B0604020202020204" pitchFamily="34" charset="0"/>
              <a:buChar char="•"/>
            </a:pPr>
            <a:r>
              <a:rPr lang="en-GB" sz="1600" dirty="0" err="1"/>
              <a:t>Pfam</a:t>
            </a:r>
            <a:r>
              <a:rPr lang="en-GB" sz="1600" dirty="0"/>
              <a:t> domains</a:t>
            </a:r>
          </a:p>
          <a:p>
            <a:pPr marL="285750" indent="-285750">
              <a:buFont typeface="Arial" panose="020B0604020202020204" pitchFamily="34" charset="0"/>
              <a:buChar char="•"/>
            </a:pPr>
            <a:r>
              <a:rPr lang="en-GB" sz="1600" dirty="0"/>
              <a:t>Enzyme Commission (EC) numbers</a:t>
            </a:r>
          </a:p>
          <a:p>
            <a:pPr marL="285750" indent="-285750">
              <a:buFont typeface="Arial" panose="020B0604020202020204" pitchFamily="34" charset="0"/>
              <a:buChar char="•"/>
            </a:pPr>
            <a:r>
              <a:rPr lang="en-GB" sz="1600" dirty="0"/>
              <a:t>Protein names and descriptions</a:t>
            </a:r>
          </a:p>
          <a:p>
            <a:pPr marL="285750" indent="-285750">
              <a:buFont typeface="Arial" panose="020B0604020202020204" pitchFamily="34" charset="0"/>
              <a:buChar char="•"/>
            </a:pPr>
            <a:r>
              <a:rPr lang="en-DK" sz="1600" dirty="0"/>
              <a:t>…</a:t>
            </a:r>
          </a:p>
        </p:txBody>
      </p:sp>
    </p:spTree>
    <p:extLst>
      <p:ext uri="{BB962C8B-B14F-4D97-AF65-F5344CB8AC3E}">
        <p14:creationId xmlns:p14="http://schemas.microsoft.com/office/powerpoint/2010/main" val="28625378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B0DAA3E-CDC1-74B6-FFFA-1C098EF29CDD}"/>
              </a:ext>
            </a:extLst>
          </p:cNvPr>
          <p:cNvSpPr txBox="1"/>
          <p:nvPr/>
        </p:nvSpPr>
        <p:spPr>
          <a:xfrm>
            <a:off x="1774088" y="1838520"/>
            <a:ext cx="8643824" cy="3416320"/>
          </a:xfrm>
          <a:prstGeom prst="rect">
            <a:avLst/>
          </a:prstGeom>
          <a:noFill/>
        </p:spPr>
        <p:txBody>
          <a:bodyPr wrap="square" rtlCol="0">
            <a:spAutoFit/>
          </a:bodyPr>
          <a:lstStyle/>
          <a:p>
            <a:pPr marL="285750" indent="-285750">
              <a:buFont typeface="Arial" panose="020B0604020202020204" pitchFamily="34" charset="0"/>
              <a:buChar char="•"/>
            </a:pPr>
            <a:r>
              <a:rPr lang="en-DK" dirty="0"/>
              <a:t>Annotation of genes across all metagenome (not only the known ones – novel or uncharacterized functions - </a:t>
            </a:r>
            <a:r>
              <a:rPr lang="en-GB" dirty="0"/>
              <a:t>new biochemical functions, pathways, or resistance mechanisms</a:t>
            </a:r>
            <a:r>
              <a:rPr lang="en-DK" dirty="0"/>
              <a:t>)</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Facilitates comparative and longitudinal studies (compare between environments or timepoints)</a:t>
            </a:r>
          </a:p>
          <a:p>
            <a:pPr marL="285750" indent="-285750">
              <a:buFont typeface="Arial" panose="020B0604020202020204" pitchFamily="34" charset="0"/>
              <a:buChar char="•"/>
            </a:pPr>
            <a:r>
              <a:rPr lang="en-GB" dirty="0"/>
              <a:t>Improves Annotation Efficiency (non-redundant)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Reusable resource (valuable resource for ongoing large scale projects)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Enhanced sensitivity in rare function detection (genes from low abundance taxa carrying potentially important functions (</a:t>
            </a:r>
            <a:r>
              <a:rPr lang="en-GB" dirty="0" err="1"/>
              <a:t>e.g</a:t>
            </a:r>
            <a:r>
              <a:rPr lang="en-GB" dirty="0"/>
              <a:t> ARGs, secondary metabolites)</a:t>
            </a:r>
            <a:endParaRPr lang="en-DK" dirty="0"/>
          </a:p>
        </p:txBody>
      </p:sp>
      <p:sp>
        <p:nvSpPr>
          <p:cNvPr id="7" name="Title 1">
            <a:extLst>
              <a:ext uri="{FF2B5EF4-FFF2-40B4-BE49-F238E27FC236}">
                <a16:creationId xmlns:a16="http://schemas.microsoft.com/office/drawing/2014/main" id="{C12EEC5F-0377-F7EB-1FD8-23B7F129CA4C}"/>
              </a:ext>
            </a:extLst>
          </p:cNvPr>
          <p:cNvSpPr>
            <a:spLocks noGrp="1"/>
          </p:cNvSpPr>
          <p:nvPr>
            <p:ph type="title"/>
          </p:nvPr>
        </p:nvSpPr>
        <p:spPr>
          <a:xfrm>
            <a:off x="344615" y="0"/>
            <a:ext cx="11847385" cy="1325563"/>
          </a:xfrm>
        </p:spPr>
        <p:txBody>
          <a:bodyPr>
            <a:normAutofit/>
          </a:bodyPr>
          <a:lstStyle/>
          <a:p>
            <a:r>
              <a:rPr lang="en-DK" dirty="0"/>
              <a:t>Why building a gene catalog?</a:t>
            </a:r>
          </a:p>
        </p:txBody>
      </p:sp>
    </p:spTree>
    <p:extLst>
      <p:ext uri="{BB962C8B-B14F-4D97-AF65-F5344CB8AC3E}">
        <p14:creationId xmlns:p14="http://schemas.microsoft.com/office/powerpoint/2010/main" val="19943492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lnSpcReduction="10000"/>
          </a:bodyPr>
          <a:lstStyle/>
          <a:p>
            <a:r>
              <a:rPr lang="en-DK" sz="1800" dirty="0"/>
              <a:t>Sparsity</a:t>
            </a:r>
          </a:p>
          <a:p>
            <a:r>
              <a:rPr lang="en-DK" sz="1800" dirty="0"/>
              <a:t>Dinamic range</a:t>
            </a:r>
          </a:p>
          <a:p>
            <a:r>
              <a:rPr lang="en-DK" sz="1800" b="1" dirty="0"/>
              <a:t>Usually expressed as Relative, not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5355312"/>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Proportions or percentages of total reads per sample — not true cell counts.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
        <p:nvSpPr>
          <p:cNvPr id="6" name="TextBox 5">
            <a:extLst>
              <a:ext uri="{FF2B5EF4-FFF2-40B4-BE49-F238E27FC236}">
                <a16:creationId xmlns:a16="http://schemas.microsoft.com/office/drawing/2014/main" id="{CCBF63FC-D338-375C-63D6-6D5F0AAA4278}"/>
              </a:ext>
            </a:extLst>
          </p:cNvPr>
          <p:cNvSpPr txBox="1"/>
          <p:nvPr/>
        </p:nvSpPr>
        <p:spPr>
          <a:xfrm>
            <a:off x="526093" y="6388274"/>
            <a:ext cx="4835048" cy="646331"/>
          </a:xfrm>
          <a:prstGeom prst="rect">
            <a:avLst/>
          </a:prstGeom>
          <a:noFill/>
        </p:spPr>
        <p:txBody>
          <a:bodyPr wrap="square" rtlCol="0">
            <a:spAutoFit/>
          </a:bodyPr>
          <a:lstStyle/>
          <a:p>
            <a:r>
              <a:rPr lang="en-GB" dirty="0">
                <a:hlinkClick r:id="rId3"/>
              </a:rPr>
              <a:t>https://pubmed.ncbi.nlm.nih.gov/27306058/</a:t>
            </a:r>
            <a:endParaRPr lang="en-GB" dirty="0"/>
          </a:p>
          <a:p>
            <a:endParaRPr lang="en-DK" dirty="0"/>
          </a:p>
        </p:txBody>
      </p:sp>
    </p:spTree>
    <p:extLst>
      <p:ext uri="{BB962C8B-B14F-4D97-AF65-F5344CB8AC3E}">
        <p14:creationId xmlns:p14="http://schemas.microsoft.com/office/powerpoint/2010/main" val="11071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750092"/>
            <a:ext cx="9282546" cy="1815882"/>
          </a:xfrm>
          <a:prstGeom prst="rect">
            <a:avLst/>
          </a:prstGeom>
          <a:noFill/>
        </p:spPr>
        <p:txBody>
          <a:bodyPr wrap="square" rtlCol="0">
            <a:spAutoFit/>
          </a:bodyPr>
          <a:lstStyle/>
          <a:p>
            <a:pPr marL="285750" indent="-285750">
              <a:buFont typeface="Arial" panose="020B0604020202020204" pitchFamily="34" charset="0"/>
              <a:buChar char="•"/>
            </a:pPr>
            <a:r>
              <a:rPr lang="en-DK" sz="1600" dirty="0"/>
              <a:t>Only Taxon 3 reduced its abundance after antibiotic treament, but 1,2, and 4 seem that they increase</a:t>
            </a:r>
          </a:p>
          <a:p>
            <a:pPr marL="285750" indent="-285750">
              <a:buFont typeface="Arial" panose="020B0604020202020204" pitchFamily="34" charset="0"/>
              <a:buChar char="•"/>
            </a:pPr>
            <a:r>
              <a:rPr lang="en-DK" sz="1600" dirty="0"/>
              <a:t>Affects downstream analysis and interpretations</a:t>
            </a:r>
          </a:p>
          <a:p>
            <a:pPr marL="742950" lvl="1" indent="-285750">
              <a:buFont typeface="Arial" panose="020B0604020202020204" pitchFamily="34" charset="0"/>
              <a:buChar char="•"/>
            </a:pPr>
            <a:r>
              <a:rPr lang="en-DK" sz="1600" dirty="0"/>
              <a:t>e.g. correlations or regression assume independent variables</a:t>
            </a:r>
          </a:p>
          <a:p>
            <a:pPr marL="742950" lvl="1" indent="-285750">
              <a:buFont typeface="Arial" panose="020B0604020202020204" pitchFamily="34" charset="0"/>
              <a:buChar char="•"/>
            </a:pPr>
            <a:r>
              <a:rPr lang="en-DK" sz="1600" dirty="0"/>
              <a:t>analysis alternatives and data transformations have been proposed: center-log-ration transformation (clr), ALDEx2, ANCOM</a:t>
            </a:r>
          </a:p>
          <a:p>
            <a:pPr marL="742950" lvl="1" indent="-285750">
              <a:buFont typeface="Arial" panose="020B0604020202020204" pitchFamily="34" charset="0"/>
              <a:buChar char="•"/>
            </a:pPr>
            <a:r>
              <a:rPr lang="en-DK" sz="1600" dirty="0"/>
              <a:t>however, they introduce </a:t>
            </a:r>
            <a:r>
              <a:rPr lang="en-GB" sz="1600" dirty="0"/>
              <a:t>practical limitations — especially with zero handling, computational cost, and difficult interpretation</a:t>
            </a:r>
            <a:endParaRPr lang="en-DK" sz="1600"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0515600" cy="830997"/>
          </a:xfrm>
          <a:prstGeom prst="rect">
            <a:avLst/>
          </a:prstGeom>
          <a:noFill/>
        </p:spPr>
        <p:txBody>
          <a:bodyPr wrap="square" rtlCol="0">
            <a:spAutoFit/>
          </a:bodyPr>
          <a:lstStyle/>
          <a:p>
            <a:r>
              <a:rPr lang="en-DK" sz="1600" dirty="0"/>
              <a:t>Consider read counts as a proxy for cell abundance (not perfect as 16S gene can have multiple gene copies in some genomes, and in shotgun metagenomics we have different genome sizes – larger genomes contributing with more reads per cell, extraction efficiency, lib</a:t>
            </a:r>
            <a:r>
              <a:rPr lang="en-GB" sz="1600" dirty="0"/>
              <a:t>r</a:t>
            </a:r>
            <a:r>
              <a:rPr lang="en-DK" sz="1600" dirty="0"/>
              <a:t>ary prep bias, etc ...)</a:t>
            </a:r>
          </a:p>
        </p:txBody>
      </p:sp>
    </p:spTree>
    <p:extLst>
      <p:ext uri="{BB962C8B-B14F-4D97-AF65-F5344CB8AC3E}">
        <p14:creationId xmlns:p14="http://schemas.microsoft.com/office/powerpoint/2010/main" val="39324414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
        <p:nvSpPr>
          <p:cNvPr id="2" name="TextBox 1">
            <a:extLst>
              <a:ext uri="{FF2B5EF4-FFF2-40B4-BE49-F238E27FC236}">
                <a16:creationId xmlns:a16="http://schemas.microsoft.com/office/drawing/2014/main" id="{B564F97E-C9A8-DC1C-9DCD-C2CF18F93D70}"/>
              </a:ext>
            </a:extLst>
          </p:cNvPr>
          <p:cNvSpPr txBox="1"/>
          <p:nvPr/>
        </p:nvSpPr>
        <p:spPr>
          <a:xfrm>
            <a:off x="6919577" y="6370669"/>
            <a:ext cx="3794760" cy="307777"/>
          </a:xfrm>
          <a:prstGeom prst="rect">
            <a:avLst/>
          </a:prstGeom>
          <a:noFill/>
        </p:spPr>
        <p:txBody>
          <a:bodyPr wrap="square" rtlCol="0">
            <a:spAutoFit/>
          </a:bodyPr>
          <a:lstStyle/>
          <a:p>
            <a:r>
              <a:rPr lang="en-GB" sz="1400" dirty="0">
                <a:hlinkClick r:id="rId5"/>
              </a:rPr>
              <a:t>https://pubmed.ncbi.nlm.nih.gov/30349083/</a:t>
            </a:r>
            <a:endParaRPr lang="en-GB" sz="1400" dirty="0"/>
          </a:p>
        </p:txBody>
      </p:sp>
    </p:spTree>
    <p:extLst>
      <p:ext uri="{BB962C8B-B14F-4D97-AF65-F5344CB8AC3E}">
        <p14:creationId xmlns:p14="http://schemas.microsoft.com/office/powerpoint/2010/main" val="21340721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523355" y="2489454"/>
            <a:ext cx="557264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abundance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3"/>
          <a:stretch>
            <a:fillRect/>
          </a:stretch>
        </p:blipFill>
        <p:spPr>
          <a:xfrm>
            <a:off x="6033810" y="820265"/>
            <a:ext cx="5505918" cy="5519717"/>
          </a:xfrm>
          <a:prstGeom prst="rect">
            <a:avLst/>
          </a:prstGeom>
        </p:spPr>
      </p:pic>
      <p:sp>
        <p:nvSpPr>
          <p:cNvPr id="2" name="TextBox 1">
            <a:extLst>
              <a:ext uri="{FF2B5EF4-FFF2-40B4-BE49-F238E27FC236}">
                <a16:creationId xmlns:a16="http://schemas.microsoft.com/office/drawing/2014/main" id="{27230892-937C-975D-3652-06DD00BEC297}"/>
              </a:ext>
            </a:extLst>
          </p:cNvPr>
          <p:cNvSpPr txBox="1"/>
          <p:nvPr/>
        </p:nvSpPr>
        <p:spPr>
          <a:xfrm>
            <a:off x="7285337" y="6445102"/>
            <a:ext cx="3794760" cy="307777"/>
          </a:xfrm>
          <a:prstGeom prst="rect">
            <a:avLst/>
          </a:prstGeom>
          <a:noFill/>
        </p:spPr>
        <p:txBody>
          <a:bodyPr wrap="square" rtlCol="0">
            <a:spAutoFit/>
          </a:bodyPr>
          <a:lstStyle/>
          <a:p>
            <a:r>
              <a:rPr lang="en-GB" sz="1400" dirty="0">
                <a:hlinkClick r:id="rId4"/>
              </a:rPr>
              <a:t>https://pubmed.ncbi.nlm.nih.gov/30349083/</a:t>
            </a:r>
            <a:endParaRPr lang="en-GB" sz="1400" dirty="0"/>
          </a:p>
        </p:txBody>
      </p:sp>
    </p:spTree>
    <p:extLst>
      <p:ext uri="{BB962C8B-B14F-4D97-AF65-F5344CB8AC3E}">
        <p14:creationId xmlns:p14="http://schemas.microsoft.com/office/powerpoint/2010/main" val="15381345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915884" y="0"/>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1055371" y="1689215"/>
            <a:ext cx="9037320" cy="3145676"/>
          </a:xfrm>
        </p:spPr>
        <p:txBody>
          <a:bodyPr>
            <a:noAutofit/>
          </a:bodyPr>
          <a:lstStyle/>
          <a:p>
            <a:r>
              <a:rPr lang="en-GB" sz="1800" dirty="0"/>
              <a:t>Shotgun metagenomics have higher cost than 16S amplicon but you get higher taxonomical resolution and functional information</a:t>
            </a:r>
          </a:p>
          <a:p>
            <a:r>
              <a:rPr lang="en-GB" sz="1800" dirty="0"/>
              <a:t>Sampling biases can occur when collecting environmental samples which can also lead to misrepresentation of the microbial community</a:t>
            </a:r>
          </a:p>
          <a:p>
            <a:r>
              <a:rPr lang="en-GB" sz="1800" dirty="0"/>
              <a:t>It is also challenging to extract microbes DNA from low biomass samples - highly dependant on the sampling method and the its accuracy</a:t>
            </a:r>
          </a:p>
          <a:p>
            <a:r>
              <a:rPr lang="en-GB" sz="1800" dirty="0"/>
              <a:t>Microbial genomes available and deposited in reference databases are biased towards model organisms, pathogens and cultivable bacteria</a:t>
            </a:r>
          </a:p>
          <a:p>
            <a:r>
              <a:rPr lang="en-GB" sz="1800" dirty="0"/>
              <a:t>Metagenomic sequencing can detect the presence of microorganisms but cannot easily determine if they are pathogenic (do they have their toxins? Are they active?) </a:t>
            </a:r>
          </a:p>
          <a:p>
            <a:endParaRPr lang="en-DK" sz="1800" dirty="0"/>
          </a:p>
        </p:txBody>
      </p:sp>
      <p:sp>
        <p:nvSpPr>
          <p:cNvPr id="4" name="TextBox 3">
            <a:extLst>
              <a:ext uri="{FF2B5EF4-FFF2-40B4-BE49-F238E27FC236}">
                <a16:creationId xmlns:a16="http://schemas.microsoft.com/office/drawing/2014/main" id="{DD3E425A-45AA-13DD-91E7-CD41221A4513}"/>
              </a:ext>
            </a:extLst>
          </p:cNvPr>
          <p:cNvSpPr txBox="1"/>
          <p:nvPr/>
        </p:nvSpPr>
        <p:spPr>
          <a:xfrm>
            <a:off x="8069580" y="6175185"/>
            <a:ext cx="4800600" cy="307777"/>
          </a:xfrm>
          <a:prstGeom prst="rect">
            <a:avLst/>
          </a:prstGeom>
          <a:noFill/>
        </p:spPr>
        <p:txBody>
          <a:bodyPr wrap="square" rtlCol="0">
            <a:spAutoFit/>
          </a:bodyPr>
          <a:lstStyle/>
          <a:p>
            <a:r>
              <a:rPr lang="en-GB" sz="1400" dirty="0">
                <a:hlinkClick r:id="rId2"/>
              </a:rPr>
              <a:t>https://pubmed.ncbi.nlm.nih.gov/28898207/</a:t>
            </a:r>
            <a:endParaRPr lang="en-GB" sz="1400" dirty="0"/>
          </a:p>
        </p:txBody>
      </p:sp>
    </p:spTree>
    <p:extLst>
      <p:ext uri="{BB962C8B-B14F-4D97-AF65-F5344CB8AC3E}">
        <p14:creationId xmlns:p14="http://schemas.microsoft.com/office/powerpoint/2010/main" val="6771931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302473D-3A8B-E7F7-4D6C-AEBB20C2B331}"/>
              </a:ext>
            </a:extLst>
          </p:cNvPr>
          <p:cNvSpPr txBox="1"/>
          <p:nvPr/>
        </p:nvSpPr>
        <p:spPr>
          <a:xfrm>
            <a:off x="1482566" y="1472774"/>
            <a:ext cx="9704435" cy="3976025"/>
          </a:xfrm>
          <a:prstGeom prst="rect">
            <a:avLst/>
          </a:prstGeom>
          <a:noFill/>
        </p:spPr>
        <p:txBody>
          <a:bodyPr wrap="square">
            <a:sp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Functional profiling is hindered by the lack of annotation for many genes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“Live or dead” dilemma – DNA persists in the environment after the death of the host cell, sequencing results may not be representative of the active microbial population</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Snapshot of the microbiome - many metagenomics studies are cross-sectional and can not assess intra- vs inter-subject variation – more longitudinal studies are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Disentangling the cause from the effect – follow ups, longitudinal and prospective studies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Metagenomics have not yet reached the level of standardization of other high-throughput techniques</a:t>
            </a:r>
            <a:endParaRPr lang="en-DK" dirty="0"/>
          </a:p>
        </p:txBody>
      </p:sp>
      <p:sp>
        <p:nvSpPr>
          <p:cNvPr id="6" name="Title 1">
            <a:extLst>
              <a:ext uri="{FF2B5EF4-FFF2-40B4-BE49-F238E27FC236}">
                <a16:creationId xmlns:a16="http://schemas.microsoft.com/office/drawing/2014/main" id="{62ED1DF3-684F-74BF-BE1E-C2C04A1EE3BC}"/>
              </a:ext>
            </a:extLst>
          </p:cNvPr>
          <p:cNvSpPr>
            <a:spLocks noGrp="1"/>
          </p:cNvSpPr>
          <p:nvPr>
            <p:ph type="title"/>
          </p:nvPr>
        </p:nvSpPr>
        <p:spPr>
          <a:xfrm>
            <a:off x="826770" y="0"/>
            <a:ext cx="10360231" cy="1325563"/>
          </a:xfrm>
        </p:spPr>
        <p:txBody>
          <a:bodyPr>
            <a:normAutofit/>
          </a:bodyPr>
          <a:lstStyle/>
          <a:p>
            <a:r>
              <a:rPr lang="en-DK" sz="3600" dirty="0"/>
              <a:t>Challenges and limitations of metagenomics studies</a:t>
            </a:r>
          </a:p>
        </p:txBody>
      </p:sp>
      <p:sp>
        <p:nvSpPr>
          <p:cNvPr id="7" name="TextBox 6">
            <a:extLst>
              <a:ext uri="{FF2B5EF4-FFF2-40B4-BE49-F238E27FC236}">
                <a16:creationId xmlns:a16="http://schemas.microsoft.com/office/drawing/2014/main" id="{0449A44B-AD73-6EB1-2673-AB93BEF0E7A2}"/>
              </a:ext>
            </a:extLst>
          </p:cNvPr>
          <p:cNvSpPr txBox="1"/>
          <p:nvPr/>
        </p:nvSpPr>
        <p:spPr>
          <a:xfrm>
            <a:off x="8069580" y="6175185"/>
            <a:ext cx="3829050" cy="307777"/>
          </a:xfrm>
          <a:prstGeom prst="rect">
            <a:avLst/>
          </a:prstGeom>
          <a:noFill/>
        </p:spPr>
        <p:txBody>
          <a:bodyPr wrap="square" rtlCol="0">
            <a:spAutoFit/>
          </a:bodyPr>
          <a:lstStyle/>
          <a:p>
            <a:r>
              <a:rPr lang="en-GB" sz="1400" dirty="0">
                <a:hlinkClick r:id="rId2"/>
              </a:rPr>
              <a:t>https://pubmed.ncbi.nlm.nih.gov/28898207/</a:t>
            </a:r>
            <a:endParaRPr lang="en-GB" sz="1400" dirty="0"/>
          </a:p>
        </p:txBody>
      </p:sp>
    </p:spTree>
    <p:extLst>
      <p:ext uri="{BB962C8B-B14F-4D97-AF65-F5344CB8AC3E}">
        <p14:creationId xmlns:p14="http://schemas.microsoft.com/office/powerpoint/2010/main" val="3123402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74406</TotalTime>
  <Words>7286</Words>
  <Application>Microsoft Macintosh PowerPoint</Application>
  <PresentationFormat>Widescreen</PresentationFormat>
  <Paragraphs>944</Paragraphs>
  <Slides>48</Slides>
  <Notes>40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16S amplicon sequencing</vt:lpstr>
      <vt:lpstr>Reference-based methods</vt:lpstr>
      <vt:lpstr>Amplicon and read-based shotgun metagenomics tools</vt:lpstr>
      <vt:lpstr>Assembly-based methods: Metagenome-assembled genomes (MAG)</vt:lpstr>
      <vt:lpstr>MAG construction tools</vt:lpstr>
      <vt:lpstr>Comparing the three methods</vt:lpstr>
      <vt:lpstr>Functional profiling</vt:lpstr>
      <vt:lpstr>Building a microbial gene catalog</vt:lpstr>
      <vt:lpstr>Annotating the gene catalog and getting functional abundance</vt:lpstr>
      <vt:lpstr>Why building a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84</cp:revision>
  <cp:lastPrinted>2025-06-10T22:04:30Z</cp:lastPrinted>
  <dcterms:created xsi:type="dcterms:W3CDTF">2025-04-12T18:46:44Z</dcterms:created>
  <dcterms:modified xsi:type="dcterms:W3CDTF">2026-04-15T10:23:47Z</dcterms:modified>
</cp:coreProperties>
</file>